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9" r:id="rId3"/>
    <p:sldId id="257" r:id="rId4"/>
    <p:sldId id="281" r:id="rId5"/>
    <p:sldId id="284" r:id="rId6"/>
    <p:sldId id="287" r:id="rId7"/>
    <p:sldId id="286" r:id="rId8"/>
    <p:sldId id="285" r:id="rId9"/>
    <p:sldId id="288" r:id="rId10"/>
    <p:sldId id="289" r:id="rId11"/>
    <p:sldId id="290" r:id="rId12"/>
    <p:sldId id="291" r:id="rId13"/>
    <p:sldId id="294" r:id="rId14"/>
    <p:sldId id="292" r:id="rId15"/>
    <p:sldId id="295" r:id="rId16"/>
    <p:sldId id="261" r:id="rId17"/>
    <p:sldId id="297" r:id="rId18"/>
    <p:sldId id="296" r:id="rId19"/>
    <p:sldId id="298" r:id="rId20"/>
    <p:sldId id="300" r:id="rId21"/>
    <p:sldId id="282" r:id="rId22"/>
    <p:sldId id="299" r:id="rId23"/>
    <p:sldId id="301" r:id="rId24"/>
    <p:sldId id="260" r:id="rId25"/>
    <p:sldId id="302" r:id="rId26"/>
    <p:sldId id="303" r:id="rId27"/>
    <p:sldId id="304" r:id="rId28"/>
    <p:sldId id="283" r:id="rId29"/>
    <p:sldId id="305" r:id="rId30"/>
    <p:sldId id="272" r:id="rId31"/>
    <p:sldId id="306" r:id="rId32"/>
    <p:sldId id="280" r:id="rId33"/>
    <p:sldId id="262" r:id="rId34"/>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5FB"/>
    <a:srgbClr val="F8FBF5"/>
    <a:srgbClr val="F7FAFD"/>
    <a:srgbClr val="ECF3E8"/>
    <a:srgbClr val="F8F8F8"/>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5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6AC60E-F03F-4454-8A79-8115F987D13F}" type="datetimeFigureOut">
              <a:rPr lang="zh-CN" altLang="en-US" smtClean="0"/>
              <a:t>2024/11/25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97FE26-81F9-4D19-8318-9E65CC6CDC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B97FE26-81F9-4D19-8318-9E65CC6CDC07}" type="slidenum">
              <a:rPr lang="zh-CN" altLang="en-US" smtClean="0"/>
              <a:t>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42.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emf"/><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p:cNvSpPr/>
          <p:nvPr/>
        </p:nvSpPr>
        <p:spPr>
          <a:xfrm>
            <a:off x="740226" y="1171843"/>
            <a:ext cx="1071154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第二十三讲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函数增长与算法效率分析</a:t>
            </a:r>
          </a:p>
        </p:txBody>
      </p:sp>
      <p:sp>
        <p:nvSpPr>
          <p:cNvPr id="13" name="文本框 12"/>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dirty="0">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p:cNvSpPr txBox="1"/>
          <p:nvPr/>
        </p:nvSpPr>
        <p:spPr>
          <a:xfrm>
            <a:off x="4843849" y="4559643"/>
            <a:ext cx="2866767" cy="46037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11</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200540" y="1524954"/>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函数的增长</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算法效率分析基础</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算法复杂度基础知识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a:rPr lang="en-US" altLang="zh-CN" i="1" smtClean="0">
                        <a:latin typeface="Cambria Math" panose="02040503050406030204" pitchFamily="18" charset="0"/>
                      </a:rPr>
                      <m:t>𝑂</m:t>
                    </m:r>
                  </m:oMath>
                </a14:m>
                <a:r>
                  <a:rPr lang="zh-CN" altLang="en-US"/>
                  <a:t>记号的引入</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1" name="矩形: 圆角 10"/>
          <p:cNvSpPr/>
          <p:nvPr/>
        </p:nvSpPr>
        <p:spPr>
          <a:xfrm>
            <a:off x="618372" y="1145768"/>
            <a:ext cx="377451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为什么要研究函数的增长？</a:t>
            </a:r>
            <a:endParaRPr lang="zh-CN" altLang="en-US" sz="2400" b="1" dirty="0">
              <a:solidFill>
                <a:schemeClr val="accent2">
                  <a:lumMod val="50000"/>
                </a:schemeClr>
              </a:solidFill>
            </a:endParaRPr>
          </a:p>
        </p:txBody>
      </p:sp>
      <p:sp>
        <p:nvSpPr>
          <p:cNvPr id="2" name="文本框 1"/>
          <p:cNvSpPr txBox="1"/>
          <p:nvPr/>
        </p:nvSpPr>
        <p:spPr>
          <a:xfrm>
            <a:off x="1132113" y="1851966"/>
            <a:ext cx="8621487" cy="1785104"/>
          </a:xfrm>
          <a:prstGeom prst="rect">
            <a:avLst/>
          </a:prstGeom>
          <a:solidFill>
            <a:schemeClr val="accent5">
              <a:lumMod val="20000"/>
              <a:lumOff val="80000"/>
              <a:alpha val="50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rPr>
              <a:t>算法效率分析不是关注对某个具体输入算法执行所耗费的时间或空间</a:t>
            </a:r>
          </a:p>
          <a:p>
            <a:pPr marL="800100" lvl="1" indent="-342900">
              <a:spcBef>
                <a:spcPts val="600"/>
              </a:spcBef>
              <a:spcAft>
                <a:spcPts val="600"/>
              </a:spcAft>
              <a:buFont typeface="Arial" panose="020B0604020202020204" pitchFamily="34" charset="0"/>
              <a:buChar char="•"/>
            </a:pPr>
            <a:r>
              <a:rPr lang="zh-CN" altLang="en-US" sz="2000" b="1" dirty="0">
                <a:solidFill>
                  <a:schemeClr val="accent6">
                    <a:lumMod val="50000"/>
                  </a:schemeClr>
                </a:solidFill>
              </a:rPr>
              <a:t>而是关注算法执行时间或空间</a:t>
            </a:r>
            <a:r>
              <a:rPr lang="zh-CN" altLang="en-US" sz="2000" b="1" dirty="0">
                <a:solidFill>
                  <a:srgbClr val="C00000"/>
                </a:solidFill>
              </a:rPr>
              <a:t>随着输入规模的增长而增长的情况</a:t>
            </a:r>
          </a:p>
          <a:p>
            <a:pPr marL="342900" indent="-34290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rPr>
              <a:t>算法执行所要耗费的时间或空间看做是输入规模的函数</a:t>
            </a:r>
          </a:p>
          <a:p>
            <a:pPr marL="800100" lvl="1" indent="-342900">
              <a:spcBef>
                <a:spcPts val="600"/>
              </a:spcBef>
              <a:spcAft>
                <a:spcPts val="600"/>
              </a:spcAft>
              <a:buFont typeface="Arial" panose="020B0604020202020204" pitchFamily="34" charset="0"/>
              <a:buChar char="•"/>
            </a:pPr>
            <a:r>
              <a:rPr lang="zh-CN" altLang="en-US" sz="2000" b="1" dirty="0">
                <a:solidFill>
                  <a:schemeClr val="accent6">
                    <a:lumMod val="50000"/>
                  </a:schemeClr>
                </a:solidFill>
              </a:rPr>
              <a:t>从而使用函数值随着函数自变量增长而</a:t>
            </a:r>
            <a:r>
              <a:rPr lang="zh-CN" altLang="en-US" sz="2000" b="1" dirty="0">
                <a:solidFill>
                  <a:srgbClr val="C00000"/>
                </a:solidFill>
              </a:rPr>
              <a:t>增长的程度描述算法的效率</a:t>
            </a:r>
          </a:p>
        </p:txBody>
      </p:sp>
      <mc:AlternateContent xmlns:mc="http://schemas.openxmlformats.org/markup-compatibility/2006" xmlns:a14="http://schemas.microsoft.com/office/drawing/2010/main">
        <mc:Choice Requires="a14">
          <p:sp>
            <p:nvSpPr>
              <p:cNvPr id="3" name="文本框 2"/>
              <p:cNvSpPr txBox="1"/>
              <p:nvPr/>
            </p:nvSpPr>
            <p:spPr>
              <a:xfrm>
                <a:off x="1132114" y="3966786"/>
                <a:ext cx="8728934" cy="204671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1200"/>
                  </a:spcAft>
                </a:pPr>
                <a:r>
                  <a:rPr lang="zh-CN" altLang="en-US" sz="2800" b="1" dirty="0">
                    <a:solidFill>
                      <a:srgbClr val="C00000"/>
                    </a:solidFill>
                  </a:rPr>
                  <a:t>函数的增长</a:t>
                </a:r>
                <a:r>
                  <a:rPr lang="en-US" altLang="zh-CN" sz="2800" b="1" dirty="0">
                    <a:solidFill>
                      <a:srgbClr val="C00000"/>
                    </a:solidFill>
                  </a:rPr>
                  <a:t>(the growth of functions)</a:t>
                </a:r>
              </a:p>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一个函数的函数值随着自变量增长而增长的程度</a:t>
                </a:r>
              </a:p>
              <a:p>
                <a:pPr marL="342900" indent="-342900">
                  <a:spcBef>
                    <a:spcPts val="600"/>
                  </a:spcBef>
                  <a:spcAft>
                    <a:spcPts val="600"/>
                  </a:spcAft>
                  <a:buFont typeface="Arial" panose="020B0604020202020204" pitchFamily="34" charset="0"/>
                  <a:buChar char="•"/>
                </a:pPr>
                <a:r>
                  <a:rPr lang="zh-CN" altLang="en-US" sz="2000" b="1" dirty="0">
                    <a:solidFill>
                      <a:schemeClr val="accent6">
                        <a:lumMod val="50000"/>
                      </a:schemeClr>
                    </a:solidFill>
                  </a:rPr>
                  <a:t>通过将函数与一些简单的、具有代表性的函数进行比较而刻画函数的增长</a:t>
                </a:r>
              </a:p>
              <a:p>
                <a:pPr marL="342900" indent="-342900">
                  <a:spcBef>
                    <a:spcPts val="600"/>
                  </a:spcBef>
                  <a:spcAft>
                    <a:spcPts val="600"/>
                  </a:spcAft>
                  <a:buFont typeface="Arial" panose="020B0604020202020204" pitchFamily="34" charset="0"/>
                  <a:buChar char="•"/>
                </a:pPr>
                <a:r>
                  <a:rPr lang="zh-CN" altLang="en-US" sz="2000" b="1" dirty="0">
                    <a:solidFill>
                      <a:schemeClr val="accent6">
                        <a:lumMod val="50000"/>
                      </a:schemeClr>
                    </a:solidFill>
                  </a:rPr>
                  <a:t>最常用的方式是使用</a:t>
                </a:r>
                <a:r>
                  <a:rPr lang="zh-CN" altLang="en-US" sz="2000" b="1" dirty="0">
                    <a:solidFill>
                      <a:srgbClr val="C00000"/>
                    </a:solidFill>
                  </a:rPr>
                  <a:t>大</a:t>
                </a:r>
                <a14:m>
                  <m:oMath xmlns:m="http://schemas.openxmlformats.org/officeDocument/2006/math">
                    <m:r>
                      <a:rPr lang="en-US" altLang="zh-CN" sz="2000" b="1" i="1" smtClean="0">
                        <a:solidFill>
                          <a:srgbClr val="C00000"/>
                        </a:solidFill>
                        <a:latin typeface="Cambria Math" panose="02040503050406030204" pitchFamily="18" charset="0"/>
                      </a:rPr>
                      <m:t>𝑶</m:t>
                    </m:r>
                  </m:oMath>
                </a14:m>
                <a:r>
                  <a:rPr lang="zh-CN" altLang="en-US" sz="2000" b="1" dirty="0">
                    <a:solidFill>
                      <a:srgbClr val="C00000"/>
                    </a:solidFill>
                  </a:rPr>
                  <a:t>记号</a:t>
                </a:r>
                <a:r>
                  <a:rPr lang="en-US" altLang="zh-CN" sz="2000" b="1" dirty="0">
                    <a:solidFill>
                      <a:schemeClr val="accent6">
                        <a:lumMod val="50000"/>
                      </a:schemeClr>
                    </a:solidFill>
                  </a:rPr>
                  <a:t>(big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oMath>
                </a14:m>
                <a:r>
                  <a:rPr lang="en-US" altLang="zh-CN" sz="2000" b="1" dirty="0">
                    <a:solidFill>
                      <a:schemeClr val="accent6">
                        <a:lumMod val="50000"/>
                      </a:schemeClr>
                    </a:solidFill>
                  </a:rPr>
                  <a:t>-notation)</a:t>
                </a:r>
              </a:p>
            </p:txBody>
          </p:sp>
        </mc:Choice>
        <mc:Fallback xmlns="">
          <p:sp>
            <p:nvSpPr>
              <p:cNvPr id="3" name="文本框 2"/>
              <p:cNvSpPr txBox="1">
                <a:spLocks noRot="1" noChangeAspect="1" noMove="1" noResize="1" noEditPoints="1" noAdjustHandles="1" noChangeArrowheads="1" noChangeShapeType="1" noTextEdit="1"/>
              </p:cNvSpPr>
              <p:nvPr/>
            </p:nvSpPr>
            <p:spPr>
              <a:xfrm>
                <a:off x="1132114" y="3966786"/>
                <a:ext cx="8728934" cy="2046714"/>
              </a:xfrm>
              <a:prstGeom prst="rect">
                <a:avLst/>
              </a:prstGeom>
              <a:blipFill rotWithShape="1">
                <a:blip r:embed="rId3"/>
                <a:stretch>
                  <a:fillRect l="-6" t="-28" r="2" b="2"/>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a:rPr lang="en-US" altLang="zh-CN" i="1" smtClean="0">
                        <a:latin typeface="Cambria Math" panose="02040503050406030204" pitchFamily="18" charset="0"/>
                      </a:rPr>
                      <m:t>𝑂</m:t>
                    </m:r>
                  </m:oMath>
                </a14:m>
                <a:r>
                  <a:rPr lang="zh-CN" altLang="en-US"/>
                  <a:t>记号的含义</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872735" y="1361870"/>
                <a:ext cx="10446528" cy="270843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大</a:t>
                </a:r>
                <a14:m>
                  <m:oMath xmlns:m="http://schemas.openxmlformats.org/officeDocument/2006/math">
                    <m:r>
                      <a:rPr lang="en-US" altLang="zh-CN" sz="2400" b="1" i="1" smtClean="0">
                        <a:solidFill>
                          <a:srgbClr val="C00000"/>
                        </a:solidFill>
                        <a:latin typeface="Cambria Math" panose="02040503050406030204" pitchFamily="18" charset="0"/>
                      </a:rPr>
                      <m:t>𝑶</m:t>
                    </m:r>
                  </m:oMath>
                </a14:m>
                <a:r>
                  <a:rPr lang="zh-CN" altLang="en-US" sz="2400" b="1" dirty="0">
                    <a:solidFill>
                      <a:srgbClr val="C00000"/>
                    </a:solidFill>
                  </a:rPr>
                  <a:t>记号</a:t>
                </a:r>
                <a:r>
                  <a:rPr lang="en-US" altLang="zh-CN" sz="2400" b="1" dirty="0">
                    <a:solidFill>
                      <a:srgbClr val="C00000"/>
                    </a:solidFill>
                  </a:rPr>
                  <a:t>(big </a:t>
                </a:r>
                <a14:m>
                  <m:oMath xmlns:m="http://schemas.openxmlformats.org/officeDocument/2006/math">
                    <m:r>
                      <a:rPr lang="en-US" altLang="zh-CN" sz="2400" b="1" i="1" smtClean="0">
                        <a:solidFill>
                          <a:srgbClr val="C00000"/>
                        </a:solidFill>
                        <a:latin typeface="Cambria Math" panose="02040503050406030204" pitchFamily="18" charset="0"/>
                      </a:rPr>
                      <m:t>𝑶</m:t>
                    </m:r>
                  </m:oMath>
                </a14:m>
                <a:r>
                  <a:rPr lang="en-US" altLang="zh-CN" sz="2400" b="1" dirty="0">
                    <a:solidFill>
                      <a:srgbClr val="C00000"/>
                    </a:solidFill>
                  </a:rPr>
                  <a:t>-notation)</a:t>
                </a:r>
              </a:p>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𝒈</m:t>
                    </m:r>
                  </m:oMath>
                </a14:m>
                <a:r>
                  <a:rPr lang="zh-CN" altLang="en-US" sz="2000" b="1" dirty="0">
                    <a:solidFill>
                      <a:srgbClr val="002060"/>
                    </a:solidFill>
                    <a:latin typeface="楷体" panose="02010609060101010101" pitchFamily="49" charset="-122"/>
                    <a:ea typeface="楷体" panose="02010609060101010101" pitchFamily="49" charset="-122"/>
                  </a:rPr>
                  <a:t>是两个数集上的函数，称</a:t>
                </a:r>
                <a14:m>
                  <m:oMath xmlns:m="http://schemas.openxmlformats.org/officeDocument/2006/math">
                    <m:r>
                      <a:rPr lang="en-US" altLang="zh-CN" sz="2000" b="1" i="1" smtClean="0">
                        <a:solidFill>
                          <a:srgbClr val="002060"/>
                        </a:solidFill>
                        <a:latin typeface="Cambria Math" panose="02040503050406030204" pitchFamily="18" charset="0"/>
                      </a:rPr>
                      <m:t>𝒇</m:t>
                    </m:r>
                  </m:oMath>
                </a14:m>
                <a:r>
                  <a:rPr lang="zh-CN" altLang="en-US" sz="2000" b="1" dirty="0">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，记为</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𝑶</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𝒈</m:t>
                        </m:r>
                      </m:e>
                    </m:d>
                  </m:oMath>
                </a14:m>
                <a:r>
                  <a:rPr lang="zh-CN" altLang="en-US" sz="2000" b="1" dirty="0">
                    <a:solidFill>
                      <a:srgbClr val="002060"/>
                    </a:solidFill>
                    <a:latin typeface="楷体" panose="02010609060101010101" pitchFamily="49" charset="-122"/>
                    <a:ea typeface="楷体" panose="02010609060101010101" pitchFamily="49" charset="-122"/>
                  </a:rPr>
                  <a:t>，如果</a:t>
                </a:r>
                <a:endParaRPr lang="en-US" altLang="zh-CN" sz="2000" b="1" dirty="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000" b="1" dirty="0">
                    <a:solidFill>
                      <a:schemeClr val="accent2">
                        <a:lumMod val="50000"/>
                      </a:schemeClr>
                    </a:solidFill>
                    <a:latin typeface="楷体" panose="02010609060101010101" pitchFamily="49" charset="-122"/>
                    <a:ea typeface="楷体" panose="02010609060101010101" pitchFamily="49" charset="-122"/>
                  </a:rPr>
                  <a:t>存在常数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&gt;</m:t>
                    </m:r>
                    <m:r>
                      <a:rPr lang="en-US" altLang="zh-CN" sz="2000" b="1" i="1" smtClean="0">
                        <a:solidFill>
                          <a:schemeClr val="accent2">
                            <a:lumMod val="50000"/>
                          </a:schemeClr>
                        </a:solidFill>
                        <a:latin typeface="Cambria Math" panose="02040503050406030204" pitchFamily="18" charset="0"/>
                      </a:rPr>
                      <m:t>𝟎</m:t>
                    </m:r>
                  </m:oMath>
                </a14:m>
                <a:r>
                  <a:rPr lang="zh-CN" altLang="en-US" sz="2000" b="1" dirty="0">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𝒌</m:t>
                    </m:r>
                  </m:oMath>
                </a14:m>
                <a:r>
                  <a:rPr lang="zh-CN" altLang="en-US" sz="2000" b="1" dirty="0">
                    <a:solidFill>
                      <a:schemeClr val="accent2">
                        <a:lumMod val="50000"/>
                      </a:schemeClr>
                    </a:solidFill>
                    <a:latin typeface="楷体" panose="02010609060101010101" pitchFamily="49" charset="-122"/>
                    <a:ea typeface="楷体" panose="02010609060101010101" pitchFamily="49" charset="-122"/>
                  </a:rPr>
                  <a:t>，使得当</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&gt;</m:t>
                    </m:r>
                    <m:r>
                      <a:rPr lang="en-US" altLang="zh-CN" sz="2000" b="1" i="1" smtClean="0">
                        <a:solidFill>
                          <a:schemeClr val="accent2">
                            <a:lumMod val="50000"/>
                          </a:schemeClr>
                        </a:solidFill>
                        <a:latin typeface="Cambria Math" panose="02040503050406030204" pitchFamily="18" charset="0"/>
                      </a:rPr>
                      <m:t>𝒌</m:t>
                    </m:r>
                  </m:oMath>
                </a14:m>
                <a:r>
                  <a:rPr lang="zh-CN" altLang="en-US" sz="2000" b="1" dirty="0">
                    <a:solidFill>
                      <a:schemeClr val="accent2">
                        <a:lumMod val="50000"/>
                      </a:schemeClr>
                    </a:solidFill>
                    <a:latin typeface="楷体" panose="02010609060101010101" pitchFamily="49" charset="-122"/>
                    <a:ea typeface="楷体" panose="02010609060101010101" pitchFamily="49" charset="-122"/>
                  </a:rPr>
                  <a:t>时总有</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𝒇</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e>
                        </m:d>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𝒈</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e>
                        </m:d>
                      </m:e>
                    </m:d>
                  </m:oMath>
                </a14:m>
                <a:endParaRPr lang="en-US" altLang="zh-CN" sz="2000" b="1" dirty="0">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oMath>
                </a14:m>
                <a:r>
                  <a:rPr lang="zh-CN" altLang="en-US" sz="2000" b="1" dirty="0">
                    <a:solidFill>
                      <a:schemeClr val="accent6">
                        <a:lumMod val="50000"/>
                      </a:schemeClr>
                    </a:solidFill>
                  </a:rPr>
                  <a:t>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𝒈</m:t>
                    </m:r>
                    <m:r>
                      <a:rPr lang="en-US" altLang="zh-CN" sz="2000" b="1" i="1" smtClean="0">
                        <a:solidFill>
                          <a:schemeClr val="accent6">
                            <a:lumMod val="50000"/>
                          </a:schemeClr>
                        </a:solidFill>
                        <a:latin typeface="Cambria Math" panose="02040503050406030204" pitchFamily="18" charset="0"/>
                      </a:rPr>
                      <m:t>)</m:t>
                    </m:r>
                  </m:oMath>
                </a14:m>
                <a:r>
                  <a:rPr lang="zh-CN" altLang="en-US" sz="2000" b="1" dirty="0">
                    <a:solidFill>
                      <a:schemeClr val="accent6">
                        <a:lumMod val="50000"/>
                      </a:schemeClr>
                    </a:solidFill>
                  </a:rPr>
                  <a:t>意味着当自变量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dirty="0">
                    <a:solidFill>
                      <a:schemeClr val="accent6">
                        <a:lumMod val="50000"/>
                      </a:schemeClr>
                    </a:solidFill>
                  </a:rPr>
                  <a:t>的值足够大时，函数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oMath>
                </a14:m>
                <a:r>
                  <a:rPr lang="zh-CN" altLang="en-US" sz="2000" b="1" dirty="0">
                    <a:solidFill>
                      <a:schemeClr val="accent6">
                        <a:lumMod val="50000"/>
                      </a:schemeClr>
                    </a:solidFill>
                  </a:rPr>
                  <a:t>的值</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zh-CN" altLang="en-US" sz="2000" b="1" dirty="0">
                    <a:solidFill>
                      <a:schemeClr val="accent6">
                        <a:lumMod val="50000"/>
                      </a:schemeClr>
                    </a:solidFill>
                  </a:rPr>
                  <a:t>总小于函数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oMath>
                </a14:m>
                <a:r>
                  <a:rPr lang="zh-CN" altLang="en-US" sz="2000" b="1" dirty="0">
                    <a:solidFill>
                      <a:schemeClr val="accent6">
                        <a:lumMod val="50000"/>
                      </a:schemeClr>
                    </a:solidFill>
                  </a:rPr>
                  <a:t>的值</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zh-CN" altLang="en-US" sz="2000" b="1" dirty="0">
                    <a:solidFill>
                      <a:schemeClr val="accent6">
                        <a:lumMod val="50000"/>
                      </a:schemeClr>
                    </a:solidFill>
                  </a:rPr>
                  <a:t>的常数倍</a:t>
                </a:r>
              </a:p>
              <a:p>
                <a:pPr marL="800100" lvl="1" indent="-342900">
                  <a:spcBef>
                    <a:spcPts val="600"/>
                  </a:spcBef>
                  <a:spcAft>
                    <a:spcPts val="600"/>
                  </a:spcAft>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rPr>
                  <a:t>随着自变量的值越来越大，函数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oMath>
                </a14:m>
                <a:r>
                  <a:rPr lang="zh-CN" altLang="en-US" b="1" dirty="0">
                    <a:solidFill>
                      <a:schemeClr val="accent2">
                        <a:lumMod val="50000"/>
                      </a:schemeClr>
                    </a:solidFill>
                    <a:latin typeface="楷体" panose="02010609060101010101" pitchFamily="49" charset="-122"/>
                    <a:ea typeface="楷体" panose="02010609060101010101" pitchFamily="49" charset="-122"/>
                  </a:rPr>
                  <a:t>的增长不会比</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𝒈</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dirty="0">
                    <a:solidFill>
                      <a:schemeClr val="accent2">
                        <a:lumMod val="50000"/>
                      </a:schemeClr>
                    </a:solidFill>
                    <a:latin typeface="楷体" panose="02010609060101010101" pitchFamily="49" charset="-122"/>
                    <a:ea typeface="楷体" panose="02010609060101010101" pitchFamily="49" charset="-122"/>
                  </a:rPr>
                  <a:t>的某个常数倍更快</a:t>
                </a:r>
              </a:p>
              <a:p>
                <a:pPr marL="800100" lvl="1" indent="-342900">
                  <a:spcBef>
                    <a:spcPts val="600"/>
                  </a:spcBef>
                  <a:spcAft>
                    <a:spcPts val="600"/>
                  </a:spcAft>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rPr>
                  <a:t>因此从某种意义上，作为代表的函数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𝒈</m:t>
                    </m:r>
                  </m:oMath>
                </a14:m>
                <a:r>
                  <a:rPr lang="zh-CN" altLang="en-US" b="1" dirty="0">
                    <a:solidFill>
                      <a:schemeClr val="accent2">
                        <a:lumMod val="50000"/>
                      </a:schemeClr>
                    </a:solidFill>
                    <a:latin typeface="楷体" panose="02010609060101010101" pitchFamily="49" charset="-122"/>
                    <a:ea typeface="楷体" panose="02010609060101010101" pitchFamily="49" charset="-122"/>
                  </a:rPr>
                  <a:t>刻画了函数</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𝒇</m:t>
                    </m:r>
                  </m:oMath>
                </a14:m>
                <a:r>
                  <a:rPr lang="zh-CN" altLang="en-US" b="1" dirty="0">
                    <a:solidFill>
                      <a:srgbClr val="C00000"/>
                    </a:solidFill>
                    <a:latin typeface="+mn-ea"/>
                  </a:rPr>
                  <a:t>增长的一种上界</a:t>
                </a:r>
              </a:p>
            </p:txBody>
          </p:sp>
        </mc:Choice>
        <mc:Fallback xmlns="">
          <p:sp>
            <p:nvSpPr>
              <p:cNvPr id="2" name="文本框 1"/>
              <p:cNvSpPr txBox="1">
                <a:spLocks noRot="1" noChangeAspect="1" noMove="1" noResize="1" noEditPoints="1" noAdjustHandles="1" noChangeArrowheads="1" noChangeShapeType="1" noTextEdit="1"/>
              </p:cNvSpPr>
              <p:nvPr/>
            </p:nvSpPr>
            <p:spPr>
              <a:xfrm>
                <a:off x="872735" y="1361870"/>
                <a:ext cx="10446528" cy="2708434"/>
              </a:xfrm>
              <a:prstGeom prst="rect">
                <a:avLst/>
              </a:prstGeom>
              <a:blipFill rotWithShape="1">
                <a:blip r:embed="rId3"/>
                <a:stretch>
                  <a:fillRect l="-2" t="-16" r="4" b="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570048" y="4299945"/>
                <a:ext cx="9051902" cy="1764073"/>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𝒈</m:t>
                    </m:r>
                    <m:r>
                      <a:rPr lang="en-US" altLang="zh-CN" sz="2000" b="1" i="1" smtClean="0">
                        <a:solidFill>
                          <a:schemeClr val="accent2">
                            <a:lumMod val="50000"/>
                          </a:schemeClr>
                        </a:solidFill>
                        <a:latin typeface="Cambria Math" panose="02040503050406030204" pitchFamily="18" charset="0"/>
                      </a:rPr>
                      <m:t>)</m:t>
                    </m:r>
                  </m:oMath>
                </a14:m>
                <a:r>
                  <a:rPr lang="zh-CN" altLang="en-US" sz="2000" b="1" dirty="0">
                    <a:solidFill>
                      <a:schemeClr val="accent2">
                        <a:lumMod val="50000"/>
                      </a:schemeClr>
                    </a:solidFill>
                  </a:rPr>
                  <a:t>可看做以函数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𝒈</m:t>
                    </m:r>
                  </m:oMath>
                </a14:m>
                <a:r>
                  <a:rPr lang="zh-CN" altLang="en-US" sz="2000" b="1" dirty="0">
                    <a:solidFill>
                      <a:schemeClr val="accent2">
                        <a:lumMod val="50000"/>
                      </a:schemeClr>
                    </a:solidFill>
                  </a:rPr>
                  <a:t>为代表的一类函数构成的集合</a:t>
                </a:r>
              </a:p>
              <a:p>
                <a:pP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用</a:t>
                </a:r>
                <a14:m>
                  <m:oMath xmlns:m="http://schemas.openxmlformats.org/officeDocument/2006/math">
                    <m:r>
                      <a:rPr lang="en-US" altLang="zh-CN" b="1" i="1" smtClean="0">
                        <a:solidFill>
                          <a:srgbClr val="002060"/>
                        </a:solidFill>
                        <a:latin typeface="Cambria Math" panose="02040503050406030204" pitchFamily="18" charset="0"/>
                      </a:rPr>
                      <m:t>𝒇</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𝑶</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𝒈</m:t>
                        </m:r>
                      </m:e>
                    </m:d>
                  </m:oMath>
                </a14:m>
                <a:r>
                  <a:rPr lang="zh-CN" altLang="en-US" b="1" dirty="0">
                    <a:solidFill>
                      <a:srgbClr val="002060"/>
                    </a:solidFill>
                    <a:latin typeface="楷体" panose="02010609060101010101" pitchFamily="49" charset="-122"/>
                    <a:ea typeface="楷体" panose="02010609060101010101" pitchFamily="49" charset="-122"/>
                  </a:rPr>
                  <a:t>表示</a:t>
                </a:r>
                <a14:m>
                  <m:oMath xmlns:m="http://schemas.openxmlformats.org/officeDocument/2006/math">
                    <m:r>
                      <a:rPr lang="en-US" altLang="zh-CN" b="1" i="1" smtClean="0">
                        <a:solidFill>
                          <a:srgbClr val="002060"/>
                        </a:solidFill>
                        <a:latin typeface="Cambria Math" panose="02040503050406030204" pitchFamily="18" charset="0"/>
                      </a:rPr>
                      <m:t>𝒇</m:t>
                    </m:r>
                  </m:oMath>
                </a14:m>
                <a:r>
                  <a:rPr lang="zh-CN" altLang="en-US" b="1" dirty="0">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b="1" i="1" smtClean="0">
                        <a:solidFill>
                          <a:srgbClr val="002060"/>
                        </a:solidFill>
                        <a:latin typeface="Cambria Math" panose="02040503050406030204" pitchFamily="18" charset="0"/>
                      </a:rPr>
                      <m:t>𝑶</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𝒈</m:t>
                    </m:r>
                    <m:r>
                      <a:rPr lang="en-US" altLang="zh-CN" b="1" i="1" smtClean="0">
                        <a:solidFill>
                          <a:srgbClr val="002060"/>
                        </a:solidFill>
                        <a:latin typeface="Cambria Math" panose="02040503050406030204" pitchFamily="18" charset="0"/>
                      </a:rPr>
                      <m:t>)</m:t>
                    </m:r>
                  </m:oMath>
                </a14:m>
                <a:r>
                  <a:rPr lang="zh-CN" altLang="en-US" b="1" dirty="0">
                    <a:solidFill>
                      <a:srgbClr val="002060"/>
                    </a:solidFill>
                    <a:latin typeface="楷体" panose="02010609060101010101" pitchFamily="49" charset="-122"/>
                    <a:ea typeface="楷体" panose="02010609060101010101" pitchFamily="49" charset="-122"/>
                  </a:rPr>
                  <a:t>，而用</a:t>
                </a:r>
                <a14:m>
                  <m:oMath xmlns:m="http://schemas.openxmlformats.org/officeDocument/2006/math">
                    <m:r>
                      <a:rPr lang="en-US" altLang="zh-CN" b="1" i="1" smtClean="0">
                        <a:solidFill>
                          <a:srgbClr val="002060"/>
                        </a:solidFill>
                        <a:latin typeface="Cambria Math" panose="02040503050406030204" pitchFamily="18" charset="0"/>
                      </a:rPr>
                      <m:t>𝒇</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𝑶</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𝒈</m:t>
                        </m:r>
                      </m:e>
                    </m:d>
                  </m:oMath>
                </a14:m>
                <a:r>
                  <a:rPr lang="zh-CN" altLang="en-US" b="1" dirty="0">
                    <a:solidFill>
                      <a:srgbClr val="002060"/>
                    </a:solidFill>
                    <a:latin typeface="楷体" panose="02010609060101010101" pitchFamily="49" charset="-122"/>
                    <a:ea typeface="楷体" panose="02010609060101010101" pitchFamily="49" charset="-122"/>
                  </a:rPr>
                  <a:t>表示</a:t>
                </a:r>
                <a14:m>
                  <m:oMath xmlns:m="http://schemas.openxmlformats.org/officeDocument/2006/math">
                    <m:r>
                      <a:rPr lang="en-US" altLang="zh-CN" b="1" i="1" smtClean="0">
                        <a:solidFill>
                          <a:srgbClr val="002060"/>
                        </a:solidFill>
                        <a:latin typeface="Cambria Math" panose="02040503050406030204" pitchFamily="18" charset="0"/>
                      </a:rPr>
                      <m:t>𝒇</m:t>
                    </m:r>
                  </m:oMath>
                </a14:m>
                <a:r>
                  <a:rPr lang="zh-CN" altLang="en-US" b="1" dirty="0">
                    <a:solidFill>
                      <a:srgbClr val="002060"/>
                    </a:solidFill>
                    <a:latin typeface="楷体" panose="02010609060101010101" pitchFamily="49" charset="-122"/>
                    <a:ea typeface="楷体" panose="02010609060101010101" pitchFamily="49" charset="-122"/>
                  </a:rPr>
                  <a:t>不是</a:t>
                </a:r>
                <a14:m>
                  <m:oMath xmlns:m="http://schemas.openxmlformats.org/officeDocument/2006/math">
                    <m:r>
                      <a:rPr lang="en-US" altLang="zh-CN" b="1" i="1" smtClean="0">
                        <a:solidFill>
                          <a:srgbClr val="002060"/>
                        </a:solidFill>
                        <a:latin typeface="Cambria Math" panose="02040503050406030204" pitchFamily="18" charset="0"/>
                      </a:rPr>
                      <m:t>𝑶</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𝒈</m:t>
                    </m:r>
                    <m:r>
                      <a:rPr lang="en-US" altLang="zh-CN" b="1" i="1" smtClean="0">
                        <a:solidFill>
                          <a:srgbClr val="002060"/>
                        </a:solidFill>
                        <a:latin typeface="Cambria Math" panose="02040503050406030204" pitchFamily="18" charset="0"/>
                      </a:rPr>
                      <m:t>)</m:t>
                    </m:r>
                  </m:oMath>
                </a14:m>
                <a:endParaRPr lang="en-US" altLang="zh-CN" b="1" dirty="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14:m>
                  <m:oMath xmlns:m="http://schemas.openxmlformats.org/officeDocument/2006/math">
                    <m:r>
                      <a:rPr lang="en-US" altLang="zh-CN" b="1" i="1" smtClean="0">
                        <a:solidFill>
                          <a:srgbClr val="C00000"/>
                        </a:solidFill>
                        <a:latin typeface="Cambria Math" panose="02040503050406030204" pitchFamily="18" charset="0"/>
                      </a:rPr>
                      <m:t>𝒇</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𝒈</m:t>
                        </m:r>
                      </m:e>
                    </m:d>
                  </m:oMath>
                </a14:m>
                <a:r>
                  <a:rPr lang="zh-CN" altLang="en-US" b="1" dirty="0">
                    <a:solidFill>
                      <a:schemeClr val="accent6">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𝒌</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e>
                        </m:d>
                      </m:e>
                    </m:d>
                  </m:oMath>
                </a14:m>
                <a:endParaRPr lang="en-US" altLang="zh-CN" b="1" dirty="0"/>
              </a:p>
              <a:p>
                <a:pPr algn="ctr">
                  <a:spcBef>
                    <a:spcPts val="600"/>
                  </a:spcBef>
                  <a:spcAft>
                    <a:spcPts val="600"/>
                  </a:spcAft>
                </a:pPr>
                <a14:m>
                  <m:oMath xmlns:m="http://schemas.openxmlformats.org/officeDocument/2006/math">
                    <m:r>
                      <a:rPr lang="en-US" altLang="zh-CN" b="1" i="1">
                        <a:solidFill>
                          <a:srgbClr val="C00000"/>
                        </a:solidFill>
                        <a:latin typeface="Cambria Math" panose="02040503050406030204" pitchFamily="18" charset="0"/>
                      </a:rPr>
                      <m:t>𝒇</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𝒈</m:t>
                        </m:r>
                      </m:e>
                    </m:d>
                  </m:oMath>
                </a14:m>
                <a:r>
                  <a:rPr lang="zh-CN" altLang="en-US" b="1" dirty="0">
                    <a:solidFill>
                      <a:schemeClr val="accent6">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𝒌</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𝒇</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𝑪</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e>
                        </m:d>
                      </m:e>
                    </m:d>
                  </m:oMath>
                </a14:m>
                <a:endParaRPr lang="en-US" altLang="zh-CN" b="1" dirty="0"/>
              </a:p>
            </p:txBody>
          </p:sp>
        </mc:Choice>
        <mc:Fallback xmlns="">
          <p:sp>
            <p:nvSpPr>
              <p:cNvPr id="3" name="文本框 2"/>
              <p:cNvSpPr txBox="1">
                <a:spLocks noRot="1" noChangeAspect="1" noMove="1" noResize="1" noEditPoints="1" noAdjustHandles="1" noChangeArrowheads="1" noChangeShapeType="1" noTextEdit="1"/>
              </p:cNvSpPr>
              <p:nvPr/>
            </p:nvSpPr>
            <p:spPr>
              <a:xfrm>
                <a:off x="1570048" y="4299945"/>
                <a:ext cx="9051902" cy="1764073"/>
              </a:xfrm>
              <a:prstGeom prst="rect">
                <a:avLst/>
              </a:prstGeom>
              <a:blipFill rotWithShape="1">
                <a:blip r:embed="rId4"/>
                <a:stretch>
                  <a:fillRect l="-4" t="-20" r="3" b="23"/>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a:rPr lang="en-US" altLang="zh-CN" i="1" smtClean="0">
                        <a:latin typeface="Cambria Math" panose="02040503050406030204" pitchFamily="18" charset="0"/>
                      </a:rPr>
                      <m:t>𝑂</m:t>
                    </m:r>
                  </m:oMath>
                </a14:m>
                <a:r>
                  <a:rPr lang="zh-CN" altLang="en-US"/>
                  <a:t>记号证明举例</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703890" y="1503213"/>
                <a:ext cx="7249415" cy="509178"/>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证明函数</a:t>
                </a:r>
                <a14:m>
                  <m:oMath xmlns:m="http://schemas.openxmlformats.org/officeDocument/2006/math">
                    <m:r>
                      <a:rPr lang="en-US" altLang="zh-CN" sz="2400" b="1" i="1" smtClean="0">
                        <a:solidFill>
                          <a:srgbClr val="002060"/>
                        </a:solidFill>
                        <a:latin typeface="Cambria Math" panose="02040503050406030204" pitchFamily="18" charset="0"/>
                      </a:rPr>
                      <m:t>𝒇</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r>
                      <a:rPr lang="en-US" altLang="zh-CN" sz="2400" b="1" i="1" smtClean="0">
                        <a:solidFill>
                          <a:srgbClr val="002060"/>
                        </a:solidFill>
                        <a:latin typeface="Cambria Math" panose="02040503050406030204" pitchFamily="18" charset="0"/>
                      </a:rPr>
                      <m:t>= </m:t>
                    </m:r>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𝒙</m:t>
                        </m:r>
                      </m:e>
                      <m:sup>
                        <m:r>
                          <a:rPr lang="en-US" altLang="zh-CN" sz="2400" b="1" i="1" smtClean="0">
                            <a:solidFill>
                              <a:srgbClr val="002060"/>
                            </a:solidFill>
                            <a:latin typeface="Cambria Math" panose="02040503050406030204" pitchFamily="18" charset="0"/>
                          </a:rPr>
                          <m:t>𝟑</m:t>
                        </m:r>
                      </m:sup>
                    </m:sSup>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𝑶</m:t>
                    </m:r>
                    <m:d>
                      <m:dPr>
                        <m:ctrlPr>
                          <a:rPr lang="en-US" altLang="zh-CN" sz="2400" b="1" i="1" smtClean="0">
                            <a:solidFill>
                              <a:schemeClr val="accent2">
                                <a:lumMod val="50000"/>
                              </a:schemeClr>
                            </a:solidFill>
                            <a:latin typeface="Cambria Math" panose="02040503050406030204" pitchFamily="18" charset="0"/>
                          </a:rPr>
                        </m:ctrlPr>
                      </m:dPr>
                      <m:e>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𝒙</m:t>
                            </m:r>
                          </m:e>
                          <m:sup>
                            <m:r>
                              <a:rPr lang="en-US" altLang="zh-CN" sz="2400" b="1" i="1" smtClean="0">
                                <a:solidFill>
                                  <a:schemeClr val="accent2">
                                    <a:lumMod val="50000"/>
                                  </a:schemeClr>
                                </a:solidFill>
                                <a:latin typeface="Cambria Math" panose="02040503050406030204" pitchFamily="18" charset="0"/>
                              </a:rPr>
                              <m:t>𝟑</m:t>
                            </m:r>
                          </m:sup>
                        </m:sSup>
                      </m:e>
                    </m:d>
                  </m:oMath>
                </a14:m>
                <a:r>
                  <a:rPr lang="zh-CN" altLang="en-US" sz="2400" b="1">
                    <a:solidFill>
                      <a:srgbClr val="002060"/>
                    </a:solidFill>
                    <a:latin typeface="楷体" panose="02010609060101010101" pitchFamily="49" charset="-122"/>
                    <a:ea typeface="楷体" panose="02010609060101010101" pitchFamily="49" charset="-122"/>
                  </a:rPr>
                  <a:t>，但</a:t>
                </a:r>
                <a:r>
                  <a:rPr lang="zh-CN" altLang="en-US" sz="2400" b="1">
                    <a:solidFill>
                      <a:schemeClr val="accent2">
                        <a:lumMod val="50000"/>
                      </a:schemeClr>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𝑶</m:t>
                    </m:r>
                    <m:d>
                      <m:dPr>
                        <m:ctrlPr>
                          <a:rPr lang="en-US" altLang="zh-CN" sz="2400" b="1" i="1" smtClean="0">
                            <a:solidFill>
                              <a:schemeClr val="accent2">
                                <a:lumMod val="50000"/>
                              </a:schemeClr>
                            </a:solidFill>
                            <a:latin typeface="Cambria Math" panose="02040503050406030204" pitchFamily="18" charset="0"/>
                          </a:rPr>
                        </m:ctrlPr>
                      </m:dPr>
                      <m:e>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𝒙</m:t>
                            </m:r>
                          </m:e>
                          <m:sup>
                            <m:r>
                              <a:rPr lang="en-US" altLang="zh-CN" sz="2400" b="1" i="1" smtClean="0">
                                <a:solidFill>
                                  <a:schemeClr val="accent2">
                                    <a:lumMod val="50000"/>
                                  </a:schemeClr>
                                </a:solidFill>
                                <a:latin typeface="Cambria Math" panose="02040503050406030204" pitchFamily="18" charset="0"/>
                              </a:rPr>
                              <m:t>𝟐</m:t>
                            </m:r>
                          </m:sup>
                        </m:sSup>
                      </m:e>
                    </m:d>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3890" y="1503213"/>
                <a:ext cx="7249415" cy="509178"/>
              </a:xfrm>
              <a:prstGeom prst="rect">
                <a:avLst/>
              </a:prstGeom>
              <a:blipFill rotWithShape="1">
                <a:blip r:embed="rId3"/>
                <a:stretch>
                  <a:fillRect l="-4" t="-33" r="8" b="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703890" y="2459615"/>
                <a:ext cx="10459684" cy="136306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要证明</a:t>
                </a:r>
                <a14:m>
                  <m:oMath xmlns:m="http://schemas.openxmlformats.org/officeDocument/2006/math">
                    <m:r>
                      <a:rPr lang="en-US" altLang="zh-CN" sz="2000" b="1" i="1" smtClean="0">
                        <a:solidFill>
                          <a:srgbClr val="002060"/>
                        </a:solidFill>
                        <a:latin typeface="Cambria Math" panose="02040503050406030204" pitchFamily="18" charset="0"/>
                      </a:rPr>
                      <m:t>𝒇</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e>
                    </m:d>
                    <m:r>
                      <a:rPr lang="en-US" altLang="zh-CN" sz="2000" b="1" i="1" smtClean="0">
                        <a:solidFill>
                          <a:srgbClr val="002060"/>
                        </a:solidFill>
                        <a:latin typeface="Cambria Math" panose="02040503050406030204" pitchFamily="18" charset="0"/>
                      </a:rPr>
                      <m:t>= </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𝒙</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𝟐</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000" b="1" i="1" smtClean="0">
                        <a:solidFill>
                          <a:srgbClr val="002060"/>
                        </a:solidFill>
                        <a:latin typeface="Cambria Math" panose="02040503050406030204" pitchFamily="18" charset="0"/>
                      </a:rPr>
                      <m:t>𝑶</m:t>
                    </m:r>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𝒙</m:t>
                            </m:r>
                          </m:e>
                          <m:sup>
                            <m:r>
                              <a:rPr lang="en-US" altLang="zh-CN" sz="2000" b="1" i="1" smtClean="0">
                                <a:solidFill>
                                  <a:srgbClr val="002060"/>
                                </a:solidFill>
                                <a:latin typeface="Cambria Math" panose="02040503050406030204" pitchFamily="18" charset="0"/>
                              </a:rPr>
                              <m:t>𝟑</m:t>
                            </m:r>
                          </m:sup>
                        </m:sSup>
                      </m:e>
                    </m:d>
                  </m:oMath>
                </a14:m>
                <a:r>
                  <a:rPr lang="zh-CN" altLang="en-US" sz="2000" b="1">
                    <a:solidFill>
                      <a:srgbClr val="002060"/>
                    </a:solidFill>
                    <a:latin typeface="楷体" panose="02010609060101010101" pitchFamily="49" charset="-122"/>
                    <a:ea typeface="楷体" panose="02010609060101010101" pitchFamily="49" charset="-122"/>
                  </a:rPr>
                  <a:t>，需找到</a:t>
                </a:r>
                <a:r>
                  <a:rPr lang="zh-CN" altLang="en-US" sz="2000" b="1">
                    <a:solidFill>
                      <a:srgbClr val="C00000"/>
                    </a:solidFill>
                    <a:latin typeface="+mn-ea"/>
                  </a:rPr>
                  <a:t>常数</a:t>
                </a:r>
                <a14:m>
                  <m:oMath xmlns:m="http://schemas.openxmlformats.org/officeDocument/2006/math">
                    <m:r>
                      <a:rPr lang="en-US" altLang="zh-CN" sz="2000" b="1" i="1" smtClean="0">
                        <a:solidFill>
                          <a:srgbClr val="C00000"/>
                        </a:solidFill>
                        <a:latin typeface="Cambria Math" panose="02040503050406030204" pitchFamily="18" charset="0"/>
                      </a:rPr>
                      <m:t>𝑪</m:t>
                    </m:r>
                  </m:oMath>
                </a14:m>
                <a:r>
                  <a:rPr lang="zh-CN" altLang="en-US" sz="2000" b="1">
                    <a:solidFill>
                      <a:srgbClr val="C00000"/>
                    </a:solidFill>
                    <a:latin typeface="+mn-ea"/>
                  </a:rPr>
                  <a:t>和</a:t>
                </a:r>
                <a14:m>
                  <m:oMath xmlns:m="http://schemas.openxmlformats.org/officeDocument/2006/math">
                    <m:r>
                      <a:rPr lang="en-US" altLang="zh-CN" sz="2000" b="1" i="1" smtClean="0">
                        <a:solidFill>
                          <a:srgbClr val="C00000"/>
                        </a:solidFill>
                        <a:latin typeface="Cambria Math" panose="02040503050406030204" pitchFamily="18" charset="0"/>
                      </a:rPr>
                      <m:t>𝒌</m:t>
                    </m:r>
                  </m:oMath>
                </a14:m>
                <a:r>
                  <a:rPr lang="zh-CN" altLang="en-US" sz="2000" b="1">
                    <a:solidFill>
                      <a:srgbClr val="002060"/>
                    </a:solidFill>
                    <a:latin typeface="楷体" panose="02010609060101010101" pitchFamily="49" charset="-122"/>
                    <a:ea typeface="楷体" panose="02010609060101010101" pitchFamily="49" charset="-122"/>
                  </a:rPr>
                  <a:t>使得当</a:t>
                </a:r>
                <a14:m>
                  <m:oMath xmlns:m="http://schemas.openxmlformats.org/officeDocument/2006/math">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&gt;</m:t>
                    </m:r>
                    <m:r>
                      <a:rPr lang="en-US" altLang="zh-CN" sz="2000" b="1" i="1" smtClean="0">
                        <a:solidFill>
                          <a:srgbClr val="002060"/>
                        </a:solidFill>
                        <a:latin typeface="Cambria Math" panose="02040503050406030204" pitchFamily="18" charset="0"/>
                      </a:rPr>
                      <m:t>𝒌</m:t>
                    </m:r>
                  </m:oMath>
                </a14:m>
                <a:r>
                  <a:rPr lang="zh-CN" altLang="en-US" sz="2000" b="1">
                    <a:solidFill>
                      <a:srgbClr val="002060"/>
                    </a:solidFill>
                    <a:latin typeface="楷体" panose="02010609060101010101" pitchFamily="49" charset="-122"/>
                    <a:ea typeface="楷体" panose="02010609060101010101" pitchFamily="49" charset="-122"/>
                  </a:rPr>
                  <a:t>时，</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𝒙</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𝟐</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 </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𝑪</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𝒙</m:t>
                        </m:r>
                      </m:e>
                      <m:sup>
                        <m:r>
                          <a:rPr lang="en-US" altLang="zh-CN" sz="2000" b="1" i="1" smtClean="0">
                            <a:solidFill>
                              <a:srgbClr val="002060"/>
                            </a:solidFill>
                            <a:latin typeface="Cambria Math" panose="02040503050406030204" pitchFamily="18" charset="0"/>
                          </a:rPr>
                          <m:t>𝟑</m:t>
                        </m:r>
                      </m:sup>
                    </m:sSup>
                  </m:oMath>
                </a14:m>
                <a:endParaRPr lang="en-US" altLang="zh-CN" sz="2000" b="1">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rPr>
                  <a:t>不需要</a:t>
                </a:r>
                <a:r>
                  <a:rPr lang="zh-CN" altLang="en-US" sz="2000" b="1">
                    <a:solidFill>
                      <a:schemeClr val="accent6">
                        <a:lumMod val="50000"/>
                      </a:schemeClr>
                    </a:solidFill>
                  </a:rPr>
                  <a:t>找到</a:t>
                </a:r>
                <a:r>
                  <a:rPr lang="zh-CN" altLang="en-US" sz="2000" b="1">
                    <a:solidFill>
                      <a:srgbClr val="C00000"/>
                    </a:solidFill>
                  </a:rPr>
                  <a:t>最小</a:t>
                </a:r>
                <a:r>
                  <a:rPr lang="zh-CN" altLang="en-US" sz="2000" b="1">
                    <a:solidFill>
                      <a:schemeClr val="accent6">
                        <a:lumMod val="50000"/>
                      </a:schemeClr>
                    </a:solidFill>
                  </a:rPr>
                  <a:t>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𝑪</m:t>
                    </m:r>
                  </m:oMath>
                </a14:m>
                <a:r>
                  <a:rPr lang="zh-CN" altLang="en-US" sz="2000" b="1">
                    <a:solidFill>
                      <a:schemeClr val="accent6">
                        <a:lumMod val="50000"/>
                      </a:schemeClr>
                    </a:solidFill>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使得上述不等式成立</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只要找到使不等式成立的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𝑪</m:t>
                    </m:r>
                  </m:oMath>
                </a14:m>
                <a:r>
                  <a:rPr lang="zh-CN" altLang="en-US" sz="2000" b="1">
                    <a:solidFill>
                      <a:schemeClr val="accent6">
                        <a:lumMod val="50000"/>
                      </a:schemeClr>
                    </a:solidFill>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是常数，即</a:t>
                </a:r>
                <a:r>
                  <a:rPr lang="zh-CN" altLang="en-US" sz="2000" b="1">
                    <a:solidFill>
                      <a:srgbClr val="C00000"/>
                    </a:solidFill>
                  </a:rPr>
                  <a:t>与</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rPr>
                  <a:t>无关</a:t>
                </a:r>
                <a:r>
                  <a:rPr lang="zh-CN" altLang="en-US" sz="2000" b="1">
                    <a:solidFill>
                      <a:schemeClr val="accent6">
                        <a:lumMod val="50000"/>
                      </a:schemeClr>
                    </a:solidFill>
                  </a:rPr>
                  <a:t>即可</a:t>
                </a:r>
              </a:p>
            </p:txBody>
          </p:sp>
        </mc:Choice>
        <mc:Fallback xmlns="">
          <p:sp>
            <p:nvSpPr>
              <p:cNvPr id="3" name="文本框 2"/>
              <p:cNvSpPr txBox="1">
                <a:spLocks noRot="1" noChangeAspect="1" noMove="1" noResize="1" noEditPoints="1" noAdjustHandles="1" noChangeArrowheads="1" noChangeShapeType="1" noTextEdit="1"/>
              </p:cNvSpPr>
              <p:nvPr/>
            </p:nvSpPr>
            <p:spPr>
              <a:xfrm>
                <a:off x="703890" y="2459615"/>
                <a:ext cx="10459684" cy="1363065"/>
              </a:xfrm>
              <a:prstGeom prst="rect">
                <a:avLst/>
              </a:prstGeom>
              <a:blipFill rotWithShape="1">
                <a:blip r:embed="rId4"/>
                <a:stretch>
                  <a:fillRect l="-3" t="-19" r="3" b="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03890" y="4269904"/>
                <a:ext cx="10459684" cy="1323439"/>
              </a:xfrm>
              <a:prstGeom prst="rect">
                <a:avLst/>
              </a:prstGeom>
              <a:solidFill>
                <a:schemeClr val="accent5">
                  <a:lumMod val="20000"/>
                  <a:lumOff val="80000"/>
                  <a:alpha val="50000"/>
                </a:schemeClr>
              </a:solidFill>
            </p:spPr>
            <p:txBody>
              <a:bodyPr wrap="square" rtlCol="0">
                <a:spAutoFit/>
              </a:bodyPr>
              <a:lstStyle/>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要证明</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a:solidFill>
                              <a:srgbClr val="002060"/>
                            </a:solidFill>
                            <a:latin typeface="Cambria Math" panose="02040503050406030204" pitchFamily="18" charset="0"/>
                            <a:ea typeface="楷体" panose="02010609060101010101" pitchFamily="49" charset="-122"/>
                          </a:rPr>
                          <m:t>𝒙</m:t>
                        </m:r>
                      </m:e>
                    </m:d>
                    <m:r>
                      <a:rPr lang="en-US" altLang="zh-CN" sz="2000" b="1" i="1" smtClean="0">
                        <a:solidFill>
                          <a:srgbClr val="002060"/>
                        </a:solidFill>
                        <a:latin typeface="Cambria Math" panose="02040503050406030204" pitchFamily="18" charset="0"/>
                        <a:ea typeface="楷体" panose="02010609060101010101" pitchFamily="49" charset="-122"/>
                      </a:rPr>
                      <m:t>=</m:t>
                    </m:r>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𝒙</m:t>
                        </m:r>
                      </m:e>
                      <m:sup>
                        <m:r>
                          <a:rPr lang="en-US" altLang="zh-CN" sz="2000" b="1" i="1">
                            <a:solidFill>
                              <a:srgbClr val="002060"/>
                            </a:solidFill>
                            <a:latin typeface="Cambria Math" panose="02040503050406030204" pitchFamily="18" charset="0"/>
                            <a:ea typeface="楷体" panose="02010609060101010101" pitchFamily="49" charset="-122"/>
                          </a:rPr>
                          <m:t>𝟑</m:t>
                        </m:r>
                      </m:sup>
                    </m:sSup>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𝟐</m:t>
                    </m:r>
                    <m:r>
                      <a:rPr lang="en-US" altLang="zh-CN" sz="2000" b="1" i="1">
                        <a:solidFill>
                          <a:srgbClr val="002060"/>
                        </a:solidFill>
                        <a:latin typeface="Cambria Math" panose="02040503050406030204" pitchFamily="18" charset="0"/>
                        <a:ea typeface="楷体" panose="02010609060101010101" pitchFamily="49" charset="-122"/>
                      </a:rPr>
                      <m:t>𝒙</m:t>
                    </m:r>
                    <m:r>
                      <a:rPr lang="en-US" altLang="zh-CN" sz="2000" b="1" i="1">
                        <a:solidFill>
                          <a:srgbClr val="002060"/>
                        </a:solidFill>
                        <a:latin typeface="Cambria Math" panose="02040503050406030204" pitchFamily="18" charset="0"/>
                        <a:ea typeface="楷体" panose="02010609060101010101" pitchFamily="49" charset="-122"/>
                      </a:rPr>
                      <m:t> + </m:t>
                    </m:r>
                    <m:r>
                      <a:rPr lang="en-US" altLang="zh-CN" sz="2000" b="1" i="1">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不是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𝑶</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𝒙</m:t>
                            </m:r>
                          </m:e>
                          <m:sup>
                            <m:r>
                              <a:rPr lang="en-US" altLang="zh-CN" sz="2000" b="1" i="1" smtClean="0">
                                <a:solidFill>
                                  <a:srgbClr val="002060"/>
                                </a:solidFill>
                                <a:latin typeface="Cambria Math" panose="02040503050406030204" pitchFamily="18" charset="0"/>
                                <a:ea typeface="楷体" panose="02010609060101010101" pitchFamily="49" charset="-122"/>
                              </a:rPr>
                              <m:t>𝟐</m:t>
                            </m:r>
                          </m:sup>
                        </m:sSup>
                      </m:e>
                    </m:d>
                  </m:oMath>
                </a14:m>
                <a:r>
                  <a:rPr lang="zh-CN" altLang="en-US" sz="2000" b="1">
                    <a:solidFill>
                      <a:srgbClr val="002060"/>
                    </a:solidFill>
                    <a:latin typeface="楷体" panose="02010609060101010101" pitchFamily="49" charset="-122"/>
                    <a:ea typeface="楷体" panose="02010609060101010101" pitchFamily="49" charset="-122"/>
                  </a:rPr>
                  <a:t>，则要证明对任意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𝑪</m:t>
                    </m:r>
                    <m:r>
                      <a:rPr lang="en-US" altLang="zh-CN" sz="2000" b="1" i="1" smtClean="0">
                        <a:solidFill>
                          <a:srgbClr val="002060"/>
                        </a:solidFill>
                        <a:latin typeface="Cambria Math" panose="02040503050406030204" pitchFamily="18" charset="0"/>
                        <a:ea typeface="楷体" panose="02010609060101010101" pitchFamily="49" charset="-122"/>
                      </a:rPr>
                      <m:t>&gt;</m:t>
                    </m:r>
                    <m:r>
                      <a:rPr lang="en-US" altLang="zh-CN" sz="2000" b="1" i="1" smtClean="0">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和任意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𝒌</m:t>
                    </m:r>
                  </m:oMath>
                </a14:m>
                <a:r>
                  <a:rPr lang="zh-CN" altLang="en-US" sz="2000" b="1">
                    <a:solidFill>
                      <a:srgbClr val="002060"/>
                    </a:solidFill>
                    <a:latin typeface="楷体" panose="02010609060101010101" pitchFamily="49" charset="-122"/>
                    <a:ea typeface="楷体" panose="02010609060101010101" pitchFamily="49" charset="-122"/>
                  </a:rPr>
                  <a:t>，都存在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&gt;</m:t>
                    </m:r>
                    <m:r>
                      <a:rPr lang="en-US" altLang="zh-CN" sz="2000" b="1" i="1" smtClean="0">
                        <a:solidFill>
                          <a:srgbClr val="002060"/>
                        </a:solidFill>
                        <a:latin typeface="Cambria Math" panose="02040503050406030204" pitchFamily="18" charset="0"/>
                        <a:ea typeface="楷体" panose="02010609060101010101" pitchFamily="49" charset="-122"/>
                      </a:rPr>
                      <m:t>𝒌</m:t>
                    </m:r>
                  </m:oMath>
                </a14:m>
                <a:r>
                  <a:rPr lang="zh-CN" altLang="en-US" sz="2000" b="1">
                    <a:solidFill>
                      <a:srgbClr val="002060"/>
                    </a:solidFill>
                    <a:latin typeface="楷体" panose="02010609060101010101" pitchFamily="49" charset="-122"/>
                    <a:ea typeface="楷体" panose="02010609060101010101" pitchFamily="49" charset="-122"/>
                  </a:rPr>
                  <a:t>且</a:t>
                </a:r>
                <a14:m>
                  <m:oMath xmlns:m="http://schemas.openxmlformats.org/officeDocument/2006/math">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𝒙</m:t>
                        </m:r>
                      </m:e>
                      <m:sup>
                        <m:r>
                          <a:rPr lang="en-US" altLang="zh-CN" sz="2000" b="1" i="1" smtClean="0">
                            <a:solidFill>
                              <a:srgbClr val="002060"/>
                            </a:solidFill>
                            <a:latin typeface="Cambria Math" panose="02040503050406030204" pitchFamily="18" charset="0"/>
                            <a:ea typeface="楷体" panose="02010609060101010101" pitchFamily="49" charset="-122"/>
                          </a:rPr>
                          <m:t>𝟑</m:t>
                        </m:r>
                      </m:sup>
                    </m:sSup>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𝟐</m:t>
                    </m:r>
                    <m:r>
                      <a:rPr lang="en-US" altLang="zh-CN" sz="2000" b="1" i="1" smtClean="0">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𝟏</m:t>
                    </m:r>
                    <m:r>
                      <a:rPr lang="en-US" altLang="zh-CN" sz="2000" b="1" i="1" smtClean="0">
                        <a:solidFill>
                          <a:srgbClr val="002060"/>
                        </a:solidFill>
                        <a:latin typeface="Cambria Math" panose="02040503050406030204" pitchFamily="18" charset="0"/>
                        <a:ea typeface="楷体" panose="02010609060101010101" pitchFamily="49" charset="-122"/>
                      </a:rPr>
                      <m:t>&gt;</m:t>
                    </m:r>
                    <m:r>
                      <a:rPr lang="en-US" altLang="zh-CN" sz="2000" b="1" i="1" smtClean="0">
                        <a:solidFill>
                          <a:srgbClr val="002060"/>
                        </a:solidFill>
                        <a:latin typeface="Cambria Math" panose="02040503050406030204" pitchFamily="18" charset="0"/>
                        <a:ea typeface="楷体" panose="02010609060101010101" pitchFamily="49" charset="-122"/>
                      </a:rPr>
                      <m:t>𝑪</m:t>
                    </m:r>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𝒙</m:t>
                        </m:r>
                      </m:e>
                      <m:sup>
                        <m:r>
                          <a:rPr lang="en-US" altLang="zh-CN" sz="2000" b="1" i="1" smtClean="0">
                            <a:solidFill>
                              <a:srgbClr val="002060"/>
                            </a:solidFill>
                            <a:latin typeface="Cambria Math" panose="02040503050406030204" pitchFamily="18" charset="0"/>
                            <a:ea typeface="楷体" panose="02010609060101010101" pitchFamily="49" charset="-122"/>
                          </a:rPr>
                          <m:t>𝟐</m:t>
                        </m:r>
                      </m:sup>
                    </m:sSup>
                  </m:oMath>
                </a14:m>
                <a:endParaRPr lang="en-US" altLang="zh-CN" sz="2000" b="1">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这时存在的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也</a:t>
                </a:r>
                <a:r>
                  <a:rPr lang="zh-CN" altLang="en-US" sz="2000" b="1">
                    <a:solidFill>
                      <a:srgbClr val="C00000"/>
                    </a:solidFill>
                  </a:rPr>
                  <a:t>不需要是最小</a:t>
                </a:r>
                <a:r>
                  <a:rPr lang="zh-CN" altLang="en-US" sz="2000" b="1">
                    <a:solidFill>
                      <a:schemeClr val="accent6">
                        <a:lumMod val="50000"/>
                      </a:schemeClr>
                    </a:solidFill>
                  </a:rPr>
                  <a:t>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，但找到的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通常与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𝑪</m:t>
                    </m:r>
                  </m:oMath>
                </a14:m>
                <a:r>
                  <a:rPr lang="zh-CN" altLang="en-US" sz="2000" b="1">
                    <a:solidFill>
                      <a:schemeClr val="accent6">
                        <a:lumMod val="50000"/>
                      </a:schemeClr>
                    </a:solidFill>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有关</a:t>
                </a:r>
                <a:endParaRPr lang="en-US" altLang="zh-CN" sz="2000" b="1">
                  <a:solidFill>
                    <a:schemeClr val="accent6">
                      <a:lumMod val="50000"/>
                    </a:schemeClr>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03890" y="4269904"/>
                <a:ext cx="10459684" cy="1323439"/>
              </a:xfrm>
              <a:prstGeom prst="rect">
                <a:avLst/>
              </a:prstGeom>
              <a:blipFill rotWithShape="1">
                <a:blip r:embed="rId5"/>
                <a:stretch>
                  <a:fillRect l="-3" t="-12" r="3" b="20"/>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a:rPr lang="en-US" altLang="zh-CN" i="1">
                        <a:latin typeface="Cambria Math" panose="02040503050406030204" pitchFamily="18" charset="0"/>
                      </a:rPr>
                      <m:t>𝑂</m:t>
                    </m:r>
                  </m:oMath>
                </a14:m>
                <a:r>
                  <a:rPr lang="zh-CN" altLang="en-US"/>
                  <a:t>记号证明练习</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3"/>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03890" y="1503213"/>
                <a:ext cx="7683592"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证明函数</a:t>
                </a:r>
                <a14:m>
                  <m:oMath xmlns:m="http://schemas.openxmlformats.org/officeDocument/2006/math">
                    <m:r>
                      <a:rPr lang="pt-BR" altLang="zh-CN" sz="2400" b="1" i="1" smtClean="0">
                        <a:solidFill>
                          <a:srgbClr val="002060"/>
                        </a:solidFill>
                        <a:latin typeface="Cambria Math" panose="02040503050406030204" pitchFamily="18" charset="0"/>
                      </a:rPr>
                      <m:t>𝒇</m:t>
                    </m:r>
                    <m:d>
                      <m:dPr>
                        <m:ctrlPr>
                          <a:rPr lang="pt-BR" altLang="zh-CN" sz="2400" b="1" i="1">
                            <a:solidFill>
                              <a:srgbClr val="002060"/>
                            </a:solidFill>
                            <a:latin typeface="Cambria Math" panose="02040503050406030204" pitchFamily="18" charset="0"/>
                          </a:rPr>
                        </m:ctrlPr>
                      </m:dPr>
                      <m:e>
                        <m:r>
                          <a:rPr lang="pt-BR" altLang="zh-CN" sz="2400" b="1" i="1">
                            <a:solidFill>
                              <a:srgbClr val="002060"/>
                            </a:solidFill>
                            <a:latin typeface="Cambria Math" panose="02040503050406030204" pitchFamily="18" charset="0"/>
                          </a:rPr>
                          <m:t>𝒏</m:t>
                        </m:r>
                      </m:e>
                    </m:d>
                    <m:r>
                      <a:rPr lang="pt-BR" altLang="zh-CN" sz="2400" b="1" i="1">
                        <a:solidFill>
                          <a:srgbClr val="002060"/>
                        </a:solidFill>
                        <a:latin typeface="Cambria Math" panose="02040503050406030204" pitchFamily="18" charset="0"/>
                      </a:rPr>
                      <m:t>= </m:t>
                    </m:r>
                    <m:sSup>
                      <m:sSupPr>
                        <m:ctrlPr>
                          <a:rPr lang="pt-BR" altLang="zh-CN" sz="2400" b="1" i="1">
                            <a:solidFill>
                              <a:srgbClr val="002060"/>
                            </a:solidFill>
                            <a:latin typeface="Cambria Math" panose="02040503050406030204" pitchFamily="18" charset="0"/>
                          </a:rPr>
                        </m:ctrlPr>
                      </m:sSupPr>
                      <m:e>
                        <m:r>
                          <a:rPr lang="pt-BR" altLang="zh-CN" sz="2400" b="1" i="1">
                            <a:solidFill>
                              <a:srgbClr val="002060"/>
                            </a:solidFill>
                            <a:latin typeface="Cambria Math" panose="02040503050406030204" pitchFamily="18" charset="0"/>
                          </a:rPr>
                          <m:t>𝟑</m:t>
                        </m:r>
                      </m:e>
                      <m:sup>
                        <m:r>
                          <a:rPr lang="pt-BR" altLang="zh-CN" sz="2400" b="1" i="1">
                            <a:solidFill>
                              <a:srgbClr val="002060"/>
                            </a:solidFill>
                            <a:latin typeface="Cambria Math" panose="02040503050406030204" pitchFamily="18" charset="0"/>
                          </a:rPr>
                          <m:t>𝒏</m:t>
                        </m:r>
                      </m:sup>
                    </m:sSup>
                    <m:r>
                      <a:rPr lang="pt-BR" altLang="zh-CN" sz="2400" b="1" i="1">
                        <a:solidFill>
                          <a:srgbClr val="002060"/>
                        </a:solidFill>
                        <a:latin typeface="Cambria Math" panose="02040503050406030204" pitchFamily="18" charset="0"/>
                      </a:rPr>
                      <m:t>+ </m:t>
                    </m:r>
                    <m:sSup>
                      <m:sSupPr>
                        <m:ctrlPr>
                          <a:rPr lang="pt-BR" altLang="zh-CN" sz="2400" b="1" i="1">
                            <a:solidFill>
                              <a:srgbClr val="002060"/>
                            </a:solidFill>
                            <a:latin typeface="Cambria Math" panose="02040503050406030204" pitchFamily="18" charset="0"/>
                          </a:rPr>
                        </m:ctrlPr>
                      </m:sSupPr>
                      <m:e>
                        <m:r>
                          <a:rPr lang="pt-BR" altLang="zh-CN" sz="2400" b="1" i="1">
                            <a:solidFill>
                              <a:srgbClr val="002060"/>
                            </a:solidFill>
                            <a:latin typeface="Cambria Math" panose="02040503050406030204" pitchFamily="18" charset="0"/>
                          </a:rPr>
                          <m:t>𝟐</m:t>
                        </m:r>
                      </m:e>
                      <m:sup>
                        <m:r>
                          <a:rPr lang="pt-BR" altLang="zh-CN" sz="2400" b="1" i="1">
                            <a:solidFill>
                              <a:srgbClr val="002060"/>
                            </a:solidFill>
                            <a:latin typeface="Cambria Math" panose="02040503050406030204" pitchFamily="18" charset="0"/>
                          </a:rPr>
                          <m:t>𝒏</m:t>
                        </m:r>
                      </m:sup>
                    </m:sSup>
                    <m:r>
                      <a:rPr lang="pt-BR" altLang="zh-CN" sz="2400" b="1" i="1">
                        <a:solidFill>
                          <a:srgbClr val="002060"/>
                        </a:solidFill>
                        <a:latin typeface="Cambria Math" panose="02040503050406030204" pitchFamily="18" charset="0"/>
                      </a:rPr>
                      <m:t>+ </m:t>
                    </m:r>
                    <m:r>
                      <a:rPr lang="pt-BR" altLang="zh-CN" sz="2400" b="1" i="1">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i="1">
                        <a:solidFill>
                          <a:schemeClr val="accent2">
                            <a:lumMod val="50000"/>
                          </a:schemeClr>
                        </a:solidFill>
                        <a:latin typeface="Cambria Math" panose="02040503050406030204" pitchFamily="18" charset="0"/>
                      </a:rPr>
                      <m:t>𝑶</m:t>
                    </m:r>
                    <m:r>
                      <a:rPr lang="en-US" altLang="zh-CN" sz="2400" b="1" i="1">
                        <a:solidFill>
                          <a:schemeClr val="accent2">
                            <a:lumMod val="50000"/>
                          </a:schemeClr>
                        </a:solidFill>
                        <a:latin typeface="Cambria Math" panose="02040503050406030204" pitchFamily="18" charset="0"/>
                      </a:rPr>
                      <m:t>(</m:t>
                    </m:r>
                    <m:sSup>
                      <m:sSupPr>
                        <m:ctrlPr>
                          <a:rPr lang="en-US" altLang="zh-CN" sz="2400" b="1" i="1">
                            <a:solidFill>
                              <a:schemeClr val="accent2">
                                <a:lumMod val="50000"/>
                              </a:schemeClr>
                            </a:solidFill>
                            <a:latin typeface="Cambria Math" panose="02040503050406030204" pitchFamily="18" charset="0"/>
                          </a:rPr>
                        </m:ctrlPr>
                      </m:sSupPr>
                      <m:e>
                        <m:r>
                          <a:rPr lang="en-US" altLang="zh-CN" sz="2400" b="1" i="1">
                            <a:solidFill>
                              <a:schemeClr val="accent2">
                                <a:lumMod val="50000"/>
                              </a:schemeClr>
                            </a:solidFill>
                            <a:latin typeface="Cambria Math" panose="02040503050406030204" pitchFamily="18" charset="0"/>
                          </a:rPr>
                          <m:t>𝟑</m:t>
                        </m:r>
                      </m:e>
                      <m:sup>
                        <m:r>
                          <a:rPr lang="en-US" altLang="zh-CN" sz="2400" b="1" i="1">
                            <a:solidFill>
                              <a:schemeClr val="accent2">
                                <a:lumMod val="50000"/>
                              </a:schemeClr>
                            </a:solidFill>
                            <a:latin typeface="Cambria Math" panose="02040503050406030204" pitchFamily="18" charset="0"/>
                          </a:rPr>
                          <m:t>𝒏</m:t>
                        </m:r>
                      </m:sup>
                    </m:sSup>
                    <m:r>
                      <a:rPr lang="en-US" altLang="zh-CN" sz="2400" b="1" i="1">
                        <a:solidFill>
                          <a:schemeClr val="accent2">
                            <a:lumMod val="50000"/>
                          </a:schemeClr>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，但</a:t>
                </a:r>
                <a:r>
                  <a:rPr lang="zh-CN" altLang="en-US" sz="2400" b="1">
                    <a:solidFill>
                      <a:schemeClr val="accent2">
                        <a:lumMod val="50000"/>
                      </a:schemeClr>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a:solidFill>
                          <a:schemeClr val="accent2">
                            <a:lumMod val="50000"/>
                          </a:schemeClr>
                        </a:solidFill>
                        <a:latin typeface="Cambria Math" panose="02040503050406030204" pitchFamily="18" charset="0"/>
                      </a:rPr>
                      <m:t>𝑶</m:t>
                    </m:r>
                    <m:r>
                      <a:rPr lang="en-US" altLang="zh-CN" sz="2400" b="1" i="1">
                        <a:solidFill>
                          <a:schemeClr val="accent2">
                            <a:lumMod val="50000"/>
                          </a:schemeClr>
                        </a:solidFill>
                        <a:latin typeface="Cambria Math" panose="02040503050406030204" pitchFamily="18" charset="0"/>
                      </a:rPr>
                      <m:t>(</m:t>
                    </m:r>
                    <m:sSup>
                      <m:sSupPr>
                        <m:ctrlPr>
                          <a:rPr lang="en-US" altLang="zh-CN" sz="2400" b="1" i="1">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𝟐</m:t>
                        </m:r>
                      </m:e>
                      <m:sup>
                        <m:r>
                          <a:rPr lang="en-US" altLang="zh-CN" sz="2400" b="1" i="1">
                            <a:solidFill>
                              <a:schemeClr val="accent2">
                                <a:lumMod val="50000"/>
                              </a:schemeClr>
                            </a:solidFill>
                            <a:latin typeface="Cambria Math" panose="02040503050406030204" pitchFamily="18" charset="0"/>
                          </a:rPr>
                          <m:t>𝒏</m:t>
                        </m:r>
                      </m:sup>
                    </m:sSup>
                    <m:r>
                      <a:rPr lang="en-US" altLang="zh-CN" sz="2400" b="1" i="1">
                        <a:solidFill>
                          <a:schemeClr val="accent2">
                            <a:lumMod val="50000"/>
                          </a:schemeClr>
                        </a:solidFill>
                        <a:latin typeface="Cambria Math" panose="02040503050406030204" pitchFamily="18" charset="0"/>
                      </a:rPr>
                      <m:t>)</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03890" y="1503213"/>
                <a:ext cx="7683592" cy="461665"/>
              </a:xfrm>
              <a:prstGeom prst="rect">
                <a:avLst/>
              </a:prstGeom>
              <a:blipFill rotWithShape="1">
                <a:blip r:embed="rId4"/>
                <a:stretch>
                  <a:fillRect l="-4" t="-36" r="5" b="41"/>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a:rPr lang="en-US" altLang="zh-CN" i="1">
                        <a:latin typeface="Cambria Math" panose="02040503050406030204" pitchFamily="18" charset="0"/>
                      </a:rPr>
                      <m:t>𝑂</m:t>
                    </m:r>
                  </m:oMath>
                </a14:m>
                <a:r>
                  <a:rPr lang="zh-CN" altLang="en-US"/>
                  <a:t>记号证明练习</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03890" y="1503213"/>
                <a:ext cx="7683592" cy="461665"/>
              </a:xfrm>
              <a:prstGeom prst="rect">
                <a:avLst/>
              </a:prstGeom>
              <a:solidFill>
                <a:schemeClr val="accent6">
                  <a:lumMod val="20000"/>
                  <a:lumOff val="8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证明函数</a:t>
                </a:r>
                <a14:m>
                  <m:oMath xmlns:m="http://schemas.openxmlformats.org/officeDocument/2006/math">
                    <m:r>
                      <a:rPr lang="pt-BR" altLang="zh-CN" sz="2400" b="1" i="1" smtClean="0">
                        <a:solidFill>
                          <a:srgbClr val="002060"/>
                        </a:solidFill>
                        <a:latin typeface="Cambria Math" panose="02040503050406030204" pitchFamily="18" charset="0"/>
                      </a:rPr>
                      <m:t>𝒇</m:t>
                    </m:r>
                    <m:d>
                      <m:dPr>
                        <m:ctrlPr>
                          <a:rPr lang="pt-BR" altLang="zh-CN" sz="2400" b="1" i="1">
                            <a:solidFill>
                              <a:srgbClr val="002060"/>
                            </a:solidFill>
                            <a:latin typeface="Cambria Math" panose="02040503050406030204" pitchFamily="18" charset="0"/>
                          </a:rPr>
                        </m:ctrlPr>
                      </m:dPr>
                      <m:e>
                        <m:r>
                          <a:rPr lang="pt-BR" altLang="zh-CN" sz="2400" b="1" i="1">
                            <a:solidFill>
                              <a:srgbClr val="002060"/>
                            </a:solidFill>
                            <a:latin typeface="Cambria Math" panose="02040503050406030204" pitchFamily="18" charset="0"/>
                          </a:rPr>
                          <m:t>𝒏</m:t>
                        </m:r>
                      </m:e>
                    </m:d>
                    <m:r>
                      <a:rPr lang="pt-BR" altLang="zh-CN" sz="2400" b="1" i="1">
                        <a:solidFill>
                          <a:srgbClr val="002060"/>
                        </a:solidFill>
                        <a:latin typeface="Cambria Math" panose="02040503050406030204" pitchFamily="18" charset="0"/>
                      </a:rPr>
                      <m:t>= </m:t>
                    </m:r>
                    <m:sSup>
                      <m:sSupPr>
                        <m:ctrlPr>
                          <a:rPr lang="pt-BR" altLang="zh-CN" sz="2400" b="1" i="1">
                            <a:solidFill>
                              <a:srgbClr val="002060"/>
                            </a:solidFill>
                            <a:latin typeface="Cambria Math" panose="02040503050406030204" pitchFamily="18" charset="0"/>
                          </a:rPr>
                        </m:ctrlPr>
                      </m:sSupPr>
                      <m:e>
                        <m:r>
                          <a:rPr lang="pt-BR" altLang="zh-CN" sz="2400" b="1" i="1">
                            <a:solidFill>
                              <a:srgbClr val="002060"/>
                            </a:solidFill>
                            <a:latin typeface="Cambria Math" panose="02040503050406030204" pitchFamily="18" charset="0"/>
                          </a:rPr>
                          <m:t>𝟑</m:t>
                        </m:r>
                      </m:e>
                      <m:sup>
                        <m:r>
                          <a:rPr lang="pt-BR" altLang="zh-CN" sz="2400" b="1" i="1">
                            <a:solidFill>
                              <a:srgbClr val="002060"/>
                            </a:solidFill>
                            <a:latin typeface="Cambria Math" panose="02040503050406030204" pitchFamily="18" charset="0"/>
                          </a:rPr>
                          <m:t>𝒏</m:t>
                        </m:r>
                      </m:sup>
                    </m:sSup>
                    <m:r>
                      <a:rPr lang="pt-BR" altLang="zh-CN" sz="2400" b="1" i="1">
                        <a:solidFill>
                          <a:srgbClr val="002060"/>
                        </a:solidFill>
                        <a:latin typeface="Cambria Math" panose="02040503050406030204" pitchFamily="18" charset="0"/>
                      </a:rPr>
                      <m:t>+ </m:t>
                    </m:r>
                    <m:sSup>
                      <m:sSupPr>
                        <m:ctrlPr>
                          <a:rPr lang="pt-BR" altLang="zh-CN" sz="2400" b="1" i="1">
                            <a:solidFill>
                              <a:srgbClr val="002060"/>
                            </a:solidFill>
                            <a:latin typeface="Cambria Math" panose="02040503050406030204" pitchFamily="18" charset="0"/>
                          </a:rPr>
                        </m:ctrlPr>
                      </m:sSupPr>
                      <m:e>
                        <m:r>
                          <a:rPr lang="pt-BR" altLang="zh-CN" sz="2400" b="1" i="1">
                            <a:solidFill>
                              <a:srgbClr val="002060"/>
                            </a:solidFill>
                            <a:latin typeface="Cambria Math" panose="02040503050406030204" pitchFamily="18" charset="0"/>
                          </a:rPr>
                          <m:t>𝟐</m:t>
                        </m:r>
                      </m:e>
                      <m:sup>
                        <m:r>
                          <a:rPr lang="pt-BR" altLang="zh-CN" sz="2400" b="1" i="1">
                            <a:solidFill>
                              <a:srgbClr val="002060"/>
                            </a:solidFill>
                            <a:latin typeface="Cambria Math" panose="02040503050406030204" pitchFamily="18" charset="0"/>
                          </a:rPr>
                          <m:t>𝒏</m:t>
                        </m:r>
                      </m:sup>
                    </m:sSup>
                    <m:r>
                      <a:rPr lang="pt-BR" altLang="zh-CN" sz="2400" b="1" i="1">
                        <a:solidFill>
                          <a:srgbClr val="002060"/>
                        </a:solidFill>
                        <a:latin typeface="Cambria Math" panose="02040503050406030204" pitchFamily="18" charset="0"/>
                      </a:rPr>
                      <m:t>+ </m:t>
                    </m:r>
                    <m:r>
                      <a:rPr lang="pt-BR" altLang="zh-CN" sz="2400" b="1" i="1">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i="1">
                        <a:solidFill>
                          <a:schemeClr val="accent2">
                            <a:lumMod val="50000"/>
                          </a:schemeClr>
                        </a:solidFill>
                        <a:latin typeface="Cambria Math" panose="02040503050406030204" pitchFamily="18" charset="0"/>
                      </a:rPr>
                      <m:t>𝑶</m:t>
                    </m:r>
                    <m:r>
                      <a:rPr lang="en-US" altLang="zh-CN" sz="2400" b="1" i="1">
                        <a:solidFill>
                          <a:schemeClr val="accent2">
                            <a:lumMod val="50000"/>
                          </a:schemeClr>
                        </a:solidFill>
                        <a:latin typeface="Cambria Math" panose="02040503050406030204" pitchFamily="18" charset="0"/>
                      </a:rPr>
                      <m:t>(</m:t>
                    </m:r>
                    <m:sSup>
                      <m:sSupPr>
                        <m:ctrlPr>
                          <a:rPr lang="en-US" altLang="zh-CN" sz="2400" b="1" i="1">
                            <a:solidFill>
                              <a:schemeClr val="accent2">
                                <a:lumMod val="50000"/>
                              </a:schemeClr>
                            </a:solidFill>
                            <a:latin typeface="Cambria Math" panose="02040503050406030204" pitchFamily="18" charset="0"/>
                          </a:rPr>
                        </m:ctrlPr>
                      </m:sSupPr>
                      <m:e>
                        <m:r>
                          <a:rPr lang="en-US" altLang="zh-CN" sz="2400" b="1" i="1">
                            <a:solidFill>
                              <a:schemeClr val="accent2">
                                <a:lumMod val="50000"/>
                              </a:schemeClr>
                            </a:solidFill>
                            <a:latin typeface="Cambria Math" panose="02040503050406030204" pitchFamily="18" charset="0"/>
                          </a:rPr>
                          <m:t>𝟑</m:t>
                        </m:r>
                      </m:e>
                      <m:sup>
                        <m:r>
                          <a:rPr lang="en-US" altLang="zh-CN" sz="2400" b="1" i="1">
                            <a:solidFill>
                              <a:schemeClr val="accent2">
                                <a:lumMod val="50000"/>
                              </a:schemeClr>
                            </a:solidFill>
                            <a:latin typeface="Cambria Math" panose="02040503050406030204" pitchFamily="18" charset="0"/>
                          </a:rPr>
                          <m:t>𝒏</m:t>
                        </m:r>
                      </m:sup>
                    </m:sSup>
                    <m:r>
                      <a:rPr lang="en-US" altLang="zh-CN" sz="2400" b="1" i="1">
                        <a:solidFill>
                          <a:schemeClr val="accent2">
                            <a:lumMod val="50000"/>
                          </a:schemeClr>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，但</a:t>
                </a:r>
                <a:r>
                  <a:rPr lang="zh-CN" altLang="en-US" sz="2400" b="1">
                    <a:solidFill>
                      <a:schemeClr val="accent2">
                        <a:lumMod val="50000"/>
                      </a:schemeClr>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a:solidFill>
                          <a:schemeClr val="accent2">
                            <a:lumMod val="50000"/>
                          </a:schemeClr>
                        </a:solidFill>
                        <a:latin typeface="Cambria Math" panose="02040503050406030204" pitchFamily="18" charset="0"/>
                      </a:rPr>
                      <m:t>𝑶</m:t>
                    </m:r>
                    <m:r>
                      <a:rPr lang="en-US" altLang="zh-CN" sz="2400" b="1" i="1">
                        <a:solidFill>
                          <a:schemeClr val="accent2">
                            <a:lumMod val="50000"/>
                          </a:schemeClr>
                        </a:solidFill>
                        <a:latin typeface="Cambria Math" panose="02040503050406030204" pitchFamily="18" charset="0"/>
                      </a:rPr>
                      <m:t>(</m:t>
                    </m:r>
                    <m:sSup>
                      <m:sSupPr>
                        <m:ctrlPr>
                          <a:rPr lang="en-US" altLang="zh-CN" sz="2400" b="1" i="1">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𝟐</m:t>
                        </m:r>
                      </m:e>
                      <m:sup>
                        <m:r>
                          <a:rPr lang="en-US" altLang="zh-CN" sz="2400" b="1" i="1">
                            <a:solidFill>
                              <a:schemeClr val="accent2">
                                <a:lumMod val="50000"/>
                              </a:schemeClr>
                            </a:solidFill>
                            <a:latin typeface="Cambria Math" panose="02040503050406030204" pitchFamily="18" charset="0"/>
                          </a:rPr>
                          <m:t>𝒏</m:t>
                        </m:r>
                      </m:sup>
                    </m:sSup>
                    <m:r>
                      <a:rPr lang="en-US" altLang="zh-CN" sz="2400" b="1" i="1">
                        <a:solidFill>
                          <a:schemeClr val="accent2">
                            <a:lumMod val="50000"/>
                          </a:schemeClr>
                        </a:solidFill>
                        <a:latin typeface="Cambria Math" panose="02040503050406030204" pitchFamily="18" charset="0"/>
                      </a:rPr>
                      <m:t>)</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03890" y="1503213"/>
                <a:ext cx="7683592" cy="461665"/>
              </a:xfrm>
              <a:prstGeom prst="rect">
                <a:avLst/>
              </a:prstGeom>
              <a:blipFill rotWithShape="1">
                <a:blip r:embed="rId3"/>
                <a:stretch>
                  <a:fillRect l="-4" t="-36" r="5" b="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703888" y="2299843"/>
                <a:ext cx="10071557" cy="1429302"/>
              </a:xfrm>
              <a:prstGeom prst="rect">
                <a:avLst/>
              </a:prstGeom>
              <a:solidFill>
                <a:schemeClr val="accent5">
                  <a:lumMod val="20000"/>
                  <a:lumOff val="80000"/>
                  <a:alpha val="50000"/>
                </a:schemeClr>
              </a:solidFill>
            </p:spPr>
            <p:txBody>
              <a:bodyPr wrap="square" rtlCol="0">
                <a:spAutoFit/>
              </a:bodyPr>
              <a:lstStyle/>
              <a:p>
                <a:pPr algn="ctr">
                  <a:lnSpc>
                    <a:spcPts val="3200"/>
                  </a:lnSpc>
                  <a:spcBef>
                    <a:spcPts val="600"/>
                  </a:spcBef>
                  <a:spcAft>
                    <a:spcPts val="600"/>
                  </a:spcAft>
                </a:pPr>
                <a14:m>
                  <m:oMath xmlns:m="http://schemas.openxmlformats.org/officeDocument/2006/math">
                    <m:r>
                      <a:rPr lang="en-US" altLang="zh-CN" sz="2400" b="1" i="1" smtClean="0">
                        <a:solidFill>
                          <a:srgbClr val="C00000"/>
                        </a:solidFill>
                        <a:latin typeface="Cambria Math" panose="02040503050406030204" pitchFamily="18" charset="0"/>
                      </a:rPr>
                      <m:t>𝒇</m:t>
                    </m:r>
                  </m:oMath>
                </a14:m>
                <a:r>
                  <a:rPr lang="zh-CN" altLang="en-US" sz="2400" b="1">
                    <a:solidFill>
                      <a:srgbClr val="C00000"/>
                    </a:solidFill>
                  </a:rPr>
                  <a:t>是</a:t>
                </a:r>
                <a14:m>
                  <m:oMath xmlns:m="http://schemas.openxmlformats.org/officeDocument/2006/math">
                    <m:r>
                      <a:rPr lang="en-US" altLang="zh-CN" sz="2400" b="1" i="1" smtClean="0">
                        <a:solidFill>
                          <a:srgbClr val="C00000"/>
                        </a:solidFill>
                        <a:latin typeface="Cambria Math" panose="02040503050406030204" pitchFamily="18" charset="0"/>
                      </a:rPr>
                      <m:t>𝑶</m:t>
                    </m:r>
                    <m:d>
                      <m:dPr>
                        <m:ctrlPr>
                          <a:rPr lang="en-US" altLang="zh-CN" sz="2400" b="1" i="1" smtClean="0">
                            <a:solidFill>
                              <a:srgbClr val="C00000"/>
                            </a:solidFill>
                            <a:latin typeface="Cambria Math" panose="02040503050406030204" pitchFamily="18" charset="0"/>
                          </a:rPr>
                        </m:ctrlPr>
                      </m:dPr>
                      <m:e>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𝟑</m:t>
                            </m:r>
                          </m:e>
                          <m:sup>
                            <m:r>
                              <a:rPr lang="en-US" altLang="zh-CN" sz="2400" b="1" i="1" smtClean="0">
                                <a:solidFill>
                                  <a:srgbClr val="C00000"/>
                                </a:solidFill>
                                <a:latin typeface="Cambria Math" panose="02040503050406030204" pitchFamily="18" charset="0"/>
                              </a:rPr>
                              <m:t>𝒏</m:t>
                            </m:r>
                          </m:sup>
                        </m:sSup>
                      </m:e>
                    </m:d>
                  </m:oMath>
                </a14:m>
                <a:endParaRPr lang="en-US" altLang="zh-CN" sz="2000" b="1"/>
              </a:p>
              <a:p>
                <a:pPr>
                  <a:lnSpc>
                    <a:spcPts val="3200"/>
                  </a:lnSpc>
                  <a:spcBef>
                    <a:spcPts val="600"/>
                  </a:spcBef>
                  <a:spcAft>
                    <a:spcPts val="600"/>
                  </a:spcAft>
                </a:pPr>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r>
                  <a:rPr lang="zh-CN" altLang="en-US" sz="2000" b="1">
                    <a:solidFill>
                      <a:srgbClr val="002060"/>
                    </a:solidFill>
                    <a:latin typeface="楷体" panose="02010609060101010101" pitchFamily="49" charset="-122"/>
                    <a:ea typeface="楷体" panose="02010609060101010101" pitchFamily="49" charset="-122"/>
                  </a:rPr>
                  <a:t>显然当</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时有</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𝟐</m:t>
                        </m:r>
                      </m:e>
                      <m:sup>
                        <m:r>
                          <a:rPr lang="en-US" altLang="zh-CN" sz="2000" b="1" i="1" smtClean="0">
                            <a:solidFill>
                              <a:srgbClr val="002060"/>
                            </a:solidFill>
                            <a:latin typeface="Cambria Math" panose="02040503050406030204" pitchFamily="18" charset="0"/>
                          </a:rPr>
                          <m:t>𝒏</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𝟑</m:t>
                        </m:r>
                      </m:e>
                      <m:sup>
                        <m:r>
                          <a:rPr lang="en-US" altLang="zh-CN" sz="2000" b="1" i="1" smtClean="0">
                            <a:solidFill>
                              <a:srgbClr val="002060"/>
                            </a:solidFill>
                            <a:latin typeface="Cambria Math" panose="02040503050406030204" pitchFamily="18" charset="0"/>
                          </a:rPr>
                          <m:t>𝒏</m:t>
                        </m:r>
                      </m:sup>
                    </m:sSup>
                  </m:oMath>
                </a14:m>
                <a:r>
                  <a:rPr lang="zh-CN" altLang="en-US" sz="2000" b="1">
                    <a:solidFill>
                      <a:srgbClr val="002060"/>
                    </a:solidFill>
                    <a:latin typeface="楷体" panose="02010609060101010101" pitchFamily="49" charset="-122"/>
                    <a:ea typeface="楷体" panose="02010609060101010101" pitchFamily="49" charset="-122"/>
                  </a:rPr>
                  <a:t>，从而当</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 &gt; </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时有</a:t>
                </a:r>
                <a14:m>
                  <m:oMath xmlns:m="http://schemas.openxmlformats.org/officeDocument/2006/math">
                    <m:r>
                      <a:rPr lang="en-US" altLang="zh-CN" sz="2000" b="1" i="1" smtClean="0">
                        <a:solidFill>
                          <a:srgbClr val="002060"/>
                        </a:solidFill>
                        <a:latin typeface="Cambria Math" panose="02040503050406030204" pitchFamily="18" charset="0"/>
                      </a:rPr>
                      <m:t>𝒇</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𝒏</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𝟐</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𝟑</m:t>
                        </m:r>
                      </m:e>
                      <m:sup>
                        <m:r>
                          <a:rPr lang="en-US" altLang="zh-CN" sz="2000" b="1" i="1" smtClean="0">
                            <a:solidFill>
                              <a:srgbClr val="002060"/>
                            </a:solidFill>
                            <a:latin typeface="Cambria Math" panose="02040503050406030204" pitchFamily="18" charset="0"/>
                          </a:rPr>
                          <m:t>𝒏</m:t>
                        </m:r>
                      </m:sup>
                    </m:sSup>
                  </m:oMath>
                </a14:m>
                <a:r>
                  <a:rPr lang="zh-CN" altLang="en-US" sz="2000" b="1">
                    <a:solidFill>
                      <a:srgbClr val="002060"/>
                    </a:solidFill>
                    <a:latin typeface="楷体" panose="02010609060101010101" pitchFamily="49" charset="-122"/>
                    <a:ea typeface="楷体" panose="02010609060101010101" pitchFamily="49" charset="-122"/>
                  </a:rPr>
                  <a:t>，即存在</a:t>
                </a:r>
                <a14:m>
                  <m:oMath xmlns:m="http://schemas.openxmlformats.org/officeDocument/2006/math">
                    <m:r>
                      <a:rPr lang="en-US" altLang="zh-CN" sz="2000" b="1" i="1" smtClean="0">
                        <a:solidFill>
                          <a:srgbClr val="C00000"/>
                        </a:solidFill>
                        <a:latin typeface="Cambria Math" panose="02040503050406030204" pitchFamily="18" charset="0"/>
                      </a:rPr>
                      <m:t>𝒌</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C00000"/>
                        </a:solidFill>
                        <a:latin typeface="Cambria Math" panose="02040503050406030204" pitchFamily="18" charset="0"/>
                      </a:rPr>
                      <m:t>𝑪</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𝟐</m:t>
                    </m:r>
                  </m:oMath>
                </a14:m>
                <a:r>
                  <a:rPr lang="zh-CN" altLang="en-US" sz="2000" b="1">
                    <a:solidFill>
                      <a:srgbClr val="002060"/>
                    </a:solidFill>
                    <a:latin typeface="楷体" panose="02010609060101010101" pitchFamily="49" charset="-122"/>
                    <a:ea typeface="楷体" panose="02010609060101010101" pitchFamily="49" charset="-122"/>
                  </a:rPr>
                  <a:t>，使得当</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 &gt; </m:t>
                    </m:r>
                    <m:r>
                      <a:rPr lang="en-US" altLang="zh-CN" sz="2000" b="1" i="1" smtClean="0">
                        <a:solidFill>
                          <a:srgbClr val="002060"/>
                        </a:solidFill>
                        <a:latin typeface="Cambria Math" panose="02040503050406030204" pitchFamily="18" charset="0"/>
                      </a:rPr>
                      <m:t>𝒌</m:t>
                    </m:r>
                  </m:oMath>
                </a14:m>
                <a:r>
                  <a:rPr lang="zh-CN" altLang="en-US" sz="2000" b="1">
                    <a:solidFill>
                      <a:srgbClr val="002060"/>
                    </a:solidFill>
                    <a:latin typeface="楷体" panose="02010609060101010101" pitchFamily="49" charset="-122"/>
                    <a:ea typeface="楷体" panose="02010609060101010101" pitchFamily="49" charset="-122"/>
                  </a:rPr>
                  <a:t>时</a:t>
                </a:r>
                <a14:m>
                  <m:oMath xmlns:m="http://schemas.openxmlformats.org/officeDocument/2006/math">
                    <m:r>
                      <a:rPr lang="en-US" altLang="zh-CN" sz="2000" b="1" i="1" smtClean="0">
                        <a:solidFill>
                          <a:srgbClr val="002060"/>
                        </a:solidFill>
                        <a:latin typeface="Cambria Math" panose="02040503050406030204" pitchFamily="18" charset="0"/>
                      </a:rPr>
                      <m:t>𝒇</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𝒏</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𝑪</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𝟑</m:t>
                        </m:r>
                      </m:e>
                      <m:sup>
                        <m:r>
                          <a:rPr lang="en-US" altLang="zh-CN" sz="2000" b="1" i="1" smtClean="0">
                            <a:solidFill>
                              <a:srgbClr val="002060"/>
                            </a:solidFill>
                            <a:latin typeface="Cambria Math" panose="02040503050406030204" pitchFamily="18" charset="0"/>
                          </a:rPr>
                          <m:t>𝒏</m:t>
                        </m:r>
                      </m:sup>
                    </m:sSup>
                  </m:oMath>
                </a14:m>
                <a:r>
                  <a:rPr lang="zh-CN" altLang="en-US" sz="2000" b="1">
                    <a:solidFill>
                      <a:srgbClr val="002060"/>
                    </a:solidFill>
                    <a:latin typeface="楷体" panose="02010609060101010101" pitchFamily="49" charset="-122"/>
                    <a:ea typeface="楷体" panose="02010609060101010101" pitchFamily="49" charset="-122"/>
                  </a:rPr>
                  <a:t>，因此</a:t>
                </a:r>
                <a14:m>
                  <m:oMath xmlns:m="http://schemas.openxmlformats.org/officeDocument/2006/math">
                    <m:r>
                      <a:rPr lang="en-US" altLang="zh-CN" sz="2000" b="1" i="1" smtClean="0">
                        <a:solidFill>
                          <a:srgbClr val="002060"/>
                        </a:solidFill>
                        <a:latin typeface="Cambria Math" panose="02040503050406030204" pitchFamily="18" charset="0"/>
                      </a:rPr>
                      <m:t>𝒇</m:t>
                    </m:r>
                  </m:oMath>
                </a14:m>
                <a:r>
                  <a:rPr lang="zh-CN" altLang="en-US" sz="20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𝟑</m:t>
                    </m:r>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oMath>
                </a14:m>
                <a:endParaRPr lang="en-US" altLang="zh-CN" sz="2000" b="1">
                  <a:latin typeface="楷体" panose="02010609060101010101" pitchFamily="49" charset="-122"/>
                  <a:ea typeface="楷体" panose="02010609060101010101" pitchFamily="49"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3888" y="2299843"/>
                <a:ext cx="10071557" cy="1429302"/>
              </a:xfrm>
              <a:prstGeom prst="rect">
                <a:avLst/>
              </a:prstGeom>
              <a:blipFill rotWithShape="1">
                <a:blip r:embed="rId4"/>
                <a:stretch>
                  <a:fillRect l="-3" t="-36" r="1" b="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703888" y="4064110"/>
                <a:ext cx="10071557" cy="1910523"/>
              </a:xfrm>
              <a:prstGeom prst="rect">
                <a:avLst/>
              </a:prstGeom>
              <a:solidFill>
                <a:schemeClr val="accent5">
                  <a:lumMod val="20000"/>
                  <a:lumOff val="80000"/>
                  <a:alpha val="50000"/>
                </a:schemeClr>
              </a:solidFill>
            </p:spPr>
            <p:txBody>
              <a:bodyPr wrap="square" rtlCol="0">
                <a:spAutoFit/>
              </a:bodyPr>
              <a:lstStyle/>
              <a:p>
                <a:pPr algn="ctr">
                  <a:lnSpc>
                    <a:spcPts val="3200"/>
                  </a:lnSpc>
                  <a:spcBef>
                    <a:spcPts val="600"/>
                  </a:spcBef>
                  <a:spcAft>
                    <a:spcPts val="600"/>
                  </a:spcAft>
                </a:pPr>
                <a14:m>
                  <m:oMath xmlns:m="http://schemas.openxmlformats.org/officeDocument/2006/math">
                    <m:r>
                      <a:rPr lang="en-US" altLang="zh-CN" sz="2400" b="1" i="1" smtClean="0">
                        <a:solidFill>
                          <a:srgbClr val="C00000"/>
                        </a:solidFill>
                        <a:latin typeface="Cambria Math" panose="02040503050406030204" pitchFamily="18" charset="0"/>
                      </a:rPr>
                      <m:t>𝒇</m:t>
                    </m:r>
                  </m:oMath>
                </a14:m>
                <a:r>
                  <a:rPr lang="zh-CN" altLang="en-US" sz="2400" b="1">
                    <a:solidFill>
                      <a:srgbClr val="C00000"/>
                    </a:solidFill>
                  </a:rPr>
                  <a:t>不是</a:t>
                </a:r>
                <a14:m>
                  <m:oMath xmlns:m="http://schemas.openxmlformats.org/officeDocument/2006/math">
                    <m:r>
                      <a:rPr lang="en-US" altLang="zh-CN" sz="2400" b="1" i="1" smtClean="0">
                        <a:solidFill>
                          <a:srgbClr val="C00000"/>
                        </a:solidFill>
                        <a:latin typeface="Cambria Math" panose="02040503050406030204" pitchFamily="18" charset="0"/>
                      </a:rPr>
                      <m:t>𝑶</m:t>
                    </m:r>
                    <m:d>
                      <m:dPr>
                        <m:ctrlPr>
                          <a:rPr lang="en-US" altLang="zh-CN" sz="2400" b="1" i="1" smtClean="0">
                            <a:solidFill>
                              <a:srgbClr val="C00000"/>
                            </a:solidFill>
                            <a:latin typeface="Cambria Math" panose="02040503050406030204" pitchFamily="18" charset="0"/>
                          </a:rPr>
                        </m:ctrlPr>
                      </m:dPr>
                      <m:e>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𝟐</m:t>
                            </m:r>
                          </m:e>
                          <m:sup>
                            <m:r>
                              <a:rPr lang="en-US" altLang="zh-CN" sz="2400" b="1" i="1" smtClean="0">
                                <a:solidFill>
                                  <a:srgbClr val="C00000"/>
                                </a:solidFill>
                                <a:latin typeface="Cambria Math" panose="02040503050406030204" pitchFamily="18" charset="0"/>
                              </a:rPr>
                              <m:t>𝒏</m:t>
                            </m:r>
                          </m:sup>
                        </m:sSup>
                      </m:e>
                    </m:d>
                  </m:oMath>
                </a14:m>
                <a:endParaRPr lang="en-US" altLang="zh-CN" sz="2000" b="1"/>
              </a:p>
              <a:p>
                <a:pPr>
                  <a:lnSpc>
                    <a:spcPts val="3400"/>
                  </a:lnSpc>
                  <a:spcBef>
                    <a:spcPts val="600"/>
                  </a:spcBef>
                  <a:spcAft>
                    <a:spcPts val="600"/>
                  </a:spcAft>
                </a:pPr>
                <a:r>
                  <a:rPr lang="en-US" altLang="zh-CN" sz="2000" b="1">
                    <a:solidFill>
                      <a:srgbClr val="C00000"/>
                    </a:solidFill>
                  </a:rPr>
                  <a:t>【</a:t>
                </a:r>
                <a:r>
                  <a:rPr lang="zh-CN" altLang="en-US" sz="2000" b="1">
                    <a:solidFill>
                      <a:srgbClr val="C00000"/>
                    </a:solidFill>
                  </a:rPr>
                  <a:t>证明</a:t>
                </a:r>
                <a:r>
                  <a:rPr lang="en-US" altLang="zh-CN" sz="2000" b="1">
                    <a:solidFill>
                      <a:srgbClr val="C00000"/>
                    </a:solidFill>
                  </a:rPr>
                  <a:t>】</a:t>
                </a:r>
                <a:r>
                  <a:rPr lang="zh-CN" altLang="en-US" sz="2000" b="1">
                    <a:solidFill>
                      <a:srgbClr val="002060"/>
                    </a:solidFill>
                    <a:latin typeface="楷体" panose="02010609060101010101" pitchFamily="49" charset="-122"/>
                    <a:ea typeface="楷体" panose="02010609060101010101" pitchFamily="49" charset="-122"/>
                  </a:rPr>
                  <a:t>对任意正整数</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𝑪</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𝒌</m:t>
                    </m:r>
                  </m:oMath>
                </a14:m>
                <a:r>
                  <a:rPr lang="zh-CN" altLang="en-US" sz="2000" b="1">
                    <a:solidFill>
                      <a:srgbClr val="002060"/>
                    </a:solidFill>
                    <a:latin typeface="楷体" panose="02010609060101010101" pitchFamily="49" charset="-122"/>
                    <a:ea typeface="楷体" panose="02010609060101010101" pitchFamily="49" charset="-122"/>
                  </a:rPr>
                  <a:t>，不难看到，总存在</a:t>
                </a:r>
                <a14:m>
                  <m:oMath xmlns:m="http://schemas.openxmlformats.org/officeDocument/2006/math">
                    <m:sSub>
                      <m:sSubPr>
                        <m:ctrlPr>
                          <a:rPr lang="en-US" altLang="zh-CN" sz="2000" b="1" i="1" smtClean="0">
                            <a:solidFill>
                              <a:srgbClr val="002060"/>
                            </a:solidFill>
                            <a:latin typeface="Cambria Math" panose="02040503050406030204" pitchFamily="18" charset="0"/>
                            <a:ea typeface="楷体" panose="02010609060101010101" pitchFamily="49" charset="-122"/>
                          </a:rPr>
                        </m:ctrlPr>
                      </m:sSubPr>
                      <m:e>
                        <m:r>
                          <a:rPr lang="en-US" altLang="zh-CN" sz="2000" b="1" i="1" smtClean="0">
                            <a:solidFill>
                              <a:srgbClr val="002060"/>
                            </a:solidFill>
                            <a:latin typeface="Cambria Math" panose="02040503050406030204" pitchFamily="18" charset="0"/>
                            <a:ea typeface="楷体" panose="02010609060101010101" pitchFamily="49" charset="-122"/>
                          </a:rPr>
                          <m:t>𝒏</m:t>
                        </m:r>
                      </m:e>
                      <m:sub>
                        <m:r>
                          <a:rPr lang="en-US" altLang="zh-CN" sz="2000" b="1" i="1" smtClean="0">
                            <a:solidFill>
                              <a:srgbClr val="002060"/>
                            </a:solidFill>
                            <a:latin typeface="Cambria Math" panose="02040503050406030204" pitchFamily="18" charset="0"/>
                            <a:ea typeface="楷体" panose="02010609060101010101" pitchFamily="49" charset="-122"/>
                          </a:rPr>
                          <m:t>𝟎</m:t>
                        </m:r>
                      </m:sub>
                    </m:sSub>
                  </m:oMath>
                </a14:m>
                <a:r>
                  <a:rPr lang="zh-CN" altLang="en-US" sz="2000" b="1">
                    <a:solidFill>
                      <a:srgbClr val="002060"/>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sSub>
                      <m:sSubPr>
                        <m:ctrlPr>
                          <a:rPr lang="en-US" altLang="zh-CN" sz="2000" b="1" i="1" smtClean="0">
                            <a:solidFill>
                              <a:srgbClr val="002060"/>
                            </a:solidFill>
                            <a:latin typeface="Cambria Math" panose="02040503050406030204" pitchFamily="18" charset="0"/>
                            <a:ea typeface="楷体" panose="02010609060101010101" pitchFamily="49" charset="-122"/>
                          </a:rPr>
                        </m:ctrlPr>
                      </m:sSubPr>
                      <m:e>
                        <m:r>
                          <a:rPr lang="en-US" altLang="zh-CN" sz="2000" b="1" i="1" smtClean="0">
                            <a:solidFill>
                              <a:srgbClr val="002060"/>
                            </a:solidFill>
                            <a:latin typeface="Cambria Math" panose="02040503050406030204" pitchFamily="18" charset="0"/>
                            <a:ea typeface="楷体" panose="02010609060101010101" pitchFamily="49" charset="-122"/>
                          </a:rPr>
                          <m:t>𝒏</m:t>
                        </m:r>
                      </m:e>
                      <m:sub>
                        <m:r>
                          <a:rPr lang="en-US" altLang="zh-CN" sz="2000" b="1" i="1" smtClean="0">
                            <a:solidFill>
                              <a:srgbClr val="002060"/>
                            </a:solidFill>
                            <a:latin typeface="Cambria Math" panose="02040503050406030204" pitchFamily="18" charset="0"/>
                            <a:ea typeface="楷体" panose="02010609060101010101" pitchFamily="49" charset="-122"/>
                          </a:rPr>
                          <m:t>𝟎</m:t>
                        </m:r>
                      </m:sub>
                    </m:sSub>
                  </m:oMath>
                </a14:m>
                <a:r>
                  <a:rPr lang="zh-CN" altLang="en-US" sz="2000" b="1">
                    <a:solidFill>
                      <a:srgbClr val="002060"/>
                    </a:solidFill>
                    <a:latin typeface="楷体" panose="02010609060101010101" pitchFamily="49" charset="-122"/>
                    <a:ea typeface="楷体" panose="02010609060101010101" pitchFamily="49" charset="-122"/>
                  </a:rPr>
                  <a:t>时有</a:t>
                </a:r>
                <a14:m>
                  <m:oMath xmlns:m="http://schemas.openxmlformats.org/officeDocument/2006/math">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𝟑</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𝟐</m:t>
                            </m:r>
                          </m:e>
                        </m:d>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𝑪</m:t>
                    </m:r>
                  </m:oMath>
                </a14:m>
                <a:r>
                  <a:rPr lang="zh-CN" altLang="en-US" sz="2000" b="1">
                    <a:solidFill>
                      <a:srgbClr val="002060"/>
                    </a:solidFill>
                    <a:latin typeface="楷体" panose="02010609060101010101" pitchFamily="49" charset="-122"/>
                    <a:ea typeface="楷体" panose="02010609060101010101" pitchFamily="49" charset="-122"/>
                  </a:rPr>
                  <a:t>，例如令</a:t>
                </a:r>
                <a14:m>
                  <m:oMath xmlns:m="http://schemas.openxmlformats.org/officeDocument/2006/math">
                    <m:sSub>
                      <m:sSubPr>
                        <m:ctrlPr>
                          <a:rPr lang="en-US" altLang="zh-CN" sz="2000" b="1" i="1" smtClean="0">
                            <a:solidFill>
                              <a:srgbClr val="002060"/>
                            </a:solidFill>
                            <a:latin typeface="Cambria Math" panose="02040503050406030204" pitchFamily="18" charset="0"/>
                            <a:ea typeface="楷体" panose="02010609060101010101" pitchFamily="49" charset="-122"/>
                          </a:rPr>
                        </m:ctrlPr>
                      </m:sSubPr>
                      <m:e>
                        <m:r>
                          <a:rPr lang="en-US" altLang="zh-CN" sz="2000" b="1" i="1" smtClean="0">
                            <a:solidFill>
                              <a:srgbClr val="002060"/>
                            </a:solidFill>
                            <a:latin typeface="Cambria Math" panose="02040503050406030204" pitchFamily="18" charset="0"/>
                            <a:ea typeface="楷体" panose="02010609060101010101" pitchFamily="49" charset="-122"/>
                          </a:rPr>
                          <m:t>𝒏</m:t>
                        </m:r>
                      </m:e>
                      <m:sub>
                        <m:r>
                          <a:rPr lang="en-US" altLang="zh-CN" sz="2000" b="1" i="1" smtClean="0">
                            <a:solidFill>
                              <a:srgbClr val="002060"/>
                            </a:solidFill>
                            <a:latin typeface="Cambria Math" panose="02040503050406030204" pitchFamily="18" charset="0"/>
                            <a:ea typeface="楷体" panose="02010609060101010101" pitchFamily="49" charset="-122"/>
                          </a:rPr>
                          <m:t>𝟎</m:t>
                        </m:r>
                      </m:sub>
                    </m:sSub>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0" smtClean="0">
                        <a:solidFill>
                          <a:srgbClr val="002060"/>
                        </a:solidFill>
                        <a:latin typeface="Cambria Math" panose="02040503050406030204" pitchFamily="18" charset="0"/>
                        <a:ea typeface="楷体" panose="02010609060101010101" pitchFamily="49" charset="-122"/>
                      </a:rPr>
                      <m:t>𝐦𝐚𝐱</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𝟏</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0" smtClean="0">
                        <a:solidFill>
                          <a:srgbClr val="002060"/>
                        </a:solidFill>
                        <a:latin typeface="Cambria Math" panose="02040503050406030204" pitchFamily="18" charset="0"/>
                        <a:ea typeface="楷体" panose="02010609060101010101" pitchFamily="49" charset="-122"/>
                      </a:rPr>
                      <m:t>𝐥𝐨𝐠</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𝑪</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𝐥𝐨𝐠</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𝟐</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𝟑</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时有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sSub>
                      <m:sSubPr>
                        <m:ctrlPr>
                          <a:rPr lang="en-US" altLang="zh-CN" sz="2000" b="1" i="1" smtClean="0">
                            <a:solidFill>
                              <a:srgbClr val="002060"/>
                            </a:solidFill>
                            <a:latin typeface="Cambria Math" panose="02040503050406030204" pitchFamily="18" charset="0"/>
                            <a:ea typeface="楷体" panose="02010609060101010101" pitchFamily="49" charset="-122"/>
                          </a:rPr>
                        </m:ctrlPr>
                      </m:sSubPr>
                      <m:e>
                        <m:r>
                          <a:rPr lang="en-US" altLang="zh-CN" sz="2000" b="1" i="1" smtClean="0">
                            <a:solidFill>
                              <a:srgbClr val="002060"/>
                            </a:solidFill>
                            <a:latin typeface="Cambria Math" panose="02040503050406030204" pitchFamily="18" charset="0"/>
                            <a:ea typeface="楷体" panose="02010609060101010101" pitchFamily="49" charset="-122"/>
                          </a:rPr>
                          <m:t>𝒏</m:t>
                        </m:r>
                      </m:e>
                      <m:sub>
                        <m:r>
                          <a:rPr lang="en-US" altLang="zh-CN" sz="2000" b="1" i="1" smtClean="0">
                            <a:solidFill>
                              <a:srgbClr val="002060"/>
                            </a:solidFill>
                            <a:latin typeface="Cambria Math" panose="02040503050406030204" pitchFamily="18" charset="0"/>
                            <a:ea typeface="楷体" panose="02010609060101010101" pitchFamily="49" charset="-122"/>
                          </a:rPr>
                          <m:t>𝟎</m:t>
                        </m:r>
                      </m:sub>
                    </m:sSub>
                  </m:oMath>
                </a14:m>
                <a:r>
                  <a:rPr lang="zh-CN" altLang="en-US" sz="2000" b="1">
                    <a:solidFill>
                      <a:srgbClr val="002060"/>
                    </a:solidFill>
                    <a:latin typeface="楷体" panose="02010609060101010101" pitchFamily="49" charset="-122"/>
                    <a:ea typeface="楷体" panose="02010609060101010101" pitchFamily="49" charset="-122"/>
                  </a:rPr>
                  <a:t>蕴含</a:t>
                </a:r>
                <a14:m>
                  <m:oMath xmlns:m="http://schemas.openxmlformats.org/officeDocument/2006/math">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𝟑</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𝟐</m:t>
                            </m:r>
                          </m:e>
                        </m:d>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𝑪</m:t>
                    </m:r>
                  </m:oMath>
                </a14:m>
                <a:r>
                  <a:rPr lang="zh-CN" altLang="en-US" sz="2000" b="1">
                    <a:solidFill>
                      <a:srgbClr val="002060"/>
                    </a:solidFill>
                    <a:latin typeface="楷体" panose="02010609060101010101" pitchFamily="49" charset="-122"/>
                    <a:ea typeface="楷体" panose="02010609060101010101" pitchFamily="49" charset="-122"/>
                  </a:rPr>
                  <a:t>，即</a:t>
                </a:r>
                <a14:m>
                  <m:oMath xmlns:m="http://schemas.openxmlformats.org/officeDocument/2006/math">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𝟑</m:t>
                        </m:r>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𝑪</m:t>
                    </m:r>
                    <m:r>
                      <a:rPr lang="en-US" altLang="zh-CN" sz="2000" b="1" i="1" smtClean="0">
                        <a:solidFill>
                          <a:srgbClr val="002060"/>
                        </a:solidFill>
                        <a:latin typeface="Cambria Math" panose="02040503050406030204" pitchFamily="18" charset="0"/>
                        <a:ea typeface="楷体" panose="02010609060101010101" pitchFamily="49" charset="-122"/>
                      </a:rPr>
                      <m:t>⋅</m:t>
                    </m:r>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𝟐</m:t>
                        </m:r>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oMath>
                </a14:m>
                <a:r>
                  <a:rPr lang="zh-CN" altLang="en-US" sz="2000" b="1">
                    <a:solidFill>
                      <a:srgbClr val="002060"/>
                    </a:solidFill>
                    <a:latin typeface="楷体" panose="02010609060101010101" pitchFamily="49" charset="-122"/>
                    <a:ea typeface="楷体" panose="02010609060101010101" pitchFamily="49" charset="-122"/>
                  </a:rPr>
                  <a:t>，从而当</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𝐦𝐚𝐱</m:t>
                    </m:r>
                    <m:r>
                      <m:rPr>
                        <m:lit/>
                      </m:rPr>
                      <a:rPr lang="en-US" altLang="zh-CN" sz="2000" b="1" i="1">
                        <a:solidFill>
                          <a:srgbClr val="002060"/>
                        </a:solidFill>
                        <a:latin typeface="Cambria Math" panose="02040503050406030204" pitchFamily="18" charset="0"/>
                        <a:ea typeface="楷体" panose="02010609060101010101" pitchFamily="49" charset="-122"/>
                      </a:rPr>
                      <m:t>{</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𝒏</m:t>
                        </m:r>
                      </m:e>
                      <m:sub>
                        <m:r>
                          <a:rPr lang="en-US" altLang="zh-CN" sz="2000" b="1" i="1">
                            <a:solidFill>
                              <a:srgbClr val="002060"/>
                            </a:solidFill>
                            <a:latin typeface="Cambria Math" panose="02040503050406030204" pitchFamily="18" charset="0"/>
                            <a:ea typeface="楷体" panose="02010609060101010101" pitchFamily="49" charset="-122"/>
                          </a:rPr>
                          <m:t>𝟎</m:t>
                        </m:r>
                      </m:sub>
                    </m:sSub>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𝒌</m:t>
                    </m:r>
                    <m:r>
                      <m:rPr>
                        <m:lit/>
                      </m:rPr>
                      <a:rPr lang="en-US" altLang="zh-CN" sz="2000" b="1" i="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时有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𝒏</m:t>
                        </m:r>
                      </m:e>
                    </m:d>
                    <m:r>
                      <a:rPr lang="en-US" altLang="zh-CN" sz="2000" b="1" i="1" smtClean="0">
                        <a:solidFill>
                          <a:srgbClr val="002060"/>
                        </a:solidFill>
                        <a:latin typeface="Cambria Math" panose="02040503050406030204" pitchFamily="18" charset="0"/>
                        <a:ea typeface="楷体" panose="02010609060101010101" pitchFamily="49" charset="-122"/>
                      </a:rPr>
                      <m:t>≥</m:t>
                    </m:r>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𝟑</m:t>
                        </m:r>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𝑪</m:t>
                    </m:r>
                    <m:r>
                      <a:rPr lang="en-US" altLang="zh-CN" sz="2000" b="1" i="1" smtClean="0">
                        <a:solidFill>
                          <a:srgbClr val="002060"/>
                        </a:solidFill>
                        <a:latin typeface="Cambria Math" panose="02040503050406030204" pitchFamily="18" charset="0"/>
                        <a:ea typeface="Cambria Math" panose="02040503050406030204" pitchFamily="18" charset="0"/>
                      </a:rPr>
                      <m:t>∙</m:t>
                    </m:r>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𝟐</m:t>
                        </m:r>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oMath>
                </a14:m>
                <a:r>
                  <a:rPr lang="zh-CN" altLang="en-US" sz="2000" b="1">
                    <a:solidFill>
                      <a:srgbClr val="002060"/>
                    </a:solidFill>
                    <a:latin typeface="楷体" panose="02010609060101010101" pitchFamily="49" charset="-122"/>
                    <a:ea typeface="楷体" panose="02010609060101010101" pitchFamily="49" charset="-122"/>
                  </a:rPr>
                  <a:t>，这表明</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oMath>
                </a14:m>
                <a:r>
                  <a:rPr lang="zh-CN" altLang="en-US" sz="2000" b="1">
                    <a:solidFill>
                      <a:srgbClr val="002060"/>
                    </a:solidFill>
                    <a:latin typeface="楷体" panose="02010609060101010101" pitchFamily="49" charset="-122"/>
                    <a:ea typeface="楷体" panose="02010609060101010101" pitchFamily="49" charset="-122"/>
                  </a:rPr>
                  <a:t>不是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𝑶</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sSup>
                          <m:sSupPr>
                            <m:ctrlPr>
                              <a:rPr lang="en-US" altLang="zh-CN" sz="2000" b="1" i="1" smtClean="0">
                                <a:solidFill>
                                  <a:srgbClr val="002060"/>
                                </a:solidFill>
                                <a:latin typeface="Cambria Math" panose="02040503050406030204" pitchFamily="18" charset="0"/>
                                <a:ea typeface="楷体" panose="02010609060101010101" pitchFamily="49" charset="-122"/>
                              </a:rPr>
                            </m:ctrlPr>
                          </m:sSupPr>
                          <m:e>
                            <m:r>
                              <a:rPr lang="en-US" altLang="zh-CN" sz="2000" b="1" i="1" smtClean="0">
                                <a:solidFill>
                                  <a:srgbClr val="002060"/>
                                </a:solidFill>
                                <a:latin typeface="Cambria Math" panose="02040503050406030204" pitchFamily="18" charset="0"/>
                                <a:ea typeface="楷体" panose="02010609060101010101" pitchFamily="49" charset="-122"/>
                              </a:rPr>
                              <m:t>𝟐</m:t>
                            </m:r>
                          </m:e>
                          <m:sup>
                            <m:r>
                              <a:rPr lang="en-US" altLang="zh-CN" sz="2000" b="1" i="1" smtClean="0">
                                <a:solidFill>
                                  <a:srgbClr val="002060"/>
                                </a:solidFill>
                                <a:latin typeface="Cambria Math" panose="02040503050406030204" pitchFamily="18" charset="0"/>
                                <a:ea typeface="楷体" panose="02010609060101010101" pitchFamily="49" charset="-122"/>
                              </a:rPr>
                              <m:t>𝒏</m:t>
                            </m:r>
                          </m:sup>
                        </m:sSup>
                      </m:e>
                    </m:d>
                  </m:oMath>
                </a14:m>
                <a:endParaRPr lang="en-US" altLang="zh-CN" sz="2000" b="1">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03888" y="4064110"/>
                <a:ext cx="10071557" cy="1910523"/>
              </a:xfrm>
              <a:prstGeom prst="rect">
                <a:avLst/>
              </a:prstGeom>
              <a:blipFill rotWithShape="1">
                <a:blip r:embed="rId5"/>
                <a:stretch>
                  <a:fillRect l="-3" t="-6" r="1" b="29"/>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常见函数增长情况比较</a:t>
            </a:r>
          </a:p>
        </p:txBody>
      </p:sp>
      <mc:AlternateContent xmlns:mc="http://schemas.openxmlformats.org/markup-compatibility/2006" xmlns:a14="http://schemas.microsoft.com/office/drawing/2010/main">
        <mc:Choice Requires="a14">
          <p:sp>
            <p:nvSpPr>
              <p:cNvPr id="2" name="文本框 1"/>
              <p:cNvSpPr txBox="1"/>
              <p:nvPr/>
            </p:nvSpPr>
            <p:spPr>
              <a:xfrm>
                <a:off x="749941" y="1736871"/>
                <a:ext cx="5519292" cy="3831177"/>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利用幂函数、指数函数和对数函数的单调性，可证明</a:t>
                </a: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r>
                      <a:rPr lang="en-US" altLang="zh-CN" b="1" i="1" smtClean="0">
                        <a:solidFill>
                          <a:schemeClr val="accent6">
                            <a:lumMod val="50000"/>
                          </a:schemeClr>
                        </a:solidFill>
                        <a:latin typeface="Cambria Math" panose="02040503050406030204" pitchFamily="18" charset="0"/>
                      </a:rPr>
                      <m:t>&lt;</m:t>
                    </m:r>
                    <m:r>
                      <a:rPr lang="en-US" altLang="zh-CN" b="1" i="1" smtClean="0">
                        <a:solidFill>
                          <a:schemeClr val="accent6">
                            <a:lumMod val="50000"/>
                          </a:schemeClr>
                        </a:solidFill>
                        <a:latin typeface="Cambria Math" panose="02040503050406030204" pitchFamily="18" charset="0"/>
                      </a:rPr>
                      <m:t>𝒄</m:t>
                    </m:r>
                    <m:r>
                      <a:rPr lang="en-US" altLang="zh-CN" b="1" i="1" smtClean="0">
                        <a:solidFill>
                          <a:schemeClr val="accent6">
                            <a:lumMod val="50000"/>
                          </a:schemeClr>
                        </a:solidFill>
                        <a:latin typeface="Cambria Math" panose="02040503050406030204" pitchFamily="18" charset="0"/>
                      </a:rPr>
                      <m:t> &lt;</m:t>
                    </m:r>
                    <m:r>
                      <a:rPr lang="en-US" altLang="zh-CN" b="1" i="1" smtClean="0">
                        <a:solidFill>
                          <a:schemeClr val="accent6">
                            <a:lumMod val="50000"/>
                          </a:schemeClr>
                        </a:solidFill>
                        <a:latin typeface="Cambria Math" panose="02040503050406030204" pitchFamily="18" charset="0"/>
                      </a:rPr>
                      <m:t>𝒅</m:t>
                    </m:r>
                  </m:oMath>
                </a14:m>
                <a:r>
                  <a:rPr lang="zh-CN" altLang="en-US" b="1" dirty="0">
                    <a:solidFill>
                      <a:schemeClr val="accent6">
                        <a:lumMod val="50000"/>
                      </a:schemeClr>
                    </a:solidFill>
                  </a:rPr>
                  <a:t>时，</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oMath>
                </a14:m>
                <a:r>
                  <a:rPr lang="zh-CN" altLang="en-US" b="1" dirty="0">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𝒅</m:t>
                            </m:r>
                          </m:sup>
                        </m:sSup>
                      </m:e>
                    </m:d>
                  </m:oMath>
                </a14:m>
                <a:r>
                  <a:rPr lang="zh-CN" altLang="en-US" b="1" dirty="0">
                    <a:solidFill>
                      <a:schemeClr val="accent6">
                        <a:lumMod val="50000"/>
                      </a:schemeClr>
                    </a:solidFill>
                  </a:rPr>
                  <a:t>，但是</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𝒅</m:t>
                        </m:r>
                      </m:sup>
                    </m:sSup>
                  </m:oMath>
                </a14:m>
                <a:r>
                  <a:rPr lang="zh-CN" altLang="en-US" b="1" dirty="0">
                    <a:solidFill>
                      <a:schemeClr val="accent6">
                        <a:lumMod val="50000"/>
                      </a:schemeClr>
                    </a:solidFill>
                  </a:rPr>
                  <a:t>不是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e>
                    </m:d>
                  </m:oMath>
                </a14:m>
                <a:endParaRPr lang="en-US" altLang="zh-CN" b="1" dirty="0">
                  <a:solidFill>
                    <a:schemeClr val="accent6">
                      <a:lumMod val="50000"/>
                    </a:schemeClr>
                  </a:solidFill>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rPr>
                  <a:t>且</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𝒄</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𝟎</m:t>
                    </m:r>
                  </m:oMath>
                </a14:m>
                <a:r>
                  <a:rPr lang="zh-CN" altLang="en-US" b="1" dirty="0">
                    <a:solidFill>
                      <a:schemeClr val="accent6">
                        <a:lumMod val="50000"/>
                      </a:schemeClr>
                    </a:solidFill>
                  </a:rPr>
                  <a:t>时，</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0" smtClean="0">
                            <a:solidFill>
                              <a:schemeClr val="accent6">
                                <a:lumMod val="50000"/>
                              </a:schemeClr>
                            </a:solidFill>
                            <a:latin typeface="Cambria Math" panose="02040503050406030204" pitchFamily="18" charset="0"/>
                          </a:rPr>
                          <m:t>𝐥𝐨𝐠</m:t>
                        </m:r>
                      </m:e>
                      <m:sub>
                        <m:r>
                          <a:rPr lang="en-US" altLang="zh-CN" b="1" i="1" smtClean="0">
                            <a:solidFill>
                              <a:schemeClr val="accent6">
                                <a:lumMod val="50000"/>
                              </a:schemeClr>
                            </a:solidFill>
                            <a:latin typeface="Cambria Math" panose="02040503050406030204" pitchFamily="18" charset="0"/>
                          </a:rPr>
                          <m:t>𝒃</m:t>
                        </m:r>
                      </m:sub>
                    </m:sSub>
                    <m:r>
                      <a:rPr lang="en-US" altLang="zh-CN" b="1" i="1" smtClean="0">
                        <a:solidFill>
                          <a:schemeClr val="accent6">
                            <a:lumMod val="50000"/>
                          </a:schemeClr>
                        </a:solidFill>
                        <a:latin typeface="Cambria Math" panose="02040503050406030204" pitchFamily="18" charset="0"/>
                      </a:rPr>
                      <m:t>𝒏</m:t>
                    </m:r>
                  </m:oMath>
                </a14:m>
                <a:r>
                  <a:rPr lang="zh-CN" altLang="en-US" b="1" dirty="0">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e>
                    </m:d>
                  </m:oMath>
                </a14:m>
                <a:r>
                  <a:rPr lang="zh-CN" altLang="en-US" b="1" dirty="0">
                    <a:solidFill>
                      <a:schemeClr val="accent6">
                        <a:lumMod val="50000"/>
                      </a:schemeClr>
                    </a:solidFill>
                  </a:rPr>
                  <a:t>，而</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oMath>
                </a14:m>
                <a:r>
                  <a:rPr lang="zh-CN" altLang="en-US" b="1" dirty="0">
                    <a:solidFill>
                      <a:schemeClr val="accent6">
                        <a:lumMod val="50000"/>
                      </a:schemeClr>
                    </a:solidFill>
                  </a:rPr>
                  <a:t>不是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0" smtClean="0">
                                <a:solidFill>
                                  <a:schemeClr val="accent6">
                                    <a:lumMod val="50000"/>
                                  </a:schemeClr>
                                </a:solidFill>
                                <a:latin typeface="Cambria Math" panose="02040503050406030204" pitchFamily="18" charset="0"/>
                              </a:rPr>
                              <m:t>𝐥𝐨𝐠</m:t>
                            </m:r>
                          </m:e>
                          <m:sub>
                            <m:r>
                              <a:rPr lang="en-US" altLang="zh-CN" b="1" i="1" smtClean="0">
                                <a:solidFill>
                                  <a:schemeClr val="accent6">
                                    <a:lumMod val="50000"/>
                                  </a:schemeClr>
                                </a:solidFill>
                                <a:latin typeface="Cambria Math" panose="02040503050406030204" pitchFamily="18" charset="0"/>
                              </a:rPr>
                              <m:t>𝒃</m:t>
                            </m:r>
                          </m:sub>
                        </m:sSub>
                        <m:r>
                          <a:rPr lang="en-US" altLang="zh-CN" b="1" i="1" smtClean="0">
                            <a:solidFill>
                              <a:schemeClr val="accent6">
                                <a:lumMod val="50000"/>
                              </a:schemeClr>
                            </a:solidFill>
                            <a:latin typeface="Cambria Math" panose="02040503050406030204" pitchFamily="18" charset="0"/>
                          </a:rPr>
                          <m:t>𝒏</m:t>
                        </m:r>
                      </m:e>
                    </m:d>
                  </m:oMath>
                </a14:m>
                <a:endParaRPr lang="en-US" altLang="zh-CN" b="1" dirty="0">
                  <a:solidFill>
                    <a:schemeClr val="accent6">
                      <a:lumMod val="50000"/>
                    </a:schemeClr>
                  </a:solidFill>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rPr>
                  <a:t>且</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𝒄</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𝟎</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𝟎</m:t>
                    </m:r>
                  </m:oMath>
                </a14:m>
                <a:r>
                  <a:rPr lang="zh-CN" altLang="en-US" b="1" dirty="0">
                    <a:solidFill>
                      <a:schemeClr val="accent6">
                        <a:lumMod val="50000"/>
                      </a:schemeClr>
                    </a:solidFill>
                  </a:rPr>
                  <a:t>时有</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0" smtClean="0">
                                    <a:solidFill>
                                      <a:schemeClr val="accent6">
                                        <a:lumMod val="50000"/>
                                      </a:schemeClr>
                                    </a:solidFill>
                                    <a:latin typeface="Cambria Math" panose="02040503050406030204" pitchFamily="18" charset="0"/>
                                  </a:rPr>
                                  <m:t>𝐥𝐨𝐠</m:t>
                                </m:r>
                              </m:e>
                              <m:sub>
                                <m:r>
                                  <a:rPr lang="en-US" altLang="zh-CN" b="1" i="1" smtClean="0">
                                    <a:solidFill>
                                      <a:schemeClr val="accent6">
                                        <a:lumMod val="50000"/>
                                      </a:schemeClr>
                                    </a:solidFill>
                                    <a:latin typeface="Cambria Math" panose="02040503050406030204" pitchFamily="18" charset="0"/>
                                  </a:rPr>
                                  <m:t>𝒃</m:t>
                                </m:r>
                              </m:sub>
                            </m:sSub>
                            <m:r>
                              <a:rPr lang="en-US" altLang="zh-CN" b="1" i="1" smtClean="0">
                                <a:solidFill>
                                  <a:schemeClr val="accent6">
                                    <a:lumMod val="50000"/>
                                  </a:schemeClr>
                                </a:solidFill>
                                <a:latin typeface="Cambria Math" panose="02040503050406030204" pitchFamily="18" charset="0"/>
                              </a:rPr>
                              <m:t>𝒏</m:t>
                            </m:r>
                          </m:e>
                        </m:d>
                      </m:e>
                      <m:sup>
                        <m:r>
                          <a:rPr lang="en-US" altLang="zh-CN" b="1" i="1" smtClean="0">
                            <a:solidFill>
                              <a:schemeClr val="accent6">
                                <a:lumMod val="50000"/>
                              </a:schemeClr>
                            </a:solidFill>
                            <a:latin typeface="Cambria Math" panose="02040503050406030204" pitchFamily="18" charset="0"/>
                          </a:rPr>
                          <m:t>𝒅</m:t>
                        </m:r>
                      </m:sup>
                    </m:sSup>
                  </m:oMath>
                </a14:m>
                <a:r>
                  <a:rPr lang="zh-CN" altLang="en-US" b="1" dirty="0">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e>
                    </m:d>
                  </m:oMath>
                </a14:m>
                <a:r>
                  <a:rPr lang="zh-CN" altLang="en-US" b="1" dirty="0">
                    <a:solidFill>
                      <a:schemeClr val="accent6">
                        <a:lumMod val="50000"/>
                      </a:schemeClr>
                    </a:solidFill>
                  </a:rPr>
                  <a:t>，但</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e>
                    </m:d>
                  </m:oMath>
                </a14:m>
                <a:r>
                  <a:rPr lang="zh-CN" altLang="en-US" b="1" dirty="0">
                    <a:solidFill>
                      <a:schemeClr val="accent6">
                        <a:lumMod val="50000"/>
                      </a:schemeClr>
                    </a:solidFill>
                  </a:rPr>
                  <a:t>不是</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0" smtClean="0">
                                    <a:solidFill>
                                      <a:schemeClr val="accent6">
                                        <a:lumMod val="50000"/>
                                      </a:schemeClr>
                                    </a:solidFill>
                                    <a:latin typeface="Cambria Math" panose="02040503050406030204" pitchFamily="18" charset="0"/>
                                  </a:rPr>
                                  <m:t>𝐥𝐨𝐠</m:t>
                                </m:r>
                              </m:e>
                              <m:sub>
                                <m:r>
                                  <a:rPr lang="en-US" altLang="zh-CN" b="1" i="1" smtClean="0">
                                    <a:solidFill>
                                      <a:schemeClr val="accent6">
                                        <a:lumMod val="50000"/>
                                      </a:schemeClr>
                                    </a:solidFill>
                                    <a:latin typeface="Cambria Math" panose="02040503050406030204" pitchFamily="18" charset="0"/>
                                  </a:rPr>
                                  <m:t>𝒃</m:t>
                                </m:r>
                              </m:sub>
                            </m:sSub>
                            <m:r>
                              <a:rPr lang="en-US" altLang="zh-CN" b="1" i="1" smtClean="0">
                                <a:solidFill>
                                  <a:schemeClr val="accent6">
                                    <a:lumMod val="50000"/>
                                  </a:schemeClr>
                                </a:solidFill>
                                <a:latin typeface="Cambria Math" panose="02040503050406030204" pitchFamily="18" charset="0"/>
                              </a:rPr>
                              <m:t>𝒏</m:t>
                            </m:r>
                          </m:e>
                        </m:d>
                      </m:e>
                      <m:sup>
                        <m:r>
                          <a:rPr lang="en-US" altLang="zh-CN" b="1" i="1" smtClean="0">
                            <a:solidFill>
                              <a:schemeClr val="accent6">
                                <a:lumMod val="50000"/>
                              </a:schemeClr>
                            </a:solidFill>
                            <a:latin typeface="Cambria Math" panose="02040503050406030204" pitchFamily="18" charset="0"/>
                          </a:rPr>
                          <m:t>𝒅</m:t>
                        </m:r>
                      </m:sup>
                    </m:sSup>
                  </m:oMath>
                </a14:m>
                <a:endParaRPr lang="en-US" altLang="zh-CN" b="1" dirty="0">
                  <a:solidFill>
                    <a:schemeClr val="accent6">
                      <a:lumMod val="50000"/>
                    </a:schemeClr>
                  </a:solidFill>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rPr>
                  <a:t>且</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𝒄</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𝟎</m:t>
                    </m:r>
                  </m:oMath>
                </a14:m>
                <a:r>
                  <a:rPr lang="zh-CN" altLang="en-US" b="1" dirty="0">
                    <a:solidFill>
                      <a:schemeClr val="accent6">
                        <a:lumMod val="50000"/>
                      </a:schemeClr>
                    </a:solidFill>
                  </a:rPr>
                  <a:t>时，</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oMath>
                </a14:m>
                <a:r>
                  <a:rPr lang="zh-CN" altLang="en-US" b="1" dirty="0">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𝒃</m:t>
                            </m:r>
                          </m:e>
                          <m:sup>
                            <m:r>
                              <a:rPr lang="en-US" altLang="zh-CN" b="1" i="1" smtClean="0">
                                <a:solidFill>
                                  <a:schemeClr val="accent6">
                                    <a:lumMod val="50000"/>
                                  </a:schemeClr>
                                </a:solidFill>
                                <a:latin typeface="Cambria Math" panose="02040503050406030204" pitchFamily="18" charset="0"/>
                              </a:rPr>
                              <m:t>𝒏</m:t>
                            </m:r>
                          </m:sup>
                        </m:sSup>
                      </m:e>
                    </m:d>
                  </m:oMath>
                </a14:m>
                <a:r>
                  <a:rPr lang="zh-CN" altLang="en-US" b="1" dirty="0">
                    <a:solidFill>
                      <a:schemeClr val="accent6">
                        <a:lumMod val="50000"/>
                      </a:schemeClr>
                    </a:solidFill>
                  </a:rPr>
                  <a:t>，但</a:t>
                </a:r>
                <a14:m>
                  <m:oMath xmlns:m="http://schemas.openxmlformats.org/officeDocument/2006/math">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𝒃</m:t>
                        </m:r>
                      </m:e>
                      <m:sup>
                        <m:r>
                          <a:rPr lang="en-US" altLang="zh-CN" b="1" i="1" smtClean="0">
                            <a:solidFill>
                              <a:schemeClr val="accent6">
                                <a:lumMod val="50000"/>
                              </a:schemeClr>
                            </a:solidFill>
                            <a:latin typeface="Cambria Math" panose="02040503050406030204" pitchFamily="18" charset="0"/>
                          </a:rPr>
                          <m:t>𝒏</m:t>
                        </m:r>
                      </m:sup>
                    </m:sSup>
                  </m:oMath>
                </a14:m>
                <a:r>
                  <a:rPr lang="zh-CN" altLang="en-US" b="1" dirty="0">
                    <a:solidFill>
                      <a:schemeClr val="accent6">
                        <a:lumMod val="50000"/>
                      </a:schemeClr>
                    </a:solidFill>
                  </a:rPr>
                  <a:t>不是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𝒏</m:t>
                            </m:r>
                          </m:e>
                          <m:sup>
                            <m:r>
                              <a:rPr lang="en-US" altLang="zh-CN" b="1" i="1" smtClean="0">
                                <a:solidFill>
                                  <a:schemeClr val="accent6">
                                    <a:lumMod val="50000"/>
                                  </a:schemeClr>
                                </a:solidFill>
                                <a:latin typeface="Cambria Math" panose="02040503050406030204" pitchFamily="18" charset="0"/>
                              </a:rPr>
                              <m:t>𝒄</m:t>
                            </m:r>
                          </m:sup>
                        </m:sSup>
                      </m:e>
                    </m:d>
                  </m:oMath>
                </a14:m>
                <a:endParaRPr lang="en-US" altLang="zh-CN" b="1" dirty="0">
                  <a:solidFill>
                    <a:schemeClr val="accent6">
                      <a:lumMod val="50000"/>
                    </a:schemeClr>
                  </a:solidFill>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rPr>
                  <a:t>时，</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𝒃</m:t>
                            </m:r>
                          </m:e>
                          <m:sup>
                            <m:r>
                              <a:rPr lang="en-US" altLang="zh-CN" b="1" i="1" smtClean="0">
                                <a:solidFill>
                                  <a:schemeClr val="accent6">
                                    <a:lumMod val="50000"/>
                                  </a:schemeClr>
                                </a:solidFill>
                                <a:latin typeface="Cambria Math" panose="02040503050406030204" pitchFamily="18" charset="0"/>
                              </a:rPr>
                              <m:t>𝒏</m:t>
                            </m:r>
                          </m:sup>
                        </m:sSup>
                      </m:e>
                    </m:d>
                  </m:oMath>
                </a14:m>
                <a:r>
                  <a:rPr lang="zh-CN" altLang="en-US" b="1" dirty="0">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𝒅</m:t>
                            </m:r>
                          </m:e>
                          <m:sup>
                            <m:r>
                              <a:rPr lang="en-US" altLang="zh-CN" b="1" i="1" smtClean="0">
                                <a:solidFill>
                                  <a:schemeClr val="accent6">
                                    <a:lumMod val="50000"/>
                                  </a:schemeClr>
                                </a:solidFill>
                                <a:latin typeface="Cambria Math" panose="02040503050406030204" pitchFamily="18" charset="0"/>
                              </a:rPr>
                              <m:t>𝒏</m:t>
                            </m:r>
                          </m:sup>
                        </m:sSup>
                      </m:e>
                    </m:d>
                  </m:oMath>
                </a14:m>
                <a:r>
                  <a:rPr lang="zh-CN" altLang="en-US" b="1" dirty="0">
                    <a:solidFill>
                      <a:schemeClr val="accent6">
                        <a:lumMod val="50000"/>
                      </a:schemeClr>
                    </a:solidFill>
                  </a:rPr>
                  <a:t>，但</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𝒅</m:t>
                            </m:r>
                          </m:e>
                          <m:sup>
                            <m:r>
                              <a:rPr lang="en-US" altLang="zh-CN" b="1" i="1" smtClean="0">
                                <a:solidFill>
                                  <a:schemeClr val="accent6">
                                    <a:lumMod val="50000"/>
                                  </a:schemeClr>
                                </a:solidFill>
                                <a:latin typeface="Cambria Math" panose="02040503050406030204" pitchFamily="18" charset="0"/>
                              </a:rPr>
                              <m:t>𝒏</m:t>
                            </m:r>
                          </m:sup>
                        </m:sSup>
                      </m:e>
                    </m:d>
                  </m:oMath>
                </a14:m>
                <a:r>
                  <a:rPr lang="zh-CN" altLang="en-US" b="1" dirty="0">
                    <a:solidFill>
                      <a:schemeClr val="accent6">
                        <a:lumMod val="50000"/>
                      </a:schemeClr>
                    </a:solidFill>
                  </a:rPr>
                  <a:t>不是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𝒃</m:t>
                            </m:r>
                          </m:e>
                          <m:sup>
                            <m:r>
                              <a:rPr lang="en-US" altLang="zh-CN" b="1" i="1" smtClean="0">
                                <a:solidFill>
                                  <a:schemeClr val="accent6">
                                    <a:lumMod val="50000"/>
                                  </a:schemeClr>
                                </a:solidFill>
                                <a:latin typeface="Cambria Math" panose="02040503050406030204" pitchFamily="18" charset="0"/>
                              </a:rPr>
                              <m:t>𝒏</m:t>
                            </m:r>
                          </m:sup>
                        </m:sSup>
                      </m:e>
                    </m:d>
                  </m:oMath>
                </a14:m>
                <a:endParaRPr lang="en-US" altLang="zh-CN" b="1" dirty="0">
                  <a:solidFill>
                    <a:schemeClr val="accent6">
                      <a:lumMod val="50000"/>
                    </a:schemeClr>
                  </a:solidFill>
                </a:endParaRPr>
              </a:p>
              <a:p>
                <a:pP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这些命题中，</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𝒏</m:t>
                    </m:r>
                  </m:oMath>
                </a14:m>
                <a:r>
                  <a:rPr lang="zh-CN" altLang="en-US" b="1" dirty="0">
                    <a:solidFill>
                      <a:srgbClr val="002060"/>
                    </a:solidFill>
                    <a:latin typeface="楷体" panose="02010609060101010101" pitchFamily="49" charset="-122"/>
                    <a:ea typeface="楷体" panose="02010609060101010101" pitchFamily="49" charset="-122"/>
                  </a:rPr>
                  <a:t>是整数，而</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𝒂</m:t>
                    </m:r>
                    <m:r>
                      <a:rPr lang="en-US" altLang="zh-CN" b="1">
                        <a:solidFill>
                          <a:srgbClr val="002060"/>
                        </a:solidFill>
                        <a:latin typeface="Cambria Math" panose="02040503050406030204" pitchFamily="18" charset="0"/>
                        <a:ea typeface="楷体" panose="02010609060101010101" pitchFamily="49" charset="-122"/>
                      </a:rPr>
                      <m:t>, </m:t>
                    </m:r>
                    <m:r>
                      <a:rPr lang="en-US" altLang="zh-CN" b="1">
                        <a:solidFill>
                          <a:srgbClr val="002060"/>
                        </a:solidFill>
                        <a:latin typeface="Cambria Math" panose="02040503050406030204" pitchFamily="18" charset="0"/>
                        <a:ea typeface="楷体" panose="02010609060101010101" pitchFamily="49" charset="-122"/>
                      </a:rPr>
                      <m:t>𝒃</m:t>
                    </m:r>
                    <m:r>
                      <a:rPr lang="en-US" altLang="zh-CN" b="1">
                        <a:solidFill>
                          <a:srgbClr val="002060"/>
                        </a:solidFill>
                        <a:latin typeface="Cambria Math" panose="02040503050406030204" pitchFamily="18" charset="0"/>
                        <a:ea typeface="楷体" panose="02010609060101010101" pitchFamily="49" charset="-122"/>
                      </a:rPr>
                      <m:t>, </m:t>
                    </m:r>
                    <m:r>
                      <a:rPr lang="en-US" altLang="zh-CN" b="1">
                        <a:solidFill>
                          <a:srgbClr val="002060"/>
                        </a:solidFill>
                        <a:latin typeface="Cambria Math" panose="02040503050406030204" pitchFamily="18" charset="0"/>
                        <a:ea typeface="楷体" panose="02010609060101010101" pitchFamily="49" charset="-122"/>
                      </a:rPr>
                      <m:t>𝒄</m:t>
                    </m:r>
                    <m:r>
                      <a:rPr lang="en-US" altLang="zh-CN" b="1">
                        <a:solidFill>
                          <a:srgbClr val="002060"/>
                        </a:solidFill>
                        <a:latin typeface="Cambria Math" panose="02040503050406030204" pitchFamily="18" charset="0"/>
                        <a:ea typeface="楷体" panose="02010609060101010101" pitchFamily="49" charset="-122"/>
                      </a:rPr>
                      <m:t>, </m:t>
                    </m:r>
                    <m:r>
                      <a:rPr lang="en-US" altLang="zh-CN" b="1">
                        <a:solidFill>
                          <a:srgbClr val="002060"/>
                        </a:solidFill>
                        <a:latin typeface="Cambria Math" panose="02040503050406030204" pitchFamily="18" charset="0"/>
                        <a:ea typeface="楷体" panose="02010609060101010101" pitchFamily="49" charset="-122"/>
                      </a:rPr>
                      <m:t>𝒅</m:t>
                    </m:r>
                  </m:oMath>
                </a14:m>
                <a:r>
                  <a:rPr lang="zh-CN" altLang="en-US" b="1" dirty="0">
                    <a:solidFill>
                      <a:srgbClr val="002060"/>
                    </a:solidFill>
                    <a:latin typeface="楷体" panose="02010609060101010101" pitchFamily="49" charset="-122"/>
                    <a:ea typeface="楷体" panose="02010609060101010101" pitchFamily="49" charset="-122"/>
                  </a:rPr>
                  <a:t>是实数</a:t>
                </a:r>
              </a:p>
            </p:txBody>
          </p:sp>
        </mc:Choice>
        <mc:Fallback xmlns="">
          <p:sp>
            <p:nvSpPr>
              <p:cNvPr id="2" name="文本框 1"/>
              <p:cNvSpPr txBox="1">
                <a:spLocks noRot="1" noChangeAspect="1" noMove="1" noResize="1" noEditPoints="1" noAdjustHandles="1" noChangeArrowheads="1" noChangeShapeType="1" noTextEdit="1"/>
              </p:cNvSpPr>
              <p:nvPr/>
            </p:nvSpPr>
            <p:spPr>
              <a:xfrm>
                <a:off x="749941" y="1736871"/>
                <a:ext cx="5519292" cy="3831177"/>
              </a:xfrm>
              <a:prstGeom prst="rect">
                <a:avLst/>
              </a:prstGeom>
              <a:blipFill rotWithShape="1">
                <a:blip r:embed="rId2"/>
                <a:stretch>
                  <a:fillRect t="-4" r="9" b="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6774671" y="1414379"/>
                <a:ext cx="4667388" cy="4476162"/>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常见函数的增长情况</a:t>
                </a:r>
              </a:p>
              <a:p>
                <a:pPr marL="342900"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对于</a:t>
                </a:r>
                <a:r>
                  <a:rPr lang="zh-CN" altLang="en-US" sz="2000" b="1">
                    <a:solidFill>
                      <a:srgbClr val="C00000"/>
                    </a:solidFill>
                  </a:rPr>
                  <a:t>幂函数</a:t>
                </a: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𝒏</m:t>
                        </m:r>
                      </m:e>
                      <m:sup>
                        <m:r>
                          <a:rPr lang="en-US" altLang="zh-CN" sz="2000" b="1" i="1" smtClean="0">
                            <a:solidFill>
                              <a:schemeClr val="accent6">
                                <a:lumMod val="50000"/>
                              </a:schemeClr>
                            </a:solidFill>
                            <a:latin typeface="Cambria Math" panose="02040503050406030204" pitchFamily="18" charset="0"/>
                          </a:rPr>
                          <m:t>𝒄</m:t>
                        </m:r>
                      </m:sup>
                    </m:sSup>
                  </m:oMath>
                </a14:m>
                <a:r>
                  <a:rPr lang="zh-CN" altLang="en-US" sz="2000" b="1">
                    <a:solidFill>
                      <a:schemeClr val="accent6">
                        <a:lumMod val="50000"/>
                      </a:schemeClr>
                    </a:solidFill>
                  </a:rPr>
                  <a:t>，</a:t>
                </a:r>
                <a:r>
                  <a:rPr lang="zh-CN" altLang="en-US" sz="2000" b="1">
                    <a:solidFill>
                      <a:schemeClr val="accent2">
                        <a:lumMod val="50000"/>
                      </a:schemeClr>
                    </a:solidFill>
                  </a:rPr>
                  <a:t>指数</a:t>
                </a:r>
                <a14:m>
                  <m:oMath xmlns:m="http://schemas.openxmlformats.org/officeDocument/2006/math">
                    <m:r>
                      <a:rPr lang="en-US" altLang="zh-CN" sz="2000" b="1">
                        <a:solidFill>
                          <a:schemeClr val="accent2">
                            <a:lumMod val="50000"/>
                          </a:schemeClr>
                        </a:solidFill>
                        <a:latin typeface="Cambria Math" panose="02040503050406030204" pitchFamily="18" charset="0"/>
                      </a:rPr>
                      <m:t>𝒄</m:t>
                    </m:r>
                  </m:oMath>
                </a14:m>
                <a:r>
                  <a:rPr lang="zh-CN" altLang="en-US" sz="2000" b="1">
                    <a:solidFill>
                      <a:schemeClr val="accent2">
                        <a:lumMod val="50000"/>
                      </a:schemeClr>
                    </a:solidFill>
                  </a:rPr>
                  <a:t>越大增长越块</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当对数的底</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r>
                      <a:rPr lang="en-US" altLang="zh-CN" sz="2000" b="1" i="1" smtClean="0">
                        <a:solidFill>
                          <a:schemeClr val="accent6">
                            <a:lumMod val="50000"/>
                          </a:schemeClr>
                        </a:solidFill>
                        <a:latin typeface="Cambria Math" panose="02040503050406030204" pitchFamily="18" charset="0"/>
                      </a:rPr>
                      <m:t>&gt;</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时，无论正实数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𝒄</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𝒅</m:t>
                    </m:r>
                  </m:oMath>
                </a14:m>
                <a:r>
                  <a:rPr lang="zh-CN" altLang="en-US" sz="2000" b="1">
                    <a:solidFill>
                      <a:schemeClr val="accent6">
                        <a:lumMod val="50000"/>
                      </a:schemeClr>
                    </a:solidFill>
                  </a:rPr>
                  <a:t>取何值，</a:t>
                </a:r>
                <a:r>
                  <a:rPr lang="zh-CN" altLang="en-US" sz="2000" b="1">
                    <a:solidFill>
                      <a:srgbClr val="C00000"/>
                    </a:solidFill>
                  </a:rPr>
                  <a:t>对数的幂</a:t>
                </a:r>
                <a14:m>
                  <m:oMath xmlns:m="http://schemas.openxmlformats.org/officeDocument/2006/math">
                    <m:sSup>
                      <m:sSupPr>
                        <m:ctrlPr>
                          <a:rPr lang="en-US" altLang="zh-CN" sz="2000" b="1" i="1">
                            <a:solidFill>
                              <a:schemeClr val="accent2">
                                <a:lumMod val="50000"/>
                              </a:schemeClr>
                            </a:solidFill>
                            <a:latin typeface="Cambria Math" panose="02040503050406030204" pitchFamily="18" charset="0"/>
                          </a:rPr>
                        </m:ctrlPr>
                      </m:sSupPr>
                      <m:e>
                        <m:d>
                          <m:dPr>
                            <m:ctrlPr>
                              <a:rPr lang="en-US" altLang="zh-CN" sz="2000" b="1" i="1">
                                <a:solidFill>
                                  <a:schemeClr val="accent2">
                                    <a:lumMod val="50000"/>
                                  </a:schemeClr>
                                </a:solidFill>
                                <a:latin typeface="Cambria Math" panose="02040503050406030204" pitchFamily="18" charset="0"/>
                              </a:rPr>
                            </m:ctrlPr>
                          </m:dPr>
                          <m:e>
                            <m:sSub>
                              <m:sSubPr>
                                <m:ctrlPr>
                                  <a:rPr lang="en-US" altLang="zh-CN" sz="2000" b="1" i="1">
                                    <a:solidFill>
                                      <a:schemeClr val="accent2">
                                        <a:lumMod val="50000"/>
                                      </a:schemeClr>
                                    </a:solidFill>
                                    <a:latin typeface="Cambria Math" panose="02040503050406030204" pitchFamily="18" charset="0"/>
                                  </a:rPr>
                                </m:ctrlPr>
                              </m:sSubPr>
                              <m:e>
                                <m:r>
                                  <a:rPr lang="en-US" altLang="zh-CN" sz="2000" b="1">
                                    <a:solidFill>
                                      <a:schemeClr val="accent2">
                                        <a:lumMod val="50000"/>
                                      </a:schemeClr>
                                    </a:solidFill>
                                    <a:latin typeface="Cambria Math" panose="02040503050406030204" pitchFamily="18" charset="0"/>
                                  </a:rPr>
                                  <m:t>𝐥𝐨𝐠</m:t>
                                </m:r>
                              </m:e>
                              <m:sub>
                                <m:r>
                                  <a:rPr lang="en-US" altLang="zh-CN" sz="2000" b="1">
                                    <a:solidFill>
                                      <a:schemeClr val="accent2">
                                        <a:lumMod val="50000"/>
                                      </a:schemeClr>
                                    </a:solidFill>
                                    <a:latin typeface="Cambria Math" panose="02040503050406030204" pitchFamily="18" charset="0"/>
                                  </a:rPr>
                                  <m:t>𝒃</m:t>
                                </m:r>
                              </m:sub>
                            </m:sSub>
                            <m:r>
                              <a:rPr lang="en-US" altLang="zh-CN" sz="2000" b="1">
                                <a:solidFill>
                                  <a:schemeClr val="accent2">
                                    <a:lumMod val="50000"/>
                                  </a:schemeClr>
                                </a:solidFill>
                                <a:latin typeface="Cambria Math" panose="02040503050406030204" pitchFamily="18" charset="0"/>
                              </a:rPr>
                              <m:t>𝒏</m:t>
                            </m:r>
                          </m:e>
                        </m:d>
                      </m:e>
                      <m:sup>
                        <m:r>
                          <a:rPr lang="en-US" altLang="zh-CN" sz="2000" b="1">
                            <a:solidFill>
                              <a:schemeClr val="accent2">
                                <a:lumMod val="50000"/>
                              </a:schemeClr>
                            </a:solidFill>
                            <a:latin typeface="Cambria Math" panose="02040503050406030204" pitchFamily="18" charset="0"/>
                          </a:rPr>
                          <m:t>𝒄</m:t>
                        </m:r>
                      </m:sup>
                    </m:sSup>
                  </m:oMath>
                </a14:m>
                <a:r>
                  <a:rPr lang="zh-CN" altLang="en-US" sz="2000" b="1">
                    <a:solidFill>
                      <a:schemeClr val="accent2">
                        <a:lumMod val="50000"/>
                      </a:schemeClr>
                    </a:solidFill>
                  </a:rPr>
                  <a:t>的增长总是没有</a:t>
                </a:r>
                <a:r>
                  <a:rPr lang="zh-CN" altLang="en-US" sz="2000" b="1">
                    <a:solidFill>
                      <a:srgbClr val="C00000"/>
                    </a:solidFill>
                  </a:rPr>
                  <a:t>幂函数</a:t>
                </a:r>
                <a14:m>
                  <m:oMath xmlns:m="http://schemas.openxmlformats.org/officeDocument/2006/math">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𝒅</m:t>
                        </m:r>
                      </m:sup>
                    </m:sSup>
                  </m:oMath>
                </a14:m>
                <a:r>
                  <a:rPr lang="zh-CN" altLang="en-US" sz="2000" b="1">
                    <a:solidFill>
                      <a:schemeClr val="accent2">
                        <a:lumMod val="50000"/>
                      </a:schemeClr>
                    </a:solidFill>
                  </a:rPr>
                  <a:t>快</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只要指数的底</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r>
                      <a:rPr lang="en-US" altLang="zh-CN" sz="2000" b="1" i="1" smtClean="0">
                        <a:solidFill>
                          <a:schemeClr val="accent6">
                            <a:lumMod val="50000"/>
                          </a:schemeClr>
                        </a:solidFill>
                        <a:latin typeface="Cambria Math" panose="02040503050406030204" pitchFamily="18" charset="0"/>
                      </a:rPr>
                      <m:t> &gt; </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，无论正实数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𝒄</m:t>
                    </m:r>
                  </m:oMath>
                </a14:m>
                <a:r>
                  <a:rPr lang="zh-CN" altLang="en-US" sz="2000" b="1">
                    <a:solidFill>
                      <a:schemeClr val="accent6">
                        <a:lumMod val="50000"/>
                      </a:schemeClr>
                    </a:solidFill>
                  </a:rPr>
                  <a:t>取何值，</a:t>
                </a:r>
                <a:r>
                  <a:rPr lang="zh-CN" altLang="en-US" sz="2000" b="1">
                    <a:solidFill>
                      <a:srgbClr val="C00000"/>
                    </a:solidFill>
                  </a:rPr>
                  <a:t>幂函数</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𝒏</m:t>
                        </m:r>
                      </m:e>
                      <m:sup>
                        <m:r>
                          <a:rPr lang="en-US" altLang="zh-CN" sz="2000" b="1" i="1" smtClean="0">
                            <a:solidFill>
                              <a:schemeClr val="accent2">
                                <a:lumMod val="50000"/>
                              </a:schemeClr>
                            </a:solidFill>
                            <a:latin typeface="Cambria Math" panose="02040503050406030204" pitchFamily="18" charset="0"/>
                          </a:rPr>
                          <m:t>𝒄</m:t>
                        </m:r>
                      </m:sup>
                    </m:sSup>
                  </m:oMath>
                </a14:m>
                <a:r>
                  <a:rPr lang="zh-CN" altLang="en-US" sz="2000" b="1">
                    <a:solidFill>
                      <a:schemeClr val="accent2">
                        <a:lumMod val="50000"/>
                      </a:schemeClr>
                    </a:solidFill>
                  </a:rPr>
                  <a:t>的增长总没有</a:t>
                </a:r>
                <a:r>
                  <a:rPr lang="zh-CN" altLang="en-US" sz="2000" b="1">
                    <a:solidFill>
                      <a:srgbClr val="C00000"/>
                    </a:solidFill>
                  </a:rPr>
                  <a:t>指数函数</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𝒃</m:t>
                        </m:r>
                      </m:e>
                      <m:sup>
                        <m:r>
                          <a:rPr lang="en-US" altLang="zh-CN" sz="2000" b="1" i="1" smtClean="0">
                            <a:solidFill>
                              <a:schemeClr val="accent2">
                                <a:lumMod val="50000"/>
                              </a:schemeClr>
                            </a:solidFill>
                            <a:latin typeface="Cambria Math" panose="02040503050406030204" pitchFamily="18" charset="0"/>
                          </a:rPr>
                          <m:t>𝒏</m:t>
                        </m:r>
                      </m:sup>
                    </m:sSup>
                  </m:oMath>
                </a14:m>
                <a:r>
                  <a:rPr lang="zh-CN" altLang="en-US" sz="2000" b="1">
                    <a:solidFill>
                      <a:schemeClr val="accent2">
                        <a:lumMod val="50000"/>
                      </a:schemeClr>
                    </a:solidFill>
                  </a:rPr>
                  <a:t>快</a:t>
                </a:r>
                <a:endParaRPr lang="zh-CN" altLang="en-US" sz="2000" b="1">
                  <a:solidFill>
                    <a:schemeClr val="accent6">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对于</a:t>
                </a:r>
                <a:r>
                  <a:rPr lang="zh-CN" altLang="en-US" sz="2000" b="1">
                    <a:solidFill>
                      <a:srgbClr val="C00000"/>
                    </a:solidFill>
                  </a:rPr>
                  <a:t>指数函数</a:t>
                </a: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𝒃</m:t>
                        </m:r>
                      </m:e>
                      <m:sup>
                        <m:r>
                          <a:rPr lang="en-US" altLang="zh-CN" sz="2000" b="1" i="1" smtClean="0">
                            <a:solidFill>
                              <a:schemeClr val="accent6">
                                <a:lumMod val="50000"/>
                              </a:schemeClr>
                            </a:solidFill>
                            <a:latin typeface="Cambria Math" panose="02040503050406030204" pitchFamily="18" charset="0"/>
                          </a:rPr>
                          <m:t>𝒏</m:t>
                        </m:r>
                      </m:sup>
                    </m:sSup>
                  </m:oMath>
                </a14:m>
                <a:r>
                  <a:rPr lang="zh-CN" altLang="en-US" sz="2000" b="1">
                    <a:solidFill>
                      <a:schemeClr val="accent6">
                        <a:lumMod val="50000"/>
                      </a:schemeClr>
                    </a:solidFill>
                  </a:rPr>
                  <a:t>，只要底</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oMath>
                </a14:m>
                <a:r>
                  <a:rPr lang="zh-CN" altLang="en-US" sz="2000" b="1">
                    <a:solidFill>
                      <a:schemeClr val="accent6">
                        <a:lumMod val="50000"/>
                      </a:schemeClr>
                    </a:solidFill>
                  </a:rPr>
                  <a:t>大于</a:t>
                </a:r>
                <a:r>
                  <a:rPr lang="en-US" altLang="zh-CN" sz="2000" b="1">
                    <a:solidFill>
                      <a:schemeClr val="accent6">
                        <a:lumMod val="50000"/>
                      </a:schemeClr>
                    </a:solidFill>
                  </a:rPr>
                  <a:t>1</a:t>
                </a:r>
                <a:r>
                  <a:rPr lang="zh-CN" altLang="en-US" sz="2000" b="1">
                    <a:solidFill>
                      <a:schemeClr val="accent6">
                        <a:lumMod val="50000"/>
                      </a:schemeClr>
                    </a:solidFill>
                  </a:rPr>
                  <a:t>，</a:t>
                </a:r>
                <a:r>
                  <a:rPr lang="zh-CN" altLang="en-US" sz="2000" b="1">
                    <a:solidFill>
                      <a:schemeClr val="accent2">
                        <a:lumMod val="50000"/>
                      </a:schemeClr>
                    </a:solidFill>
                  </a:rPr>
                  <a:t>底越大，增长越快</a:t>
                </a:r>
              </a:p>
            </p:txBody>
          </p:sp>
        </mc:Choice>
        <mc:Fallback xmlns="">
          <p:sp>
            <p:nvSpPr>
              <p:cNvPr id="3" name="文本框 2"/>
              <p:cNvSpPr txBox="1">
                <a:spLocks noRot="1" noChangeAspect="1" noMove="1" noResize="1" noEditPoints="1" noAdjustHandles="1" noChangeArrowheads="1" noChangeShapeType="1" noTextEdit="1"/>
              </p:cNvSpPr>
              <p:nvPr/>
            </p:nvSpPr>
            <p:spPr>
              <a:xfrm>
                <a:off x="6774671" y="1414379"/>
                <a:ext cx="4667388" cy="4476162"/>
              </a:xfrm>
              <a:prstGeom prst="rect">
                <a:avLst/>
              </a:prstGeom>
              <a:blipFill rotWithShape="1">
                <a:blip r:embed="rId3"/>
                <a:stretch>
                  <a:fillRect l="-11" t="-5" r="13" b="6"/>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20"/>
          <p:cNvSpPr/>
          <p:nvPr/>
        </p:nvSpPr>
        <p:spPr>
          <a:xfrm>
            <a:off x="5571920" y="1945929"/>
            <a:ext cx="5942504" cy="3810186"/>
          </a:xfrm>
          <a:prstGeom prst="roundRect">
            <a:avLst>
              <a:gd name="adj" fmla="val 6804"/>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a:rPr lang="en-US" altLang="zh-CN" i="1" smtClean="0">
                        <a:latin typeface="Cambria Math" panose="02040503050406030204" pitchFamily="18" charset="0"/>
                      </a:rPr>
                      <m:t>𝑂</m:t>
                    </m:r>
                  </m:oMath>
                </a14:m>
                <a:r>
                  <a:rPr lang="zh-CN" altLang="en-US"/>
                  <a:t>记号的一些性质</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674560" y="1279792"/>
                <a:ext cx="9361088" cy="400110"/>
              </a:xfrm>
              <a:prstGeom prst="rect">
                <a:avLst/>
              </a:prstGeom>
              <a:solidFill>
                <a:schemeClr val="accent5">
                  <a:lumMod val="20000"/>
                  <a:lumOff val="80000"/>
                </a:schemeClr>
              </a:solidFill>
            </p:spPr>
            <p:txBody>
              <a:bodyPr wrap="square" rtlCol="0">
                <a:spAutoFit/>
              </a:bodyPr>
              <a:lstStyle/>
              <a:p>
                <a:r>
                  <a:rPr lang="zh-CN" altLang="en-US" sz="2000" b="1">
                    <a:solidFill>
                      <a:srgbClr val="002060"/>
                    </a:solidFill>
                  </a:rPr>
                  <a:t>大</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zh-CN" altLang="en-US" sz="2000" b="1">
                    <a:solidFill>
                      <a:srgbClr val="002060"/>
                    </a:solidFill>
                  </a:rPr>
                  <a:t>记号的</a:t>
                </a:r>
                <a:r>
                  <a:rPr lang="zh-CN" altLang="en-US" sz="2000" b="1">
                    <a:solidFill>
                      <a:srgbClr val="C00000"/>
                    </a:solidFill>
                  </a:rPr>
                  <a:t>传递性</a:t>
                </a:r>
                <a:r>
                  <a:rPr lang="zh-CN" altLang="en-US" sz="2000" b="1">
                    <a:solidFill>
                      <a:srgbClr val="002060"/>
                    </a:solidFill>
                  </a:rPr>
                  <a:t>：设</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𝒉</m:t>
                    </m:r>
                  </m:oMath>
                </a14:m>
                <a:r>
                  <a:rPr lang="zh-CN" altLang="en-US" sz="2000" b="1">
                    <a:solidFill>
                      <a:srgbClr val="002060"/>
                    </a:solidFill>
                  </a:rPr>
                  <a:t>是数集上函数，若</a:t>
                </a:r>
                <a14:m>
                  <m:oMath xmlns:m="http://schemas.openxmlformats.org/officeDocument/2006/math">
                    <m:r>
                      <a:rPr lang="en-US" altLang="zh-CN" sz="2000" b="1" i="1" smtClean="0">
                        <a:solidFill>
                          <a:srgbClr val="002060"/>
                        </a:solidFill>
                        <a:latin typeface="Cambria Math" panose="02040503050406030204" pitchFamily="18" charset="0"/>
                      </a:rPr>
                      <m:t>𝒇</m:t>
                    </m:r>
                  </m:oMath>
                </a14:m>
                <a:r>
                  <a:rPr lang="zh-CN" altLang="en-US" sz="2000" b="1">
                    <a:solidFill>
                      <a:srgbClr val="002060"/>
                    </a:solidFill>
                  </a:rPr>
                  <a:t>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rPr>
                  <a:t>，且</a:t>
                </a:r>
                <a14:m>
                  <m:oMath xmlns:m="http://schemas.openxmlformats.org/officeDocument/2006/math">
                    <m:r>
                      <a:rPr lang="en-US" altLang="zh-CN" sz="2000" b="1" i="1" smtClean="0">
                        <a:solidFill>
                          <a:srgbClr val="002060"/>
                        </a:solidFill>
                        <a:latin typeface="Cambria Math" panose="02040503050406030204" pitchFamily="18" charset="0"/>
                      </a:rPr>
                      <m:t>𝒈</m:t>
                    </m:r>
                  </m:oMath>
                </a14:m>
                <a:r>
                  <a:rPr lang="zh-CN" altLang="en-US" sz="2000" b="1">
                    <a:solidFill>
                      <a:srgbClr val="002060"/>
                    </a:solidFill>
                  </a:rPr>
                  <a:t>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𝒉</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rPr>
                  <a:t>，则</a:t>
                </a:r>
                <a14:m>
                  <m:oMath xmlns:m="http://schemas.openxmlformats.org/officeDocument/2006/math">
                    <m:r>
                      <a:rPr lang="en-US" altLang="zh-CN" sz="2000" b="1" i="1" smtClean="0">
                        <a:solidFill>
                          <a:srgbClr val="002060"/>
                        </a:solidFill>
                        <a:latin typeface="Cambria Math" panose="02040503050406030204" pitchFamily="18" charset="0"/>
                      </a:rPr>
                      <m:t>𝒇</m:t>
                    </m:r>
                  </m:oMath>
                </a14:m>
                <a:r>
                  <a:rPr lang="zh-CN" altLang="en-US" sz="2000" b="1">
                    <a:solidFill>
                      <a:srgbClr val="002060"/>
                    </a:solidFill>
                  </a:rPr>
                  <a:t>是</a:t>
                </a:r>
                <a14:m>
                  <m:oMath xmlns:m="http://schemas.openxmlformats.org/officeDocument/2006/math">
                    <m:r>
                      <a:rPr lang="en-US" altLang="zh-CN" sz="2000" b="1" i="1" smtClean="0">
                        <a:solidFill>
                          <a:srgbClr val="002060"/>
                        </a:solidFill>
                        <a:latin typeface="Cambria Math" panose="02040503050406030204" pitchFamily="18" charset="0"/>
                      </a:rPr>
                      <m:t>𝑶</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𝒉</m:t>
                    </m:r>
                    <m:r>
                      <a:rPr lang="en-US" altLang="zh-CN" sz="2000" b="1" i="1" smtClean="0">
                        <a:solidFill>
                          <a:srgbClr val="002060"/>
                        </a:solidFill>
                        <a:latin typeface="Cambria Math" panose="02040503050406030204" pitchFamily="18" charset="0"/>
                      </a:rPr>
                      <m:t>)</m:t>
                    </m:r>
                  </m:oMath>
                </a14:m>
                <a:endParaRPr lang="zh-CN" altLang="en-US" sz="2000" b="1">
                  <a:solidFill>
                    <a:srgbClr val="002060"/>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674560" y="1279792"/>
                <a:ext cx="9361088" cy="400110"/>
              </a:xfrm>
              <a:prstGeom prst="rect">
                <a:avLst/>
              </a:prstGeom>
              <a:blipFill rotWithShape="1">
                <a:blip r:embed="rId3"/>
                <a:stretch>
                  <a:fillRect l="-2" t="-67" r="1" b="-637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810789" y="2705553"/>
                <a:ext cx="4175651" cy="810478"/>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定义函数</a:t>
                </a:r>
                <a14:m>
                  <m:oMath xmlns:m="http://schemas.openxmlformats.org/officeDocument/2006/math">
                    <m:r>
                      <a:rPr lang="en-US" altLang="zh-CN" sz="2000" b="1" i="0" smtClean="0">
                        <a:solidFill>
                          <a:srgbClr val="C00000"/>
                        </a:solidFill>
                        <a:latin typeface="Cambria Math" panose="02040503050406030204" pitchFamily="18" charset="0"/>
                      </a:rPr>
                      <m:t>𝐦𝐚𝐱</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𝒇</m:t>
                        </m: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𝒈</m:t>
                        </m:r>
                      </m:e>
                    </m:d>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m:t>
                    </m:r>
                    <m:r>
                      <a:rPr lang="zh-CN" altLang="en-US" sz="2000" b="1" i="1">
                        <a:solidFill>
                          <a:srgbClr val="002060"/>
                        </a:solidFill>
                        <a:latin typeface="Cambria Math" panose="02040503050406030204" pitchFamily="18" charset="0"/>
                      </a:rPr>
                      <m:t>，</m:t>
                    </m:r>
                  </m:oMath>
                </a14:m>
                <a:endParaRPr lang="zh-CN" altLang="en-US" sz="2000" b="1">
                  <a:solidFill>
                    <a:srgbClr val="002060"/>
                  </a:solidFill>
                  <a:latin typeface="楷体" panose="02010609060101010101" pitchFamily="49" charset="-122"/>
                  <a:ea typeface="楷体" panose="02010609060101010101" pitchFamily="49" charset="-122"/>
                </a:endParaRPr>
              </a:p>
              <a:p>
                <a:pPr algn="ctr">
                  <a:lnSpc>
                    <a:spcPts val="2800"/>
                  </a:lnSpc>
                  <a:spcBef>
                    <a:spcPts val="600"/>
                  </a:spcBef>
                </a:pPr>
                <a14:m>
                  <m:oMathPara xmlns:m="http://schemas.openxmlformats.org/officeDocument/2006/math">
                    <m:oMathParaPr>
                      <m:jc m:val="centerGroup"/>
                    </m:oMathParaPr>
                    <m:oMath xmlns:m="http://schemas.openxmlformats.org/officeDocument/2006/math">
                      <m:r>
                        <a:rPr lang="en-US" altLang="zh-CN" sz="2000" b="1" i="0">
                          <a:solidFill>
                            <a:srgbClr val="002060"/>
                          </a:solidFill>
                          <a:latin typeface="Cambria Math" panose="02040503050406030204" pitchFamily="18" charset="0"/>
                        </a:rPr>
                        <m:t>𝐦𝐚𝐱</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𝒇</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𝒈</m:t>
                          </m:r>
                        </m:e>
                      </m:d>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0">
                          <a:solidFill>
                            <a:srgbClr val="002060"/>
                          </a:solidFill>
                          <a:latin typeface="Cambria Math" panose="02040503050406030204" pitchFamily="18" charset="0"/>
                        </a:rPr>
                        <m:t>𝐦𝐚𝐱</m:t>
                      </m:r>
                      <m:d>
                        <m:dPr>
                          <m:ctrlPr>
                            <a:rPr lang="en-US" altLang="zh-CN" sz="2000" b="1" i="1">
                              <a:solidFill>
                                <a:srgbClr val="002060"/>
                              </a:solidFill>
                              <a:latin typeface="Cambria Math" panose="02040503050406030204" pitchFamily="18" charset="0"/>
                            </a:rPr>
                          </m:ctrlPr>
                        </m:dPr>
                        <m:e>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𝒇</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𝒈</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e>
                          </m:d>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810789" y="2705553"/>
                <a:ext cx="4175651" cy="810478"/>
              </a:xfrm>
              <a:prstGeom prst="rect">
                <a:avLst/>
              </a:prstGeom>
              <a:blipFill rotWithShape="1">
                <a:blip r:embed="rId4"/>
                <a:stretch>
                  <a:fillRect l="-13" t="-56" r="10" b="-37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736380" y="2896182"/>
                <a:ext cx="4637784" cy="429220"/>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oMath>
                </a14:m>
                <a:r>
                  <a:rPr lang="zh-CN" altLang="en-US" sz="2000" b="1">
                    <a:solidFill>
                      <a:schemeClr val="accent6">
                        <a:lumMod val="50000"/>
                      </a:schemeClr>
                    </a:solidFill>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oMath>
                </a14:m>
                <a:r>
                  <a:rPr lang="zh-CN" altLang="en-US" sz="2000" b="1">
                    <a:solidFill>
                      <a:schemeClr val="accent6">
                        <a:lumMod val="50000"/>
                      </a:schemeClr>
                    </a:solidFill>
                  </a:rPr>
                  <a:t>都是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𝒉</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，则</a:t>
                </a:r>
                <a14:m>
                  <m:oMath xmlns:m="http://schemas.openxmlformats.org/officeDocument/2006/math">
                    <m:r>
                      <a:rPr lang="en-US" altLang="zh-CN" sz="2000" b="1" i="0" smtClean="0">
                        <a:solidFill>
                          <a:schemeClr val="accent6">
                            <a:lumMod val="50000"/>
                          </a:schemeClr>
                        </a:solidFill>
                        <a:latin typeface="Cambria Math" panose="02040503050406030204" pitchFamily="18" charset="0"/>
                      </a:rPr>
                      <m:t>𝐦𝐚𝐱</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𝒈</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也是</a:t>
                </a:r>
                <a14:m>
                  <m:oMath xmlns:m="http://schemas.openxmlformats.org/officeDocument/2006/math">
                    <m:r>
                      <a:rPr lang="en-US" altLang="zh-CN" sz="2000" b="1" i="1" smtClean="0">
                        <a:solidFill>
                          <a:srgbClr val="C00000"/>
                        </a:solidFill>
                        <a:latin typeface="Cambria Math" panose="02040503050406030204" pitchFamily="18" charset="0"/>
                      </a:rPr>
                      <m:t>𝑶</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𝒉</m:t>
                    </m:r>
                    <m:r>
                      <a:rPr lang="en-US" altLang="zh-CN" sz="2000" b="1" i="1" smtClean="0">
                        <a:solidFill>
                          <a:srgbClr val="C00000"/>
                        </a:solidFill>
                        <a:latin typeface="Cambria Math" panose="02040503050406030204" pitchFamily="18" charset="0"/>
                      </a:rPr>
                      <m:t>)</m:t>
                    </m:r>
                  </m:oMath>
                </a14:m>
                <a:endParaRPr lang="zh-CN" altLang="en-US" sz="2000" b="1">
                  <a:solidFill>
                    <a:schemeClr val="accent6">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736380" y="2896182"/>
                <a:ext cx="4637784" cy="429220"/>
              </a:xfrm>
              <a:prstGeom prst="rect">
                <a:avLst/>
              </a:prstGeom>
              <a:blipFill rotWithShape="1">
                <a:blip r:embed="rId5"/>
                <a:stretch>
                  <a:fillRect l="-9" t="-136" r="4" b="1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810788" y="3850572"/>
                <a:ext cx="4175651" cy="810478"/>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定义函数</a:t>
                </a:r>
                <a14:m>
                  <m:oMath xmlns:m="http://schemas.openxmlformats.org/officeDocument/2006/math">
                    <m:r>
                      <a:rPr lang="en-US" altLang="zh-CN" sz="2000" b="1" i="1" smtClean="0">
                        <a:solidFill>
                          <a:srgbClr val="C00000"/>
                        </a:solidFill>
                        <a:latin typeface="Cambria Math" panose="02040503050406030204" pitchFamily="18" charset="0"/>
                      </a:rPr>
                      <m:t>𝒇</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𝒈</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m:t>
                    </m:r>
                    <m:r>
                      <a:rPr lang="zh-CN" altLang="en-US" sz="2000" b="1" i="1">
                        <a:solidFill>
                          <a:srgbClr val="002060"/>
                        </a:solidFill>
                        <a:latin typeface="Cambria Math" panose="02040503050406030204" pitchFamily="18" charset="0"/>
                      </a:rPr>
                      <m:t>，</m:t>
                    </m:r>
                  </m:oMath>
                </a14:m>
                <a:endParaRPr lang="zh-CN" altLang="en-US" sz="2000" b="1">
                  <a:solidFill>
                    <a:srgbClr val="002060"/>
                  </a:solidFill>
                  <a:latin typeface="楷体" panose="02010609060101010101" pitchFamily="49" charset="-122"/>
                  <a:ea typeface="楷体" panose="02010609060101010101" pitchFamily="49" charset="-122"/>
                </a:endParaRPr>
              </a:p>
              <a:p>
                <a:pPr algn="ctr">
                  <a:lnSpc>
                    <a:spcPts val="2800"/>
                  </a:lnSpc>
                  <a:spcBef>
                    <a:spcPts val="600"/>
                  </a:spcBef>
                </a:pPr>
                <a14:m>
                  <m:oMathPara xmlns:m="http://schemas.openxmlformats.org/officeDocument/2006/math">
                    <m:oMathParaPr>
                      <m:jc m:val="centerGroup"/>
                    </m:oMathParaPr>
                    <m:oMath xmlns:m="http://schemas.openxmlformats.org/officeDocument/2006/math">
                      <m:d>
                        <m:dPr>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𝒇</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𝒈</m:t>
                          </m:r>
                        </m:e>
                      </m:d>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𝒇</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𝒈</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810788" y="3850572"/>
                <a:ext cx="4175651" cy="810478"/>
              </a:xfrm>
              <a:prstGeom prst="rect">
                <a:avLst/>
              </a:prstGeom>
              <a:blipFill rotWithShape="1">
                <a:blip r:embed="rId6"/>
                <a:stretch>
                  <a:fillRect l="-13" t="-70" r="10" b="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5723773" y="3826591"/>
                <a:ext cx="5657439" cy="858440"/>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pP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𝒈</m:t>
                            </m:r>
                          </m:e>
                          <m:sub>
                            <m:r>
                              <a:rPr lang="en-US" altLang="zh-CN" b="1" i="1" smtClean="0">
                                <a:solidFill>
                                  <a:schemeClr val="accent6">
                                    <a:lumMod val="50000"/>
                                  </a:schemeClr>
                                </a:solidFill>
                                <a:latin typeface="Cambria Math" panose="02040503050406030204" pitchFamily="18" charset="0"/>
                              </a:rPr>
                              <m:t>𝟏</m:t>
                            </m:r>
                          </m:sub>
                        </m:sSub>
                      </m:e>
                    </m:d>
                  </m:oMath>
                </a14:m>
                <a:r>
                  <a:rPr lang="zh-CN" altLang="en-US" b="1">
                    <a:solidFill>
                      <a:schemeClr val="accent6">
                        <a:lumMod val="50000"/>
                      </a:schemeClr>
                    </a:solidFill>
                  </a:rPr>
                  <a:t>，</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smtClean="0">
                            <a:solidFill>
                              <a:schemeClr val="accent6">
                                <a:lumMod val="50000"/>
                              </a:schemeClr>
                            </a:solidFill>
                            <a:latin typeface="Cambria Math" panose="02040503050406030204" pitchFamily="18" charset="0"/>
                          </a:rPr>
                          <m:t>𝟐</m:t>
                        </m:r>
                      </m:sub>
                    </m:sSub>
                  </m:oMath>
                </a14:m>
                <a:r>
                  <a:rPr lang="zh-CN" altLang="en-US" b="1">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𝒈</m:t>
                            </m:r>
                          </m:e>
                          <m:sub>
                            <m:r>
                              <a:rPr lang="en-US" altLang="zh-CN" b="1" i="1" smtClean="0">
                                <a:solidFill>
                                  <a:schemeClr val="accent6">
                                    <a:lumMod val="50000"/>
                                  </a:schemeClr>
                                </a:solidFill>
                                <a:latin typeface="Cambria Math" panose="02040503050406030204" pitchFamily="18" charset="0"/>
                              </a:rPr>
                              <m:t>𝟐</m:t>
                            </m:r>
                          </m:sub>
                        </m:sSub>
                      </m:e>
                    </m:d>
                  </m:oMath>
                </a14:m>
                <a:r>
                  <a:rPr lang="zh-CN" altLang="en-US" b="1">
                    <a:solidFill>
                      <a:schemeClr val="accent6">
                        <a:lumMod val="50000"/>
                      </a:schemeClr>
                    </a:solidFill>
                  </a:rPr>
                  <a:t>，则</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smtClean="0">
                            <a:solidFill>
                              <a:schemeClr val="accent6">
                                <a:lumMod val="50000"/>
                              </a:schemeClr>
                            </a:solidFill>
                            <a:latin typeface="Cambria Math" panose="02040503050406030204" pitchFamily="18" charset="0"/>
                          </a:rPr>
                          <m:t>𝟐</m:t>
                        </m:r>
                      </m:sub>
                    </m:sSub>
                  </m:oMath>
                </a14:m>
                <a:r>
                  <a:rPr lang="zh-CN" altLang="en-US" b="1">
                    <a:solidFill>
                      <a:schemeClr val="accent6">
                        <a:lumMod val="50000"/>
                      </a:schemeClr>
                    </a:solidFill>
                  </a:rPr>
                  <a:t>是</a:t>
                </a:r>
                <a14:m>
                  <m:oMath xmlns:m="http://schemas.openxmlformats.org/officeDocument/2006/math">
                    <m:r>
                      <a:rPr lang="en-US" altLang="zh-CN" b="1" i="1" smtClean="0">
                        <a:solidFill>
                          <a:srgbClr val="C00000"/>
                        </a:solidFill>
                        <a:latin typeface="Cambria Math" panose="02040503050406030204" pitchFamily="18" charset="0"/>
                      </a:rPr>
                      <m:t>𝑶</m:t>
                    </m:r>
                    <m:d>
                      <m:dPr>
                        <m:ctrlPr>
                          <a:rPr lang="en-US" altLang="zh-CN" b="1" i="1" smtClean="0">
                            <a:solidFill>
                              <a:srgbClr val="C00000"/>
                            </a:solidFill>
                            <a:latin typeface="Cambria Math" panose="02040503050406030204" pitchFamily="18" charset="0"/>
                          </a:rPr>
                        </m:ctrlPr>
                      </m:dPr>
                      <m:e>
                        <m:r>
                          <a:rPr lang="en-US" altLang="zh-CN" b="1" i="0" smtClean="0">
                            <a:solidFill>
                              <a:srgbClr val="C00000"/>
                            </a:solidFill>
                            <a:latin typeface="Cambria Math" panose="02040503050406030204" pitchFamily="18" charset="0"/>
                          </a:rPr>
                          <m:t>𝐦𝐚𝐱</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𝒈</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𝒈</m:t>
                                </m:r>
                              </m:e>
                              <m:sub>
                                <m:r>
                                  <a:rPr lang="en-US" altLang="zh-CN" b="1" i="1" smtClean="0">
                                    <a:solidFill>
                                      <a:srgbClr val="C00000"/>
                                    </a:solidFill>
                                    <a:latin typeface="Cambria Math" panose="02040503050406030204" pitchFamily="18" charset="0"/>
                                  </a:rPr>
                                  <m:t>𝟐</m:t>
                                </m:r>
                              </m:sub>
                            </m:sSub>
                          </m:e>
                        </m:d>
                      </m:e>
                    </m:d>
                  </m:oMath>
                </a14:m>
                <a:endParaRPr lang="en-US" altLang="zh-CN" b="1">
                  <a:solidFill>
                    <a:schemeClr val="accent6">
                      <a:lumMod val="50000"/>
                    </a:schemeClr>
                  </a:solidFill>
                </a:endParaRPr>
              </a:p>
              <a:p>
                <a:pPr>
                  <a:lnSpc>
                    <a:spcPts val="2800"/>
                  </a:lnSpc>
                  <a:spcBef>
                    <a:spcPts val="600"/>
                  </a:spcBef>
                </a:pP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𝒈</m:t>
                        </m:r>
                      </m:e>
                    </m:d>
                  </m:oMath>
                </a14:m>
                <a:r>
                  <a:rPr lang="zh-CN" altLang="en-US" b="1">
                    <a:solidFill>
                      <a:schemeClr val="accent6">
                        <a:lumMod val="50000"/>
                      </a:schemeClr>
                    </a:solidFill>
                  </a:rPr>
                  <a:t>， </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smtClean="0">
                            <a:solidFill>
                              <a:schemeClr val="accent6">
                                <a:lumMod val="50000"/>
                              </a:schemeClr>
                            </a:solidFill>
                            <a:latin typeface="Cambria Math" panose="02040503050406030204" pitchFamily="18" charset="0"/>
                          </a:rPr>
                          <m:t>𝟐</m:t>
                        </m:r>
                      </m:sub>
                    </m:sSub>
                  </m:oMath>
                </a14:m>
                <a:r>
                  <a:rPr lang="zh-CN" altLang="en-US" b="1">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𝒈</m:t>
                        </m:r>
                      </m:e>
                    </m:d>
                  </m:oMath>
                </a14:m>
                <a:r>
                  <a:rPr lang="zh-CN" altLang="en-US" b="1">
                    <a:solidFill>
                      <a:schemeClr val="accent6">
                        <a:lumMod val="50000"/>
                      </a:schemeClr>
                    </a:solidFill>
                  </a:rPr>
                  <a:t>，则</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𝒇</m:t>
                        </m:r>
                      </m:e>
                      <m:sub>
                        <m:r>
                          <a:rPr lang="en-US" altLang="zh-CN" b="1" i="1">
                            <a:solidFill>
                              <a:schemeClr val="accent6">
                                <a:lumMod val="50000"/>
                              </a:schemeClr>
                            </a:solidFill>
                            <a:latin typeface="Cambria Math" panose="02040503050406030204" pitchFamily="18" charset="0"/>
                          </a:rPr>
                          <m:t>𝟏</m:t>
                        </m:r>
                      </m:sub>
                    </m:sSub>
                    <m:r>
                      <a:rPr lang="en-US" altLang="zh-CN" b="1" i="1">
                        <a:solidFill>
                          <a:schemeClr val="accent6">
                            <a:lumMod val="50000"/>
                          </a:schemeClr>
                        </a:solidFill>
                        <a:latin typeface="Cambria Math" panose="02040503050406030204" pitchFamily="18" charset="0"/>
                      </a:rPr>
                      <m:t>+</m:t>
                    </m:r>
                    <m:sSub>
                      <m:sSubPr>
                        <m:ctrlPr>
                          <a:rPr lang="en-US" altLang="zh-CN" b="1" i="1">
                            <a:solidFill>
                              <a:schemeClr val="accent6">
                                <a:lumMod val="50000"/>
                              </a:schemeClr>
                            </a:solidFill>
                            <a:latin typeface="Cambria Math" panose="02040503050406030204" pitchFamily="18" charset="0"/>
                          </a:rPr>
                        </m:ctrlPr>
                      </m:sSubPr>
                      <m:e>
                        <m:r>
                          <a:rPr lang="en-US" altLang="zh-CN" b="1" i="1">
                            <a:solidFill>
                              <a:schemeClr val="accent6">
                                <a:lumMod val="50000"/>
                              </a:schemeClr>
                            </a:solidFill>
                            <a:latin typeface="Cambria Math" panose="02040503050406030204" pitchFamily="18" charset="0"/>
                          </a:rPr>
                          <m:t>𝒇</m:t>
                        </m:r>
                      </m:e>
                      <m:sub>
                        <m:r>
                          <a:rPr lang="en-US" altLang="zh-CN" b="1" i="1">
                            <a:solidFill>
                              <a:schemeClr val="accent6">
                                <a:lumMod val="50000"/>
                              </a:schemeClr>
                            </a:solidFill>
                            <a:latin typeface="Cambria Math" panose="02040503050406030204" pitchFamily="18" charset="0"/>
                          </a:rPr>
                          <m:t>𝟐</m:t>
                        </m:r>
                      </m:sub>
                    </m:sSub>
                  </m:oMath>
                </a14:m>
                <a:r>
                  <a:rPr lang="zh-CN" altLang="en-US" b="1">
                    <a:solidFill>
                      <a:schemeClr val="accent6">
                        <a:lumMod val="50000"/>
                      </a:schemeClr>
                    </a:solidFill>
                  </a:rPr>
                  <a:t>也是</a:t>
                </a:r>
                <a14:m>
                  <m:oMath xmlns:m="http://schemas.openxmlformats.org/officeDocument/2006/math">
                    <m:r>
                      <a:rPr lang="en-US" altLang="zh-CN" b="1" i="1" smtClean="0">
                        <a:solidFill>
                          <a:srgbClr val="C00000"/>
                        </a:solidFill>
                        <a:latin typeface="Cambria Math" panose="02040503050406030204" pitchFamily="18" charset="0"/>
                      </a:rPr>
                      <m:t>𝑶</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𝒈</m:t>
                        </m:r>
                      </m:e>
                    </m:d>
                  </m:oMath>
                </a14:m>
                <a:endParaRPr lang="zh-CN" altLang="en-US" b="1">
                  <a:solidFill>
                    <a:schemeClr val="accent6">
                      <a:lumMod val="50000"/>
                    </a:schemeClr>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5723773" y="3826591"/>
                <a:ext cx="5657439" cy="858440"/>
              </a:xfrm>
              <a:prstGeom prst="rect">
                <a:avLst/>
              </a:prstGeom>
              <a:blipFill rotWithShape="1">
                <a:blip r:embed="rId7"/>
                <a:stretch>
                  <a:fillRect l="-9" t="-9" r="2" b="-384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810790" y="4995591"/>
                <a:ext cx="4175650" cy="810478"/>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定义函数</a:t>
                </a:r>
                <a14:m>
                  <m:oMath xmlns:m="http://schemas.openxmlformats.org/officeDocument/2006/math">
                    <m:r>
                      <a:rPr lang="en-US" altLang="zh-CN" sz="2000" b="1" i="1" smtClean="0">
                        <a:solidFill>
                          <a:srgbClr val="C00000"/>
                        </a:solidFill>
                        <a:latin typeface="Cambria Math" panose="02040503050406030204" pitchFamily="18" charset="0"/>
                      </a:rPr>
                      <m:t>𝒇</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𝒈</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m:t>
                    </m:r>
                    <m:r>
                      <a:rPr lang="zh-CN" altLang="en-US" sz="2000" b="1" i="1">
                        <a:solidFill>
                          <a:srgbClr val="002060"/>
                        </a:solidFill>
                        <a:latin typeface="Cambria Math" panose="02040503050406030204" pitchFamily="18" charset="0"/>
                      </a:rPr>
                      <m:t>，</m:t>
                    </m:r>
                  </m:oMath>
                </a14:m>
                <a:endParaRPr lang="zh-CN" altLang="en-US" sz="2000" b="1">
                  <a:solidFill>
                    <a:srgbClr val="002060"/>
                  </a:solidFill>
                  <a:latin typeface="楷体" panose="02010609060101010101" pitchFamily="49" charset="-122"/>
                  <a:ea typeface="楷体" panose="02010609060101010101" pitchFamily="49" charset="-122"/>
                </a:endParaRPr>
              </a:p>
              <a:p>
                <a:pPr algn="ctr">
                  <a:lnSpc>
                    <a:spcPts val="2800"/>
                  </a:lnSpc>
                  <a:spcBef>
                    <a:spcPts val="600"/>
                  </a:spcBef>
                </a:pPr>
                <a14:m>
                  <m:oMathPara xmlns:m="http://schemas.openxmlformats.org/officeDocument/2006/math">
                    <m:oMathParaPr>
                      <m:jc m:val="centerGroup"/>
                    </m:oMathParaPr>
                    <m:oMath xmlns:m="http://schemas.openxmlformats.org/officeDocument/2006/math">
                      <m:d>
                        <m:dPr>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𝒇</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𝒈</m:t>
                          </m:r>
                        </m:e>
                      </m:d>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𝒇</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𝒈</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810790" y="4995591"/>
                <a:ext cx="4175650" cy="810478"/>
              </a:xfrm>
              <a:prstGeom prst="rect">
                <a:avLst/>
              </a:prstGeom>
              <a:blipFill rotWithShape="1">
                <a:blip r:embed="rId8"/>
                <a:stretch>
                  <a:fillRect l="-13" t="-6" r="10"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5736380" y="5186220"/>
                <a:ext cx="5644830" cy="429220"/>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𝒇</m:t>
                        </m:r>
                      </m:e>
                      <m:sub>
                        <m:r>
                          <a:rPr lang="en-US" altLang="zh-CN" sz="2000" b="1" i="1">
                            <a:solidFill>
                              <a:schemeClr val="accent6">
                                <a:lumMod val="50000"/>
                              </a:schemeClr>
                            </a:solidFill>
                            <a:latin typeface="Cambria Math" panose="02040503050406030204" pitchFamily="18" charset="0"/>
                          </a:rPr>
                          <m:t>𝟏</m:t>
                        </m:r>
                      </m:sub>
                    </m:sSub>
                  </m:oMath>
                </a14:m>
                <a:r>
                  <a:rPr lang="zh-CN" altLang="en-US" sz="2000" b="1">
                    <a:solidFill>
                      <a:schemeClr val="accent6">
                        <a:lumMod val="50000"/>
                      </a:schemeClr>
                    </a:solidFill>
                  </a:rPr>
                  <a:t>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d>
                      <m:dPr>
                        <m:ctrlPr>
                          <a:rPr lang="en-US" altLang="zh-CN" sz="2000" b="1" i="1" smtClean="0">
                            <a:solidFill>
                              <a:schemeClr val="accent6">
                                <a:lumMod val="50000"/>
                              </a:schemeClr>
                            </a:solidFill>
                            <a:latin typeface="Cambria Math" panose="02040503050406030204" pitchFamily="18" charset="0"/>
                          </a:rPr>
                        </m:ctrlPr>
                      </m:dPr>
                      <m:e>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𝒈</m:t>
                            </m:r>
                          </m:e>
                          <m:sub>
                            <m:r>
                              <a:rPr lang="en-US" altLang="zh-CN" sz="2000" b="1" i="1" smtClean="0">
                                <a:solidFill>
                                  <a:schemeClr val="accent6">
                                    <a:lumMod val="50000"/>
                                  </a:schemeClr>
                                </a:solidFill>
                                <a:latin typeface="Cambria Math" panose="02040503050406030204" pitchFamily="18" charset="0"/>
                              </a:rPr>
                              <m:t>𝟏</m:t>
                            </m:r>
                          </m:sub>
                        </m:sSub>
                      </m:e>
                    </m:d>
                  </m:oMath>
                </a14:m>
                <a:r>
                  <a:rPr lang="zh-CN" altLang="en-US" sz="2000" b="1">
                    <a:solidFill>
                      <a:schemeClr val="accent6">
                        <a:lumMod val="50000"/>
                      </a:schemeClr>
                    </a:solidFill>
                  </a:rPr>
                  <a:t>， </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𝒇</m:t>
                        </m:r>
                      </m:e>
                      <m:sub>
                        <m:r>
                          <a:rPr lang="en-US" altLang="zh-CN" sz="2000" b="1" i="1" smtClean="0">
                            <a:solidFill>
                              <a:schemeClr val="accent6">
                                <a:lumMod val="50000"/>
                              </a:schemeClr>
                            </a:solidFill>
                            <a:latin typeface="Cambria Math" panose="02040503050406030204" pitchFamily="18" charset="0"/>
                          </a:rPr>
                          <m:t>𝟐</m:t>
                        </m:r>
                      </m:sub>
                    </m:sSub>
                  </m:oMath>
                </a14:m>
                <a:r>
                  <a:rPr lang="zh-CN" altLang="en-US" sz="2000" b="1">
                    <a:solidFill>
                      <a:schemeClr val="accent6">
                        <a:lumMod val="50000"/>
                      </a:schemeClr>
                    </a:solidFill>
                  </a:rPr>
                  <a:t>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d>
                      <m:dPr>
                        <m:ctrlPr>
                          <a:rPr lang="en-US" altLang="zh-CN" sz="2000" b="1" i="1" smtClean="0">
                            <a:solidFill>
                              <a:schemeClr val="accent6">
                                <a:lumMod val="50000"/>
                              </a:schemeClr>
                            </a:solidFill>
                            <a:latin typeface="Cambria Math" panose="02040503050406030204" pitchFamily="18" charset="0"/>
                          </a:rPr>
                        </m:ctrlPr>
                      </m:dPr>
                      <m:e>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𝒈</m:t>
                            </m:r>
                          </m:e>
                          <m:sub>
                            <m:r>
                              <a:rPr lang="en-US" altLang="zh-CN" sz="2000" b="1" i="1" smtClean="0">
                                <a:solidFill>
                                  <a:schemeClr val="accent6">
                                    <a:lumMod val="50000"/>
                                  </a:schemeClr>
                                </a:solidFill>
                                <a:latin typeface="Cambria Math" panose="02040503050406030204" pitchFamily="18" charset="0"/>
                              </a:rPr>
                              <m:t>𝟐</m:t>
                            </m:r>
                          </m:sub>
                        </m:sSub>
                      </m:e>
                    </m:d>
                  </m:oMath>
                </a14:m>
                <a:r>
                  <a:rPr lang="zh-CN" altLang="en-US" sz="2000" b="1">
                    <a:solidFill>
                      <a:schemeClr val="accent6">
                        <a:lumMod val="50000"/>
                      </a:schemeClr>
                    </a:solidFill>
                  </a:rPr>
                  <a:t>，则</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𝒇</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𝒇</m:t>
                        </m:r>
                      </m:e>
                      <m:sub>
                        <m:r>
                          <a:rPr lang="en-US" altLang="zh-CN" sz="2000" b="1" i="1" smtClean="0">
                            <a:solidFill>
                              <a:schemeClr val="accent6">
                                <a:lumMod val="50000"/>
                              </a:schemeClr>
                            </a:solidFill>
                            <a:latin typeface="Cambria Math" panose="02040503050406030204" pitchFamily="18" charset="0"/>
                          </a:rPr>
                          <m:t>𝟐</m:t>
                        </m:r>
                      </m:sub>
                    </m:sSub>
                  </m:oMath>
                </a14:m>
                <a:r>
                  <a:rPr lang="zh-CN" altLang="en-US" sz="2000" b="1">
                    <a:solidFill>
                      <a:schemeClr val="accent6">
                        <a:lumMod val="50000"/>
                      </a:schemeClr>
                    </a:solidFill>
                  </a:rPr>
                  <a:t>是</a:t>
                </a:r>
                <a14:m>
                  <m:oMath xmlns:m="http://schemas.openxmlformats.org/officeDocument/2006/math">
                    <m:r>
                      <a:rPr lang="en-US" altLang="zh-CN" sz="2000" b="1" i="1" smtClean="0">
                        <a:solidFill>
                          <a:srgbClr val="C00000"/>
                        </a:solidFill>
                        <a:latin typeface="Cambria Math" panose="02040503050406030204" pitchFamily="18" charset="0"/>
                      </a:rPr>
                      <m:t>𝑶</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𝒈</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𝒈</m:t>
                            </m:r>
                          </m:e>
                          <m:sub>
                            <m:r>
                              <a:rPr lang="en-US" altLang="zh-CN" sz="2000" b="1" i="1" smtClean="0">
                                <a:solidFill>
                                  <a:srgbClr val="C00000"/>
                                </a:solidFill>
                                <a:latin typeface="Cambria Math" panose="02040503050406030204" pitchFamily="18" charset="0"/>
                              </a:rPr>
                              <m:t>𝟐</m:t>
                            </m:r>
                          </m:sub>
                        </m:sSub>
                      </m:e>
                    </m:d>
                  </m:oMath>
                </a14:m>
                <a:endParaRPr lang="zh-CN" altLang="en-US" sz="2000" b="1">
                  <a:solidFill>
                    <a:schemeClr val="accent6">
                      <a:lumMod val="50000"/>
                    </a:schemeClr>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5736380" y="5186220"/>
                <a:ext cx="5644830" cy="429220"/>
              </a:xfrm>
              <a:prstGeom prst="rect">
                <a:avLst/>
              </a:prstGeom>
              <a:blipFill rotWithShape="1">
                <a:blip r:embed="rId9"/>
                <a:stretch>
                  <a:fillRect l="-8" t="-41" r="2" b="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810789" y="2100127"/>
                <a:ext cx="2998115" cy="400110"/>
              </a:xfrm>
              <a:prstGeom prst="rect">
                <a:avLst/>
              </a:prstGeom>
              <a:solidFill>
                <a:schemeClr val="accent2">
                  <a:lumMod val="20000"/>
                  <a:lumOff val="80000"/>
                  <a:alpha val="50000"/>
                </a:schemeClr>
              </a:solidFill>
            </p:spPr>
            <p:txBody>
              <a:bodyPr wrap="square" rtlCol="0">
                <a:spAutoFit/>
              </a:bodyPr>
              <a:lstStyle/>
              <a:p>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𝒇</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𝒈</m:t>
                    </m:r>
                  </m:oMath>
                </a14:m>
                <a:r>
                  <a:rPr lang="zh-CN" altLang="en-US" sz="2000" b="1">
                    <a:solidFill>
                      <a:schemeClr val="accent2">
                        <a:lumMod val="50000"/>
                      </a:schemeClr>
                    </a:solidFill>
                  </a:rPr>
                  <a:t>都是数集上的函数</a:t>
                </a:r>
                <a:endParaRPr lang="zh-CN" altLang="en-US" sz="2000">
                  <a:solidFill>
                    <a:schemeClr val="accent2">
                      <a:lumMod val="50000"/>
                    </a:schemeClr>
                  </a:solidFill>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810789" y="2100127"/>
                <a:ext cx="2998115" cy="400110"/>
              </a:xfrm>
              <a:prstGeom prst="rect">
                <a:avLst/>
              </a:prstGeom>
              <a:blipFill rotWithShape="1">
                <a:blip r:embed="rId10"/>
                <a:stretch>
                  <a:fillRect l="-18" t="-45" r="6" b="60"/>
                </a:stretch>
              </a:blipFill>
            </p:spPr>
            <p:txBody>
              <a:bodyPr/>
              <a:lstStyle/>
              <a:p>
                <a:r>
                  <a:rPr lang="zh-CN" altLang="en-US">
                    <a:noFill/>
                  </a:rPr>
                  <a:t> </a:t>
                </a:r>
              </a:p>
            </p:txBody>
          </p:sp>
        </mc:Fallback>
      </mc:AlternateContent>
      <p:sp>
        <p:nvSpPr>
          <p:cNvPr id="15" name="箭头: 右 14"/>
          <p:cNvSpPr/>
          <p:nvPr/>
        </p:nvSpPr>
        <p:spPr>
          <a:xfrm>
            <a:off x="4986439" y="3087871"/>
            <a:ext cx="737334" cy="875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p:nvSpPr>
        <p:spPr>
          <a:xfrm>
            <a:off x="4986438" y="4190452"/>
            <a:ext cx="737334" cy="875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p:cNvSpPr/>
          <p:nvPr/>
        </p:nvSpPr>
        <p:spPr>
          <a:xfrm>
            <a:off x="4986437" y="5372075"/>
            <a:ext cx="737334" cy="875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677577" y="1945929"/>
            <a:ext cx="4460167" cy="4020695"/>
          </a:xfrm>
          <a:prstGeom prst="roundRect">
            <a:avLst>
              <a:gd name="adj" fmla="val 6779"/>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p:cNvSpPr txBox="1"/>
              <p:nvPr/>
            </p:nvSpPr>
            <p:spPr>
              <a:xfrm>
                <a:off x="5736380" y="2100127"/>
                <a:ext cx="2735138"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大</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oMath>
                </a14:m>
                <a:r>
                  <a:rPr lang="zh-CN" altLang="en-US" sz="2000" b="1">
                    <a:solidFill>
                      <a:schemeClr val="accent2">
                        <a:lumMod val="50000"/>
                      </a:schemeClr>
                    </a:solidFill>
                  </a:rPr>
                  <a:t>记号与函数的组合</a:t>
                </a:r>
              </a:p>
            </p:txBody>
          </p:sp>
        </mc:Choice>
        <mc:Fallback xmlns="">
          <p:sp>
            <p:nvSpPr>
              <p:cNvPr id="20" name="文本框 19"/>
              <p:cNvSpPr txBox="1">
                <a:spLocks noRot="1" noChangeAspect="1" noMove="1" noResize="1" noEditPoints="1" noAdjustHandles="1" noChangeArrowheads="1" noChangeShapeType="1" noTextEdit="1"/>
              </p:cNvSpPr>
              <p:nvPr/>
            </p:nvSpPr>
            <p:spPr>
              <a:xfrm>
                <a:off x="5736380" y="2100127"/>
                <a:ext cx="2735138" cy="400110"/>
              </a:xfrm>
              <a:prstGeom prst="rect">
                <a:avLst/>
              </a:prstGeom>
              <a:blipFill rotWithShape="1">
                <a:blip r:embed="rId11"/>
                <a:stretch>
                  <a:fillRect l="-16" t="-45" r="23" b="60"/>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组合函数的增长情况</a:t>
            </a:r>
          </a:p>
        </p:txBody>
      </p:sp>
      <mc:AlternateContent xmlns:mc="http://schemas.openxmlformats.org/markup-compatibility/2006" xmlns:a14="http://schemas.microsoft.com/office/drawing/2010/main">
        <mc:Choice Requires="a14">
          <p:sp>
            <p:nvSpPr>
              <p:cNvPr id="2" name="文本框 1"/>
              <p:cNvSpPr txBox="1"/>
              <p:nvPr/>
            </p:nvSpPr>
            <p:spPr>
              <a:xfrm>
                <a:off x="776252" y="1411425"/>
                <a:ext cx="6302124"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基于常见函数的增长情况，再利用大</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zh-CN" altLang="en-US" sz="2000" b="1">
                    <a:solidFill>
                      <a:srgbClr val="002060"/>
                    </a:solidFill>
                    <a:latin typeface="楷体" panose="02010609060101010101" pitchFamily="49" charset="-122"/>
                    <a:ea typeface="楷体" panose="02010609060101010101" pitchFamily="49" charset="-122"/>
                  </a:rPr>
                  <a:t>记号的基本性质</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可得到由这些函数</a:t>
                </a:r>
                <a:r>
                  <a:rPr lang="zh-CN" altLang="en-US" sz="2000" b="1">
                    <a:solidFill>
                      <a:srgbClr val="C00000"/>
                    </a:solidFill>
                  </a:rPr>
                  <a:t>组合而成的函数</a:t>
                </a:r>
                <a:r>
                  <a:rPr lang="zh-CN" altLang="en-US" sz="2000" b="1">
                    <a:solidFill>
                      <a:schemeClr val="accent6">
                        <a:lumMod val="50000"/>
                      </a:schemeClr>
                    </a:solidFill>
                  </a:rPr>
                  <a:t>的增长情况</a:t>
                </a:r>
              </a:p>
            </p:txBody>
          </p:sp>
        </mc:Choice>
        <mc:Fallback xmlns="">
          <p:sp>
            <p:nvSpPr>
              <p:cNvPr id="2" name="文本框 1"/>
              <p:cNvSpPr txBox="1">
                <a:spLocks noRot="1" noChangeAspect="1" noMove="1" noResize="1" noEditPoints="1" noAdjustHandles="1" noChangeArrowheads="1" noChangeShapeType="1" noTextEdit="1"/>
              </p:cNvSpPr>
              <p:nvPr/>
            </p:nvSpPr>
            <p:spPr>
              <a:xfrm>
                <a:off x="776252" y="1411425"/>
                <a:ext cx="6302124" cy="861774"/>
              </a:xfrm>
              <a:prstGeom prst="rect">
                <a:avLst/>
              </a:prstGeom>
              <a:blipFill rotWithShape="1">
                <a:blip r:embed="rId2"/>
                <a:stretch>
                  <a:fillRect l="-4" t="-53" b="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776252" y="2847912"/>
                <a:ext cx="9532127" cy="552972"/>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给出函数</a:t>
                </a:r>
                <a14:m>
                  <m:oMath xmlns:m="http://schemas.openxmlformats.org/officeDocument/2006/math">
                    <m:r>
                      <a:rPr lang="en-US" altLang="zh-CN" sz="2000" b="1" i="1" smtClean="0">
                        <a:solidFill>
                          <a:srgbClr val="002060"/>
                        </a:solidFill>
                        <a:latin typeface="Cambria Math" panose="02040503050406030204" pitchFamily="18" charset="0"/>
                      </a:rPr>
                      <m:t>𝒇</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𝒏</m:t>
                        </m:r>
                      </m:e>
                    </m:d>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𝟐</m:t>
                            </m:r>
                          </m:e>
                          <m:sup>
                            <m:r>
                              <a:rPr lang="en-US" altLang="zh-CN" sz="2000" b="1" i="1" smtClean="0">
                                <a:solidFill>
                                  <a:srgbClr val="002060"/>
                                </a:solidFill>
                                <a:latin typeface="Cambria Math" panose="02040503050406030204" pitchFamily="18" charset="0"/>
                              </a:rPr>
                              <m:t>𝒏</m:t>
                            </m:r>
                          </m:sup>
                        </m:sSup>
                      </m:e>
                    </m:d>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𝐥𝐨𝐠</m:t>
                        </m:r>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𝟐</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e>
                        </m:d>
                      </m:e>
                    </m:d>
                  </m:oMath>
                </a14:m>
                <a:r>
                  <a:rPr lang="zh-CN" altLang="en-US" sz="2000" b="1">
                    <a:solidFill>
                      <a:srgbClr val="C00000"/>
                    </a:solidFill>
                    <a:latin typeface="+mn-ea"/>
                  </a:rPr>
                  <a:t>尽可能好</a:t>
                </a:r>
                <a:r>
                  <a:rPr lang="zh-CN" altLang="en-US" sz="2000" b="1">
                    <a:solidFill>
                      <a:srgbClr val="002060"/>
                    </a:solidFill>
                    <a:latin typeface="楷体" panose="02010609060101010101" pitchFamily="49" charset="-122"/>
                    <a:ea typeface="楷体" panose="02010609060101010101" pitchFamily="49" charset="-122"/>
                  </a:rPr>
                  <a:t>的大</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𝑶</m:t>
                    </m:r>
                  </m:oMath>
                </a14:m>
                <a:r>
                  <a:rPr lang="zh-CN" altLang="en-US" sz="2000" b="1">
                    <a:solidFill>
                      <a:srgbClr val="002060"/>
                    </a:solidFill>
                    <a:latin typeface="楷体" panose="02010609060101010101" pitchFamily="49" charset="-122"/>
                    <a:ea typeface="楷体" panose="02010609060101010101" pitchFamily="49" charset="-122"/>
                  </a:rPr>
                  <a:t>估计</a:t>
                </a:r>
                <a:r>
                  <a:rPr lang="en-US" altLang="zh-CN" sz="2000" b="1">
                    <a:solidFill>
                      <a:srgbClr val="002060"/>
                    </a:solidFill>
                    <a:latin typeface="+mn-ea"/>
                  </a:rPr>
                  <a:t>(big-</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en-US" altLang="zh-CN" sz="2000" b="1">
                    <a:solidFill>
                      <a:srgbClr val="002060"/>
                    </a:solidFill>
                    <a:latin typeface="+mn-ea"/>
                  </a:rPr>
                  <a:t> estimate)</a:t>
                </a:r>
              </a:p>
            </p:txBody>
          </p:sp>
        </mc:Choice>
        <mc:Fallback xmlns="">
          <p:sp>
            <p:nvSpPr>
              <p:cNvPr id="3" name="文本框 2"/>
              <p:cNvSpPr txBox="1">
                <a:spLocks noRot="1" noChangeAspect="1" noMove="1" noResize="1" noEditPoints="1" noAdjustHandles="1" noChangeArrowheads="1" noChangeShapeType="1" noTextEdit="1"/>
              </p:cNvSpPr>
              <p:nvPr/>
            </p:nvSpPr>
            <p:spPr>
              <a:xfrm>
                <a:off x="776252" y="2847912"/>
                <a:ext cx="9532127" cy="552972"/>
              </a:xfrm>
              <a:prstGeom prst="rect">
                <a:avLst/>
              </a:prstGeom>
              <a:blipFill rotWithShape="1">
                <a:blip r:embed="rId3"/>
                <a:stretch>
                  <a:fillRect l="-3" t="-103" r="4" b="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76252" y="3764777"/>
                <a:ext cx="7571759" cy="1924438"/>
              </a:xfrm>
              <a:prstGeom prst="rect">
                <a:avLst/>
              </a:prstGeom>
              <a:solidFill>
                <a:schemeClr val="accent4">
                  <a:lumMod val="20000"/>
                  <a:lumOff val="80000"/>
                  <a:alpha val="25000"/>
                </a:schemeClr>
              </a:solidFill>
            </p:spPr>
            <p:txBody>
              <a:bodyPr wrap="square" rtlCol="0">
                <a:spAutoFit/>
              </a:bodyPr>
              <a:lstStyle/>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因为</a:t>
                </a:r>
                <a14:m>
                  <m:oMath xmlns:m="http://schemas.openxmlformats.org/officeDocument/2006/math">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𝑶</m:t>
                    </m:r>
                  </m:oMath>
                </a14:m>
                <a:r>
                  <a:rPr lang="en-US" altLang="zh-CN"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m:t>
                    </m:r>
                  </m:oMath>
                </a14:m>
                <a:r>
                  <a:rPr lang="en-US" altLang="zh-CN" sz="2000" b="1">
                    <a:solidFill>
                      <a:schemeClr val="tx2">
                        <a:lumMod val="50000"/>
                      </a:schemeClr>
                    </a:solidFill>
                  </a:rPr>
                  <a:t>)</a:t>
                </a:r>
                <a:r>
                  <a:rPr lang="zh-CN" altLang="en-US" sz="2000" b="1">
                    <a:solidFill>
                      <a:schemeClr val="tx2">
                        <a:lumMod val="50000"/>
                      </a:schemeClr>
                    </a:solidFill>
                  </a:rPr>
                  <a:t>，但</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𝑶</m:t>
                    </m:r>
                  </m:oMath>
                </a14:m>
                <a:r>
                  <a:rPr lang="en-US" altLang="zh-CN"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m:t>
                    </m:r>
                  </m:oMath>
                </a14:m>
                <a:r>
                  <a:rPr lang="en-US" altLang="zh-CN" sz="2000" b="1">
                    <a:solidFill>
                      <a:schemeClr val="tx2">
                        <a:lumMod val="50000"/>
                      </a:schemeClr>
                    </a:solidFill>
                  </a:rPr>
                  <a:t>)</a:t>
                </a:r>
                <a:r>
                  <a:rPr lang="zh-CN" altLang="en-US" sz="2000" b="1">
                    <a:solidFill>
                      <a:schemeClr val="tx2">
                        <a:lumMod val="50000"/>
                      </a:schemeClr>
                    </a:solidFill>
                  </a:rPr>
                  <a:t>不是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𝑶</m:t>
                    </m:r>
                  </m:oMath>
                </a14:m>
                <a:r>
                  <a:rPr lang="en-US" altLang="zh-CN" sz="2000" b="1">
                    <a:solidFill>
                      <a:schemeClr val="tx2">
                        <a:lumMod val="50000"/>
                      </a:schemeClr>
                    </a:solidFill>
                  </a:rPr>
                  <a:t>(</a:t>
                </a:r>
                <a14:m>
                  <m:oMath xmlns:m="http://schemas.openxmlformats.org/officeDocument/2006/math">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oMath>
                </a14:m>
                <a:r>
                  <a:rPr lang="en-US" altLang="zh-CN" sz="2000" b="1">
                    <a:solidFill>
                      <a:schemeClr val="tx2">
                        <a:lumMod val="50000"/>
                      </a:schemeClr>
                    </a:solidFill>
                  </a:rPr>
                  <a:t>)</a:t>
                </a:r>
                <a:r>
                  <a:rPr lang="zh-CN" altLang="en-US" sz="2000" b="1">
                    <a:solidFill>
                      <a:schemeClr val="tx2">
                        <a:lumMod val="50000"/>
                      </a:schemeClr>
                    </a:solidFill>
                  </a:rPr>
                  <a:t>，因此</a:t>
                </a:r>
                <a14:m>
                  <m:oMath xmlns:m="http://schemas.openxmlformats.org/officeDocument/2006/math">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e>
                    </m:d>
                  </m:oMath>
                </a14:m>
                <a:r>
                  <a:rPr lang="zh-CN" altLang="en-US" sz="2000" b="1">
                    <a:solidFill>
                      <a:schemeClr val="tx2">
                        <a:lumMod val="50000"/>
                      </a:schemeClr>
                    </a:solidFill>
                  </a:rPr>
                  <a:t>是</a:t>
                </a:r>
                <a14:m>
                  <m:oMath xmlns:m="http://schemas.openxmlformats.org/officeDocument/2006/math">
                    <m:r>
                      <a:rPr lang="en-US" altLang="zh-CN" sz="2000" b="1" i="1" smtClean="0">
                        <a:solidFill>
                          <a:srgbClr val="C00000"/>
                        </a:solidFill>
                        <a:latin typeface="Cambria Math" panose="02040503050406030204" pitchFamily="18" charset="0"/>
                      </a:rPr>
                      <m:t>𝑶</m:t>
                    </m:r>
                  </m:oMath>
                </a14:m>
                <a:r>
                  <a:rPr lang="en-US" altLang="zh-CN" sz="2000" b="1">
                    <a:solidFill>
                      <a:srgbClr val="C00000"/>
                    </a:solidFill>
                  </a:rPr>
                  <a:t>(</a:t>
                </a:r>
                <a14:m>
                  <m:oMath xmlns:m="http://schemas.openxmlformats.org/officeDocument/2006/math">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a:t>
                </a:r>
                <a:r>
                  <a:rPr lang="zh-CN" altLang="en-US" sz="2000" b="1">
                    <a:solidFill>
                      <a:schemeClr val="tx2">
                        <a:lumMod val="50000"/>
                      </a:schemeClr>
                    </a:solidFill>
                  </a:rPr>
                  <a:t>。</a:t>
                </a:r>
                <a:endParaRPr lang="en-US" altLang="zh-CN" sz="2000" b="1">
                  <a:solidFill>
                    <a:schemeClr val="tx2">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而</a:t>
                </a:r>
                <a14:m>
                  <m:oMath xmlns:m="http://schemas.openxmlformats.org/officeDocument/2006/math">
                    <m:r>
                      <a:rPr lang="en-US" altLang="zh-CN" sz="2000" b="1" i="0" smtClean="0">
                        <a:solidFill>
                          <a:schemeClr val="tx2">
                            <a:lumMod val="50000"/>
                          </a:schemeClr>
                        </a:solidFill>
                        <a:latin typeface="Cambria Math" panose="02040503050406030204" pitchFamily="18" charset="0"/>
                      </a:rPr>
                      <m:t>𝐥𝐨𝐠</m:t>
                    </m:r>
                    <m:d>
                      <m:dPr>
                        <m:ctrlPr>
                          <a:rPr lang="en-US" altLang="zh-CN" sz="2000" b="1" i="1" smtClean="0">
                            <a:solidFill>
                              <a:schemeClr val="tx2">
                                <a:lumMod val="50000"/>
                              </a:schemeClr>
                            </a:solidFill>
                            <a:latin typeface="Cambria Math" panose="02040503050406030204" pitchFamily="18" charset="0"/>
                          </a:rPr>
                        </m:ctrlPr>
                      </m:dPr>
                      <m:e>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𝟐</m:t>
                            </m:r>
                          </m:sup>
                        </m:sSup>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𝟏</m:t>
                        </m:r>
                      </m:e>
                    </m:d>
                  </m:oMath>
                </a14:m>
                <a:r>
                  <a:rPr lang="zh-CN" altLang="en-US" sz="2000" b="1">
                    <a:solidFill>
                      <a:schemeClr val="tx2">
                        <a:lumMod val="50000"/>
                      </a:schemeClr>
                    </a:solidFill>
                  </a:rPr>
                  <a:t>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𝑶</m:t>
                    </m:r>
                    <m:d>
                      <m:dPr>
                        <m:ctrlPr>
                          <a:rPr lang="en-US" altLang="zh-CN" sz="2000" b="1" i="1" smtClean="0">
                            <a:solidFill>
                              <a:schemeClr val="tx2">
                                <a:lumMod val="50000"/>
                              </a:schemeClr>
                            </a:solidFill>
                            <a:latin typeface="Cambria Math" panose="02040503050406030204" pitchFamily="18" charset="0"/>
                          </a:rPr>
                        </m:ctrlPr>
                      </m:dPr>
                      <m:e>
                        <m:r>
                          <a:rPr lang="en-US" altLang="zh-CN" sz="2000" b="1" i="0" smtClean="0">
                            <a:solidFill>
                              <a:schemeClr val="tx2">
                                <a:lumMod val="50000"/>
                              </a:schemeClr>
                            </a:solidFill>
                            <a:latin typeface="Cambria Math" panose="02040503050406030204" pitchFamily="18" charset="0"/>
                          </a:rPr>
                          <m:t>𝐥𝐨𝐠</m:t>
                        </m:r>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𝒏</m:t>
                        </m:r>
                      </m:e>
                    </m:d>
                  </m:oMath>
                </a14:m>
                <a:r>
                  <a:rPr lang="zh-CN" altLang="en-US" sz="2000" b="1">
                    <a:solidFill>
                      <a:schemeClr val="tx2">
                        <a:lumMod val="50000"/>
                      </a:schemeClr>
                    </a:solidFill>
                  </a:rPr>
                  <a:t>，也是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𝑶</m:t>
                    </m:r>
                    <m:d>
                      <m:dPr>
                        <m:ctrlPr>
                          <a:rPr lang="en-US" altLang="zh-CN" sz="2000" b="1" i="1" smtClean="0">
                            <a:solidFill>
                              <a:schemeClr val="tx2">
                                <a:lumMod val="50000"/>
                              </a:schemeClr>
                            </a:solidFill>
                            <a:latin typeface="Cambria Math" panose="02040503050406030204" pitchFamily="18" charset="0"/>
                          </a:rPr>
                        </m:ctrlPr>
                      </m:dPr>
                      <m:e>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𝟑</m:t>
                            </m:r>
                          </m:sup>
                        </m:sSup>
                      </m:e>
                    </m:d>
                  </m:oMath>
                </a14:m>
                <a:r>
                  <a:rPr lang="zh-CN" altLang="en-US" sz="2000" b="1">
                    <a:solidFill>
                      <a:schemeClr val="tx2">
                        <a:lumMod val="50000"/>
                      </a:schemeClr>
                    </a:solidFill>
                  </a:rPr>
                  <a:t>，但</a:t>
                </a:r>
                <a14:m>
                  <m:oMath xmlns:m="http://schemas.openxmlformats.org/officeDocument/2006/math">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𝟑</m:t>
                        </m:r>
                      </m:sup>
                    </m:sSup>
                  </m:oMath>
                </a14:m>
                <a:r>
                  <a:rPr lang="zh-CN" altLang="en-US" sz="2000" b="1">
                    <a:solidFill>
                      <a:schemeClr val="tx2">
                        <a:lumMod val="50000"/>
                      </a:schemeClr>
                    </a:solidFill>
                  </a:rPr>
                  <a:t>不是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𝑶</m:t>
                    </m:r>
                    <m:d>
                      <m:dPr>
                        <m:ctrlPr>
                          <a:rPr lang="en-US" altLang="zh-CN" sz="2000" b="1" i="1" smtClean="0">
                            <a:solidFill>
                              <a:schemeClr val="tx2">
                                <a:lumMod val="50000"/>
                              </a:schemeClr>
                            </a:solidFill>
                            <a:latin typeface="Cambria Math" panose="02040503050406030204" pitchFamily="18" charset="0"/>
                          </a:rPr>
                        </m:ctrlPr>
                      </m:dPr>
                      <m:e>
                        <m:r>
                          <a:rPr lang="en-US" altLang="zh-CN" sz="2000" b="1" i="0" smtClean="0">
                            <a:solidFill>
                              <a:schemeClr val="tx2">
                                <a:lumMod val="50000"/>
                              </a:schemeClr>
                            </a:solidFill>
                            <a:latin typeface="Cambria Math" panose="02040503050406030204" pitchFamily="18" charset="0"/>
                          </a:rPr>
                          <m:t>𝐥𝐨𝐠</m:t>
                        </m:r>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𝒏</m:t>
                        </m:r>
                      </m:e>
                    </m:d>
                  </m:oMath>
                </a14:m>
                <a:r>
                  <a:rPr lang="zh-CN" altLang="en-US" sz="2000" b="1">
                    <a:solidFill>
                      <a:schemeClr val="tx2">
                        <a:lumMod val="50000"/>
                      </a:schemeClr>
                    </a:solidFill>
                  </a:rPr>
                  <a:t>，因此</a:t>
                </a:r>
                <a14:m>
                  <m:oMath xmlns:m="http://schemas.openxmlformats.org/officeDocument/2006/math">
                    <m:d>
                      <m:dPr>
                        <m:ctrlPr>
                          <a:rPr lang="en-US" altLang="zh-CN" sz="2000" b="1" i="1" smtClean="0">
                            <a:solidFill>
                              <a:schemeClr val="tx2">
                                <a:lumMod val="50000"/>
                              </a:schemeClr>
                            </a:solidFill>
                            <a:latin typeface="Cambria Math" panose="02040503050406030204" pitchFamily="18" charset="0"/>
                          </a:rPr>
                        </m:ctrlPr>
                      </m:dPr>
                      <m:e>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𝟑</m:t>
                            </m:r>
                          </m:sup>
                        </m:sSup>
                        <m:r>
                          <a:rPr lang="en-US" altLang="zh-CN" sz="2000" b="1" i="1">
                            <a:solidFill>
                              <a:schemeClr val="tx2">
                                <a:lumMod val="50000"/>
                              </a:schemeClr>
                            </a:solidFill>
                            <a:latin typeface="Cambria Math" panose="02040503050406030204" pitchFamily="18" charset="0"/>
                          </a:rPr>
                          <m:t>+</m:t>
                        </m:r>
                        <m:r>
                          <a:rPr lang="en-US" altLang="zh-CN" sz="2000" b="1">
                            <a:solidFill>
                              <a:schemeClr val="tx2">
                                <a:lumMod val="50000"/>
                              </a:schemeClr>
                            </a:solidFill>
                            <a:latin typeface="Cambria Math" panose="02040503050406030204" pitchFamily="18" charset="0"/>
                          </a:rPr>
                          <m:t>𝐥𝐨𝐠</m:t>
                        </m:r>
                        <m:d>
                          <m:dPr>
                            <m:ctrlPr>
                              <a:rPr lang="en-US" altLang="zh-CN" sz="2000" b="1" i="1">
                                <a:solidFill>
                                  <a:schemeClr val="tx2">
                                    <a:lumMod val="50000"/>
                                  </a:schemeClr>
                                </a:solidFill>
                                <a:latin typeface="Cambria Math" panose="02040503050406030204" pitchFamily="18" charset="0"/>
                              </a:rPr>
                            </m:ctrlPr>
                          </m:dPr>
                          <m:e>
                            <m:sSup>
                              <m:sSupPr>
                                <m:ctrlPr>
                                  <a:rPr lang="en-US" altLang="zh-CN" sz="2000" b="1" i="1">
                                    <a:solidFill>
                                      <a:schemeClr val="tx2">
                                        <a:lumMod val="50000"/>
                                      </a:schemeClr>
                                    </a:solidFill>
                                    <a:latin typeface="Cambria Math" panose="02040503050406030204" pitchFamily="18" charset="0"/>
                                  </a:rPr>
                                </m:ctrlPr>
                              </m:sSupPr>
                              <m:e>
                                <m:r>
                                  <a:rPr lang="en-US" altLang="zh-CN" sz="2000" b="1" i="1">
                                    <a:solidFill>
                                      <a:schemeClr val="tx2">
                                        <a:lumMod val="50000"/>
                                      </a:schemeClr>
                                    </a:solidFill>
                                    <a:latin typeface="Cambria Math" panose="02040503050406030204" pitchFamily="18" charset="0"/>
                                  </a:rPr>
                                  <m:t>𝒏</m:t>
                                </m:r>
                              </m:e>
                              <m:sup>
                                <m:r>
                                  <a:rPr lang="en-US" altLang="zh-CN" sz="2000" b="1" i="1">
                                    <a:solidFill>
                                      <a:schemeClr val="tx2">
                                        <a:lumMod val="50000"/>
                                      </a:schemeClr>
                                    </a:solidFill>
                                    <a:latin typeface="Cambria Math" panose="02040503050406030204" pitchFamily="18" charset="0"/>
                                  </a:rPr>
                                  <m:t>𝟐</m:t>
                                </m:r>
                              </m:sup>
                            </m:sSup>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𝟏</m:t>
                            </m:r>
                          </m:e>
                        </m:d>
                      </m:e>
                    </m:d>
                  </m:oMath>
                </a14:m>
                <a:r>
                  <a:rPr lang="zh-CN" altLang="en-US" sz="2000" b="1">
                    <a:solidFill>
                      <a:schemeClr val="tx2">
                        <a:lumMod val="50000"/>
                      </a:schemeClr>
                    </a:solidFill>
                  </a:rPr>
                  <a:t>是</a:t>
                </a:r>
                <a14:m>
                  <m:oMath xmlns:m="http://schemas.openxmlformats.org/officeDocument/2006/math">
                    <m:r>
                      <a:rPr lang="en-US" altLang="zh-CN" sz="2000" b="1" i="1" smtClean="0">
                        <a:solidFill>
                          <a:srgbClr val="C00000"/>
                        </a:solidFill>
                        <a:latin typeface="Cambria Math" panose="02040503050406030204" pitchFamily="18" charset="0"/>
                      </a:rPr>
                      <m:t>𝑶</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𝟑</m:t>
                            </m:r>
                          </m:sup>
                        </m:sSup>
                      </m:e>
                    </m:d>
                  </m:oMath>
                </a14:m>
                <a:endParaRPr lang="en-US" altLang="zh-CN" sz="2000" b="1">
                  <a:solidFill>
                    <a:schemeClr val="tx2">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因此整个函数是</a:t>
                </a:r>
                <a14:m>
                  <m:oMath xmlns:m="http://schemas.openxmlformats.org/officeDocument/2006/math">
                    <m:r>
                      <a:rPr lang="en-US" altLang="zh-CN" sz="2000" b="1" i="1" smtClean="0">
                        <a:solidFill>
                          <a:srgbClr val="C00000"/>
                        </a:solidFill>
                        <a:latin typeface="Cambria Math" panose="02040503050406030204" pitchFamily="18" charset="0"/>
                      </a:rPr>
                      <m:t>𝑶</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𝟑</m:t>
                            </m:r>
                          </m:sup>
                        </m:sSup>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e>
                    </m:d>
                  </m:oMath>
                </a14:m>
                <a:endParaRPr lang="zh-CN" altLang="en-US" sz="2000" b="1">
                  <a:solidFill>
                    <a:schemeClr val="tx2">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76252" y="3764777"/>
                <a:ext cx="7571759" cy="1924438"/>
              </a:xfrm>
              <a:prstGeom prst="rect">
                <a:avLst/>
              </a:prstGeom>
              <a:blipFill rotWithShape="1">
                <a:blip r:embed="rId4"/>
                <a:stretch>
                  <a:fillRect l="-4" t="-26" r="4" b="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8573872" y="3764777"/>
                <a:ext cx="2938358" cy="1070037"/>
              </a:xfrm>
              <a:prstGeom prst="rect">
                <a:avLst/>
              </a:prstGeom>
              <a:solidFill>
                <a:schemeClr val="accent2">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说</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𝒈</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是函数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的</a:t>
                </a:r>
                <a:r>
                  <a:rPr lang="zh-CN" altLang="en-US" b="1">
                    <a:solidFill>
                      <a:srgbClr val="C00000"/>
                    </a:solidFill>
                  </a:rPr>
                  <a:t>尽可能好</a:t>
                </a:r>
                <a:r>
                  <a:rPr lang="zh-CN" altLang="en-US" b="1">
                    <a:solidFill>
                      <a:schemeClr val="accent2">
                        <a:lumMod val="50000"/>
                      </a:schemeClr>
                    </a:solidFill>
                  </a:rPr>
                  <a:t>的估计，如果不存在函数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𝒉</m:t>
                    </m:r>
                  </m:oMath>
                </a14:m>
                <a:r>
                  <a:rPr lang="zh-CN" altLang="en-US" b="1">
                    <a:solidFill>
                      <a:schemeClr val="accent2">
                        <a:lumMod val="50000"/>
                      </a:schemeClr>
                    </a:solidFill>
                  </a:rPr>
                  <a:t>，使得</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𝒉</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，且</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𝒉</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𝒈</m:t>
                    </m:r>
                    <m:r>
                      <a:rPr lang="en-US" altLang="zh-CN" b="1" i="1" smtClean="0">
                        <a:solidFill>
                          <a:schemeClr val="accent2">
                            <a:lumMod val="50000"/>
                          </a:schemeClr>
                        </a:solidFill>
                        <a:latin typeface="Cambria Math" panose="02040503050406030204" pitchFamily="18" charset="0"/>
                      </a:rPr>
                      <m:t>)</m:t>
                    </m:r>
                  </m:oMath>
                </a14:m>
                <a:endParaRPr lang="zh-CN" altLang="en-US"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8573872" y="3764777"/>
                <a:ext cx="2938358" cy="1070037"/>
              </a:xfrm>
              <a:prstGeom prst="rect">
                <a:avLst/>
              </a:prstGeom>
              <a:blipFill rotWithShape="1">
                <a:blip r:embed="rId5"/>
                <a:stretch>
                  <a:fillRect l="-3" t="-46" r="-1372" b="52"/>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Ω</m:t>
                    </m:r>
                  </m:oMath>
                </a14:m>
                <a:r>
                  <a:rPr lang="zh-CN" altLang="en-US"/>
                  <a:t>记号和大</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Θ</m:t>
                    </m:r>
                  </m:oMath>
                </a14:m>
                <a:r>
                  <a:rPr lang="zh-CN" altLang="en-US"/>
                  <a:t>记号</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749940" y="1255894"/>
                <a:ext cx="8139023"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需要函数增长的</a:t>
                </a:r>
                <a:r>
                  <a:rPr lang="zh-CN" altLang="en-US" sz="2000" b="1">
                    <a:solidFill>
                      <a:srgbClr val="C00000"/>
                    </a:solidFill>
                    <a:latin typeface="+mn-ea"/>
                  </a:rPr>
                  <a:t>下界</a:t>
                </a:r>
                <a:r>
                  <a:rPr lang="zh-CN" altLang="en-US" sz="2000" b="1">
                    <a:solidFill>
                      <a:srgbClr val="002060"/>
                    </a:solidFill>
                    <a:latin typeface="楷体" panose="02010609060101010101" pitchFamily="49" charset="-122"/>
                    <a:ea typeface="楷体" panose="02010609060101010101" pitchFamily="49" charset="-122"/>
                  </a:rPr>
                  <a:t>估计时采用大</a:t>
                </a:r>
                <a14:m>
                  <m:oMath xmlns:m="http://schemas.openxmlformats.org/officeDocument/2006/math">
                    <m:r>
                      <a:rPr lang="en-US" altLang="zh-CN" sz="2000" b="1" i="0" smtClean="0">
                        <a:solidFill>
                          <a:srgbClr val="002060"/>
                        </a:solidFill>
                        <a:latin typeface="Cambria Math" panose="02040503050406030204" pitchFamily="18" charset="0"/>
                      </a:rPr>
                      <m:t>𝛀</m:t>
                    </m:r>
                  </m:oMath>
                </a14:m>
                <a:r>
                  <a:rPr lang="zh-CN" altLang="en-US" sz="2000" b="1">
                    <a:solidFill>
                      <a:srgbClr val="002060"/>
                    </a:solidFill>
                    <a:latin typeface="楷体" panose="02010609060101010101" pitchFamily="49" charset="-122"/>
                    <a:ea typeface="楷体" panose="02010609060101010101" pitchFamily="49" charset="-122"/>
                  </a:rPr>
                  <a:t>记号</a:t>
                </a: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rPr>
                  <a:t>而大</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𝚯</m:t>
                    </m:r>
                  </m:oMath>
                </a14:m>
                <a:r>
                  <a:rPr lang="zh-CN" altLang="en-US" sz="2000" b="1">
                    <a:solidFill>
                      <a:schemeClr val="accent2">
                        <a:lumMod val="50000"/>
                      </a:schemeClr>
                    </a:solidFill>
                  </a:rPr>
                  <a:t>记号通常用于给出与一个函数</a:t>
                </a:r>
                <a:r>
                  <a:rPr lang="zh-CN" altLang="en-US" sz="2000" b="1">
                    <a:solidFill>
                      <a:srgbClr val="C00000"/>
                    </a:solidFill>
                  </a:rPr>
                  <a:t>增长情况相当</a:t>
                </a:r>
                <a:r>
                  <a:rPr lang="zh-CN" altLang="en-US" sz="2000" b="1">
                    <a:solidFill>
                      <a:schemeClr val="accent2">
                        <a:lumMod val="50000"/>
                      </a:schemeClr>
                    </a:solidFill>
                  </a:rPr>
                  <a:t>的简单形式的函数</a:t>
                </a:r>
              </a:p>
            </p:txBody>
          </p:sp>
        </mc:Choice>
        <mc:Fallback xmlns="">
          <p:sp>
            <p:nvSpPr>
              <p:cNvPr id="2" name="文本框 1"/>
              <p:cNvSpPr txBox="1">
                <a:spLocks noRot="1" noChangeAspect="1" noMove="1" noResize="1" noEditPoints="1" noAdjustHandles="1" noChangeArrowheads="1" noChangeShapeType="1" noTextEdit="1"/>
              </p:cNvSpPr>
              <p:nvPr/>
            </p:nvSpPr>
            <p:spPr>
              <a:xfrm>
                <a:off x="749940" y="1255894"/>
                <a:ext cx="8139023" cy="861774"/>
              </a:xfrm>
              <a:prstGeom prst="rect">
                <a:avLst/>
              </a:prstGeom>
              <a:blipFill rotWithShape="1">
                <a:blip r:embed="rId3"/>
                <a:stretch>
                  <a:fillRect t="-58" r="3" b="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749940" y="2301416"/>
                <a:ext cx="8861128" cy="3854388"/>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𝒈</m:t>
                    </m:r>
                  </m:oMath>
                </a14:m>
                <a:r>
                  <a:rPr lang="zh-CN" altLang="en-US" sz="2000" b="1">
                    <a:solidFill>
                      <a:srgbClr val="002060"/>
                    </a:solidFill>
                    <a:latin typeface="楷体" panose="02010609060101010101" pitchFamily="49" charset="-122"/>
                    <a:ea typeface="楷体" panose="02010609060101010101" pitchFamily="49" charset="-122"/>
                  </a:rPr>
                  <a:t>是两个数集上的函数</a:t>
                </a:r>
              </a:p>
              <a:p>
                <a:pPr marL="342900"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oMath>
                </a14:m>
                <a:r>
                  <a:rPr lang="zh-CN" altLang="en-US" sz="2000" b="1">
                    <a:solidFill>
                      <a:schemeClr val="accent6">
                        <a:lumMod val="50000"/>
                      </a:schemeClr>
                    </a:solidFill>
                  </a:rPr>
                  <a:t>是</a:t>
                </a:r>
                <a14:m>
                  <m:oMath xmlns:m="http://schemas.openxmlformats.org/officeDocument/2006/math">
                    <m:r>
                      <a:rPr lang="en-US" altLang="zh-CN" sz="2000" b="1" i="0" smtClean="0">
                        <a:solidFill>
                          <a:schemeClr val="accent6">
                            <a:lumMod val="50000"/>
                          </a:schemeClr>
                        </a:solidFill>
                        <a:latin typeface="Cambria Math" panose="02040503050406030204" pitchFamily="18" charset="0"/>
                      </a:rPr>
                      <m:t>𝛀</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𝒈</m:t>
                        </m:r>
                      </m:e>
                    </m:d>
                  </m:oMath>
                </a14:m>
                <a:r>
                  <a:rPr lang="zh-CN" altLang="en-US" sz="2000" b="1">
                    <a:solidFill>
                      <a:schemeClr val="accent6">
                        <a:lumMod val="50000"/>
                      </a:schemeClr>
                    </a:solidFill>
                  </a:rPr>
                  <a:t>，记为</a:t>
                </a:r>
                <a14:m>
                  <m:oMath xmlns:m="http://schemas.openxmlformats.org/officeDocument/2006/math">
                    <m:r>
                      <a:rPr lang="en-US" altLang="zh-CN" sz="2000" b="1" i="1" smtClean="0">
                        <a:solidFill>
                          <a:srgbClr val="C00000"/>
                        </a:solidFill>
                        <a:latin typeface="Cambria Math" panose="02040503050406030204" pitchFamily="18" charset="0"/>
                      </a:rPr>
                      <m:t>𝒇</m:t>
                    </m:r>
                    <m:r>
                      <a:rPr lang="en-US" altLang="zh-CN" sz="2000" b="1" i="1" smtClean="0">
                        <a:solidFill>
                          <a:srgbClr val="C00000"/>
                        </a:solidFill>
                        <a:latin typeface="Cambria Math" panose="02040503050406030204" pitchFamily="18" charset="0"/>
                      </a:rPr>
                      <m:t>∈</m:t>
                    </m:r>
                    <m:r>
                      <a:rPr lang="en-US" altLang="zh-CN" sz="2000" b="1" i="0" smtClean="0">
                        <a:solidFill>
                          <a:srgbClr val="C00000"/>
                        </a:solidFill>
                        <a:latin typeface="Cambria Math" panose="02040503050406030204" pitchFamily="18" charset="0"/>
                      </a:rPr>
                      <m:t>𝛀</m:t>
                    </m:r>
                    <m:d>
                      <m:dPr>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𝒈</m:t>
                        </m:r>
                      </m:e>
                    </m:d>
                  </m:oMath>
                </a14:m>
                <a:r>
                  <a:rPr lang="zh-CN" altLang="en-US" sz="2000" b="1">
                    <a:solidFill>
                      <a:schemeClr val="accent6">
                        <a:lumMod val="50000"/>
                      </a:schemeClr>
                    </a:solidFill>
                  </a:rPr>
                  <a:t>，如果存在常数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𝑪</m:t>
                    </m:r>
                    <m:r>
                      <a:rPr lang="en-US" altLang="zh-CN" sz="2000" b="1" i="1" smtClean="0">
                        <a:solidFill>
                          <a:schemeClr val="accent6">
                            <a:lumMod val="50000"/>
                          </a:schemeClr>
                        </a:solidFill>
                        <a:latin typeface="Cambria Math" panose="02040503050406030204" pitchFamily="18" charset="0"/>
                      </a:rPr>
                      <m:t>&gt;</m:t>
                    </m:r>
                    <m:r>
                      <a:rPr lang="en-US" altLang="zh-CN" sz="2000" b="1" i="1" smtClean="0">
                        <a:solidFill>
                          <a:schemeClr val="accent6">
                            <a:lumMod val="50000"/>
                          </a:schemeClr>
                        </a:solidFill>
                        <a:latin typeface="Cambria Math" panose="02040503050406030204" pitchFamily="18" charset="0"/>
                      </a:rPr>
                      <m:t>𝟎</m:t>
                    </m:r>
                  </m:oMath>
                </a14:m>
                <a:r>
                  <a:rPr lang="zh-CN" altLang="en-US" sz="2000" b="1">
                    <a:solidFill>
                      <a:schemeClr val="accent6">
                        <a:lumMod val="50000"/>
                      </a:schemeClr>
                    </a:solidFill>
                  </a:rPr>
                  <a:t>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，使得当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&gt;</m:t>
                    </m:r>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时总有</a:t>
                </a:r>
                <a14:m>
                  <m:oMath xmlns:m="http://schemas.openxmlformats.org/officeDocument/2006/math">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𝒇</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𝒙</m:t>
                            </m:r>
                          </m:e>
                        </m:d>
                      </m:e>
                    </m:d>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𝑪</m:t>
                    </m:r>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𝒈</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𝒙</m:t>
                            </m:r>
                          </m:e>
                        </m:d>
                      </m:e>
                    </m:d>
                  </m:oMath>
                </a14:m>
                <a:r>
                  <a:rPr lang="zh-CN" altLang="en-US" sz="2000" b="1">
                    <a:solidFill>
                      <a:schemeClr val="accent6">
                        <a:lumMod val="50000"/>
                      </a:schemeClr>
                    </a:solidFill>
                  </a:rPr>
                  <a:t>，即</a:t>
                </a:r>
                <a:endParaRPr lang="en-US" altLang="zh-CN" sz="2000" b="1">
                  <a:solidFill>
                    <a:schemeClr val="accent6">
                      <a:lumMod val="50000"/>
                    </a:schemeClr>
                  </a:solidFill>
                </a:endParaRPr>
              </a:p>
              <a:p>
                <a:pPr algn="ct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𝒇</m:t>
                    </m:r>
                    <m:r>
                      <a:rPr lang="en-US" altLang="zh-CN" sz="2000" b="1" i="1" smtClean="0">
                        <a:solidFill>
                          <a:schemeClr val="accent2">
                            <a:lumMod val="50000"/>
                          </a:schemeClr>
                        </a:solidFill>
                        <a:latin typeface="Cambria Math" panose="02040503050406030204" pitchFamily="18" charset="0"/>
                      </a:rPr>
                      <m:t>∈</m:t>
                    </m:r>
                    <m:r>
                      <a:rPr lang="en-US" altLang="zh-CN" sz="2000" b="1" i="0" smtClean="0">
                        <a:solidFill>
                          <a:schemeClr val="accent2">
                            <a:lumMod val="50000"/>
                          </a:schemeClr>
                        </a:solidFill>
                        <a:latin typeface="Cambria Math" panose="02040503050406030204" pitchFamily="18" charset="0"/>
                      </a:rPr>
                      <m:t>𝛀</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𝒈</m:t>
                        </m:r>
                      </m:e>
                    </m:d>
                  </m:oMath>
                </a14:m>
                <a:r>
                  <a:rPr lang="zh-CN" altLang="en-US" sz="2000" b="1">
                    <a:solidFill>
                      <a:schemeClr val="accent2">
                        <a:lumMod val="50000"/>
                      </a:schemeClr>
                    </a:solidFill>
                    <a:latin typeface="楷体" panose="02010609060101010101" pitchFamily="49" charset="-122"/>
                    <a:ea typeface="楷体" panose="02010609060101010101" pitchFamily="49" charset="-122"/>
                  </a:rPr>
                  <a:t>当且仅当</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&gt;</m:t>
                    </m:r>
                    <m:r>
                      <a:rPr lang="en-US" altLang="zh-CN" sz="2000" b="1" i="1" smtClean="0">
                        <a:solidFill>
                          <a:schemeClr val="accent2">
                            <a:lumMod val="50000"/>
                          </a:schemeClr>
                        </a:solidFill>
                        <a:latin typeface="Cambria Math" panose="02040503050406030204" pitchFamily="18" charset="0"/>
                      </a:rPr>
                      <m:t>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&gt; </m:t>
                            </m:r>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𝒇</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𝒈</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e>
                            </m:d>
                          </m:e>
                        </m:d>
                      </m:e>
                    </m:d>
                  </m:oMath>
                </a14:m>
                <a:endParaRPr lang="en-US" altLang="zh-CN" sz="2000" b="1">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oMath>
                </a14:m>
                <a:r>
                  <a:rPr lang="zh-CN" altLang="en-US" sz="2000" b="1">
                    <a:solidFill>
                      <a:schemeClr val="accent6">
                        <a:lumMod val="50000"/>
                      </a:schemeClr>
                    </a:solidFill>
                  </a:rPr>
                  <a:t>是</a:t>
                </a:r>
                <a14:m>
                  <m:oMath xmlns:m="http://schemas.openxmlformats.org/officeDocument/2006/math">
                    <m:r>
                      <a:rPr lang="en-US" altLang="zh-CN" sz="2000" b="1" i="0" smtClean="0">
                        <a:solidFill>
                          <a:schemeClr val="accent6">
                            <a:lumMod val="50000"/>
                          </a:schemeClr>
                        </a:solidFill>
                        <a:latin typeface="Cambria Math" panose="02040503050406030204" pitchFamily="18" charset="0"/>
                      </a:rPr>
                      <m:t>𝚯</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𝒈</m:t>
                        </m:r>
                      </m:e>
                    </m:d>
                  </m:oMath>
                </a14:m>
                <a:r>
                  <a:rPr lang="zh-CN" altLang="en-US" sz="2000" b="1">
                    <a:solidFill>
                      <a:schemeClr val="accent6">
                        <a:lumMod val="50000"/>
                      </a:schemeClr>
                    </a:solidFill>
                  </a:rPr>
                  <a:t>，记为</a:t>
                </a:r>
                <a14:m>
                  <m:oMath xmlns:m="http://schemas.openxmlformats.org/officeDocument/2006/math">
                    <m:r>
                      <a:rPr lang="en-US" altLang="zh-CN" sz="2000" b="1" i="1" smtClean="0">
                        <a:solidFill>
                          <a:srgbClr val="C00000"/>
                        </a:solidFill>
                        <a:latin typeface="Cambria Math" panose="02040503050406030204" pitchFamily="18" charset="0"/>
                      </a:rPr>
                      <m:t>𝒇</m:t>
                    </m:r>
                    <m:r>
                      <a:rPr lang="en-US" altLang="zh-CN" sz="2000" b="1" i="1" smtClean="0">
                        <a:solidFill>
                          <a:srgbClr val="C00000"/>
                        </a:solidFill>
                        <a:latin typeface="Cambria Math" panose="02040503050406030204" pitchFamily="18" charset="0"/>
                      </a:rPr>
                      <m:t>∈</m:t>
                    </m:r>
                    <m:r>
                      <a:rPr lang="en-US" altLang="zh-CN" sz="2000" b="1" i="0" smtClean="0">
                        <a:solidFill>
                          <a:srgbClr val="C00000"/>
                        </a:solidFill>
                        <a:latin typeface="Cambria Math" panose="02040503050406030204" pitchFamily="18" charset="0"/>
                      </a:rPr>
                      <m:t>𝚯</m:t>
                    </m:r>
                    <m:d>
                      <m:dPr>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𝒈</m:t>
                        </m:r>
                      </m:e>
                    </m:d>
                  </m:oMath>
                </a14:m>
                <a:r>
                  <a:rPr lang="zh-CN" altLang="en-US" sz="2000" b="1">
                    <a:solidFill>
                      <a:schemeClr val="accent6">
                        <a:lumMod val="50000"/>
                      </a:schemeClr>
                    </a:solidFill>
                  </a:rPr>
                  <a:t>，如果</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𝑶</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𝒈</m:t>
                        </m:r>
                      </m:e>
                    </m:d>
                  </m:oMath>
                </a14:m>
                <a:r>
                  <a:rPr lang="zh-CN" altLang="en-US" sz="2000" b="1">
                    <a:solidFill>
                      <a:schemeClr val="accent6">
                        <a:lumMod val="50000"/>
                      </a:schemeClr>
                    </a:solidFill>
                  </a:rPr>
                  <a:t>而且</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m:t>
                    </m:r>
                    <m:r>
                      <a:rPr lang="en-US" altLang="zh-CN" sz="2000" b="1" i="0" smtClean="0">
                        <a:solidFill>
                          <a:schemeClr val="accent6">
                            <a:lumMod val="50000"/>
                          </a:schemeClr>
                        </a:solidFill>
                        <a:latin typeface="Cambria Math" panose="02040503050406030204" pitchFamily="18" charset="0"/>
                      </a:rPr>
                      <m:t>𝛀</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𝒈</m:t>
                        </m:r>
                      </m:e>
                    </m:d>
                  </m:oMath>
                </a14:m>
                <a:r>
                  <a:rPr lang="zh-CN" altLang="en-US" sz="2000" b="1">
                    <a:solidFill>
                      <a:schemeClr val="accent6">
                        <a:lumMod val="50000"/>
                      </a:schemeClr>
                    </a:solidFill>
                  </a:rPr>
                  <a:t>，即</a:t>
                </a:r>
                <a:endParaRPr lang="en-US" altLang="zh-CN" sz="2000" b="1">
                  <a:solidFill>
                    <a:schemeClr val="accent6">
                      <a:lumMod val="50000"/>
                    </a:schemeClr>
                  </a:solidFill>
                </a:endParaRPr>
              </a:p>
              <a:p>
                <a:pPr algn="ctr">
                  <a:spcBef>
                    <a:spcPts val="300"/>
                  </a:spcBef>
                  <a:spcAft>
                    <a:spcPts val="3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𝒇</m:t>
                    </m:r>
                    <m:r>
                      <a:rPr lang="en-US" altLang="zh-CN" sz="2000" b="1" i="1" smtClean="0">
                        <a:solidFill>
                          <a:schemeClr val="accent2">
                            <a:lumMod val="50000"/>
                          </a:schemeClr>
                        </a:solidFill>
                        <a:latin typeface="Cambria Math" panose="02040503050406030204" pitchFamily="18" charset="0"/>
                      </a:rPr>
                      <m:t>∈</m:t>
                    </m:r>
                    <m:r>
                      <a:rPr lang="en-US" altLang="zh-CN" sz="2000" b="1" i="0" smtClean="0">
                        <a:solidFill>
                          <a:schemeClr val="accent2">
                            <a:lumMod val="50000"/>
                          </a:schemeClr>
                        </a:solidFill>
                        <a:latin typeface="Cambria Math" panose="02040503050406030204" pitchFamily="18" charset="0"/>
                      </a:rPr>
                      <m:t>𝚯</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𝒈</m:t>
                        </m:r>
                      </m:e>
                    </m:d>
                  </m:oMath>
                </a14:m>
                <a:r>
                  <a:rPr lang="zh-CN" altLang="en-US" sz="2000" b="1">
                    <a:solidFill>
                      <a:schemeClr val="accent2">
                        <a:lumMod val="50000"/>
                      </a:schemeClr>
                    </a:solidFill>
                    <a:latin typeface="楷体" panose="02010609060101010101" pitchFamily="49" charset="-122"/>
                    <a:ea typeface="楷体" panose="02010609060101010101" pitchFamily="49" charset="-122"/>
                  </a:rPr>
                  <a:t> 当且仅当</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algn="ctr">
                  <a:spcBef>
                    <a:spcPts val="300"/>
                  </a:spcBef>
                  <a:spcAft>
                    <a:spcPts val="3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𝑪</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&gt;</m:t>
                      </m:r>
                      <m:r>
                        <a:rPr lang="en-US" altLang="zh-CN" sz="2000" b="1" i="1" smtClean="0">
                          <a:solidFill>
                            <a:schemeClr val="accent2">
                              <a:lumMod val="50000"/>
                            </a:schemeClr>
                          </a:solidFill>
                          <a:latin typeface="Cambria Math" panose="02040503050406030204" pitchFamily="18" charset="0"/>
                        </a:rPr>
                        <m:t>𝟎</m:t>
                      </m:r>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𝒌</m:t>
                          </m:r>
                        </m:e>
                        <m:sub>
                          <m:r>
                            <a:rPr lang="en-US" altLang="zh-CN" sz="2000" b="1" i="1" smtClean="0">
                              <a:solidFill>
                                <a:schemeClr val="accent2">
                                  <a:lumMod val="50000"/>
                                </a:schemeClr>
                              </a:solidFill>
                              <a:latin typeface="Cambria Math" panose="02040503050406030204" pitchFamily="18" charset="0"/>
                            </a:rPr>
                            <m:t>𝟏</m:t>
                          </m:r>
                        </m:sub>
                      </m:sSub>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&gt;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𝒌</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𝒇</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e>
                              </m:d>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𝑪</m:t>
                                  </m:r>
                                </m:e>
                                <m:sub>
                                  <m:r>
                                    <a:rPr lang="en-US" altLang="zh-CN" sz="2000" b="1" i="1" smtClean="0">
                                      <a:solidFill>
                                        <a:schemeClr val="accent2">
                                          <a:lumMod val="50000"/>
                                        </a:schemeClr>
                                      </a:solidFill>
                                      <a:latin typeface="Cambria Math" panose="02040503050406030204" pitchFamily="18" charset="0"/>
                                    </a:rPr>
                                    <m:t>𝟏</m:t>
                                  </m:r>
                                </m:sub>
                              </m:sSub>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𝒈</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e>
                              </m:d>
                            </m:e>
                          </m:d>
                        </m:e>
                      </m:d>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i="1">
                  <a:solidFill>
                    <a:schemeClr val="accent2">
                      <a:lumMod val="50000"/>
                    </a:schemeClr>
                  </a:solidFill>
                  <a:latin typeface="楷体" panose="02010609060101010101" pitchFamily="49" charset="-122"/>
                  <a:ea typeface="楷体" panose="02010609060101010101" pitchFamily="49" charset="-122"/>
                </a:endParaRPr>
              </a:p>
              <a:p>
                <a:pPr algn="ctr">
                  <a:spcBef>
                    <a:spcPts val="300"/>
                  </a:spcBef>
                  <a:spcAft>
                    <a:spcPts val="3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𝑪</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&gt;</m:t>
                      </m:r>
                      <m:r>
                        <a:rPr lang="en-US" altLang="zh-CN" sz="2000" b="1" i="1" smtClean="0">
                          <a:solidFill>
                            <a:schemeClr val="accent2">
                              <a:lumMod val="50000"/>
                            </a:schemeClr>
                          </a:solidFill>
                          <a:latin typeface="Cambria Math" panose="02040503050406030204" pitchFamily="18" charset="0"/>
                        </a:rPr>
                        <m:t>𝟎</m:t>
                      </m:r>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𝒌</m:t>
                          </m:r>
                        </m:e>
                        <m:sub>
                          <m:r>
                            <a:rPr lang="en-US" altLang="zh-CN" sz="2000" b="1" i="1" smtClean="0">
                              <a:solidFill>
                                <a:schemeClr val="accent2">
                                  <a:lumMod val="50000"/>
                                </a:schemeClr>
                              </a:solidFill>
                              <a:latin typeface="Cambria Math" panose="02040503050406030204" pitchFamily="18" charset="0"/>
                            </a:rPr>
                            <m:t>𝟐</m:t>
                          </m:r>
                        </m:sub>
                      </m:sSub>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&gt;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𝒌</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𝒇</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e>
                              </m:d>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𝑪</m:t>
                                  </m:r>
                                </m:e>
                                <m:sub>
                                  <m:r>
                                    <a:rPr lang="en-US" altLang="zh-CN" sz="2000" b="1" i="1" smtClean="0">
                                      <a:solidFill>
                                        <a:schemeClr val="accent2">
                                          <a:lumMod val="50000"/>
                                        </a:schemeClr>
                                      </a:solidFill>
                                      <a:latin typeface="Cambria Math" panose="02040503050406030204" pitchFamily="18" charset="0"/>
                                    </a:rPr>
                                    <m:t>𝟐</m:t>
                                  </m:r>
                                </m:sub>
                              </m:sSub>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𝒈</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e>
                              </m:d>
                            </m:e>
                          </m:d>
                        </m:e>
                      </m:d>
                    </m:oMath>
                  </m:oMathPara>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algn="ctr">
                  <a:spcBef>
                    <a:spcPts val="300"/>
                  </a:spcBef>
                  <a:spcAft>
                    <a:spcPts val="300"/>
                  </a:spcAft>
                </a:pPr>
                <a:r>
                  <a:rPr lang="zh-CN" altLang="en-US" sz="2000" b="1">
                    <a:solidFill>
                      <a:schemeClr val="accent2">
                        <a:lumMod val="50000"/>
                      </a:schemeClr>
                    </a:solidFill>
                    <a:latin typeface="楷体" panose="02010609060101010101" pitchFamily="49" charset="-122"/>
                    <a:ea typeface="楷体" panose="02010609060101010101" pitchFamily="49" charset="-122"/>
                  </a:rPr>
                  <a:t>当且仅当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𝑪</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&gt;</m:t>
                    </m:r>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𝑪</m:t>
                        </m:r>
                      </m:e>
                      <m:sub>
                        <m:r>
                          <a:rPr lang="en-US" altLang="zh-CN" sz="2000" b="1" i="1">
                            <a:solidFill>
                              <a:schemeClr val="accent2">
                                <a:lumMod val="50000"/>
                              </a:schemeClr>
                            </a:solidFill>
                            <a:latin typeface="Cambria Math" panose="02040503050406030204" pitchFamily="18" charset="0"/>
                          </a:rPr>
                          <m:t>𝟐</m:t>
                        </m:r>
                      </m:sub>
                    </m:sSub>
                    <m:r>
                      <a:rPr lang="en-US" altLang="zh-CN" sz="2000" b="1" i="1">
                        <a:solidFill>
                          <a:schemeClr val="accent2">
                            <a:lumMod val="50000"/>
                          </a:schemeClr>
                        </a:solidFill>
                        <a:latin typeface="Cambria Math" panose="02040503050406030204" pitchFamily="18" charset="0"/>
                      </a:rPr>
                      <m:t>&gt;</m:t>
                    </m:r>
                    <m:r>
                      <a:rPr lang="en-US" altLang="zh-CN" sz="2000" b="1" i="1">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𝒌</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 &gt; </m:t>
                            </m:r>
                            <m:r>
                              <a:rPr lang="en-US" altLang="zh-CN" sz="2000" b="1" i="1">
                                <a:solidFill>
                                  <a:schemeClr val="accent2">
                                    <a:lumMod val="50000"/>
                                  </a:schemeClr>
                                </a:solidFill>
                                <a:latin typeface="Cambria Math" panose="02040503050406030204" pitchFamily="18" charset="0"/>
                              </a:rPr>
                              <m:t>𝒌</m:t>
                            </m:r>
                            <m:r>
                              <a:rPr lang="en-US" altLang="zh-CN" sz="2000" b="1" i="1">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𝑪</m:t>
                                </m:r>
                              </m:e>
                              <m:sub>
                                <m:r>
                                  <a:rPr lang="en-US" altLang="zh-CN" sz="2000" b="1" i="1" smtClean="0">
                                    <a:solidFill>
                                      <a:schemeClr val="accent2">
                                        <a:lumMod val="50000"/>
                                      </a:schemeClr>
                                    </a:solidFill>
                                    <a:latin typeface="Cambria Math" panose="02040503050406030204" pitchFamily="18" charset="0"/>
                                  </a:rPr>
                                  <m:t>𝟐</m:t>
                                </m:r>
                              </m:sub>
                            </m:sSub>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𝒈</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𝒇</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r>
                              <a:rPr lang="en-US" altLang="zh-CN" sz="2000" b="1" i="1">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𝑪</m:t>
                                </m:r>
                              </m:e>
                              <m:sub>
                                <m:r>
                                  <a:rPr lang="en-US" altLang="zh-CN" sz="2000" b="1" i="1" smtClean="0">
                                    <a:solidFill>
                                      <a:schemeClr val="accent2">
                                        <a:lumMod val="50000"/>
                                      </a:schemeClr>
                                    </a:solidFill>
                                    <a:latin typeface="Cambria Math" panose="02040503050406030204" pitchFamily="18" charset="0"/>
                                  </a:rPr>
                                  <m:t>𝟏</m:t>
                                </m:r>
                              </m:sub>
                            </m:sSub>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𝒈</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e>
                        </m:d>
                      </m:e>
                    </m:d>
                  </m:oMath>
                </a14:m>
                <a:endParaRPr lang="en-US" altLang="zh-CN" sz="2000" b="1">
                  <a:latin typeface="楷体" panose="02010609060101010101" pitchFamily="49" charset="-122"/>
                  <a:ea typeface="楷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749940" y="2301416"/>
                <a:ext cx="8861128" cy="3854388"/>
              </a:xfrm>
              <a:prstGeom prst="rect">
                <a:avLst/>
              </a:prstGeom>
              <a:blipFill rotWithShape="1">
                <a:blip r:embed="rId4"/>
                <a:stretch>
                  <a:fillRect t="-5" r="4" b="3"/>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大</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Ω</m:t>
                    </m:r>
                  </m:oMath>
                </a14:m>
                <a:r>
                  <a:rPr lang="zh-CN" altLang="en-US"/>
                  <a:t>记号和大</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Θ</m:t>
                    </m:r>
                  </m:oMath>
                </a14:m>
                <a:r>
                  <a:rPr lang="zh-CN" altLang="en-US"/>
                  <a:t>记号的运用</a:t>
                </a:r>
              </a:p>
            </p:txBody>
          </p:sp>
        </mc:Choice>
        <mc:Fallback xmlns="">
          <p:sp>
            <p:nvSpPr>
              <p:cNvPr id="17" name="矩形 16"/>
              <p:cNvSpPr>
                <a:spLocks noRot="1" noChangeAspect="1" noMove="1" noResize="1" noEditPoints="1" noAdjustHandles="1" noChangeArrowheads="1" noChangeShapeType="1" noTextEdit="1"/>
              </p:cNvSpPr>
              <p:nvPr/>
            </p:nvSpPr>
            <p:spPr>
              <a:xfrm>
                <a:off x="-2" y="322342"/>
                <a:ext cx="12192002" cy="459280"/>
              </a:xfrm>
              <a:prstGeom prst="rect">
                <a:avLst/>
              </a:prstGeom>
              <a:blipFill rotWithShape="1">
                <a:blip r:embed="rId2"/>
                <a:stretch>
                  <a:fillRect l="-52" t="-1469" r="-52" b="-125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516503" y="1662368"/>
                <a:ext cx="9158992" cy="98488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多项式函数</a:t>
                </a:r>
                <a14:m>
                  <m:oMath xmlns:m="http://schemas.openxmlformats.org/officeDocument/2006/math">
                    <m:r>
                      <a:rPr lang="en-US" altLang="zh-CN" sz="2400" b="1" i="1" smtClean="0">
                        <a:solidFill>
                          <a:srgbClr val="002060"/>
                        </a:solidFill>
                        <a:latin typeface="Cambria Math" panose="02040503050406030204" pitchFamily="18" charset="0"/>
                      </a:rPr>
                      <m:t>𝒇</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r>
                      <a:rPr lang="en-US" altLang="zh-CN" sz="2400" b="1" i="1" smtClean="0">
                        <a:solidFill>
                          <a:srgbClr val="002060"/>
                        </a:solidFill>
                        <a:latin typeface="Cambria Math" panose="02040503050406030204" pitchFamily="18" charset="0"/>
                      </a:rPr>
                      <m:t>= </m:t>
                    </m:r>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sub>
                    </m:sSub>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𝒙</m:t>
                        </m:r>
                      </m:e>
                      <m:sup>
                        <m:r>
                          <a:rPr lang="en-US" altLang="zh-CN" sz="2400" b="1" i="1">
                            <a:solidFill>
                              <a:srgbClr val="002060"/>
                            </a:solidFill>
                            <a:latin typeface="Cambria Math" panose="02040503050406030204" pitchFamily="18" charset="0"/>
                          </a:rPr>
                          <m:t>𝒏</m:t>
                        </m:r>
                      </m:sup>
                    </m:sSup>
                    <m:r>
                      <a:rPr lang="en-US" altLang="zh-CN" sz="2400" b="1" i="1">
                        <a:solidFill>
                          <a:srgbClr val="002060"/>
                        </a:solidFill>
                        <a:latin typeface="Cambria Math" panose="02040503050406030204" pitchFamily="18" charset="0"/>
                      </a:rPr>
                      <m:t>+ </m:t>
                    </m:r>
                    <m:sSub>
                      <m:sSubPr>
                        <m:ctrlPr>
                          <a:rPr lang="en-US" altLang="zh-CN" sz="2400" b="1" i="1" smtClean="0">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b>
                    </m:sSub>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𝒙</m:t>
                        </m:r>
                      </m:e>
                      <m:sup>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p>
                    </m:sSup>
                    <m:r>
                      <a:rPr lang="en-US" altLang="zh-CN" sz="2400" b="1" i="1">
                        <a:solidFill>
                          <a:srgbClr val="002060"/>
                        </a:solidFill>
                        <a:latin typeface="Cambria Math" panose="02040503050406030204" pitchFamily="18" charset="0"/>
                      </a:rPr>
                      <m:t>+ ⋯+ </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𝟏</m:t>
                        </m:r>
                      </m:sub>
                    </m:sSub>
                    <m:r>
                      <a:rPr lang="en-US" altLang="zh-CN" sz="2400" b="1" i="1" smtClean="0">
                        <a:solidFill>
                          <a:srgbClr val="002060"/>
                        </a:solidFill>
                        <a:latin typeface="Cambria Math" panose="02040503050406030204" pitchFamily="18" charset="0"/>
                      </a:rPr>
                      <m:t>𝒙</m:t>
                    </m:r>
                    <m:r>
                      <a:rPr lang="en-US" altLang="zh-CN" sz="2400" b="1" i="1" smtClean="0">
                        <a:solidFill>
                          <a:srgbClr val="002060"/>
                        </a:solidFill>
                        <a:latin typeface="Cambria Math" panose="02040503050406030204" pitchFamily="18" charset="0"/>
                      </a:rPr>
                      <m:t> + </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𝟎</m:t>
                        </m:r>
                      </m:sub>
                    </m:sSub>
                  </m:oMath>
                </a14:m>
                <a:r>
                  <a:rPr lang="zh-CN" altLang="en-US" sz="2400" b="1" dirty="0">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i="0" smtClean="0">
                        <a:solidFill>
                          <a:srgbClr val="C00000"/>
                        </a:solidFill>
                        <a:latin typeface="Cambria Math" panose="02040503050406030204" pitchFamily="18" charset="0"/>
                      </a:rPr>
                      <m:t>𝛀</m:t>
                    </m:r>
                    <m:d>
                      <m:dPr>
                        <m:ctrlPr>
                          <a:rPr lang="en-US" altLang="zh-CN" sz="2400" b="1" i="1" smtClean="0">
                            <a:solidFill>
                              <a:srgbClr val="C00000"/>
                            </a:solidFill>
                            <a:latin typeface="Cambria Math" panose="02040503050406030204" pitchFamily="18" charset="0"/>
                          </a:rPr>
                        </m:ctrlPr>
                      </m:dPr>
                      <m:e>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𝒙</m:t>
                            </m:r>
                          </m:e>
                          <m:sup>
                            <m:r>
                              <a:rPr lang="en-US" altLang="zh-CN" sz="2400" b="1" i="1" smtClean="0">
                                <a:solidFill>
                                  <a:srgbClr val="C00000"/>
                                </a:solidFill>
                                <a:latin typeface="Cambria Math" panose="02040503050406030204" pitchFamily="18" charset="0"/>
                              </a:rPr>
                              <m:t>𝒏</m:t>
                            </m:r>
                          </m:sup>
                        </m:sSup>
                      </m:e>
                    </m:d>
                  </m:oMath>
                </a14:m>
                <a:endParaRPr lang="en-US" altLang="zh-CN" sz="2400" b="1" dirty="0">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dirty="0">
                    <a:solidFill>
                      <a:schemeClr val="accent6">
                        <a:lumMod val="50000"/>
                      </a:schemeClr>
                    </a:solidFill>
                  </a:rPr>
                  <a:t>从而是</a:t>
                </a:r>
                <a14:m>
                  <m:oMath xmlns:m="http://schemas.openxmlformats.org/officeDocument/2006/math">
                    <m:r>
                      <a:rPr lang="en-US" altLang="zh-CN" sz="2400" b="1" i="0" smtClean="0">
                        <a:solidFill>
                          <a:srgbClr val="C00000"/>
                        </a:solidFill>
                        <a:latin typeface="Cambria Math" panose="02040503050406030204" pitchFamily="18" charset="0"/>
                      </a:rPr>
                      <m:t>𝚯</m:t>
                    </m:r>
                    <m:d>
                      <m:dPr>
                        <m:ctrlPr>
                          <a:rPr lang="en-US" altLang="zh-CN" sz="2400" b="1" i="1" smtClean="0">
                            <a:solidFill>
                              <a:srgbClr val="C00000"/>
                            </a:solidFill>
                            <a:latin typeface="Cambria Math" panose="02040503050406030204" pitchFamily="18" charset="0"/>
                          </a:rPr>
                        </m:ctrlPr>
                      </m:dPr>
                      <m:e>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𝒙</m:t>
                            </m:r>
                          </m:e>
                          <m:sup>
                            <m:r>
                              <a:rPr lang="en-US" altLang="zh-CN" sz="2400" b="1" i="1" smtClean="0">
                                <a:solidFill>
                                  <a:srgbClr val="C00000"/>
                                </a:solidFill>
                                <a:latin typeface="Cambria Math" panose="02040503050406030204" pitchFamily="18" charset="0"/>
                              </a:rPr>
                              <m:t>𝒏</m:t>
                            </m:r>
                          </m:sup>
                        </m:sSup>
                      </m:e>
                    </m:d>
                  </m:oMath>
                </a14:m>
                <a:r>
                  <a:rPr lang="zh-CN" altLang="en-US" sz="2400" b="1" dirty="0">
                    <a:solidFill>
                      <a:schemeClr val="accent6">
                        <a:lumMod val="50000"/>
                      </a:schemeClr>
                    </a:solidFill>
                  </a:rPr>
                  <a:t>，这里</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𝒂</m:t>
                        </m:r>
                      </m:e>
                      <m:sub>
                        <m:r>
                          <a:rPr lang="en-US" altLang="zh-CN" sz="2400" b="1" i="1" smtClean="0">
                            <a:solidFill>
                              <a:schemeClr val="accent6">
                                <a:lumMod val="50000"/>
                              </a:schemeClr>
                            </a:solidFill>
                            <a:latin typeface="Cambria Math" panose="02040503050406030204" pitchFamily="18" charset="0"/>
                          </a:rPr>
                          <m:t>𝒏</m:t>
                        </m:r>
                      </m:sub>
                    </m:sSub>
                    <m:r>
                      <a:rPr lang="en-US" altLang="zh-CN" sz="2400" b="1" i="1" smtClean="0">
                        <a:solidFill>
                          <a:schemeClr val="accent6">
                            <a:lumMod val="50000"/>
                          </a:schemeClr>
                        </a:solidFill>
                        <a:latin typeface="Cambria Math" panose="02040503050406030204" pitchFamily="18" charset="0"/>
                      </a:rPr>
                      <m:t>, ⋯, </m:t>
                    </m:r>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𝒂</m:t>
                        </m:r>
                      </m:e>
                      <m:sub>
                        <m:r>
                          <a:rPr lang="en-US" altLang="zh-CN" sz="2400" b="1" i="1" smtClean="0">
                            <a:solidFill>
                              <a:schemeClr val="accent6">
                                <a:lumMod val="50000"/>
                              </a:schemeClr>
                            </a:solidFill>
                            <a:latin typeface="Cambria Math" panose="02040503050406030204" pitchFamily="18" charset="0"/>
                          </a:rPr>
                          <m:t>𝟎</m:t>
                        </m:r>
                      </m:sub>
                    </m:sSub>
                  </m:oMath>
                </a14:m>
                <a:r>
                  <a:rPr lang="zh-CN" altLang="en-US" sz="2400" b="1" dirty="0">
                    <a:solidFill>
                      <a:schemeClr val="accent6">
                        <a:lumMod val="50000"/>
                      </a:schemeClr>
                    </a:solidFill>
                  </a:rPr>
                  <a:t>是实数，且</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𝒂</m:t>
                        </m:r>
                      </m:e>
                      <m:sub>
                        <m:r>
                          <a:rPr lang="en-US" altLang="zh-CN" sz="2400" b="1" i="1" smtClean="0">
                            <a:solidFill>
                              <a:schemeClr val="accent6">
                                <a:lumMod val="50000"/>
                              </a:schemeClr>
                            </a:solidFill>
                            <a:latin typeface="Cambria Math" panose="02040503050406030204" pitchFamily="18" charset="0"/>
                          </a:rPr>
                          <m:t>𝒏</m:t>
                        </m:r>
                      </m:sub>
                    </m:sSub>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𝟎</m:t>
                    </m:r>
                  </m:oMath>
                </a14:m>
                <a:endParaRPr lang="en-US" altLang="zh-CN" sz="2400" b="1" dirty="0">
                  <a:solidFill>
                    <a:schemeClr val="accent6">
                      <a:lumMod val="50000"/>
                    </a:schemeClr>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516503" y="1662368"/>
                <a:ext cx="9158992" cy="984885"/>
              </a:xfrm>
              <a:prstGeom prst="rect">
                <a:avLst/>
              </a:prstGeom>
              <a:blipFill rotWithShape="1">
                <a:blip r:embed="rId3"/>
                <a:stretch>
                  <a:fillRect l="-1" t="-58" r="6"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516503" y="3141248"/>
                <a:ext cx="9158992" cy="984885"/>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𝒇</m:t>
                    </m:r>
                    <m:r>
                      <a:rPr lang="en-US" altLang="zh-CN" sz="2400" b="1">
                        <a:solidFill>
                          <a:srgbClr val="002060"/>
                        </a:solidFill>
                        <a:latin typeface="Cambria Math" panose="02040503050406030204" pitchFamily="18" charset="0"/>
                        <a:ea typeface="楷体" panose="02010609060101010101" pitchFamily="49" charset="-122"/>
                      </a:rPr>
                      <m:t>, </m:t>
                    </m:r>
                    <m:r>
                      <a:rPr lang="en-US" altLang="zh-CN" sz="2400" b="1">
                        <a:solidFill>
                          <a:srgbClr val="002060"/>
                        </a:solidFill>
                        <a:latin typeface="Cambria Math" panose="02040503050406030204" pitchFamily="18" charset="0"/>
                        <a:ea typeface="楷体" panose="02010609060101010101" pitchFamily="49" charset="-122"/>
                      </a:rPr>
                      <m:t>𝒈</m:t>
                    </m:r>
                  </m:oMath>
                </a14:m>
                <a:r>
                  <a:rPr lang="zh-CN" altLang="en-US" sz="2400" b="1" dirty="0">
                    <a:solidFill>
                      <a:srgbClr val="002060"/>
                    </a:solidFill>
                    <a:latin typeface="楷体" panose="02010609060101010101" pitchFamily="49" charset="-122"/>
                    <a:ea typeface="楷体" panose="02010609060101010101" pitchFamily="49" charset="-122"/>
                  </a:rPr>
                  <a:t>是数集上的函数，且对任意</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𝒙</m:t>
                    </m:r>
                  </m:oMath>
                </a14:m>
                <a:r>
                  <a:rPr lang="zh-CN" altLang="en-US" sz="2400" b="1" dirty="0">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𝒈</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a:solidFill>
                              <a:srgbClr val="002060"/>
                            </a:solidFill>
                            <a:latin typeface="Cambria Math" panose="02040503050406030204" pitchFamily="18" charset="0"/>
                            <a:ea typeface="楷体" panose="02010609060101010101" pitchFamily="49" charset="-122"/>
                          </a:rPr>
                          <m:t>𝒙</m:t>
                        </m:r>
                      </m:e>
                    </m:d>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𝟎</m:t>
                    </m:r>
                  </m:oMath>
                </a14:m>
                <a:r>
                  <a:rPr lang="zh-CN" altLang="en-US" sz="2400" b="1" dirty="0">
                    <a:solidFill>
                      <a:srgbClr val="002060"/>
                    </a:solidFill>
                    <a:latin typeface="楷体" panose="02010609060101010101" pitchFamily="49" charset="-122"/>
                    <a:ea typeface="楷体" panose="02010609060101010101" pitchFamily="49" charset="-122"/>
                  </a:rPr>
                  <a:t>，可定义函数</a:t>
                </a:r>
                <a14:m>
                  <m:oMath xmlns:m="http://schemas.openxmlformats.org/officeDocument/2006/math">
                    <m:r>
                      <a:rPr lang="en-US" altLang="zh-CN" sz="2400" b="1" smtClean="0">
                        <a:solidFill>
                          <a:srgbClr val="C00000"/>
                        </a:solidFill>
                        <a:latin typeface="Cambria Math" panose="02040503050406030204" pitchFamily="18" charset="0"/>
                        <a:ea typeface="楷体" panose="02010609060101010101" pitchFamily="49" charset="-122"/>
                      </a:rPr>
                      <m:t>𝒇</m:t>
                    </m:r>
                    <m:r>
                      <a:rPr lang="en-US" altLang="zh-CN" sz="2400" b="1" smtClean="0">
                        <a:solidFill>
                          <a:srgbClr val="C00000"/>
                        </a:solidFill>
                        <a:latin typeface="Cambria Math" panose="02040503050406030204" pitchFamily="18" charset="0"/>
                        <a:ea typeface="楷体" panose="02010609060101010101" pitchFamily="49" charset="-122"/>
                      </a:rPr>
                      <m:t>/</m:t>
                    </m:r>
                    <m:r>
                      <a:rPr lang="en-US" altLang="zh-CN" sz="2400" b="1">
                        <a:solidFill>
                          <a:srgbClr val="C00000"/>
                        </a:solidFill>
                        <a:latin typeface="Cambria Math" panose="02040503050406030204" pitchFamily="18" charset="0"/>
                        <a:ea typeface="楷体" panose="02010609060101010101" pitchFamily="49" charset="-122"/>
                      </a:rPr>
                      <m:t>𝒈</m:t>
                    </m:r>
                  </m:oMath>
                </a14:m>
                <a:r>
                  <a:rPr lang="zh-CN" altLang="en-US" sz="2400" b="1" dirty="0">
                    <a:solidFill>
                      <a:srgbClr val="002060"/>
                    </a:solidFill>
                    <a:latin typeface="楷体" panose="02010609060101010101" pitchFamily="49" charset="-122"/>
                    <a:ea typeface="楷体" panose="02010609060101010101" pitchFamily="49" charset="-122"/>
                  </a:rPr>
                  <a:t>：</a:t>
                </a:r>
                <a:endParaRPr lang="en-US" altLang="zh-CN" sz="2400" b="1" dirty="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en-US" altLang="zh-CN" sz="2400" b="1" dirty="0">
                    <a:solidFill>
                      <a:schemeClr val="accent2">
                        <a:lumMod val="50000"/>
                      </a:schemeClr>
                    </a:solidFill>
                  </a:rPr>
                  <a:t>∀</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oMath>
                </a14:m>
                <a:r>
                  <a:rPr lang="zh-CN" altLang="en-US" sz="2400" b="1" dirty="0">
                    <a:solidFill>
                      <a:schemeClr val="accent2">
                        <a:lumMod val="50000"/>
                      </a:schemeClr>
                    </a:solidFill>
                  </a:rPr>
                  <a:t>，</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𝒇</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𝒈</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𝒇</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𝒈</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oMath>
                </a14:m>
                <a:endParaRPr lang="en-US" altLang="zh-CN" sz="2400" b="1" dirty="0">
                  <a:solidFill>
                    <a:schemeClr val="accent2">
                      <a:lumMod val="50000"/>
                    </a:schemeClr>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516503" y="3141248"/>
                <a:ext cx="9158992" cy="984885"/>
              </a:xfrm>
              <a:prstGeom prst="rect">
                <a:avLst/>
              </a:prstGeom>
              <a:blipFill rotWithShape="1">
                <a:blip r:embed="rId4"/>
                <a:stretch>
                  <a:fillRect l="-1" t="-55" r="6" b="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2662064" y="4649524"/>
                <a:ext cx="7320863" cy="101079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若</a:t>
                </a:r>
                <a14:m>
                  <m:oMath xmlns:m="http://schemas.openxmlformats.org/officeDocument/2006/math">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a:solidFill>
                              <a:srgbClr val="002060"/>
                            </a:solidFill>
                            <a:latin typeface="Cambria Math" panose="02040503050406030204" pitchFamily="18" charset="0"/>
                            <a:ea typeface="楷体" panose="02010609060101010101" pitchFamily="49" charset="-122"/>
                          </a:rPr>
                          <m:t>𝒇</m:t>
                        </m:r>
                      </m:e>
                      <m:sub>
                        <m:r>
                          <a:rPr lang="en-US" altLang="zh-CN" sz="2400" b="1">
                            <a:solidFill>
                              <a:srgbClr val="002060"/>
                            </a:solidFill>
                            <a:latin typeface="Cambria Math" panose="02040503050406030204" pitchFamily="18" charset="0"/>
                            <a:ea typeface="楷体" panose="02010609060101010101" pitchFamily="49" charset="-122"/>
                          </a:rPr>
                          <m:t>𝟏</m:t>
                        </m:r>
                      </m:sub>
                    </m:sSub>
                  </m:oMath>
                </a14:m>
                <a:r>
                  <a:rPr lang="zh-CN" altLang="en-US" sz="2400" b="1">
                    <a:solidFill>
                      <a:srgbClr val="002060"/>
                    </a:solidFill>
                    <a:latin typeface="楷体" panose="02010609060101010101" pitchFamily="49" charset="-122"/>
                    <a:ea typeface="楷体" panose="02010609060101010101" pitchFamily="49" charset="-122"/>
                  </a:rPr>
                  <a:t>是 </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𝑶</m:t>
                    </m:r>
                    <m:d>
                      <m:dPr>
                        <m:ctrlPr>
                          <a:rPr lang="en-US" altLang="zh-CN" sz="2400" b="1" i="1">
                            <a:solidFill>
                              <a:srgbClr val="002060"/>
                            </a:solidFill>
                            <a:latin typeface="Cambria Math" panose="02040503050406030204" pitchFamily="18" charset="0"/>
                            <a:ea typeface="楷体" panose="02010609060101010101" pitchFamily="49" charset="-122"/>
                          </a:rPr>
                        </m:ctrlPr>
                      </m:dPr>
                      <m:e>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a:solidFill>
                                  <a:srgbClr val="002060"/>
                                </a:solidFill>
                                <a:latin typeface="Cambria Math" panose="02040503050406030204" pitchFamily="18" charset="0"/>
                                <a:ea typeface="楷体" panose="02010609060101010101" pitchFamily="49" charset="-122"/>
                              </a:rPr>
                              <m:t>𝒈</m:t>
                            </m:r>
                          </m:e>
                          <m:sub>
                            <m:r>
                              <a:rPr lang="en-US" altLang="zh-CN" sz="2400" b="1">
                                <a:solidFill>
                                  <a:srgbClr val="002060"/>
                                </a:solidFill>
                                <a:latin typeface="Cambria Math" panose="02040503050406030204" pitchFamily="18" charset="0"/>
                                <a:ea typeface="楷体" panose="02010609060101010101" pitchFamily="49" charset="-122"/>
                              </a:rPr>
                              <m:t>𝟏</m:t>
                            </m:r>
                          </m:sub>
                        </m:sSub>
                      </m:e>
                    </m:d>
                  </m:oMath>
                </a14:m>
                <a:r>
                  <a:rPr lang="zh-CN" altLang="en-US" sz="2400" b="1">
                    <a:solidFill>
                      <a:srgbClr val="002060"/>
                    </a:solidFill>
                    <a:latin typeface="楷体" panose="02010609060101010101" pitchFamily="49" charset="-122"/>
                    <a:ea typeface="楷体" panose="02010609060101010101" pitchFamily="49" charset="-122"/>
                  </a:rPr>
                  <a:t>，而</a:t>
                </a:r>
                <a14:m>
                  <m:oMath xmlns:m="http://schemas.openxmlformats.org/officeDocument/2006/math">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a:solidFill>
                              <a:srgbClr val="002060"/>
                            </a:solidFill>
                            <a:latin typeface="Cambria Math" panose="02040503050406030204" pitchFamily="18" charset="0"/>
                            <a:ea typeface="楷体" panose="02010609060101010101" pitchFamily="49" charset="-122"/>
                          </a:rPr>
                          <m:t>𝒇</m:t>
                        </m:r>
                      </m:e>
                      <m:sub>
                        <m:r>
                          <a:rPr lang="en-US" altLang="zh-CN" sz="2400" b="1">
                            <a:solidFill>
                              <a:srgbClr val="002060"/>
                            </a:solidFill>
                            <a:latin typeface="Cambria Math" panose="02040503050406030204" pitchFamily="18" charset="0"/>
                            <a:ea typeface="楷体" panose="02010609060101010101" pitchFamily="49" charset="-122"/>
                          </a:rPr>
                          <m:t>𝟐</m:t>
                        </m:r>
                      </m:sub>
                    </m:sSub>
                  </m:oMath>
                </a14:m>
                <a:r>
                  <a:rPr lang="zh-CN" altLang="en-US" sz="24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smtClean="0">
                        <a:solidFill>
                          <a:srgbClr val="C00000"/>
                        </a:solidFill>
                        <a:latin typeface="Cambria Math" panose="02040503050406030204" pitchFamily="18" charset="0"/>
                        <a:ea typeface="楷体" panose="02010609060101010101" pitchFamily="49" charset="-122"/>
                      </a:rPr>
                      <m:t>𝛀</m:t>
                    </m:r>
                    <m:d>
                      <m:dPr>
                        <m:ctrlPr>
                          <a:rPr lang="en-US" altLang="zh-CN" sz="2400" b="1" i="1">
                            <a:solidFill>
                              <a:srgbClr val="C00000"/>
                            </a:solidFill>
                            <a:latin typeface="Cambria Math" panose="02040503050406030204" pitchFamily="18" charset="0"/>
                            <a:ea typeface="楷体" panose="02010609060101010101" pitchFamily="49" charset="-122"/>
                          </a:rPr>
                        </m:ctrlPr>
                      </m:dPr>
                      <m:e>
                        <m:sSub>
                          <m:sSubPr>
                            <m:ctrlPr>
                              <a:rPr lang="en-US" altLang="zh-CN" sz="2400" b="1" i="1">
                                <a:solidFill>
                                  <a:srgbClr val="C00000"/>
                                </a:solidFill>
                                <a:latin typeface="Cambria Math" panose="02040503050406030204" pitchFamily="18" charset="0"/>
                                <a:ea typeface="楷体" panose="02010609060101010101" pitchFamily="49" charset="-122"/>
                              </a:rPr>
                            </m:ctrlPr>
                          </m:sSubPr>
                          <m:e>
                            <m:r>
                              <a:rPr lang="en-US" altLang="zh-CN" sz="2400" b="1">
                                <a:solidFill>
                                  <a:srgbClr val="C00000"/>
                                </a:solidFill>
                                <a:latin typeface="Cambria Math" panose="02040503050406030204" pitchFamily="18" charset="0"/>
                                <a:ea typeface="楷体" panose="02010609060101010101" pitchFamily="49" charset="-122"/>
                              </a:rPr>
                              <m:t>𝒈</m:t>
                            </m:r>
                          </m:e>
                          <m:sub>
                            <m:r>
                              <a:rPr lang="en-US" altLang="zh-CN" sz="2400" b="1">
                                <a:solidFill>
                                  <a:srgbClr val="C00000"/>
                                </a:solidFill>
                                <a:latin typeface="Cambria Math" panose="02040503050406030204" pitchFamily="18" charset="0"/>
                                <a:ea typeface="楷体" panose="02010609060101010101" pitchFamily="49" charset="-122"/>
                              </a:rPr>
                              <m:t>𝟐</m:t>
                            </m:r>
                          </m:sub>
                        </m:sSub>
                      </m:e>
                    </m:d>
                  </m:oMath>
                </a14:m>
                <a:r>
                  <a:rPr lang="zh-CN" altLang="en-US" sz="2400" b="1">
                    <a:solidFill>
                      <a:srgbClr val="002060"/>
                    </a:solidFill>
                    <a:latin typeface="楷体" panose="02010609060101010101" pitchFamily="49" charset="-122"/>
                    <a:ea typeface="楷体" panose="02010609060101010101" pitchFamily="49" charset="-122"/>
                  </a:rPr>
                  <a:t>，则</a:t>
                </a:r>
                <a14:m>
                  <m:oMath xmlns:m="http://schemas.openxmlformats.org/officeDocument/2006/math">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a:solidFill>
                              <a:srgbClr val="002060"/>
                            </a:solidFill>
                            <a:latin typeface="Cambria Math" panose="02040503050406030204" pitchFamily="18" charset="0"/>
                            <a:ea typeface="楷体" panose="02010609060101010101" pitchFamily="49" charset="-122"/>
                          </a:rPr>
                          <m:t>𝒇</m:t>
                        </m:r>
                      </m:e>
                      <m:sub>
                        <m:r>
                          <a:rPr lang="en-US" altLang="zh-CN" sz="2400" b="1">
                            <a:solidFill>
                              <a:srgbClr val="002060"/>
                            </a:solidFill>
                            <a:latin typeface="Cambria Math" panose="02040503050406030204" pitchFamily="18" charset="0"/>
                            <a:ea typeface="楷体" panose="02010609060101010101" pitchFamily="49" charset="-122"/>
                          </a:rPr>
                          <m:t>𝟏</m:t>
                        </m:r>
                      </m:sub>
                    </m:sSub>
                    <m:r>
                      <a:rPr lang="en-US" altLang="zh-CN" sz="2400" b="1">
                        <a:solidFill>
                          <a:srgbClr val="002060"/>
                        </a:solidFill>
                        <a:latin typeface="Cambria Math" panose="02040503050406030204" pitchFamily="18" charset="0"/>
                        <a:ea typeface="楷体" panose="02010609060101010101" pitchFamily="49" charset="-122"/>
                      </a:rPr>
                      <m:t>/</m:t>
                    </m:r>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a:solidFill>
                              <a:srgbClr val="002060"/>
                            </a:solidFill>
                            <a:latin typeface="Cambria Math" panose="02040503050406030204" pitchFamily="18" charset="0"/>
                            <a:ea typeface="楷体" panose="02010609060101010101" pitchFamily="49" charset="-122"/>
                          </a:rPr>
                          <m:t>𝒇</m:t>
                        </m:r>
                      </m:e>
                      <m:sub>
                        <m:r>
                          <a:rPr lang="en-US" altLang="zh-CN" sz="2400" b="1">
                            <a:solidFill>
                              <a:srgbClr val="002060"/>
                            </a:solidFill>
                            <a:latin typeface="Cambria Math" panose="02040503050406030204" pitchFamily="18" charset="0"/>
                            <a:ea typeface="楷体" panose="02010609060101010101" pitchFamily="49" charset="-122"/>
                          </a:rPr>
                          <m:t>𝟐</m:t>
                        </m:r>
                      </m:sub>
                    </m:sSub>
                  </m:oMath>
                </a14:m>
                <a:r>
                  <a:rPr lang="zh-CN" altLang="en-US" sz="24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smtClean="0">
                        <a:solidFill>
                          <a:srgbClr val="C00000"/>
                        </a:solidFill>
                        <a:latin typeface="Cambria Math" panose="02040503050406030204" pitchFamily="18" charset="0"/>
                        <a:ea typeface="楷体" panose="02010609060101010101" pitchFamily="49" charset="-122"/>
                      </a:rPr>
                      <m:t>𝑶</m:t>
                    </m:r>
                    <m:r>
                      <a:rPr lang="en-US" altLang="zh-CN" sz="2400" b="1" smtClean="0">
                        <a:solidFill>
                          <a:srgbClr val="C00000"/>
                        </a:solidFill>
                        <a:latin typeface="Cambria Math" panose="02040503050406030204" pitchFamily="18" charset="0"/>
                        <a:ea typeface="楷体" panose="02010609060101010101" pitchFamily="49" charset="-122"/>
                      </a:rPr>
                      <m:t>(</m:t>
                    </m:r>
                    <m:sSub>
                      <m:sSubPr>
                        <m:ctrlPr>
                          <a:rPr lang="en-US" altLang="zh-CN" sz="2400" b="1" i="1">
                            <a:solidFill>
                              <a:srgbClr val="C00000"/>
                            </a:solidFill>
                            <a:latin typeface="Cambria Math" panose="02040503050406030204" pitchFamily="18" charset="0"/>
                            <a:ea typeface="楷体" panose="02010609060101010101" pitchFamily="49" charset="-122"/>
                          </a:rPr>
                        </m:ctrlPr>
                      </m:sSubPr>
                      <m:e>
                        <m:r>
                          <a:rPr lang="en-US" altLang="zh-CN" sz="2400" b="1">
                            <a:solidFill>
                              <a:srgbClr val="C00000"/>
                            </a:solidFill>
                            <a:latin typeface="Cambria Math" panose="02040503050406030204" pitchFamily="18" charset="0"/>
                            <a:ea typeface="楷体" panose="02010609060101010101" pitchFamily="49" charset="-122"/>
                          </a:rPr>
                          <m:t>𝒈</m:t>
                        </m:r>
                      </m:e>
                      <m:sub>
                        <m:r>
                          <a:rPr lang="en-US" altLang="zh-CN" sz="2400" b="1">
                            <a:solidFill>
                              <a:srgbClr val="C00000"/>
                            </a:solidFill>
                            <a:latin typeface="Cambria Math" panose="02040503050406030204" pitchFamily="18" charset="0"/>
                            <a:ea typeface="楷体" panose="02010609060101010101" pitchFamily="49" charset="-122"/>
                          </a:rPr>
                          <m:t>𝟏</m:t>
                        </m:r>
                      </m:sub>
                    </m:sSub>
                    <m:r>
                      <a:rPr lang="en-US" altLang="zh-CN" sz="2400" b="1">
                        <a:solidFill>
                          <a:srgbClr val="C00000"/>
                        </a:solidFill>
                        <a:latin typeface="Cambria Math" panose="02040503050406030204" pitchFamily="18" charset="0"/>
                        <a:ea typeface="楷体" panose="02010609060101010101" pitchFamily="49" charset="-122"/>
                      </a:rPr>
                      <m:t>/</m:t>
                    </m:r>
                    <m:sSub>
                      <m:sSubPr>
                        <m:ctrlPr>
                          <a:rPr lang="en-US" altLang="zh-CN" sz="2400" b="1" i="1">
                            <a:solidFill>
                              <a:srgbClr val="C00000"/>
                            </a:solidFill>
                            <a:latin typeface="Cambria Math" panose="02040503050406030204" pitchFamily="18" charset="0"/>
                            <a:ea typeface="楷体" panose="02010609060101010101" pitchFamily="49" charset="-122"/>
                          </a:rPr>
                        </m:ctrlPr>
                      </m:sSubPr>
                      <m:e>
                        <m:r>
                          <a:rPr lang="en-US" altLang="zh-CN" sz="2400" b="1">
                            <a:solidFill>
                              <a:srgbClr val="C00000"/>
                            </a:solidFill>
                            <a:latin typeface="Cambria Math" panose="02040503050406030204" pitchFamily="18" charset="0"/>
                            <a:ea typeface="楷体" panose="02010609060101010101" pitchFamily="49" charset="-122"/>
                          </a:rPr>
                          <m:t>𝒈</m:t>
                        </m:r>
                      </m:e>
                      <m:sub>
                        <m:r>
                          <a:rPr lang="en-US" altLang="zh-CN" sz="2400" b="1">
                            <a:solidFill>
                              <a:srgbClr val="C00000"/>
                            </a:solidFill>
                            <a:latin typeface="Cambria Math" panose="02040503050406030204" pitchFamily="18" charset="0"/>
                            <a:ea typeface="楷体" panose="02010609060101010101" pitchFamily="49" charset="-122"/>
                          </a:rPr>
                          <m:t>𝟐</m:t>
                        </m:r>
                      </m:sub>
                    </m:sSub>
                    <m:r>
                      <a:rPr lang="en-US" altLang="zh-CN" sz="2400" b="1">
                        <a:solidFill>
                          <a:srgbClr val="C00000"/>
                        </a:solidFill>
                        <a:latin typeface="Cambria Math" panose="02040503050406030204" pitchFamily="18" charset="0"/>
                        <a:ea typeface="楷体" panose="02010609060101010101" pitchFamily="49" charset="-122"/>
                      </a:rPr>
                      <m:t>)</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假定对任意</a:t>
                </a:r>
                <a14:m>
                  <m:oMath xmlns:m="http://schemas.openxmlformats.org/officeDocument/2006/math">
                    <m:r>
                      <a:rPr lang="en-US" altLang="zh-CN" sz="2400" b="1">
                        <a:solidFill>
                          <a:schemeClr val="accent6">
                            <a:lumMod val="50000"/>
                          </a:schemeClr>
                        </a:solidFill>
                        <a:latin typeface="Cambria Math" panose="02040503050406030204" pitchFamily="18" charset="0"/>
                      </a:rPr>
                      <m:t>𝒙</m:t>
                    </m:r>
                  </m:oMath>
                </a14:m>
                <a:r>
                  <a:rPr lang="zh-CN" altLang="en-US" sz="2400" b="1">
                    <a:solidFill>
                      <a:schemeClr val="accent6">
                        <a:lumMod val="50000"/>
                      </a:schemeClr>
                    </a:solidFill>
                  </a:rPr>
                  <a:t>，</a:t>
                </a:r>
                <a14:m>
                  <m:oMath xmlns:m="http://schemas.openxmlformats.org/officeDocument/2006/math">
                    <m:sSub>
                      <m:sSubPr>
                        <m:ctrlPr>
                          <a:rPr lang="en-US" altLang="zh-CN" sz="2400" b="1" i="1">
                            <a:solidFill>
                              <a:schemeClr val="accent6">
                                <a:lumMod val="50000"/>
                              </a:schemeClr>
                            </a:solidFill>
                            <a:latin typeface="Cambria Math" panose="02040503050406030204" pitchFamily="18" charset="0"/>
                          </a:rPr>
                        </m:ctrlPr>
                      </m:sSubPr>
                      <m:e>
                        <m:r>
                          <a:rPr lang="en-US" altLang="zh-CN" sz="2400" b="1" smtClean="0">
                            <a:solidFill>
                              <a:schemeClr val="accent6">
                                <a:lumMod val="50000"/>
                              </a:schemeClr>
                            </a:solidFill>
                            <a:latin typeface="Cambria Math" panose="02040503050406030204" pitchFamily="18" charset="0"/>
                          </a:rPr>
                          <m:t>𝒇</m:t>
                        </m:r>
                      </m:e>
                      <m:sub>
                        <m:r>
                          <a:rPr lang="en-US" altLang="zh-CN" sz="2400" b="1">
                            <a:solidFill>
                              <a:schemeClr val="accent6">
                                <a:lumMod val="50000"/>
                              </a:schemeClr>
                            </a:solidFill>
                            <a:latin typeface="Cambria Math" panose="02040503050406030204" pitchFamily="18" charset="0"/>
                          </a:rPr>
                          <m:t>𝟐</m:t>
                        </m:r>
                      </m:sub>
                    </m:sSub>
                    <m:r>
                      <a:rPr lang="en-US" altLang="zh-CN" sz="2400" b="1" i="1">
                        <a:solidFill>
                          <a:schemeClr val="accent6">
                            <a:lumMod val="50000"/>
                          </a:schemeClr>
                        </a:solidFill>
                        <a:latin typeface="Cambria Math" panose="02040503050406030204" pitchFamily="18" charset="0"/>
                      </a:rPr>
                      <m:t>(</m:t>
                    </m:r>
                    <m:r>
                      <a:rPr lang="en-US" altLang="zh-CN" sz="2400" b="1">
                        <a:solidFill>
                          <a:schemeClr val="accent6">
                            <a:lumMod val="50000"/>
                          </a:schemeClr>
                        </a:solidFill>
                        <a:latin typeface="Cambria Math" panose="02040503050406030204" pitchFamily="18" charset="0"/>
                      </a:rPr>
                      <m:t>𝒙</m:t>
                    </m:r>
                    <m:r>
                      <a:rPr lang="en-US" altLang="zh-CN" sz="2400" b="1" i="1">
                        <a:solidFill>
                          <a:schemeClr val="accent6">
                            <a:lumMod val="50000"/>
                          </a:schemeClr>
                        </a:solidFill>
                        <a:latin typeface="Cambria Math" panose="02040503050406030204" pitchFamily="18" charset="0"/>
                      </a:rPr>
                      <m:t>) </m:t>
                    </m:r>
                    <m:r>
                      <a:rPr lang="en-US" altLang="zh-CN" sz="2400" b="1">
                        <a:solidFill>
                          <a:schemeClr val="accent6">
                            <a:lumMod val="50000"/>
                          </a:schemeClr>
                        </a:solidFill>
                        <a:latin typeface="Cambria Math" panose="02040503050406030204" pitchFamily="18" charset="0"/>
                      </a:rPr>
                      <m:t>≠</m:t>
                    </m:r>
                    <m:r>
                      <a:rPr lang="en-US" altLang="zh-CN" sz="2400" b="1">
                        <a:solidFill>
                          <a:schemeClr val="accent6">
                            <a:lumMod val="50000"/>
                          </a:schemeClr>
                        </a:solidFill>
                        <a:latin typeface="Cambria Math" panose="02040503050406030204" pitchFamily="18" charset="0"/>
                      </a:rPr>
                      <m:t>𝟎</m:t>
                    </m:r>
                  </m:oMath>
                </a14:m>
                <a:r>
                  <a:rPr lang="zh-CN" altLang="en-US" sz="2400" b="1">
                    <a:solidFill>
                      <a:schemeClr val="accent6">
                        <a:lumMod val="50000"/>
                      </a:schemeClr>
                    </a:solidFill>
                  </a:rPr>
                  <a:t>且</a:t>
                </a:r>
                <a14:m>
                  <m:oMath xmlns:m="http://schemas.openxmlformats.org/officeDocument/2006/math">
                    <m:sSub>
                      <m:sSubPr>
                        <m:ctrlPr>
                          <a:rPr lang="en-US" altLang="zh-CN" sz="2400" b="1" i="1">
                            <a:solidFill>
                              <a:schemeClr val="accent6">
                                <a:lumMod val="50000"/>
                              </a:schemeClr>
                            </a:solidFill>
                            <a:latin typeface="Cambria Math" panose="02040503050406030204" pitchFamily="18" charset="0"/>
                          </a:rPr>
                        </m:ctrlPr>
                      </m:sSubPr>
                      <m:e>
                        <m:r>
                          <a:rPr lang="en-US" altLang="zh-CN" sz="2400" b="1" smtClean="0">
                            <a:solidFill>
                              <a:schemeClr val="accent6">
                                <a:lumMod val="50000"/>
                              </a:schemeClr>
                            </a:solidFill>
                            <a:latin typeface="Cambria Math" panose="02040503050406030204" pitchFamily="18" charset="0"/>
                          </a:rPr>
                          <m:t>𝒈</m:t>
                        </m:r>
                      </m:e>
                      <m:sub>
                        <m:r>
                          <a:rPr lang="en-US" altLang="zh-CN" sz="2400" b="1">
                            <a:solidFill>
                              <a:schemeClr val="accent6">
                                <a:lumMod val="50000"/>
                              </a:schemeClr>
                            </a:solidFill>
                            <a:latin typeface="Cambria Math" panose="02040503050406030204" pitchFamily="18" charset="0"/>
                          </a:rPr>
                          <m:t>𝟐</m:t>
                        </m:r>
                      </m:sub>
                    </m:sSub>
                    <m:r>
                      <a:rPr lang="en-US" altLang="zh-CN" sz="2400" b="1" i="1">
                        <a:solidFill>
                          <a:schemeClr val="accent6">
                            <a:lumMod val="50000"/>
                          </a:schemeClr>
                        </a:solidFill>
                        <a:latin typeface="Cambria Math" panose="02040503050406030204" pitchFamily="18" charset="0"/>
                      </a:rPr>
                      <m:t>(</m:t>
                    </m:r>
                    <m:r>
                      <a:rPr lang="en-US" altLang="zh-CN" sz="2400" b="1">
                        <a:solidFill>
                          <a:schemeClr val="accent6">
                            <a:lumMod val="50000"/>
                          </a:schemeClr>
                        </a:solidFill>
                        <a:latin typeface="Cambria Math" panose="02040503050406030204" pitchFamily="18" charset="0"/>
                      </a:rPr>
                      <m:t>𝒙</m:t>
                    </m:r>
                    <m:r>
                      <a:rPr lang="en-US" altLang="zh-CN" sz="2400" b="1" i="1">
                        <a:solidFill>
                          <a:schemeClr val="accent6">
                            <a:lumMod val="50000"/>
                          </a:schemeClr>
                        </a:solidFill>
                        <a:latin typeface="Cambria Math" panose="02040503050406030204" pitchFamily="18" charset="0"/>
                      </a:rPr>
                      <m:t>) </m:t>
                    </m:r>
                    <m:r>
                      <a:rPr lang="en-US" altLang="zh-CN" sz="2400" b="1">
                        <a:solidFill>
                          <a:schemeClr val="accent6">
                            <a:lumMod val="50000"/>
                          </a:schemeClr>
                        </a:solidFill>
                        <a:latin typeface="Cambria Math" panose="02040503050406030204" pitchFamily="18" charset="0"/>
                      </a:rPr>
                      <m:t>≠</m:t>
                    </m:r>
                    <m:r>
                      <a:rPr lang="en-US" altLang="zh-CN" sz="2400" b="1">
                        <a:solidFill>
                          <a:schemeClr val="accent6">
                            <a:lumMod val="50000"/>
                          </a:schemeClr>
                        </a:solidFill>
                        <a:latin typeface="Cambria Math" panose="02040503050406030204" pitchFamily="18" charset="0"/>
                      </a:rPr>
                      <m:t>𝟎</m:t>
                    </m:r>
                  </m:oMath>
                </a14:m>
                <a:endParaRPr lang="en-US" altLang="zh-CN" sz="2400" b="1">
                  <a:solidFill>
                    <a:schemeClr val="accent6">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662064" y="4649524"/>
                <a:ext cx="7320863" cy="1010790"/>
              </a:xfrm>
              <a:prstGeom prst="rect">
                <a:avLst/>
              </a:prstGeom>
              <a:blipFill rotWithShape="1">
                <a:blip r:embed="rId5"/>
                <a:stretch>
                  <a:fillRect l="-2" t="-5" r="1" b="55"/>
                </a:stretch>
              </a:blipFill>
            </p:spPr>
            <p:txBody>
              <a:bodyPr/>
              <a:lstStyle/>
              <a:p>
                <a:r>
                  <a:rPr lang="zh-CN" altLang="en-US">
                    <a:noFill/>
                  </a:rPr>
                  <a:t> </a:t>
                </a:r>
              </a:p>
            </p:txBody>
          </p:sp>
        </mc:Fallback>
      </mc:AlternateContent>
      <p:sp>
        <p:nvSpPr>
          <p:cNvPr id="6" name="箭头: 下 5"/>
          <p:cNvSpPr/>
          <p:nvPr/>
        </p:nvSpPr>
        <p:spPr>
          <a:xfrm>
            <a:off x="6263289" y="4126133"/>
            <a:ext cx="118412" cy="4939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697312" y="4789088"/>
            <a:ext cx="7821738" cy="1427516"/>
          </a:xfrm>
          <a:prstGeom prst="roundRect">
            <a:avLst>
              <a:gd name="adj" fmla="val 12059"/>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697312" y="2921912"/>
            <a:ext cx="9749215" cy="1735553"/>
          </a:xfrm>
          <a:prstGeom prst="roundRect">
            <a:avLst>
              <a:gd name="adj" fmla="val 7935"/>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p:cNvSpPr/>
          <p:nvPr/>
        </p:nvSpPr>
        <p:spPr>
          <a:xfrm>
            <a:off x="697312" y="1039390"/>
            <a:ext cx="11097790" cy="1675578"/>
          </a:xfrm>
          <a:prstGeom prst="roundRect">
            <a:avLst>
              <a:gd name="adj" fmla="val 960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组合函数增长情况估计练习</a:t>
            </a:r>
          </a:p>
        </p:txBody>
      </p:sp>
      <mc:AlternateContent xmlns:mc="http://schemas.openxmlformats.org/markup-compatibility/2006" xmlns:a14="http://schemas.microsoft.com/office/drawing/2010/main">
        <mc:Choice Requires="a14">
          <p:sp>
            <p:nvSpPr>
              <p:cNvPr id="2" name="文本框 1"/>
              <p:cNvSpPr txBox="1"/>
              <p:nvPr/>
            </p:nvSpPr>
            <p:spPr>
              <a:xfrm>
                <a:off x="763096" y="1104010"/>
                <a:ext cx="10801762" cy="771430"/>
              </a:xfrm>
              <a:prstGeom prst="rect">
                <a:avLst/>
              </a:prstGeom>
              <a:solidFill>
                <a:schemeClr val="accent6">
                  <a:lumMod val="20000"/>
                  <a:lumOff val="80000"/>
                  <a:alpha val="50000"/>
                </a:schemeClr>
              </a:solidFill>
            </p:spPr>
            <p:txBody>
              <a:bodyPr wrap="square" tIns="0" bIns="0" rtlCol="0">
                <a:spAutoFit/>
              </a:bodyPr>
              <a:lstStyle/>
              <a:p>
                <a:pPr>
                  <a:lnSpc>
                    <a:spcPts val="2800"/>
                  </a:lnSpc>
                  <a:spcBef>
                    <a:spcPts val="600"/>
                  </a:spcBef>
                </a:pPr>
                <a:r>
                  <a:rPr lang="zh-CN" altLang="en-US" sz="2000" b="1" dirty="0">
                    <a:solidFill>
                      <a:srgbClr val="002060"/>
                    </a:solidFill>
                    <a:latin typeface="楷体" panose="02010609060101010101" pitchFamily="49" charset="-122"/>
                    <a:ea typeface="楷体" panose="02010609060101010101" pitchFamily="49" charset="-122"/>
                  </a:rPr>
                  <a:t>函数</a:t>
                </a:r>
                <a14:m>
                  <m:oMath xmlns:m="http://schemas.openxmlformats.org/officeDocument/2006/math">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𝟐</m:t>
                            </m:r>
                          </m:sup>
                        </m:sSup>
                        <m:r>
                          <a:rPr lang="en-US" altLang="zh-CN" sz="2000" b="1" i="0" smtClean="0">
                            <a:solidFill>
                              <a:srgbClr val="002060"/>
                            </a:solidFill>
                            <a:latin typeface="Cambria Math" panose="02040503050406030204" pitchFamily="18" charset="0"/>
                          </a:rPr>
                          <m:t>𝐥𝐨𝐠</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e>
                    </m:d>
                    <m:d>
                      <m:dPr>
                        <m:ctrlPr>
                          <a:rPr lang="en-US" altLang="zh-CN" sz="2000" b="1" i="1" smtClean="0">
                            <a:solidFill>
                              <a:srgbClr val="002060"/>
                            </a:solidFill>
                            <a:latin typeface="Cambria Math" panose="02040503050406030204" pitchFamily="18" charset="0"/>
                          </a:rPr>
                        </m:ctrlPr>
                      </m:dPr>
                      <m:e>
                        <m:r>
                          <a:rPr lang="en-US" altLang="zh-CN" sz="2000" b="1">
                            <a:solidFill>
                              <a:srgbClr val="002060"/>
                            </a:solidFill>
                            <a:latin typeface="Cambria Math" panose="02040503050406030204" pitchFamily="18" charset="0"/>
                          </a:rPr>
                          <m:t>𝐥𝐨𝐠</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 + </m:t>
                        </m:r>
                        <m:r>
                          <a:rPr lang="en-US" altLang="zh-CN" sz="2000" b="1" i="1" smtClean="0">
                            <a:solidFill>
                              <a:srgbClr val="002060"/>
                            </a:solidFill>
                            <a:latin typeface="Cambria Math" panose="02040503050406030204" pitchFamily="18" charset="0"/>
                          </a:rPr>
                          <m:t>𝟏</m:t>
                        </m:r>
                      </m:e>
                    </m:d>
                    <m:r>
                      <a:rPr lang="en-US" altLang="zh-CN" sz="2000" b="1" i="1" smtClean="0">
                        <a:solidFill>
                          <a:srgbClr val="002060"/>
                        </a:solidFill>
                        <a:latin typeface="Cambria Math" panose="02040503050406030204" pitchFamily="18" charset="0"/>
                      </a:rPr>
                      <m:t>+ </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𝟏𝟐</m:t>
                        </m:r>
                        <m:r>
                          <a:rPr lang="en-US" altLang="zh-CN" sz="2000" b="1" i="0" smtClean="0">
                            <a:solidFill>
                              <a:srgbClr val="002060"/>
                            </a:solidFill>
                            <a:latin typeface="Cambria Math" panose="02040503050406030204" pitchFamily="18" charset="0"/>
                          </a:rPr>
                          <m:t> </m:t>
                        </m:r>
                        <m:r>
                          <a:rPr lang="en-US" altLang="zh-CN" sz="2000" b="1">
                            <a:solidFill>
                              <a:srgbClr val="002060"/>
                            </a:solidFill>
                            <a:latin typeface="Cambria Math" panose="02040503050406030204" pitchFamily="18" charset="0"/>
                          </a:rPr>
                          <m:t>𝐥𝐨𝐠</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e>
                    </m:d>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e>
                    </m:d>
                  </m:oMath>
                </a14:m>
                <a:r>
                  <a:rPr lang="zh-CN" altLang="en-US" sz="2000" b="1" dirty="0">
                    <a:solidFill>
                      <a:srgbClr val="002060"/>
                    </a:solidFill>
                    <a:latin typeface="楷体" panose="02010609060101010101" pitchFamily="49" charset="-122"/>
                    <a:ea typeface="楷体" panose="02010609060101010101" pitchFamily="49" charset="-122"/>
                  </a:rPr>
                  <a:t>尽可能好的大</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zh-CN" altLang="en-US" sz="2000" b="1" dirty="0">
                    <a:solidFill>
                      <a:srgbClr val="002060"/>
                    </a:solidFill>
                    <a:latin typeface="楷体" panose="02010609060101010101" pitchFamily="49" charset="-122"/>
                    <a:ea typeface="楷体" panose="02010609060101010101" pitchFamily="49" charset="-122"/>
                  </a:rPr>
                  <a:t>估计是</a:t>
                </a:r>
                <a:r>
                  <a:rPr lang="zh-CN" altLang="en-US" sz="2000" b="1" dirty="0"/>
                  <a:t>  </a:t>
                </a:r>
                <a:r>
                  <a:rPr lang="en-US" altLang="zh-CN" sz="2000" b="1" dirty="0">
                    <a:solidFill>
                      <a:srgbClr val="C00000"/>
                    </a:solidFill>
                  </a:rPr>
                  <a:t>C. </a:t>
                </a:r>
                <a14:m>
                  <m:oMath xmlns:m="http://schemas.openxmlformats.org/officeDocument/2006/math">
                    <m:r>
                      <a:rPr lang="en-US" altLang="zh-CN" sz="2000" b="1" i="1" smtClean="0">
                        <a:solidFill>
                          <a:srgbClr val="C00000"/>
                        </a:solidFill>
                        <a:latin typeface="Cambria Math" panose="02040503050406030204" pitchFamily="18" charset="0"/>
                      </a:rPr>
                      <m:t>𝑶</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𝟑</m:t>
                            </m:r>
                          </m:sup>
                        </m:sSup>
                        <m:r>
                          <a:rPr lang="en-US" altLang="zh-CN" sz="2000" b="1">
                            <a:solidFill>
                              <a:srgbClr val="C00000"/>
                            </a:solidFill>
                            <a:latin typeface="Cambria Math" panose="02040503050406030204" pitchFamily="18" charset="0"/>
                          </a:rPr>
                          <m:t>𝐥𝐨𝐠</m:t>
                        </m:r>
                        <m:r>
                          <a:rPr lang="en-US" altLang="zh-CN" sz="2000" b="1" i="1" smtClean="0">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𝒏</m:t>
                        </m:r>
                      </m:e>
                    </m:d>
                  </m:oMath>
                </a14:m>
                <a:r>
                  <a:rPr lang="en-US" altLang="zh-CN" sz="2000" b="1" dirty="0"/>
                  <a:t> </a:t>
                </a:r>
              </a:p>
              <a:p>
                <a:pPr>
                  <a:lnSpc>
                    <a:spcPts val="2800"/>
                  </a:lnSpc>
                  <a:spcBef>
                    <a:spcPts val="600"/>
                  </a:spcBef>
                </a:pPr>
                <a:r>
                  <a:rPr lang="en-US" altLang="zh-CN" sz="2000" b="1" dirty="0">
                    <a:solidFill>
                      <a:schemeClr val="accent2">
                        <a:lumMod val="50000"/>
                      </a:schemeClr>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m:t>
                    </m:r>
                    <m:r>
                      <a:rPr lang="en-US" altLang="zh-CN" sz="2000" b="1" i="1" smtClean="0">
                        <a:solidFill>
                          <a:schemeClr val="accent2">
                            <a:lumMod val="50000"/>
                          </a:schemeClr>
                        </a:solidFill>
                        <a:latin typeface="Cambria Math" panose="02040503050406030204" pitchFamily="18" charset="0"/>
                      </a:rPr>
                      <m:t>)</m:t>
                    </m:r>
                  </m:oMath>
                </a14:m>
                <a:r>
                  <a:rPr lang="en-US" altLang="zh-CN" sz="2000" b="1" dirty="0">
                    <a:solidFill>
                      <a:schemeClr val="accent2">
                        <a:lumMod val="50000"/>
                      </a:schemeClr>
                    </a:solidFill>
                  </a:rPr>
                  <a:t>      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𝒏</m:t>
                        </m:r>
                      </m:e>
                      <m:sup>
                        <m:r>
                          <a:rPr lang="en-US" altLang="zh-CN" sz="2000" b="1" i="1" smtClean="0">
                            <a:solidFill>
                              <a:schemeClr val="accent2">
                                <a:lumMod val="50000"/>
                              </a:schemeClr>
                            </a:solidFill>
                            <a:latin typeface="Cambria Math" panose="02040503050406030204" pitchFamily="18" charset="0"/>
                          </a:rPr>
                          <m:t>𝟐</m:t>
                        </m:r>
                      </m:sup>
                    </m:sSup>
                    <m:r>
                      <a:rPr lang="en-US" altLang="zh-CN" sz="2000" b="1">
                        <a:solidFill>
                          <a:schemeClr val="accent2">
                            <a:lumMod val="50000"/>
                          </a:schemeClr>
                        </a:solidFill>
                        <a:latin typeface="Cambria Math" panose="02040503050406030204" pitchFamily="18" charset="0"/>
                      </a:rPr>
                      <m:t>𝐥𝐨𝐠</m:t>
                    </m:r>
                    <m:r>
                      <a:rPr lang="en-US" altLang="zh-CN" sz="2000" b="1" i="0" smtClean="0">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oMath>
                </a14:m>
                <a:r>
                  <a:rPr lang="en-US" altLang="zh-CN" sz="2000" b="1" dirty="0">
                    <a:solidFill>
                      <a:schemeClr val="accent2">
                        <a:lumMod val="50000"/>
                      </a:schemeClr>
                    </a:solidFill>
                  </a:rPr>
                  <a:t>      C.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𝒏</m:t>
                        </m:r>
                      </m:e>
                      <m:sup>
                        <m:r>
                          <a:rPr lang="en-US" altLang="zh-CN" sz="2000" b="1" i="1" smtClean="0">
                            <a:solidFill>
                              <a:schemeClr val="accent2">
                                <a:lumMod val="50000"/>
                              </a:schemeClr>
                            </a:solidFill>
                            <a:latin typeface="Cambria Math" panose="02040503050406030204" pitchFamily="18" charset="0"/>
                          </a:rPr>
                          <m:t>𝟑</m:t>
                        </m:r>
                      </m:sup>
                    </m:sSup>
                    <m:r>
                      <a:rPr lang="en-US" altLang="zh-CN" sz="2000" b="1">
                        <a:solidFill>
                          <a:schemeClr val="accent2">
                            <a:lumMod val="50000"/>
                          </a:schemeClr>
                        </a:solidFill>
                        <a:latin typeface="Cambria Math" panose="02040503050406030204" pitchFamily="18" charset="0"/>
                      </a:rPr>
                      <m:t>𝐥𝐨𝐠</m:t>
                    </m:r>
                    <m:r>
                      <a:rPr lang="en-US" altLang="zh-CN" sz="2000" b="1" i="0" smtClean="0">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oMath>
                </a14:m>
                <a:r>
                  <a:rPr lang="en-US" altLang="zh-CN" sz="2000" b="1" dirty="0">
                    <a:solidFill>
                      <a:schemeClr val="accent2">
                        <a:lumMod val="50000"/>
                      </a:schemeClr>
                    </a:solidFill>
                  </a:rPr>
                  <a:t>      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𝐥𝐨𝐠</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m:t>
                    </m:r>
                  </m:oMath>
                </a14:m>
                <a:endParaRPr lang="en-US" altLang="zh-CN" sz="2000" b="1" dirty="0">
                  <a:solidFill>
                    <a:schemeClr val="accent2">
                      <a:lumMod val="50000"/>
                    </a:schemeClr>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63096" y="1104010"/>
                <a:ext cx="10801762" cy="771430"/>
              </a:xfrm>
              <a:prstGeom prst="rect">
                <a:avLst/>
              </a:prstGeom>
              <a:blipFill rotWithShape="1">
                <a:blip r:embed="rId2"/>
                <a:stretch>
                  <a:fillRect l="-4" t="-49" r="2" b="-20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63096" y="2973918"/>
                <a:ext cx="9558439" cy="786947"/>
              </a:xfrm>
              <a:prstGeom prst="rect">
                <a:avLst/>
              </a:prstGeom>
              <a:solidFill>
                <a:schemeClr val="accent6">
                  <a:lumMod val="20000"/>
                  <a:lumOff val="80000"/>
                  <a:alpha val="50000"/>
                </a:schemeClr>
              </a:solidFill>
            </p:spPr>
            <p:txBody>
              <a:bodyPr wrap="square" tIns="0" bIns="0" rtlCol="0">
                <a:spAutoFit/>
              </a:bodyPr>
              <a:lstStyle/>
              <a:p>
                <a:pP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函数</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𝒏</m:t>
                        </m:r>
                      </m:e>
                      <m:sup>
                        <m:r>
                          <a:rPr lang="en-US" altLang="zh-CN" sz="2000" b="1">
                            <a:solidFill>
                              <a:srgbClr val="002060"/>
                            </a:solidFill>
                            <a:latin typeface="Cambria Math" panose="02040503050406030204" pitchFamily="18" charset="0"/>
                            <a:ea typeface="楷体" panose="02010609060101010101" pitchFamily="49" charset="-122"/>
                          </a:rPr>
                          <m:t>𝟒</m:t>
                        </m:r>
                      </m:sup>
                    </m:sSup>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𝒏</m:t>
                        </m:r>
                      </m:e>
                      <m:sup>
                        <m:r>
                          <a:rPr lang="en-US" altLang="zh-CN" sz="2000" b="1">
                            <a:solidFill>
                              <a:srgbClr val="002060"/>
                            </a:solidFill>
                            <a:latin typeface="Cambria Math" panose="02040503050406030204" pitchFamily="18" charset="0"/>
                            <a:ea typeface="楷体" panose="02010609060101010101" pitchFamily="49" charset="-122"/>
                          </a:rPr>
                          <m:t>𝟐</m:t>
                        </m:r>
                      </m:sup>
                    </m:sSup>
                    <m:r>
                      <a:rPr lang="en-US" altLang="zh-CN" sz="2000" b="1">
                        <a:solidFill>
                          <a:srgbClr val="002060"/>
                        </a:solidFill>
                        <a:latin typeface="Cambria Math" panose="02040503050406030204" pitchFamily="18" charset="0"/>
                        <a:ea typeface="楷体" panose="02010609060101010101" pitchFamily="49" charset="-122"/>
                      </a:rPr>
                      <m:t>𝐥𝐨𝐠</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𝒏</m:t>
                    </m:r>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𝒏</m:t>
                        </m:r>
                      </m:e>
                      <m:sup>
                        <m:r>
                          <a:rPr lang="en-US" altLang="zh-CN" sz="2000" b="1">
                            <a:solidFill>
                              <a:srgbClr val="002060"/>
                            </a:solidFill>
                            <a:latin typeface="Cambria Math" panose="02040503050406030204" pitchFamily="18" charset="0"/>
                            <a:ea typeface="楷体" panose="02010609060101010101" pitchFamily="49" charset="-122"/>
                          </a:rPr>
                          <m:t>𝟐</m:t>
                        </m:r>
                      </m:sup>
                    </m:sSup>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𝐥𝐨𝐠</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𝒏</m:t>
                            </m:r>
                          </m:e>
                        </m:d>
                      </m:e>
                      <m:sup>
                        <m:r>
                          <a:rPr lang="en-US" altLang="zh-CN" sz="2000" b="1">
                            <a:solidFill>
                              <a:srgbClr val="002060"/>
                            </a:solidFill>
                            <a:latin typeface="Cambria Math" panose="02040503050406030204" pitchFamily="18" charset="0"/>
                            <a:ea typeface="楷体" panose="02010609060101010101" pitchFamily="49" charset="-122"/>
                          </a:rPr>
                          <m:t>𝟐</m:t>
                        </m:r>
                      </m:sup>
                    </m:sSup>
                    <m:r>
                      <a:rPr lang="en-US" altLang="zh-CN" sz="2000" b="1">
                        <a:solidFill>
                          <a:srgbClr val="002060"/>
                        </a:solidFill>
                        <a:latin typeface="Cambria Math" panose="02040503050406030204" pitchFamily="18" charset="0"/>
                        <a:ea typeface="楷体" panose="02010609060101010101" pitchFamily="49" charset="-122"/>
                      </a:rPr>
                      <m:t> )</m:t>
                    </m:r>
                  </m:oMath>
                </a14:m>
                <a:r>
                  <a:rPr lang="zh-CN" altLang="en-US" sz="2000" b="1">
                    <a:solidFill>
                      <a:srgbClr val="002060"/>
                    </a:solidFill>
                    <a:latin typeface="楷体" panose="02010609060101010101" pitchFamily="49" charset="-122"/>
                    <a:ea typeface="楷体" panose="02010609060101010101" pitchFamily="49" charset="-122"/>
                  </a:rPr>
                  <a:t>尽可能好的大</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𝑶</m:t>
                    </m:r>
                  </m:oMath>
                </a14:m>
                <a:r>
                  <a:rPr lang="zh-CN" altLang="en-US" sz="2000" b="1">
                    <a:solidFill>
                      <a:srgbClr val="002060"/>
                    </a:solidFill>
                    <a:latin typeface="楷体" panose="02010609060101010101" pitchFamily="49" charset="-122"/>
                    <a:ea typeface="楷体" panose="02010609060101010101" pitchFamily="49" charset="-122"/>
                  </a:rPr>
                  <a:t>估计是</a:t>
                </a:r>
                <a:r>
                  <a:rPr lang="zh-CN" altLang="en-US" sz="2000" b="1"/>
                  <a:t>   </a:t>
                </a:r>
                <a:r>
                  <a:rPr lang="en-US" altLang="zh-CN" sz="2000" b="1">
                    <a:solidFill>
                      <a:srgbClr val="C00000"/>
                    </a:solidFill>
                  </a:rPr>
                  <a:t>B. </a:t>
                </a:r>
                <a14:m>
                  <m:oMath xmlns:m="http://schemas.openxmlformats.org/officeDocument/2006/math">
                    <m:r>
                      <a:rPr lang="en-US" altLang="zh-CN" sz="2000" b="1">
                        <a:solidFill>
                          <a:srgbClr val="C00000"/>
                        </a:solidFill>
                        <a:latin typeface="Cambria Math" panose="02040503050406030204" pitchFamily="18" charset="0"/>
                      </a:rPr>
                      <m:t>𝑶</m:t>
                    </m:r>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𝒏</m:t>
                    </m:r>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𝟐</m:t>
                    </m:r>
                    <m:r>
                      <a:rPr lang="en-US" altLang="zh-CN" sz="2000" b="1">
                        <a:solidFill>
                          <a:srgbClr val="C00000"/>
                        </a:solidFill>
                        <a:latin typeface="Cambria Math" panose="02040503050406030204" pitchFamily="18" charset="0"/>
                      </a:rPr>
                      <m:t>)</m:t>
                    </m:r>
                  </m:oMath>
                </a14:m>
                <a:r>
                  <a:rPr lang="en-US" altLang="zh-CN" sz="2000" b="1">
                    <a:solidFill>
                      <a:srgbClr val="C00000"/>
                    </a:solidFill>
                  </a:rPr>
                  <a:t> </a:t>
                </a:r>
              </a:p>
              <a:p>
                <a:pPr>
                  <a:lnSpc>
                    <a:spcPts val="2800"/>
                  </a:lnSpc>
                  <a:spcBef>
                    <a:spcPts val="600"/>
                  </a:spcBef>
                </a:pPr>
                <a:r>
                  <a:rPr lang="en-US" altLang="zh-CN" sz="2000" b="1">
                    <a:solidFill>
                      <a:schemeClr val="accent2">
                        <a:lumMod val="50000"/>
                      </a:schemeClr>
                    </a:solidFill>
                  </a:rPr>
                  <a:t>A.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𝟒</m:t>
                            </m:r>
                          </m:sup>
                        </m:sSup>
                      </m:e>
                    </m:d>
                  </m:oMath>
                </a14:m>
                <a:r>
                  <a:rPr lang="en-US" altLang="zh-CN" sz="2000" b="1">
                    <a:solidFill>
                      <a:schemeClr val="accent2">
                        <a:lumMod val="50000"/>
                      </a:schemeClr>
                    </a:solidFill>
                  </a:rPr>
                  <a:t>      B.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𝟐</m:t>
                            </m:r>
                          </m:sup>
                        </m:sSup>
                      </m:e>
                    </m:d>
                  </m:oMath>
                </a14:m>
                <a:r>
                  <a:rPr lang="en-US" altLang="zh-CN" sz="2000" b="1">
                    <a:solidFill>
                      <a:schemeClr val="accent2">
                        <a:lumMod val="50000"/>
                      </a:schemeClr>
                    </a:solidFill>
                  </a:rPr>
                  <a:t>     C.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𝟐</m:t>
                            </m:r>
                          </m:sup>
                        </m:sSup>
                        <m:r>
                          <a:rPr lang="en-US" altLang="zh-CN" sz="2000" b="1">
                            <a:solidFill>
                              <a:schemeClr val="accent2">
                                <a:lumMod val="50000"/>
                              </a:schemeClr>
                            </a:solidFill>
                            <a:latin typeface="Cambria Math" panose="02040503050406030204" pitchFamily="18" charset="0"/>
                          </a:rPr>
                          <m:t>𝐥𝐨𝐠</m:t>
                        </m:r>
                        <m:r>
                          <a:rPr lang="en-US" altLang="zh-CN" sz="2000" b="1">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𝒏</m:t>
                        </m:r>
                      </m:e>
                    </m:d>
                  </m:oMath>
                </a14:m>
                <a:r>
                  <a:rPr lang="en-US" altLang="zh-CN" sz="2000" b="1">
                    <a:solidFill>
                      <a:schemeClr val="accent2">
                        <a:lumMod val="50000"/>
                      </a:schemeClr>
                    </a:solidFill>
                  </a:rPr>
                  <a:t>      D.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𝟐</m:t>
                            </m:r>
                          </m:sup>
                        </m:sSup>
                        <m:sSup>
                          <m:sSupPr>
                            <m:ctrlPr>
                              <a:rPr lang="en-US" altLang="zh-CN" sz="2000" b="1" i="1">
                                <a:solidFill>
                                  <a:schemeClr val="accent2">
                                    <a:lumMod val="50000"/>
                                  </a:schemeClr>
                                </a:solidFill>
                                <a:latin typeface="Cambria Math" panose="02040503050406030204" pitchFamily="18" charset="0"/>
                              </a:rPr>
                            </m:ctrlPr>
                          </m:sSupPr>
                          <m:e>
                            <m:d>
                              <m:dPr>
                                <m:ctrlPr>
                                  <a:rPr lang="en-US" altLang="zh-CN" sz="2000" b="1" i="1">
                                    <a:solidFill>
                                      <a:schemeClr val="accent2">
                                        <a:lumMod val="50000"/>
                                      </a:schemeClr>
                                    </a:solidFill>
                                    <a:latin typeface="Cambria Math" panose="02040503050406030204" pitchFamily="18" charset="0"/>
                                  </a:rPr>
                                </m:ctrlPr>
                              </m:dPr>
                              <m:e>
                                <m:r>
                                  <a:rPr lang="en-US" altLang="zh-CN" sz="2000" b="1">
                                    <a:solidFill>
                                      <a:schemeClr val="accent2">
                                        <a:lumMod val="50000"/>
                                      </a:schemeClr>
                                    </a:solidFill>
                                    <a:latin typeface="Cambria Math" panose="02040503050406030204" pitchFamily="18" charset="0"/>
                                  </a:rPr>
                                  <m:t>𝐥𝐨𝐠</m:t>
                                </m:r>
                                <m:r>
                                  <a:rPr lang="en-US" altLang="zh-CN" sz="2000" b="1">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𝒏</m:t>
                                </m:r>
                              </m:e>
                            </m:d>
                          </m:e>
                          <m:sup>
                            <m:r>
                              <a:rPr lang="en-US" altLang="zh-CN" sz="2000" b="1">
                                <a:solidFill>
                                  <a:schemeClr val="accent2">
                                    <a:lumMod val="50000"/>
                                  </a:schemeClr>
                                </a:solidFill>
                                <a:latin typeface="Cambria Math" panose="02040503050406030204" pitchFamily="18" charset="0"/>
                              </a:rPr>
                              <m:t>𝟐</m:t>
                            </m:r>
                          </m:sup>
                        </m:sSup>
                      </m:e>
                    </m:d>
                  </m:oMath>
                </a14:m>
                <a:endParaRPr lang="en-US" altLang="zh-CN" sz="2000" b="1">
                  <a:solidFill>
                    <a:schemeClr val="accent2">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63096" y="2973918"/>
                <a:ext cx="9558439" cy="786947"/>
              </a:xfrm>
              <a:prstGeom prst="rect">
                <a:avLst/>
              </a:prstGeom>
              <a:blipFill rotWithShape="1">
                <a:blip r:embed="rId3"/>
                <a:stretch>
                  <a:fillRect l="-5" t="-27" r="3" b="-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63096" y="4864409"/>
                <a:ext cx="7584916" cy="786947"/>
              </a:xfrm>
              <a:prstGeom prst="rect">
                <a:avLst/>
              </a:prstGeom>
              <a:solidFill>
                <a:schemeClr val="accent6">
                  <a:lumMod val="20000"/>
                  <a:lumOff val="80000"/>
                  <a:alpha val="50000"/>
                </a:schemeClr>
              </a:solidFill>
            </p:spPr>
            <p:txBody>
              <a:bodyPr wrap="square" tIns="0" bIns="0" rtlCol="0">
                <a:spAutoFit/>
              </a:bodyPr>
              <a:lstStyle/>
              <a:p>
                <a:pP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函数</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𝒙</m:t>
                        </m:r>
                      </m:e>
                      <m:sup>
                        <m:r>
                          <a:rPr lang="en-US" altLang="zh-CN" sz="2000" b="1">
                            <a:solidFill>
                              <a:srgbClr val="002060"/>
                            </a:solidFill>
                            <a:latin typeface="Cambria Math" panose="02040503050406030204" pitchFamily="18" charset="0"/>
                            <a:ea typeface="楷体" panose="02010609060101010101" pitchFamily="49" charset="-122"/>
                          </a:rPr>
                          <m:t>𝟑</m:t>
                        </m:r>
                      </m:sup>
                    </m:sSup>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𝟓𝐥𝐨𝐠</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𝒙</m:t>
                    </m:r>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𝒙</m:t>
                        </m:r>
                      </m:e>
                      <m:sup>
                        <m:r>
                          <a:rPr lang="en-US" altLang="zh-CN" sz="2000" b="1">
                            <a:solidFill>
                              <a:srgbClr val="002060"/>
                            </a:solidFill>
                            <a:latin typeface="Cambria Math" panose="02040503050406030204" pitchFamily="18" charset="0"/>
                            <a:ea typeface="楷体" panose="02010609060101010101" pitchFamily="49" charset="-122"/>
                          </a:rPr>
                          <m:t>𝟒</m:t>
                        </m:r>
                      </m:sup>
                    </m:sSup>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𝟏</m:t>
                    </m:r>
                    <m: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尽可能好的大</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𝑶</m:t>
                    </m:r>
                  </m:oMath>
                </a14:m>
                <a:r>
                  <a:rPr lang="zh-CN" altLang="en-US" sz="2000" b="1">
                    <a:solidFill>
                      <a:srgbClr val="002060"/>
                    </a:solidFill>
                    <a:latin typeface="楷体" panose="02010609060101010101" pitchFamily="49" charset="-122"/>
                    <a:ea typeface="楷体" panose="02010609060101010101" pitchFamily="49" charset="-122"/>
                  </a:rPr>
                  <a:t>估计是</a:t>
                </a:r>
                <a:r>
                  <a:rPr lang="zh-CN" altLang="en-US" sz="2000" b="1"/>
                  <a:t>   </a:t>
                </a:r>
                <a:r>
                  <a:rPr lang="en-US" altLang="zh-CN" sz="2000" b="1">
                    <a:solidFill>
                      <a:srgbClr val="C00000"/>
                    </a:solidFill>
                  </a:rPr>
                  <a:t>D. </a:t>
                </a:r>
                <a14:m>
                  <m:oMath xmlns:m="http://schemas.openxmlformats.org/officeDocument/2006/math">
                    <m:r>
                      <a:rPr lang="en-US" altLang="zh-CN" sz="2000" b="1">
                        <a:solidFill>
                          <a:srgbClr val="C00000"/>
                        </a:solidFill>
                        <a:latin typeface="Cambria Math" panose="02040503050406030204" pitchFamily="18" charset="0"/>
                      </a:rPr>
                      <m:t>𝑶</m:t>
                    </m:r>
                    <m:d>
                      <m:dPr>
                        <m:ctrlPr>
                          <a:rPr lang="en-US" altLang="zh-CN" sz="2000" b="1" i="1">
                            <a:solidFill>
                              <a:srgbClr val="C00000"/>
                            </a:solidFill>
                            <a:latin typeface="Cambria Math" panose="02040503050406030204" pitchFamily="18" charset="0"/>
                          </a:rPr>
                        </m:ctrlPr>
                      </m:dPr>
                      <m:e>
                        <m:sSup>
                          <m:sSupPr>
                            <m:ctrlPr>
                              <a:rPr lang="en-US" altLang="zh-CN" sz="2000" b="1" i="1">
                                <a:solidFill>
                                  <a:srgbClr val="C00000"/>
                                </a:solidFill>
                                <a:latin typeface="Cambria Math" panose="02040503050406030204" pitchFamily="18" charset="0"/>
                              </a:rPr>
                            </m:ctrlPr>
                          </m:sSupPr>
                          <m:e>
                            <m:r>
                              <a:rPr lang="en-US" altLang="zh-CN" sz="2000" b="1">
                                <a:solidFill>
                                  <a:srgbClr val="C00000"/>
                                </a:solidFill>
                                <a:latin typeface="Cambria Math" panose="02040503050406030204" pitchFamily="18" charset="0"/>
                              </a:rPr>
                              <m:t>𝒙</m:t>
                            </m:r>
                          </m:e>
                          <m:sup>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𝟏</m:t>
                            </m:r>
                          </m:sup>
                        </m:sSup>
                      </m:e>
                    </m:d>
                  </m:oMath>
                </a14:m>
                <a:r>
                  <a:rPr lang="en-US" altLang="zh-CN" sz="2000" b="1">
                    <a:solidFill>
                      <a:srgbClr val="C00000"/>
                    </a:solidFill>
                  </a:rPr>
                  <a:t> </a:t>
                </a:r>
              </a:p>
              <a:p>
                <a:pPr>
                  <a:lnSpc>
                    <a:spcPts val="2800"/>
                  </a:lnSpc>
                  <a:spcBef>
                    <a:spcPts val="600"/>
                  </a:spcBef>
                </a:pPr>
                <a:r>
                  <a:rPr lang="en-US" altLang="zh-CN" sz="2000" b="1">
                    <a:solidFill>
                      <a:schemeClr val="accent2">
                        <a:lumMod val="50000"/>
                      </a:schemeClr>
                    </a:solidFill>
                  </a:rPr>
                  <a:t>A.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𝟑</m:t>
                            </m:r>
                          </m:sup>
                        </m:sSup>
                      </m:e>
                    </m:d>
                  </m:oMath>
                </a14:m>
                <a:r>
                  <a:rPr lang="en-US" altLang="zh-CN" sz="2000" b="1">
                    <a:solidFill>
                      <a:schemeClr val="accent2">
                        <a:lumMod val="50000"/>
                      </a:schemeClr>
                    </a:solidFill>
                  </a:rPr>
                  <a:t>      B.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m:t>
                            </m:r>
                            <m:r>
                              <a:rPr lang="en-US" altLang="zh-CN" sz="2000" b="1">
                                <a:solidFill>
                                  <a:schemeClr val="accent2">
                                    <a:lumMod val="50000"/>
                                  </a:schemeClr>
                                </a:solidFill>
                                <a:latin typeface="Cambria Math" panose="02040503050406030204" pitchFamily="18" charset="0"/>
                              </a:rPr>
                              <m:t>𝟒</m:t>
                            </m:r>
                          </m:sup>
                        </m:sSup>
                      </m:e>
                    </m:d>
                  </m:oMath>
                </a14:m>
                <a:r>
                  <a:rPr lang="en-US" altLang="zh-CN" sz="2000" b="1">
                    <a:solidFill>
                      <a:schemeClr val="accent2">
                        <a:lumMod val="50000"/>
                      </a:schemeClr>
                    </a:solidFill>
                  </a:rPr>
                  <a:t>      C.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𝟑</m:t>
                            </m:r>
                          </m:sup>
                        </m:sSup>
                        <m:r>
                          <a:rPr lang="en-US" altLang="zh-CN" sz="2000" b="1">
                            <a:solidFill>
                              <a:schemeClr val="accent2">
                                <a:lumMod val="50000"/>
                              </a:schemeClr>
                            </a:solidFill>
                            <a:latin typeface="Cambria Math" panose="02040503050406030204" pitchFamily="18" charset="0"/>
                          </a:rPr>
                          <m:t>𝐥𝐨𝐠</m:t>
                        </m:r>
                        <m:r>
                          <a:rPr lang="en-US" altLang="zh-CN" sz="2000" b="1">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𝒙</m:t>
                        </m:r>
                      </m:e>
                    </m:d>
                  </m:oMath>
                </a14:m>
                <a:r>
                  <a:rPr lang="en-US" altLang="zh-CN" sz="2000" b="1">
                    <a:solidFill>
                      <a:schemeClr val="accent2">
                        <a:lumMod val="50000"/>
                      </a:schemeClr>
                    </a:solidFill>
                  </a:rPr>
                  <a:t>      D.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m:t>
                            </m:r>
                            <m:r>
                              <a:rPr lang="en-US" altLang="zh-CN" sz="2000" b="1">
                                <a:solidFill>
                                  <a:schemeClr val="accent2">
                                    <a:lumMod val="50000"/>
                                  </a:schemeClr>
                                </a:solidFill>
                                <a:latin typeface="Cambria Math" panose="02040503050406030204" pitchFamily="18" charset="0"/>
                              </a:rPr>
                              <m:t>𝟏</m:t>
                            </m:r>
                          </m:sup>
                        </m:sSup>
                      </m:e>
                    </m:d>
                  </m:oMath>
                </a14:m>
                <a:endParaRPr lang="en-US" altLang="zh-CN" sz="2000" b="1">
                  <a:solidFill>
                    <a:schemeClr val="accent2">
                      <a:lumMod val="50000"/>
                    </a:schemeClr>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63096" y="4864409"/>
                <a:ext cx="7584916" cy="786947"/>
              </a:xfrm>
              <a:prstGeom prst="rect">
                <a:avLst/>
              </a:prstGeom>
              <a:blipFill rotWithShape="1">
                <a:blip r:embed="rId4"/>
                <a:stretch>
                  <a:fillRect l="-6" t="-39" r="4" b="-18"/>
                </a:stretch>
              </a:blipFill>
            </p:spPr>
            <p:txBody>
              <a:bodyPr/>
              <a:lstStyle/>
              <a:p>
                <a:r>
                  <a:rPr lang="zh-CN" altLang="en-US">
                    <a:noFill/>
                  </a:rPr>
                  <a:t> </a:t>
                </a:r>
              </a:p>
            </p:txBody>
          </p:sp>
        </mc:Fallback>
      </mc:AlternateContent>
      <p:cxnSp>
        <p:nvCxnSpPr>
          <p:cNvPr id="18" name="直接连接符 17"/>
          <p:cNvCxnSpPr/>
          <p:nvPr/>
        </p:nvCxnSpPr>
        <p:spPr>
          <a:xfrm>
            <a:off x="9518970" y="1480144"/>
            <a:ext cx="16182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474178" y="3323198"/>
            <a:ext cx="16182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454525" y="5244095"/>
            <a:ext cx="16182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518970" y="1109756"/>
            <a:ext cx="1585399" cy="353943"/>
          </a:xfrm>
          <a:prstGeom prst="rect">
            <a:avLst/>
          </a:prstGeom>
          <a:solidFill>
            <a:srgbClr val="ECF3E8"/>
          </a:solidFill>
        </p:spPr>
        <p:txBody>
          <a:bodyPr wrap="square" bIns="0" rtlCol="0">
            <a:spAutoFit/>
          </a:bodyPr>
          <a:lstStyle/>
          <a:p>
            <a:pPr algn="ctr"/>
            <a:r>
              <a:rPr lang="en-US" altLang="zh-CN" sz="2000" b="1">
                <a:solidFill>
                  <a:srgbClr val="C00000"/>
                </a:solidFill>
              </a:rPr>
              <a:t>(1)</a:t>
            </a:r>
            <a:endParaRPr lang="zh-CN" altLang="en-US" sz="2000" b="1">
              <a:solidFill>
                <a:srgbClr val="C00000"/>
              </a:solidFill>
            </a:endParaRPr>
          </a:p>
        </p:txBody>
      </p:sp>
      <p:sp>
        <p:nvSpPr>
          <p:cNvPr id="21" name="文本框 20"/>
          <p:cNvSpPr txBox="1"/>
          <p:nvPr/>
        </p:nvSpPr>
        <p:spPr>
          <a:xfrm>
            <a:off x="7502688" y="2956146"/>
            <a:ext cx="1585399" cy="353943"/>
          </a:xfrm>
          <a:prstGeom prst="rect">
            <a:avLst/>
          </a:prstGeom>
          <a:solidFill>
            <a:srgbClr val="ECF3E8"/>
          </a:solidFill>
        </p:spPr>
        <p:txBody>
          <a:bodyPr wrap="square" bIns="0" rtlCol="0">
            <a:spAutoFit/>
          </a:bodyPr>
          <a:lstStyle/>
          <a:p>
            <a:pPr algn="ctr"/>
            <a:r>
              <a:rPr lang="en-US" altLang="zh-CN" sz="2000" b="1">
                <a:solidFill>
                  <a:srgbClr val="C00000"/>
                </a:solidFill>
              </a:rPr>
              <a:t>(2)</a:t>
            </a:r>
            <a:endParaRPr lang="zh-CN" altLang="en-US" sz="2000" b="1">
              <a:solidFill>
                <a:srgbClr val="C00000"/>
              </a:solidFill>
            </a:endParaRPr>
          </a:p>
        </p:txBody>
      </p:sp>
      <p:sp>
        <p:nvSpPr>
          <p:cNvPr id="22" name="文本框 21"/>
          <p:cNvSpPr txBox="1"/>
          <p:nvPr/>
        </p:nvSpPr>
        <p:spPr>
          <a:xfrm>
            <a:off x="6470970" y="4874638"/>
            <a:ext cx="1585399" cy="353943"/>
          </a:xfrm>
          <a:prstGeom prst="rect">
            <a:avLst/>
          </a:prstGeom>
          <a:solidFill>
            <a:srgbClr val="ECF3E8"/>
          </a:solidFill>
        </p:spPr>
        <p:txBody>
          <a:bodyPr wrap="square" bIns="0" rtlCol="0">
            <a:spAutoFit/>
          </a:bodyPr>
          <a:lstStyle/>
          <a:p>
            <a:pPr algn="ctr"/>
            <a:r>
              <a:rPr lang="en-US" altLang="zh-CN" sz="2000" b="1">
                <a:solidFill>
                  <a:srgbClr val="C00000"/>
                </a:solidFill>
              </a:rPr>
              <a:t>(3)</a:t>
            </a:r>
            <a:endParaRPr lang="zh-CN" altLang="en-US" sz="2000" b="1">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697312" y="4789088"/>
            <a:ext cx="7821738" cy="1427516"/>
          </a:xfrm>
          <a:prstGeom prst="roundRect">
            <a:avLst>
              <a:gd name="adj" fmla="val 12059"/>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697312" y="2921912"/>
            <a:ext cx="9749215" cy="1735553"/>
          </a:xfrm>
          <a:prstGeom prst="roundRect">
            <a:avLst>
              <a:gd name="adj" fmla="val 7935"/>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p:cNvSpPr/>
          <p:nvPr/>
        </p:nvSpPr>
        <p:spPr>
          <a:xfrm>
            <a:off x="697312" y="1039390"/>
            <a:ext cx="11097790" cy="1675578"/>
          </a:xfrm>
          <a:prstGeom prst="roundRect">
            <a:avLst>
              <a:gd name="adj" fmla="val 960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函数的增长</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组合函数增长情况估计练习</a:t>
            </a:r>
          </a:p>
        </p:txBody>
      </p:sp>
      <mc:AlternateContent xmlns:mc="http://schemas.openxmlformats.org/markup-compatibility/2006" xmlns:a14="http://schemas.microsoft.com/office/drawing/2010/main">
        <mc:Choice Requires="a14">
          <p:sp>
            <p:nvSpPr>
              <p:cNvPr id="2" name="文本框 1"/>
              <p:cNvSpPr txBox="1"/>
              <p:nvPr/>
            </p:nvSpPr>
            <p:spPr>
              <a:xfrm>
                <a:off x="763096" y="1104010"/>
                <a:ext cx="10801762" cy="771430"/>
              </a:xfrm>
              <a:prstGeom prst="rect">
                <a:avLst/>
              </a:prstGeom>
              <a:solidFill>
                <a:schemeClr val="accent6">
                  <a:lumMod val="20000"/>
                  <a:lumOff val="80000"/>
                  <a:alpha val="50000"/>
                </a:schemeClr>
              </a:solidFill>
            </p:spPr>
            <p:txBody>
              <a:bodyPr wrap="square" tIns="0" bIns="0" rtlCol="0">
                <a:spAutoFit/>
              </a:bodyPr>
              <a:lstStyle/>
              <a:p>
                <a:pP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函数</a:t>
                </a:r>
                <a14:m>
                  <m:oMath xmlns:m="http://schemas.openxmlformats.org/officeDocument/2006/math">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𝟐</m:t>
                            </m:r>
                          </m:sup>
                        </m:sSup>
                        <m:r>
                          <a:rPr lang="en-US" altLang="zh-CN" sz="2000" b="1" i="0" smtClean="0">
                            <a:solidFill>
                              <a:srgbClr val="002060"/>
                            </a:solidFill>
                            <a:latin typeface="Cambria Math" panose="02040503050406030204" pitchFamily="18" charset="0"/>
                          </a:rPr>
                          <m:t>𝐥𝐨𝐠</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e>
                    </m:d>
                    <m:d>
                      <m:dPr>
                        <m:ctrlPr>
                          <a:rPr lang="en-US" altLang="zh-CN" sz="2000" b="1" i="1" smtClean="0">
                            <a:solidFill>
                              <a:srgbClr val="002060"/>
                            </a:solidFill>
                            <a:latin typeface="Cambria Math" panose="02040503050406030204" pitchFamily="18" charset="0"/>
                          </a:rPr>
                        </m:ctrlPr>
                      </m:dPr>
                      <m:e>
                        <m:r>
                          <a:rPr lang="en-US" altLang="zh-CN" sz="2000" b="1">
                            <a:solidFill>
                              <a:srgbClr val="002060"/>
                            </a:solidFill>
                            <a:latin typeface="Cambria Math" panose="02040503050406030204" pitchFamily="18" charset="0"/>
                          </a:rPr>
                          <m:t>𝐥𝐨𝐠</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 + </m:t>
                        </m:r>
                        <m:r>
                          <a:rPr lang="en-US" altLang="zh-CN" sz="2000" b="1" i="1" smtClean="0">
                            <a:solidFill>
                              <a:srgbClr val="002060"/>
                            </a:solidFill>
                            <a:latin typeface="Cambria Math" panose="02040503050406030204" pitchFamily="18" charset="0"/>
                          </a:rPr>
                          <m:t>𝟏</m:t>
                        </m:r>
                      </m:e>
                    </m:d>
                    <m:r>
                      <a:rPr lang="en-US" altLang="zh-CN" sz="2000" b="1" i="1" smtClean="0">
                        <a:solidFill>
                          <a:srgbClr val="002060"/>
                        </a:solidFill>
                        <a:latin typeface="Cambria Math" panose="02040503050406030204" pitchFamily="18" charset="0"/>
                      </a:rPr>
                      <m:t>+ </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𝟏𝟐</m:t>
                        </m:r>
                        <m:r>
                          <a:rPr lang="en-US" altLang="zh-CN" sz="2000" b="1" i="0" smtClean="0">
                            <a:solidFill>
                              <a:srgbClr val="002060"/>
                            </a:solidFill>
                            <a:latin typeface="Cambria Math" panose="02040503050406030204" pitchFamily="18" charset="0"/>
                          </a:rPr>
                          <m:t> </m:t>
                        </m:r>
                        <m:r>
                          <a:rPr lang="en-US" altLang="zh-CN" sz="2000" b="1">
                            <a:solidFill>
                              <a:srgbClr val="002060"/>
                            </a:solidFill>
                            <a:latin typeface="Cambria Math" panose="02040503050406030204" pitchFamily="18" charset="0"/>
                          </a:rPr>
                          <m:t>𝐥𝐨𝐠</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e>
                    </m:d>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𝟑</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e>
                    </m:d>
                  </m:oMath>
                </a14:m>
                <a:r>
                  <a:rPr lang="zh-CN" altLang="en-US" sz="2000" b="1">
                    <a:solidFill>
                      <a:srgbClr val="002060"/>
                    </a:solidFill>
                    <a:latin typeface="楷体" panose="02010609060101010101" pitchFamily="49" charset="-122"/>
                    <a:ea typeface="楷体" panose="02010609060101010101" pitchFamily="49" charset="-122"/>
                  </a:rPr>
                  <a:t>尽可能好的大</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zh-CN" altLang="en-US" sz="2000" b="1">
                    <a:solidFill>
                      <a:srgbClr val="002060"/>
                    </a:solidFill>
                    <a:latin typeface="楷体" panose="02010609060101010101" pitchFamily="49" charset="-122"/>
                    <a:ea typeface="楷体" panose="02010609060101010101" pitchFamily="49" charset="-122"/>
                  </a:rPr>
                  <a:t>估计是</a:t>
                </a:r>
                <a:r>
                  <a:rPr lang="zh-CN" altLang="en-US" sz="2000" b="1"/>
                  <a:t>  </a:t>
                </a:r>
                <a:r>
                  <a:rPr lang="en-US" altLang="zh-CN" sz="2000" b="1">
                    <a:solidFill>
                      <a:srgbClr val="C00000"/>
                    </a:solidFill>
                  </a:rPr>
                  <a:t>C. </a:t>
                </a:r>
                <a14:m>
                  <m:oMath xmlns:m="http://schemas.openxmlformats.org/officeDocument/2006/math">
                    <m:r>
                      <a:rPr lang="en-US" altLang="zh-CN" sz="2000" b="1" i="1" smtClean="0">
                        <a:solidFill>
                          <a:srgbClr val="C00000"/>
                        </a:solidFill>
                        <a:latin typeface="Cambria Math" panose="02040503050406030204" pitchFamily="18" charset="0"/>
                      </a:rPr>
                      <m:t>𝑶</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𝟑</m:t>
                            </m:r>
                          </m:sup>
                        </m:sSup>
                        <m:r>
                          <a:rPr lang="en-US" altLang="zh-CN" sz="2000" b="1">
                            <a:solidFill>
                              <a:srgbClr val="C00000"/>
                            </a:solidFill>
                            <a:latin typeface="Cambria Math" panose="02040503050406030204" pitchFamily="18" charset="0"/>
                          </a:rPr>
                          <m:t>𝐥𝐨𝐠</m:t>
                        </m:r>
                        <m:r>
                          <a:rPr lang="en-US" altLang="zh-CN" sz="2000" b="1" i="1" smtClean="0">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𝒏</m:t>
                        </m:r>
                      </m:e>
                    </m:d>
                  </m:oMath>
                </a14:m>
                <a:r>
                  <a:rPr lang="en-US" altLang="zh-CN" sz="2000" b="1"/>
                  <a:t> </a:t>
                </a:r>
              </a:p>
              <a:p>
                <a:pPr>
                  <a:lnSpc>
                    <a:spcPts val="2800"/>
                  </a:lnSpc>
                  <a:spcBef>
                    <a:spcPts val="600"/>
                  </a:spcBef>
                </a:pPr>
                <a:r>
                  <a:rPr lang="en-US" altLang="zh-CN" sz="2000" b="1">
                    <a:solidFill>
                      <a:schemeClr val="accent2">
                        <a:lumMod val="50000"/>
                      </a:schemeClr>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𝒏</m:t>
                        </m:r>
                      </m:e>
                      <m:sup>
                        <m:r>
                          <a:rPr lang="en-US" altLang="zh-CN" sz="2000" b="1" i="1" smtClean="0">
                            <a:solidFill>
                              <a:schemeClr val="accent2">
                                <a:lumMod val="50000"/>
                              </a:schemeClr>
                            </a:solidFill>
                            <a:latin typeface="Cambria Math" panose="02040503050406030204" pitchFamily="18" charset="0"/>
                          </a:rPr>
                          <m:t>𝟐</m:t>
                        </m:r>
                      </m:sup>
                    </m:sSup>
                    <m:r>
                      <a:rPr lang="en-US" altLang="zh-CN" sz="2000" b="1">
                        <a:solidFill>
                          <a:schemeClr val="accent2">
                            <a:lumMod val="50000"/>
                          </a:schemeClr>
                        </a:solidFill>
                        <a:latin typeface="Cambria Math" panose="02040503050406030204" pitchFamily="18" charset="0"/>
                      </a:rPr>
                      <m:t>𝐥𝐨𝐠</m:t>
                    </m:r>
                    <m:r>
                      <a:rPr lang="en-US" altLang="zh-CN" sz="2000" b="1" i="0" smtClean="0">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C.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𝒏</m:t>
                        </m:r>
                      </m:e>
                      <m:sup>
                        <m:r>
                          <a:rPr lang="en-US" altLang="zh-CN" sz="2000" b="1" i="1" smtClean="0">
                            <a:solidFill>
                              <a:schemeClr val="accent2">
                                <a:lumMod val="50000"/>
                              </a:schemeClr>
                            </a:solidFill>
                            <a:latin typeface="Cambria Math" panose="02040503050406030204" pitchFamily="18" charset="0"/>
                          </a:rPr>
                          <m:t>𝟑</m:t>
                        </m:r>
                      </m:sup>
                    </m:sSup>
                    <m:r>
                      <a:rPr lang="en-US" altLang="zh-CN" sz="2000" b="1">
                        <a:solidFill>
                          <a:schemeClr val="accent2">
                            <a:lumMod val="50000"/>
                          </a:schemeClr>
                        </a:solidFill>
                        <a:latin typeface="Cambria Math" panose="02040503050406030204" pitchFamily="18" charset="0"/>
                      </a:rPr>
                      <m:t>𝐥𝐨𝐠</m:t>
                    </m:r>
                    <m:r>
                      <a:rPr lang="en-US" altLang="zh-CN" sz="2000" b="1" i="0" smtClean="0">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𝐥𝐨𝐠</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63096" y="1104010"/>
                <a:ext cx="10801762" cy="771430"/>
              </a:xfrm>
              <a:prstGeom prst="rect">
                <a:avLst/>
              </a:prstGeom>
              <a:blipFill rotWithShape="1">
                <a:blip r:embed="rId2"/>
                <a:stretch>
                  <a:fillRect l="-4" t="-49" r="2" b="-20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763096" y="2004965"/>
                <a:ext cx="9558439" cy="710003"/>
              </a:xfrm>
              <a:prstGeom prst="rect">
                <a:avLst/>
              </a:prstGeom>
              <a:noFill/>
            </p:spPr>
            <p:txBody>
              <a:bodyPr wrap="square" tIns="0" bIns="0" rtlCol="0">
                <a:spAutoFit/>
              </a:bodyPr>
              <a:lstStyle/>
              <a:p>
                <a:pPr>
                  <a:lnSpc>
                    <a:spcPts val="2800"/>
                  </a:lnSpc>
                  <a:spcBef>
                    <a:spcPts val="600"/>
                  </a:spcBef>
                </a:pPr>
                <a14:m>
                  <m:oMath xmlns:m="http://schemas.openxmlformats.org/officeDocument/2006/math">
                    <m:r>
                      <a:rPr lang="en-US" altLang="zh-CN" b="1" smtClean="0">
                        <a:solidFill>
                          <a:schemeClr val="tx2">
                            <a:lumMod val="50000"/>
                          </a:schemeClr>
                        </a:solidFill>
                        <a:latin typeface="Cambria Math" panose="02040503050406030204" pitchFamily="18" charset="0"/>
                      </a:rPr>
                      <m:t>𝐥𝐨𝐠</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𝒏</m:t>
                    </m:r>
                  </m:oMath>
                </a14:m>
                <a:r>
                  <a:rPr lang="zh-CN" altLang="en-US" b="1">
                    <a:solidFill>
                      <a:schemeClr val="tx2">
                        <a:lumMod val="50000"/>
                      </a:schemeClr>
                    </a:solidFill>
                  </a:rPr>
                  <a:t>是</a:t>
                </a:r>
                <a14:m>
                  <m:oMath xmlns:m="http://schemas.openxmlformats.org/officeDocument/2006/math">
                    <m:r>
                      <a:rPr lang="en-US" altLang="zh-CN" b="1" i="1" smtClean="0">
                        <a:solidFill>
                          <a:schemeClr val="tx2">
                            <a:lumMod val="50000"/>
                          </a:schemeClr>
                        </a:solidFill>
                        <a:latin typeface="Cambria Math" panose="02040503050406030204" pitchFamily="18" charset="0"/>
                      </a:rPr>
                      <m:t>𝑶</m:t>
                    </m:r>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𝒏</m:t>
                    </m:r>
                    <m:r>
                      <a:rPr lang="en-US" altLang="zh-CN" b="1" i="1" smtClean="0">
                        <a:solidFill>
                          <a:schemeClr val="tx2">
                            <a:lumMod val="50000"/>
                          </a:schemeClr>
                        </a:solidFill>
                        <a:latin typeface="Cambria Math" panose="02040503050406030204" pitchFamily="18" charset="0"/>
                      </a:rPr>
                      <m:t>)</m:t>
                    </m:r>
                  </m:oMath>
                </a14:m>
                <a:r>
                  <a:rPr lang="zh-CN" altLang="en-US" b="1">
                    <a:solidFill>
                      <a:schemeClr val="tx2">
                        <a:lumMod val="50000"/>
                      </a:schemeClr>
                    </a:solidFill>
                  </a:rPr>
                  <a:t>，但</a:t>
                </a:r>
                <a14:m>
                  <m:oMath xmlns:m="http://schemas.openxmlformats.org/officeDocument/2006/math">
                    <m:r>
                      <a:rPr lang="en-US" altLang="zh-CN" b="1" i="1" smtClean="0">
                        <a:solidFill>
                          <a:schemeClr val="tx2">
                            <a:lumMod val="50000"/>
                          </a:schemeClr>
                        </a:solidFill>
                        <a:latin typeface="Cambria Math" panose="02040503050406030204" pitchFamily="18" charset="0"/>
                      </a:rPr>
                      <m:t>𝒏</m:t>
                    </m:r>
                  </m:oMath>
                </a14:m>
                <a:r>
                  <a:rPr lang="zh-CN" altLang="en-US" b="1">
                    <a:solidFill>
                      <a:schemeClr val="tx2">
                        <a:lumMod val="50000"/>
                      </a:schemeClr>
                    </a:solidFill>
                  </a:rPr>
                  <a:t>不是</a:t>
                </a:r>
                <a14:m>
                  <m:oMath xmlns:m="http://schemas.openxmlformats.org/officeDocument/2006/math">
                    <m:r>
                      <a:rPr lang="en-US" altLang="zh-CN" b="1" i="1" smtClean="0">
                        <a:solidFill>
                          <a:schemeClr val="tx2">
                            <a:lumMod val="50000"/>
                          </a:schemeClr>
                        </a:solidFill>
                        <a:latin typeface="Cambria Math" panose="02040503050406030204" pitchFamily="18" charset="0"/>
                      </a:rPr>
                      <m:t>𝑶</m:t>
                    </m:r>
                    <m:r>
                      <a:rPr lang="en-US" altLang="zh-CN" b="1" i="1" smtClean="0">
                        <a:solidFill>
                          <a:schemeClr val="tx2">
                            <a:lumMod val="50000"/>
                          </a:schemeClr>
                        </a:solidFill>
                        <a:latin typeface="Cambria Math" panose="02040503050406030204" pitchFamily="18" charset="0"/>
                      </a:rPr>
                      <m:t>(</m:t>
                    </m:r>
                    <m:r>
                      <a:rPr lang="en-US" altLang="zh-CN" b="1">
                        <a:solidFill>
                          <a:schemeClr val="tx2">
                            <a:lumMod val="50000"/>
                          </a:schemeClr>
                        </a:solidFill>
                        <a:latin typeface="Cambria Math" panose="02040503050406030204" pitchFamily="18" charset="0"/>
                      </a:rPr>
                      <m:t>𝐥𝐨𝐠</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𝒏</m:t>
                    </m:r>
                    <m:r>
                      <a:rPr lang="en-US" altLang="zh-CN" b="1" i="1" smtClean="0">
                        <a:solidFill>
                          <a:schemeClr val="tx2">
                            <a:lumMod val="50000"/>
                          </a:schemeClr>
                        </a:solidFill>
                        <a:latin typeface="Cambria Math" panose="02040503050406030204" pitchFamily="18" charset="0"/>
                      </a:rPr>
                      <m:t>)</m:t>
                    </m:r>
                  </m:oMath>
                </a14:m>
                <a:r>
                  <a:rPr lang="zh-CN" altLang="en-US" b="1">
                    <a:solidFill>
                      <a:schemeClr val="tx2">
                        <a:lumMod val="50000"/>
                      </a:schemeClr>
                    </a:solidFill>
                  </a:rPr>
                  <a:t>，因此</a:t>
                </a:r>
                <a14:m>
                  <m:oMath xmlns:m="http://schemas.openxmlformats.org/officeDocument/2006/math">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𝟑</m:t>
                        </m:r>
                      </m:sup>
                    </m:sSup>
                    <m:r>
                      <a:rPr lang="en-US" altLang="zh-CN" b="1" i="1" smtClean="0">
                        <a:solidFill>
                          <a:schemeClr val="tx2">
                            <a:lumMod val="50000"/>
                          </a:schemeClr>
                        </a:solidFill>
                        <a:latin typeface="Cambria Math" panose="02040503050406030204" pitchFamily="18" charset="0"/>
                      </a:rPr>
                      <m:t>+</m:t>
                    </m:r>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𝟐</m:t>
                        </m:r>
                      </m:sup>
                    </m:sSup>
                    <m:r>
                      <a:rPr lang="en-US" altLang="zh-CN" b="1">
                        <a:solidFill>
                          <a:schemeClr val="tx2">
                            <a:lumMod val="50000"/>
                          </a:schemeClr>
                        </a:solidFill>
                        <a:latin typeface="Cambria Math" panose="02040503050406030204" pitchFamily="18" charset="0"/>
                      </a:rPr>
                      <m:t>𝐥𝐨𝐠</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𝒏</m:t>
                    </m:r>
                  </m:oMath>
                </a14:m>
                <a:r>
                  <a:rPr lang="zh-CN" altLang="en-US" b="1">
                    <a:solidFill>
                      <a:schemeClr val="tx2">
                        <a:lumMod val="50000"/>
                      </a:schemeClr>
                    </a:solidFill>
                  </a:rPr>
                  <a:t>是</a:t>
                </a:r>
                <a14:m>
                  <m:oMath xmlns:m="http://schemas.openxmlformats.org/officeDocument/2006/math">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𝟑</m:t>
                        </m:r>
                      </m:sup>
                    </m:sSup>
                  </m:oMath>
                </a14:m>
                <a:r>
                  <a:rPr lang="zh-CN" altLang="en-US" b="1">
                    <a:solidFill>
                      <a:schemeClr val="tx2">
                        <a:lumMod val="50000"/>
                      </a:schemeClr>
                    </a:solidFill>
                  </a:rPr>
                  <a:t>，因此</a:t>
                </a:r>
                <a14:m>
                  <m:oMath xmlns:m="http://schemas.openxmlformats.org/officeDocument/2006/math">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𝟑</m:t>
                            </m:r>
                          </m:sup>
                        </m:sSup>
                        <m:r>
                          <a:rPr lang="en-US" altLang="zh-CN" b="1" i="1" smtClean="0">
                            <a:solidFill>
                              <a:schemeClr val="tx2">
                                <a:lumMod val="50000"/>
                              </a:schemeClr>
                            </a:solidFill>
                            <a:latin typeface="Cambria Math" panose="02040503050406030204" pitchFamily="18" charset="0"/>
                          </a:rPr>
                          <m:t>+</m:t>
                        </m:r>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𝟐</m:t>
                            </m:r>
                          </m:sup>
                        </m:sSup>
                        <m:r>
                          <a:rPr lang="en-US" altLang="zh-CN" b="1">
                            <a:solidFill>
                              <a:schemeClr val="tx2">
                                <a:lumMod val="50000"/>
                              </a:schemeClr>
                            </a:solidFill>
                            <a:latin typeface="Cambria Math" panose="02040503050406030204" pitchFamily="18" charset="0"/>
                          </a:rPr>
                          <m:t>𝐥𝐨𝐠</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𝒏</m:t>
                        </m:r>
                      </m:e>
                    </m:d>
                    <m:d>
                      <m:dPr>
                        <m:ctrlPr>
                          <a:rPr lang="en-US" altLang="zh-CN" b="1" i="1">
                            <a:solidFill>
                              <a:schemeClr val="tx2">
                                <a:lumMod val="50000"/>
                              </a:schemeClr>
                            </a:solidFill>
                            <a:latin typeface="Cambria Math" panose="02040503050406030204" pitchFamily="18" charset="0"/>
                          </a:rPr>
                        </m:ctrlPr>
                      </m:dPr>
                      <m:e>
                        <m:r>
                          <a:rPr lang="en-US" altLang="zh-CN" b="1">
                            <a:solidFill>
                              <a:schemeClr val="tx2">
                                <a:lumMod val="50000"/>
                              </a:schemeClr>
                            </a:solidFill>
                            <a:latin typeface="Cambria Math" panose="02040503050406030204" pitchFamily="18" charset="0"/>
                          </a:rPr>
                          <m:t>𝐥𝐨𝐠</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𝒏</m:t>
                        </m:r>
                        <m:r>
                          <a:rPr lang="en-US" altLang="zh-CN" b="1" i="1">
                            <a:solidFill>
                              <a:schemeClr val="tx2">
                                <a:lumMod val="50000"/>
                              </a:schemeClr>
                            </a:solidFill>
                            <a:latin typeface="Cambria Math" panose="02040503050406030204" pitchFamily="18" charset="0"/>
                          </a:rPr>
                          <m:t> + </m:t>
                        </m:r>
                        <m:r>
                          <a:rPr lang="en-US" altLang="zh-CN" b="1" i="1">
                            <a:solidFill>
                              <a:schemeClr val="tx2">
                                <a:lumMod val="50000"/>
                              </a:schemeClr>
                            </a:solidFill>
                            <a:latin typeface="Cambria Math" panose="02040503050406030204" pitchFamily="18" charset="0"/>
                          </a:rPr>
                          <m:t>𝟏</m:t>
                        </m:r>
                      </m:e>
                    </m:d>
                  </m:oMath>
                </a14:m>
                <a:r>
                  <a:rPr lang="zh-CN" altLang="en-US" b="1">
                    <a:solidFill>
                      <a:schemeClr val="tx2">
                        <a:lumMod val="50000"/>
                      </a:schemeClr>
                    </a:solidFill>
                  </a:rPr>
                  <a:t>是</a:t>
                </a:r>
                <a14:m>
                  <m:oMath xmlns:m="http://schemas.openxmlformats.org/officeDocument/2006/math">
                    <m:r>
                      <a:rPr lang="en-US" altLang="zh-CN" b="1" i="1" smtClean="0">
                        <a:solidFill>
                          <a:schemeClr val="tx2">
                            <a:lumMod val="50000"/>
                          </a:schemeClr>
                        </a:solidFill>
                        <a:latin typeface="Cambria Math" panose="02040503050406030204" pitchFamily="18" charset="0"/>
                      </a:rPr>
                      <m:t>𝑶</m:t>
                    </m:r>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𝟑</m:t>
                            </m:r>
                          </m:sup>
                        </m:sSup>
                        <m:r>
                          <a:rPr lang="en-US" altLang="zh-CN" b="1">
                            <a:solidFill>
                              <a:schemeClr val="tx2">
                                <a:lumMod val="50000"/>
                              </a:schemeClr>
                            </a:solidFill>
                            <a:latin typeface="Cambria Math" panose="02040503050406030204" pitchFamily="18" charset="0"/>
                          </a:rPr>
                          <m:t>𝐥𝐨𝐠</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𝒏</m:t>
                        </m:r>
                      </m:e>
                    </m:d>
                  </m:oMath>
                </a14:m>
                <a:r>
                  <a:rPr lang="zh-CN" altLang="en-US" b="1">
                    <a:solidFill>
                      <a:schemeClr val="tx2">
                        <a:lumMod val="50000"/>
                      </a:schemeClr>
                    </a:solidFill>
                  </a:rPr>
                  <a:t>，不难看到</a:t>
                </a:r>
                <a14:m>
                  <m:oMath xmlns:m="http://schemas.openxmlformats.org/officeDocument/2006/math">
                    <m:d>
                      <m:dPr>
                        <m:ctrlPr>
                          <a:rPr lang="en-US" altLang="zh-CN" b="1" i="1" smtClean="0">
                            <a:solidFill>
                              <a:schemeClr val="tx2">
                                <a:lumMod val="50000"/>
                              </a:schemeClr>
                            </a:solidFill>
                            <a:latin typeface="Cambria Math" panose="02040503050406030204" pitchFamily="18" charset="0"/>
                          </a:rPr>
                        </m:ctrlPr>
                      </m:dPr>
                      <m:e>
                        <m:r>
                          <a:rPr lang="en-US" altLang="zh-CN" b="1" i="1" smtClean="0">
                            <a:solidFill>
                              <a:schemeClr val="tx2">
                                <a:lumMod val="50000"/>
                              </a:schemeClr>
                            </a:solidFill>
                            <a:latin typeface="Cambria Math" panose="02040503050406030204" pitchFamily="18" charset="0"/>
                          </a:rPr>
                          <m:t>𝟏𝟐</m:t>
                        </m:r>
                        <m:r>
                          <a:rPr lang="en-US" altLang="zh-CN" b="1">
                            <a:solidFill>
                              <a:schemeClr val="tx2">
                                <a:lumMod val="50000"/>
                              </a:schemeClr>
                            </a:solidFill>
                            <a:latin typeface="Cambria Math" panose="02040503050406030204" pitchFamily="18" charset="0"/>
                          </a:rPr>
                          <m:t>𝐥𝐨𝐠</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𝒏</m:t>
                        </m:r>
                      </m:e>
                    </m:d>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𝟑</m:t>
                            </m:r>
                          </m:sup>
                        </m:sSup>
                        <m:r>
                          <a:rPr lang="en-US" altLang="zh-CN"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𝟏</m:t>
                        </m:r>
                      </m:e>
                    </m:d>
                  </m:oMath>
                </a14:m>
                <a:r>
                  <a:rPr lang="zh-CN" altLang="en-US" b="1">
                    <a:solidFill>
                      <a:schemeClr val="tx2">
                        <a:lumMod val="50000"/>
                      </a:schemeClr>
                    </a:solidFill>
                  </a:rPr>
                  <a:t>也是</a:t>
                </a:r>
                <a14:m>
                  <m:oMath xmlns:m="http://schemas.openxmlformats.org/officeDocument/2006/math">
                    <m:r>
                      <a:rPr lang="en-US" altLang="zh-CN" b="1" i="1" smtClean="0">
                        <a:solidFill>
                          <a:schemeClr val="tx2">
                            <a:lumMod val="50000"/>
                          </a:schemeClr>
                        </a:solidFill>
                        <a:latin typeface="Cambria Math" panose="02040503050406030204" pitchFamily="18" charset="0"/>
                      </a:rPr>
                      <m:t>𝑶</m:t>
                    </m:r>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𝒏</m:t>
                            </m:r>
                          </m:e>
                          <m:sup>
                            <m:r>
                              <a:rPr lang="en-US" altLang="zh-CN" b="1" i="1" smtClean="0">
                                <a:solidFill>
                                  <a:schemeClr val="tx2">
                                    <a:lumMod val="50000"/>
                                  </a:schemeClr>
                                </a:solidFill>
                                <a:latin typeface="Cambria Math" panose="02040503050406030204" pitchFamily="18" charset="0"/>
                              </a:rPr>
                              <m:t>𝟑</m:t>
                            </m:r>
                          </m:sup>
                        </m:sSup>
                        <m:r>
                          <a:rPr lang="en-US" altLang="zh-CN" b="1">
                            <a:solidFill>
                              <a:schemeClr val="tx2">
                                <a:lumMod val="50000"/>
                              </a:schemeClr>
                            </a:solidFill>
                            <a:latin typeface="Cambria Math" panose="02040503050406030204" pitchFamily="18" charset="0"/>
                          </a:rPr>
                          <m:t>𝐥𝐨𝐠</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𝒏</m:t>
                        </m:r>
                      </m:e>
                    </m:d>
                  </m:oMath>
                </a14:m>
                <a:endParaRPr lang="zh-CN" altLang="en-US" b="1">
                  <a:solidFill>
                    <a:schemeClr val="tx2">
                      <a:lumMod val="50000"/>
                    </a:schemeClr>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763096" y="2004965"/>
                <a:ext cx="9558439" cy="710003"/>
              </a:xfrm>
              <a:prstGeom prst="rect">
                <a:avLst/>
              </a:prstGeom>
              <a:blipFill rotWithShape="1">
                <a:blip r:embed="rId3"/>
                <a:stretch>
                  <a:fillRect l="-5" t="-38" r="3" b="-1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63096" y="2973918"/>
                <a:ext cx="9558439" cy="786947"/>
              </a:xfrm>
              <a:prstGeom prst="rect">
                <a:avLst/>
              </a:prstGeom>
              <a:solidFill>
                <a:schemeClr val="accent6">
                  <a:lumMod val="20000"/>
                  <a:lumOff val="80000"/>
                  <a:alpha val="50000"/>
                </a:schemeClr>
              </a:solidFill>
            </p:spPr>
            <p:txBody>
              <a:bodyPr wrap="square" tIns="0" bIns="0" rtlCol="0">
                <a:spAutoFit/>
              </a:bodyPr>
              <a:lstStyle/>
              <a:p>
                <a:pP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函数</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𝒏</m:t>
                        </m:r>
                      </m:e>
                      <m:sup>
                        <m:r>
                          <a:rPr lang="en-US" altLang="zh-CN" sz="2000" b="1">
                            <a:solidFill>
                              <a:srgbClr val="002060"/>
                            </a:solidFill>
                            <a:latin typeface="Cambria Math" panose="02040503050406030204" pitchFamily="18" charset="0"/>
                            <a:ea typeface="楷体" panose="02010609060101010101" pitchFamily="49" charset="-122"/>
                          </a:rPr>
                          <m:t>𝟒</m:t>
                        </m:r>
                      </m:sup>
                    </m:sSup>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𝒏</m:t>
                        </m:r>
                      </m:e>
                      <m:sup>
                        <m:r>
                          <a:rPr lang="en-US" altLang="zh-CN" sz="2000" b="1">
                            <a:solidFill>
                              <a:srgbClr val="002060"/>
                            </a:solidFill>
                            <a:latin typeface="Cambria Math" panose="02040503050406030204" pitchFamily="18" charset="0"/>
                            <a:ea typeface="楷体" panose="02010609060101010101" pitchFamily="49" charset="-122"/>
                          </a:rPr>
                          <m:t>𝟐</m:t>
                        </m:r>
                      </m:sup>
                    </m:sSup>
                    <m:r>
                      <a:rPr lang="en-US" altLang="zh-CN" sz="2000" b="1">
                        <a:solidFill>
                          <a:srgbClr val="002060"/>
                        </a:solidFill>
                        <a:latin typeface="Cambria Math" panose="02040503050406030204" pitchFamily="18" charset="0"/>
                        <a:ea typeface="楷体" panose="02010609060101010101" pitchFamily="49" charset="-122"/>
                      </a:rPr>
                      <m:t>𝐥𝐨𝐠</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𝒏</m:t>
                    </m:r>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𝒏</m:t>
                        </m:r>
                      </m:e>
                      <m:sup>
                        <m:r>
                          <a:rPr lang="en-US" altLang="zh-CN" sz="2000" b="1">
                            <a:solidFill>
                              <a:srgbClr val="002060"/>
                            </a:solidFill>
                            <a:latin typeface="Cambria Math" panose="02040503050406030204" pitchFamily="18" charset="0"/>
                            <a:ea typeface="楷体" panose="02010609060101010101" pitchFamily="49" charset="-122"/>
                          </a:rPr>
                          <m:t>𝟐</m:t>
                        </m:r>
                      </m:sup>
                    </m:sSup>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𝐥𝐨𝐠</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𝒏</m:t>
                            </m:r>
                          </m:e>
                        </m:d>
                      </m:e>
                      <m:sup>
                        <m:r>
                          <a:rPr lang="en-US" altLang="zh-CN" sz="2000" b="1">
                            <a:solidFill>
                              <a:srgbClr val="002060"/>
                            </a:solidFill>
                            <a:latin typeface="Cambria Math" panose="02040503050406030204" pitchFamily="18" charset="0"/>
                            <a:ea typeface="楷体" panose="02010609060101010101" pitchFamily="49" charset="-122"/>
                          </a:rPr>
                          <m:t>𝟐</m:t>
                        </m:r>
                      </m:sup>
                    </m:sSup>
                    <m:r>
                      <a:rPr lang="en-US" altLang="zh-CN" sz="2000" b="1">
                        <a:solidFill>
                          <a:srgbClr val="002060"/>
                        </a:solidFill>
                        <a:latin typeface="Cambria Math" panose="02040503050406030204" pitchFamily="18" charset="0"/>
                        <a:ea typeface="楷体" panose="02010609060101010101" pitchFamily="49" charset="-122"/>
                      </a:rPr>
                      <m:t> )</m:t>
                    </m:r>
                  </m:oMath>
                </a14:m>
                <a:r>
                  <a:rPr lang="zh-CN" altLang="en-US" sz="2000" b="1">
                    <a:solidFill>
                      <a:srgbClr val="002060"/>
                    </a:solidFill>
                    <a:latin typeface="楷体" panose="02010609060101010101" pitchFamily="49" charset="-122"/>
                    <a:ea typeface="楷体" panose="02010609060101010101" pitchFamily="49" charset="-122"/>
                  </a:rPr>
                  <a:t>尽可能好的大</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𝑶</m:t>
                    </m:r>
                  </m:oMath>
                </a14:m>
                <a:r>
                  <a:rPr lang="zh-CN" altLang="en-US" sz="2000" b="1">
                    <a:solidFill>
                      <a:srgbClr val="002060"/>
                    </a:solidFill>
                    <a:latin typeface="楷体" panose="02010609060101010101" pitchFamily="49" charset="-122"/>
                    <a:ea typeface="楷体" panose="02010609060101010101" pitchFamily="49" charset="-122"/>
                  </a:rPr>
                  <a:t>估计是</a:t>
                </a:r>
                <a:r>
                  <a:rPr lang="zh-CN" altLang="en-US" sz="2000" b="1"/>
                  <a:t>   </a:t>
                </a:r>
                <a:r>
                  <a:rPr lang="en-US" altLang="zh-CN" sz="2000" b="1">
                    <a:solidFill>
                      <a:srgbClr val="C00000"/>
                    </a:solidFill>
                  </a:rPr>
                  <a:t>B. </a:t>
                </a:r>
                <a14:m>
                  <m:oMath xmlns:m="http://schemas.openxmlformats.org/officeDocument/2006/math">
                    <m:r>
                      <a:rPr lang="en-US" altLang="zh-CN" sz="2000" b="1">
                        <a:solidFill>
                          <a:srgbClr val="C00000"/>
                        </a:solidFill>
                        <a:latin typeface="Cambria Math" panose="02040503050406030204" pitchFamily="18" charset="0"/>
                      </a:rPr>
                      <m:t>𝑶</m:t>
                    </m:r>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𝒏</m:t>
                    </m:r>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𝟐</m:t>
                    </m:r>
                    <m:r>
                      <a:rPr lang="en-US" altLang="zh-CN" sz="2000" b="1">
                        <a:solidFill>
                          <a:srgbClr val="C00000"/>
                        </a:solidFill>
                        <a:latin typeface="Cambria Math" panose="02040503050406030204" pitchFamily="18" charset="0"/>
                      </a:rPr>
                      <m:t>)</m:t>
                    </m:r>
                  </m:oMath>
                </a14:m>
                <a:r>
                  <a:rPr lang="en-US" altLang="zh-CN" sz="2000" b="1">
                    <a:solidFill>
                      <a:srgbClr val="C00000"/>
                    </a:solidFill>
                  </a:rPr>
                  <a:t> </a:t>
                </a:r>
              </a:p>
              <a:p>
                <a:pPr>
                  <a:lnSpc>
                    <a:spcPts val="2800"/>
                  </a:lnSpc>
                  <a:spcBef>
                    <a:spcPts val="600"/>
                  </a:spcBef>
                </a:pPr>
                <a:r>
                  <a:rPr lang="en-US" altLang="zh-CN" sz="2000" b="1">
                    <a:solidFill>
                      <a:schemeClr val="accent2">
                        <a:lumMod val="50000"/>
                      </a:schemeClr>
                    </a:solidFill>
                  </a:rPr>
                  <a:t>A.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𝟒</m:t>
                            </m:r>
                          </m:sup>
                        </m:sSup>
                      </m:e>
                    </m:d>
                  </m:oMath>
                </a14:m>
                <a:r>
                  <a:rPr lang="en-US" altLang="zh-CN" sz="2000" b="1">
                    <a:solidFill>
                      <a:schemeClr val="accent2">
                        <a:lumMod val="50000"/>
                      </a:schemeClr>
                    </a:solidFill>
                  </a:rPr>
                  <a:t>      B.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𝟐</m:t>
                            </m:r>
                          </m:sup>
                        </m:sSup>
                      </m:e>
                    </m:d>
                  </m:oMath>
                </a14:m>
                <a:r>
                  <a:rPr lang="en-US" altLang="zh-CN" sz="2000" b="1">
                    <a:solidFill>
                      <a:schemeClr val="accent2">
                        <a:lumMod val="50000"/>
                      </a:schemeClr>
                    </a:solidFill>
                  </a:rPr>
                  <a:t>     C.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𝟐</m:t>
                            </m:r>
                          </m:sup>
                        </m:sSup>
                        <m:r>
                          <a:rPr lang="en-US" altLang="zh-CN" sz="2000" b="1">
                            <a:solidFill>
                              <a:schemeClr val="accent2">
                                <a:lumMod val="50000"/>
                              </a:schemeClr>
                            </a:solidFill>
                            <a:latin typeface="Cambria Math" panose="02040503050406030204" pitchFamily="18" charset="0"/>
                          </a:rPr>
                          <m:t>𝐥𝐨𝐠</m:t>
                        </m:r>
                        <m:r>
                          <a:rPr lang="en-US" altLang="zh-CN" sz="2000" b="1">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𝒏</m:t>
                        </m:r>
                      </m:e>
                    </m:d>
                  </m:oMath>
                </a14:m>
                <a:r>
                  <a:rPr lang="en-US" altLang="zh-CN" sz="2000" b="1">
                    <a:solidFill>
                      <a:schemeClr val="accent2">
                        <a:lumMod val="50000"/>
                      </a:schemeClr>
                    </a:solidFill>
                  </a:rPr>
                  <a:t>      D.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𝒏</m:t>
                            </m:r>
                          </m:e>
                          <m:sup>
                            <m:r>
                              <a:rPr lang="en-US" altLang="zh-CN" sz="2000" b="1">
                                <a:solidFill>
                                  <a:schemeClr val="accent2">
                                    <a:lumMod val="50000"/>
                                  </a:schemeClr>
                                </a:solidFill>
                                <a:latin typeface="Cambria Math" panose="02040503050406030204" pitchFamily="18" charset="0"/>
                              </a:rPr>
                              <m:t>𝟐</m:t>
                            </m:r>
                          </m:sup>
                        </m:sSup>
                        <m:sSup>
                          <m:sSupPr>
                            <m:ctrlPr>
                              <a:rPr lang="en-US" altLang="zh-CN" sz="2000" b="1" i="1">
                                <a:solidFill>
                                  <a:schemeClr val="accent2">
                                    <a:lumMod val="50000"/>
                                  </a:schemeClr>
                                </a:solidFill>
                                <a:latin typeface="Cambria Math" panose="02040503050406030204" pitchFamily="18" charset="0"/>
                              </a:rPr>
                            </m:ctrlPr>
                          </m:sSupPr>
                          <m:e>
                            <m:d>
                              <m:dPr>
                                <m:ctrlPr>
                                  <a:rPr lang="en-US" altLang="zh-CN" sz="2000" b="1" i="1">
                                    <a:solidFill>
                                      <a:schemeClr val="accent2">
                                        <a:lumMod val="50000"/>
                                      </a:schemeClr>
                                    </a:solidFill>
                                    <a:latin typeface="Cambria Math" panose="02040503050406030204" pitchFamily="18" charset="0"/>
                                  </a:rPr>
                                </m:ctrlPr>
                              </m:dPr>
                              <m:e>
                                <m:r>
                                  <a:rPr lang="en-US" altLang="zh-CN" sz="2000" b="1">
                                    <a:solidFill>
                                      <a:schemeClr val="accent2">
                                        <a:lumMod val="50000"/>
                                      </a:schemeClr>
                                    </a:solidFill>
                                    <a:latin typeface="Cambria Math" panose="02040503050406030204" pitchFamily="18" charset="0"/>
                                  </a:rPr>
                                  <m:t>𝐥𝐨𝐠</m:t>
                                </m:r>
                                <m:r>
                                  <a:rPr lang="en-US" altLang="zh-CN" sz="2000" b="1">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𝒏</m:t>
                                </m:r>
                              </m:e>
                            </m:d>
                          </m:e>
                          <m:sup>
                            <m:r>
                              <a:rPr lang="en-US" altLang="zh-CN" sz="2000" b="1">
                                <a:solidFill>
                                  <a:schemeClr val="accent2">
                                    <a:lumMod val="50000"/>
                                  </a:schemeClr>
                                </a:solidFill>
                                <a:latin typeface="Cambria Math" panose="02040503050406030204" pitchFamily="18" charset="0"/>
                              </a:rPr>
                              <m:t>𝟐</m:t>
                            </m:r>
                          </m:sup>
                        </m:sSup>
                      </m:e>
                    </m:d>
                  </m:oMath>
                </a14:m>
                <a:endParaRPr lang="en-US" altLang="zh-CN" sz="2000" b="1">
                  <a:solidFill>
                    <a:schemeClr val="accent2">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63096" y="2973918"/>
                <a:ext cx="9558439" cy="786947"/>
              </a:xfrm>
              <a:prstGeom prst="rect">
                <a:avLst/>
              </a:prstGeom>
              <a:blipFill rotWithShape="1">
                <a:blip r:embed="rId4"/>
                <a:stretch>
                  <a:fillRect l="-5" t="-27" r="3" b="-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763096" y="3870798"/>
                <a:ext cx="9683431" cy="710003"/>
              </a:xfrm>
              <a:prstGeom prst="rect">
                <a:avLst/>
              </a:prstGeom>
              <a:noFill/>
            </p:spPr>
            <p:txBody>
              <a:bodyPr wrap="square" tIns="0" bIns="0" rtlCol="0">
                <a:spAutoFit/>
              </a:bodyPr>
              <a:lstStyle/>
              <a:p>
                <a:pPr>
                  <a:lnSpc>
                    <a:spcPts val="2800"/>
                  </a:lnSpc>
                  <a:spcBef>
                    <a:spcPts val="600"/>
                  </a:spcBef>
                </a:pPr>
                <a14:m>
                  <m:oMath xmlns:m="http://schemas.openxmlformats.org/officeDocument/2006/math">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𝟒</m:t>
                        </m:r>
                      </m:sup>
                    </m:sSup>
                    <m:r>
                      <a:rPr lang="pt-BR" altLang="zh-CN" b="1" i="1" smtClean="0">
                        <a:solidFill>
                          <a:schemeClr val="tx2">
                            <a:lumMod val="50000"/>
                          </a:schemeClr>
                        </a:solidFill>
                        <a:latin typeface="Cambria Math" panose="02040503050406030204" pitchFamily="18" charset="0"/>
                      </a:rPr>
                      <m:t>+</m:t>
                    </m:r>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𝟐</m:t>
                        </m:r>
                      </m:sup>
                    </m:sSup>
                    <m:r>
                      <a:rPr lang="en-US" altLang="zh-CN" b="1">
                        <a:solidFill>
                          <a:schemeClr val="tx2">
                            <a:lumMod val="50000"/>
                          </a:schemeClr>
                        </a:solidFill>
                        <a:latin typeface="Cambria Math" panose="02040503050406030204" pitchFamily="18" charset="0"/>
                      </a:rPr>
                      <m:t>𝐥𝐨𝐠</m:t>
                    </m:r>
                    <m:r>
                      <a:rPr lang="pt-BR" altLang="zh-CN" b="1" i="1">
                        <a:solidFill>
                          <a:schemeClr val="tx2">
                            <a:lumMod val="50000"/>
                          </a:schemeClr>
                        </a:solidFill>
                        <a:latin typeface="Cambria Math" panose="02040503050406030204" pitchFamily="18" charset="0"/>
                      </a:rPr>
                      <m:t> </m:t>
                    </m:r>
                    <m:r>
                      <a:rPr lang="pt-BR" altLang="zh-CN" b="1" i="1">
                        <a:solidFill>
                          <a:schemeClr val="tx2">
                            <a:lumMod val="50000"/>
                          </a:schemeClr>
                        </a:solidFill>
                        <a:latin typeface="Cambria Math" panose="02040503050406030204" pitchFamily="18" charset="0"/>
                      </a:rPr>
                      <m:t>𝒏</m:t>
                    </m:r>
                  </m:oMath>
                </a14:m>
                <a:r>
                  <a:rPr lang="zh-CN" altLang="pt-BR" b="1">
                    <a:solidFill>
                      <a:schemeClr val="tx2">
                        <a:lumMod val="50000"/>
                      </a:schemeClr>
                    </a:solidFill>
                  </a:rPr>
                  <a:t>是</a:t>
                </a:r>
                <a14:m>
                  <m:oMath xmlns:m="http://schemas.openxmlformats.org/officeDocument/2006/math">
                    <m:r>
                      <a:rPr lang="pt-BR" altLang="zh-CN" b="1" i="1" smtClean="0">
                        <a:solidFill>
                          <a:schemeClr val="tx2">
                            <a:lumMod val="50000"/>
                          </a:schemeClr>
                        </a:solidFill>
                        <a:latin typeface="Cambria Math" panose="02040503050406030204" pitchFamily="18" charset="0"/>
                      </a:rPr>
                      <m:t>𝑶</m:t>
                    </m:r>
                    <m:d>
                      <m:dPr>
                        <m:ctrlPr>
                          <a:rPr lang="pt-BR" altLang="zh-CN" b="1" i="1" smtClean="0">
                            <a:solidFill>
                              <a:schemeClr val="tx2">
                                <a:lumMod val="50000"/>
                              </a:schemeClr>
                            </a:solidFill>
                            <a:latin typeface="Cambria Math" panose="02040503050406030204" pitchFamily="18" charset="0"/>
                          </a:rPr>
                        </m:ctrlPr>
                      </m:dPr>
                      <m:e>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𝟒</m:t>
                            </m:r>
                          </m:sup>
                        </m:sSup>
                      </m:e>
                    </m:d>
                  </m:oMath>
                </a14:m>
                <a:r>
                  <a:rPr lang="zh-CN" altLang="pt-BR" b="1">
                    <a:solidFill>
                      <a:schemeClr val="tx2">
                        <a:lumMod val="50000"/>
                      </a:schemeClr>
                    </a:solidFill>
                  </a:rPr>
                  <a:t>，</a:t>
                </a:r>
                <a:r>
                  <a:rPr lang="zh-CN" altLang="en-US" b="1">
                    <a:solidFill>
                      <a:schemeClr val="tx2">
                        <a:lumMod val="50000"/>
                      </a:schemeClr>
                    </a:solidFill>
                  </a:rPr>
                  <a:t>不难</a:t>
                </a:r>
                <a:r>
                  <a:rPr lang="zh-CN" altLang="en-US" b="1" i="0">
                    <a:solidFill>
                      <a:schemeClr val="tx2">
                        <a:lumMod val="50000"/>
                      </a:schemeClr>
                    </a:solidFill>
                    <a:latin typeface="+mj-lt"/>
                  </a:rPr>
                  <a:t>证明</a:t>
                </a:r>
                <a14:m>
                  <m:oMath xmlns:m="http://schemas.openxmlformats.org/officeDocument/2006/math">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𝟐</m:t>
                        </m:r>
                      </m:sup>
                    </m:sSup>
                    <m:r>
                      <a:rPr lang="pt-BR" altLang="zh-CN" b="1" i="1" smtClean="0">
                        <a:solidFill>
                          <a:schemeClr val="tx2">
                            <a:lumMod val="50000"/>
                          </a:schemeClr>
                        </a:solidFill>
                        <a:latin typeface="Cambria Math" panose="02040503050406030204" pitchFamily="18" charset="0"/>
                      </a:rPr>
                      <m:t>+</m:t>
                    </m:r>
                    <m:sSup>
                      <m:sSupPr>
                        <m:ctrlPr>
                          <a:rPr lang="pt-BR" altLang="zh-CN" b="1" i="1" smtClean="0">
                            <a:solidFill>
                              <a:schemeClr val="tx2">
                                <a:lumMod val="50000"/>
                              </a:schemeClr>
                            </a:solidFill>
                            <a:latin typeface="Cambria Math" panose="02040503050406030204" pitchFamily="18" charset="0"/>
                          </a:rPr>
                        </m:ctrlPr>
                      </m:sSupPr>
                      <m:e>
                        <m:d>
                          <m:dPr>
                            <m:ctrlPr>
                              <a:rPr lang="pt-BR" altLang="zh-CN" b="1" i="1" smtClean="0">
                                <a:solidFill>
                                  <a:schemeClr val="tx2">
                                    <a:lumMod val="50000"/>
                                  </a:schemeClr>
                                </a:solidFill>
                                <a:latin typeface="Cambria Math" panose="02040503050406030204" pitchFamily="18" charset="0"/>
                              </a:rPr>
                            </m:ctrlPr>
                          </m:dPr>
                          <m:e>
                            <m:r>
                              <a:rPr lang="en-US" altLang="zh-CN" b="1">
                                <a:solidFill>
                                  <a:schemeClr val="tx2">
                                    <a:lumMod val="50000"/>
                                  </a:schemeClr>
                                </a:solidFill>
                                <a:latin typeface="Cambria Math" panose="02040503050406030204" pitchFamily="18" charset="0"/>
                              </a:rPr>
                              <m:t>𝐥𝐨𝐠</m:t>
                            </m:r>
                            <m:r>
                              <a:rPr lang="pt-BR" altLang="zh-CN" b="1" i="1" smtClean="0">
                                <a:solidFill>
                                  <a:schemeClr val="tx2">
                                    <a:lumMod val="50000"/>
                                  </a:schemeClr>
                                </a:solidFill>
                                <a:latin typeface="Cambria Math" panose="02040503050406030204" pitchFamily="18" charset="0"/>
                              </a:rPr>
                              <m:t> </m:t>
                            </m:r>
                            <m:r>
                              <a:rPr lang="pt-BR" altLang="zh-CN" b="1" i="1" smtClean="0">
                                <a:solidFill>
                                  <a:schemeClr val="tx2">
                                    <a:lumMod val="50000"/>
                                  </a:schemeClr>
                                </a:solidFill>
                                <a:latin typeface="Cambria Math" panose="02040503050406030204" pitchFamily="18" charset="0"/>
                              </a:rPr>
                              <m:t>𝒏</m:t>
                            </m:r>
                          </m:e>
                        </m:d>
                      </m:e>
                      <m:sup>
                        <m:r>
                          <a:rPr lang="pt-BR" altLang="zh-CN" b="1" i="1" smtClean="0">
                            <a:solidFill>
                              <a:schemeClr val="tx2">
                                <a:lumMod val="50000"/>
                              </a:schemeClr>
                            </a:solidFill>
                            <a:latin typeface="Cambria Math" panose="02040503050406030204" pitchFamily="18" charset="0"/>
                          </a:rPr>
                          <m:t>𝟐</m:t>
                        </m:r>
                      </m:sup>
                    </m:sSup>
                  </m:oMath>
                </a14:m>
                <a:r>
                  <a:rPr lang="zh-CN" altLang="pt-BR" b="1">
                    <a:solidFill>
                      <a:schemeClr val="tx2">
                        <a:lumMod val="50000"/>
                      </a:schemeClr>
                    </a:solidFill>
                  </a:rPr>
                  <a:t>是</a:t>
                </a:r>
                <a14:m>
                  <m:oMath xmlns:m="http://schemas.openxmlformats.org/officeDocument/2006/math">
                    <m:r>
                      <a:rPr lang="pt-BR" altLang="zh-CN" b="1" i="0" smtClean="0">
                        <a:solidFill>
                          <a:schemeClr val="tx2">
                            <a:lumMod val="50000"/>
                          </a:schemeClr>
                        </a:solidFill>
                        <a:latin typeface="Cambria Math" panose="02040503050406030204" pitchFamily="18" charset="0"/>
                      </a:rPr>
                      <m:t>𝛀</m:t>
                    </m:r>
                    <m:d>
                      <m:dPr>
                        <m:ctrlPr>
                          <a:rPr lang="pt-BR" altLang="zh-CN" b="1" i="1" smtClean="0">
                            <a:solidFill>
                              <a:schemeClr val="tx2">
                                <a:lumMod val="50000"/>
                              </a:schemeClr>
                            </a:solidFill>
                            <a:latin typeface="Cambria Math" panose="02040503050406030204" pitchFamily="18" charset="0"/>
                          </a:rPr>
                        </m:ctrlPr>
                      </m:dPr>
                      <m:e>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𝟐</m:t>
                            </m:r>
                          </m:sup>
                        </m:sSup>
                      </m:e>
                    </m:d>
                  </m:oMath>
                </a14:m>
                <a:r>
                  <a:rPr lang="zh-CN" altLang="pt-BR" b="1">
                    <a:solidFill>
                      <a:schemeClr val="tx2">
                        <a:lumMod val="50000"/>
                      </a:schemeClr>
                    </a:solidFill>
                  </a:rPr>
                  <a:t>，因此</a:t>
                </a:r>
                <a14:m>
                  <m:oMath xmlns:m="http://schemas.openxmlformats.org/officeDocument/2006/math">
                    <m:r>
                      <a:rPr lang="pt-BR" altLang="zh-CN" b="1" i="1" smtClean="0">
                        <a:solidFill>
                          <a:schemeClr val="tx2">
                            <a:lumMod val="50000"/>
                          </a:schemeClr>
                        </a:solidFill>
                        <a:latin typeface="Cambria Math" panose="02040503050406030204" pitchFamily="18" charset="0"/>
                      </a:rPr>
                      <m:t>(</m:t>
                    </m:r>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𝟒</m:t>
                        </m:r>
                      </m:sup>
                    </m:sSup>
                    <m:r>
                      <a:rPr lang="pt-BR" altLang="zh-CN" b="1" i="1" smtClean="0">
                        <a:solidFill>
                          <a:schemeClr val="tx2">
                            <a:lumMod val="50000"/>
                          </a:schemeClr>
                        </a:solidFill>
                        <a:latin typeface="Cambria Math" panose="02040503050406030204" pitchFamily="18" charset="0"/>
                      </a:rPr>
                      <m:t>+ </m:t>
                    </m:r>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𝟐</m:t>
                        </m:r>
                      </m:sup>
                    </m:sSup>
                    <m:r>
                      <a:rPr lang="en-US" altLang="zh-CN" b="1">
                        <a:solidFill>
                          <a:schemeClr val="tx2">
                            <a:lumMod val="50000"/>
                          </a:schemeClr>
                        </a:solidFill>
                        <a:latin typeface="Cambria Math" panose="02040503050406030204" pitchFamily="18" charset="0"/>
                      </a:rPr>
                      <m:t>𝐥𝐨𝐠</m:t>
                    </m:r>
                    <m:r>
                      <a:rPr lang="pt-BR" altLang="zh-CN" b="1" i="1">
                        <a:solidFill>
                          <a:schemeClr val="tx2">
                            <a:lumMod val="50000"/>
                          </a:schemeClr>
                        </a:solidFill>
                        <a:latin typeface="Cambria Math" panose="02040503050406030204" pitchFamily="18" charset="0"/>
                      </a:rPr>
                      <m:t> </m:t>
                    </m:r>
                    <m:r>
                      <a:rPr lang="pt-BR" altLang="zh-CN" b="1" i="1">
                        <a:solidFill>
                          <a:schemeClr val="tx2">
                            <a:lumMod val="50000"/>
                          </a:schemeClr>
                        </a:solidFill>
                        <a:latin typeface="Cambria Math" panose="02040503050406030204" pitchFamily="18" charset="0"/>
                      </a:rPr>
                      <m:t>𝒏</m:t>
                    </m:r>
                    <m:r>
                      <a:rPr lang="pt-BR" altLang="zh-CN" b="1" i="1" smtClean="0">
                        <a:solidFill>
                          <a:schemeClr val="tx2">
                            <a:lumMod val="50000"/>
                          </a:schemeClr>
                        </a:solidFill>
                        <a:latin typeface="Cambria Math" panose="02040503050406030204" pitchFamily="18" charset="0"/>
                      </a:rPr>
                      <m:t>)/(</m:t>
                    </m:r>
                    <m:sSup>
                      <m:sSupPr>
                        <m:ctrlPr>
                          <a:rPr lang="pt-BR" altLang="zh-CN" b="1" i="1">
                            <a:solidFill>
                              <a:schemeClr val="tx2">
                                <a:lumMod val="50000"/>
                              </a:schemeClr>
                            </a:solidFill>
                            <a:latin typeface="Cambria Math" panose="02040503050406030204" pitchFamily="18" charset="0"/>
                          </a:rPr>
                        </m:ctrlPr>
                      </m:sSupPr>
                      <m:e>
                        <m:r>
                          <a:rPr lang="pt-BR" altLang="zh-CN" b="1" i="1">
                            <a:solidFill>
                              <a:schemeClr val="tx2">
                                <a:lumMod val="50000"/>
                              </a:schemeClr>
                            </a:solidFill>
                            <a:latin typeface="Cambria Math" panose="02040503050406030204" pitchFamily="18" charset="0"/>
                          </a:rPr>
                          <m:t>𝒏</m:t>
                        </m:r>
                      </m:e>
                      <m:sup>
                        <m:r>
                          <a:rPr lang="pt-BR" altLang="zh-CN" b="1" i="1">
                            <a:solidFill>
                              <a:schemeClr val="tx2">
                                <a:lumMod val="50000"/>
                              </a:schemeClr>
                            </a:solidFill>
                            <a:latin typeface="Cambria Math" panose="02040503050406030204" pitchFamily="18" charset="0"/>
                          </a:rPr>
                          <m:t>𝟐</m:t>
                        </m:r>
                      </m:sup>
                    </m:sSup>
                    <m:r>
                      <a:rPr lang="pt-BR" altLang="zh-CN" b="1" i="1">
                        <a:solidFill>
                          <a:schemeClr val="tx2">
                            <a:lumMod val="50000"/>
                          </a:schemeClr>
                        </a:solidFill>
                        <a:latin typeface="Cambria Math" panose="02040503050406030204" pitchFamily="18" charset="0"/>
                      </a:rPr>
                      <m:t>+ </m:t>
                    </m:r>
                    <m:sSup>
                      <m:sSupPr>
                        <m:ctrlPr>
                          <a:rPr lang="pt-BR" altLang="zh-CN" b="1" i="1">
                            <a:solidFill>
                              <a:schemeClr val="tx2">
                                <a:lumMod val="50000"/>
                              </a:schemeClr>
                            </a:solidFill>
                            <a:latin typeface="Cambria Math" panose="02040503050406030204" pitchFamily="18" charset="0"/>
                          </a:rPr>
                        </m:ctrlPr>
                      </m:sSupPr>
                      <m:e>
                        <m:d>
                          <m:dPr>
                            <m:ctrlPr>
                              <a:rPr lang="pt-BR" altLang="zh-CN" b="1" i="1">
                                <a:solidFill>
                                  <a:schemeClr val="tx2">
                                    <a:lumMod val="50000"/>
                                  </a:schemeClr>
                                </a:solidFill>
                                <a:latin typeface="Cambria Math" panose="02040503050406030204" pitchFamily="18" charset="0"/>
                              </a:rPr>
                            </m:ctrlPr>
                          </m:dPr>
                          <m:e>
                            <m:r>
                              <a:rPr lang="en-US" altLang="zh-CN" b="1">
                                <a:solidFill>
                                  <a:schemeClr val="tx2">
                                    <a:lumMod val="50000"/>
                                  </a:schemeClr>
                                </a:solidFill>
                                <a:latin typeface="Cambria Math" panose="02040503050406030204" pitchFamily="18" charset="0"/>
                              </a:rPr>
                              <m:t>𝐥𝐨𝐠</m:t>
                            </m:r>
                            <m:r>
                              <a:rPr lang="pt-BR" altLang="zh-CN" b="1" i="1">
                                <a:solidFill>
                                  <a:schemeClr val="tx2">
                                    <a:lumMod val="50000"/>
                                  </a:schemeClr>
                                </a:solidFill>
                                <a:latin typeface="Cambria Math" panose="02040503050406030204" pitchFamily="18" charset="0"/>
                              </a:rPr>
                              <m:t> </m:t>
                            </m:r>
                            <m:r>
                              <a:rPr lang="pt-BR" altLang="zh-CN" b="1" i="1">
                                <a:solidFill>
                                  <a:schemeClr val="tx2">
                                    <a:lumMod val="50000"/>
                                  </a:schemeClr>
                                </a:solidFill>
                                <a:latin typeface="Cambria Math" panose="02040503050406030204" pitchFamily="18" charset="0"/>
                              </a:rPr>
                              <m:t>𝒏</m:t>
                            </m:r>
                          </m:e>
                        </m:d>
                      </m:e>
                      <m:sup>
                        <m:r>
                          <a:rPr lang="pt-BR" altLang="zh-CN" b="1" i="1">
                            <a:solidFill>
                              <a:schemeClr val="tx2">
                                <a:lumMod val="50000"/>
                              </a:schemeClr>
                            </a:solidFill>
                            <a:latin typeface="Cambria Math" panose="02040503050406030204" pitchFamily="18" charset="0"/>
                          </a:rPr>
                          <m:t>𝟐</m:t>
                        </m:r>
                      </m:sup>
                    </m:sSup>
                    <m:r>
                      <a:rPr lang="pt-BR" altLang="zh-CN" b="1" i="1" smtClean="0">
                        <a:solidFill>
                          <a:schemeClr val="tx2">
                            <a:lumMod val="50000"/>
                          </a:schemeClr>
                        </a:solidFill>
                        <a:latin typeface="Cambria Math" panose="02040503050406030204" pitchFamily="18" charset="0"/>
                      </a:rPr>
                      <m:t>)</m:t>
                    </m:r>
                  </m:oMath>
                </a14:m>
                <a:r>
                  <a:rPr lang="zh-CN" altLang="pt-BR" b="1">
                    <a:solidFill>
                      <a:schemeClr val="tx2">
                        <a:lumMod val="50000"/>
                      </a:schemeClr>
                    </a:solidFill>
                  </a:rPr>
                  <a:t>是</a:t>
                </a:r>
                <a14:m>
                  <m:oMath xmlns:m="http://schemas.openxmlformats.org/officeDocument/2006/math">
                    <m:r>
                      <a:rPr lang="pt-BR" altLang="zh-CN" b="1" i="1" smtClean="0">
                        <a:solidFill>
                          <a:schemeClr val="tx2">
                            <a:lumMod val="50000"/>
                          </a:schemeClr>
                        </a:solidFill>
                        <a:latin typeface="Cambria Math" panose="02040503050406030204" pitchFamily="18" charset="0"/>
                      </a:rPr>
                      <m:t>𝑶</m:t>
                    </m:r>
                    <m:r>
                      <a:rPr lang="pt-BR" altLang="zh-CN" b="1" i="1" smtClean="0">
                        <a:solidFill>
                          <a:schemeClr val="tx2">
                            <a:lumMod val="50000"/>
                          </a:schemeClr>
                        </a:solidFill>
                        <a:latin typeface="Cambria Math" panose="02040503050406030204" pitchFamily="18" charset="0"/>
                      </a:rPr>
                      <m:t>(</m:t>
                    </m:r>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𝟒</m:t>
                        </m:r>
                      </m:sup>
                    </m:sSup>
                    <m:r>
                      <a:rPr lang="pt-BR" altLang="zh-CN" b="1" i="1" smtClean="0">
                        <a:solidFill>
                          <a:schemeClr val="tx2">
                            <a:lumMod val="50000"/>
                          </a:schemeClr>
                        </a:solidFill>
                        <a:latin typeface="Cambria Math" panose="02040503050406030204" pitchFamily="18" charset="0"/>
                      </a:rPr>
                      <m:t>/</m:t>
                    </m:r>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smtClean="0">
                            <a:solidFill>
                              <a:schemeClr val="tx2">
                                <a:lumMod val="50000"/>
                              </a:schemeClr>
                            </a:solidFill>
                            <a:latin typeface="Cambria Math" panose="02040503050406030204" pitchFamily="18" charset="0"/>
                          </a:rPr>
                          <m:t>𝟐</m:t>
                        </m:r>
                      </m:sup>
                    </m:sSup>
                    <m:r>
                      <a:rPr lang="pt-BR" altLang="zh-CN" b="1" i="1" smtClean="0">
                        <a:solidFill>
                          <a:schemeClr val="tx2">
                            <a:lumMod val="50000"/>
                          </a:schemeClr>
                        </a:solidFill>
                        <a:latin typeface="Cambria Math" panose="02040503050406030204" pitchFamily="18" charset="0"/>
                      </a:rPr>
                      <m:t>)</m:t>
                    </m:r>
                  </m:oMath>
                </a14:m>
                <a:r>
                  <a:rPr lang="zh-CN" altLang="pt-BR" b="1">
                    <a:solidFill>
                      <a:schemeClr val="tx2">
                        <a:lumMod val="50000"/>
                      </a:schemeClr>
                    </a:solidFill>
                  </a:rPr>
                  <a:t>，即</a:t>
                </a:r>
                <a14:m>
                  <m:oMath xmlns:m="http://schemas.openxmlformats.org/officeDocument/2006/math">
                    <m:r>
                      <a:rPr lang="pt-BR" altLang="zh-CN" b="1" i="1" smtClean="0">
                        <a:solidFill>
                          <a:schemeClr val="tx2">
                            <a:lumMod val="50000"/>
                          </a:schemeClr>
                        </a:solidFill>
                        <a:latin typeface="Cambria Math" panose="02040503050406030204" pitchFamily="18" charset="0"/>
                      </a:rPr>
                      <m:t>𝑶</m:t>
                    </m:r>
                    <m:d>
                      <m:dPr>
                        <m:ctrlPr>
                          <a:rPr lang="pt-BR" altLang="zh-CN" b="1" i="1" smtClean="0">
                            <a:solidFill>
                              <a:schemeClr val="tx2">
                                <a:lumMod val="50000"/>
                              </a:schemeClr>
                            </a:solidFill>
                            <a:latin typeface="Cambria Math" panose="02040503050406030204" pitchFamily="18" charset="0"/>
                          </a:rPr>
                        </m:ctrlPr>
                      </m:dPr>
                      <m:e>
                        <m:sSup>
                          <m:sSupPr>
                            <m:ctrlPr>
                              <a:rPr lang="pt-BR" altLang="zh-CN" b="1" i="1" smtClean="0">
                                <a:solidFill>
                                  <a:schemeClr val="tx2">
                                    <a:lumMod val="50000"/>
                                  </a:schemeClr>
                                </a:solidFill>
                                <a:latin typeface="Cambria Math" panose="02040503050406030204" pitchFamily="18" charset="0"/>
                              </a:rPr>
                            </m:ctrlPr>
                          </m:sSupPr>
                          <m:e>
                            <m:r>
                              <a:rPr lang="pt-BR" altLang="zh-CN" b="1" i="1" smtClean="0">
                                <a:solidFill>
                                  <a:schemeClr val="tx2">
                                    <a:lumMod val="50000"/>
                                  </a:schemeClr>
                                </a:solidFill>
                                <a:latin typeface="Cambria Math" panose="02040503050406030204" pitchFamily="18" charset="0"/>
                              </a:rPr>
                              <m:t>𝒏</m:t>
                            </m:r>
                          </m:e>
                          <m:sup>
                            <m:r>
                              <a:rPr lang="pt-BR" altLang="zh-CN" b="1" i="1">
                                <a:solidFill>
                                  <a:schemeClr val="tx2">
                                    <a:lumMod val="50000"/>
                                  </a:schemeClr>
                                </a:solidFill>
                                <a:latin typeface="Cambria Math" panose="02040503050406030204" pitchFamily="18" charset="0"/>
                              </a:rPr>
                              <m:t>𝟐</m:t>
                            </m:r>
                          </m:sup>
                        </m:sSup>
                      </m:e>
                    </m:d>
                  </m:oMath>
                </a14:m>
                <a:endParaRPr lang="pt-BR" altLang="zh-CN" b="1">
                  <a:solidFill>
                    <a:schemeClr val="tx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763096" y="3870798"/>
                <a:ext cx="9683431" cy="710003"/>
              </a:xfrm>
              <a:prstGeom prst="rect">
                <a:avLst/>
              </a:prstGeom>
              <a:blipFill rotWithShape="1">
                <a:blip r:embed="rId5"/>
                <a:stretch>
                  <a:fillRect l="-5" t="-67" r="1" b="-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63096" y="4864409"/>
                <a:ext cx="7584916" cy="786947"/>
              </a:xfrm>
              <a:prstGeom prst="rect">
                <a:avLst/>
              </a:prstGeom>
              <a:solidFill>
                <a:schemeClr val="accent6">
                  <a:lumMod val="20000"/>
                  <a:lumOff val="80000"/>
                  <a:alpha val="50000"/>
                </a:schemeClr>
              </a:solidFill>
            </p:spPr>
            <p:txBody>
              <a:bodyPr wrap="square" tIns="0" bIns="0" rtlCol="0">
                <a:spAutoFit/>
              </a:bodyPr>
              <a:lstStyle/>
              <a:p>
                <a:pP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rPr>
                  <a:t>函数</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𝒙</m:t>
                        </m:r>
                      </m:e>
                      <m:sup>
                        <m:r>
                          <a:rPr lang="en-US" altLang="zh-CN" sz="2000" b="1">
                            <a:solidFill>
                              <a:srgbClr val="002060"/>
                            </a:solidFill>
                            <a:latin typeface="Cambria Math" panose="02040503050406030204" pitchFamily="18" charset="0"/>
                            <a:ea typeface="楷体" panose="02010609060101010101" pitchFamily="49" charset="-122"/>
                          </a:rPr>
                          <m:t>𝟑</m:t>
                        </m:r>
                      </m:sup>
                    </m:sSup>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𝟓𝐥𝐨𝐠</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𝒙</m:t>
                    </m:r>
                    <m:r>
                      <a:rPr lang="en-US" altLang="zh-CN" sz="2000" b="1">
                        <a:solidFill>
                          <a:srgbClr val="002060"/>
                        </a:solidFill>
                        <a:latin typeface="Cambria Math" panose="02040503050406030204" pitchFamily="18" charset="0"/>
                        <a:ea typeface="楷体" panose="02010609060101010101" pitchFamily="49" charset="-122"/>
                      </a:rPr>
                      <m:t>)/(</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𝒙</m:t>
                        </m:r>
                      </m:e>
                      <m:sup>
                        <m:r>
                          <a:rPr lang="en-US" altLang="zh-CN" sz="2000" b="1">
                            <a:solidFill>
                              <a:srgbClr val="002060"/>
                            </a:solidFill>
                            <a:latin typeface="Cambria Math" panose="02040503050406030204" pitchFamily="18" charset="0"/>
                            <a:ea typeface="楷体" panose="02010609060101010101" pitchFamily="49" charset="-122"/>
                          </a:rPr>
                          <m:t>𝟒</m:t>
                        </m:r>
                      </m:sup>
                    </m:sSup>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𝟏</m:t>
                    </m:r>
                    <m: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尽可能好的大</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𝑶</m:t>
                    </m:r>
                  </m:oMath>
                </a14:m>
                <a:r>
                  <a:rPr lang="zh-CN" altLang="en-US" sz="2000" b="1">
                    <a:solidFill>
                      <a:srgbClr val="002060"/>
                    </a:solidFill>
                    <a:latin typeface="楷体" panose="02010609060101010101" pitchFamily="49" charset="-122"/>
                    <a:ea typeface="楷体" panose="02010609060101010101" pitchFamily="49" charset="-122"/>
                  </a:rPr>
                  <a:t>估计是</a:t>
                </a:r>
                <a:r>
                  <a:rPr lang="zh-CN" altLang="en-US" sz="2000" b="1"/>
                  <a:t>   </a:t>
                </a:r>
                <a:r>
                  <a:rPr lang="en-US" altLang="zh-CN" sz="2000" b="1">
                    <a:solidFill>
                      <a:srgbClr val="C00000"/>
                    </a:solidFill>
                  </a:rPr>
                  <a:t>D. </a:t>
                </a:r>
                <a14:m>
                  <m:oMath xmlns:m="http://schemas.openxmlformats.org/officeDocument/2006/math">
                    <m:r>
                      <a:rPr lang="en-US" altLang="zh-CN" sz="2000" b="1">
                        <a:solidFill>
                          <a:srgbClr val="C00000"/>
                        </a:solidFill>
                        <a:latin typeface="Cambria Math" panose="02040503050406030204" pitchFamily="18" charset="0"/>
                      </a:rPr>
                      <m:t>𝑶</m:t>
                    </m:r>
                    <m:d>
                      <m:dPr>
                        <m:ctrlPr>
                          <a:rPr lang="en-US" altLang="zh-CN" sz="2000" b="1" i="1">
                            <a:solidFill>
                              <a:srgbClr val="C00000"/>
                            </a:solidFill>
                            <a:latin typeface="Cambria Math" panose="02040503050406030204" pitchFamily="18" charset="0"/>
                          </a:rPr>
                        </m:ctrlPr>
                      </m:dPr>
                      <m:e>
                        <m:sSup>
                          <m:sSupPr>
                            <m:ctrlPr>
                              <a:rPr lang="en-US" altLang="zh-CN" sz="2000" b="1" i="1">
                                <a:solidFill>
                                  <a:srgbClr val="C00000"/>
                                </a:solidFill>
                                <a:latin typeface="Cambria Math" panose="02040503050406030204" pitchFamily="18" charset="0"/>
                              </a:rPr>
                            </m:ctrlPr>
                          </m:sSupPr>
                          <m:e>
                            <m:r>
                              <a:rPr lang="en-US" altLang="zh-CN" sz="2000" b="1">
                                <a:solidFill>
                                  <a:srgbClr val="C00000"/>
                                </a:solidFill>
                                <a:latin typeface="Cambria Math" panose="02040503050406030204" pitchFamily="18" charset="0"/>
                              </a:rPr>
                              <m:t>𝒙</m:t>
                            </m:r>
                          </m:e>
                          <m:sup>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𝟏</m:t>
                            </m:r>
                          </m:sup>
                        </m:sSup>
                      </m:e>
                    </m:d>
                  </m:oMath>
                </a14:m>
                <a:r>
                  <a:rPr lang="en-US" altLang="zh-CN" sz="2000" b="1">
                    <a:solidFill>
                      <a:srgbClr val="C00000"/>
                    </a:solidFill>
                  </a:rPr>
                  <a:t> </a:t>
                </a:r>
              </a:p>
              <a:p>
                <a:pPr>
                  <a:lnSpc>
                    <a:spcPts val="2800"/>
                  </a:lnSpc>
                  <a:spcBef>
                    <a:spcPts val="600"/>
                  </a:spcBef>
                </a:pPr>
                <a:r>
                  <a:rPr lang="en-US" altLang="zh-CN" sz="2000" b="1">
                    <a:solidFill>
                      <a:schemeClr val="accent2">
                        <a:lumMod val="50000"/>
                      </a:schemeClr>
                    </a:solidFill>
                  </a:rPr>
                  <a:t>A.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𝟑</m:t>
                            </m:r>
                          </m:sup>
                        </m:sSup>
                      </m:e>
                    </m:d>
                  </m:oMath>
                </a14:m>
                <a:r>
                  <a:rPr lang="en-US" altLang="zh-CN" sz="2000" b="1">
                    <a:solidFill>
                      <a:schemeClr val="accent2">
                        <a:lumMod val="50000"/>
                      </a:schemeClr>
                    </a:solidFill>
                  </a:rPr>
                  <a:t>      B.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m:t>
                            </m:r>
                            <m:r>
                              <a:rPr lang="en-US" altLang="zh-CN" sz="2000" b="1">
                                <a:solidFill>
                                  <a:schemeClr val="accent2">
                                    <a:lumMod val="50000"/>
                                  </a:schemeClr>
                                </a:solidFill>
                                <a:latin typeface="Cambria Math" panose="02040503050406030204" pitchFamily="18" charset="0"/>
                              </a:rPr>
                              <m:t>𝟒</m:t>
                            </m:r>
                          </m:sup>
                        </m:sSup>
                      </m:e>
                    </m:d>
                  </m:oMath>
                </a14:m>
                <a:r>
                  <a:rPr lang="en-US" altLang="zh-CN" sz="2000" b="1">
                    <a:solidFill>
                      <a:schemeClr val="accent2">
                        <a:lumMod val="50000"/>
                      </a:schemeClr>
                    </a:solidFill>
                  </a:rPr>
                  <a:t>      C.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𝟑</m:t>
                            </m:r>
                          </m:sup>
                        </m:sSup>
                        <m:r>
                          <a:rPr lang="en-US" altLang="zh-CN" sz="2000" b="1">
                            <a:solidFill>
                              <a:schemeClr val="accent2">
                                <a:lumMod val="50000"/>
                              </a:schemeClr>
                            </a:solidFill>
                            <a:latin typeface="Cambria Math" panose="02040503050406030204" pitchFamily="18" charset="0"/>
                          </a:rPr>
                          <m:t>𝐥𝐨𝐠</m:t>
                        </m:r>
                        <m:r>
                          <a:rPr lang="en-US" altLang="zh-CN" sz="2000" b="1">
                            <a:solidFill>
                              <a:schemeClr val="accent2">
                                <a:lumMod val="50000"/>
                              </a:schemeClr>
                            </a:solidFill>
                            <a:latin typeface="Cambria Math" panose="02040503050406030204" pitchFamily="18" charset="0"/>
                          </a:rPr>
                          <m:t> </m:t>
                        </m:r>
                        <m:r>
                          <a:rPr lang="en-US" altLang="zh-CN" sz="2000" b="1">
                            <a:solidFill>
                              <a:schemeClr val="accent2">
                                <a:lumMod val="50000"/>
                              </a:schemeClr>
                            </a:solidFill>
                            <a:latin typeface="Cambria Math" panose="02040503050406030204" pitchFamily="18" charset="0"/>
                          </a:rPr>
                          <m:t>𝒙</m:t>
                        </m:r>
                      </m:e>
                    </m:d>
                  </m:oMath>
                </a14:m>
                <a:r>
                  <a:rPr lang="en-US" altLang="zh-CN" sz="2000" b="1">
                    <a:solidFill>
                      <a:schemeClr val="accent2">
                        <a:lumMod val="50000"/>
                      </a:schemeClr>
                    </a:solidFill>
                  </a:rPr>
                  <a:t>      D. </a:t>
                </a:r>
                <a14:m>
                  <m:oMath xmlns:m="http://schemas.openxmlformats.org/officeDocument/2006/math">
                    <m:r>
                      <a:rPr lang="en-US" altLang="zh-CN" sz="2000" b="1">
                        <a:solidFill>
                          <a:schemeClr val="accent2">
                            <a:lumMod val="50000"/>
                          </a:schemeClr>
                        </a:solidFill>
                        <a:latin typeface="Cambria Math" panose="02040503050406030204" pitchFamily="18" charset="0"/>
                      </a:rPr>
                      <m:t>𝑶</m:t>
                    </m:r>
                    <m:d>
                      <m:dPr>
                        <m:ctrlPr>
                          <a:rPr lang="en-US" altLang="zh-CN" sz="2000" b="1" i="1">
                            <a:solidFill>
                              <a:schemeClr val="accent2">
                                <a:lumMod val="50000"/>
                              </a:schemeClr>
                            </a:solidFill>
                            <a:latin typeface="Cambria Math" panose="02040503050406030204" pitchFamily="18" charset="0"/>
                          </a:rPr>
                        </m:ctrlPr>
                      </m:dPr>
                      <m:e>
                        <m:sSup>
                          <m:sSupPr>
                            <m:ctrlPr>
                              <a:rPr lang="en-US" altLang="zh-CN" sz="2000" b="1" i="1">
                                <a:solidFill>
                                  <a:schemeClr val="accent2">
                                    <a:lumMod val="50000"/>
                                  </a:schemeClr>
                                </a:solidFill>
                                <a:latin typeface="Cambria Math" panose="02040503050406030204" pitchFamily="18" charset="0"/>
                              </a:rPr>
                            </m:ctrlPr>
                          </m:sSupPr>
                          <m:e>
                            <m:r>
                              <a:rPr lang="en-US" altLang="zh-CN" sz="2000" b="1">
                                <a:solidFill>
                                  <a:schemeClr val="accent2">
                                    <a:lumMod val="50000"/>
                                  </a:schemeClr>
                                </a:solidFill>
                                <a:latin typeface="Cambria Math" panose="02040503050406030204" pitchFamily="18" charset="0"/>
                              </a:rPr>
                              <m:t>𝒙</m:t>
                            </m:r>
                          </m:e>
                          <m:sup>
                            <m:r>
                              <a:rPr lang="en-US" altLang="zh-CN" sz="2000" b="1">
                                <a:solidFill>
                                  <a:schemeClr val="accent2">
                                    <a:lumMod val="50000"/>
                                  </a:schemeClr>
                                </a:solidFill>
                                <a:latin typeface="Cambria Math" panose="02040503050406030204" pitchFamily="18" charset="0"/>
                              </a:rPr>
                              <m:t>−</m:t>
                            </m:r>
                            <m:r>
                              <a:rPr lang="en-US" altLang="zh-CN" sz="2000" b="1">
                                <a:solidFill>
                                  <a:schemeClr val="accent2">
                                    <a:lumMod val="50000"/>
                                  </a:schemeClr>
                                </a:solidFill>
                                <a:latin typeface="Cambria Math" panose="02040503050406030204" pitchFamily="18" charset="0"/>
                              </a:rPr>
                              <m:t>𝟏</m:t>
                            </m:r>
                          </m:sup>
                        </m:sSup>
                      </m:e>
                    </m:d>
                  </m:oMath>
                </a14:m>
                <a:endParaRPr lang="en-US" altLang="zh-CN" sz="2000" b="1">
                  <a:solidFill>
                    <a:schemeClr val="accent2">
                      <a:lumMod val="50000"/>
                    </a:schemeClr>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63096" y="4864409"/>
                <a:ext cx="7584916" cy="786947"/>
              </a:xfrm>
              <a:prstGeom prst="rect">
                <a:avLst/>
              </a:prstGeom>
              <a:blipFill rotWithShape="1">
                <a:blip r:embed="rId6"/>
                <a:stretch>
                  <a:fillRect l="-6" t="-39" r="4" b="-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763096" y="5780544"/>
                <a:ext cx="6131086" cy="350930"/>
              </a:xfrm>
              <a:prstGeom prst="rect">
                <a:avLst/>
              </a:prstGeom>
              <a:noFill/>
            </p:spPr>
            <p:txBody>
              <a:bodyPr wrap="square" tIns="0" bIns="0" rtlCol="0">
                <a:spAutoFit/>
              </a:bodyPr>
              <a:lstStyle/>
              <a:p>
                <a:pPr>
                  <a:lnSpc>
                    <a:spcPts val="2800"/>
                  </a:lnSpc>
                  <a:spcBef>
                    <a:spcPts val="600"/>
                  </a:spcBef>
                </a:pPr>
                <a:r>
                  <a:rPr lang="zh-CN" altLang="en-US" b="1">
                    <a:solidFill>
                      <a:schemeClr val="tx2">
                        <a:lumMod val="50000"/>
                      </a:schemeClr>
                    </a:solidFill>
                  </a:rPr>
                  <a:t>显然</a:t>
                </a:r>
                <a14:m>
                  <m:oMath xmlns:m="http://schemas.openxmlformats.org/officeDocument/2006/math">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𝒙</m:t>
                            </m:r>
                          </m:e>
                          <m:sup>
                            <m:r>
                              <a:rPr lang="en-US" altLang="zh-CN" b="1" i="1" smtClean="0">
                                <a:solidFill>
                                  <a:schemeClr val="tx2">
                                    <a:lumMod val="50000"/>
                                  </a:schemeClr>
                                </a:solidFill>
                                <a:latin typeface="Cambria Math" panose="02040503050406030204" pitchFamily="18" charset="0"/>
                              </a:rPr>
                              <m:t>𝟑</m:t>
                            </m:r>
                          </m:sup>
                        </m:sSup>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𝟓</m:t>
                        </m:r>
                        <m:r>
                          <a:rPr lang="en-US" altLang="zh-CN" b="1">
                            <a:solidFill>
                              <a:schemeClr val="tx2">
                                <a:lumMod val="50000"/>
                              </a:schemeClr>
                            </a:solidFill>
                            <a:latin typeface="Cambria Math" panose="02040503050406030204" pitchFamily="18" charset="0"/>
                          </a:rPr>
                          <m:t>𝐥𝐨𝐠</m:t>
                        </m:r>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𝒙</m:t>
                        </m:r>
                      </m:e>
                    </m:d>
                  </m:oMath>
                </a14:m>
                <a:r>
                  <a:rPr lang="zh-CN" altLang="en-US" b="1">
                    <a:solidFill>
                      <a:schemeClr val="tx2">
                        <a:lumMod val="50000"/>
                      </a:schemeClr>
                    </a:solidFill>
                  </a:rPr>
                  <a:t>是</a:t>
                </a:r>
                <a14:m>
                  <m:oMath xmlns:m="http://schemas.openxmlformats.org/officeDocument/2006/math">
                    <m:r>
                      <a:rPr lang="en-US" altLang="zh-CN" b="1" i="1" smtClean="0">
                        <a:solidFill>
                          <a:schemeClr val="tx2">
                            <a:lumMod val="50000"/>
                          </a:schemeClr>
                        </a:solidFill>
                        <a:latin typeface="Cambria Math" panose="02040503050406030204" pitchFamily="18" charset="0"/>
                      </a:rPr>
                      <m:t>𝑶</m:t>
                    </m:r>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𝒙</m:t>
                            </m:r>
                          </m:e>
                          <m:sup>
                            <m:r>
                              <a:rPr lang="en-US" altLang="zh-CN" b="1" i="1" smtClean="0">
                                <a:solidFill>
                                  <a:schemeClr val="tx2">
                                    <a:lumMod val="50000"/>
                                  </a:schemeClr>
                                </a:solidFill>
                                <a:latin typeface="Cambria Math" panose="02040503050406030204" pitchFamily="18" charset="0"/>
                              </a:rPr>
                              <m:t>𝟑</m:t>
                            </m:r>
                          </m:sup>
                        </m:sSup>
                      </m:e>
                    </m:d>
                  </m:oMath>
                </a14:m>
                <a:r>
                  <a:rPr lang="zh-CN" altLang="en-US" b="1">
                    <a:solidFill>
                      <a:schemeClr val="tx2">
                        <a:lumMod val="50000"/>
                      </a:schemeClr>
                    </a:solidFill>
                  </a:rPr>
                  <a:t>，而</a:t>
                </a:r>
                <a14:m>
                  <m:oMath xmlns:m="http://schemas.openxmlformats.org/officeDocument/2006/math">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𝒙</m:t>
                            </m:r>
                          </m:e>
                          <m:sup>
                            <m:r>
                              <a:rPr lang="en-US" altLang="zh-CN" b="1" i="1" smtClean="0">
                                <a:solidFill>
                                  <a:schemeClr val="tx2">
                                    <a:lumMod val="50000"/>
                                  </a:schemeClr>
                                </a:solidFill>
                                <a:latin typeface="Cambria Math" panose="02040503050406030204" pitchFamily="18" charset="0"/>
                              </a:rPr>
                              <m:t>𝟒</m:t>
                            </m:r>
                          </m:sup>
                        </m:sSup>
                        <m:r>
                          <a:rPr lang="en-US" altLang="zh-CN" b="1" i="1" smtClean="0">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𝟏</m:t>
                        </m:r>
                      </m:e>
                    </m:d>
                  </m:oMath>
                </a14:m>
                <a:r>
                  <a:rPr lang="zh-CN" altLang="en-US" b="1">
                    <a:solidFill>
                      <a:schemeClr val="tx2">
                        <a:lumMod val="50000"/>
                      </a:schemeClr>
                    </a:solidFill>
                  </a:rPr>
                  <a:t>是</a:t>
                </a:r>
                <a14:m>
                  <m:oMath xmlns:m="http://schemas.openxmlformats.org/officeDocument/2006/math">
                    <m:r>
                      <a:rPr lang="en-US" altLang="zh-CN" b="1" i="0" smtClean="0">
                        <a:solidFill>
                          <a:schemeClr val="tx2">
                            <a:lumMod val="50000"/>
                          </a:schemeClr>
                        </a:solidFill>
                        <a:latin typeface="Cambria Math" panose="02040503050406030204" pitchFamily="18" charset="0"/>
                      </a:rPr>
                      <m:t>𝛀</m:t>
                    </m:r>
                    <m:d>
                      <m:dPr>
                        <m:ctrlPr>
                          <a:rPr lang="en-US" altLang="zh-CN" b="1" i="1" smtClean="0">
                            <a:solidFill>
                              <a:schemeClr val="tx2">
                                <a:lumMod val="50000"/>
                              </a:schemeClr>
                            </a:solidFill>
                            <a:latin typeface="Cambria Math" panose="02040503050406030204" pitchFamily="18" charset="0"/>
                          </a:rPr>
                        </m:ctrlPr>
                      </m:dPr>
                      <m:e>
                        <m:sSup>
                          <m:sSupPr>
                            <m:ctrlPr>
                              <a:rPr lang="en-US" altLang="zh-CN" b="1" i="1" smtClean="0">
                                <a:solidFill>
                                  <a:schemeClr val="tx2">
                                    <a:lumMod val="50000"/>
                                  </a:schemeClr>
                                </a:solidFill>
                                <a:latin typeface="Cambria Math" panose="02040503050406030204" pitchFamily="18" charset="0"/>
                              </a:rPr>
                            </m:ctrlPr>
                          </m:sSupPr>
                          <m:e>
                            <m:r>
                              <a:rPr lang="en-US" altLang="zh-CN" b="1" i="1" smtClean="0">
                                <a:solidFill>
                                  <a:schemeClr val="tx2">
                                    <a:lumMod val="50000"/>
                                  </a:schemeClr>
                                </a:solidFill>
                                <a:latin typeface="Cambria Math" panose="02040503050406030204" pitchFamily="18" charset="0"/>
                              </a:rPr>
                              <m:t>𝒙</m:t>
                            </m:r>
                          </m:e>
                          <m:sup>
                            <m:r>
                              <a:rPr lang="en-US" altLang="zh-CN" b="1" i="1" smtClean="0">
                                <a:solidFill>
                                  <a:schemeClr val="tx2">
                                    <a:lumMod val="50000"/>
                                  </a:schemeClr>
                                </a:solidFill>
                                <a:latin typeface="Cambria Math" panose="02040503050406030204" pitchFamily="18" charset="0"/>
                              </a:rPr>
                              <m:t>𝟒</m:t>
                            </m:r>
                          </m:sup>
                        </m:sSup>
                      </m:e>
                    </m:d>
                  </m:oMath>
                </a14:m>
                <a:endParaRPr lang="zh-CN" altLang="en-US" b="1">
                  <a:solidFill>
                    <a:schemeClr val="tx2">
                      <a:lumMod val="50000"/>
                    </a:schemeClr>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63096" y="5780544"/>
                <a:ext cx="6131086" cy="350930"/>
              </a:xfrm>
              <a:prstGeom prst="rect">
                <a:avLst/>
              </a:prstGeom>
              <a:blipFill rotWithShape="1">
                <a:blip r:embed="rId7"/>
                <a:stretch>
                  <a:fillRect l="-8" t="-40" r="10" b="-1291"/>
                </a:stretch>
              </a:blipFill>
            </p:spPr>
            <p:txBody>
              <a:bodyPr/>
              <a:lstStyle/>
              <a:p>
                <a:r>
                  <a:rPr lang="zh-CN" altLang="en-US">
                    <a:noFill/>
                  </a:rPr>
                  <a:t> </a:t>
                </a:r>
              </a:p>
            </p:txBody>
          </p:sp>
        </mc:Fallback>
      </mc:AlternateContent>
      <p:cxnSp>
        <p:nvCxnSpPr>
          <p:cNvPr id="18" name="直接连接符 17"/>
          <p:cNvCxnSpPr/>
          <p:nvPr/>
        </p:nvCxnSpPr>
        <p:spPr>
          <a:xfrm>
            <a:off x="9518970" y="1480144"/>
            <a:ext cx="16182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474178" y="3323198"/>
            <a:ext cx="16182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454525" y="5244095"/>
            <a:ext cx="16182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200540" y="1524954"/>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函数的增长</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算法效率分析基础</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算法复杂度基础知识</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算法需要分析效率</a:t>
            </a:r>
          </a:p>
        </p:txBody>
      </p:sp>
      <p:sp>
        <p:nvSpPr>
          <p:cNvPr id="2" name="文本框 1"/>
          <p:cNvSpPr txBox="1"/>
          <p:nvPr/>
        </p:nvSpPr>
        <p:spPr>
          <a:xfrm>
            <a:off x="1385852" y="2192607"/>
            <a:ext cx="9290919" cy="3416320"/>
          </a:xfrm>
          <a:prstGeom prst="rect">
            <a:avLst/>
          </a:prstGeom>
          <a:solidFill>
            <a:schemeClr val="accent5">
              <a:lumMod val="20000"/>
              <a:lumOff val="80000"/>
              <a:alpha val="25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算法是一些明确的步骤的有限序列，通过执行这些步骤可求解问题</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算法具有</a:t>
            </a:r>
            <a:r>
              <a:rPr lang="zh-CN" altLang="en-US" sz="2400" b="1">
                <a:solidFill>
                  <a:srgbClr val="C00000"/>
                </a:solidFill>
              </a:rPr>
              <a:t>通用性</a:t>
            </a:r>
            <a:r>
              <a:rPr lang="zh-CN" altLang="en-US" sz="2400" b="1">
                <a:solidFill>
                  <a:schemeClr val="accent6">
                    <a:lumMod val="50000"/>
                  </a:schemeClr>
                </a:solidFill>
              </a:rPr>
              <a:t>，针对一类输入产生求解问题的结果作为输出</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算法需要具备</a:t>
            </a:r>
            <a:r>
              <a:rPr lang="zh-CN" altLang="en-US" sz="2400" b="1">
                <a:solidFill>
                  <a:srgbClr val="C00000"/>
                </a:solidFill>
              </a:rPr>
              <a:t>正确性</a:t>
            </a:r>
            <a:r>
              <a:rPr lang="zh-CN" altLang="en-US" sz="2400" b="1">
                <a:solidFill>
                  <a:schemeClr val="accent6">
                    <a:lumMod val="50000"/>
                  </a:schemeClr>
                </a:solidFill>
              </a:rPr>
              <a:t>，对问题的输入能产生预期的输出</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正确的算法还需要是</a:t>
            </a:r>
            <a:r>
              <a:rPr lang="zh-CN" altLang="en-US" sz="2400" b="1">
                <a:solidFill>
                  <a:srgbClr val="C00000"/>
                </a:solidFill>
              </a:rPr>
              <a:t>有效</a:t>
            </a:r>
            <a:r>
              <a:rPr lang="zh-CN" altLang="en-US" sz="2400" b="1">
                <a:solidFill>
                  <a:schemeClr val="accent6">
                    <a:lumMod val="50000"/>
                  </a:schemeClr>
                </a:solidFill>
              </a:rPr>
              <a:t>的</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算法要能在一定的时间和占用一定的空间内执行完毕并产生输出</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执行太长时间或占用太多空间的算法不是实际可行的，因而也不是有效的</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算法效率包括</a:t>
            </a:r>
            <a:r>
              <a:rPr lang="zh-CN" altLang="en-US" sz="2000" b="1">
                <a:solidFill>
                  <a:srgbClr val="C00000"/>
                </a:solidFill>
                <a:latin typeface="+mn-ea"/>
              </a:rPr>
              <a:t>时间效率</a:t>
            </a:r>
            <a:r>
              <a:rPr lang="zh-CN" altLang="en-US" sz="2000" b="1">
                <a:solidFill>
                  <a:schemeClr val="accent2">
                    <a:lumMod val="50000"/>
                  </a:schemeClr>
                </a:solidFill>
                <a:latin typeface="楷体" panose="02010609060101010101" pitchFamily="49" charset="-122"/>
                <a:ea typeface="楷体" panose="02010609060101010101" pitchFamily="49" charset="-122"/>
              </a:rPr>
              <a:t>和</a:t>
            </a:r>
            <a:r>
              <a:rPr lang="zh-CN" altLang="en-US" sz="2000" b="1">
                <a:solidFill>
                  <a:srgbClr val="C00000"/>
                </a:solidFill>
                <a:latin typeface="+mn-ea"/>
              </a:rPr>
              <a:t>空间效率</a:t>
            </a:r>
          </a:p>
        </p:txBody>
      </p:sp>
      <p:sp>
        <p:nvSpPr>
          <p:cNvPr id="11" name="矩形: 圆角 10"/>
          <p:cNvSpPr/>
          <p:nvPr/>
        </p:nvSpPr>
        <p:spPr>
          <a:xfrm>
            <a:off x="618372" y="1278234"/>
            <a:ext cx="377451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为什么要分析算法的效率？</a:t>
            </a:r>
            <a:endParaRPr lang="zh-CN" altLang="en-US" sz="2400" b="1" dirty="0">
              <a:solidFill>
                <a:schemeClr val="accent2">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算法效率分析的含义</a:t>
            </a:r>
          </a:p>
        </p:txBody>
      </p:sp>
      <p:sp>
        <p:nvSpPr>
          <p:cNvPr id="2" name="文本框 1"/>
          <p:cNvSpPr txBox="1"/>
          <p:nvPr/>
        </p:nvSpPr>
        <p:spPr>
          <a:xfrm>
            <a:off x="1553601" y="3800306"/>
            <a:ext cx="9084796" cy="1908215"/>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rgbClr val="C00000"/>
                </a:solidFill>
                <a:latin typeface="+mn-ea"/>
              </a:rPr>
              <a:t>算法的时间效率分析</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对算法在给定的输入规模下可能运行的时间进行定量的估计与分析</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rPr>
              <a:t>特别地，关心算法的</a:t>
            </a:r>
            <a:r>
              <a:rPr lang="zh-CN" altLang="en-US" sz="2000" b="1">
                <a:solidFill>
                  <a:srgbClr val="C00000"/>
                </a:solidFill>
                <a:latin typeface="+mn-ea"/>
              </a:rPr>
              <a:t>运行时间随着输入规模的增长而增长的情况</a:t>
            </a:r>
            <a:endParaRPr lang="en-US" altLang="zh-CN" sz="2000" b="1">
              <a:solidFill>
                <a:srgbClr val="C00000"/>
              </a:solidFill>
              <a:latin typeface="+mn-ea"/>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也即以输入规模为自变量的算法运行时间函数的增长情况</a:t>
            </a:r>
          </a:p>
        </p:txBody>
      </p:sp>
      <p:sp>
        <p:nvSpPr>
          <p:cNvPr id="11" name="矩形: 圆角 10"/>
          <p:cNvSpPr/>
          <p:nvPr/>
        </p:nvSpPr>
        <p:spPr>
          <a:xfrm>
            <a:off x="618372" y="1316971"/>
            <a:ext cx="405301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什么是算法的时间效率分析？</a:t>
            </a:r>
            <a:endParaRPr lang="zh-CN" altLang="en-US" sz="2400" b="1" dirty="0">
              <a:solidFill>
                <a:schemeClr val="accent2">
                  <a:lumMod val="50000"/>
                </a:schemeClr>
              </a:solidFill>
            </a:endParaRPr>
          </a:p>
        </p:txBody>
      </p:sp>
      <p:sp>
        <p:nvSpPr>
          <p:cNvPr id="3" name="文本框 2"/>
          <p:cNvSpPr txBox="1"/>
          <p:nvPr/>
        </p:nvSpPr>
        <p:spPr>
          <a:xfrm>
            <a:off x="1404492" y="2126559"/>
            <a:ext cx="9383014" cy="1323439"/>
          </a:xfrm>
          <a:prstGeom prst="rect">
            <a:avLst/>
          </a:prstGeom>
          <a:solidFill>
            <a:srgbClr val="F7FAFD"/>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算法空间效率分析需要更多数据结构知识，这里只考虑</a:t>
            </a:r>
            <a:r>
              <a:rPr lang="zh-CN" altLang="en-US" sz="2000" b="1">
                <a:solidFill>
                  <a:srgbClr val="C00000"/>
                </a:solidFill>
                <a:latin typeface="+mn-ea"/>
              </a:rPr>
              <a:t>算法时间效率分析</a:t>
            </a:r>
            <a:endParaRPr lang="en-US" altLang="zh-CN" sz="2000" b="1">
              <a:solidFill>
                <a:srgbClr val="C00000"/>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所有算法对于规模越大的输入都需要运行更长的时间</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可合理地将算法的</a:t>
            </a:r>
            <a:r>
              <a:rPr lang="zh-CN" altLang="en-US" sz="2000" b="1">
                <a:solidFill>
                  <a:srgbClr val="C00000"/>
                </a:solidFill>
              </a:rPr>
              <a:t>运行时间</a:t>
            </a:r>
            <a:r>
              <a:rPr lang="zh-CN" altLang="en-US" sz="2000" b="1">
                <a:solidFill>
                  <a:schemeClr val="accent6">
                    <a:lumMod val="50000"/>
                  </a:schemeClr>
                </a:solidFill>
              </a:rPr>
              <a:t>看做是算法的一个或多个</a:t>
            </a:r>
            <a:r>
              <a:rPr lang="zh-CN" altLang="en-US" sz="2000" b="1">
                <a:solidFill>
                  <a:srgbClr val="C00000"/>
                </a:solidFill>
              </a:rPr>
              <a:t>输入的规模的函数</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算法效率分析框架</a:t>
            </a:r>
          </a:p>
        </p:txBody>
      </p:sp>
      <p:sp>
        <p:nvSpPr>
          <p:cNvPr id="2" name="文本框 1"/>
          <p:cNvSpPr txBox="1"/>
          <p:nvPr/>
        </p:nvSpPr>
        <p:spPr>
          <a:xfrm>
            <a:off x="831073" y="1135864"/>
            <a:ext cx="4205390" cy="1911357"/>
          </a:xfrm>
          <a:prstGeom prst="rect">
            <a:avLst/>
          </a:prstGeom>
          <a:solidFill>
            <a:schemeClr val="accent6">
              <a:lumMod val="20000"/>
              <a:lumOff val="80000"/>
              <a:alpha val="50000"/>
            </a:schemeClr>
          </a:solidFill>
        </p:spPr>
        <p:txBody>
          <a:bodyPr wrap="square" rtlCol="0">
            <a:spAutoFit/>
          </a:bodyPr>
          <a:lstStyle/>
          <a:p>
            <a:pPr algn="ctr">
              <a:lnSpc>
                <a:spcPts val="3000"/>
              </a:lnSpc>
              <a:spcBef>
                <a:spcPts val="600"/>
              </a:spcBef>
              <a:spcAft>
                <a:spcPts val="600"/>
              </a:spcAft>
            </a:pPr>
            <a:r>
              <a:rPr lang="zh-CN" altLang="en-US" sz="2400" b="1">
                <a:solidFill>
                  <a:srgbClr val="C00000"/>
                </a:solidFill>
              </a:rPr>
              <a:t>确定输入规模及其度量</a:t>
            </a:r>
            <a:endParaRPr lang="en-US" altLang="zh-CN" sz="2400" b="1">
              <a:solidFill>
                <a:srgbClr val="C00000"/>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确定使用哪个或哪些算法输入作为效率分析的依据</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并确定如何</a:t>
            </a:r>
            <a:r>
              <a:rPr lang="zh-CN" altLang="en-US" sz="2000" b="1">
                <a:solidFill>
                  <a:srgbClr val="C00000"/>
                </a:solidFill>
              </a:rPr>
              <a:t>度量</a:t>
            </a:r>
            <a:r>
              <a:rPr lang="zh-CN" altLang="en-US" sz="2000" b="1">
                <a:solidFill>
                  <a:schemeClr val="accent6">
                    <a:lumMod val="50000"/>
                  </a:schemeClr>
                </a:solidFill>
              </a:rPr>
              <a:t>这些输入的规模</a:t>
            </a:r>
          </a:p>
        </p:txBody>
      </p:sp>
      <p:sp>
        <p:nvSpPr>
          <p:cNvPr id="3" name="文本框 2"/>
          <p:cNvSpPr txBox="1"/>
          <p:nvPr/>
        </p:nvSpPr>
        <p:spPr>
          <a:xfrm>
            <a:off x="5683247" y="1140999"/>
            <a:ext cx="5677680" cy="1911357"/>
          </a:xfrm>
          <a:prstGeom prst="rect">
            <a:avLst/>
          </a:prstGeom>
          <a:solidFill>
            <a:schemeClr val="accent4">
              <a:lumMod val="20000"/>
              <a:lumOff val="80000"/>
              <a:alpha val="50000"/>
            </a:schemeClr>
          </a:solidFill>
        </p:spPr>
        <p:txBody>
          <a:bodyPr wrap="square" rtlCol="0">
            <a:spAutoFit/>
          </a:bodyPr>
          <a:lstStyle/>
          <a:p>
            <a:pPr algn="ctr">
              <a:lnSpc>
                <a:spcPts val="3000"/>
              </a:lnSpc>
              <a:spcBef>
                <a:spcPts val="600"/>
              </a:spcBef>
              <a:spcAft>
                <a:spcPts val="600"/>
              </a:spcAft>
            </a:pPr>
            <a:r>
              <a:rPr lang="zh-CN" altLang="en-US" sz="2400" b="1">
                <a:solidFill>
                  <a:srgbClr val="C00000"/>
                </a:solidFill>
              </a:rPr>
              <a:t>确定执行次数最多的基本操作</a:t>
            </a:r>
            <a:endParaRPr lang="en-US" altLang="zh-CN" sz="2400" b="1">
              <a:solidFill>
                <a:srgbClr val="C00000"/>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确定算法的</a:t>
            </a:r>
            <a:r>
              <a:rPr lang="zh-CN" altLang="en-US" sz="2000" b="1">
                <a:solidFill>
                  <a:srgbClr val="C00000"/>
                </a:solidFill>
                <a:latin typeface="+mn-ea"/>
              </a:rPr>
              <a:t>基本操作</a:t>
            </a:r>
            <a:r>
              <a:rPr lang="zh-CN" altLang="en-US" sz="2000" b="1">
                <a:solidFill>
                  <a:srgbClr val="002060"/>
                </a:solidFill>
                <a:latin typeface="楷体" panose="02010609060101010101" pitchFamily="49" charset="-122"/>
                <a:ea typeface="楷体" panose="02010609060101010101" pitchFamily="49" charset="-122"/>
              </a:rPr>
              <a:t>，分析算法运行中执行次数最多的基本操作</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例如这通常会是最内层循环中的基本操作</a:t>
            </a:r>
          </a:p>
        </p:txBody>
      </p:sp>
      <mc:AlternateContent xmlns:mc="http://schemas.openxmlformats.org/markup-compatibility/2006" xmlns:a14="http://schemas.microsoft.com/office/drawing/2010/main">
        <mc:Choice Requires="a14">
          <p:sp>
            <p:nvSpPr>
              <p:cNvPr id="4" name="文本框 3"/>
              <p:cNvSpPr txBox="1"/>
              <p:nvPr/>
            </p:nvSpPr>
            <p:spPr>
              <a:xfrm>
                <a:off x="5683247" y="3410420"/>
                <a:ext cx="5677680" cy="2789353"/>
              </a:xfrm>
              <a:prstGeom prst="rect">
                <a:avLst/>
              </a:prstGeom>
              <a:solidFill>
                <a:schemeClr val="accent2">
                  <a:lumMod val="20000"/>
                  <a:lumOff val="80000"/>
                  <a:alpha val="50000"/>
                </a:schemeClr>
              </a:solidFill>
            </p:spPr>
            <p:txBody>
              <a:bodyPr wrap="square" rtlCol="0">
                <a:spAutoFit/>
              </a:bodyPr>
              <a:lstStyle/>
              <a:p>
                <a:pPr algn="ctr">
                  <a:lnSpc>
                    <a:spcPts val="3000"/>
                  </a:lnSpc>
                  <a:spcBef>
                    <a:spcPts val="600"/>
                  </a:spcBef>
                </a:pPr>
                <a:r>
                  <a:rPr lang="zh-CN" altLang="en-US" sz="2400" b="1">
                    <a:solidFill>
                      <a:srgbClr val="C00000"/>
                    </a:solidFill>
                  </a:rPr>
                  <a:t>确定函数关系并使用大</a:t>
                </a:r>
                <a14:m>
                  <m:oMath xmlns:m="http://schemas.openxmlformats.org/officeDocument/2006/math">
                    <m:r>
                      <a:rPr lang="en-US" altLang="zh-CN" sz="2400" b="1" i="1" smtClean="0">
                        <a:solidFill>
                          <a:srgbClr val="C00000"/>
                        </a:solidFill>
                        <a:latin typeface="Cambria Math" panose="02040503050406030204" pitchFamily="18" charset="0"/>
                      </a:rPr>
                      <m:t>𝑶</m:t>
                    </m:r>
                  </m:oMath>
                </a14:m>
                <a:r>
                  <a:rPr lang="zh-CN" altLang="en-US" sz="2400" b="1">
                    <a:solidFill>
                      <a:srgbClr val="C00000"/>
                    </a:solidFill>
                  </a:rPr>
                  <a:t>记号进行估计</a:t>
                </a:r>
                <a:endParaRPr lang="en-US" altLang="zh-CN" sz="2400" b="1">
                  <a:solidFill>
                    <a:srgbClr val="C00000"/>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考虑给定输入规模，在最坏情况下执行次数最多的基本操作的执行次数与输入规模的函数关系</a:t>
                </a:r>
              </a:p>
              <a:p>
                <a:pPr marL="342900" indent="-342900">
                  <a:lnSpc>
                    <a:spcPts val="2600"/>
                  </a:lnSpc>
                  <a:spcBef>
                    <a:spcPts val="300"/>
                  </a:spcBef>
                  <a:buFont typeface="Arial" panose="020B0604020202020204" pitchFamily="34" charset="0"/>
                  <a:buChar char="•"/>
                </a:pPr>
                <a:r>
                  <a:rPr lang="zh-CN" altLang="en-US" b="1">
                    <a:solidFill>
                      <a:schemeClr val="accent6">
                        <a:lumMod val="50000"/>
                      </a:schemeClr>
                    </a:solidFill>
                  </a:rPr>
                  <a:t>通常根据算法的循环建立求和表达式，或根据算法的递归调用建立递推关系式</a:t>
                </a:r>
              </a:p>
              <a:p>
                <a:pPr marL="342900" indent="-342900">
                  <a:lnSpc>
                    <a:spcPts val="2600"/>
                  </a:lnSpc>
                  <a:spcBef>
                    <a:spcPts val="300"/>
                  </a:spcBef>
                  <a:buFont typeface="Arial" panose="020B0604020202020204" pitchFamily="34" charset="0"/>
                  <a:buChar char="•"/>
                </a:pPr>
                <a:r>
                  <a:rPr lang="zh-CN" altLang="en-US" b="1">
                    <a:solidFill>
                      <a:schemeClr val="accent6">
                        <a:lumMod val="50000"/>
                      </a:schemeClr>
                    </a:solidFill>
                  </a:rPr>
                  <a:t>然后用大</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oMath>
                </a14:m>
                <a:r>
                  <a:rPr lang="zh-CN" altLang="en-US" b="1">
                    <a:solidFill>
                      <a:schemeClr val="accent6">
                        <a:lumMod val="50000"/>
                      </a:schemeClr>
                    </a:solidFill>
                  </a:rPr>
                  <a:t>记号给出基本操作执行次数与输入规模的函数关系的一个</a:t>
                </a:r>
                <a:r>
                  <a:rPr lang="zh-CN" altLang="en-US" b="1">
                    <a:solidFill>
                      <a:srgbClr val="C00000"/>
                    </a:solidFill>
                  </a:rPr>
                  <a:t>上界估计</a:t>
                </a:r>
              </a:p>
            </p:txBody>
          </p:sp>
        </mc:Choice>
        <mc:Fallback xmlns="">
          <p:sp>
            <p:nvSpPr>
              <p:cNvPr id="4" name="文本框 3"/>
              <p:cNvSpPr txBox="1">
                <a:spLocks noRot="1" noChangeAspect="1" noMove="1" noResize="1" noEditPoints="1" noAdjustHandles="1" noChangeArrowheads="1" noChangeShapeType="1" noTextEdit="1"/>
              </p:cNvSpPr>
              <p:nvPr/>
            </p:nvSpPr>
            <p:spPr>
              <a:xfrm>
                <a:off x="5683247" y="3410420"/>
                <a:ext cx="5677680" cy="2789353"/>
              </a:xfrm>
              <a:prstGeom prst="rect">
                <a:avLst/>
              </a:prstGeom>
              <a:blipFill rotWithShape="1">
                <a:blip r:embed="rId2"/>
                <a:stretch>
                  <a:fillRect l="-11" t="-17" r="3" b="10"/>
                </a:stretch>
              </a:blipFill>
            </p:spPr>
            <p:txBody>
              <a:bodyPr/>
              <a:lstStyle/>
              <a:p>
                <a:r>
                  <a:rPr lang="zh-CN" altLang="en-US">
                    <a:noFill/>
                  </a:rPr>
                  <a:t> </a:t>
                </a:r>
              </a:p>
            </p:txBody>
          </p:sp>
        </mc:Fallback>
      </mc:AlternateContent>
      <p:sp>
        <p:nvSpPr>
          <p:cNvPr id="6" name="文本框 5"/>
          <p:cNvSpPr txBox="1"/>
          <p:nvPr/>
        </p:nvSpPr>
        <p:spPr>
          <a:xfrm>
            <a:off x="736735" y="3648101"/>
            <a:ext cx="4402744" cy="2296078"/>
          </a:xfrm>
          <a:prstGeom prst="rect">
            <a:avLst/>
          </a:prstGeom>
          <a:solidFill>
            <a:schemeClr val="accent5">
              <a:lumMod val="20000"/>
              <a:lumOff val="80000"/>
              <a:alpha val="50000"/>
            </a:schemeClr>
          </a:solidFill>
        </p:spPr>
        <p:txBody>
          <a:bodyPr wrap="square" rtlCol="0">
            <a:spAutoFit/>
          </a:bodyPr>
          <a:lstStyle/>
          <a:p>
            <a:pPr algn="ctr">
              <a:lnSpc>
                <a:spcPts val="3000"/>
              </a:lnSpc>
              <a:spcBef>
                <a:spcPts val="600"/>
              </a:spcBef>
              <a:spcAft>
                <a:spcPts val="600"/>
              </a:spcAft>
            </a:pPr>
            <a:r>
              <a:rPr lang="zh-CN" altLang="en-US" sz="2400" b="1">
                <a:solidFill>
                  <a:srgbClr val="C00000"/>
                </a:solidFill>
              </a:rPr>
              <a:t>可能需要做进一步的分析</a:t>
            </a:r>
            <a:endParaRPr lang="en-US" altLang="zh-CN" sz="2400" b="1">
              <a:solidFill>
                <a:srgbClr val="C00000"/>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如果在同样的输入规模下，算法基本操作的执行次数可能有很大的差异</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这时可能需要进行算法平均情况和最好情况的效率分析</a:t>
            </a:r>
          </a:p>
        </p:txBody>
      </p:sp>
      <p:sp>
        <p:nvSpPr>
          <p:cNvPr id="11" name="箭头: 右 10"/>
          <p:cNvSpPr/>
          <p:nvPr/>
        </p:nvSpPr>
        <p:spPr>
          <a:xfrm>
            <a:off x="5036463" y="2031299"/>
            <a:ext cx="646784" cy="1385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p:cNvSpPr/>
          <p:nvPr/>
        </p:nvSpPr>
        <p:spPr>
          <a:xfrm>
            <a:off x="8458941" y="3066066"/>
            <a:ext cx="126292" cy="3376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左 12"/>
          <p:cNvSpPr/>
          <p:nvPr/>
        </p:nvSpPr>
        <p:spPr>
          <a:xfrm>
            <a:off x="5139479" y="4735825"/>
            <a:ext cx="543768" cy="13854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算法效率分析举例</a:t>
            </a:r>
          </a:p>
        </p:txBody>
      </p:sp>
      <p:pic>
        <p:nvPicPr>
          <p:cNvPr id="2" name="图片 1"/>
          <p:cNvPicPr>
            <a:picLocks noChangeAspect="1"/>
          </p:cNvPicPr>
          <p:nvPr/>
        </p:nvPicPr>
        <p:blipFill>
          <a:blip r:embed="rId2"/>
          <a:stretch>
            <a:fillRect/>
          </a:stretch>
        </p:blipFill>
        <p:spPr>
          <a:xfrm>
            <a:off x="664421" y="1426173"/>
            <a:ext cx="9961916" cy="4889773"/>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664421" y="1026063"/>
                <a:ext cx="7703326"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accent2">
                        <a:lumMod val="50000"/>
                      </a:schemeClr>
                    </a:solidFill>
                  </a:rPr>
                  <a:t>折半查找：在已排序整数序列</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𝒂</m:t>
                        </m:r>
                      </m:e>
                      <m:sub>
                        <m:r>
                          <a:rPr lang="en-US" altLang="zh-CN" sz="2000" b="1" i="1">
                            <a:solidFill>
                              <a:schemeClr val="accent2">
                                <a:lumMod val="50000"/>
                              </a:schemeClr>
                            </a:solidFill>
                            <a:latin typeface="Cambria Math" panose="02040503050406030204" pitchFamily="18" charset="0"/>
                          </a:rPr>
                          <m:t>𝟐</m:t>
                        </m:r>
                      </m:sub>
                    </m:sSub>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中查找是否有指定整数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oMath>
                </a14:m>
                <a:endParaRPr lang="zh-CN" altLang="en-US" sz="2000" b="1">
                  <a:solidFill>
                    <a:schemeClr val="accent2">
                      <a:lumMod val="50000"/>
                    </a:schemeClr>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664421" y="1026063"/>
                <a:ext cx="7703326" cy="400110"/>
              </a:xfrm>
              <a:prstGeom prst="rect">
                <a:avLst/>
              </a:prstGeom>
              <a:blipFill rotWithShape="1">
                <a:blip r:embed="rId3"/>
                <a:stretch>
                  <a:fillRect l="-3" t="-134" r="5" b="149"/>
                </a:stretch>
              </a:blipFill>
            </p:spPr>
            <p:txBody>
              <a:bodyPr/>
              <a:lstStyle/>
              <a:p>
                <a:r>
                  <a:rPr lang="zh-CN" altLang="en-US">
                    <a:noFill/>
                  </a:rPr>
                  <a:t> </a:t>
                </a:r>
              </a:p>
            </p:txBody>
          </p:sp>
        </mc:Fallback>
      </mc:AlternateContent>
      <p:grpSp>
        <p:nvGrpSpPr>
          <p:cNvPr id="13" name="组合 12"/>
          <p:cNvGrpSpPr/>
          <p:nvPr/>
        </p:nvGrpSpPr>
        <p:grpSpPr>
          <a:xfrm>
            <a:off x="8261782" y="1886289"/>
            <a:ext cx="3064315" cy="4323918"/>
            <a:chOff x="8215733" y="1879711"/>
            <a:chExt cx="3064315" cy="4323918"/>
          </a:xfrm>
        </p:grpSpPr>
        <mc:AlternateContent xmlns:mc="http://schemas.openxmlformats.org/markup-compatibility/2006" xmlns:a14="http://schemas.microsoft.com/office/drawing/2010/main">
          <mc:Choice Requires="a14">
            <p:sp>
              <p:nvSpPr>
                <p:cNvPr id="4" name="文本框 3"/>
                <p:cNvSpPr txBox="1"/>
                <p:nvPr/>
              </p:nvSpPr>
              <p:spPr>
                <a:xfrm>
                  <a:off x="8215733" y="1879711"/>
                  <a:ext cx="2471292" cy="600293"/>
                </a:xfrm>
                <a:prstGeom prst="rect">
                  <a:avLst/>
                </a:prstGeom>
                <a:solidFill>
                  <a:schemeClr val="accent6">
                    <a:lumMod val="20000"/>
                    <a:lumOff val="80000"/>
                    <a:alpha val="50000"/>
                  </a:schemeClr>
                </a:solidFill>
              </p:spPr>
              <p:txBody>
                <a:bodyPr wrap="square" tIns="0" bIns="0" rtlCol="0">
                  <a:spAutoFit/>
                </a:bodyPr>
                <a:lstStyle/>
                <a:p>
                  <a:pPr>
                    <a:lnSpc>
                      <a:spcPts val="2400"/>
                    </a:lnSpc>
                  </a:pPr>
                  <a:r>
                    <a:rPr lang="zh-CN" altLang="en-US" b="1">
                      <a:solidFill>
                        <a:srgbClr val="002060"/>
                      </a:solidFill>
                      <a:latin typeface="楷体" panose="02010609060101010101" pitchFamily="49" charset="-122"/>
                      <a:ea typeface="楷体" panose="02010609060101010101" pitchFamily="49" charset="-122"/>
                    </a:rPr>
                    <a:t>以这组</a:t>
                  </a:r>
                  <a:r>
                    <a:rPr lang="zh-CN" altLang="en-US" b="1">
                      <a:solidFill>
                        <a:srgbClr val="C00000"/>
                      </a:solidFill>
                      <a:latin typeface="+mn-ea"/>
                    </a:rPr>
                    <a:t>数据的个数</a:t>
                  </a:r>
                  <a14:m>
                    <m:oMath xmlns:m="http://schemas.openxmlformats.org/officeDocument/2006/math">
                      <m:r>
                        <a:rPr lang="en-US" altLang="zh-CN" b="1" i="1" smtClean="0">
                          <a:solidFill>
                            <a:srgbClr val="C00000"/>
                          </a:solidFill>
                          <a:latin typeface="Cambria Math" panose="02040503050406030204" pitchFamily="18" charset="0"/>
                        </a:rPr>
                        <m:t>𝒏</m:t>
                      </m:r>
                    </m:oMath>
                  </a14:m>
                  <a:r>
                    <a:rPr lang="zh-CN" altLang="en-US" b="1">
                      <a:solidFill>
                        <a:srgbClr val="002060"/>
                      </a:solidFill>
                      <a:latin typeface="楷体" panose="02010609060101010101" pitchFamily="49" charset="-122"/>
                      <a:ea typeface="楷体" panose="02010609060101010101" pitchFamily="49" charset="-122"/>
                    </a:rPr>
                    <a:t>度量算法输入的规模</a:t>
                  </a:r>
                </a:p>
              </p:txBody>
            </p:sp>
          </mc:Choice>
          <mc:Fallback xmlns="">
            <p:sp>
              <p:nvSpPr>
                <p:cNvPr id="4" name="文本框 3"/>
                <p:cNvSpPr txBox="1">
                  <a:spLocks noRot="1" noChangeAspect="1" noMove="1" noResize="1" noEditPoints="1" noAdjustHandles="1" noChangeArrowheads="1" noChangeShapeType="1" noTextEdit="1"/>
                </p:cNvSpPr>
                <p:nvPr/>
              </p:nvSpPr>
              <p:spPr>
                <a:xfrm>
                  <a:off x="8215733" y="1879711"/>
                  <a:ext cx="2471292" cy="600293"/>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8215733" y="2723283"/>
                  <a:ext cx="3064315" cy="1203278"/>
                </a:xfrm>
                <a:prstGeom prst="rect">
                  <a:avLst/>
                </a:prstGeom>
                <a:solidFill>
                  <a:schemeClr val="accent4">
                    <a:lumMod val="20000"/>
                    <a:lumOff val="80000"/>
                    <a:alpha val="50000"/>
                  </a:schemeClr>
                </a:solidFill>
              </p:spPr>
              <p:txBody>
                <a:bodyPr wrap="square" tIns="0" bIns="0" rtlCol="0">
                  <a:spAutoFit/>
                </a:bodyPr>
                <a:lstStyle/>
                <a:p>
                  <a:pPr algn="ctr">
                    <a:lnSpc>
                      <a:spcPts val="2400"/>
                    </a:lnSpc>
                  </a:pPr>
                  <a:r>
                    <a:rPr lang="zh-CN" altLang="en-US" b="1">
                      <a:solidFill>
                        <a:srgbClr val="C00000"/>
                      </a:solidFill>
                      <a:latin typeface="+mn-ea"/>
                    </a:rPr>
                    <a:t>算法基本操作</a:t>
                  </a:r>
                  <a:endParaRPr lang="en-US" altLang="zh-CN" b="1">
                    <a:solidFill>
                      <a:srgbClr val="C00000"/>
                    </a:solidFill>
                    <a:latin typeface="+mn-ea"/>
                  </a:endParaRPr>
                </a:p>
                <a:p>
                  <a:pPr>
                    <a:lnSpc>
                      <a:spcPts val="2400"/>
                    </a:lnSpc>
                  </a:pPr>
                  <a:r>
                    <a:rPr lang="zh-CN" altLang="en-US" b="1">
                      <a:solidFill>
                        <a:srgbClr val="002060"/>
                      </a:solidFill>
                      <a:latin typeface="楷体" panose="02010609060101010101" pitchFamily="49" charset="-122"/>
                      <a:ea typeface="楷体" panose="02010609060101010101" pitchFamily="49" charset="-122"/>
                    </a:rPr>
                    <a:t>判断</a:t>
                  </a:r>
                  <a14:m>
                    <m:oMath xmlns:m="http://schemas.openxmlformats.org/officeDocument/2006/math">
                      <m:r>
                        <a:rPr lang="en-US" altLang="zh-CN" b="1" i="1" smtClean="0">
                          <a:solidFill>
                            <a:srgbClr val="002060"/>
                          </a:solidFill>
                          <a:latin typeface="Cambria Math" panose="02040503050406030204" pitchFamily="18" charset="0"/>
                        </a:rPr>
                        <m:t>𝒊</m:t>
                      </m:r>
                    </m:oMath>
                  </a14:m>
                  <a:r>
                    <a:rPr lang="zh-CN" altLang="en-US" b="1">
                      <a:solidFill>
                        <a:srgbClr val="002060"/>
                      </a:solidFill>
                      <a:latin typeface="楷体" panose="02010609060101010101" pitchFamily="49" charset="-122"/>
                      <a:ea typeface="楷体" panose="02010609060101010101" pitchFamily="49" charset="-122"/>
                    </a:rPr>
                    <a:t>是否小于等于</a:t>
                  </a:r>
                  <a14:m>
                    <m:oMath xmlns:m="http://schemas.openxmlformats.org/officeDocument/2006/math">
                      <m:r>
                        <a:rPr lang="en-US" altLang="zh-CN" b="1" i="1" smtClean="0">
                          <a:solidFill>
                            <a:srgbClr val="002060"/>
                          </a:solidFill>
                          <a:latin typeface="Cambria Math" panose="02040503050406030204" pitchFamily="18" charset="0"/>
                        </a:rPr>
                        <m:t>𝒋</m:t>
                      </m:r>
                    </m:oMath>
                  </a14:m>
                  <a:r>
                    <a:rPr lang="zh-CN" altLang="en-US" b="1">
                      <a:solidFill>
                        <a:srgbClr val="002060"/>
                      </a:solidFill>
                      <a:latin typeface="楷体" panose="02010609060101010101" pitchFamily="49" charset="-122"/>
                      <a:ea typeface="楷体" panose="02010609060101010101" pitchFamily="49" charset="-122"/>
                    </a:rPr>
                    <a:t>、判断</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是否等于</a:t>
                  </a:r>
                  <a14:m>
                    <m:oMath xmlns:m="http://schemas.openxmlformats.org/officeDocument/2006/math">
                      <m:sSub>
                        <m:sSubPr>
                          <m:ctrlPr>
                            <a:rPr lang="en-US" altLang="zh-CN" b="1" i="1" smtClean="0">
                              <a:solidFill>
                                <a:srgbClr val="002060"/>
                              </a:solidFill>
                              <a:latin typeface="Cambria Math" panose="02040503050406030204" pitchFamily="18" charset="0"/>
                            </a:rPr>
                          </m:ctrlPr>
                        </m:sSubPr>
                        <m:e>
                          <m:r>
                            <a:rPr lang="en-US" altLang="zh-CN" b="1" i="1" smtClean="0">
                              <a:solidFill>
                                <a:srgbClr val="002060"/>
                              </a:solidFill>
                              <a:latin typeface="Cambria Math" panose="02040503050406030204" pitchFamily="18" charset="0"/>
                            </a:rPr>
                            <m:t>𝒂</m:t>
                          </m:r>
                        </m:e>
                        <m:sub>
                          <m:r>
                            <a:rPr lang="en-US" altLang="zh-CN" b="1" i="1" smtClean="0">
                              <a:solidFill>
                                <a:srgbClr val="002060"/>
                              </a:solidFill>
                              <a:latin typeface="Cambria Math" panose="02040503050406030204" pitchFamily="18" charset="0"/>
                            </a:rPr>
                            <m:t>𝒎</m:t>
                          </m:r>
                        </m:sub>
                      </m:sSub>
                    </m:oMath>
                  </a14:m>
                  <a:r>
                    <a:rPr lang="zh-CN" altLang="en-US" b="1">
                      <a:solidFill>
                        <a:srgbClr val="002060"/>
                      </a:solidFill>
                      <a:latin typeface="楷体" panose="02010609060101010101" pitchFamily="49" charset="-122"/>
                      <a:ea typeface="楷体" panose="02010609060101010101" pitchFamily="49" charset="-122"/>
                    </a:rPr>
                    <a:t>，判断</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是否小于</a:t>
                  </a:r>
                  <a14:m>
                    <m:oMath xmlns:m="http://schemas.openxmlformats.org/officeDocument/2006/math">
                      <m:sSub>
                        <m:sSubPr>
                          <m:ctrlPr>
                            <a:rPr lang="en-US" altLang="zh-CN" b="1" i="1" smtClean="0">
                              <a:solidFill>
                                <a:srgbClr val="002060"/>
                              </a:solidFill>
                              <a:latin typeface="Cambria Math" panose="02040503050406030204" pitchFamily="18" charset="0"/>
                            </a:rPr>
                          </m:ctrlPr>
                        </m:sSubPr>
                        <m:e>
                          <m:r>
                            <a:rPr lang="en-US" altLang="zh-CN" b="1" i="1" smtClean="0">
                              <a:solidFill>
                                <a:srgbClr val="002060"/>
                              </a:solidFill>
                              <a:latin typeface="Cambria Math" panose="02040503050406030204" pitchFamily="18" charset="0"/>
                            </a:rPr>
                            <m:t>𝒂</m:t>
                          </m:r>
                        </m:e>
                        <m:sub>
                          <m:r>
                            <a:rPr lang="en-US" altLang="zh-CN" b="1" i="1" smtClean="0">
                              <a:solidFill>
                                <a:srgbClr val="002060"/>
                              </a:solidFill>
                              <a:latin typeface="Cambria Math" panose="02040503050406030204" pitchFamily="18" charset="0"/>
                            </a:rPr>
                            <m:t>𝒎</m:t>
                          </m:r>
                        </m:sub>
                      </m:sSub>
                    </m:oMath>
                  </a14:m>
                  <a:r>
                    <a:rPr lang="zh-CN" altLang="en-US" b="1">
                      <a:solidFill>
                        <a:srgbClr val="002060"/>
                      </a:solidFill>
                      <a:latin typeface="楷体" panose="02010609060101010101" pitchFamily="49" charset="-122"/>
                      <a:ea typeface="楷体" panose="02010609060101010101" pitchFamily="49" charset="-122"/>
                    </a:rPr>
                    <a:t>，以及对</a:t>
                  </a:r>
                  <a14:m>
                    <m:oMath xmlns:m="http://schemas.openxmlformats.org/officeDocument/2006/math">
                      <m:r>
                        <a:rPr lang="en-US" altLang="zh-CN" b="1" i="1" smtClean="0">
                          <a:solidFill>
                            <a:srgbClr val="002060"/>
                          </a:solidFill>
                          <a:latin typeface="Cambria Math" panose="02040503050406030204" pitchFamily="18" charset="0"/>
                        </a:rPr>
                        <m:t>𝒊</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𝒋</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𝒎</m:t>
                      </m:r>
                    </m:oMath>
                  </a14:m>
                  <a:r>
                    <a:rPr lang="zh-CN" altLang="en-US" b="1">
                      <a:solidFill>
                        <a:srgbClr val="002060"/>
                      </a:solidFill>
                      <a:latin typeface="楷体" panose="02010609060101010101" pitchFamily="49" charset="-122"/>
                      <a:ea typeface="楷体" panose="02010609060101010101" pitchFamily="49" charset="-122"/>
                    </a:rPr>
                    <a:t>的赋值</a:t>
                  </a:r>
                </a:p>
              </p:txBody>
            </p:sp>
          </mc:Choice>
          <mc:Fallback xmlns="">
            <p:sp>
              <p:nvSpPr>
                <p:cNvPr id="6" name="文本框 5"/>
                <p:cNvSpPr txBox="1">
                  <a:spLocks noRot="1" noChangeAspect="1" noMove="1" noResize="1" noEditPoints="1" noAdjustHandles="1" noChangeArrowheads="1" noChangeShapeType="1" noTextEdit="1"/>
                </p:cNvSpPr>
                <p:nvPr/>
              </p:nvSpPr>
              <p:spPr>
                <a:xfrm>
                  <a:off x="8215733" y="2723283"/>
                  <a:ext cx="3064315" cy="1203278"/>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8215733" y="4181935"/>
                  <a:ext cx="2745160" cy="907171"/>
                </a:xfrm>
                <a:prstGeom prst="rect">
                  <a:avLst/>
                </a:prstGeom>
                <a:solidFill>
                  <a:schemeClr val="accent2">
                    <a:lumMod val="20000"/>
                    <a:lumOff val="80000"/>
                    <a:alpha val="50000"/>
                  </a:schemeClr>
                </a:solidFill>
              </p:spPr>
              <p:txBody>
                <a:bodyPr wrap="square" tIns="0" bIns="0" rtlCol="0">
                  <a:spAutoFit/>
                </a:bodyPr>
                <a:lstStyle/>
                <a:p>
                  <a:pPr>
                    <a:lnSpc>
                      <a:spcPts val="2400"/>
                    </a:lnSpc>
                  </a:pPr>
                  <a:r>
                    <a:rPr lang="zh-CN" altLang="en-US" b="1">
                      <a:solidFill>
                        <a:srgbClr val="002060"/>
                      </a:solidFill>
                      <a:latin typeface="楷体" panose="02010609060101010101" pitchFamily="49" charset="-122"/>
                      <a:ea typeface="楷体" panose="02010609060101010101" pitchFamily="49" charset="-122"/>
                    </a:rPr>
                    <a:t>只需考虑第</a:t>
                  </a:r>
                  <a:r>
                    <a:rPr lang="en-US" altLang="zh-CN" b="1">
                      <a:solidFill>
                        <a:srgbClr val="002060"/>
                      </a:solidFill>
                      <a:latin typeface="楷体" panose="02010609060101010101" pitchFamily="49" charset="-122"/>
                      <a:ea typeface="楷体" panose="02010609060101010101" pitchFamily="49" charset="-122"/>
                    </a:rPr>
                    <a:t>2</a:t>
                  </a:r>
                  <a:r>
                    <a:rPr lang="zh-CN" altLang="en-US" b="1">
                      <a:solidFill>
                        <a:srgbClr val="002060"/>
                      </a:solidFill>
                      <a:latin typeface="楷体" panose="02010609060101010101" pitchFamily="49" charset="-122"/>
                      <a:ea typeface="楷体" panose="02010609060101010101" pitchFamily="49" charset="-122"/>
                    </a:rPr>
                    <a:t>行</a:t>
                  </a:r>
                  <a:r>
                    <a:rPr lang="zh-CN" altLang="en-US" b="1">
                      <a:solidFill>
                        <a:srgbClr val="C00000"/>
                      </a:solidFill>
                      <a:latin typeface="+mn-ea"/>
                    </a:rPr>
                    <a:t>循环条件判断的执行次数</a:t>
                  </a:r>
                  <a:r>
                    <a:rPr lang="zh-CN" altLang="en-US" b="1">
                      <a:solidFill>
                        <a:srgbClr val="002060"/>
                      </a:solidFill>
                      <a:latin typeface="楷体" panose="02010609060101010101" pitchFamily="49" charset="-122"/>
                      <a:ea typeface="楷体" panose="02010609060101010101" pitchFamily="49" charset="-122"/>
                    </a:rPr>
                    <a:t>与输入规模</a:t>
                  </a:r>
                  <a14:m>
                    <m:oMath xmlns:m="http://schemas.openxmlformats.org/officeDocument/2006/math">
                      <m:r>
                        <a:rPr lang="en-US" altLang="zh-CN" b="1" i="1" smtClean="0">
                          <a:solidFill>
                            <a:srgbClr val="002060"/>
                          </a:solidFill>
                          <a:latin typeface="Cambria Math" panose="02040503050406030204" pitchFamily="18" charset="0"/>
                        </a:rPr>
                        <m:t>𝒏</m:t>
                      </m:r>
                    </m:oMath>
                  </a14:m>
                  <a:r>
                    <a:rPr lang="zh-CN" altLang="en-US" b="1">
                      <a:solidFill>
                        <a:srgbClr val="002060"/>
                      </a:solidFill>
                      <a:latin typeface="楷体" panose="02010609060101010101" pitchFamily="49" charset="-122"/>
                      <a:ea typeface="楷体" panose="02010609060101010101" pitchFamily="49" charset="-122"/>
                    </a:rPr>
                    <a:t>之间的函数关系</a:t>
                  </a:r>
                </a:p>
              </p:txBody>
            </p:sp>
          </mc:Choice>
          <mc:Fallback xmlns="">
            <p:sp>
              <p:nvSpPr>
                <p:cNvPr id="11" name="文本框 10"/>
                <p:cNvSpPr txBox="1">
                  <a:spLocks noRot="1" noChangeAspect="1" noMove="1" noResize="1" noEditPoints="1" noAdjustHandles="1" noChangeArrowheads="1" noChangeShapeType="1" noTextEdit="1"/>
                </p:cNvSpPr>
                <p:nvPr/>
              </p:nvSpPr>
              <p:spPr>
                <a:xfrm>
                  <a:off x="8215733" y="4181935"/>
                  <a:ext cx="2745160" cy="907171"/>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8215733" y="5296458"/>
                  <a:ext cx="2745160" cy="907171"/>
                </a:xfrm>
                <a:prstGeom prst="rect">
                  <a:avLst/>
                </a:prstGeom>
                <a:solidFill>
                  <a:schemeClr val="accent4">
                    <a:lumMod val="20000"/>
                    <a:lumOff val="80000"/>
                    <a:alpha val="50000"/>
                  </a:schemeClr>
                </a:solidFill>
              </p:spPr>
              <p:txBody>
                <a:bodyPr wrap="square" tIns="0" bIns="0" rtlCol="0">
                  <a:spAutoFit/>
                </a:bodyPr>
                <a:lstStyle/>
                <a:p>
                  <a:pPr>
                    <a:lnSpc>
                      <a:spcPts val="2400"/>
                    </a:lnSpc>
                  </a:pPr>
                  <a:r>
                    <a:rPr lang="zh-CN" altLang="en-US" b="1">
                      <a:solidFill>
                        <a:schemeClr val="accent2">
                          <a:lumMod val="50000"/>
                        </a:schemeClr>
                      </a:solidFill>
                      <a:latin typeface="+mn-ea"/>
                    </a:rPr>
                    <a:t>每次循环至少将检查的数据个数减半，因此算法时间复杂度是</a:t>
                  </a:r>
                  <a14:m>
                    <m:oMath xmlns:m="http://schemas.openxmlformats.org/officeDocument/2006/math">
                      <m:r>
                        <a:rPr lang="en-US" altLang="zh-CN" b="1" i="1" smtClean="0">
                          <a:solidFill>
                            <a:srgbClr val="C00000"/>
                          </a:solidFill>
                          <a:latin typeface="Cambria Math" panose="02040503050406030204" pitchFamily="18" charset="0"/>
                        </a:rPr>
                        <m:t>𝑶</m:t>
                      </m:r>
                      <m:d>
                        <m:dPr>
                          <m:ctrlPr>
                            <a:rPr lang="en-US" altLang="zh-CN" b="1" i="1" smtClean="0">
                              <a:solidFill>
                                <a:srgbClr val="C00000"/>
                              </a:solidFill>
                              <a:latin typeface="Cambria Math" panose="02040503050406030204" pitchFamily="18" charset="0"/>
                            </a:rPr>
                          </m:ctrlPr>
                        </m:dPr>
                        <m:e>
                          <m:r>
                            <a:rPr lang="en-US" altLang="zh-CN" b="1" i="0">
                              <a:solidFill>
                                <a:srgbClr val="C00000"/>
                              </a:solidFill>
                              <a:latin typeface="Cambria Math" panose="02040503050406030204" pitchFamily="18" charset="0"/>
                            </a:rPr>
                            <m:t>𝐥𝐨𝐠</m:t>
                          </m:r>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𝒏</m:t>
                          </m:r>
                        </m:e>
                      </m:d>
                    </m:oMath>
                  </a14:m>
                  <a:endParaRPr lang="zh-CN" altLang="en-US" b="1">
                    <a:solidFill>
                      <a:schemeClr val="accent2">
                        <a:lumMod val="50000"/>
                      </a:schemeClr>
                    </a:solidFill>
                    <a:latin typeface="+mn-ea"/>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8215733" y="5296458"/>
                  <a:ext cx="2745160" cy="907171"/>
                </a:xfrm>
                <a:prstGeom prst="rect">
                  <a:avLst/>
                </a:prstGeom>
                <a:blipFill rotWithShape="1">
                  <a:blip r:embed="rId7"/>
                </a:blipFill>
              </p:spPr>
              <p:txBody>
                <a:bodyPr/>
                <a:lstStyle/>
                <a:p>
                  <a:r>
                    <a:rPr lang="zh-CN" altLang="en-US">
                      <a:noFill/>
                    </a:rPr>
                    <a:t> </a:t>
                  </a:r>
                </a:p>
              </p:txBody>
            </p:sp>
          </mc:Fallback>
        </mc:AlternateContent>
      </p:grpSp>
      <p:sp>
        <p:nvSpPr>
          <p:cNvPr id="14" name="箭头: 下 13"/>
          <p:cNvSpPr/>
          <p:nvPr/>
        </p:nvSpPr>
        <p:spPr>
          <a:xfrm>
            <a:off x="9497428" y="2486582"/>
            <a:ext cx="113640" cy="2432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p:cNvSpPr/>
          <p:nvPr/>
        </p:nvSpPr>
        <p:spPr>
          <a:xfrm>
            <a:off x="9550797" y="3914196"/>
            <a:ext cx="113640" cy="2743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p:cNvSpPr/>
          <p:nvPr/>
        </p:nvSpPr>
        <p:spPr>
          <a:xfrm>
            <a:off x="9550797" y="5095682"/>
            <a:ext cx="113640" cy="2137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算法效率分析练习</a:t>
            </a:r>
          </a:p>
        </p:txBody>
      </p:sp>
      <p:pic>
        <p:nvPicPr>
          <p:cNvPr id="2" name="图片 1"/>
          <p:cNvPicPr>
            <a:picLocks noChangeAspect="1"/>
          </p:cNvPicPr>
          <p:nvPr/>
        </p:nvPicPr>
        <p:blipFill>
          <a:blip r:embed="rId2"/>
          <a:stretch>
            <a:fillRect/>
          </a:stretch>
        </p:blipFill>
        <p:spPr>
          <a:xfrm>
            <a:off x="677577" y="2438363"/>
            <a:ext cx="9198820" cy="3965550"/>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677577" y="993341"/>
                <a:ext cx="11005692" cy="1466812"/>
              </a:xfrm>
              <a:prstGeom prst="rect">
                <a:avLst/>
              </a:prstGeom>
              <a:solidFill>
                <a:schemeClr val="accent6">
                  <a:lumMod val="20000"/>
                  <a:lumOff val="80000"/>
                  <a:alpha val="25000"/>
                </a:schemeClr>
              </a:solidFill>
            </p:spPr>
            <p:txBody>
              <a:bodyPr wrap="square" rtlCol="0">
                <a:spAutoFit/>
              </a:bodyPr>
              <a:lstStyle/>
              <a:p>
                <a:pPr>
                  <a:spcBef>
                    <a:spcPts val="600"/>
                  </a:spcBef>
                </a:pPr>
                <a:r>
                  <a:rPr lang="zh-CN" altLang="en-US" b="1">
                    <a:solidFill>
                      <a:srgbClr val="002060"/>
                    </a:solidFill>
                    <a:latin typeface="楷体" panose="02010609060101010101" pitchFamily="49" charset="-122"/>
                    <a:ea typeface="楷体" panose="02010609060101010101" pitchFamily="49" charset="-122"/>
                  </a:rPr>
                  <a:t>对于前面给出的打印一个集合幂集的算法</a:t>
                </a:r>
              </a:p>
              <a:p>
                <a:pPr marL="285750" indent="-285750">
                  <a:spcBef>
                    <a:spcPts val="600"/>
                  </a:spcBef>
                  <a:buFont typeface="Arial" panose="020B0604020202020204" pitchFamily="34" charset="0"/>
                  <a:buChar char="•"/>
                </a:pPr>
                <a:r>
                  <a:rPr lang="zh-CN" altLang="en-US" b="1">
                    <a:solidFill>
                      <a:schemeClr val="accent6">
                        <a:lumMod val="50000"/>
                      </a:schemeClr>
                    </a:solidFill>
                  </a:rPr>
                  <a:t>确定算法的</a:t>
                </a:r>
                <a:r>
                  <a:rPr lang="zh-CN" altLang="en-US" b="1">
                    <a:solidFill>
                      <a:srgbClr val="C00000"/>
                    </a:solidFill>
                  </a:rPr>
                  <a:t>输入规模</a:t>
                </a:r>
                <a:r>
                  <a:rPr lang="zh-CN" altLang="en-US" b="1">
                    <a:solidFill>
                      <a:schemeClr val="accent6">
                        <a:lumMod val="50000"/>
                      </a:schemeClr>
                    </a:solidFill>
                  </a:rPr>
                  <a:t>、</a:t>
                </a:r>
                <a:r>
                  <a:rPr lang="zh-CN" altLang="en-US" b="1">
                    <a:solidFill>
                      <a:srgbClr val="C00000"/>
                    </a:solidFill>
                  </a:rPr>
                  <a:t>基本操作</a:t>
                </a:r>
                <a:r>
                  <a:rPr lang="zh-CN" altLang="en-US" b="1">
                    <a:solidFill>
                      <a:schemeClr val="accent6">
                        <a:lumMod val="50000"/>
                      </a:schemeClr>
                    </a:solidFill>
                  </a:rPr>
                  <a:t>，确定</a:t>
                </a:r>
                <a:r>
                  <a:rPr lang="zh-CN" altLang="en-US" b="1">
                    <a:solidFill>
                      <a:srgbClr val="C00000"/>
                    </a:solidFill>
                  </a:rPr>
                  <a:t>执行次数最多</a:t>
                </a:r>
                <a:r>
                  <a:rPr lang="zh-CN" altLang="en-US" b="1">
                    <a:solidFill>
                      <a:schemeClr val="accent6">
                        <a:lumMod val="50000"/>
                      </a:schemeClr>
                    </a:solidFill>
                  </a:rPr>
                  <a:t>的基本操作，分析该基本操作与输入规模的</a:t>
                </a:r>
                <a:r>
                  <a:rPr lang="zh-CN" altLang="en-US" b="1">
                    <a:solidFill>
                      <a:srgbClr val="C00000"/>
                    </a:solidFill>
                  </a:rPr>
                  <a:t>函数关系</a:t>
                </a:r>
              </a:p>
              <a:p>
                <a:pPr marL="285750" indent="-285750">
                  <a:spcBef>
                    <a:spcPts val="600"/>
                  </a:spcBef>
                  <a:buFont typeface="Arial" panose="020B0604020202020204" pitchFamily="34" charset="0"/>
                  <a:buChar char="•"/>
                </a:pPr>
                <a:r>
                  <a:rPr lang="zh-CN" altLang="en-US" b="1">
                    <a:solidFill>
                      <a:schemeClr val="accent6">
                        <a:lumMod val="50000"/>
                      </a:schemeClr>
                    </a:solidFill>
                  </a:rPr>
                  <a:t>最坏情况下的算法复杂度的大</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oMath>
                </a14:m>
                <a:r>
                  <a:rPr lang="zh-CN" altLang="en-US" b="1">
                    <a:solidFill>
                      <a:schemeClr val="accent6">
                        <a:lumMod val="50000"/>
                      </a:schemeClr>
                    </a:solidFill>
                  </a:rPr>
                  <a:t>估计是  </a:t>
                </a:r>
                <a:r>
                  <a:rPr lang="en-US" altLang="zh-CN" b="1">
                    <a:solidFill>
                      <a:srgbClr val="C00000"/>
                    </a:solidFill>
                  </a:rPr>
                  <a:t>C.  </a:t>
                </a:r>
                <a14:m>
                  <m:oMath xmlns:m="http://schemas.openxmlformats.org/officeDocument/2006/math">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𝒏</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𝟐</m:t>
                            </m:r>
                          </m:e>
                          <m:sup>
                            <m:r>
                              <a:rPr lang="en-US" altLang="zh-CN" b="1" i="1">
                                <a:solidFill>
                                  <a:srgbClr val="C00000"/>
                                </a:solidFill>
                                <a:latin typeface="Cambria Math" panose="02040503050406030204" pitchFamily="18" charset="0"/>
                              </a:rPr>
                              <m:t>𝒏</m:t>
                            </m:r>
                          </m:sup>
                        </m:sSup>
                      </m:e>
                    </m:d>
                  </m:oMath>
                </a14:m>
                <a:endParaRPr lang="zh-CN" altLang="en-US" b="1">
                  <a:solidFill>
                    <a:schemeClr val="accent6">
                      <a:lumMod val="50000"/>
                    </a:schemeClr>
                  </a:solidFill>
                </a:endParaRPr>
              </a:p>
              <a:p>
                <a:pPr lvl="2">
                  <a:spcBef>
                    <a:spcPts val="600"/>
                  </a:spcBef>
                </a:pPr>
                <a:r>
                  <a:rPr lang="en-US" altLang="zh-CN" b="1">
                    <a:solidFill>
                      <a:srgbClr val="C00000"/>
                    </a:solidFill>
                  </a:rPr>
                  <a:t>A.</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𝟐</m:t>
                            </m:r>
                          </m:sup>
                        </m:sSup>
                      </m:e>
                    </m:d>
                  </m:oMath>
                </a14:m>
                <a:r>
                  <a:rPr lang="en-US" altLang="zh-CN" b="1">
                    <a:solidFill>
                      <a:schemeClr val="accent2">
                        <a:lumMod val="50000"/>
                      </a:schemeClr>
                    </a:solidFill>
                  </a:rPr>
                  <a:t>        </a:t>
                </a:r>
                <a:r>
                  <a:rPr lang="en-US" altLang="zh-CN" b="1">
                    <a:solidFill>
                      <a:srgbClr val="C00000"/>
                    </a:solidFill>
                  </a:rPr>
                  <a:t>B.</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e>
                    </m:d>
                  </m:oMath>
                </a14:m>
                <a:r>
                  <a:rPr lang="en-US" altLang="zh-CN" b="1">
                    <a:solidFill>
                      <a:schemeClr val="accent2">
                        <a:lumMod val="50000"/>
                      </a:schemeClr>
                    </a:solidFill>
                  </a:rPr>
                  <a:t>        </a:t>
                </a:r>
                <a:r>
                  <a:rPr lang="en-US" altLang="zh-CN" b="1">
                    <a:solidFill>
                      <a:srgbClr val="C00000"/>
                    </a:solidFill>
                  </a:rPr>
                  <a:t>C.</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𝒏</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e>
                    </m:d>
                  </m:oMath>
                </a14:m>
                <a:r>
                  <a:rPr lang="en-US" altLang="zh-CN" b="1">
                    <a:solidFill>
                      <a:schemeClr val="accent2">
                        <a:lumMod val="50000"/>
                      </a:schemeClr>
                    </a:solidFill>
                  </a:rPr>
                  <a:t>       </a:t>
                </a:r>
                <a:r>
                  <a:rPr lang="en-US" altLang="zh-CN" b="1">
                    <a:solidFill>
                      <a:srgbClr val="C00000"/>
                    </a:solidFill>
                  </a:rPr>
                  <a:t>D.</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𝟐</m:t>
                            </m:r>
                          </m:sup>
                        </m:sSup>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e>
                    </m:d>
                  </m:oMath>
                </a14:m>
                <a:endParaRPr lang="en-US" altLang="zh-CN" b="1"/>
              </a:p>
            </p:txBody>
          </p:sp>
        </mc:Choice>
        <mc:Fallback xmlns="">
          <p:sp>
            <p:nvSpPr>
              <p:cNvPr id="3" name="文本框 2"/>
              <p:cNvSpPr txBox="1">
                <a:spLocks noRot="1" noChangeAspect="1" noMove="1" noResize="1" noEditPoints="1" noAdjustHandles="1" noChangeArrowheads="1" noChangeShapeType="1" noTextEdit="1"/>
              </p:cNvSpPr>
              <p:nvPr/>
            </p:nvSpPr>
            <p:spPr>
              <a:xfrm>
                <a:off x="677577" y="993341"/>
                <a:ext cx="11005692" cy="1466812"/>
              </a:xfrm>
              <a:prstGeom prst="rect">
                <a:avLst/>
              </a:prstGeom>
              <a:blipFill rotWithShape="1">
                <a:blip r:embed="rId3"/>
                <a:stretch>
                  <a:fillRect t="-14" r="5" b="11"/>
                </a:stretch>
              </a:blipFill>
            </p:spPr>
            <p:txBody>
              <a:bodyPr/>
              <a:lstStyle/>
              <a:p>
                <a:r>
                  <a:rPr lang="zh-CN" altLang="en-US">
                    <a:noFill/>
                  </a:rPr>
                  <a:t> </a:t>
                </a:r>
              </a:p>
            </p:txBody>
          </p:sp>
        </mc:Fallback>
      </mc:AlternateContent>
      <p:cxnSp>
        <p:nvCxnSpPr>
          <p:cNvPr id="6" name="直接连接符 5"/>
          <p:cNvCxnSpPr/>
          <p:nvPr/>
        </p:nvCxnSpPr>
        <p:spPr>
          <a:xfrm>
            <a:off x="4979862" y="2018554"/>
            <a:ext cx="120056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979862" y="1696470"/>
            <a:ext cx="1200561" cy="307777"/>
          </a:xfrm>
          <a:prstGeom prst="rect">
            <a:avLst/>
          </a:prstGeom>
          <a:solidFill>
            <a:srgbClr val="F8FBF5"/>
          </a:solidFill>
        </p:spPr>
        <p:txBody>
          <a:bodyPr wrap="square" tIns="0" bIns="0" rtlCol="0">
            <a:spAutoFit/>
          </a:bodyPr>
          <a:lstStyle/>
          <a:p>
            <a:pPr algn="ctr"/>
            <a:r>
              <a:rPr lang="en-US" altLang="zh-CN" sz="2000" b="1">
                <a:solidFill>
                  <a:srgbClr val="C00000"/>
                </a:solidFill>
              </a:rPr>
              <a:t>(1)</a:t>
            </a:r>
            <a:endParaRPr lang="zh-CN" altLang="en-US" sz="2000" b="1">
              <a:solidFill>
                <a:srgbClr val="C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算法效率分析练习</a:t>
            </a:r>
          </a:p>
        </p:txBody>
      </p:sp>
      <p:pic>
        <p:nvPicPr>
          <p:cNvPr id="2" name="图片 1"/>
          <p:cNvPicPr>
            <a:picLocks noChangeAspect="1"/>
          </p:cNvPicPr>
          <p:nvPr/>
        </p:nvPicPr>
        <p:blipFill>
          <a:blip r:embed="rId2"/>
          <a:stretch>
            <a:fillRect/>
          </a:stretch>
        </p:blipFill>
        <p:spPr>
          <a:xfrm>
            <a:off x="677577" y="2438363"/>
            <a:ext cx="9198820" cy="3965550"/>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677577" y="993341"/>
                <a:ext cx="11005692" cy="1466812"/>
              </a:xfrm>
              <a:prstGeom prst="rect">
                <a:avLst/>
              </a:prstGeom>
              <a:solidFill>
                <a:schemeClr val="accent6">
                  <a:lumMod val="20000"/>
                  <a:lumOff val="80000"/>
                  <a:alpha val="25000"/>
                </a:schemeClr>
              </a:solidFill>
            </p:spPr>
            <p:txBody>
              <a:bodyPr wrap="square" rtlCol="0">
                <a:spAutoFit/>
              </a:bodyPr>
              <a:lstStyle/>
              <a:p>
                <a:pPr>
                  <a:spcBef>
                    <a:spcPts val="600"/>
                  </a:spcBef>
                </a:pPr>
                <a:r>
                  <a:rPr lang="zh-CN" altLang="en-US" b="1">
                    <a:solidFill>
                      <a:srgbClr val="002060"/>
                    </a:solidFill>
                    <a:latin typeface="楷体" panose="02010609060101010101" pitchFamily="49" charset="-122"/>
                    <a:ea typeface="楷体" panose="02010609060101010101" pitchFamily="49" charset="-122"/>
                  </a:rPr>
                  <a:t>对于前面给出的打印一个集合幂集的算法</a:t>
                </a:r>
              </a:p>
              <a:p>
                <a:pPr marL="285750" indent="-285750">
                  <a:spcBef>
                    <a:spcPts val="600"/>
                  </a:spcBef>
                  <a:buFont typeface="Arial" panose="020B0604020202020204" pitchFamily="34" charset="0"/>
                  <a:buChar char="•"/>
                </a:pPr>
                <a:r>
                  <a:rPr lang="zh-CN" altLang="en-US" b="1">
                    <a:solidFill>
                      <a:schemeClr val="accent6">
                        <a:lumMod val="50000"/>
                      </a:schemeClr>
                    </a:solidFill>
                  </a:rPr>
                  <a:t>确定算法的</a:t>
                </a:r>
                <a:r>
                  <a:rPr lang="zh-CN" altLang="en-US" b="1">
                    <a:solidFill>
                      <a:srgbClr val="C00000"/>
                    </a:solidFill>
                  </a:rPr>
                  <a:t>输入规模</a:t>
                </a:r>
                <a:r>
                  <a:rPr lang="zh-CN" altLang="en-US" b="1">
                    <a:solidFill>
                      <a:schemeClr val="accent6">
                        <a:lumMod val="50000"/>
                      </a:schemeClr>
                    </a:solidFill>
                  </a:rPr>
                  <a:t>、</a:t>
                </a:r>
                <a:r>
                  <a:rPr lang="zh-CN" altLang="en-US" b="1">
                    <a:solidFill>
                      <a:srgbClr val="C00000"/>
                    </a:solidFill>
                  </a:rPr>
                  <a:t>基本操作</a:t>
                </a:r>
                <a:r>
                  <a:rPr lang="zh-CN" altLang="en-US" b="1">
                    <a:solidFill>
                      <a:schemeClr val="accent6">
                        <a:lumMod val="50000"/>
                      </a:schemeClr>
                    </a:solidFill>
                  </a:rPr>
                  <a:t>，确定</a:t>
                </a:r>
                <a:r>
                  <a:rPr lang="zh-CN" altLang="en-US" b="1">
                    <a:solidFill>
                      <a:srgbClr val="C00000"/>
                    </a:solidFill>
                  </a:rPr>
                  <a:t>执行次数最多</a:t>
                </a:r>
                <a:r>
                  <a:rPr lang="zh-CN" altLang="en-US" b="1">
                    <a:solidFill>
                      <a:schemeClr val="accent6">
                        <a:lumMod val="50000"/>
                      </a:schemeClr>
                    </a:solidFill>
                  </a:rPr>
                  <a:t>的基本操作，分析该基本操作与输入规模的</a:t>
                </a:r>
                <a:r>
                  <a:rPr lang="zh-CN" altLang="en-US" b="1">
                    <a:solidFill>
                      <a:srgbClr val="C00000"/>
                    </a:solidFill>
                  </a:rPr>
                  <a:t>函数关系</a:t>
                </a:r>
              </a:p>
              <a:p>
                <a:pPr marL="285750" indent="-285750">
                  <a:spcBef>
                    <a:spcPts val="600"/>
                  </a:spcBef>
                  <a:buFont typeface="Arial" panose="020B0604020202020204" pitchFamily="34" charset="0"/>
                  <a:buChar char="•"/>
                </a:pPr>
                <a:r>
                  <a:rPr lang="zh-CN" altLang="en-US" b="1">
                    <a:solidFill>
                      <a:schemeClr val="accent6">
                        <a:lumMod val="50000"/>
                      </a:schemeClr>
                    </a:solidFill>
                  </a:rPr>
                  <a:t>最坏情况下的算法复杂度的大</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oMath>
                </a14:m>
                <a:r>
                  <a:rPr lang="zh-CN" altLang="en-US" b="1">
                    <a:solidFill>
                      <a:schemeClr val="accent6">
                        <a:lumMod val="50000"/>
                      </a:schemeClr>
                    </a:solidFill>
                  </a:rPr>
                  <a:t>估计是  </a:t>
                </a:r>
                <a:r>
                  <a:rPr lang="en-US" altLang="zh-CN" b="1">
                    <a:solidFill>
                      <a:srgbClr val="C00000"/>
                    </a:solidFill>
                  </a:rPr>
                  <a:t>C.  </a:t>
                </a:r>
                <a14:m>
                  <m:oMath xmlns:m="http://schemas.openxmlformats.org/officeDocument/2006/math">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𝒏</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𝟐</m:t>
                            </m:r>
                          </m:e>
                          <m:sup>
                            <m:r>
                              <a:rPr lang="en-US" altLang="zh-CN" b="1" i="1">
                                <a:solidFill>
                                  <a:srgbClr val="C00000"/>
                                </a:solidFill>
                                <a:latin typeface="Cambria Math" panose="02040503050406030204" pitchFamily="18" charset="0"/>
                              </a:rPr>
                              <m:t>𝒏</m:t>
                            </m:r>
                          </m:sup>
                        </m:sSup>
                      </m:e>
                    </m:d>
                  </m:oMath>
                </a14:m>
                <a:endParaRPr lang="zh-CN" altLang="en-US" b="1">
                  <a:solidFill>
                    <a:schemeClr val="accent6">
                      <a:lumMod val="50000"/>
                    </a:schemeClr>
                  </a:solidFill>
                </a:endParaRPr>
              </a:p>
              <a:p>
                <a:pPr lvl="2">
                  <a:spcBef>
                    <a:spcPts val="600"/>
                  </a:spcBef>
                </a:pPr>
                <a:r>
                  <a:rPr lang="en-US" altLang="zh-CN" b="1">
                    <a:solidFill>
                      <a:srgbClr val="C00000"/>
                    </a:solidFill>
                  </a:rPr>
                  <a:t>A.</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𝟐</m:t>
                            </m:r>
                          </m:sup>
                        </m:sSup>
                      </m:e>
                    </m:d>
                  </m:oMath>
                </a14:m>
                <a:r>
                  <a:rPr lang="en-US" altLang="zh-CN" b="1">
                    <a:solidFill>
                      <a:schemeClr val="accent2">
                        <a:lumMod val="50000"/>
                      </a:schemeClr>
                    </a:solidFill>
                  </a:rPr>
                  <a:t>        </a:t>
                </a:r>
                <a:r>
                  <a:rPr lang="en-US" altLang="zh-CN" b="1">
                    <a:solidFill>
                      <a:srgbClr val="C00000"/>
                    </a:solidFill>
                  </a:rPr>
                  <a:t>B.</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e>
                    </m:d>
                  </m:oMath>
                </a14:m>
                <a:r>
                  <a:rPr lang="en-US" altLang="zh-CN" b="1">
                    <a:solidFill>
                      <a:schemeClr val="accent2">
                        <a:lumMod val="50000"/>
                      </a:schemeClr>
                    </a:solidFill>
                  </a:rPr>
                  <a:t>        </a:t>
                </a:r>
                <a:r>
                  <a:rPr lang="en-US" altLang="zh-CN" b="1">
                    <a:solidFill>
                      <a:srgbClr val="C00000"/>
                    </a:solidFill>
                  </a:rPr>
                  <a:t>C.</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𝒏</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e>
                    </m:d>
                  </m:oMath>
                </a14:m>
                <a:r>
                  <a:rPr lang="en-US" altLang="zh-CN" b="1">
                    <a:solidFill>
                      <a:schemeClr val="accent2">
                        <a:lumMod val="50000"/>
                      </a:schemeClr>
                    </a:solidFill>
                  </a:rPr>
                  <a:t>       </a:t>
                </a:r>
                <a:r>
                  <a:rPr lang="en-US" altLang="zh-CN" b="1">
                    <a:solidFill>
                      <a:srgbClr val="C00000"/>
                    </a:solidFill>
                  </a:rPr>
                  <a:t>D.</a:t>
                </a: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𝟐</m:t>
                            </m:r>
                          </m:sup>
                        </m:sSup>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e>
                    </m:d>
                  </m:oMath>
                </a14:m>
                <a:endParaRPr lang="en-US" altLang="zh-CN" b="1"/>
              </a:p>
            </p:txBody>
          </p:sp>
        </mc:Choice>
        <mc:Fallback xmlns="">
          <p:sp>
            <p:nvSpPr>
              <p:cNvPr id="3" name="文本框 2"/>
              <p:cNvSpPr txBox="1">
                <a:spLocks noRot="1" noChangeAspect="1" noMove="1" noResize="1" noEditPoints="1" noAdjustHandles="1" noChangeArrowheads="1" noChangeShapeType="1" noTextEdit="1"/>
              </p:cNvSpPr>
              <p:nvPr/>
            </p:nvSpPr>
            <p:spPr>
              <a:xfrm>
                <a:off x="677577" y="993341"/>
                <a:ext cx="11005692" cy="1466812"/>
              </a:xfrm>
              <a:prstGeom prst="rect">
                <a:avLst/>
              </a:prstGeom>
              <a:blipFill rotWithShape="1">
                <a:blip r:embed="rId3"/>
                <a:stretch>
                  <a:fillRect t="-14" r="5" b="11"/>
                </a:stretch>
              </a:blipFill>
            </p:spPr>
            <p:txBody>
              <a:bodyPr/>
              <a:lstStyle/>
              <a:p>
                <a:r>
                  <a:rPr lang="zh-CN" altLang="en-US">
                    <a:noFill/>
                  </a:rPr>
                  <a:t> </a:t>
                </a:r>
              </a:p>
            </p:txBody>
          </p:sp>
        </mc:Fallback>
      </mc:AlternateContent>
      <p:cxnSp>
        <p:nvCxnSpPr>
          <p:cNvPr id="6" name="直接连接符 5"/>
          <p:cNvCxnSpPr/>
          <p:nvPr/>
        </p:nvCxnSpPr>
        <p:spPr>
          <a:xfrm>
            <a:off x="4979862" y="2018554"/>
            <a:ext cx="120056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7412425" y="3094512"/>
            <a:ext cx="4101998" cy="2969506"/>
            <a:chOff x="7568468" y="2895153"/>
            <a:chExt cx="4101998" cy="2969506"/>
          </a:xfrm>
        </p:grpSpPr>
        <mc:AlternateContent xmlns:mc="http://schemas.openxmlformats.org/markup-compatibility/2006" xmlns:a14="http://schemas.microsoft.com/office/drawing/2010/main">
          <mc:Choice Requires="a14">
            <p:sp>
              <p:nvSpPr>
                <p:cNvPr id="12" name="文本框 11"/>
                <p:cNvSpPr txBox="1"/>
                <p:nvPr/>
              </p:nvSpPr>
              <p:spPr>
                <a:xfrm>
                  <a:off x="7568468" y="2895153"/>
                  <a:ext cx="3151063" cy="692626"/>
                </a:xfrm>
                <a:prstGeom prst="rect">
                  <a:avLst/>
                </a:prstGeom>
                <a:solidFill>
                  <a:schemeClr val="accent6">
                    <a:lumMod val="20000"/>
                    <a:lumOff val="80000"/>
                    <a:alpha val="50000"/>
                  </a:schemeClr>
                </a:solidFill>
              </p:spPr>
              <p:txBody>
                <a:bodyPr wrap="square" rtlCol="0">
                  <a:spAutoFit/>
                </a:bodyPr>
                <a:lstStyle/>
                <a:p>
                  <a:pPr>
                    <a:lnSpc>
                      <a:spcPts val="2400"/>
                    </a:lnSpc>
                  </a:pPr>
                  <a:r>
                    <a:rPr lang="zh-CN" altLang="en-US" b="1">
                      <a:solidFill>
                        <a:srgbClr val="002060"/>
                      </a:solidFill>
                      <a:latin typeface="楷体" panose="02010609060101010101" pitchFamily="49" charset="-122"/>
                      <a:ea typeface="楷体" panose="02010609060101010101" pitchFamily="49" charset="-122"/>
                    </a:rPr>
                    <a:t>输入的规模用</a:t>
                  </a:r>
                  <a:r>
                    <a:rPr lang="zh-CN" altLang="en-US" b="1">
                      <a:solidFill>
                        <a:srgbClr val="C00000"/>
                      </a:solidFill>
                      <a:latin typeface="+mn-ea"/>
                    </a:rPr>
                    <a:t>集合元素个数</a:t>
                  </a:r>
                  <a:r>
                    <a:rPr lang="zh-CN" altLang="en-US" b="1">
                      <a:solidFill>
                        <a:srgbClr val="002060"/>
                      </a:solidFill>
                      <a:latin typeface="楷体" panose="02010609060101010101" pitchFamily="49" charset="-122"/>
                      <a:ea typeface="楷体" panose="02010609060101010101" pitchFamily="49" charset="-122"/>
                    </a:rPr>
                    <a:t>，也即二进制串长度</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𝒏</m:t>
                      </m:r>
                    </m:oMath>
                  </a14:m>
                  <a:r>
                    <a:rPr lang="zh-CN" altLang="en-US" b="1">
                      <a:solidFill>
                        <a:srgbClr val="002060"/>
                      </a:solidFill>
                      <a:latin typeface="楷体" panose="02010609060101010101" pitchFamily="49" charset="-122"/>
                      <a:ea typeface="楷体" panose="02010609060101010101" pitchFamily="49" charset="-122"/>
                    </a:rPr>
                    <a:t>度量</a:t>
                  </a:r>
                </a:p>
              </p:txBody>
            </p:sp>
          </mc:Choice>
          <mc:Fallback xmlns="">
            <p:sp>
              <p:nvSpPr>
                <p:cNvPr id="12" name="文本框 11"/>
                <p:cNvSpPr txBox="1">
                  <a:spLocks noRot="1" noChangeAspect="1" noMove="1" noResize="1" noEditPoints="1" noAdjustHandles="1" noChangeArrowheads="1" noChangeShapeType="1" noTextEdit="1"/>
                </p:cNvSpPr>
                <p:nvPr/>
              </p:nvSpPr>
              <p:spPr>
                <a:xfrm>
                  <a:off x="7568468" y="2895153"/>
                  <a:ext cx="3151063" cy="692626"/>
                </a:xfrm>
                <a:prstGeom prst="rect">
                  <a:avLst/>
                </a:prstGeom>
                <a:blipFill rotWithShape="1">
                  <a:blip r:embed="rId4"/>
                </a:blipFill>
              </p:spPr>
              <p:txBody>
                <a:bodyPr/>
                <a:lstStyle/>
                <a:p>
                  <a:r>
                    <a:rPr lang="zh-CN" altLang="en-US">
                      <a:noFill/>
                    </a:rPr>
                    <a:t> </a:t>
                  </a:r>
                </a:p>
              </p:txBody>
            </p:sp>
          </mc:Fallback>
        </mc:AlternateContent>
        <p:sp>
          <p:nvSpPr>
            <p:cNvPr id="13" name="文本框 12"/>
            <p:cNvSpPr txBox="1"/>
            <p:nvPr/>
          </p:nvSpPr>
          <p:spPr>
            <a:xfrm>
              <a:off x="7568468" y="3724622"/>
              <a:ext cx="4101998" cy="1308179"/>
            </a:xfrm>
            <a:prstGeom prst="rect">
              <a:avLst/>
            </a:prstGeom>
            <a:solidFill>
              <a:schemeClr val="accent4">
                <a:lumMod val="20000"/>
                <a:lumOff val="80000"/>
                <a:alpha val="50000"/>
              </a:schemeClr>
            </a:solidFill>
          </p:spPr>
          <p:txBody>
            <a:bodyPr wrap="square" rtlCol="0">
              <a:spAutoFit/>
            </a:bodyPr>
            <a:lstStyle/>
            <a:p>
              <a:pPr>
                <a:lnSpc>
                  <a:spcPts val="2400"/>
                </a:lnSpc>
              </a:pPr>
              <a:r>
                <a:rPr lang="zh-CN" altLang="en-US" b="1">
                  <a:solidFill>
                    <a:srgbClr val="C00000"/>
                  </a:solidFill>
                  <a:latin typeface="+mn-ea"/>
                </a:rPr>
                <a:t>基本操作</a:t>
              </a:r>
              <a:r>
                <a:rPr lang="zh-CN" altLang="en-US" b="1">
                  <a:solidFill>
                    <a:srgbClr val="002060"/>
                  </a:solidFill>
                  <a:latin typeface="楷体" panose="02010609060101010101" pitchFamily="49" charset="-122"/>
                  <a:ea typeface="楷体" panose="02010609060101010101" pitchFamily="49" charset="-122"/>
                </a:rPr>
                <a:t>：将二进制串设置为全</a:t>
              </a:r>
              <a:r>
                <a:rPr lang="en-US" altLang="zh-CN" b="1">
                  <a:solidFill>
                    <a:srgbClr val="002060"/>
                  </a:solidFill>
                  <a:latin typeface="楷体" panose="02010609060101010101" pitchFamily="49" charset="-122"/>
                  <a:ea typeface="楷体" panose="02010609060101010101" pitchFamily="49" charset="-122"/>
                </a:rPr>
                <a:t>0</a:t>
              </a:r>
              <a:r>
                <a:rPr lang="zh-CN" altLang="en-US" b="1">
                  <a:solidFill>
                    <a:srgbClr val="002060"/>
                  </a:solidFill>
                  <a:latin typeface="楷体" panose="02010609060101010101" pitchFamily="49" charset="-122"/>
                  <a:ea typeface="楷体" panose="02010609060101010101" pitchFamily="49" charset="-122"/>
                </a:rPr>
                <a:t>、判断二进制串是否全</a:t>
              </a:r>
              <a:r>
                <a:rPr lang="en-US" altLang="zh-CN" b="1">
                  <a:solidFill>
                    <a:srgbClr val="002060"/>
                  </a:solidFill>
                  <a:latin typeface="楷体" panose="02010609060101010101" pitchFamily="49" charset="-122"/>
                  <a:ea typeface="楷体" panose="02010609060101010101" pitchFamily="49" charset="-122"/>
                </a:rPr>
                <a:t>1</a:t>
              </a:r>
              <a:r>
                <a:rPr lang="zh-CN" altLang="en-US" b="1">
                  <a:solidFill>
                    <a:srgbClr val="002060"/>
                  </a:solidFill>
                  <a:latin typeface="楷体" panose="02010609060101010101" pitchFamily="49" charset="-122"/>
                  <a:ea typeface="楷体" panose="02010609060101010101" pitchFamily="49" charset="-122"/>
                </a:rPr>
                <a:t>、根据二进制串输出相应子集、判断二进制位是否是</a:t>
              </a:r>
              <a:r>
                <a:rPr lang="en-US" altLang="zh-CN" b="1">
                  <a:solidFill>
                    <a:srgbClr val="002060"/>
                  </a:solidFill>
                  <a:latin typeface="楷体" panose="02010609060101010101" pitchFamily="49" charset="-122"/>
                  <a:ea typeface="楷体" panose="02010609060101010101" pitchFamily="49" charset="-122"/>
                </a:rPr>
                <a:t>1</a:t>
              </a:r>
              <a:r>
                <a:rPr lang="zh-CN" altLang="en-US" b="1">
                  <a:solidFill>
                    <a:srgbClr val="002060"/>
                  </a:solidFill>
                  <a:latin typeface="楷体" panose="02010609060101010101" pitchFamily="49" charset="-122"/>
                  <a:ea typeface="楷体" panose="02010609060101010101" pitchFamily="49" charset="-122"/>
                </a:rPr>
                <a:t>、对二进制位进行赋值、整数减法与赋值</a:t>
              </a:r>
            </a:p>
          </p:txBody>
        </p:sp>
        <p:sp>
          <p:nvSpPr>
            <p:cNvPr id="14" name="文本框 13"/>
            <p:cNvSpPr txBox="1"/>
            <p:nvPr/>
          </p:nvSpPr>
          <p:spPr>
            <a:xfrm>
              <a:off x="7568468" y="5172033"/>
              <a:ext cx="4053016" cy="692626"/>
            </a:xfrm>
            <a:prstGeom prst="rect">
              <a:avLst/>
            </a:prstGeom>
            <a:solidFill>
              <a:schemeClr val="accent2">
                <a:lumMod val="20000"/>
                <a:lumOff val="80000"/>
                <a:alpha val="50000"/>
              </a:schemeClr>
            </a:solidFill>
          </p:spPr>
          <p:txBody>
            <a:bodyPr wrap="square" rtlCol="0">
              <a:spAutoFit/>
            </a:bodyPr>
            <a:lstStyle/>
            <a:p>
              <a:pPr>
                <a:lnSpc>
                  <a:spcPts val="2400"/>
                </a:lnSpc>
              </a:pPr>
              <a:r>
                <a:rPr lang="zh-CN" altLang="en-US" b="1">
                  <a:solidFill>
                    <a:srgbClr val="002060"/>
                  </a:solidFill>
                  <a:latin typeface="楷体" panose="02010609060101010101" pitchFamily="49" charset="-122"/>
                  <a:ea typeface="楷体" panose="02010609060101010101" pitchFamily="49" charset="-122"/>
                </a:rPr>
                <a:t>最多执行次数的基本操作：</a:t>
              </a:r>
              <a:r>
                <a:rPr lang="zh-CN" altLang="en-US" b="1">
                  <a:solidFill>
                    <a:srgbClr val="C00000"/>
                  </a:solidFill>
                  <a:latin typeface="+mn-ea"/>
                </a:rPr>
                <a:t>第</a:t>
              </a:r>
              <a:r>
                <a:rPr lang="en-US" altLang="zh-CN" b="1">
                  <a:solidFill>
                    <a:srgbClr val="C00000"/>
                  </a:solidFill>
                  <a:latin typeface="+mn-ea"/>
                </a:rPr>
                <a:t>6</a:t>
              </a:r>
              <a:r>
                <a:rPr lang="zh-CN" altLang="en-US" b="1">
                  <a:solidFill>
                    <a:srgbClr val="C00000"/>
                  </a:solidFill>
                  <a:latin typeface="+mn-ea"/>
                </a:rPr>
                <a:t>行</a:t>
              </a:r>
              <a:r>
                <a:rPr lang="zh-CN" altLang="en-US" b="1">
                  <a:solidFill>
                    <a:srgbClr val="002060"/>
                  </a:solidFill>
                  <a:latin typeface="楷体" panose="02010609060101010101" pitchFamily="49" charset="-122"/>
                  <a:ea typeface="楷体" panose="02010609060101010101" pitchFamily="49" charset="-122"/>
                </a:rPr>
                <a:t>的对二进制位进行赋值、整数减法与赋值</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算法效率分析基础</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算法效率分析不是容易的事情</a:t>
            </a:r>
          </a:p>
        </p:txBody>
      </p:sp>
      <mc:AlternateContent xmlns:mc="http://schemas.openxmlformats.org/markup-compatibility/2006" xmlns:a14="http://schemas.microsoft.com/office/drawing/2010/main">
        <mc:Choice Requires="a14">
          <p:sp>
            <p:nvSpPr>
              <p:cNvPr id="2" name="文本框 1"/>
              <p:cNvSpPr txBox="1"/>
              <p:nvPr/>
            </p:nvSpPr>
            <p:spPr>
              <a:xfrm>
                <a:off x="861771" y="1300380"/>
                <a:ext cx="10468456" cy="1846659"/>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算法效率分析框架</a:t>
                </a:r>
                <a:endParaRPr lang="en-US" altLang="zh-CN" sz="2400" b="1">
                  <a:solidFill>
                    <a:srgbClr val="C0000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首先确定算法</a:t>
                </a:r>
                <a:r>
                  <a:rPr lang="zh-CN" altLang="en-US" sz="2000" b="1">
                    <a:solidFill>
                      <a:srgbClr val="C00000"/>
                    </a:solidFill>
                    <a:latin typeface="+mn-ea"/>
                  </a:rPr>
                  <a:t>输入规模</a:t>
                </a:r>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度</a:t>
                </a:r>
                <a:r>
                  <a:rPr lang="zh-CN" altLang="en-US" sz="2000" b="1">
                    <a:solidFill>
                      <a:srgbClr val="002060"/>
                    </a:solidFill>
                    <a:latin typeface="楷体" panose="02010609060101010101" pitchFamily="49" charset="-122"/>
                    <a:ea typeface="楷体" panose="02010609060101010101" pitchFamily="49" charset="-122"/>
                  </a:rPr>
                  <a:t>量，其次确定算法的</a:t>
                </a:r>
                <a:r>
                  <a:rPr lang="zh-CN" altLang="en-US" sz="2000" b="1">
                    <a:solidFill>
                      <a:srgbClr val="C00000"/>
                    </a:solidFill>
                    <a:latin typeface="+mn-ea"/>
                  </a:rPr>
                  <a:t>基本操作</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找出</a:t>
                </a:r>
                <a:r>
                  <a:rPr lang="zh-CN" altLang="en-US" sz="2000" b="1">
                    <a:solidFill>
                      <a:srgbClr val="C00000"/>
                    </a:solidFill>
                    <a:latin typeface="+mn-ea"/>
                  </a:rPr>
                  <a:t>执行次数最多</a:t>
                </a:r>
                <a:r>
                  <a:rPr lang="zh-CN" altLang="en-US" sz="2000" b="1">
                    <a:solidFill>
                      <a:srgbClr val="002060"/>
                    </a:solidFill>
                    <a:latin typeface="楷体" panose="02010609060101010101" pitchFamily="49" charset="-122"/>
                    <a:ea typeface="楷体" panose="02010609060101010101" pitchFamily="49" charset="-122"/>
                  </a:rPr>
                  <a:t>的基本操作，给出它与算法输入规模的</a:t>
                </a:r>
                <a:r>
                  <a:rPr lang="zh-CN" altLang="en-US" sz="2000" b="1">
                    <a:solidFill>
                      <a:srgbClr val="C00000"/>
                    </a:solidFill>
                    <a:latin typeface="+mn-ea"/>
                  </a:rPr>
                  <a:t>函数关系</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假定基本操作的运行时间与输入规模无关，使用大</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𝑶</m:t>
                    </m:r>
                  </m:oMath>
                </a14:m>
                <a:r>
                  <a:rPr lang="zh-CN" altLang="en-US" sz="2000" b="1">
                    <a:solidFill>
                      <a:srgbClr val="002060"/>
                    </a:solidFill>
                    <a:latin typeface="楷体" panose="02010609060101010101" pitchFamily="49" charset="-122"/>
                    <a:ea typeface="楷体" panose="02010609060101010101" pitchFamily="49" charset="-122"/>
                  </a:rPr>
                  <a:t>记号给出该函数增长情况的</a:t>
                </a:r>
                <a:r>
                  <a:rPr lang="zh-CN" altLang="en-US" sz="2000" b="1">
                    <a:solidFill>
                      <a:srgbClr val="C00000"/>
                    </a:solidFill>
                    <a:latin typeface="+mn-ea"/>
                  </a:rPr>
                  <a:t>上界估计</a:t>
                </a:r>
              </a:p>
            </p:txBody>
          </p:sp>
        </mc:Choice>
        <mc:Fallback xmlns="">
          <p:sp>
            <p:nvSpPr>
              <p:cNvPr id="2" name="文本框 1"/>
              <p:cNvSpPr txBox="1">
                <a:spLocks noRot="1" noChangeAspect="1" noMove="1" noResize="1" noEditPoints="1" noAdjustHandles="1" noChangeArrowheads="1" noChangeShapeType="1" noTextEdit="1"/>
              </p:cNvSpPr>
              <p:nvPr/>
            </p:nvSpPr>
            <p:spPr>
              <a:xfrm>
                <a:off x="861771" y="1300380"/>
                <a:ext cx="10468456" cy="1846659"/>
              </a:xfrm>
              <a:prstGeom prst="rect">
                <a:avLst/>
              </a:prstGeom>
              <a:blipFill rotWithShape="1">
                <a:blip r:embed="rId2"/>
                <a:stretch>
                  <a:fillRect l="-1" t="-29" r="5" b="33"/>
                </a:stretch>
              </a:blipFill>
            </p:spPr>
            <p:txBody>
              <a:bodyPr/>
              <a:lstStyle/>
              <a:p>
                <a:r>
                  <a:rPr lang="zh-CN" altLang="en-US">
                    <a:noFill/>
                  </a:rPr>
                  <a:t> </a:t>
                </a:r>
              </a:p>
            </p:txBody>
          </p:sp>
        </mc:Fallback>
      </mc:AlternateContent>
      <p:sp>
        <p:nvSpPr>
          <p:cNvPr id="3" name="文本框 2"/>
          <p:cNvSpPr txBox="1"/>
          <p:nvPr/>
        </p:nvSpPr>
        <p:spPr>
          <a:xfrm>
            <a:off x="703888" y="3429000"/>
            <a:ext cx="10784221" cy="268721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chemeClr val="accent2">
                    <a:lumMod val="50000"/>
                  </a:schemeClr>
                </a:solidFill>
              </a:rPr>
              <a:t>实际的算法复杂度分析通常是一件不容易的事情</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很难选定合适的输入规模度量，确定基本操作和找出执行次数最多的基本操作也可能很复杂</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在确定基本操作与输入规模函数关系时，通常需要计算</a:t>
            </a:r>
            <a:r>
              <a:rPr lang="zh-CN" altLang="en-US" sz="2000" b="1">
                <a:solidFill>
                  <a:srgbClr val="C00000"/>
                </a:solidFill>
                <a:latin typeface="+mn-ea"/>
              </a:rPr>
              <a:t>求和表达式</a:t>
            </a:r>
            <a:r>
              <a:rPr lang="zh-CN" altLang="en-US" sz="2000" b="1">
                <a:solidFill>
                  <a:srgbClr val="002060"/>
                </a:solidFill>
                <a:latin typeface="楷体" panose="02010609060101010101" pitchFamily="49" charset="-122"/>
                <a:ea typeface="楷体" panose="02010609060101010101" pitchFamily="49" charset="-122"/>
              </a:rPr>
              <a:t>或求解</a:t>
            </a:r>
            <a:r>
              <a:rPr lang="zh-CN" altLang="en-US" sz="2000" b="1">
                <a:solidFill>
                  <a:srgbClr val="C00000"/>
                </a:solidFill>
                <a:latin typeface="+mn-ea"/>
              </a:rPr>
              <a:t>递推关系式</a:t>
            </a:r>
            <a:endParaRPr lang="en-US" altLang="zh-CN" sz="2000" b="1">
              <a:solidFill>
                <a:srgbClr val="C00000"/>
              </a:solidFill>
              <a:latin typeface="+mn-ea"/>
            </a:endParaRPr>
          </a:p>
          <a:p>
            <a:pPr marL="800100" lvl="1" indent="-342900">
              <a:lnSpc>
                <a:spcPts val="2800"/>
              </a:lnSpc>
              <a:spcBef>
                <a:spcPts val="600"/>
              </a:spcBef>
              <a:spcAft>
                <a:spcPts val="600"/>
              </a:spcAft>
              <a:buFont typeface="Arial" panose="020B0604020202020204" pitchFamily="34" charset="0"/>
              <a:buChar char="•"/>
            </a:pPr>
            <a:r>
              <a:rPr lang="zh-CN" altLang="en-US" sz="2000" b="1">
                <a:solidFill>
                  <a:srgbClr val="C00000"/>
                </a:solidFill>
              </a:rPr>
              <a:t>递归算法</a:t>
            </a:r>
            <a:r>
              <a:rPr lang="zh-CN" altLang="en-US" sz="2000" b="1">
                <a:solidFill>
                  <a:schemeClr val="accent6">
                    <a:lumMod val="50000"/>
                  </a:schemeClr>
                </a:solidFill>
              </a:rPr>
              <a:t>的效率分析，常常针对不同的输入规模采用</a:t>
            </a:r>
            <a:r>
              <a:rPr lang="zh-CN" altLang="en-US" sz="2000" b="1">
                <a:solidFill>
                  <a:srgbClr val="C00000"/>
                </a:solidFill>
              </a:rPr>
              <a:t>递推关系式</a:t>
            </a:r>
            <a:r>
              <a:rPr lang="zh-CN" altLang="en-US" sz="2000" b="1">
                <a:solidFill>
                  <a:schemeClr val="accent6">
                    <a:lumMod val="50000"/>
                  </a:schemeClr>
                </a:solidFill>
              </a:rPr>
              <a:t>进行建模，然后通过求解递推关系式，或者对递推关系式的解的增长情况进行估计</a:t>
            </a:r>
          </a:p>
          <a:p>
            <a:pPr marL="800100" lvl="1" indent="-342900">
              <a:lnSpc>
                <a:spcPts val="2800"/>
              </a:lnSpc>
              <a:spcBef>
                <a:spcPts val="600"/>
              </a:spcBef>
              <a:spcAft>
                <a:spcPts val="600"/>
              </a:spcAft>
              <a:buFont typeface="Arial" panose="020B0604020202020204" pitchFamily="34" charset="0"/>
              <a:buChar char="•"/>
            </a:pPr>
            <a:r>
              <a:rPr lang="zh-CN" altLang="en-US" sz="2000" b="1">
                <a:solidFill>
                  <a:srgbClr val="C00000"/>
                </a:solidFill>
              </a:rPr>
              <a:t>迭代算法</a:t>
            </a:r>
            <a:r>
              <a:rPr lang="zh-CN" altLang="en-US" sz="2000" b="1">
                <a:solidFill>
                  <a:schemeClr val="accent6">
                    <a:lumMod val="50000"/>
                  </a:schemeClr>
                </a:solidFill>
              </a:rPr>
              <a:t>有时也可使用递推关系式进行算法复杂度分析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200540" y="1524954"/>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函数的增长</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算法效率分析基础</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算法复杂度基础知识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算法复杂度基础知识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常见算法复杂度分类</a:t>
            </a:r>
          </a:p>
        </p:txBody>
      </p:sp>
      <mc:AlternateContent xmlns:mc="http://schemas.openxmlformats.org/markup-compatibility/2006" xmlns:a14="http://schemas.microsoft.com/office/drawing/2010/main">
        <mc:Choice Requires="a14">
          <p:sp>
            <p:nvSpPr>
              <p:cNvPr id="2" name="文本框 1"/>
              <p:cNvSpPr txBox="1"/>
              <p:nvPr/>
            </p:nvSpPr>
            <p:spPr>
              <a:xfrm>
                <a:off x="1698326" y="1519614"/>
                <a:ext cx="8795346" cy="4171719"/>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利用大</a:t>
                </a:r>
                <a14:m>
                  <m:oMath xmlns:m="http://schemas.openxmlformats.org/officeDocument/2006/math">
                    <m:r>
                      <a:rPr lang="en-US" altLang="zh-CN" sz="2400" b="1" i="0" smtClean="0">
                        <a:solidFill>
                          <a:srgbClr val="002060"/>
                        </a:solidFill>
                        <a:latin typeface="Cambria Math" panose="02040503050406030204" pitchFamily="18" charset="0"/>
                      </a:rPr>
                      <m:t>𝚯</m:t>
                    </m:r>
                  </m:oMath>
                </a14:m>
                <a:r>
                  <a:rPr lang="zh-CN" altLang="en-US" sz="2400" b="1">
                    <a:solidFill>
                      <a:srgbClr val="002060"/>
                    </a:solidFill>
                    <a:latin typeface="楷体" panose="02010609060101010101" pitchFamily="49" charset="-122"/>
                    <a:ea typeface="楷体" panose="02010609060101010101" pitchFamily="49" charset="-122"/>
                  </a:rPr>
                  <a:t>表示的函数增长的阶，通常将算法复杂度由低到高分为</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常数复杂度</a:t>
                </a:r>
                <a:r>
                  <a:rPr lang="en-US" altLang="zh-CN" sz="2400" b="1">
                    <a:solidFill>
                      <a:schemeClr val="accent6">
                        <a:lumMod val="50000"/>
                      </a:schemeClr>
                    </a:solidFill>
                  </a:rPr>
                  <a:t>(constant complexity)</a:t>
                </a:r>
                <a14:m>
                  <m:oMath xmlns:m="http://schemas.openxmlformats.org/officeDocument/2006/math">
                    <m:r>
                      <a:rPr lang="en-US" altLang="zh-CN" sz="2400" b="1" i="0" smtClean="0">
                        <a:solidFill>
                          <a:srgbClr val="C00000"/>
                        </a:solidFill>
                        <a:latin typeface="Cambria Math" panose="02040503050406030204" pitchFamily="18" charset="0"/>
                      </a:rPr>
                      <m:t>𝚯</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𝟏</m:t>
                        </m:r>
                      </m:e>
                    </m:d>
                  </m:oMath>
                </a14:m>
                <a:endParaRPr lang="en-US" altLang="zh-CN" sz="24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对数复杂度</a:t>
                </a:r>
                <a:r>
                  <a:rPr lang="en-US" altLang="zh-CN" sz="2400" b="1">
                    <a:solidFill>
                      <a:schemeClr val="accent6">
                        <a:lumMod val="50000"/>
                      </a:schemeClr>
                    </a:solidFill>
                  </a:rPr>
                  <a:t>(logarithmic complexity)</a:t>
                </a:r>
                <a14:m>
                  <m:oMath xmlns:m="http://schemas.openxmlformats.org/officeDocument/2006/math">
                    <m:r>
                      <a:rPr lang="en-US" altLang="zh-CN" sz="2400" b="1">
                        <a:solidFill>
                          <a:srgbClr val="C00000"/>
                        </a:solidFill>
                        <a:latin typeface="Cambria Math" panose="02040503050406030204" pitchFamily="18" charset="0"/>
                      </a:rPr>
                      <m:t>𝚯</m:t>
                    </m:r>
                    <m:d>
                      <m:dPr>
                        <m:ctrlPr>
                          <a:rPr lang="en-US" altLang="zh-CN" sz="2400" b="1" i="1">
                            <a:solidFill>
                              <a:srgbClr val="C00000"/>
                            </a:solidFill>
                            <a:latin typeface="Cambria Math" panose="02040503050406030204" pitchFamily="18" charset="0"/>
                          </a:rPr>
                        </m:ctrlPr>
                      </m:dPr>
                      <m:e>
                        <m:r>
                          <a:rPr lang="en-US" altLang="zh-CN" sz="2400" b="1">
                            <a:solidFill>
                              <a:srgbClr val="C00000"/>
                            </a:solidFill>
                            <a:latin typeface="Cambria Math" panose="02040503050406030204" pitchFamily="18" charset="0"/>
                          </a:rPr>
                          <m:t>𝐥𝐨𝐠</m:t>
                        </m:r>
                        <m:r>
                          <a:rPr lang="en-US" altLang="zh-CN" sz="2400" b="1">
                            <a:solidFill>
                              <a:srgbClr val="C00000"/>
                            </a:solidFill>
                            <a:latin typeface="Cambria Math" panose="02040503050406030204" pitchFamily="18" charset="0"/>
                          </a:rPr>
                          <m:t> </m:t>
                        </m:r>
                        <m:r>
                          <a:rPr lang="en-US" altLang="zh-CN" sz="2400" b="1">
                            <a:solidFill>
                              <a:srgbClr val="C00000"/>
                            </a:solidFill>
                            <a:latin typeface="Cambria Math" panose="02040503050406030204" pitchFamily="18" charset="0"/>
                          </a:rPr>
                          <m:t>𝒏</m:t>
                        </m:r>
                      </m:e>
                    </m:d>
                  </m:oMath>
                </a14:m>
                <a:endParaRPr lang="en-US" altLang="zh-CN" sz="2400" b="1">
                  <a:solidFill>
                    <a:srgbClr val="C0000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线性复杂度</a:t>
                </a:r>
                <a:r>
                  <a:rPr lang="en-US" altLang="zh-CN" sz="2400" b="1">
                    <a:solidFill>
                      <a:schemeClr val="accent6">
                        <a:lumMod val="50000"/>
                      </a:schemeClr>
                    </a:solidFill>
                  </a:rPr>
                  <a:t>(linear complexity)</a:t>
                </a:r>
                <a14:m>
                  <m:oMath xmlns:m="http://schemas.openxmlformats.org/officeDocument/2006/math">
                    <m:r>
                      <a:rPr lang="en-US" altLang="zh-CN" sz="2400" b="1">
                        <a:solidFill>
                          <a:srgbClr val="C00000"/>
                        </a:solidFill>
                        <a:latin typeface="Cambria Math" panose="02040503050406030204" pitchFamily="18" charset="0"/>
                      </a:rPr>
                      <m:t>𝚯</m:t>
                    </m:r>
                    <m:d>
                      <m:dPr>
                        <m:ctrlPr>
                          <a:rPr lang="en-US" altLang="zh-CN" sz="2400" b="1" i="1">
                            <a:solidFill>
                              <a:srgbClr val="C00000"/>
                            </a:solidFill>
                            <a:latin typeface="Cambria Math" panose="02040503050406030204" pitchFamily="18" charset="0"/>
                          </a:rPr>
                        </m:ctrlPr>
                      </m:dPr>
                      <m:e>
                        <m:r>
                          <a:rPr lang="en-US" altLang="zh-CN" sz="2400" b="1">
                            <a:solidFill>
                              <a:srgbClr val="C00000"/>
                            </a:solidFill>
                            <a:latin typeface="Cambria Math" panose="02040503050406030204" pitchFamily="18" charset="0"/>
                          </a:rPr>
                          <m:t>𝒏</m:t>
                        </m:r>
                      </m:e>
                    </m:d>
                  </m:oMath>
                </a14:m>
                <a:endParaRPr lang="en-US" altLang="zh-CN" sz="2400" b="1">
                  <a:solidFill>
                    <a:srgbClr val="C0000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线性对数复杂度</a:t>
                </a:r>
                <a:r>
                  <a:rPr lang="en-US" altLang="zh-CN" sz="2400" b="1">
                    <a:solidFill>
                      <a:schemeClr val="accent6">
                        <a:lumMod val="50000"/>
                      </a:schemeClr>
                    </a:solidFill>
                  </a:rPr>
                  <a:t>(linearithmic complexity)</a:t>
                </a:r>
                <a14:m>
                  <m:oMath xmlns:m="http://schemas.openxmlformats.org/officeDocument/2006/math">
                    <m:r>
                      <a:rPr lang="en-US" altLang="zh-CN" sz="2400" b="1">
                        <a:solidFill>
                          <a:srgbClr val="C00000"/>
                        </a:solidFill>
                        <a:latin typeface="Cambria Math" panose="02040503050406030204" pitchFamily="18" charset="0"/>
                      </a:rPr>
                      <m:t>𝚯</m:t>
                    </m:r>
                    <m:d>
                      <m:dPr>
                        <m:ctrlPr>
                          <a:rPr lang="en-US" altLang="zh-CN" sz="2400" b="1" i="1">
                            <a:solidFill>
                              <a:srgbClr val="C00000"/>
                            </a:solidFill>
                            <a:latin typeface="Cambria Math" panose="02040503050406030204" pitchFamily="18" charset="0"/>
                          </a:rPr>
                        </m:ctrlPr>
                      </m:dPr>
                      <m:e>
                        <m:r>
                          <a:rPr lang="en-US" altLang="zh-CN" sz="2400" b="1">
                            <a:solidFill>
                              <a:srgbClr val="C00000"/>
                            </a:solidFill>
                            <a:latin typeface="Cambria Math" panose="02040503050406030204" pitchFamily="18" charset="0"/>
                          </a:rPr>
                          <m:t>𝒏</m:t>
                        </m:r>
                        <m:r>
                          <a:rPr lang="en-US" altLang="zh-CN" sz="2400" b="1">
                            <a:solidFill>
                              <a:srgbClr val="C00000"/>
                            </a:solidFill>
                            <a:latin typeface="Cambria Math" panose="02040503050406030204" pitchFamily="18" charset="0"/>
                          </a:rPr>
                          <m:t>𝐥𝐨𝐠</m:t>
                        </m:r>
                        <m:r>
                          <a:rPr lang="en-US" altLang="zh-CN" sz="2400" b="1">
                            <a:solidFill>
                              <a:srgbClr val="C00000"/>
                            </a:solidFill>
                            <a:latin typeface="Cambria Math" panose="02040503050406030204" pitchFamily="18" charset="0"/>
                          </a:rPr>
                          <m:t> </m:t>
                        </m:r>
                        <m:r>
                          <a:rPr lang="en-US" altLang="zh-CN" sz="2400" b="1">
                            <a:solidFill>
                              <a:srgbClr val="C00000"/>
                            </a:solidFill>
                            <a:latin typeface="Cambria Math" panose="02040503050406030204" pitchFamily="18" charset="0"/>
                          </a:rPr>
                          <m:t>𝒏</m:t>
                        </m:r>
                      </m:e>
                    </m:d>
                  </m:oMath>
                </a14:m>
                <a:endParaRPr lang="en-US" altLang="zh-CN" sz="2400" b="1">
                  <a:solidFill>
                    <a:srgbClr val="C0000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多项式复杂度</a:t>
                </a:r>
                <a:r>
                  <a:rPr lang="en-US" altLang="zh-CN" sz="2400" b="1">
                    <a:solidFill>
                      <a:schemeClr val="accent6">
                        <a:lumMod val="50000"/>
                      </a:schemeClr>
                    </a:solidFill>
                  </a:rPr>
                  <a:t>(polynomial complexity)</a:t>
                </a:r>
                <a14:m>
                  <m:oMath xmlns:m="http://schemas.openxmlformats.org/officeDocument/2006/math">
                    <m:r>
                      <a:rPr lang="en-US" altLang="zh-CN" sz="2400" b="1">
                        <a:solidFill>
                          <a:srgbClr val="C00000"/>
                        </a:solidFill>
                        <a:latin typeface="Cambria Math" panose="02040503050406030204" pitchFamily="18" charset="0"/>
                      </a:rPr>
                      <m:t>𝚯</m:t>
                    </m:r>
                    <m:d>
                      <m:dPr>
                        <m:ctrlPr>
                          <a:rPr lang="en-US" altLang="zh-CN" sz="2400" b="1" i="1">
                            <a:solidFill>
                              <a:srgbClr val="C00000"/>
                            </a:solidFill>
                            <a:latin typeface="Cambria Math" panose="02040503050406030204" pitchFamily="18" charset="0"/>
                          </a:rPr>
                        </m:ctrlPr>
                      </m:dPr>
                      <m:e>
                        <m:sSup>
                          <m:sSupPr>
                            <m:ctrlPr>
                              <a:rPr lang="en-US" altLang="zh-CN" sz="2400" b="1" i="1">
                                <a:solidFill>
                                  <a:srgbClr val="C00000"/>
                                </a:solidFill>
                                <a:latin typeface="Cambria Math" panose="02040503050406030204" pitchFamily="18" charset="0"/>
                              </a:rPr>
                            </m:ctrlPr>
                          </m:sSupPr>
                          <m:e>
                            <m:r>
                              <a:rPr lang="en-US" altLang="zh-CN" sz="2400" b="1">
                                <a:solidFill>
                                  <a:srgbClr val="C00000"/>
                                </a:solidFill>
                                <a:latin typeface="Cambria Math" panose="02040503050406030204" pitchFamily="18" charset="0"/>
                              </a:rPr>
                              <m:t>𝒏</m:t>
                            </m:r>
                          </m:e>
                          <m:sup>
                            <m:r>
                              <a:rPr lang="en-US" altLang="zh-CN" sz="2400" b="1">
                                <a:solidFill>
                                  <a:srgbClr val="C00000"/>
                                </a:solidFill>
                                <a:latin typeface="Cambria Math" panose="02040503050406030204" pitchFamily="18" charset="0"/>
                              </a:rPr>
                              <m:t>𝒃</m:t>
                            </m:r>
                          </m:sup>
                        </m:sSup>
                      </m:e>
                    </m:d>
                  </m:oMath>
                </a14:m>
                <a:endParaRPr lang="en-US" altLang="zh-CN" sz="2400" b="1">
                  <a:solidFill>
                    <a:srgbClr val="C0000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指数复杂度</a:t>
                </a:r>
                <a:r>
                  <a:rPr lang="en-US" altLang="zh-CN" sz="2400" b="1">
                    <a:solidFill>
                      <a:schemeClr val="accent6">
                        <a:lumMod val="50000"/>
                      </a:schemeClr>
                    </a:solidFill>
                  </a:rPr>
                  <a:t>(exponential complexity)</a:t>
                </a:r>
                <a14:m>
                  <m:oMath xmlns:m="http://schemas.openxmlformats.org/officeDocument/2006/math">
                    <m:r>
                      <a:rPr lang="en-US" altLang="zh-CN" sz="2400" b="1">
                        <a:solidFill>
                          <a:srgbClr val="C00000"/>
                        </a:solidFill>
                        <a:latin typeface="Cambria Math" panose="02040503050406030204" pitchFamily="18" charset="0"/>
                      </a:rPr>
                      <m:t>𝚯</m:t>
                    </m:r>
                    <m:d>
                      <m:dPr>
                        <m:ctrlPr>
                          <a:rPr lang="en-US" altLang="zh-CN" sz="2400" b="1" i="1">
                            <a:solidFill>
                              <a:srgbClr val="C00000"/>
                            </a:solidFill>
                            <a:latin typeface="Cambria Math" panose="02040503050406030204" pitchFamily="18" charset="0"/>
                          </a:rPr>
                        </m:ctrlPr>
                      </m:dPr>
                      <m:e>
                        <m:sSup>
                          <m:sSupPr>
                            <m:ctrlPr>
                              <a:rPr lang="en-US" altLang="zh-CN" sz="2400" b="1" i="1">
                                <a:solidFill>
                                  <a:srgbClr val="C00000"/>
                                </a:solidFill>
                                <a:latin typeface="Cambria Math" panose="02040503050406030204" pitchFamily="18" charset="0"/>
                              </a:rPr>
                            </m:ctrlPr>
                          </m:sSupPr>
                          <m:e>
                            <m:r>
                              <a:rPr lang="en-US" altLang="zh-CN" sz="2400" b="1">
                                <a:solidFill>
                                  <a:srgbClr val="C00000"/>
                                </a:solidFill>
                                <a:latin typeface="Cambria Math" panose="02040503050406030204" pitchFamily="18" charset="0"/>
                              </a:rPr>
                              <m:t>𝒃</m:t>
                            </m:r>
                          </m:e>
                          <m:sup>
                            <m:r>
                              <a:rPr lang="en-US" altLang="zh-CN" sz="2400" b="1">
                                <a:solidFill>
                                  <a:srgbClr val="C00000"/>
                                </a:solidFill>
                                <a:latin typeface="Cambria Math" panose="02040503050406030204" pitchFamily="18" charset="0"/>
                              </a:rPr>
                              <m:t>𝒏</m:t>
                            </m:r>
                          </m:sup>
                        </m:sSup>
                      </m:e>
                    </m:d>
                    <m:r>
                      <a:rPr lang="en-US" altLang="zh-CN" sz="2400" b="1">
                        <a:solidFill>
                          <a:srgbClr val="C00000"/>
                        </a:solidFill>
                        <a:latin typeface="Cambria Math" panose="02040503050406030204" pitchFamily="18" charset="0"/>
                      </a:rPr>
                      <m:t>, </m:t>
                    </m:r>
                    <m:r>
                      <a:rPr lang="en-US" altLang="zh-CN" sz="2400" b="1">
                        <a:solidFill>
                          <a:srgbClr val="C00000"/>
                        </a:solidFill>
                        <a:latin typeface="Cambria Math" panose="02040503050406030204" pitchFamily="18" charset="0"/>
                      </a:rPr>
                      <m:t>𝒃</m:t>
                    </m:r>
                    <m:r>
                      <a:rPr lang="en-US" altLang="zh-CN" sz="2400" b="1">
                        <a:solidFill>
                          <a:srgbClr val="C00000"/>
                        </a:solidFill>
                        <a:latin typeface="Cambria Math" panose="02040503050406030204" pitchFamily="18" charset="0"/>
                      </a:rPr>
                      <m:t> &gt; </m:t>
                    </m:r>
                    <m:r>
                      <a:rPr lang="en-US" altLang="zh-CN" sz="2400" b="1">
                        <a:solidFill>
                          <a:srgbClr val="C00000"/>
                        </a:solidFill>
                        <a:latin typeface="Cambria Math" panose="02040503050406030204" pitchFamily="18" charset="0"/>
                      </a:rPr>
                      <m:t>𝟏</m:t>
                    </m:r>
                  </m:oMath>
                </a14:m>
                <a:endParaRPr lang="en-US" altLang="zh-CN" sz="2400" b="1">
                  <a:solidFill>
                    <a:srgbClr val="C00000"/>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阶乘复杂度</a:t>
                </a:r>
                <a:r>
                  <a:rPr lang="en-US" altLang="zh-CN" sz="2400" b="1">
                    <a:solidFill>
                      <a:schemeClr val="accent6">
                        <a:lumMod val="50000"/>
                      </a:schemeClr>
                    </a:solidFill>
                  </a:rPr>
                  <a:t>(factorial complexity)</a:t>
                </a:r>
                <a14:m>
                  <m:oMath xmlns:m="http://schemas.openxmlformats.org/officeDocument/2006/math">
                    <m:r>
                      <a:rPr lang="en-US" altLang="zh-CN" sz="2400" b="1">
                        <a:solidFill>
                          <a:srgbClr val="C00000"/>
                        </a:solidFill>
                        <a:latin typeface="Cambria Math" panose="02040503050406030204" pitchFamily="18" charset="0"/>
                      </a:rPr>
                      <m:t>𝚯</m:t>
                    </m:r>
                    <m:d>
                      <m:dPr>
                        <m:ctrlPr>
                          <a:rPr lang="en-US" altLang="zh-CN" sz="2400" b="1" i="1">
                            <a:solidFill>
                              <a:srgbClr val="C00000"/>
                            </a:solidFill>
                            <a:latin typeface="Cambria Math" panose="02040503050406030204" pitchFamily="18" charset="0"/>
                          </a:rPr>
                        </m:ctrlPr>
                      </m:dPr>
                      <m:e>
                        <m:r>
                          <a:rPr lang="en-US" altLang="zh-CN" sz="2400" b="1">
                            <a:solidFill>
                              <a:srgbClr val="C00000"/>
                            </a:solidFill>
                            <a:latin typeface="Cambria Math" panose="02040503050406030204" pitchFamily="18" charset="0"/>
                          </a:rPr>
                          <m:t>𝒏</m:t>
                        </m:r>
                        <m:r>
                          <a:rPr lang="en-US" altLang="zh-CN" sz="2400" b="1">
                            <a:solidFill>
                              <a:srgbClr val="C00000"/>
                            </a:solidFill>
                            <a:latin typeface="Cambria Math" panose="02040503050406030204" pitchFamily="18" charset="0"/>
                          </a:rPr>
                          <m:t>!</m:t>
                        </m:r>
                      </m:e>
                    </m:d>
                  </m:oMath>
                </a14:m>
                <a:endParaRPr lang="en-US" altLang="zh-CN" sz="2400" b="1">
                  <a:solidFill>
                    <a:srgbClr val="C00000"/>
                  </a:solidFill>
                  <a:latin typeface="Cambria Math" panose="020405030504060302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698326" y="1519614"/>
                <a:ext cx="8795346" cy="4171719"/>
              </a:xfrm>
              <a:prstGeom prst="rect">
                <a:avLst/>
              </a:prstGeom>
              <a:blipFill rotWithShape="1">
                <a:blip r:embed="rId2"/>
                <a:stretch>
                  <a:fillRect l="-4" t="-1" r="3" b="11"/>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算法复杂度基础知识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复杂度分类及其典型算法</a:t>
            </a:r>
          </a:p>
        </p:txBody>
      </p:sp>
      <p:pic>
        <p:nvPicPr>
          <p:cNvPr id="2" name="图片 1"/>
          <p:cNvPicPr>
            <a:picLocks noChangeAspect="1"/>
          </p:cNvPicPr>
          <p:nvPr/>
        </p:nvPicPr>
        <p:blipFill>
          <a:blip r:embed="rId2"/>
          <a:stretch>
            <a:fillRect/>
          </a:stretch>
        </p:blipFill>
        <p:spPr>
          <a:xfrm>
            <a:off x="651262" y="1255540"/>
            <a:ext cx="10889473" cy="49076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算法复杂度基础知识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不同复杂度算法运行时间的增长情况</a:t>
            </a:r>
          </a:p>
        </p:txBody>
      </p:sp>
      <p:pic>
        <p:nvPicPr>
          <p:cNvPr id="2" name="图片 1"/>
          <p:cNvPicPr>
            <a:picLocks noChangeAspect="1"/>
          </p:cNvPicPr>
          <p:nvPr/>
        </p:nvPicPr>
        <p:blipFill>
          <a:blip r:embed="rId2"/>
          <a:stretch>
            <a:fillRect/>
          </a:stretch>
        </p:blipFill>
        <p:spPr>
          <a:xfrm>
            <a:off x="611792" y="1365490"/>
            <a:ext cx="9304074" cy="3351734"/>
          </a:xfrm>
          <a:prstGeom prst="rect">
            <a:avLst/>
          </a:prstGeom>
        </p:spPr>
      </p:pic>
      <p:sp>
        <p:nvSpPr>
          <p:cNvPr id="3" name="文本框 2"/>
          <p:cNvSpPr txBox="1"/>
          <p:nvPr/>
        </p:nvSpPr>
        <p:spPr>
          <a:xfrm>
            <a:off x="611792" y="996156"/>
            <a:ext cx="6578417"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下表给出了不同算法复杂度的代表函数的一些典型函数值</a:t>
            </a:r>
          </a:p>
        </p:txBody>
      </p:sp>
      <mc:AlternateContent xmlns:mc="http://schemas.openxmlformats.org/markup-compatibility/2006" xmlns:a14="http://schemas.microsoft.com/office/drawing/2010/main">
        <mc:Choice Requires="a14">
          <p:sp>
            <p:nvSpPr>
              <p:cNvPr id="4" name="文本框 3"/>
              <p:cNvSpPr txBox="1"/>
              <p:nvPr/>
            </p:nvSpPr>
            <p:spPr>
              <a:xfrm>
                <a:off x="9516775" y="2947378"/>
                <a:ext cx="2063431" cy="1200329"/>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标记为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表明该函数值已经大到现在多数数值软件都无法提供准确值</a:t>
                </a:r>
              </a:p>
            </p:txBody>
          </p:sp>
        </mc:Choice>
        <mc:Fallback xmlns="">
          <p:sp>
            <p:nvSpPr>
              <p:cNvPr id="4" name="文本框 3"/>
              <p:cNvSpPr txBox="1">
                <a:spLocks noRot="1" noChangeAspect="1" noMove="1" noResize="1" noEditPoints="1" noAdjustHandles="1" noChangeArrowheads="1" noChangeShapeType="1" noTextEdit="1"/>
              </p:cNvSpPr>
              <p:nvPr/>
            </p:nvSpPr>
            <p:spPr>
              <a:xfrm>
                <a:off x="9516775" y="2947378"/>
                <a:ext cx="2063431" cy="1200329"/>
              </a:xfrm>
              <a:prstGeom prst="rect">
                <a:avLst/>
              </a:prstGeom>
              <a:blipFill rotWithShape="1">
                <a:blip r:embed="rId3"/>
                <a:stretch>
                  <a:fillRect l="-1" t="-29" r="17"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603023" y="4788109"/>
                <a:ext cx="9764564" cy="1582228"/>
              </a:xfrm>
              <a:prstGeom prst="rect">
                <a:avLst/>
              </a:prstGeom>
              <a:solidFill>
                <a:schemeClr val="accent5">
                  <a:lumMod val="20000"/>
                  <a:lumOff val="80000"/>
                  <a:alpha val="25000"/>
                </a:schemeClr>
              </a:solidFill>
            </p:spPr>
            <p:txBody>
              <a:bodyPr wrap="square" rtlCol="0">
                <a:spAutoFit/>
              </a:bodyPr>
              <a:lstStyle/>
              <a:p>
                <a:pPr>
                  <a:spcBef>
                    <a:spcPts val="600"/>
                  </a:spcBef>
                  <a:spcAft>
                    <a:spcPts val="300"/>
                  </a:spcAft>
                </a:pPr>
                <a:r>
                  <a:rPr lang="zh-CN" altLang="en-US" b="1">
                    <a:solidFill>
                      <a:srgbClr val="002060"/>
                    </a:solidFill>
                    <a:latin typeface="楷体" panose="02010609060101010101" pitchFamily="49" charset="-122"/>
                    <a:ea typeface="楷体" panose="02010609060101010101" pitchFamily="49" charset="-122"/>
                  </a:rPr>
                  <a:t>不同复杂度算法运行时间随输入规模增长而增长的情况（假定计算机</a:t>
                </a:r>
                <a:r>
                  <a:rPr lang="en-US" altLang="zh-CN" b="1">
                    <a:solidFill>
                      <a:srgbClr val="002060"/>
                    </a:solidFill>
                    <a:latin typeface="楷体" panose="02010609060101010101" pitchFamily="49" charset="-122"/>
                    <a:ea typeface="楷体" panose="02010609060101010101" pitchFamily="49" charset="-122"/>
                  </a:rPr>
                  <a:t>1</a:t>
                </a:r>
                <a:r>
                  <a:rPr lang="zh-CN" altLang="en-US" b="1">
                    <a:solidFill>
                      <a:srgbClr val="002060"/>
                    </a:solidFill>
                    <a:latin typeface="楷体" panose="02010609060101010101" pitchFamily="49" charset="-122"/>
                    <a:ea typeface="楷体" panose="02010609060101010101" pitchFamily="49" charset="-122"/>
                  </a:rPr>
                  <a:t>秒可做</a:t>
                </a:r>
                <a:r>
                  <a:rPr lang="en-US" altLang="zh-CN" b="1">
                    <a:solidFill>
                      <a:srgbClr val="002060"/>
                    </a:solidFill>
                    <a:latin typeface="楷体" panose="02010609060101010101" pitchFamily="49" charset="-122"/>
                    <a:ea typeface="楷体" panose="02010609060101010101" pitchFamily="49" charset="-122"/>
                  </a:rPr>
                  <a:t>1</a:t>
                </a:r>
                <a:r>
                  <a:rPr lang="zh-CN" altLang="en-US" b="1">
                    <a:solidFill>
                      <a:srgbClr val="002060"/>
                    </a:solidFill>
                    <a:latin typeface="楷体" panose="02010609060101010101" pitchFamily="49" charset="-122"/>
                    <a:ea typeface="楷体" panose="02010609060101010101" pitchFamily="49" charset="-122"/>
                  </a:rPr>
                  <a:t>万亿次基本操作）</a:t>
                </a:r>
              </a:p>
              <a:p>
                <a:pPr marL="285750" indent="-285750">
                  <a:spcBef>
                    <a:spcPts val="600"/>
                  </a:spcBef>
                  <a:spcAft>
                    <a:spcPts val="300"/>
                  </a:spcAft>
                  <a:buFont typeface="Arial" panose="020B0604020202020204" pitchFamily="34" charset="0"/>
                  <a:buChar char="•"/>
                </a:pPr>
                <a14:m>
                  <m:oMath xmlns:m="http://schemas.openxmlformats.org/officeDocument/2006/math">
                    <m:r>
                      <a:rPr lang="en-US" altLang="zh-CN" b="1" i="0" smtClean="0">
                        <a:solidFill>
                          <a:schemeClr val="accent6">
                            <a:lumMod val="50000"/>
                          </a:schemeClr>
                        </a:solidFill>
                        <a:latin typeface="Cambria Math" panose="02040503050406030204" pitchFamily="18" charset="0"/>
                      </a:rPr>
                      <m:t>𝚯</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𝒏</m:t>
                        </m:r>
                      </m:e>
                    </m:d>
                  </m:oMath>
                </a14:m>
                <a:r>
                  <a:rPr lang="zh-CN" altLang="en-US" b="1">
                    <a:solidFill>
                      <a:schemeClr val="accent6">
                        <a:lumMod val="50000"/>
                      </a:schemeClr>
                    </a:solidFill>
                  </a:rPr>
                  <a:t>的算法，输入规模是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𝟎</m:t>
                        </m:r>
                      </m:e>
                      <m:sup>
                        <m:r>
                          <a:rPr lang="en-US" altLang="zh-CN" b="1" i="1" smtClean="0">
                            <a:solidFill>
                              <a:schemeClr val="accent6">
                                <a:lumMod val="50000"/>
                              </a:schemeClr>
                            </a:solidFill>
                            <a:latin typeface="Cambria Math" panose="02040503050406030204" pitchFamily="18" charset="0"/>
                          </a:rPr>
                          <m:t>𝟔</m:t>
                        </m:r>
                      </m:sup>
                    </m:sSup>
                  </m:oMath>
                </a14:m>
                <a:r>
                  <a:rPr lang="zh-CN" altLang="en-US" b="1">
                    <a:solidFill>
                      <a:schemeClr val="accent6">
                        <a:lumMod val="50000"/>
                      </a:schemeClr>
                    </a:solidFill>
                  </a:rPr>
                  <a:t>时，可在</a:t>
                </a:r>
                <a14:m>
                  <m:oMath xmlns:m="http://schemas.openxmlformats.org/officeDocument/2006/math">
                    <m:r>
                      <a:rPr lang="en-US" altLang="zh-CN" b="1" i="1" smtClean="0">
                        <a:solidFill>
                          <a:srgbClr val="C00000"/>
                        </a:solidFill>
                        <a:latin typeface="Cambria Math" panose="02040503050406030204" pitchFamily="18" charset="0"/>
                      </a:rPr>
                      <m:t>𝟏</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𝟎</m:t>
                        </m:r>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𝟔</m:t>
                        </m:r>
                      </m:sup>
                    </m:sSup>
                  </m:oMath>
                </a14:m>
                <a:r>
                  <a:rPr lang="zh-CN" altLang="en-US" b="1">
                    <a:solidFill>
                      <a:srgbClr val="C00000"/>
                    </a:solidFill>
                  </a:rPr>
                  <a:t>秒</a:t>
                </a:r>
                <a:r>
                  <a:rPr lang="zh-CN" altLang="en-US" b="1">
                    <a:solidFill>
                      <a:schemeClr val="accent6">
                        <a:lumMod val="50000"/>
                      </a:schemeClr>
                    </a:solidFill>
                  </a:rPr>
                  <a:t>内完成</a:t>
                </a:r>
              </a:p>
              <a:p>
                <a:pPr marL="285750" indent="-285750">
                  <a:spcBef>
                    <a:spcPts val="600"/>
                  </a:spcBef>
                  <a:spcAft>
                    <a:spcPts val="300"/>
                  </a:spcAft>
                  <a:buFont typeface="Arial" panose="020B0604020202020204" pitchFamily="34" charset="0"/>
                  <a:buChar char="•"/>
                </a:pPr>
                <a14:m>
                  <m:oMath xmlns:m="http://schemas.openxmlformats.org/officeDocument/2006/math">
                    <m:r>
                      <a:rPr lang="en-US" altLang="zh-CN" b="1" i="0" smtClean="0">
                        <a:solidFill>
                          <a:schemeClr val="accent6">
                            <a:lumMod val="50000"/>
                          </a:schemeClr>
                        </a:solidFill>
                        <a:latin typeface="Cambria Math" panose="02040503050406030204" pitchFamily="18" charset="0"/>
                      </a:rPr>
                      <m:t>𝚯</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a:solidFill>
                                  <a:schemeClr val="accent6">
                                    <a:lumMod val="50000"/>
                                  </a:schemeClr>
                                </a:solidFill>
                                <a:latin typeface="Cambria Math" panose="02040503050406030204" pitchFamily="18" charset="0"/>
                              </a:rPr>
                              <m:t>𝒏</m:t>
                            </m:r>
                          </m:e>
                          <m:sup>
                            <m:r>
                              <a:rPr lang="en-US" altLang="zh-CN" b="1" i="1">
                                <a:solidFill>
                                  <a:schemeClr val="accent6">
                                    <a:lumMod val="50000"/>
                                  </a:schemeClr>
                                </a:solidFill>
                                <a:latin typeface="Cambria Math" panose="02040503050406030204" pitchFamily="18" charset="0"/>
                              </a:rPr>
                              <m:t>𝟑</m:t>
                            </m:r>
                          </m:sup>
                        </m:sSup>
                      </m:e>
                    </m:d>
                  </m:oMath>
                </a14:m>
                <a:r>
                  <a:rPr lang="zh-CN" altLang="en-US" b="1">
                    <a:solidFill>
                      <a:schemeClr val="accent6">
                        <a:lumMod val="50000"/>
                      </a:schemeClr>
                    </a:solidFill>
                  </a:rPr>
                  <a:t>的算法，输入规模是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𝟎</m:t>
                        </m:r>
                      </m:e>
                      <m:sup>
                        <m:r>
                          <a:rPr lang="en-US" altLang="zh-CN" b="1" i="1" smtClean="0">
                            <a:solidFill>
                              <a:schemeClr val="accent6">
                                <a:lumMod val="50000"/>
                              </a:schemeClr>
                            </a:solidFill>
                            <a:latin typeface="Cambria Math" panose="02040503050406030204" pitchFamily="18" charset="0"/>
                          </a:rPr>
                          <m:t>𝟔</m:t>
                        </m:r>
                      </m:sup>
                    </m:sSup>
                  </m:oMath>
                </a14:m>
                <a:r>
                  <a:rPr lang="zh-CN" altLang="en-US" b="1">
                    <a:solidFill>
                      <a:schemeClr val="accent6">
                        <a:lumMod val="50000"/>
                      </a:schemeClr>
                    </a:solidFill>
                  </a:rPr>
                  <a:t>时，需要</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𝟎</m:t>
                        </m:r>
                      </m:e>
                      <m:sup>
                        <m:r>
                          <a:rPr lang="en-US" altLang="zh-CN" b="1" i="1" smtClean="0">
                            <a:solidFill>
                              <a:schemeClr val="accent6">
                                <a:lumMod val="50000"/>
                              </a:schemeClr>
                            </a:solidFill>
                            <a:latin typeface="Cambria Math" panose="02040503050406030204" pitchFamily="18" charset="0"/>
                          </a:rPr>
                          <m:t>𝟔</m:t>
                        </m:r>
                      </m:sup>
                    </m:sSup>
                  </m:oMath>
                </a14:m>
                <a:r>
                  <a:rPr lang="zh-CN" altLang="en-US" b="1">
                    <a:solidFill>
                      <a:schemeClr val="accent6">
                        <a:lumMod val="50000"/>
                      </a:schemeClr>
                    </a:solidFill>
                  </a:rPr>
                  <a:t>秒</a:t>
                </a:r>
                <a14:m>
                  <m:oMath xmlns:m="http://schemas.openxmlformats.org/officeDocument/2006/math">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𝟐𝟕𝟕</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𝟖</m:t>
                    </m:r>
                  </m:oMath>
                </a14:m>
                <a:r>
                  <a:rPr lang="zh-CN" altLang="en-US" b="1">
                    <a:solidFill>
                      <a:srgbClr val="C00000"/>
                    </a:solidFill>
                    <a:latin typeface="Cambria Math" panose="02040503050406030204" pitchFamily="18" charset="0"/>
                  </a:rPr>
                  <a:t>小时</a:t>
                </a:r>
                <a:r>
                  <a:rPr lang="zh-CN" altLang="en-US" b="1">
                    <a:solidFill>
                      <a:schemeClr val="accent6">
                        <a:lumMod val="50000"/>
                      </a:schemeClr>
                    </a:solidFill>
                  </a:rPr>
                  <a:t>完成</a:t>
                </a:r>
              </a:p>
              <a:p>
                <a:pPr marL="285750" indent="-285750">
                  <a:spcBef>
                    <a:spcPts val="600"/>
                  </a:spcBef>
                  <a:spcAft>
                    <a:spcPts val="300"/>
                  </a:spcAft>
                  <a:buFont typeface="Arial" panose="020B0604020202020204" pitchFamily="34" charset="0"/>
                  <a:buChar char="•"/>
                </a:pPr>
                <a14:m>
                  <m:oMath xmlns:m="http://schemas.openxmlformats.org/officeDocument/2006/math">
                    <m:r>
                      <a:rPr lang="en-US" altLang="zh-CN" b="1" i="0" smtClean="0">
                        <a:solidFill>
                          <a:schemeClr val="accent6">
                            <a:lumMod val="50000"/>
                          </a:schemeClr>
                        </a:solidFill>
                        <a:latin typeface="Cambria Math" panose="02040503050406030204" pitchFamily="18" charset="0"/>
                      </a:rPr>
                      <m:t>𝚯</m:t>
                    </m:r>
                    <m:d>
                      <m:dPr>
                        <m:ctrlPr>
                          <a:rPr lang="en-US" altLang="zh-CN" b="1" i="1" smtClean="0">
                            <a:solidFill>
                              <a:schemeClr val="accent6">
                                <a:lumMod val="50000"/>
                              </a:schemeClr>
                            </a:solidFill>
                            <a:latin typeface="Cambria Math" panose="02040503050406030204" pitchFamily="18" charset="0"/>
                          </a:rPr>
                        </m:ctrlPr>
                      </m:dPr>
                      <m:e>
                        <m:sSup>
                          <m:sSupPr>
                            <m:ctrlPr>
                              <a:rPr lang="en-US" altLang="zh-CN" b="1" i="1" smtClean="0">
                                <a:solidFill>
                                  <a:schemeClr val="accent6">
                                    <a:lumMod val="50000"/>
                                  </a:schemeClr>
                                </a:solidFill>
                                <a:latin typeface="Cambria Math" panose="02040503050406030204" pitchFamily="18" charset="0"/>
                              </a:rPr>
                            </m:ctrlPr>
                          </m:sSupPr>
                          <m:e>
                            <m:r>
                              <a:rPr lang="en-US" altLang="zh-CN" b="1" i="1">
                                <a:solidFill>
                                  <a:schemeClr val="accent6">
                                    <a:lumMod val="50000"/>
                                  </a:schemeClr>
                                </a:solidFill>
                                <a:latin typeface="Cambria Math" panose="02040503050406030204" pitchFamily="18" charset="0"/>
                              </a:rPr>
                              <m:t>𝟐</m:t>
                            </m:r>
                          </m:e>
                          <m:sup>
                            <m:r>
                              <a:rPr lang="en-US" altLang="zh-CN" b="1" i="1">
                                <a:solidFill>
                                  <a:schemeClr val="accent6">
                                    <a:lumMod val="50000"/>
                                  </a:schemeClr>
                                </a:solidFill>
                                <a:latin typeface="Cambria Math" panose="02040503050406030204" pitchFamily="18" charset="0"/>
                              </a:rPr>
                              <m:t>𝒏</m:t>
                            </m:r>
                          </m:sup>
                        </m:sSup>
                      </m:e>
                    </m:d>
                  </m:oMath>
                </a14:m>
                <a:r>
                  <a:rPr lang="zh-CN" altLang="en-US" b="1">
                    <a:solidFill>
                      <a:schemeClr val="accent6">
                        <a:lumMod val="50000"/>
                      </a:schemeClr>
                    </a:solidFill>
                  </a:rPr>
                  <a:t>的算法，输入规模只是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𝟎</m:t>
                        </m:r>
                      </m:e>
                      <m:sup>
                        <m:r>
                          <a:rPr lang="en-US" altLang="zh-CN" b="1" i="1" smtClean="0">
                            <a:solidFill>
                              <a:schemeClr val="accent6">
                                <a:lumMod val="50000"/>
                              </a:schemeClr>
                            </a:solidFill>
                            <a:latin typeface="Cambria Math" panose="02040503050406030204" pitchFamily="18" charset="0"/>
                          </a:rPr>
                          <m:t>𝟐</m:t>
                        </m:r>
                      </m:sup>
                    </m:sSup>
                  </m:oMath>
                </a14:m>
                <a:r>
                  <a:rPr lang="zh-CN" altLang="en-US" b="1">
                    <a:solidFill>
                      <a:schemeClr val="accent6">
                        <a:lumMod val="50000"/>
                      </a:schemeClr>
                    </a:solidFill>
                  </a:rPr>
                  <a:t>时，需要大概</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𝟐𝟕</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𝟎</m:t>
                        </m:r>
                      </m:e>
                      <m:sup>
                        <m:r>
                          <a:rPr lang="en-US" altLang="zh-CN" b="1" i="1" smtClean="0">
                            <a:solidFill>
                              <a:schemeClr val="accent6">
                                <a:lumMod val="50000"/>
                              </a:schemeClr>
                            </a:solidFill>
                            <a:latin typeface="Cambria Math" panose="02040503050406030204" pitchFamily="18" charset="0"/>
                          </a:rPr>
                          <m:t>𝟏𝟖</m:t>
                        </m:r>
                      </m:sup>
                    </m:sSup>
                  </m:oMath>
                </a14:m>
                <a:r>
                  <a:rPr lang="zh-CN" altLang="en-US" b="1">
                    <a:solidFill>
                      <a:schemeClr val="accent6">
                        <a:lumMod val="50000"/>
                      </a:schemeClr>
                    </a:solidFill>
                  </a:rPr>
                  <a:t>秒</a:t>
                </a:r>
                <a14:m>
                  <m:oMath xmlns:m="http://schemas.openxmlformats.org/officeDocument/2006/math">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𝟒𝟎𝟎</m:t>
                    </m:r>
                  </m:oMath>
                </a14:m>
                <a:r>
                  <a:rPr lang="zh-CN" altLang="en-US" b="1">
                    <a:solidFill>
                      <a:srgbClr val="C00000"/>
                    </a:solidFill>
                    <a:latin typeface="Cambria Math" panose="02040503050406030204" pitchFamily="18" charset="0"/>
                  </a:rPr>
                  <a:t>亿年</a:t>
                </a:r>
                <a:r>
                  <a:rPr lang="zh-CN" altLang="en-US" b="1">
                    <a:solidFill>
                      <a:schemeClr val="accent6">
                        <a:lumMod val="50000"/>
                      </a:schemeClr>
                    </a:solidFill>
                  </a:rPr>
                  <a:t>才完成</a:t>
                </a:r>
              </a:p>
            </p:txBody>
          </p:sp>
        </mc:Choice>
        <mc:Fallback xmlns="">
          <p:sp>
            <p:nvSpPr>
              <p:cNvPr id="6" name="文本框 5"/>
              <p:cNvSpPr txBox="1">
                <a:spLocks noRot="1" noChangeAspect="1" noMove="1" noResize="1" noEditPoints="1" noAdjustHandles="1" noChangeArrowheads="1" noChangeShapeType="1" noTextEdit="1"/>
              </p:cNvSpPr>
              <p:nvPr/>
            </p:nvSpPr>
            <p:spPr>
              <a:xfrm>
                <a:off x="603023" y="4788109"/>
                <a:ext cx="9764564" cy="1582228"/>
              </a:xfrm>
              <a:prstGeom prst="rect">
                <a:avLst/>
              </a:prstGeom>
              <a:blipFill rotWithShape="1">
                <a:blip r:embed="rId4"/>
                <a:stretch>
                  <a:fillRect l="-4" t="-13" r="6" b="1"/>
                </a:stretch>
              </a:blipFill>
            </p:spPr>
            <p:txBody>
              <a:bodyPr/>
              <a:lstStyle/>
              <a:p>
                <a:r>
                  <a:rPr lang="zh-CN" altLang="en-US">
                    <a:noFill/>
                  </a:rPr>
                  <a:t> </a:t>
                </a:r>
              </a:p>
            </p:txBody>
          </p:sp>
        </mc:Fallback>
      </mc:AlternateContent>
      <p:sp>
        <p:nvSpPr>
          <p:cNvPr id="11" name="文本框 10"/>
          <p:cNvSpPr txBox="1"/>
          <p:nvPr/>
        </p:nvSpPr>
        <p:spPr>
          <a:xfrm>
            <a:off x="8485060" y="5175597"/>
            <a:ext cx="2063430"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2">
                    <a:lumMod val="50000"/>
                  </a:schemeClr>
                </a:solidFill>
              </a:rPr>
              <a:t>目前普通个人电脑大约千亿次每秒！</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算法复杂度基础知识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可解问题和不可解问题</a:t>
            </a:r>
          </a:p>
        </p:txBody>
      </p:sp>
      <mc:AlternateContent xmlns:mc="http://schemas.openxmlformats.org/markup-compatibility/2006" xmlns:a14="http://schemas.microsoft.com/office/drawing/2010/main">
        <mc:Choice Requires="a14">
          <p:sp>
            <p:nvSpPr>
              <p:cNvPr id="2" name="文本框 1"/>
              <p:cNvSpPr txBox="1"/>
              <p:nvPr/>
            </p:nvSpPr>
            <p:spPr>
              <a:xfrm>
                <a:off x="1074474" y="1243858"/>
                <a:ext cx="4558845" cy="1456361"/>
              </a:xfrm>
              <a:prstGeom prst="rect">
                <a:avLst/>
              </a:prstGeom>
              <a:solidFill>
                <a:schemeClr val="accent5">
                  <a:lumMod val="20000"/>
                  <a:lumOff val="80000"/>
                  <a:alpha val="50000"/>
                </a:schemeClr>
              </a:solidFill>
            </p:spPr>
            <p:txBody>
              <a:bodyPr wrap="square" rtlCol="0">
                <a:spAutoFit/>
              </a:bodyPr>
              <a:lstStyle/>
              <a:p>
                <a:pPr>
                  <a:lnSpc>
                    <a:spcPts val="3200"/>
                  </a:lnSpc>
                  <a:spcBef>
                    <a:spcPts val="600"/>
                  </a:spcBef>
                  <a:spcAft>
                    <a:spcPts val="600"/>
                  </a:spcAft>
                </a:pPr>
                <a:r>
                  <a:rPr lang="zh-CN" altLang="en-US" sz="2400" b="1">
                    <a:solidFill>
                      <a:srgbClr val="C00000"/>
                    </a:solidFill>
                  </a:rPr>
                  <a:t>易解问题</a:t>
                </a:r>
                <a:r>
                  <a:rPr lang="en-US" altLang="zh-CN" sz="2400" b="1">
                    <a:solidFill>
                      <a:srgbClr val="C00000"/>
                    </a:solidFill>
                  </a:rPr>
                  <a:t>(tractable problem)</a:t>
                </a:r>
              </a:p>
              <a:p>
                <a:pPr>
                  <a:lnSpc>
                    <a:spcPts val="32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最坏情况下存在复杂度为多项式</a:t>
                </a:r>
                <a14:m>
                  <m:oMath xmlns:m="http://schemas.openxmlformats.org/officeDocument/2006/math">
                    <m:r>
                      <a:rPr lang="en-US" altLang="zh-CN" sz="2000" b="1" i="1" smtClean="0">
                        <a:solidFill>
                          <a:srgbClr val="002060"/>
                        </a:solidFill>
                        <a:latin typeface="Cambria Math" panose="02040503050406030204" pitchFamily="18" charset="0"/>
                      </a:rPr>
                      <m:t>𝑶</m:t>
                    </m:r>
                    <m:d>
                      <m:dPr>
                        <m:ctrlPr>
                          <a:rPr lang="en-US" altLang="zh-CN" sz="2000" b="1" i="1" smtClean="0">
                            <a:solidFill>
                              <a:srgbClr val="002060"/>
                            </a:solidFill>
                            <a:latin typeface="Cambria Math" panose="02040503050406030204" pitchFamily="18" charset="0"/>
                          </a:rPr>
                        </m:ctrlPr>
                      </m:dPr>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𝒃</m:t>
                            </m:r>
                          </m:sup>
                        </m:sSup>
                      </m:e>
                    </m:d>
                  </m:oMath>
                </a14:m>
                <a:r>
                  <a:rPr lang="zh-CN" altLang="en-US" sz="2000" b="1">
                    <a:solidFill>
                      <a:srgbClr val="002060"/>
                    </a:solidFill>
                    <a:latin typeface="楷体" panose="02010609060101010101" pitchFamily="49" charset="-122"/>
                    <a:ea typeface="楷体" panose="02010609060101010101" pitchFamily="49" charset="-122"/>
                  </a:rPr>
                  <a:t>算法进行求解的问题</a:t>
                </a:r>
              </a:p>
            </p:txBody>
          </p:sp>
        </mc:Choice>
        <mc:Fallback xmlns="">
          <p:sp>
            <p:nvSpPr>
              <p:cNvPr id="2" name="文本框 1"/>
              <p:cNvSpPr txBox="1">
                <a:spLocks noRot="1" noChangeAspect="1" noMove="1" noResize="1" noEditPoints="1" noAdjustHandles="1" noChangeArrowheads="1" noChangeShapeType="1" noTextEdit="1"/>
              </p:cNvSpPr>
              <p:nvPr/>
            </p:nvSpPr>
            <p:spPr>
              <a:xfrm>
                <a:off x="1074474" y="1243858"/>
                <a:ext cx="4558845" cy="1456361"/>
              </a:xfrm>
              <a:prstGeom prst="rect">
                <a:avLst/>
              </a:prstGeom>
              <a:blipFill rotWithShape="1">
                <a:blip r:embed="rId2"/>
                <a:stretch>
                  <a:fillRect l="-1" t="-36" r="5" b="14"/>
                </a:stretch>
              </a:blipFill>
            </p:spPr>
            <p:txBody>
              <a:bodyPr/>
              <a:lstStyle/>
              <a:p>
                <a:r>
                  <a:rPr lang="zh-CN" altLang="en-US">
                    <a:noFill/>
                  </a:rPr>
                  <a:t> </a:t>
                </a:r>
              </a:p>
            </p:txBody>
          </p:sp>
        </mc:Fallback>
      </mc:AlternateContent>
      <p:sp>
        <p:nvSpPr>
          <p:cNvPr id="3" name="文本框 2"/>
          <p:cNvSpPr txBox="1"/>
          <p:nvPr/>
        </p:nvSpPr>
        <p:spPr>
          <a:xfrm>
            <a:off x="6413959" y="1256939"/>
            <a:ext cx="4703567" cy="1443280"/>
          </a:xfrm>
          <a:prstGeom prst="rect">
            <a:avLst/>
          </a:prstGeom>
          <a:solidFill>
            <a:srgbClr val="EEF5FB"/>
          </a:solidFill>
        </p:spPr>
        <p:txBody>
          <a:bodyPr wrap="square" rtlCol="0">
            <a:spAutoFit/>
          </a:bodyPr>
          <a:lstStyle/>
          <a:p>
            <a:pPr>
              <a:lnSpc>
                <a:spcPts val="3200"/>
              </a:lnSpc>
              <a:spcBef>
                <a:spcPts val="600"/>
              </a:spcBef>
              <a:spcAft>
                <a:spcPts val="600"/>
              </a:spcAft>
            </a:pPr>
            <a:r>
              <a:rPr lang="zh-CN" altLang="en-US" sz="2400" b="1">
                <a:solidFill>
                  <a:srgbClr val="C00000"/>
                </a:solidFill>
              </a:rPr>
              <a:t>非易解问题</a:t>
            </a:r>
            <a:r>
              <a:rPr lang="en-US" altLang="zh-CN" sz="2400" b="1">
                <a:solidFill>
                  <a:srgbClr val="C00000"/>
                </a:solidFill>
              </a:rPr>
              <a:t>(intractable problem)</a:t>
            </a:r>
          </a:p>
          <a:p>
            <a:pPr>
              <a:lnSpc>
                <a:spcPts val="32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最坏情况下尚不存在复杂度为多项式算法进行求解的问题</a:t>
            </a:r>
          </a:p>
        </p:txBody>
      </p:sp>
      <p:sp>
        <p:nvSpPr>
          <p:cNvPr id="4" name="文本框 3"/>
          <p:cNvSpPr txBox="1"/>
          <p:nvPr/>
        </p:nvSpPr>
        <p:spPr>
          <a:xfrm>
            <a:off x="673191" y="2852817"/>
            <a:ext cx="6228210" cy="400110"/>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可解</a:t>
            </a:r>
            <a:r>
              <a:rPr lang="en-US" altLang="zh-CN" sz="2000" b="1">
                <a:solidFill>
                  <a:schemeClr val="accent2">
                    <a:lumMod val="50000"/>
                  </a:schemeClr>
                </a:solidFill>
              </a:rPr>
              <a:t>(solvable)</a:t>
            </a:r>
            <a:r>
              <a:rPr lang="zh-CN" altLang="en-US" sz="2000" b="1">
                <a:solidFill>
                  <a:schemeClr val="accent2">
                    <a:lumMod val="50000"/>
                  </a:schemeClr>
                </a:solidFill>
              </a:rPr>
              <a:t>问题：存在计算机算法进行求解的问题</a:t>
            </a:r>
          </a:p>
        </p:txBody>
      </p:sp>
      <p:sp>
        <p:nvSpPr>
          <p:cNvPr id="6" name="文本框 5"/>
          <p:cNvSpPr txBox="1"/>
          <p:nvPr/>
        </p:nvSpPr>
        <p:spPr>
          <a:xfrm>
            <a:off x="673191" y="4451387"/>
            <a:ext cx="3875045" cy="861774"/>
          </a:xfrm>
          <a:prstGeom prst="rect">
            <a:avLst/>
          </a:prstGeom>
          <a:solidFill>
            <a:schemeClr val="accent4">
              <a:lumMod val="20000"/>
              <a:lumOff val="80000"/>
            </a:schemeClr>
          </a:solidFill>
        </p:spPr>
        <p:txBody>
          <a:bodyPr wrap="square" rtlCol="0">
            <a:spAutoFit/>
          </a:bodyPr>
          <a:lstStyle/>
          <a:p>
            <a:pPr algn="ctr">
              <a:spcBef>
                <a:spcPts val="600"/>
              </a:spcBef>
              <a:spcAft>
                <a:spcPts val="600"/>
              </a:spcAft>
            </a:pPr>
            <a:r>
              <a:rPr lang="zh-CN" altLang="en-US" sz="2000" b="1">
                <a:solidFill>
                  <a:schemeClr val="accent2">
                    <a:lumMod val="50000"/>
                  </a:schemeClr>
                </a:solidFill>
              </a:rPr>
              <a:t>不可解问题</a:t>
            </a:r>
            <a:r>
              <a:rPr lang="en-US" altLang="zh-CN" sz="2000" b="1">
                <a:solidFill>
                  <a:schemeClr val="accent2">
                    <a:lumMod val="50000"/>
                  </a:schemeClr>
                </a:solidFill>
              </a:rPr>
              <a:t>(unsolvable problem)</a:t>
            </a:r>
          </a:p>
          <a:p>
            <a:pPr algn="ctr">
              <a:spcBef>
                <a:spcPts val="600"/>
              </a:spcBef>
              <a:spcAft>
                <a:spcPts val="600"/>
              </a:spcAft>
            </a:pPr>
            <a:r>
              <a:rPr lang="zh-CN" altLang="en-US" sz="2000" b="1">
                <a:solidFill>
                  <a:schemeClr val="accent2">
                    <a:lumMod val="50000"/>
                  </a:schemeClr>
                </a:solidFill>
              </a:rPr>
              <a:t>不可计算的问题</a:t>
            </a:r>
          </a:p>
        </p:txBody>
      </p:sp>
      <p:grpSp>
        <p:nvGrpSpPr>
          <p:cNvPr id="14" name="组合 13"/>
          <p:cNvGrpSpPr/>
          <p:nvPr/>
        </p:nvGrpSpPr>
        <p:grpSpPr>
          <a:xfrm>
            <a:off x="5058803" y="3409531"/>
            <a:ext cx="6558683" cy="2945486"/>
            <a:chOff x="5058803" y="3429001"/>
            <a:chExt cx="6558683" cy="2945486"/>
          </a:xfrm>
        </p:grpSpPr>
        <p:sp>
          <p:nvSpPr>
            <p:cNvPr id="11" name="文本框 10"/>
            <p:cNvSpPr txBox="1"/>
            <p:nvPr/>
          </p:nvSpPr>
          <p:spPr>
            <a:xfrm>
              <a:off x="5144322" y="3525688"/>
              <a:ext cx="6374487" cy="132343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图灵停机问题</a:t>
              </a:r>
              <a:r>
                <a:rPr lang="en-US" altLang="zh-CN" sz="2000" b="1">
                  <a:solidFill>
                    <a:srgbClr val="C00000"/>
                  </a:solidFill>
                </a:rPr>
                <a:t>(Truing Halting problem)</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不存在通用算法判定任意计算机程序的执行会否终止</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许多不可解问题都可归结为</a:t>
              </a:r>
              <a:r>
                <a:rPr lang="en-US" altLang="zh-CN" sz="2000" b="1">
                  <a:solidFill>
                    <a:schemeClr val="accent6">
                      <a:lumMod val="50000"/>
                    </a:schemeClr>
                  </a:solidFill>
                </a:rPr>
                <a:t>(reduce to)</a:t>
              </a:r>
              <a:r>
                <a:rPr lang="zh-CN" altLang="en-US" sz="2000" b="1">
                  <a:solidFill>
                    <a:schemeClr val="accent6">
                      <a:lumMod val="50000"/>
                    </a:schemeClr>
                  </a:solidFill>
                </a:rPr>
                <a:t>图灵停机问题</a:t>
              </a:r>
            </a:p>
          </p:txBody>
        </p:sp>
        <p:sp>
          <p:nvSpPr>
            <p:cNvPr id="12" name="文本框 11"/>
            <p:cNvSpPr txBox="1"/>
            <p:nvPr/>
          </p:nvSpPr>
          <p:spPr>
            <a:xfrm>
              <a:off x="5144322" y="4966038"/>
              <a:ext cx="6374487" cy="132343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一阶逻辑公式的可满足性问题</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不存在通用算法判定任意一个一阶公式是否可满足</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一阶逻辑公式的可满足性问题可归结为图灵停机问题</a:t>
              </a:r>
            </a:p>
          </p:txBody>
        </p:sp>
        <p:sp>
          <p:nvSpPr>
            <p:cNvPr id="13" name="矩形: 圆角 12"/>
            <p:cNvSpPr/>
            <p:nvPr/>
          </p:nvSpPr>
          <p:spPr>
            <a:xfrm>
              <a:off x="5058803" y="3429001"/>
              <a:ext cx="6558683" cy="2945486"/>
            </a:xfrm>
            <a:prstGeom prst="roundRect">
              <a:avLst>
                <a:gd name="adj" fmla="val 4546"/>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箭头: 右 14"/>
          <p:cNvSpPr/>
          <p:nvPr/>
        </p:nvSpPr>
        <p:spPr>
          <a:xfrm>
            <a:off x="4539108" y="4829657"/>
            <a:ext cx="506537" cy="1169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算法复杂度基础知识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a:t>P</a:t>
            </a:r>
            <a:r>
              <a:rPr lang="zh-CN" altLang="en-US"/>
              <a:t>问题和</a:t>
            </a:r>
            <a:r>
              <a:rPr lang="en-US" altLang="zh-CN" b="1"/>
              <a:t>NP</a:t>
            </a:r>
            <a:r>
              <a:rPr lang="zh-CN" altLang="en-US"/>
              <a:t>问题</a:t>
            </a:r>
          </a:p>
        </p:txBody>
      </p:sp>
      <p:sp>
        <p:nvSpPr>
          <p:cNvPr id="2" name="文本框 1"/>
          <p:cNvSpPr txBox="1"/>
          <p:nvPr/>
        </p:nvSpPr>
        <p:spPr>
          <a:xfrm>
            <a:off x="836554" y="1213349"/>
            <a:ext cx="10518889" cy="1785104"/>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计算复杂性理论</a:t>
            </a:r>
            <a:r>
              <a:rPr lang="en-US" altLang="zh-CN" sz="2000" b="1">
                <a:solidFill>
                  <a:srgbClr val="002060"/>
                </a:solidFill>
                <a:latin typeface="+mn-ea"/>
              </a:rPr>
              <a:t>(Computational Complexity Theory)</a:t>
            </a:r>
            <a:r>
              <a:rPr lang="zh-CN" altLang="en-US" sz="2000" b="1">
                <a:solidFill>
                  <a:srgbClr val="002060"/>
                </a:solidFill>
                <a:latin typeface="楷体" panose="02010609060101010101" pitchFamily="49" charset="-122"/>
                <a:ea typeface="楷体" panose="02010609060101010101" pitchFamily="49" charset="-122"/>
              </a:rPr>
              <a:t>将易解问题也称为</a:t>
            </a:r>
            <a:r>
              <a:rPr lang="en-US" altLang="zh-CN" sz="2000" b="1">
                <a:solidFill>
                  <a:srgbClr val="002060"/>
                </a:solidFill>
                <a:latin typeface="+mn-ea"/>
              </a:rPr>
              <a:t>P</a:t>
            </a:r>
            <a:r>
              <a:rPr lang="zh-CN" altLang="en-US" sz="2000" b="1">
                <a:solidFill>
                  <a:srgbClr val="002060"/>
                </a:solidFill>
                <a:latin typeface="楷体" panose="02010609060101010101" pitchFamily="49" charset="-122"/>
                <a:ea typeface="楷体" panose="02010609060101010101" pitchFamily="49" charset="-122"/>
              </a:rPr>
              <a:t>类问题</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指</a:t>
            </a:r>
            <a:r>
              <a:rPr lang="zh-CN" altLang="en-US" sz="2000" b="1">
                <a:solidFill>
                  <a:srgbClr val="C00000"/>
                </a:solidFill>
              </a:rPr>
              <a:t>确定性图灵机</a:t>
            </a:r>
            <a:r>
              <a:rPr lang="en-US" altLang="zh-CN" sz="2000" b="1">
                <a:solidFill>
                  <a:schemeClr val="accent6">
                    <a:lumMod val="50000"/>
                  </a:schemeClr>
                </a:solidFill>
              </a:rPr>
              <a:t>(Deterministic Turing Machine)</a:t>
            </a:r>
            <a:r>
              <a:rPr lang="zh-CN" altLang="en-US" sz="2000" b="1">
                <a:solidFill>
                  <a:schemeClr val="accent6">
                    <a:lumMod val="50000"/>
                  </a:schemeClr>
                </a:solidFill>
              </a:rPr>
              <a:t>多项式时间内可解问题</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对应的是</a:t>
            </a:r>
            <a:r>
              <a:rPr lang="en-US" altLang="zh-CN" sz="2000" b="1">
                <a:solidFill>
                  <a:srgbClr val="002060"/>
                </a:solidFill>
                <a:latin typeface="+mn-ea"/>
              </a:rPr>
              <a:t>NP</a:t>
            </a:r>
            <a:r>
              <a:rPr lang="zh-CN" altLang="en-US" sz="2000" b="1">
                <a:solidFill>
                  <a:srgbClr val="002060"/>
                </a:solidFill>
                <a:latin typeface="楷体" panose="02010609060101010101" pitchFamily="49" charset="-122"/>
                <a:ea typeface="楷体" panose="02010609060101010101" pitchFamily="49" charset="-122"/>
              </a:rPr>
              <a:t>类问题，这里</a:t>
            </a:r>
            <a:r>
              <a:rPr lang="en-US" altLang="zh-CN" sz="2000" b="1">
                <a:solidFill>
                  <a:srgbClr val="C00000"/>
                </a:solidFill>
                <a:latin typeface="+mn-ea"/>
              </a:rPr>
              <a:t>NP</a:t>
            </a:r>
            <a:r>
              <a:rPr lang="zh-CN" altLang="en-US" sz="2000" b="1">
                <a:solidFill>
                  <a:srgbClr val="002060"/>
                </a:solidFill>
                <a:latin typeface="楷体" panose="02010609060101010101" pitchFamily="49" charset="-122"/>
                <a:ea typeface="楷体" panose="02010609060101010101" pitchFamily="49" charset="-122"/>
              </a:rPr>
              <a:t>表示“</a:t>
            </a:r>
            <a:r>
              <a:rPr lang="zh-CN" altLang="en-US" sz="2000" b="1">
                <a:solidFill>
                  <a:srgbClr val="C00000"/>
                </a:solidFill>
                <a:latin typeface="+mn-ea"/>
              </a:rPr>
              <a:t>非确定性多项式</a:t>
            </a:r>
            <a:r>
              <a:rPr lang="en-US" altLang="zh-CN" sz="2000" b="1">
                <a:solidFill>
                  <a:srgbClr val="002060"/>
                </a:solidFill>
                <a:latin typeface="+mn-ea"/>
              </a:rPr>
              <a:t>(non-deterministic polynomial)</a:t>
            </a:r>
            <a:r>
              <a:rPr lang="zh-CN" altLang="en-US" sz="2000" b="1">
                <a:solidFill>
                  <a:srgbClr val="002060"/>
                </a:solidFill>
                <a:latin typeface="楷体" panose="02010609060101010101" pitchFamily="49" charset="-122"/>
                <a:ea typeface="楷体" panose="02010609060101010101" pitchFamily="49" charset="-122"/>
              </a:rPr>
              <a:t>复杂度”</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指</a:t>
            </a:r>
            <a:r>
              <a:rPr lang="zh-CN" altLang="en-US" sz="2000" b="1">
                <a:solidFill>
                  <a:srgbClr val="C00000"/>
                </a:solidFill>
              </a:rPr>
              <a:t>非确定性图灵机</a:t>
            </a:r>
            <a:r>
              <a:rPr lang="en-US" altLang="zh-CN" sz="2000" b="1">
                <a:solidFill>
                  <a:schemeClr val="accent6">
                    <a:lumMod val="50000"/>
                  </a:schemeClr>
                </a:solidFill>
              </a:rPr>
              <a:t>(Non-deterministic Turing Machine)</a:t>
            </a:r>
            <a:r>
              <a:rPr lang="zh-CN" altLang="en-US" sz="2000" b="1">
                <a:solidFill>
                  <a:schemeClr val="accent6">
                    <a:lumMod val="50000"/>
                  </a:schemeClr>
                </a:solidFill>
              </a:rPr>
              <a:t>多项式时间内可解</a:t>
            </a:r>
          </a:p>
        </p:txBody>
      </p:sp>
      <p:sp>
        <p:nvSpPr>
          <p:cNvPr id="3" name="文本框 2"/>
          <p:cNvSpPr txBox="1"/>
          <p:nvPr/>
        </p:nvSpPr>
        <p:spPr>
          <a:xfrm>
            <a:off x="836554" y="3080044"/>
            <a:ext cx="6643106" cy="400110"/>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确定性图灵机和非确定性图灵机都是经典的理论计算模型</a:t>
            </a:r>
          </a:p>
        </p:txBody>
      </p:sp>
      <p:sp>
        <p:nvSpPr>
          <p:cNvPr id="4" name="文本框 3"/>
          <p:cNvSpPr txBox="1"/>
          <p:nvPr/>
        </p:nvSpPr>
        <p:spPr>
          <a:xfrm>
            <a:off x="822302" y="3776644"/>
            <a:ext cx="8209865" cy="861774"/>
          </a:xfrm>
          <a:prstGeom prst="rect">
            <a:avLst/>
          </a:prstGeom>
          <a:solidFill>
            <a:schemeClr val="accent5">
              <a:lumMod val="20000"/>
              <a:lumOff val="80000"/>
              <a:alpha val="50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en-US" altLang="zh-CN" sz="2000" b="1">
                <a:solidFill>
                  <a:srgbClr val="C00000"/>
                </a:solidFill>
              </a:rPr>
              <a:t>P</a:t>
            </a:r>
            <a:r>
              <a:rPr lang="zh-CN" altLang="en-US" sz="2000" b="1">
                <a:solidFill>
                  <a:srgbClr val="C00000"/>
                </a:solidFill>
              </a:rPr>
              <a:t>类问题</a:t>
            </a:r>
            <a:r>
              <a:rPr lang="zh-CN" altLang="en-US" sz="2000" b="1">
                <a:solidFill>
                  <a:schemeClr val="accent2">
                    <a:lumMod val="50000"/>
                  </a:schemeClr>
                </a:solidFill>
              </a:rPr>
              <a:t>是计算机在多项式时间内可</a:t>
            </a:r>
            <a:r>
              <a:rPr lang="zh-CN" altLang="en-US" sz="2000" b="1">
                <a:solidFill>
                  <a:srgbClr val="C00000"/>
                </a:solidFill>
              </a:rPr>
              <a:t>构造</a:t>
            </a:r>
            <a:r>
              <a:rPr lang="zh-CN" altLang="en-US" sz="2000" b="1">
                <a:solidFill>
                  <a:schemeClr val="accent2">
                    <a:lumMod val="50000"/>
                  </a:schemeClr>
                </a:solidFill>
              </a:rPr>
              <a:t>它的解的问题</a:t>
            </a:r>
          </a:p>
          <a:p>
            <a:pPr marL="342900" indent="-342900">
              <a:spcBef>
                <a:spcPts val="600"/>
              </a:spcBef>
              <a:spcAft>
                <a:spcPts val="600"/>
              </a:spcAft>
              <a:buFont typeface="Arial" panose="020B0604020202020204" pitchFamily="34" charset="0"/>
              <a:buChar char="•"/>
            </a:pPr>
            <a:r>
              <a:rPr lang="en-US" altLang="zh-CN" sz="2000" b="1">
                <a:solidFill>
                  <a:srgbClr val="C00000"/>
                </a:solidFill>
              </a:rPr>
              <a:t>NP</a:t>
            </a:r>
            <a:r>
              <a:rPr lang="zh-CN" altLang="en-US" sz="2000" b="1">
                <a:solidFill>
                  <a:srgbClr val="C00000"/>
                </a:solidFill>
              </a:rPr>
              <a:t>问题</a:t>
            </a:r>
            <a:r>
              <a:rPr lang="zh-CN" altLang="en-US" sz="2000" b="1">
                <a:solidFill>
                  <a:schemeClr val="accent2">
                    <a:lumMod val="50000"/>
                  </a:schemeClr>
                </a:solidFill>
              </a:rPr>
              <a:t>是计算机在多项式时间内能</a:t>
            </a:r>
            <a:r>
              <a:rPr lang="zh-CN" altLang="en-US" sz="2000" b="1">
                <a:solidFill>
                  <a:srgbClr val="C00000"/>
                </a:solidFill>
              </a:rPr>
              <a:t>检查候选解</a:t>
            </a:r>
            <a:r>
              <a:rPr lang="zh-CN" altLang="en-US" sz="2000" b="1">
                <a:solidFill>
                  <a:schemeClr val="accent2">
                    <a:lumMod val="50000"/>
                  </a:schemeClr>
                </a:solidFill>
              </a:rPr>
              <a:t>是否真的是解的问题</a:t>
            </a:r>
          </a:p>
        </p:txBody>
      </p:sp>
      <p:sp>
        <p:nvSpPr>
          <p:cNvPr id="6" name="文本框 5"/>
          <p:cNvSpPr txBox="1"/>
          <p:nvPr/>
        </p:nvSpPr>
        <p:spPr>
          <a:xfrm>
            <a:off x="822302" y="4709892"/>
            <a:ext cx="7163897" cy="1323439"/>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典型的</a:t>
            </a:r>
            <a:r>
              <a:rPr lang="en-US" altLang="zh-CN" sz="2000" b="1">
                <a:solidFill>
                  <a:srgbClr val="C00000"/>
                </a:solidFill>
              </a:rPr>
              <a:t>NP</a:t>
            </a:r>
            <a:r>
              <a:rPr lang="zh-CN" altLang="en-US" sz="2000" b="1">
                <a:solidFill>
                  <a:srgbClr val="C00000"/>
                </a:solidFill>
              </a:rPr>
              <a:t>问题</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命题逻辑公式的可满足性问题</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是否存在对其中命题变量的真值赋值使得该公式的真值为真</a:t>
            </a:r>
          </a:p>
        </p:txBody>
      </p:sp>
      <p:sp>
        <p:nvSpPr>
          <p:cNvPr id="11" name="文本框 10"/>
          <p:cNvSpPr txBox="1"/>
          <p:nvPr/>
        </p:nvSpPr>
        <p:spPr>
          <a:xfrm>
            <a:off x="8366649" y="4709637"/>
            <a:ext cx="2988794" cy="1308179"/>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构造真值表是指数级算法，但检查对命题变量的某次真值赋值能否使用公式为真可在多项式时间内完成</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算法复杂度基础知识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a:t>P=NP?</a:t>
            </a:r>
            <a:endParaRPr lang="zh-CN" altLang="en-US"/>
          </a:p>
        </p:txBody>
      </p:sp>
      <p:sp>
        <p:nvSpPr>
          <p:cNvPr id="12" name="文本框 11"/>
          <p:cNvSpPr txBox="1"/>
          <p:nvPr/>
        </p:nvSpPr>
        <p:spPr>
          <a:xfrm>
            <a:off x="650713" y="1370778"/>
            <a:ext cx="10890572" cy="1846659"/>
          </a:xfrm>
          <a:prstGeom prst="rect">
            <a:avLst/>
          </a:prstGeom>
          <a:solidFill>
            <a:schemeClr val="accent2">
              <a:lumMod val="20000"/>
              <a:lumOff val="80000"/>
              <a:alpha val="48000"/>
            </a:schemeClr>
          </a:solidFill>
        </p:spPr>
        <p:txBody>
          <a:bodyPr wrap="square" rtlCol="0">
            <a:spAutoFit/>
          </a:bodyPr>
          <a:lstStyle/>
          <a:p>
            <a:pPr algn="ctr">
              <a:spcBef>
                <a:spcPts val="600"/>
              </a:spcBef>
              <a:spcAft>
                <a:spcPts val="600"/>
              </a:spcAft>
            </a:pPr>
            <a:r>
              <a:rPr lang="en-US" altLang="zh-CN" sz="2400" b="1">
                <a:solidFill>
                  <a:srgbClr val="C00000"/>
                </a:solidFill>
              </a:rPr>
              <a:t>NP</a:t>
            </a:r>
            <a:r>
              <a:rPr lang="zh-CN" altLang="en-US" sz="2400" b="1">
                <a:solidFill>
                  <a:srgbClr val="C00000"/>
                </a:solidFill>
              </a:rPr>
              <a:t>完全问题</a:t>
            </a:r>
            <a:r>
              <a:rPr lang="en-US" altLang="zh-CN" sz="2400" b="1">
                <a:solidFill>
                  <a:srgbClr val="C00000"/>
                </a:solidFill>
              </a:rPr>
              <a:t>(NP complete problem)</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一个问题称为</a:t>
            </a:r>
            <a:r>
              <a:rPr lang="en-US" altLang="zh-CN" sz="2000" b="1">
                <a:solidFill>
                  <a:srgbClr val="C00000"/>
                </a:solidFill>
                <a:latin typeface="+mn-ea"/>
              </a:rPr>
              <a:t>NP</a:t>
            </a:r>
            <a:r>
              <a:rPr lang="zh-CN" altLang="en-US" sz="2000" b="1">
                <a:solidFill>
                  <a:srgbClr val="C00000"/>
                </a:solidFill>
                <a:latin typeface="+mn-ea"/>
              </a:rPr>
              <a:t>完全问题</a:t>
            </a:r>
            <a:r>
              <a:rPr lang="zh-CN" altLang="en-US" sz="2000" b="1">
                <a:solidFill>
                  <a:srgbClr val="002060"/>
                </a:solidFill>
                <a:latin typeface="楷体" panose="02010609060101010101" pitchFamily="49" charset="-122"/>
                <a:ea typeface="楷体" panose="02010609060101010101" pitchFamily="49" charset="-122"/>
              </a:rPr>
              <a:t>，如果所有的</a:t>
            </a:r>
            <a:r>
              <a:rPr lang="en-US" altLang="zh-CN" sz="2000" b="1">
                <a:solidFill>
                  <a:srgbClr val="002060"/>
                </a:solidFill>
                <a:latin typeface="+mn-ea"/>
              </a:rPr>
              <a:t>NP</a:t>
            </a:r>
            <a:r>
              <a:rPr lang="zh-CN" altLang="en-US" sz="2000" b="1">
                <a:solidFill>
                  <a:srgbClr val="002060"/>
                </a:solidFill>
                <a:latin typeface="楷体" panose="02010609060101010101" pitchFamily="49" charset="-122"/>
                <a:ea typeface="楷体" panose="02010609060101010101" pitchFamily="49" charset="-122"/>
              </a:rPr>
              <a:t>问题可</a:t>
            </a:r>
            <a:r>
              <a:rPr lang="zh-CN" altLang="en-US" sz="2000" b="1">
                <a:solidFill>
                  <a:srgbClr val="C00000"/>
                </a:solidFill>
                <a:latin typeface="+mn-ea"/>
              </a:rPr>
              <a:t>归结</a:t>
            </a:r>
            <a:r>
              <a:rPr lang="zh-CN" altLang="en-US" sz="2000" b="1">
                <a:solidFill>
                  <a:srgbClr val="002060"/>
                </a:solidFill>
                <a:latin typeface="楷体" panose="02010609060101010101" pitchFamily="49" charset="-122"/>
                <a:ea typeface="楷体" panose="02010609060101010101" pitchFamily="49" charset="-122"/>
              </a:rPr>
              <a:t>为该问题</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一个</a:t>
            </a:r>
            <a:r>
              <a:rPr lang="en-US" altLang="zh-CN" sz="2000" b="1">
                <a:solidFill>
                  <a:schemeClr val="accent6">
                    <a:lumMod val="50000"/>
                  </a:schemeClr>
                </a:solidFill>
              </a:rPr>
              <a:t>NP</a:t>
            </a:r>
            <a:r>
              <a:rPr lang="zh-CN" altLang="en-US" sz="2000" b="1">
                <a:solidFill>
                  <a:schemeClr val="accent6">
                    <a:lumMod val="50000"/>
                  </a:schemeClr>
                </a:solidFill>
              </a:rPr>
              <a:t>完全问题存在多项式时间复杂度算法，则所有</a:t>
            </a:r>
            <a:r>
              <a:rPr lang="en-US" altLang="zh-CN" sz="2000" b="1">
                <a:solidFill>
                  <a:schemeClr val="accent6">
                    <a:lumMod val="50000"/>
                  </a:schemeClr>
                </a:solidFill>
              </a:rPr>
              <a:t>NP</a:t>
            </a:r>
            <a:r>
              <a:rPr lang="zh-CN" altLang="en-US" sz="2000" b="1">
                <a:solidFill>
                  <a:schemeClr val="accent6">
                    <a:lumMod val="50000"/>
                  </a:schemeClr>
                </a:solidFill>
              </a:rPr>
              <a:t>类问题都存在多项式时间复杂度算法</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可简单地认为</a:t>
            </a:r>
            <a:r>
              <a:rPr lang="en-US" altLang="zh-CN" sz="2000" b="1">
                <a:solidFill>
                  <a:schemeClr val="accent6">
                    <a:lumMod val="50000"/>
                  </a:schemeClr>
                </a:solidFill>
              </a:rPr>
              <a:t>NP</a:t>
            </a:r>
            <a:r>
              <a:rPr lang="zh-CN" altLang="en-US" sz="2000" b="1">
                <a:solidFill>
                  <a:schemeClr val="accent6">
                    <a:lumMod val="50000"/>
                  </a:schemeClr>
                </a:solidFill>
              </a:rPr>
              <a:t>完全问题是</a:t>
            </a:r>
            <a:r>
              <a:rPr lang="en-US" altLang="zh-CN" sz="2000" b="1">
                <a:solidFill>
                  <a:schemeClr val="accent6">
                    <a:lumMod val="50000"/>
                  </a:schemeClr>
                </a:solidFill>
              </a:rPr>
              <a:t>NP</a:t>
            </a:r>
            <a:r>
              <a:rPr lang="zh-CN" altLang="en-US" sz="2000" b="1">
                <a:solidFill>
                  <a:schemeClr val="accent6">
                    <a:lumMod val="50000"/>
                  </a:schemeClr>
                </a:solidFill>
              </a:rPr>
              <a:t>类问题中</a:t>
            </a:r>
            <a:r>
              <a:rPr lang="zh-CN" altLang="en-US" sz="2000" b="1">
                <a:solidFill>
                  <a:srgbClr val="C00000"/>
                </a:solidFill>
              </a:rPr>
              <a:t>最难</a:t>
            </a:r>
            <a:r>
              <a:rPr lang="zh-CN" altLang="en-US" sz="2000" b="1">
                <a:solidFill>
                  <a:schemeClr val="accent6">
                    <a:lumMod val="50000"/>
                  </a:schemeClr>
                </a:solidFill>
              </a:rPr>
              <a:t>的问题，</a:t>
            </a:r>
            <a:r>
              <a:rPr lang="en-US" altLang="zh-CN" sz="2000" b="1">
                <a:solidFill>
                  <a:schemeClr val="accent6">
                    <a:lumMod val="50000"/>
                  </a:schemeClr>
                </a:solidFill>
              </a:rPr>
              <a:t>NP</a:t>
            </a:r>
            <a:r>
              <a:rPr lang="zh-CN" altLang="en-US" sz="2000" b="1">
                <a:solidFill>
                  <a:schemeClr val="accent6">
                    <a:lumMod val="50000"/>
                  </a:schemeClr>
                </a:solidFill>
              </a:rPr>
              <a:t>完全问题通常也简称为</a:t>
            </a:r>
            <a:r>
              <a:rPr lang="en-US" altLang="zh-CN" sz="2000" b="1">
                <a:solidFill>
                  <a:srgbClr val="C00000"/>
                </a:solidFill>
              </a:rPr>
              <a:t>NPC</a:t>
            </a:r>
            <a:r>
              <a:rPr lang="zh-CN" altLang="en-US" sz="2000" b="1">
                <a:solidFill>
                  <a:srgbClr val="C00000"/>
                </a:solidFill>
              </a:rPr>
              <a:t>问题</a:t>
            </a:r>
          </a:p>
        </p:txBody>
      </p:sp>
      <p:sp>
        <p:nvSpPr>
          <p:cNvPr id="13" name="文本框 12"/>
          <p:cNvSpPr txBox="1"/>
          <p:nvPr/>
        </p:nvSpPr>
        <p:spPr>
          <a:xfrm>
            <a:off x="1710660" y="3715716"/>
            <a:ext cx="8770677" cy="2062103"/>
          </a:xfrm>
          <a:prstGeom prst="rect">
            <a:avLst/>
          </a:prstGeom>
          <a:solidFill>
            <a:schemeClr val="accent4">
              <a:lumMod val="20000"/>
              <a:lumOff val="80000"/>
            </a:schemeClr>
          </a:solidFill>
        </p:spPr>
        <p:txBody>
          <a:bodyPr wrap="square" rtlCol="0">
            <a:spAutoFit/>
          </a:bodyPr>
          <a:lstStyle/>
          <a:p>
            <a:pPr algn="ctr">
              <a:spcBef>
                <a:spcPts val="600"/>
              </a:spcBef>
              <a:spcAft>
                <a:spcPts val="600"/>
              </a:spcAft>
            </a:pPr>
            <a:r>
              <a:rPr lang="en-US" altLang="zh-CN" sz="2400" b="1">
                <a:solidFill>
                  <a:srgbClr val="C00000"/>
                </a:solidFill>
              </a:rPr>
              <a:t>P = NP?</a:t>
            </a:r>
          </a:p>
          <a:p>
            <a:pPr>
              <a:lnSpc>
                <a:spcPts val="3600"/>
              </a:lnSpc>
              <a:spcBef>
                <a:spcPts val="600"/>
              </a:spcBef>
              <a:spcAft>
                <a:spcPts val="600"/>
              </a:spcAft>
            </a:pPr>
            <a:r>
              <a:rPr lang="en-US" altLang="zh-CN" sz="2400" b="1">
                <a:solidFill>
                  <a:srgbClr val="002060"/>
                </a:solidFill>
                <a:latin typeface="+mn-ea"/>
              </a:rPr>
              <a:t>NP</a:t>
            </a:r>
            <a:r>
              <a:rPr lang="zh-CN" altLang="en-US" sz="2400" b="1">
                <a:solidFill>
                  <a:srgbClr val="002060"/>
                </a:solidFill>
                <a:latin typeface="楷体" panose="02010609060101010101" pitchFamily="49" charset="-122"/>
                <a:ea typeface="楷体" panose="02010609060101010101" pitchFamily="49" charset="-122"/>
              </a:rPr>
              <a:t>类问题是否存在多项式时间复杂度算法，也即</a:t>
            </a:r>
            <a:r>
              <a:rPr lang="en-US" altLang="zh-CN" sz="2400" b="1">
                <a:solidFill>
                  <a:srgbClr val="C00000"/>
                </a:solidFill>
                <a:latin typeface="+mn-ea"/>
              </a:rPr>
              <a:t>NP</a:t>
            </a:r>
            <a:r>
              <a:rPr lang="zh-CN" altLang="en-US" sz="2400" b="1">
                <a:solidFill>
                  <a:srgbClr val="C00000"/>
                </a:solidFill>
                <a:latin typeface="楷体" panose="02010609060101010101" pitchFamily="49" charset="-122"/>
                <a:ea typeface="楷体" panose="02010609060101010101" pitchFamily="49" charset="-122"/>
              </a:rPr>
              <a:t>是否等于</a:t>
            </a:r>
            <a:r>
              <a:rPr lang="en-US" altLang="zh-CN" sz="2400" b="1">
                <a:solidFill>
                  <a:srgbClr val="C00000"/>
                </a:solidFill>
                <a:latin typeface="+mn-ea"/>
              </a:rPr>
              <a:t>P</a:t>
            </a:r>
            <a:r>
              <a:rPr lang="zh-CN" altLang="en-US" sz="2400" b="1">
                <a:solidFill>
                  <a:srgbClr val="002060"/>
                </a:solidFill>
                <a:latin typeface="楷体" panose="02010609060101010101" pitchFamily="49" charset="-122"/>
                <a:ea typeface="楷体" panose="02010609060101010101" pitchFamily="49" charset="-122"/>
              </a:rPr>
              <a:t>是计算机科学目前仍悬而未决的重要理论问题</a:t>
            </a:r>
          </a:p>
          <a:p>
            <a:pPr marL="342900" indent="-342900">
              <a:spcBef>
                <a:spcPts val="600"/>
              </a:spcBef>
              <a:spcAft>
                <a:spcPts val="600"/>
              </a:spcAft>
              <a:buFont typeface="Arial" panose="020B0604020202020204" pitchFamily="34" charset="0"/>
              <a:buChar char="•"/>
            </a:pPr>
            <a:r>
              <a:rPr lang="en-US" altLang="zh-CN" sz="2400" b="1">
                <a:solidFill>
                  <a:schemeClr val="accent6">
                    <a:lumMod val="50000"/>
                  </a:schemeClr>
                </a:solidFill>
              </a:rPr>
              <a:t>NP</a:t>
            </a:r>
            <a:r>
              <a:rPr lang="zh-CN" altLang="en-US" sz="2400" b="1">
                <a:solidFill>
                  <a:schemeClr val="accent6">
                    <a:lumMod val="50000"/>
                  </a:schemeClr>
                </a:solidFill>
              </a:rPr>
              <a:t>可理解为</a:t>
            </a:r>
            <a:r>
              <a:rPr lang="en-US" altLang="zh-CN" sz="2400" b="1">
                <a:solidFill>
                  <a:schemeClr val="accent6">
                    <a:lumMod val="50000"/>
                  </a:schemeClr>
                </a:solidFill>
              </a:rPr>
              <a:t>NP</a:t>
            </a:r>
            <a:r>
              <a:rPr lang="zh-CN" altLang="en-US" sz="2400" b="1">
                <a:solidFill>
                  <a:schemeClr val="accent6">
                    <a:lumMod val="50000"/>
                  </a:schemeClr>
                </a:solidFill>
              </a:rPr>
              <a:t>类问题构成的集合，</a:t>
            </a:r>
            <a:r>
              <a:rPr lang="en-US" altLang="zh-CN" sz="2400" b="1">
                <a:solidFill>
                  <a:schemeClr val="accent6">
                    <a:lumMod val="50000"/>
                  </a:schemeClr>
                </a:solidFill>
              </a:rPr>
              <a:t>P</a:t>
            </a:r>
            <a:r>
              <a:rPr lang="zh-CN" altLang="en-US" sz="2400" b="1">
                <a:solidFill>
                  <a:schemeClr val="accent6">
                    <a:lumMod val="50000"/>
                  </a:schemeClr>
                </a:solidFill>
              </a:rPr>
              <a:t>可理解为</a:t>
            </a:r>
            <a:r>
              <a:rPr lang="en-US" altLang="zh-CN" sz="2400" b="1">
                <a:solidFill>
                  <a:schemeClr val="accent6">
                    <a:lumMod val="50000"/>
                  </a:schemeClr>
                </a:solidFill>
              </a:rPr>
              <a:t>P</a:t>
            </a:r>
            <a:r>
              <a:rPr lang="zh-CN" altLang="en-US" sz="2400" b="1">
                <a:solidFill>
                  <a:schemeClr val="accent6">
                    <a:lumMod val="50000"/>
                  </a:schemeClr>
                </a:solidFill>
              </a:rPr>
              <a:t>类问题的集合</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mc:AlternateContent xmlns:mc="http://schemas.openxmlformats.org/markup-compatibility/2006" xmlns:a14="http://schemas.microsoft.com/office/drawing/2010/main">
        <mc:Choice Requires="a14">
          <p:sp>
            <p:nvSpPr>
              <p:cNvPr id="2" name="文本框 1"/>
              <p:cNvSpPr txBox="1"/>
              <p:nvPr/>
            </p:nvSpPr>
            <p:spPr>
              <a:xfrm>
                <a:off x="1726922" y="1609680"/>
                <a:ext cx="8738154" cy="3323987"/>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800" b="1" dirty="0">
                    <a:solidFill>
                      <a:srgbClr val="002060"/>
                    </a:solidFill>
                  </a:rPr>
                  <a:t>函数增长与算法效率分析</a:t>
                </a:r>
              </a:p>
              <a:p>
                <a:pPr marL="342900" indent="-342900">
                  <a:spcBef>
                    <a:spcPts val="600"/>
                  </a:spcBef>
                  <a:spcAft>
                    <a:spcPts val="600"/>
                  </a:spcAft>
                  <a:buFont typeface="Arial" panose="020B0604020202020204" pitchFamily="34" charset="0"/>
                  <a:buChar char="•"/>
                </a:pPr>
                <a:r>
                  <a:rPr lang="zh-CN" altLang="en-US" sz="2400" b="1" dirty="0">
                    <a:solidFill>
                      <a:schemeClr val="accent6">
                        <a:lumMod val="50000"/>
                      </a:schemeClr>
                    </a:solidFill>
                    <a:latin typeface="楷体" panose="02010609060101010101" pitchFamily="49" charset="-122"/>
                    <a:ea typeface="楷体" panose="02010609060101010101" pitchFamily="49" charset="-122"/>
                  </a:rPr>
                  <a:t>算法效率分析关心算法运行时间或占用存储随输入规模增长而增长的情况，因此基于对函数增长的描述</a:t>
                </a:r>
              </a:p>
              <a:p>
                <a:pPr marL="800100" lvl="1" indent="-342900">
                  <a:spcBef>
                    <a:spcPts val="600"/>
                  </a:spcBef>
                  <a:spcAft>
                    <a:spcPts val="600"/>
                  </a:spcAft>
                  <a:buFont typeface="Arial" panose="020B0604020202020204" pitchFamily="34" charset="0"/>
                  <a:buChar char="•"/>
                </a:pPr>
                <a:r>
                  <a:rPr lang="zh-CN" altLang="en-US" sz="2000" b="1" dirty="0">
                    <a:solidFill>
                      <a:schemeClr val="accent2">
                        <a:lumMod val="50000"/>
                      </a:schemeClr>
                    </a:solidFill>
                    <a:latin typeface="+mn-ea"/>
                  </a:rPr>
                  <a:t>大</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oMath>
                </a14:m>
                <a:r>
                  <a:rPr lang="zh-CN" altLang="en-US" sz="2000" b="1" dirty="0">
                    <a:solidFill>
                      <a:schemeClr val="accent2">
                        <a:lumMod val="50000"/>
                      </a:schemeClr>
                    </a:solidFill>
                    <a:latin typeface="+mn-ea"/>
                  </a:rPr>
                  <a:t>记号使用简单形式的函数给出一个函数增长情况的上界</a:t>
                </a:r>
              </a:p>
              <a:p>
                <a:pPr marL="800100" lvl="1" indent="-342900">
                  <a:spcBef>
                    <a:spcPts val="600"/>
                  </a:spcBef>
                  <a:spcAft>
                    <a:spcPts val="600"/>
                  </a:spcAft>
                  <a:buFont typeface="Arial" panose="020B0604020202020204" pitchFamily="34" charset="0"/>
                  <a:buChar char="•"/>
                </a:pPr>
                <a:r>
                  <a:rPr lang="zh-CN" altLang="en-US" sz="2000" b="1" dirty="0">
                    <a:solidFill>
                      <a:schemeClr val="accent2">
                        <a:lumMod val="50000"/>
                      </a:schemeClr>
                    </a:solidFill>
                    <a:latin typeface="+mn-ea"/>
                  </a:rPr>
                  <a:t>大</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𝛀</m:t>
                    </m:r>
                  </m:oMath>
                </a14:m>
                <a:r>
                  <a:rPr lang="zh-CN" altLang="en-US" sz="2000" b="1" dirty="0">
                    <a:solidFill>
                      <a:schemeClr val="accent2">
                        <a:lumMod val="50000"/>
                      </a:schemeClr>
                    </a:solidFill>
                    <a:latin typeface="+mn-ea"/>
                  </a:rPr>
                  <a:t>记号给出函数增长情况的下界，大</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𝚯</m:t>
                    </m:r>
                  </m:oMath>
                </a14:m>
                <a:r>
                  <a:rPr lang="zh-CN" altLang="en-US" sz="2000" b="1" dirty="0">
                    <a:solidFill>
                      <a:schemeClr val="accent2">
                        <a:lumMod val="50000"/>
                      </a:schemeClr>
                    </a:solidFill>
                    <a:latin typeface="+mn-ea"/>
                  </a:rPr>
                  <a:t>记号给出函数增长情况的阶</a:t>
                </a:r>
              </a:p>
              <a:p>
                <a:pPr marL="342900" indent="-342900">
                  <a:spcBef>
                    <a:spcPts val="600"/>
                  </a:spcBef>
                  <a:spcAft>
                    <a:spcPts val="600"/>
                  </a:spcAft>
                  <a:buFont typeface="Arial" panose="020B0604020202020204" pitchFamily="34" charset="0"/>
                  <a:buChar char="•"/>
                </a:pPr>
                <a:r>
                  <a:rPr lang="zh-CN" altLang="en-US" sz="2400" b="1" dirty="0">
                    <a:solidFill>
                      <a:schemeClr val="accent6">
                        <a:lumMod val="50000"/>
                      </a:schemeClr>
                    </a:solidFill>
                    <a:latin typeface="楷体" panose="02010609060101010101" pitchFamily="49" charset="-122"/>
                    <a:ea typeface="楷体" panose="02010609060101010101" pitchFamily="49" charset="-122"/>
                  </a:rPr>
                  <a:t>按照函数增长情况的阶从小到大可将算法复杂度</a:t>
                </a:r>
              </a:p>
              <a:p>
                <a:pPr marL="800100" lvl="1" indent="-342900">
                  <a:spcBef>
                    <a:spcPts val="600"/>
                  </a:spcBef>
                  <a:spcAft>
                    <a:spcPts val="600"/>
                  </a:spcAft>
                  <a:buFont typeface="Arial" panose="020B0604020202020204" pitchFamily="34" charset="0"/>
                  <a:buChar char="•"/>
                </a:pPr>
                <a:r>
                  <a:rPr lang="zh-CN" altLang="en-US" sz="2000" b="1" dirty="0">
                    <a:solidFill>
                      <a:schemeClr val="accent2">
                        <a:lumMod val="50000"/>
                      </a:schemeClr>
                    </a:solidFill>
                    <a:latin typeface="+mn-ea"/>
                  </a:rPr>
                  <a:t>分为常数、对数、线性、线性对数、多项式、指数和阶乘等</a:t>
                </a:r>
              </a:p>
            </p:txBody>
          </p:sp>
        </mc:Choice>
        <mc:Fallback xmlns="">
          <p:sp>
            <p:nvSpPr>
              <p:cNvPr id="2" name="文本框 1"/>
              <p:cNvSpPr txBox="1">
                <a:spLocks noRot="1" noChangeAspect="1" noMove="1" noResize="1" noEditPoints="1" noAdjustHandles="1" noChangeArrowheads="1" noChangeShapeType="1" noTextEdit="1"/>
              </p:cNvSpPr>
              <p:nvPr/>
            </p:nvSpPr>
            <p:spPr>
              <a:xfrm>
                <a:off x="1726922" y="1609680"/>
                <a:ext cx="8738154" cy="3323987"/>
              </a:xfrm>
              <a:prstGeom prst="rect">
                <a:avLst/>
              </a:prstGeom>
              <a:blipFill rotWithShape="1">
                <a:blip r:embed="rId2"/>
                <a:stretch>
                  <a:fillRect l="-4" t="-18" r="3" b="11"/>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mc:AlternateContent xmlns:mc="http://schemas.openxmlformats.org/markup-compatibility/2006" xmlns:a14="http://schemas.microsoft.com/office/drawing/2010/main">
        <mc:Choice Requires="a14">
          <p:sp>
            <p:nvSpPr>
              <p:cNvPr id="2" name="文本框 1"/>
              <p:cNvSpPr txBox="1"/>
              <p:nvPr/>
            </p:nvSpPr>
            <p:spPr>
              <a:xfrm>
                <a:off x="1696680" y="1251909"/>
                <a:ext cx="8798638" cy="203132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算法时间效率分析，或说算法时间复杂度的分析</a:t>
                </a:r>
                <a:endParaRPr lang="zh-CN" altLang="en-US" sz="24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先确定算法输入规模的度量、算法的基本操作</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确定算法基本操作执行次数与算法输入规模之间的函数关系</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并针对最坏情况使用大</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𝑶</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记号估计该函数增长情况的上界</a:t>
                </a:r>
              </a:p>
            </p:txBody>
          </p:sp>
        </mc:Choice>
        <mc:Fallback xmlns="">
          <p:sp>
            <p:nvSpPr>
              <p:cNvPr id="2" name="文本框 1"/>
              <p:cNvSpPr txBox="1">
                <a:spLocks noRot="1" noChangeAspect="1" noMove="1" noResize="1" noEditPoints="1" noAdjustHandles="1" noChangeArrowheads="1" noChangeShapeType="1" noTextEdit="1"/>
              </p:cNvSpPr>
              <p:nvPr/>
            </p:nvSpPr>
            <p:spPr>
              <a:xfrm>
                <a:off x="1696680" y="1251909"/>
                <a:ext cx="8798638" cy="2031325"/>
              </a:xfrm>
              <a:prstGeom prst="rect">
                <a:avLst/>
              </a:prstGeom>
              <a:blipFill rotWithShape="1">
                <a:blip r:embed="rId2"/>
                <a:stretch>
                  <a:fillRect l="-7" t="-16" b="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143956" y="3574767"/>
                <a:ext cx="9904085" cy="243143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熟悉大</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𝑶</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记号的定义，能证明函数</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𝒇</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𝑶</m:t>
                    </m:r>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𝒈</m:t>
                    </m:r>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，也能证明函数</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𝒇</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不是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𝑶</m:t>
                    </m:r>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400" b="1" i="1">
                        <a:solidFill>
                          <a:schemeClr val="accent2">
                            <a:lumMod val="50000"/>
                          </a:schemeClr>
                        </a:solidFill>
                        <a:latin typeface="Cambria Math" panose="02040503050406030204" pitchFamily="18" charset="0"/>
                        <a:ea typeface="楷体" panose="02010609060101010101" pitchFamily="49" charset="-122"/>
                      </a:rPr>
                      <m:t>𝒈</m:t>
                    </m:r>
                    <m:r>
                      <a:rPr lang="en-US" altLang="zh-CN" sz="2400" b="1" i="1" smtClean="0">
                        <a:solidFill>
                          <a:schemeClr val="accent2">
                            <a:lumMod val="50000"/>
                          </a:schemeClr>
                        </a:solidFill>
                        <a:latin typeface="Cambria Math" panose="02040503050406030204" pitchFamily="18" charset="0"/>
                        <a:ea typeface="楷体" panose="02010609060101010101" pitchFamily="49" charset="-122"/>
                      </a:rPr>
                      <m:t>)</m:t>
                    </m:r>
                  </m:oMath>
                </a14:m>
                <a:endParaRPr lang="en-US" altLang="zh-CN" sz="2400"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rPr>
                  <a:t>能用常见函数的大</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oMath>
                </a14:m>
                <a:r>
                  <a:rPr lang="zh-CN" altLang="en-US" sz="2000" b="1">
                    <a:solidFill>
                      <a:schemeClr val="accent6">
                        <a:lumMod val="50000"/>
                      </a:schemeClr>
                    </a:solidFill>
                    <a:latin typeface="+mn-ea"/>
                  </a:rPr>
                  <a:t>估计及大</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oMath>
                </a14:m>
                <a:r>
                  <a:rPr lang="zh-CN" altLang="en-US" sz="2000" b="1">
                    <a:solidFill>
                      <a:schemeClr val="accent6">
                        <a:lumMod val="50000"/>
                      </a:schemeClr>
                    </a:solidFill>
                    <a:latin typeface="+mn-ea"/>
                  </a:rPr>
                  <a:t>记号与函数组合间联系给出函数的大</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oMath>
                </a14:m>
                <a:r>
                  <a:rPr lang="zh-CN" altLang="en-US" sz="2000" b="1">
                    <a:solidFill>
                      <a:schemeClr val="accent6">
                        <a:lumMod val="50000"/>
                      </a:schemeClr>
                    </a:solidFill>
                    <a:latin typeface="+mn-ea"/>
                  </a:rPr>
                  <a:t>估计</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了解算法时间效率分析的基本框架</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rPr>
                  <a:t>能应用该框架对简单算法进行算法时间复杂度分析</a:t>
                </a:r>
              </a:p>
            </p:txBody>
          </p:sp>
        </mc:Choice>
        <mc:Fallback xmlns="">
          <p:sp>
            <p:nvSpPr>
              <p:cNvPr id="4" name="文本框 3"/>
              <p:cNvSpPr txBox="1">
                <a:spLocks noRot="1" noChangeAspect="1" noMove="1" noResize="1" noEditPoints="1" noAdjustHandles="1" noChangeArrowheads="1" noChangeShapeType="1" noTextEdit="1"/>
              </p:cNvSpPr>
              <p:nvPr/>
            </p:nvSpPr>
            <p:spPr>
              <a:xfrm>
                <a:off x="1143956" y="3574767"/>
                <a:ext cx="9904085" cy="2431435"/>
              </a:xfrm>
              <a:prstGeom prst="rect">
                <a:avLst/>
              </a:prstGeom>
              <a:blipFill rotWithShape="1">
                <a:blip r:embed="rId3"/>
                <a:stretch>
                  <a:fillRect l="-3" t="-14" r="3" b="15"/>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a:latin typeface="Arial" panose="020B0604020202020204" pitchFamily="34" charset="0"/>
                <a:ea typeface="楷体" panose="02010609060101010101" pitchFamily="49" charset="-122"/>
                <a:cs typeface="Arial" panose="020B0604020202020204" pitchFamily="34" charset="0"/>
              </a:rPr>
              <a:t>/32</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p:cNvSpPr txBox="1"/>
          <p:nvPr/>
        </p:nvSpPr>
        <p:spPr>
          <a:xfrm>
            <a:off x="1007165" y="3167390"/>
            <a:ext cx="9103862" cy="584775"/>
          </a:xfrm>
          <a:prstGeom prst="rect">
            <a:avLst/>
          </a:prstGeom>
          <a:solidFill>
            <a:schemeClr val="accent4">
              <a:lumMod val="20000"/>
              <a:lumOff val="80000"/>
            </a:schemeClr>
          </a:solidFill>
        </p:spPr>
        <p:txBody>
          <a:bodyPr wrap="square" rtlCol="0">
            <a:spAutoFit/>
          </a:bodyPr>
          <a:lstStyle/>
          <a:p>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7.29</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7.33</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7.39</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第二十三讲  函数增长与算法效率分析</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0ed7b36-b00e-4f20-9bdc-132f71c6afab"/>
  <p:tag name="COMMONDATA" val="eyJoZGlkIjoiM2U4OGRhNmIyZDU4NjBkZGRhNTk5ZGMxZjVlYTc4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4465</Words>
  <Application>Microsoft Office PowerPoint</Application>
  <PresentationFormat>宽屏</PresentationFormat>
  <Paragraphs>391</Paragraphs>
  <Slides>33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等线</vt:lpstr>
      <vt:lpstr>等线 Light</vt:lpstr>
      <vt:lpstr>仿宋</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73</cp:revision>
  <dcterms:created xsi:type="dcterms:W3CDTF">2022-01-01T06:39:00Z</dcterms:created>
  <dcterms:modified xsi:type="dcterms:W3CDTF">2024-11-25T15:54:53Z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B14B29E6B4344BD2BB436A19481C39A3_12</vt:lpwstr>
  </property>
  <property fmtid="{D5CDD505-2E9C-101B-9397-08002B2CF9AE}" pid="3" name="KSOProductBuildVer">
    <vt:lpwstr>2052-11.1.0.14036</vt:lpwstr>
  </property>
</Properties>
</file>