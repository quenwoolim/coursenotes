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314" r:id="rId4"/>
    <p:sldId id="259" r:id="rId5"/>
    <p:sldId id="257" r:id="rId6"/>
    <p:sldId id="281" r:id="rId7"/>
    <p:sldId id="288" r:id="rId8"/>
    <p:sldId id="289" r:id="rId9"/>
    <p:sldId id="282" r:id="rId10"/>
    <p:sldId id="261" r:id="rId11"/>
    <p:sldId id="295" r:id="rId12"/>
    <p:sldId id="296" r:id="rId13"/>
    <p:sldId id="297" r:id="rId14"/>
    <p:sldId id="300" r:id="rId15"/>
    <p:sldId id="299" r:id="rId16"/>
    <p:sldId id="301" r:id="rId17"/>
    <p:sldId id="298" r:id="rId18"/>
    <p:sldId id="305" r:id="rId19"/>
    <p:sldId id="284" r:id="rId20"/>
    <p:sldId id="304" r:id="rId21"/>
    <p:sldId id="306" r:id="rId22"/>
    <p:sldId id="283" r:id="rId23"/>
    <p:sldId id="260" r:id="rId24"/>
    <p:sldId id="285" r:id="rId25"/>
    <p:sldId id="307" r:id="rId26"/>
    <p:sldId id="308" r:id="rId27"/>
    <p:sldId id="309" r:id="rId28"/>
    <p:sldId id="312" r:id="rId29"/>
    <p:sldId id="310" r:id="rId30"/>
    <p:sldId id="311" r:id="rId31"/>
    <p:sldId id="313" r:id="rId32"/>
    <p:sldId id="272" r:id="rId33"/>
    <p:sldId id="280" r:id="rId34"/>
    <p:sldId id="262" r:id="rId35"/>
  </p:sldIdLst>
  <p:sldSz cx="12192000" cy="6858000"/>
  <p:notesSz cx="6858000" cy="9144000"/>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0F7EC"/>
    <a:srgbClr val="FDF2EA"/>
    <a:srgbClr val="EEF5FB"/>
    <a:srgbClr val="FFF2CC"/>
    <a:srgbClr val="FBE5D6"/>
    <a:srgbClr val="210694"/>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6" d="100"/>
          <a:sy n="156" d="100"/>
        </p:scale>
        <p:origin x="444" y="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tags" Target="tags/tag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D257-3BE1-47F0-9688-13EF46E6FAF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9369F-48C0-4C81-8F4C-2D9B5E779A1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jpeg"/><Relationship Id="rId1" Type="http://schemas.openxmlformats.org/officeDocument/2006/relationships/hyperlink" Target="https://mooc1-1.chaoxing.com/course/216273730.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11.png"/><Relationship Id="rId7" Type="http://schemas.openxmlformats.org/officeDocument/2006/relationships/image" Target="../media/image10.png"/><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2" Type="http://schemas.openxmlformats.org/officeDocument/2006/relationships/slideLayout" Target="../slideLayouts/slideLayout1.xml"/><Relationship Id="rId11" Type="http://schemas.openxmlformats.org/officeDocument/2006/relationships/image" Target="../media/image14.png"/><Relationship Id="rId10" Type="http://schemas.openxmlformats.org/officeDocument/2006/relationships/image" Target="../media/image13.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10.xml.rels><?xml version="1.0" encoding="UTF-8" standalone="yes"?>
<Relationships xmlns="http://schemas.openxmlformats.org/package/2006/relationships"><Relationship Id="rId9" Type="http://schemas.openxmlformats.org/officeDocument/2006/relationships/image" Target="../media/image27.png"/><Relationship Id="rId8" Type="http://schemas.openxmlformats.org/officeDocument/2006/relationships/image" Target="../media/image26.png"/><Relationship Id="rId7" Type="http://schemas.openxmlformats.org/officeDocument/2006/relationships/image" Target="../media/image25.png"/><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0" Type="http://schemas.openxmlformats.org/officeDocument/2006/relationships/slideLayout" Target="../slideLayouts/slideLayout1.xml"/><Relationship Id="rId1" Type="http://schemas.openxmlformats.org/officeDocument/2006/relationships/image" Target="../media/image19.pn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5.png"/><Relationship Id="rId7" Type="http://schemas.openxmlformats.org/officeDocument/2006/relationships/image" Target="../media/image34.png"/><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43.png"/><Relationship Id="rId7" Type="http://schemas.openxmlformats.org/officeDocument/2006/relationships/image" Target="../media/image42.png"/><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43.png"/><Relationship Id="rId7" Type="http://schemas.openxmlformats.org/officeDocument/2006/relationships/image" Target="../media/image50.png"/><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43.png"/><Relationship Id="rId7" Type="http://schemas.openxmlformats.org/officeDocument/2006/relationships/image" Target="../media/image50.png"/><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3" Type="http://schemas.openxmlformats.org/officeDocument/2006/relationships/image" Target="../media/image51.png"/><Relationship Id="rId2" Type="http://schemas.openxmlformats.org/officeDocument/2006/relationships/image" Target="../media/image45.png"/><Relationship Id="rId1" Type="http://schemas.openxmlformats.org/officeDocument/2006/relationships/image" Target="../media/image44.png"/></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58.png"/><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2.png"/></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64.png"/><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52.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65.png"/></Relationships>
</file>

<file path=ppt/slides/_rels/slide18.xml.rels><?xml version="1.0" encoding="UTF-8" standalone="yes"?>
<Relationships xmlns="http://schemas.openxmlformats.org/package/2006/relationships"><Relationship Id="rId9" Type="http://schemas.openxmlformats.org/officeDocument/2006/relationships/image" Target="../media/image75.png"/><Relationship Id="rId8" Type="http://schemas.openxmlformats.org/officeDocument/2006/relationships/image" Target="../media/image74.png"/><Relationship Id="rId7" Type="http://schemas.openxmlformats.org/officeDocument/2006/relationships/image" Target="../media/image73.png"/><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 Id="rId3" Type="http://schemas.openxmlformats.org/officeDocument/2006/relationships/image" Target="../media/image66.png"/><Relationship Id="rId2" Type="http://schemas.openxmlformats.org/officeDocument/2006/relationships/image" Target="../media/image69.png"/><Relationship Id="rId10" Type="http://schemas.openxmlformats.org/officeDocument/2006/relationships/slideLayout" Target="../slideLayouts/slideLayout1.xml"/><Relationship Id="rId1" Type="http://schemas.openxmlformats.org/officeDocument/2006/relationships/image" Target="../media/image68.png"/></Relationships>
</file>

<file path=ppt/slides/_rels/slide19.xml.rels><?xml version="1.0" encoding="UTF-8" standalone="yes"?>
<Relationships xmlns="http://schemas.openxmlformats.org/package/2006/relationships"><Relationship Id="rId9" Type="http://schemas.openxmlformats.org/officeDocument/2006/relationships/image" Target="../media/image84.png"/><Relationship Id="rId8" Type="http://schemas.openxmlformats.org/officeDocument/2006/relationships/image" Target="../media/image83.png"/><Relationship Id="rId7" Type="http://schemas.openxmlformats.org/officeDocument/2006/relationships/image" Target="../media/image82.png"/><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 Id="rId3" Type="http://schemas.openxmlformats.org/officeDocument/2006/relationships/image" Target="../media/image78.png"/><Relationship Id="rId2" Type="http://schemas.openxmlformats.org/officeDocument/2006/relationships/image" Target="../media/image77.png"/><Relationship Id="rId16" Type="http://schemas.openxmlformats.org/officeDocument/2006/relationships/slideLayout" Target="../slideLayouts/slideLayout1.xml"/><Relationship Id="rId15" Type="http://schemas.openxmlformats.org/officeDocument/2006/relationships/image" Target="../media/image89.png"/><Relationship Id="rId14" Type="http://schemas.openxmlformats.org/officeDocument/2006/relationships/image" Target="../media/image88.png"/><Relationship Id="rId13" Type="http://schemas.openxmlformats.org/officeDocument/2006/relationships/image" Target="../media/image87.png"/><Relationship Id="rId12" Type="http://schemas.openxmlformats.org/officeDocument/2006/relationships/image" Target="../media/image43.png"/><Relationship Id="rId11" Type="http://schemas.openxmlformats.org/officeDocument/2006/relationships/image" Target="../media/image86.png"/><Relationship Id="rId10" Type="http://schemas.openxmlformats.org/officeDocument/2006/relationships/image" Target="../media/image85.png"/><Relationship Id="rId1" Type="http://schemas.openxmlformats.org/officeDocument/2006/relationships/image" Target="../media/image76.png"/></Relationships>
</file>

<file path=ppt/slides/_rels/slide20.xml.rels><?xml version="1.0" encoding="UTF-8" standalone="yes"?>
<Relationships xmlns="http://schemas.openxmlformats.org/package/2006/relationships"><Relationship Id="rId9" Type="http://schemas.openxmlformats.org/officeDocument/2006/relationships/image" Target="../media/image98.png"/><Relationship Id="rId8" Type="http://schemas.openxmlformats.org/officeDocument/2006/relationships/image" Target="../media/image97.png"/><Relationship Id="rId7" Type="http://schemas.openxmlformats.org/officeDocument/2006/relationships/image" Target="../media/image96.png"/><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 Id="rId3" Type="http://schemas.openxmlformats.org/officeDocument/2006/relationships/image" Target="../media/image92.png"/><Relationship Id="rId2" Type="http://schemas.openxmlformats.org/officeDocument/2006/relationships/image" Target="../media/image91.png"/><Relationship Id="rId15" Type="http://schemas.openxmlformats.org/officeDocument/2006/relationships/slideLayout" Target="../slideLayouts/slideLayout1.xml"/><Relationship Id="rId14" Type="http://schemas.openxmlformats.org/officeDocument/2006/relationships/image" Target="../media/image103.png"/><Relationship Id="rId13" Type="http://schemas.openxmlformats.org/officeDocument/2006/relationships/image" Target="../media/image102.png"/><Relationship Id="rId12" Type="http://schemas.openxmlformats.org/officeDocument/2006/relationships/image" Target="../media/image101.png"/><Relationship Id="rId11" Type="http://schemas.openxmlformats.org/officeDocument/2006/relationships/image" Target="../media/image100.png"/><Relationship Id="rId10" Type="http://schemas.openxmlformats.org/officeDocument/2006/relationships/image" Target="../media/image99.png"/><Relationship Id="rId1" Type="http://schemas.openxmlformats.org/officeDocument/2006/relationships/image" Target="../media/image9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image" Target="../media/image10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7.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image" Target="../media/image108.emf"/></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2.png"/><Relationship Id="rId1" Type="http://schemas.openxmlformats.org/officeDocument/2006/relationships/image" Target="../media/image111.png"/></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16.png"/><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image" Target="../media/image113.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8.png"/><Relationship Id="rId1" Type="http://schemas.openxmlformats.org/officeDocument/2006/relationships/image" Target="../media/image117.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5.png"/><Relationship Id="rId2" Type="http://schemas.openxmlformats.org/officeDocument/2006/relationships/image" Target="../media/image118.png"/><Relationship Id="rId1" Type="http://schemas.openxmlformats.org/officeDocument/2006/relationships/image" Target="../media/image117.png"/></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23.png"/><Relationship Id="rId4" Type="http://schemas.openxmlformats.org/officeDocument/2006/relationships/image" Target="../media/image122.png"/><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image" Target="../media/image119.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5.png"/><Relationship Id="rId1" Type="http://schemas.openxmlformats.org/officeDocument/2006/relationships/image" Target="../media/image1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2" name="矩形: 圆角 11"/>
          <p:cNvSpPr/>
          <p:nvPr/>
        </p:nvSpPr>
        <p:spPr>
          <a:xfrm>
            <a:off x="1405812" y="1185233"/>
            <a:ext cx="9393993" cy="889686"/>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a:latin typeface="仿宋" panose="02010609060101010101" pitchFamily="49" charset="-122"/>
                <a:ea typeface="仿宋" panose="02010609060101010101" pitchFamily="49" charset="-122"/>
              </a:rPr>
              <a:t>第二十八讲</a:t>
            </a:r>
            <a:r>
              <a:rPr lang="en-US" altLang="zh-CN" sz="4800" b="1">
                <a:latin typeface="仿宋" panose="02010609060101010101" pitchFamily="49" charset="-122"/>
                <a:ea typeface="仿宋" panose="02010609060101010101" pitchFamily="49" charset="-122"/>
              </a:rPr>
              <a:t>	</a:t>
            </a:r>
            <a:r>
              <a:rPr lang="zh-CN" altLang="en-US" sz="4800" b="1">
                <a:latin typeface="仿宋" panose="02010609060101010101" pitchFamily="49" charset="-122"/>
                <a:ea typeface="仿宋" panose="02010609060101010101" pitchFamily="49" charset="-122"/>
              </a:rPr>
              <a:t>递推关系式求解</a:t>
            </a:r>
            <a:endParaRPr lang="zh-CN" altLang="en-US" sz="4800" b="1">
              <a:latin typeface="仿宋" panose="02010609060101010101" pitchFamily="49" charset="-122"/>
              <a:ea typeface="仿宋" panose="02010609060101010101" pitchFamily="49" charset="-122"/>
            </a:endParaRPr>
          </a:p>
        </p:txBody>
      </p:sp>
      <p:sp>
        <p:nvSpPr>
          <p:cNvPr id="13" name="文本框 12"/>
          <p:cNvSpPr txBox="1"/>
          <p:nvPr/>
        </p:nvSpPr>
        <p:spPr>
          <a:xfrm>
            <a:off x="4372231" y="2549433"/>
            <a:ext cx="3447535" cy="707886"/>
          </a:xfrm>
          <a:prstGeom prst="rect">
            <a:avLst/>
          </a:prstGeom>
          <a:noFill/>
        </p:spPr>
        <p:txBody>
          <a:bodyPr wrap="square" rtlCol="0">
            <a:spAutoFit/>
          </a:bodyPr>
          <a:lstStyle/>
          <a:p>
            <a:pPr algn="ctr"/>
            <a:r>
              <a:rPr lang="zh-CN" altLang="en-US" sz="4000" dirty="0">
                <a:solidFill>
                  <a:srgbClr val="210694"/>
                </a:solidFill>
                <a:latin typeface="楷体" panose="02010609060101010101" pitchFamily="49" charset="-122"/>
                <a:ea typeface="楷体" panose="02010609060101010101" pitchFamily="49" charset="-122"/>
              </a:rPr>
              <a:t>李绿周</a:t>
            </a:r>
            <a:endParaRPr lang="zh-CN" altLang="en-US" sz="4000" dirty="0">
              <a:solidFill>
                <a:srgbClr val="210694"/>
              </a:solidFill>
              <a:latin typeface="楷体" panose="02010609060101010101" pitchFamily="49" charset="-122"/>
              <a:ea typeface="楷体" panose="02010609060101010101" pitchFamily="49" charset="-122"/>
            </a:endParaRPr>
          </a:p>
        </p:txBody>
      </p:sp>
      <p:sp>
        <p:nvSpPr>
          <p:cNvPr id="14" name="文本框 13"/>
          <p:cNvSpPr txBox="1"/>
          <p:nvPr/>
        </p:nvSpPr>
        <p:spPr>
          <a:xfrm>
            <a:off x="3608174" y="3600682"/>
            <a:ext cx="5177481" cy="584775"/>
          </a:xfrm>
          <a:prstGeom prst="rect">
            <a:avLst/>
          </a:prstGeom>
          <a:noFill/>
        </p:spPr>
        <p:txBody>
          <a:bodyPr wrap="square" rtlCol="0">
            <a:spAutoFit/>
          </a:bodyPr>
          <a:lstStyle/>
          <a:p>
            <a:pPr algn="ctr"/>
            <a:r>
              <a:rPr lang="zh-CN" altLang="en-US" sz="3200" b="1">
                <a:solidFill>
                  <a:schemeClr val="accent6">
                    <a:lumMod val="50000"/>
                  </a:schemeClr>
                </a:solidFill>
                <a:latin typeface="仿宋" panose="02010609060101010101" pitchFamily="49" charset="-122"/>
                <a:ea typeface="仿宋" panose="02010609060101010101" pitchFamily="49" charset="-122"/>
              </a:rPr>
              <a:t>中山大学计算机学院</a:t>
            </a:r>
            <a:endParaRPr lang="zh-CN" altLang="en-US" sz="3200" b="1">
              <a:solidFill>
                <a:schemeClr val="accent6">
                  <a:lumMod val="50000"/>
                </a:schemeClr>
              </a:solidFill>
              <a:latin typeface="仿宋" panose="02010609060101010101" pitchFamily="49" charset="-122"/>
              <a:ea typeface="仿宋" panose="02010609060101010101" pitchFamily="49" charset="-122"/>
            </a:endParaRPr>
          </a:p>
        </p:txBody>
      </p:sp>
      <p:sp>
        <p:nvSpPr>
          <p:cNvPr id="15" name="文本框 14"/>
          <p:cNvSpPr txBox="1"/>
          <p:nvPr/>
        </p:nvSpPr>
        <p:spPr>
          <a:xfrm>
            <a:off x="4843849" y="4559643"/>
            <a:ext cx="2866767" cy="461665"/>
          </a:xfrm>
          <a:prstGeom prst="rect">
            <a:avLst/>
          </a:prstGeom>
          <a:noFill/>
        </p:spPr>
        <p:txBody>
          <a:bodyPr wrap="square" rtlCol="0">
            <a:spAutoFit/>
          </a:bodyPr>
          <a:lstStyle/>
          <a:p>
            <a:pPr algn="ct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12</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endPar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endParaRPr>
          </a:p>
        </p:txBody>
      </p:sp>
      <p:sp>
        <p:nvSpPr>
          <p:cNvPr id="16" name="文本框 15"/>
          <p:cNvSpPr txBox="1"/>
          <p:nvPr/>
        </p:nvSpPr>
        <p:spPr>
          <a:xfrm>
            <a:off x="1705232" y="5288692"/>
            <a:ext cx="9094573" cy="830997"/>
          </a:xfrm>
          <a:prstGeom prst="rect">
            <a:avLst/>
          </a:prstGeom>
          <a:noFill/>
        </p:spPr>
        <p:txBody>
          <a:bodyPr wrap="square" rtlCol="0">
            <a:spAutoFit/>
          </a:bodyPr>
          <a:lstStyle/>
          <a:p>
            <a:pPr algn="ctr"/>
            <a:r>
              <a:rPr lang="en-US" altLang="zh-CN" sz="2400" dirty="0">
                <a:solidFill>
                  <a:srgbClr val="FF0000"/>
                </a:solidFill>
                <a:hlinkClick r:id="rId1"/>
              </a:rPr>
              <a:t>https://mooc1-1.chaoxing.com/course/216273730.html</a:t>
            </a:r>
            <a:endParaRPr lang="en-US" altLang="zh-CN" sz="2400" dirty="0">
              <a:solidFill>
                <a:srgbClr val="FF0000"/>
              </a:solidFill>
            </a:endParaRPr>
          </a:p>
          <a:p>
            <a:pPr algn="ctr"/>
            <a:r>
              <a:rPr lang="en-US" altLang="zh-CN" sz="2400" dirty="0">
                <a:solidFill>
                  <a:srgbClr val="FF0000"/>
                </a:solidFill>
              </a:rPr>
              <a:t>lilvzh@mail.sysu.edu.cn</a:t>
            </a:r>
            <a:endParaRPr lang="zh-CN" altLang="en-US" sz="2400" dirty="0">
              <a:solidFill>
                <a:srgbClr val="FF0000"/>
              </a:solidFill>
            </a:endParaRPr>
          </a:p>
        </p:txBody>
      </p:sp>
      <p:pic>
        <p:nvPicPr>
          <p:cNvPr id="17" name="图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5649" y="3112777"/>
            <a:ext cx="1766582" cy="15605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提示</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学习目标与学习重点</a:t>
            </a:r>
            <a:endParaRPr lang="zh-CN" altLang="en-US"/>
          </a:p>
        </p:txBody>
      </p:sp>
      <p:sp>
        <p:nvSpPr>
          <p:cNvPr id="11" name="文本框 10"/>
          <p:cNvSpPr txBox="1"/>
          <p:nvPr/>
        </p:nvSpPr>
        <p:spPr>
          <a:xfrm>
            <a:off x="1381995" y="1652374"/>
            <a:ext cx="9428008" cy="1785104"/>
          </a:xfrm>
          <a:prstGeom prst="rect">
            <a:avLst/>
          </a:prstGeom>
          <a:solidFill>
            <a:schemeClr val="accent2">
              <a:lumMod val="20000"/>
              <a:lumOff val="80000"/>
              <a:alpha val="60000"/>
            </a:schemeClr>
          </a:solidFill>
        </p:spPr>
        <p:txBody>
          <a:bodyPr wrap="square" rtlCol="0">
            <a:spAutoFit/>
          </a:bodyPr>
          <a:lstStyle/>
          <a:p>
            <a:pPr algn="ctr">
              <a:lnSpc>
                <a:spcPts val="3200"/>
              </a:lnSpc>
              <a:spcBef>
                <a:spcPts val="1200"/>
              </a:spcBef>
              <a:spcAft>
                <a:spcPts val="600"/>
              </a:spcAft>
            </a:pPr>
            <a:r>
              <a:rPr lang="zh-CN" altLang="en-US" sz="3200" b="1">
                <a:solidFill>
                  <a:srgbClr val="C00000"/>
                </a:solidFill>
                <a:latin typeface="楷体" panose="02010609060101010101" pitchFamily="49" charset="-122"/>
                <a:ea typeface="楷体" panose="02010609060101010101" pitchFamily="49" charset="-122"/>
              </a:rPr>
              <a:t>学习目标</a:t>
            </a:r>
            <a:endParaRPr lang="zh-CN" altLang="en-US" sz="3200" b="1">
              <a:solidFill>
                <a:srgbClr val="C00000"/>
              </a:solidFill>
              <a:latin typeface="楷体" panose="02010609060101010101" pitchFamily="49" charset="-122"/>
              <a:ea typeface="楷体" panose="02010609060101010101" pitchFamily="49" charset="-122"/>
            </a:endParaRPr>
          </a:p>
          <a:p>
            <a:pPr marL="342900" indent="-342900">
              <a:lnSpc>
                <a:spcPts val="3200"/>
              </a:lnSpc>
              <a:spcBef>
                <a:spcPts val="1200"/>
              </a:spcBef>
              <a:spcAft>
                <a:spcPts val="600"/>
              </a:spcAft>
              <a:buFont typeface="Arial" panose="020B0604020202020204" pitchFamily="34" charset="0"/>
              <a:buChar char="•"/>
            </a:pPr>
            <a:r>
              <a:rPr lang="zh-CN" altLang="en-US" sz="2800" b="1">
                <a:solidFill>
                  <a:srgbClr val="002060"/>
                </a:solidFill>
                <a:latin typeface="+mn-ea"/>
              </a:rPr>
              <a:t>能基于已知结果求解线性齐次和非齐次递推关系式</a:t>
            </a:r>
            <a:endParaRPr lang="en-US" altLang="zh-CN" sz="2800" b="1">
              <a:solidFill>
                <a:srgbClr val="002060"/>
              </a:solidFill>
              <a:latin typeface="+mn-ea"/>
            </a:endParaRPr>
          </a:p>
          <a:p>
            <a:pPr marL="342900" indent="-342900">
              <a:lnSpc>
                <a:spcPts val="3200"/>
              </a:lnSpc>
              <a:spcBef>
                <a:spcPts val="1200"/>
              </a:spcBef>
              <a:spcAft>
                <a:spcPts val="600"/>
              </a:spcAft>
              <a:buFont typeface="Arial" panose="020B0604020202020204" pitchFamily="34" charset="0"/>
              <a:buChar char="•"/>
            </a:pPr>
            <a:r>
              <a:rPr lang="zh-CN" altLang="en-US" sz="2800" b="1">
                <a:solidFill>
                  <a:srgbClr val="002060"/>
                </a:solidFill>
                <a:latin typeface="+mn-ea"/>
              </a:rPr>
              <a:t>能基于主定理对递归算法的效率进行建模与分析</a:t>
            </a:r>
            <a:endParaRPr lang="zh-CN" altLang="en-US" sz="2400" b="1">
              <a:solidFill>
                <a:srgbClr val="002060"/>
              </a:solidFill>
              <a:latin typeface="+mn-ea"/>
            </a:endParaRPr>
          </a:p>
        </p:txBody>
      </p:sp>
      <p:sp>
        <p:nvSpPr>
          <p:cNvPr id="12" name="文本框 11"/>
          <p:cNvSpPr txBox="1"/>
          <p:nvPr/>
        </p:nvSpPr>
        <p:spPr>
          <a:xfrm>
            <a:off x="1381995" y="3926680"/>
            <a:ext cx="9428008" cy="1785104"/>
          </a:xfrm>
          <a:prstGeom prst="rect">
            <a:avLst/>
          </a:prstGeom>
          <a:solidFill>
            <a:schemeClr val="accent4">
              <a:lumMod val="20000"/>
              <a:lumOff val="80000"/>
              <a:alpha val="60000"/>
            </a:schemeClr>
          </a:solidFill>
        </p:spPr>
        <p:txBody>
          <a:bodyPr wrap="square" rtlCol="0">
            <a:spAutoFit/>
          </a:bodyPr>
          <a:lstStyle/>
          <a:p>
            <a:pPr algn="ctr">
              <a:lnSpc>
                <a:spcPts val="3200"/>
              </a:lnSpc>
              <a:spcBef>
                <a:spcPts val="1200"/>
              </a:spcBef>
              <a:spcAft>
                <a:spcPts val="600"/>
              </a:spcAft>
            </a:pPr>
            <a:r>
              <a:rPr lang="zh-CN" altLang="en-US" sz="3200" b="1">
                <a:solidFill>
                  <a:srgbClr val="C00000"/>
                </a:solidFill>
                <a:latin typeface="楷体" panose="02010609060101010101" pitchFamily="49" charset="-122"/>
                <a:ea typeface="楷体" panose="02010609060101010101" pitchFamily="49" charset="-122"/>
              </a:rPr>
              <a:t>学习重点</a:t>
            </a:r>
            <a:endParaRPr lang="zh-CN" altLang="en-US" sz="3200" b="1">
              <a:solidFill>
                <a:srgbClr val="C00000"/>
              </a:solidFill>
              <a:latin typeface="楷体" panose="02010609060101010101" pitchFamily="49" charset="-122"/>
              <a:ea typeface="楷体" panose="02010609060101010101" pitchFamily="49" charset="-122"/>
            </a:endParaRPr>
          </a:p>
          <a:p>
            <a:pPr marL="342900" indent="-342900">
              <a:lnSpc>
                <a:spcPts val="3200"/>
              </a:lnSpc>
              <a:spcBef>
                <a:spcPts val="1200"/>
              </a:spcBef>
              <a:spcAft>
                <a:spcPts val="600"/>
              </a:spcAft>
              <a:buFont typeface="Arial" panose="020B0604020202020204" pitchFamily="34" charset="0"/>
              <a:buChar char="•"/>
            </a:pPr>
            <a:r>
              <a:rPr lang="zh-CN" altLang="en-US" sz="2800" b="1">
                <a:solidFill>
                  <a:schemeClr val="accent6">
                    <a:lumMod val="50000"/>
                  </a:schemeClr>
                </a:solidFill>
                <a:latin typeface="+mn-ea"/>
              </a:rPr>
              <a:t>如何求解线性递推关系式？</a:t>
            </a:r>
            <a:endParaRPr lang="en-US" altLang="zh-CN" sz="2800" b="1">
              <a:solidFill>
                <a:schemeClr val="accent6">
                  <a:lumMod val="50000"/>
                </a:schemeClr>
              </a:solidFill>
              <a:latin typeface="+mn-ea"/>
            </a:endParaRPr>
          </a:p>
          <a:p>
            <a:pPr marL="342900" indent="-342900">
              <a:lnSpc>
                <a:spcPts val="3200"/>
              </a:lnSpc>
              <a:spcBef>
                <a:spcPts val="1200"/>
              </a:spcBef>
              <a:spcAft>
                <a:spcPts val="600"/>
              </a:spcAft>
              <a:buFont typeface="Arial" panose="020B0604020202020204" pitchFamily="34" charset="0"/>
              <a:buChar char="•"/>
            </a:pPr>
            <a:r>
              <a:rPr lang="zh-CN" altLang="en-US" sz="2800" b="1">
                <a:solidFill>
                  <a:schemeClr val="accent6">
                    <a:lumMod val="50000"/>
                  </a:schemeClr>
                </a:solidFill>
                <a:latin typeface="+mn-ea"/>
              </a:rPr>
              <a:t>如何运用主定理分析递归算法的效率？</a:t>
            </a:r>
            <a:endParaRPr lang="en-US" altLang="zh-CN" sz="2800" b="1">
              <a:solidFill>
                <a:schemeClr val="accent6">
                  <a:lumMod val="50000"/>
                </a:schemeClr>
              </a:solidFill>
              <a:latin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endParaRPr lang="zh-CN" altLang="en-US"/>
          </a:p>
        </p:txBody>
      </p:sp>
      <p:sp>
        <p:nvSpPr>
          <p:cNvPr id="2" name="文本框 1"/>
          <p:cNvSpPr txBox="1"/>
          <p:nvPr/>
        </p:nvSpPr>
        <p:spPr>
          <a:xfrm>
            <a:off x="1107232" y="1494143"/>
            <a:ext cx="5299788" cy="3547125"/>
          </a:xfrm>
          <a:prstGeom prst="rect">
            <a:avLst/>
          </a:prstGeom>
          <a:noFill/>
        </p:spPr>
        <p:txBody>
          <a:bodyPr wrap="square" rtlCol="0">
            <a:spAutoFit/>
          </a:bodyPr>
          <a:lstStyle/>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递推关系式建模回顾</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线性递推关系式求解</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分治算法与递推关系式</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计数问题的递推关系式建模</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递推关系式建模计数问题</a:t>
            </a:r>
            <a:endParaRPr lang="zh-CN" altLang="en-US"/>
          </a:p>
        </p:txBody>
      </p:sp>
      <p:sp>
        <p:nvSpPr>
          <p:cNvPr id="2" name="文本框 1"/>
          <p:cNvSpPr txBox="1"/>
          <p:nvPr/>
        </p:nvSpPr>
        <p:spPr>
          <a:xfrm>
            <a:off x="1255177" y="1533879"/>
            <a:ext cx="10041084" cy="1585049"/>
          </a:xfrm>
          <a:prstGeom prst="rect">
            <a:avLst/>
          </a:prstGeom>
          <a:solidFill>
            <a:schemeClr val="accent5">
              <a:lumMod val="20000"/>
              <a:lumOff val="80000"/>
              <a:alpha val="50000"/>
            </a:schemeClr>
          </a:solidFill>
        </p:spPr>
        <p:txBody>
          <a:bodyPr wrap="square" rtlCol="0">
            <a:spAutoFit/>
          </a:bodyPr>
          <a:lstStyle/>
          <a:p>
            <a:pPr>
              <a:spcBef>
                <a:spcPts val="600"/>
              </a:spcBef>
              <a:spcAft>
                <a:spcPts val="900"/>
              </a:spcAft>
            </a:pPr>
            <a:r>
              <a:rPr lang="zh-CN" altLang="en-US" sz="2400" b="1">
                <a:solidFill>
                  <a:srgbClr val="002060"/>
                </a:solidFill>
                <a:latin typeface="楷体" panose="02010609060101010101" pitchFamily="49" charset="-122"/>
                <a:ea typeface="楷体" panose="02010609060101010101" pitchFamily="49" charset="-122"/>
              </a:rPr>
              <a:t>许多计数问题都有类似“</a:t>
            </a:r>
            <a:r>
              <a:rPr lang="zh-CN" altLang="en-US" sz="2400" b="1">
                <a:solidFill>
                  <a:srgbClr val="C00000"/>
                </a:solidFill>
                <a:latin typeface="等线" panose="02010600030101010101" pitchFamily="2" charset="-122"/>
                <a:ea typeface="等线" panose="02010600030101010101" pitchFamily="2" charset="-122"/>
              </a:rPr>
              <a:t>规模</a:t>
            </a:r>
            <a:r>
              <a:rPr lang="zh-CN" altLang="en-US" sz="2400" b="1">
                <a:solidFill>
                  <a:srgbClr val="002060"/>
                </a:solidFill>
                <a:latin typeface="楷体" panose="02010609060101010101" pitchFamily="49" charset="-122"/>
                <a:ea typeface="楷体" panose="02010609060101010101" pitchFamily="49" charset="-122"/>
              </a:rPr>
              <a:t>”的参数，不同的规模计数结果不同</a:t>
            </a:r>
            <a:endParaRPr lang="zh-CN" altLang="en-US" sz="24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900"/>
              </a:spcAft>
              <a:buFont typeface="Arial" panose="020B0604020202020204" pitchFamily="34" charset="0"/>
              <a:buChar char="•"/>
            </a:pPr>
            <a:r>
              <a:rPr lang="zh-CN" altLang="en-US" sz="2400" b="1">
                <a:solidFill>
                  <a:schemeClr val="accent6">
                    <a:lumMod val="50000"/>
                  </a:schemeClr>
                </a:solidFill>
                <a:latin typeface="等线" panose="02010600030101010101" pitchFamily="2" charset="-122"/>
                <a:ea typeface="等线" panose="02010600030101010101" pitchFamily="2" charset="-122"/>
              </a:rPr>
              <a:t>各种字符串的计数问题，字符串的长度就是这种参数</a:t>
            </a:r>
            <a:endParaRPr lang="zh-CN" altLang="en-US" sz="2400" b="1">
              <a:solidFill>
                <a:schemeClr val="accent6">
                  <a:lumMod val="50000"/>
                </a:schemeClr>
              </a:solidFill>
              <a:latin typeface="等线" panose="02010600030101010101" pitchFamily="2" charset="-122"/>
              <a:ea typeface="等线" panose="02010600030101010101" pitchFamily="2" charset="-122"/>
            </a:endParaRPr>
          </a:p>
          <a:p>
            <a:pPr marL="342900" indent="-342900">
              <a:spcBef>
                <a:spcPts val="600"/>
              </a:spcBef>
              <a:spcAft>
                <a:spcPts val="900"/>
              </a:spcAft>
              <a:buFont typeface="Arial" panose="020B0604020202020204" pitchFamily="34" charset="0"/>
              <a:buChar char="•"/>
            </a:pPr>
            <a:r>
              <a:rPr lang="zh-CN" altLang="en-US" sz="2400" b="1">
                <a:solidFill>
                  <a:schemeClr val="accent6">
                    <a:lumMod val="50000"/>
                  </a:schemeClr>
                </a:solidFill>
                <a:latin typeface="等线" panose="02010600030101010101" pitchFamily="2" charset="-122"/>
                <a:ea typeface="等线" panose="02010600030101010101" pitchFamily="2" charset="-122"/>
              </a:rPr>
              <a:t>算法效率分析中对算法基本操作执行次数的计算时，输入规模也是参数</a:t>
            </a:r>
            <a:endParaRPr lang="zh-CN" altLang="en-US" sz="2400" b="1">
              <a:solidFill>
                <a:schemeClr val="accent6">
                  <a:lumMod val="50000"/>
                </a:schemeClr>
              </a:solidFill>
              <a:latin typeface="等线" panose="02010600030101010101" pitchFamily="2" charset="-122"/>
              <a:ea typeface="等线" panose="02010600030101010101" pitchFamily="2" charset="-122"/>
            </a:endParaRPr>
          </a:p>
        </p:txBody>
      </p:sp>
      <p:sp>
        <p:nvSpPr>
          <p:cNvPr id="3" name="文本框 2"/>
          <p:cNvSpPr txBox="1"/>
          <p:nvPr/>
        </p:nvSpPr>
        <p:spPr>
          <a:xfrm>
            <a:off x="1255177" y="3483090"/>
            <a:ext cx="8485982" cy="2146742"/>
          </a:xfrm>
          <a:prstGeom prst="rect">
            <a:avLst/>
          </a:prstGeom>
          <a:solidFill>
            <a:schemeClr val="accent5">
              <a:lumMod val="20000"/>
              <a:lumOff val="80000"/>
              <a:alpha val="50000"/>
            </a:schemeClr>
          </a:solidFill>
        </p:spPr>
        <p:txBody>
          <a:bodyPr wrap="square" rtlCol="0">
            <a:spAutoFit/>
          </a:bodyPr>
          <a:lstStyle/>
          <a:p>
            <a:pPr>
              <a:spcBef>
                <a:spcPts val="600"/>
              </a:spcBef>
              <a:spcAft>
                <a:spcPts val="900"/>
              </a:spcAft>
            </a:pPr>
            <a:r>
              <a:rPr lang="zh-CN" altLang="en-US" sz="2400" b="1">
                <a:solidFill>
                  <a:srgbClr val="002060"/>
                </a:solidFill>
                <a:latin typeface="楷体" panose="02010609060101010101" pitchFamily="49" charset="-122"/>
                <a:ea typeface="楷体" panose="02010609060101010101" pitchFamily="49" charset="-122"/>
              </a:rPr>
              <a:t>对于这类与某个规模参数有关的计数问题</a:t>
            </a:r>
            <a:endParaRPr lang="zh-CN" altLang="en-US" sz="24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900"/>
              </a:spcAft>
              <a:buFont typeface="Arial" panose="020B0604020202020204" pitchFamily="34" charset="0"/>
              <a:buChar char="•"/>
            </a:pPr>
            <a:r>
              <a:rPr lang="zh-CN" altLang="en-US" sz="2400" b="1">
                <a:solidFill>
                  <a:schemeClr val="accent6">
                    <a:lumMod val="50000"/>
                  </a:schemeClr>
                </a:solidFill>
                <a:latin typeface="等线" panose="02010600030101010101" pitchFamily="2" charset="-122"/>
                <a:ea typeface="等线" panose="02010600030101010101" pitchFamily="2" charset="-122"/>
              </a:rPr>
              <a:t>一种求解的方法就是建立不同规模问题之间的</a:t>
            </a:r>
            <a:r>
              <a:rPr lang="zh-CN" altLang="en-US" sz="2400" b="1">
                <a:solidFill>
                  <a:srgbClr val="C00000"/>
                </a:solidFill>
                <a:latin typeface="等线" panose="02010600030101010101" pitchFamily="2" charset="-122"/>
                <a:ea typeface="等线" panose="02010600030101010101" pitchFamily="2" charset="-122"/>
              </a:rPr>
              <a:t>递推关系式</a:t>
            </a:r>
            <a:endParaRPr lang="zh-CN" altLang="en-US" sz="2400" b="1">
              <a:solidFill>
                <a:srgbClr val="C00000"/>
              </a:solidFill>
              <a:latin typeface="等线" panose="02010600030101010101" pitchFamily="2" charset="-122"/>
              <a:ea typeface="等线" panose="02010600030101010101" pitchFamily="2" charset="-122"/>
            </a:endParaRPr>
          </a:p>
          <a:p>
            <a:pPr marL="342900" indent="-342900">
              <a:spcBef>
                <a:spcPts val="600"/>
              </a:spcBef>
              <a:spcAft>
                <a:spcPts val="900"/>
              </a:spcAft>
              <a:buFont typeface="Arial" panose="020B0604020202020204" pitchFamily="34" charset="0"/>
              <a:buChar char="•"/>
            </a:pPr>
            <a:r>
              <a:rPr lang="zh-CN" altLang="en-US" sz="2400" b="1">
                <a:solidFill>
                  <a:schemeClr val="accent6">
                    <a:lumMod val="50000"/>
                  </a:schemeClr>
                </a:solidFill>
                <a:latin typeface="等线" panose="02010600030101010101" pitchFamily="2" charset="-122"/>
                <a:ea typeface="等线" panose="02010600030101010101" pitchFamily="2" charset="-122"/>
              </a:rPr>
              <a:t>这样即使不能求解递推关系式，也可获得问题解的许多性质</a:t>
            </a:r>
            <a:endParaRPr lang="zh-CN" altLang="en-US" sz="2400" b="1">
              <a:solidFill>
                <a:schemeClr val="accent6">
                  <a:lumMod val="50000"/>
                </a:schemeClr>
              </a:solidFill>
              <a:latin typeface="等线" panose="02010600030101010101" pitchFamily="2" charset="-122"/>
              <a:ea typeface="等线" panose="02010600030101010101" pitchFamily="2" charset="-122"/>
            </a:endParaRPr>
          </a:p>
          <a:p>
            <a:pPr marL="342900" indent="-342900">
              <a:spcBef>
                <a:spcPts val="600"/>
              </a:spcBef>
              <a:spcAft>
                <a:spcPts val="900"/>
              </a:spcAft>
              <a:buFont typeface="Arial" panose="020B0604020202020204" pitchFamily="34" charset="0"/>
              <a:buChar char="•"/>
            </a:pPr>
            <a:r>
              <a:rPr lang="zh-CN" altLang="en-US" sz="2400" b="1">
                <a:solidFill>
                  <a:schemeClr val="accent6">
                    <a:lumMod val="50000"/>
                  </a:schemeClr>
                </a:solidFill>
                <a:latin typeface="等线" panose="02010600030101010101" pitchFamily="2" charset="-122"/>
                <a:ea typeface="等线" panose="02010600030101010101" pitchFamily="2" charset="-122"/>
              </a:rPr>
              <a:t>并可以编写计算机程序计算某个给定规模的问题的计数结果</a:t>
            </a:r>
            <a:endParaRPr lang="zh-CN" altLang="en-US" sz="2400" b="1">
              <a:solidFill>
                <a:schemeClr val="accent6">
                  <a:lumMod val="50000"/>
                </a:schemeClr>
              </a:solidFill>
              <a:latin typeface="等线" panose="02010600030101010101" pitchFamily="2" charset="-122"/>
              <a:ea typeface="等线"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计数问题的递推关系式建模</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递推关系式的定义</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1047882" y="1322340"/>
                <a:ext cx="10096229" cy="2454518"/>
              </a:xfrm>
              <a:prstGeom prst="rect">
                <a:avLst/>
              </a:prstGeom>
              <a:solidFill>
                <a:schemeClr val="accent2">
                  <a:lumMod val="20000"/>
                  <a:lumOff val="80000"/>
                  <a:alpha val="25000"/>
                </a:schemeClr>
              </a:solidFill>
            </p:spPr>
            <p:txBody>
              <a:bodyPr wrap="square" rtlCol="0">
                <a:spAutoFit/>
              </a:bodyPr>
              <a:lstStyle/>
              <a:p>
                <a:pPr algn="ctr">
                  <a:spcBef>
                    <a:spcPts val="600"/>
                  </a:spcBef>
                  <a:spcAft>
                    <a:spcPts val="300"/>
                  </a:spcAft>
                </a:pPr>
                <a:r>
                  <a:rPr lang="zh-CN" altLang="en-US" sz="2400" b="1">
                    <a:solidFill>
                      <a:schemeClr val="accent2">
                        <a:lumMod val="50000"/>
                      </a:schemeClr>
                    </a:solidFill>
                  </a:rPr>
                  <a:t>序列</a:t>
                </a:r>
                <a:r>
                  <a:rPr lang="en-US" altLang="zh-CN" sz="2400" b="1">
                    <a:solidFill>
                      <a:schemeClr val="accent2">
                        <a:lumMod val="50000"/>
                      </a:schemeClr>
                    </a:solidFill>
                  </a:rPr>
                  <a:t>(sequence)</a:t>
                </a:r>
                <a:r>
                  <a:rPr lang="zh-CN" altLang="en-US" sz="2400" b="1">
                    <a:solidFill>
                      <a:schemeClr val="accent2">
                        <a:lumMod val="50000"/>
                      </a:schemeClr>
                    </a:solidFill>
                  </a:rPr>
                  <a:t>和数列</a:t>
                </a:r>
                <a:r>
                  <a:rPr lang="en-US" altLang="zh-CN" sz="2400" b="1">
                    <a:solidFill>
                      <a:schemeClr val="accent2">
                        <a:lumMod val="50000"/>
                      </a:schemeClr>
                    </a:solidFill>
                  </a:rPr>
                  <a:t>(progresson</a:t>
                </a:r>
                <a:r>
                  <a:rPr lang="zh-CN" altLang="en-US" sz="2400" b="1">
                    <a:solidFill>
                      <a:schemeClr val="accent2">
                        <a:lumMod val="50000"/>
                      </a:schemeClr>
                    </a:solidFill>
                  </a:rPr>
                  <a:t>或</a:t>
                </a:r>
                <a:r>
                  <a:rPr lang="en-US" altLang="zh-CN" sz="2400" b="1">
                    <a:solidFill>
                      <a:schemeClr val="accent2">
                        <a:lumMod val="50000"/>
                      </a:schemeClr>
                    </a:solidFill>
                  </a:rPr>
                  <a:t>series)</a:t>
                </a:r>
                <a:endParaRPr lang="en-US" altLang="zh-CN" sz="2400" b="1">
                  <a:solidFill>
                    <a:schemeClr val="accent2">
                      <a:lumMod val="50000"/>
                    </a:schemeClr>
                  </a:solidFill>
                </a:endParaRPr>
              </a:p>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集合</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latin typeface="楷体" panose="02010609060101010101" pitchFamily="49" charset="-122"/>
                    <a:ea typeface="楷体" panose="02010609060101010101" pitchFamily="49" charset="-122"/>
                  </a:rPr>
                  <a:t>上的</a:t>
                </a:r>
                <a:r>
                  <a:rPr lang="zh-CN" altLang="en-US" sz="2000" b="1">
                    <a:solidFill>
                      <a:srgbClr val="C00000"/>
                    </a:solidFill>
                    <a:latin typeface="+mn-ea"/>
                  </a:rPr>
                  <a:t>序列</a:t>
                </a:r>
                <a:r>
                  <a:rPr lang="zh-CN" altLang="en-US" sz="2000" b="1">
                    <a:solidFill>
                      <a:srgbClr val="002060"/>
                    </a:solidFill>
                    <a:latin typeface="楷体" panose="02010609060101010101" pitchFamily="49" charset="-122"/>
                    <a:ea typeface="楷体" panose="02010609060101010101" pitchFamily="49" charset="-122"/>
                  </a:rPr>
                  <a:t>是一个定义域为自然数集（或正整数集）的函数</a:t>
                </a:r>
                <a14:m>
                  <m:oMath xmlns:m="http://schemas.openxmlformats.org/officeDocument/2006/math">
                    <m:r>
                      <a:rPr lang="en-US" altLang="zh-CN" sz="2000" b="1" i="1" smtClean="0">
                        <a:solidFill>
                          <a:srgbClr val="002060"/>
                        </a:solidFill>
                        <a:latin typeface="Cambria Math" panose="02040503050406030204" pitchFamily="18" charset="0"/>
                      </a:rPr>
                      <m:t>𝒇</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ℕ</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𝑨</m:t>
                    </m:r>
                  </m:oMath>
                </a14:m>
                <a:endParaRPr lang="en-US" altLang="zh-CN" sz="2000" b="1">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300"/>
                  </a:spcAft>
                  <a:buFont typeface="Arial" panose="020B0604020202020204" pitchFamily="34" charset="0"/>
                  <a:buChar char="•"/>
                </a:pPr>
                <a:r>
                  <a:rPr lang="zh-CN" altLang="en-US" b="1">
                    <a:solidFill>
                      <a:schemeClr val="accent6">
                        <a:lumMod val="50000"/>
                      </a:schemeClr>
                    </a:solidFill>
                  </a:rPr>
                  <a:t>如果</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𝑨</m:t>
                    </m:r>
                  </m:oMath>
                </a14:m>
                <a:r>
                  <a:rPr lang="zh-CN" altLang="en-US" b="1">
                    <a:solidFill>
                      <a:schemeClr val="accent6">
                        <a:lumMod val="50000"/>
                      </a:schemeClr>
                    </a:solidFill>
                  </a:rPr>
                  <a:t>也是整数集或实数集等，则序列也称为</a:t>
                </a:r>
                <a:r>
                  <a:rPr lang="zh-CN" altLang="en-US" b="1">
                    <a:solidFill>
                      <a:srgbClr val="C00000"/>
                    </a:solidFill>
                  </a:rPr>
                  <a:t>数列</a:t>
                </a:r>
                <a:endParaRPr lang="en-US" altLang="zh-CN" b="1">
                  <a:solidFill>
                    <a:srgbClr val="C00000"/>
                  </a:solidFill>
                </a:endParaRPr>
              </a:p>
              <a:p>
                <a:pPr marL="285750" indent="-285750">
                  <a:spcBef>
                    <a:spcPts val="600"/>
                  </a:spcBef>
                  <a:spcAft>
                    <a:spcPts val="300"/>
                  </a:spcAft>
                  <a:buFont typeface="Arial" panose="020B0604020202020204" pitchFamily="34" charset="0"/>
                  <a:buChar char="•"/>
                </a:pPr>
                <a:r>
                  <a:rPr lang="zh-CN" altLang="en-US" b="1">
                    <a:solidFill>
                      <a:schemeClr val="accent6">
                        <a:lumMod val="50000"/>
                      </a:schemeClr>
                    </a:solidFill>
                  </a:rPr>
                  <a:t>通常将</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𝒇</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𝒊</m:t>
                        </m:r>
                      </m:e>
                    </m:d>
                  </m:oMath>
                </a14:m>
                <a:r>
                  <a:rPr lang="zh-CN" altLang="en-US" b="1">
                    <a:solidFill>
                      <a:schemeClr val="accent6">
                        <a:lumMod val="50000"/>
                      </a:schemeClr>
                    </a:solidFill>
                  </a:rPr>
                  <a:t>记为</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𝒂</m:t>
                        </m:r>
                      </m:e>
                      <m:sub>
                        <m:r>
                          <a:rPr lang="en-US" altLang="zh-CN" b="1" i="1" smtClean="0">
                            <a:solidFill>
                              <a:schemeClr val="accent6">
                                <a:lumMod val="50000"/>
                              </a:schemeClr>
                            </a:solidFill>
                            <a:latin typeface="Cambria Math" panose="02040503050406030204" pitchFamily="18" charset="0"/>
                          </a:rPr>
                          <m:t>𝒊</m:t>
                        </m:r>
                      </m:sub>
                    </m:sSub>
                  </m:oMath>
                </a14:m>
                <a:r>
                  <a:rPr lang="zh-CN" altLang="en-US" b="1">
                    <a:solidFill>
                      <a:schemeClr val="accent6">
                        <a:lumMod val="50000"/>
                      </a:schemeClr>
                    </a:solidFill>
                  </a:rPr>
                  <a:t>，而将整个序列简记为</a:t>
                </a:r>
                <a14:m>
                  <m:oMath xmlns:m="http://schemas.openxmlformats.org/officeDocument/2006/math">
                    <m:r>
                      <m:rPr>
                        <m:lit/>
                      </m:rPr>
                      <a:rPr lang="en-US" altLang="zh-CN" b="1" i="1" smtClean="0">
                        <a:solidFill>
                          <a:schemeClr val="accent6">
                            <a:lumMod val="50000"/>
                          </a:schemeClr>
                        </a:solidFill>
                        <a:latin typeface="Cambria Math" panose="02040503050406030204" pitchFamily="18" charset="0"/>
                      </a:rPr>
                      <m:t>{</m:t>
                    </m:r>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𝒂</m:t>
                        </m:r>
                      </m:e>
                      <m:sub>
                        <m:r>
                          <a:rPr lang="en-US" altLang="zh-CN" b="1" i="1" smtClean="0">
                            <a:solidFill>
                              <a:schemeClr val="accent6">
                                <a:lumMod val="50000"/>
                              </a:schemeClr>
                            </a:solidFill>
                            <a:latin typeface="Cambria Math" panose="02040503050406030204" pitchFamily="18" charset="0"/>
                          </a:rPr>
                          <m:t>𝒏</m:t>
                        </m:r>
                      </m:sub>
                    </m:sSub>
                    <m:r>
                      <m:rPr>
                        <m:lit/>
                      </m:rP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rPr>
                  <a:t>，</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𝒂</m:t>
                        </m:r>
                      </m:e>
                      <m:sub>
                        <m:r>
                          <a:rPr lang="en-US" altLang="zh-CN" b="1" i="1" smtClean="0">
                            <a:solidFill>
                              <a:schemeClr val="accent6">
                                <a:lumMod val="50000"/>
                              </a:schemeClr>
                            </a:solidFill>
                            <a:latin typeface="Cambria Math" panose="02040503050406030204" pitchFamily="18" charset="0"/>
                          </a:rPr>
                          <m:t>𝒊</m:t>
                        </m:r>
                      </m:sub>
                    </m:sSub>
                  </m:oMath>
                </a14:m>
                <a:r>
                  <a:rPr lang="zh-CN" altLang="en-US" b="1">
                    <a:solidFill>
                      <a:schemeClr val="accent6">
                        <a:lumMod val="50000"/>
                      </a:schemeClr>
                    </a:solidFill>
                  </a:rPr>
                  <a:t>称为序列</a:t>
                </a:r>
                <a14:m>
                  <m:oMath xmlns:m="http://schemas.openxmlformats.org/officeDocument/2006/math">
                    <m:r>
                      <m:rPr>
                        <m:lit/>
                      </m:rPr>
                      <a:rPr lang="en-US" altLang="zh-CN" b="1" i="1" smtClean="0">
                        <a:solidFill>
                          <a:schemeClr val="accent6">
                            <a:lumMod val="50000"/>
                          </a:schemeClr>
                        </a:solidFill>
                        <a:latin typeface="Cambria Math" panose="02040503050406030204" pitchFamily="18" charset="0"/>
                      </a:rPr>
                      <m:t>{</m:t>
                    </m:r>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𝒂</m:t>
                        </m:r>
                      </m:e>
                      <m:sub>
                        <m:r>
                          <a:rPr lang="en-US" altLang="zh-CN" b="1" i="1" smtClean="0">
                            <a:solidFill>
                              <a:schemeClr val="accent6">
                                <a:lumMod val="50000"/>
                              </a:schemeClr>
                            </a:solidFill>
                            <a:latin typeface="Cambria Math" panose="02040503050406030204" pitchFamily="18" charset="0"/>
                          </a:rPr>
                          <m:t>𝒏</m:t>
                        </m:r>
                      </m:sub>
                    </m:sSub>
                    <m:r>
                      <m:rPr>
                        <m:lit/>
                      </m:rP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rPr>
                  <a:t>的第</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𝒊</m:t>
                    </m:r>
                  </m:oMath>
                </a14:m>
                <a:r>
                  <a:rPr lang="zh-CN" altLang="en-US" b="1">
                    <a:solidFill>
                      <a:schemeClr val="accent6">
                        <a:lumMod val="50000"/>
                      </a:schemeClr>
                    </a:solidFill>
                  </a:rPr>
                  <a:t>项</a:t>
                </a:r>
                <a:r>
                  <a:rPr lang="en-US" altLang="zh-CN" b="1">
                    <a:solidFill>
                      <a:schemeClr val="accent6">
                        <a:lumMod val="50000"/>
                      </a:schemeClr>
                    </a:solidFill>
                  </a:rPr>
                  <a:t>(term)</a:t>
                </a:r>
                <a:endParaRPr lang="en-US" altLang="zh-CN" b="1">
                  <a:solidFill>
                    <a:schemeClr val="accent6">
                      <a:lumMod val="50000"/>
                    </a:schemeClr>
                  </a:solidFill>
                </a:endParaRPr>
              </a:p>
              <a:p>
                <a:pPr marL="742950" lvl="1" indent="-285750">
                  <a:spcBef>
                    <a:spcPts val="600"/>
                  </a:spcBef>
                  <a:spcAft>
                    <a:spcPts val="300"/>
                  </a:spcAft>
                  <a:buFont typeface="Arial" panose="020B0604020202020204" pitchFamily="34" charset="0"/>
                  <a:buChar char="•"/>
                </a:pPr>
                <a:r>
                  <a:rPr lang="zh-CN" altLang="en-US" b="1">
                    <a:solidFill>
                      <a:schemeClr val="accent6">
                        <a:lumMod val="50000"/>
                      </a:schemeClr>
                    </a:solidFill>
                  </a:rPr>
                  <a:t>如果没有特别说明，序列的下标都从</a:t>
                </a:r>
                <a:r>
                  <a:rPr lang="en-US" altLang="zh-CN" b="1">
                    <a:solidFill>
                      <a:schemeClr val="accent6">
                        <a:lumMod val="50000"/>
                      </a:schemeClr>
                    </a:solidFill>
                  </a:rPr>
                  <a:t>0</a:t>
                </a:r>
                <a:r>
                  <a:rPr lang="zh-CN" altLang="en-US" b="1">
                    <a:solidFill>
                      <a:schemeClr val="accent6">
                        <a:lumMod val="50000"/>
                      </a:schemeClr>
                    </a:solidFill>
                  </a:rPr>
                  <a:t>开始</a:t>
                </a:r>
                <a:endParaRPr lang="zh-CN" altLang="en-US" b="1">
                  <a:solidFill>
                    <a:schemeClr val="accent6">
                      <a:lumMod val="50000"/>
                    </a:schemeClr>
                  </a:solidFill>
                </a:endParaRPr>
              </a:p>
              <a:p>
                <a:pPr marL="285750" indent="-285750">
                  <a:spcBef>
                    <a:spcPts val="600"/>
                  </a:spcBef>
                  <a:spcAft>
                    <a:spcPts val="300"/>
                  </a:spcAft>
                  <a:buFont typeface="Arial" panose="020B0604020202020204" pitchFamily="34" charset="0"/>
                  <a:buChar char="•"/>
                </a:pPr>
                <a:r>
                  <a:rPr lang="zh-CN" altLang="en-US" b="1">
                    <a:solidFill>
                      <a:schemeClr val="accent6">
                        <a:lumMod val="50000"/>
                      </a:schemeClr>
                    </a:solidFill>
                  </a:rPr>
                  <a:t>常使用 “</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𝒂</m:t>
                        </m:r>
                      </m:e>
                      <m:sub>
                        <m:r>
                          <a:rPr lang="en-US" altLang="zh-CN" b="1" i="1" smtClean="0">
                            <a:solidFill>
                              <a:schemeClr val="accent6">
                                <a:lumMod val="50000"/>
                              </a:schemeClr>
                            </a:solidFill>
                            <a:latin typeface="Cambria Math" panose="02040503050406030204" pitchFamily="18" charset="0"/>
                          </a:rPr>
                          <m:t>𝒏</m:t>
                        </m:r>
                      </m:sub>
                    </m:sSub>
                    <m:r>
                      <a:rPr lang="en-US" altLang="zh-CN" b="1" i="1" smtClean="0">
                        <a:solidFill>
                          <a:schemeClr val="accent6">
                            <a:lumMod val="50000"/>
                          </a:schemeClr>
                        </a:solidFill>
                        <a:latin typeface="Cambria Math" panose="02040503050406030204" pitchFamily="18" charset="0"/>
                      </a:rPr>
                      <m:t>= </m:t>
                    </m:r>
                  </m:oMath>
                </a14:m>
                <a:r>
                  <a:rPr lang="zh-CN" altLang="en-US" b="1">
                    <a:solidFill>
                      <a:schemeClr val="accent6">
                        <a:lumMod val="50000"/>
                      </a:schemeClr>
                    </a:solidFill>
                  </a:rPr>
                  <a:t>表达式”的方式给出序列，这个表达式称为序列的</a:t>
                </a:r>
                <a:r>
                  <a:rPr lang="zh-CN" altLang="en-US" b="1">
                    <a:solidFill>
                      <a:srgbClr val="C00000"/>
                    </a:solidFill>
                  </a:rPr>
                  <a:t>通项公式</a:t>
                </a:r>
                <a:r>
                  <a:rPr lang="en-US" altLang="zh-CN" b="1">
                    <a:solidFill>
                      <a:schemeClr val="accent6">
                        <a:lumMod val="50000"/>
                      </a:schemeClr>
                    </a:solidFill>
                  </a:rPr>
                  <a:t>(general item formula)</a:t>
                </a:r>
                <a:endParaRPr lang="en-US" altLang="zh-CN" b="1">
                  <a:solidFill>
                    <a:schemeClr val="accent6">
                      <a:lumMod val="50000"/>
                    </a:schemeClr>
                  </a:solidFill>
                </a:endParaRPr>
              </a:p>
            </p:txBody>
          </p:sp>
        </mc:Choice>
        <mc:Fallback>
          <p:sp>
            <p:nvSpPr>
              <p:cNvPr id="2" name="文本框 1"/>
              <p:cNvSpPr txBox="1">
                <a:spLocks noRot="1" noChangeAspect="1" noMove="1" noResize="1" noEditPoints="1" noAdjustHandles="1" noChangeArrowheads="1" noChangeShapeType="1" noTextEdit="1"/>
              </p:cNvSpPr>
              <p:nvPr/>
            </p:nvSpPr>
            <p:spPr>
              <a:xfrm>
                <a:off x="1047882" y="1322340"/>
                <a:ext cx="10096229" cy="2454518"/>
              </a:xfrm>
              <a:prstGeom prst="rect">
                <a:avLst/>
              </a:prstGeom>
              <a:blipFill rotWithShape="1">
                <a:blip r:embed="rId1"/>
                <a:stretch>
                  <a:fillRect l="-1" t="-11" r="5" b="2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1152315" y="3951292"/>
                <a:ext cx="9887361" cy="2037866"/>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300"/>
                  </a:spcAft>
                </a:pPr>
                <a:r>
                  <a:rPr lang="zh-CN" altLang="en-US" sz="2400" b="1">
                    <a:solidFill>
                      <a:schemeClr val="accent2">
                        <a:lumMod val="50000"/>
                      </a:schemeClr>
                    </a:solidFill>
                  </a:rPr>
                  <a:t>递推关系式</a:t>
                </a:r>
                <a:r>
                  <a:rPr lang="en-US" altLang="zh-CN" sz="2400" b="1">
                    <a:solidFill>
                      <a:schemeClr val="accent2">
                        <a:lumMod val="50000"/>
                      </a:schemeClr>
                    </a:solidFill>
                  </a:rPr>
                  <a:t>(recurrence relation)</a:t>
                </a:r>
                <a:endParaRPr lang="en-US" altLang="zh-CN" sz="2400" b="1">
                  <a:solidFill>
                    <a:schemeClr val="accent2">
                      <a:lumMod val="50000"/>
                    </a:schemeClr>
                  </a:solidFill>
                </a:endParaRPr>
              </a:p>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序列</a:t>
                </a:r>
                <a14:m>
                  <m:oMath xmlns:m="http://schemas.openxmlformats.org/officeDocument/2006/math">
                    <m:r>
                      <m:rPr>
                        <m:lit/>
                      </m:rPr>
                      <a:rPr lang="en-US" altLang="zh-CN" sz="2000" b="1">
                        <a:solidFill>
                          <a:srgbClr val="002060"/>
                        </a:solidFill>
                        <a:latin typeface="Cambria Math" panose="02040503050406030204" pitchFamily="18" charset="0"/>
                        <a:ea typeface="楷体" panose="02010609060101010101" pitchFamily="49" charset="-122"/>
                      </a:rPr>
                      <m:t>{</m:t>
                    </m:r>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a:solidFill>
                              <a:srgbClr val="002060"/>
                            </a:solidFill>
                            <a:latin typeface="Cambria Math" panose="02040503050406030204" pitchFamily="18" charset="0"/>
                            <a:ea typeface="楷体" panose="02010609060101010101" pitchFamily="49" charset="-122"/>
                          </a:rPr>
                          <m:t>𝒂</m:t>
                        </m:r>
                      </m:e>
                      <m:sub>
                        <m:r>
                          <a:rPr lang="en-US" altLang="zh-CN" sz="2000" b="1">
                            <a:solidFill>
                              <a:srgbClr val="002060"/>
                            </a:solidFill>
                            <a:latin typeface="Cambria Math" panose="02040503050406030204" pitchFamily="18" charset="0"/>
                            <a:ea typeface="楷体" panose="02010609060101010101" pitchFamily="49" charset="-122"/>
                          </a:rPr>
                          <m:t>𝒏</m:t>
                        </m:r>
                      </m:sub>
                    </m:sSub>
                    <m:r>
                      <m:rPr>
                        <m:lit/>
                      </m:rPr>
                      <a:rPr lang="en-US" altLang="zh-CN" sz="2000" b="1">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的</a:t>
                </a:r>
                <a:r>
                  <a:rPr lang="zh-CN" altLang="en-US" sz="2000" b="1">
                    <a:solidFill>
                      <a:srgbClr val="C00000"/>
                    </a:solidFill>
                    <a:latin typeface="+mn-ea"/>
                  </a:rPr>
                  <a:t>递推关系式</a:t>
                </a:r>
                <a:r>
                  <a:rPr lang="zh-CN" altLang="en-US" sz="2000" b="1">
                    <a:solidFill>
                      <a:srgbClr val="002060"/>
                    </a:solidFill>
                    <a:latin typeface="楷体" panose="02010609060101010101" pitchFamily="49" charset="-122"/>
                    <a:ea typeface="楷体" panose="02010609060101010101" pitchFamily="49" charset="-122"/>
                  </a:rPr>
                  <a:t>是用序列中某些前面的项</a:t>
                </a:r>
                <a14:m>
                  <m:oMath xmlns:m="http://schemas.openxmlformats.org/officeDocument/2006/math">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a:solidFill>
                              <a:srgbClr val="002060"/>
                            </a:solidFill>
                            <a:latin typeface="Cambria Math" panose="02040503050406030204" pitchFamily="18" charset="0"/>
                            <a:ea typeface="楷体" panose="02010609060101010101" pitchFamily="49" charset="-122"/>
                          </a:rPr>
                          <m:t>𝒂</m:t>
                        </m:r>
                      </m:e>
                      <m:sub>
                        <m:r>
                          <a:rPr lang="en-US" altLang="zh-CN" sz="2000" b="1">
                            <a:solidFill>
                              <a:srgbClr val="002060"/>
                            </a:solidFill>
                            <a:latin typeface="Cambria Math" panose="02040503050406030204" pitchFamily="18" charset="0"/>
                            <a:ea typeface="楷体" panose="02010609060101010101" pitchFamily="49" charset="-122"/>
                          </a:rPr>
                          <m:t>𝒊</m:t>
                        </m:r>
                      </m:sub>
                    </m:sSub>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a:solidFill>
                          <a:srgbClr val="002060"/>
                        </a:solidFill>
                        <a:latin typeface="Cambria Math" panose="02040503050406030204" pitchFamily="18" charset="0"/>
                        <a:ea typeface="楷体" panose="02010609060101010101" pitchFamily="49" charset="-122"/>
                      </a:rPr>
                      <m:t>𝟎</m:t>
                    </m:r>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a:solidFill>
                          <a:srgbClr val="002060"/>
                        </a:solidFill>
                        <a:latin typeface="Cambria Math" panose="02040503050406030204" pitchFamily="18" charset="0"/>
                        <a:ea typeface="楷体" panose="02010609060101010101" pitchFamily="49" charset="-122"/>
                      </a:rPr>
                      <m:t>𝒊</m:t>
                    </m:r>
                    <m:r>
                      <a:rPr lang="en-US" altLang="zh-CN" sz="2000" b="1">
                        <a:solidFill>
                          <a:srgbClr val="002060"/>
                        </a:solidFill>
                        <a:latin typeface="Cambria Math" panose="02040503050406030204" pitchFamily="18" charset="0"/>
                        <a:ea typeface="楷体" panose="02010609060101010101" pitchFamily="49" charset="-122"/>
                      </a:rPr>
                      <m:t> &lt; </m:t>
                    </m:r>
                    <m:r>
                      <a:rPr lang="en-US" altLang="zh-CN" sz="2000" b="1">
                        <a:solidFill>
                          <a:srgbClr val="002060"/>
                        </a:solidFill>
                        <a:latin typeface="Cambria Math" panose="02040503050406030204" pitchFamily="18" charset="0"/>
                        <a:ea typeface="楷体" panose="02010609060101010101" pitchFamily="49" charset="-122"/>
                      </a:rPr>
                      <m:t>𝒏</m:t>
                    </m:r>
                    <m:r>
                      <a:rPr lang="en-US" altLang="zh-CN" sz="2000" b="1">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表示第</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𝒏</m:t>
                    </m:r>
                  </m:oMath>
                </a14:m>
                <a:r>
                  <a:rPr lang="zh-CN" altLang="en-US" sz="2000" b="1">
                    <a:solidFill>
                      <a:srgbClr val="002060"/>
                    </a:solidFill>
                    <a:latin typeface="楷体" panose="02010609060101010101" pitchFamily="49" charset="-122"/>
                    <a:ea typeface="楷体" panose="02010609060101010101" pitchFamily="49" charset="-122"/>
                  </a:rPr>
                  <a:t>项</a:t>
                </a:r>
                <a14:m>
                  <m:oMath xmlns:m="http://schemas.openxmlformats.org/officeDocument/2006/math">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a:solidFill>
                              <a:srgbClr val="002060"/>
                            </a:solidFill>
                            <a:latin typeface="Cambria Math" panose="02040503050406030204" pitchFamily="18" charset="0"/>
                            <a:ea typeface="楷体" panose="02010609060101010101" pitchFamily="49" charset="-122"/>
                          </a:rPr>
                          <m:t>𝒂</m:t>
                        </m:r>
                      </m:e>
                      <m:sub>
                        <m:r>
                          <a:rPr lang="en-US" altLang="zh-CN" sz="2000" b="1">
                            <a:solidFill>
                              <a:srgbClr val="002060"/>
                            </a:solidFill>
                            <a:latin typeface="Cambria Math" panose="02040503050406030204" pitchFamily="18" charset="0"/>
                            <a:ea typeface="楷体" panose="02010609060101010101" pitchFamily="49" charset="-122"/>
                          </a:rPr>
                          <m:t>𝒏</m:t>
                        </m:r>
                      </m:sub>
                    </m:sSub>
                  </m:oMath>
                </a14:m>
                <a:r>
                  <a:rPr lang="zh-CN" altLang="en-US" sz="2000" b="1">
                    <a:solidFill>
                      <a:srgbClr val="002060"/>
                    </a:solidFill>
                    <a:latin typeface="楷体" panose="02010609060101010101" pitchFamily="49" charset="-122"/>
                    <a:ea typeface="楷体" panose="02010609060101010101" pitchFamily="49" charset="-122"/>
                  </a:rPr>
                  <a:t>的等式</a:t>
                </a:r>
                <a:endParaRPr lang="zh-CN" altLang="en-US" sz="20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300"/>
                  </a:spcAft>
                  <a:buFont typeface="Arial" panose="020B0604020202020204" pitchFamily="34" charset="0"/>
                  <a:buChar char="•"/>
                </a:pPr>
                <a:r>
                  <a:rPr lang="zh-CN" altLang="en-US" b="1">
                    <a:solidFill>
                      <a:schemeClr val="accent6">
                        <a:lumMod val="50000"/>
                      </a:schemeClr>
                    </a:solidFill>
                  </a:rPr>
                  <a:t>如果序列</a:t>
                </a:r>
                <a14:m>
                  <m:oMath xmlns:m="http://schemas.openxmlformats.org/officeDocument/2006/math">
                    <m:r>
                      <m:rPr>
                        <m:lit/>
                      </m:rPr>
                      <a:rPr lang="en-US" altLang="zh-CN" b="1">
                        <a:solidFill>
                          <a:schemeClr val="accent6">
                            <a:lumMod val="50000"/>
                          </a:schemeClr>
                        </a:solidFill>
                        <a:latin typeface="Cambria Math" panose="02040503050406030204" pitchFamily="18" charset="0"/>
                      </a:rPr>
                      <m:t>{</m:t>
                    </m:r>
                    <m:sSub>
                      <m:sSubPr>
                        <m:ctrlPr>
                          <a:rPr lang="en-US" altLang="zh-CN" b="1" i="1">
                            <a:solidFill>
                              <a:schemeClr val="accent6">
                                <a:lumMod val="50000"/>
                              </a:schemeClr>
                            </a:solidFill>
                            <a:latin typeface="Cambria Math" panose="02040503050406030204" pitchFamily="18" charset="0"/>
                          </a:rPr>
                        </m:ctrlPr>
                      </m:sSubPr>
                      <m:e>
                        <m:r>
                          <a:rPr lang="en-US" altLang="zh-CN" b="1">
                            <a:solidFill>
                              <a:schemeClr val="accent6">
                                <a:lumMod val="50000"/>
                              </a:schemeClr>
                            </a:solidFill>
                            <a:latin typeface="Cambria Math" panose="02040503050406030204" pitchFamily="18" charset="0"/>
                          </a:rPr>
                          <m:t>𝒂</m:t>
                        </m:r>
                      </m:e>
                      <m:sub>
                        <m:r>
                          <a:rPr lang="en-US" altLang="zh-CN" b="1">
                            <a:solidFill>
                              <a:schemeClr val="accent6">
                                <a:lumMod val="50000"/>
                              </a:schemeClr>
                            </a:solidFill>
                            <a:latin typeface="Cambria Math" panose="02040503050406030204" pitchFamily="18" charset="0"/>
                          </a:rPr>
                          <m:t>𝒏</m:t>
                        </m:r>
                      </m:sub>
                    </m:sSub>
                    <m:r>
                      <m:rPr>
                        <m:lit/>
                      </m:rPr>
                      <a:rPr lang="en-US" altLang="zh-CN" b="1">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rPr>
                  <a:t>满足递推关系式，则称这个序列为该递推关系式的</a:t>
                </a:r>
                <a:r>
                  <a:rPr lang="zh-CN" altLang="en-US" b="1">
                    <a:solidFill>
                      <a:srgbClr val="C00000"/>
                    </a:solidFill>
                  </a:rPr>
                  <a:t>解</a:t>
                </a:r>
                <a:r>
                  <a:rPr lang="en-US" altLang="zh-CN" b="1">
                    <a:solidFill>
                      <a:schemeClr val="accent6">
                        <a:lumMod val="50000"/>
                      </a:schemeClr>
                    </a:solidFill>
                  </a:rPr>
                  <a:t>(solution)</a:t>
                </a:r>
                <a:endParaRPr lang="en-US" altLang="zh-CN" b="1">
                  <a:solidFill>
                    <a:schemeClr val="accent6">
                      <a:lumMod val="50000"/>
                    </a:schemeClr>
                  </a:solidFill>
                </a:endParaRPr>
              </a:p>
              <a:p>
                <a:pPr marL="342900" indent="-342900">
                  <a:lnSpc>
                    <a:spcPts val="2600"/>
                  </a:lnSpc>
                  <a:spcBef>
                    <a:spcPts val="600"/>
                  </a:spcBef>
                  <a:spcAft>
                    <a:spcPts val="300"/>
                  </a:spcAft>
                  <a:buFont typeface="Arial" panose="020B0604020202020204" pitchFamily="34" charset="0"/>
                  <a:buChar char="•"/>
                </a:pPr>
                <a:r>
                  <a:rPr lang="zh-CN" altLang="en-US" b="1">
                    <a:solidFill>
                      <a:schemeClr val="accent6">
                        <a:lumMod val="50000"/>
                      </a:schemeClr>
                    </a:solidFill>
                  </a:rPr>
                  <a:t>如果递推关系式的解序列</a:t>
                </a:r>
                <a14:m>
                  <m:oMath xmlns:m="http://schemas.openxmlformats.org/officeDocument/2006/math">
                    <m:r>
                      <m:rPr>
                        <m:lit/>
                      </m:rPr>
                      <a:rPr lang="en-US" altLang="zh-CN" b="1">
                        <a:solidFill>
                          <a:schemeClr val="accent6">
                            <a:lumMod val="50000"/>
                          </a:schemeClr>
                        </a:solidFill>
                        <a:latin typeface="Cambria Math" panose="02040503050406030204" pitchFamily="18" charset="0"/>
                      </a:rPr>
                      <m:t>{</m:t>
                    </m:r>
                    <m:sSub>
                      <m:sSubPr>
                        <m:ctrlPr>
                          <a:rPr lang="en-US" altLang="zh-CN" b="1" i="1">
                            <a:solidFill>
                              <a:schemeClr val="accent6">
                                <a:lumMod val="50000"/>
                              </a:schemeClr>
                            </a:solidFill>
                            <a:latin typeface="Cambria Math" panose="02040503050406030204" pitchFamily="18" charset="0"/>
                          </a:rPr>
                        </m:ctrlPr>
                      </m:sSubPr>
                      <m:e>
                        <m:r>
                          <a:rPr lang="en-US" altLang="zh-CN" b="1">
                            <a:solidFill>
                              <a:schemeClr val="accent6">
                                <a:lumMod val="50000"/>
                              </a:schemeClr>
                            </a:solidFill>
                            <a:latin typeface="Cambria Math" panose="02040503050406030204" pitchFamily="18" charset="0"/>
                          </a:rPr>
                          <m:t>𝒂</m:t>
                        </m:r>
                      </m:e>
                      <m:sub>
                        <m:r>
                          <a:rPr lang="en-US" altLang="zh-CN" b="1">
                            <a:solidFill>
                              <a:schemeClr val="accent6">
                                <a:lumMod val="50000"/>
                              </a:schemeClr>
                            </a:solidFill>
                            <a:latin typeface="Cambria Math" panose="02040503050406030204" pitchFamily="18" charset="0"/>
                          </a:rPr>
                          <m:t>𝒏</m:t>
                        </m:r>
                      </m:sub>
                    </m:sSub>
                    <m:r>
                      <m:rPr>
                        <m:lit/>
                      </m:rPr>
                      <a:rPr lang="en-US" altLang="zh-CN" b="1">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rPr>
                  <a:t>的第</a:t>
                </a:r>
                <a14:m>
                  <m:oMath xmlns:m="http://schemas.openxmlformats.org/officeDocument/2006/math">
                    <m:r>
                      <a:rPr lang="en-US" altLang="zh-CN" b="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项能使用不含序列中任意项的公式表达，则这个公式称为递推关系式的</a:t>
                </a:r>
                <a:r>
                  <a:rPr lang="zh-CN" altLang="en-US" b="1">
                    <a:solidFill>
                      <a:srgbClr val="C00000"/>
                    </a:solidFill>
                  </a:rPr>
                  <a:t>封闭公式解</a:t>
                </a:r>
                <a:r>
                  <a:rPr lang="en-US" altLang="zh-CN" b="1">
                    <a:solidFill>
                      <a:schemeClr val="accent6">
                        <a:lumMod val="50000"/>
                      </a:schemeClr>
                    </a:solidFill>
                  </a:rPr>
                  <a:t>(closed formula solution)</a:t>
                </a:r>
                <a:endParaRPr lang="en-US" altLang="zh-CN" b="1">
                  <a:solidFill>
                    <a:schemeClr val="accent6">
                      <a:lumMod val="50000"/>
                    </a:schemeClr>
                  </a:solidFill>
                </a:endParaRPr>
              </a:p>
            </p:txBody>
          </p:sp>
        </mc:Choice>
        <mc:Fallback>
          <p:sp>
            <p:nvSpPr>
              <p:cNvPr id="3" name="文本框 2"/>
              <p:cNvSpPr txBox="1">
                <a:spLocks noRot="1" noChangeAspect="1" noMove="1" noResize="1" noEditPoints="1" noAdjustHandles="1" noChangeArrowheads="1" noChangeShapeType="1" noTextEdit="1"/>
              </p:cNvSpPr>
              <p:nvPr/>
            </p:nvSpPr>
            <p:spPr>
              <a:xfrm>
                <a:off x="1152315" y="3951292"/>
                <a:ext cx="9887361" cy="2037866"/>
              </a:xfrm>
              <a:prstGeom prst="rect">
                <a:avLst/>
              </a:prstGeom>
              <a:blipFill rotWithShape="1">
                <a:blip r:embed="rId2"/>
                <a:stretch>
                  <a:fillRect l="-4" t="-16" r="2" b="2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计数问题的递推关系式建模</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递推关系式建模计数问题举例</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632624" y="1213443"/>
                <a:ext cx="7302756" cy="400110"/>
              </a:xfrm>
              <a:prstGeom prst="rect">
                <a:avLst/>
              </a:prstGeom>
              <a:solidFill>
                <a:schemeClr val="accent6">
                  <a:lumMod val="20000"/>
                  <a:lumOff val="80000"/>
                  <a:alpha val="5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长度为</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𝒏</m:t>
                    </m:r>
                  </m:oMath>
                </a14:m>
                <a:r>
                  <a:rPr lang="zh-CN" altLang="en-US" sz="2000" b="1">
                    <a:solidFill>
                      <a:srgbClr val="002060"/>
                    </a:solidFill>
                    <a:latin typeface="楷体" panose="02010609060101010101" pitchFamily="49" charset="-122"/>
                    <a:ea typeface="楷体" panose="02010609060101010101" pitchFamily="49" charset="-122"/>
                  </a:rPr>
                  <a:t>含有连续两个</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𝟎</m:t>
                    </m:r>
                  </m:oMath>
                </a14:m>
                <a:r>
                  <a:rPr lang="zh-CN" altLang="en-US" sz="2000" b="1">
                    <a:solidFill>
                      <a:srgbClr val="002060"/>
                    </a:solidFill>
                    <a:latin typeface="楷体" panose="02010609060101010101" pitchFamily="49" charset="-122"/>
                    <a:ea typeface="楷体" panose="02010609060101010101" pitchFamily="49" charset="-122"/>
                  </a:rPr>
                  <a:t>或含有连续两个</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𝟏</m:t>
                    </m:r>
                  </m:oMath>
                </a14:m>
                <a:r>
                  <a:rPr lang="zh-CN" altLang="en-US" sz="2000" b="1">
                    <a:solidFill>
                      <a:srgbClr val="002060"/>
                    </a:solidFill>
                    <a:latin typeface="楷体" panose="02010609060101010101" pitchFamily="49" charset="-122"/>
                    <a:ea typeface="楷体" panose="02010609060101010101" pitchFamily="49" charset="-122"/>
                  </a:rPr>
                  <a:t>的三进制串有多少个？</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632624" y="1213443"/>
                <a:ext cx="7302756" cy="400110"/>
              </a:xfrm>
              <a:prstGeom prst="rect">
                <a:avLst/>
              </a:prstGeom>
              <a:blipFill rotWithShape="1">
                <a:blip r:embed="rId1"/>
                <a:stretch>
                  <a:fillRect l="-2" t="-148" r="6" b="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8435174" y="1090332"/>
                <a:ext cx="2841328" cy="64633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将含有连续两个</a:t>
                </a:r>
                <a:r>
                  <a:rPr lang="en-US" altLang="zh-CN" b="1">
                    <a:solidFill>
                      <a:schemeClr val="accent2">
                        <a:lumMod val="50000"/>
                      </a:schemeClr>
                    </a:solidFill>
                  </a:rPr>
                  <a:t>0</a:t>
                </a:r>
                <a:r>
                  <a:rPr lang="zh-CN" altLang="en-US" b="1">
                    <a:solidFill>
                      <a:schemeClr val="accent2">
                        <a:lumMod val="50000"/>
                      </a:schemeClr>
                    </a:solidFill>
                  </a:rPr>
                  <a:t>或含有连续两个</a:t>
                </a:r>
                <a:r>
                  <a:rPr lang="en-US" altLang="zh-CN" b="1">
                    <a:solidFill>
                      <a:schemeClr val="accent2">
                        <a:lumMod val="50000"/>
                      </a:schemeClr>
                    </a:solidFill>
                  </a:rPr>
                  <a:t>1</a:t>
                </a:r>
                <a:r>
                  <a:rPr lang="zh-CN" altLang="en-US" b="1">
                    <a:solidFill>
                      <a:schemeClr val="accent2">
                        <a:lumMod val="50000"/>
                      </a:schemeClr>
                    </a:solidFill>
                  </a:rPr>
                  <a:t>称为性质</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𝑷</m:t>
                    </m:r>
                  </m:oMath>
                </a14:m>
                <a:endParaRPr lang="zh-CN" altLang="en-US" b="1">
                  <a:solidFill>
                    <a:schemeClr val="accent2">
                      <a:lumMod val="50000"/>
                    </a:schemeClr>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8435174" y="1090332"/>
                <a:ext cx="2841328" cy="646331"/>
              </a:xfrm>
              <a:prstGeom prst="rect">
                <a:avLst/>
              </a:prstGeom>
              <a:blipFill rotWithShape="1">
                <a:blip r:embed="rId2"/>
                <a:stretch>
                  <a:fillRect l="-17" t="-6" r="6" b="8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632623" y="1799974"/>
                <a:ext cx="10643879" cy="735714"/>
              </a:xfrm>
              <a:prstGeom prst="rect">
                <a:avLst/>
              </a:prstGeom>
              <a:solidFill>
                <a:schemeClr val="accent5">
                  <a:lumMod val="20000"/>
                  <a:lumOff val="80000"/>
                  <a:alpha val="50000"/>
                </a:schemeClr>
              </a:solidFill>
            </p:spPr>
            <p:txBody>
              <a:bodyPr wrap="square" rtlCol="0">
                <a:spAutoFit/>
              </a:bodyPr>
              <a:lstStyle/>
              <a:p>
                <a:pPr>
                  <a:spcBef>
                    <a:spcPts val="600"/>
                  </a:spcBef>
                </a:pP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Sub>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的三进制串个数</a:t>
                </a:r>
                <a:r>
                  <a:rPr lang="en-US" altLang="zh-CN" b="1">
                    <a:solidFill>
                      <a:schemeClr val="accent6">
                        <a:lumMod val="50000"/>
                      </a:schemeClr>
                    </a:solidFill>
                  </a:rPr>
                  <a:t>		</a:t>
                </a:r>
                <a14:m>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𝟎</m:t>
                        </m:r>
                      </m:sup>
                    </m:sSubSup>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且以</a:t>
                </a:r>
                <a14:m>
                  <m:oMath xmlns:m="http://schemas.openxmlformats.org/officeDocument/2006/math">
                    <m:r>
                      <a:rPr lang="en-US" altLang="zh-CN" b="1" i="1">
                        <a:solidFill>
                          <a:schemeClr val="accent6">
                            <a:lumMod val="50000"/>
                          </a:schemeClr>
                        </a:solidFill>
                        <a:latin typeface="Cambria Math" panose="02040503050406030204" pitchFamily="18" charset="0"/>
                      </a:rPr>
                      <m:t>𝟎</m:t>
                    </m:r>
                  </m:oMath>
                </a14:m>
                <a:r>
                  <a:rPr lang="zh-CN" altLang="en-US" b="1">
                    <a:solidFill>
                      <a:schemeClr val="accent6">
                        <a:lumMod val="50000"/>
                      </a:schemeClr>
                    </a:solidFill>
                  </a:rPr>
                  <a:t>开头的三进制串个数</a:t>
                </a:r>
                <a:endParaRPr lang="en-US" altLang="zh-CN" b="1">
                  <a:solidFill>
                    <a:schemeClr val="accent6">
                      <a:lumMod val="50000"/>
                    </a:schemeClr>
                  </a:solidFill>
                </a:endParaRPr>
              </a:p>
              <a:p>
                <a:pPr>
                  <a:spcBef>
                    <a:spcPts val="600"/>
                  </a:spcBef>
                </a:pPr>
                <a14:m>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𝟏</m:t>
                        </m:r>
                      </m:sup>
                    </m:sSubSup>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且以</a:t>
                </a:r>
                <a14:m>
                  <m:oMath xmlns:m="http://schemas.openxmlformats.org/officeDocument/2006/math">
                    <m:r>
                      <a:rPr lang="en-US" altLang="zh-CN" b="1" i="1">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开头的三进制串个数</a:t>
                </a:r>
                <a:r>
                  <a:rPr lang="en-US" altLang="zh-CN" b="1">
                    <a:solidFill>
                      <a:schemeClr val="accent6">
                        <a:lumMod val="50000"/>
                      </a:schemeClr>
                    </a:solidFill>
                  </a:rPr>
                  <a:t>	</a:t>
                </a:r>
                <a14:m>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𝟐</m:t>
                        </m:r>
                      </m:sup>
                    </m:sSubSup>
                  </m:oMath>
                </a14:m>
                <a:r>
                  <a:rPr lang="zh-CN" altLang="en-US" b="1">
                    <a:solidFill>
                      <a:schemeClr val="accent6">
                        <a:lumMod val="50000"/>
                      </a:schemeClr>
                    </a:solidFill>
                  </a:rPr>
                  <a:t>是长度为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且以</a:t>
                </a:r>
                <a14:m>
                  <m:oMath xmlns:m="http://schemas.openxmlformats.org/officeDocument/2006/math">
                    <m:r>
                      <a:rPr lang="en-US" altLang="zh-CN" b="1" i="1">
                        <a:solidFill>
                          <a:schemeClr val="accent6">
                            <a:lumMod val="50000"/>
                          </a:schemeClr>
                        </a:solidFill>
                        <a:latin typeface="Cambria Math" panose="02040503050406030204" pitchFamily="18" charset="0"/>
                      </a:rPr>
                      <m:t>𝟐</m:t>
                    </m:r>
                  </m:oMath>
                </a14:m>
                <a:r>
                  <a:rPr lang="zh-CN" altLang="en-US" b="1">
                    <a:solidFill>
                      <a:schemeClr val="accent6">
                        <a:lumMod val="50000"/>
                      </a:schemeClr>
                    </a:solidFill>
                  </a:rPr>
                  <a:t>开头的三进制串个数</a:t>
                </a:r>
                <a:endParaRPr lang="zh-CN" altLang="en-US" b="1">
                  <a:solidFill>
                    <a:schemeClr val="accent6">
                      <a:lumMod val="50000"/>
                    </a:schemeClr>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632623" y="1799974"/>
                <a:ext cx="10643879" cy="735714"/>
              </a:xfrm>
              <a:prstGeom prst="rect">
                <a:avLst/>
              </a:prstGeom>
              <a:blipFill rotWithShape="1">
                <a:blip r:embed="rId3"/>
                <a:stretch>
                  <a:fillRect l="-2" t="-52" r="2" b="18"/>
                </a:stretch>
              </a:blipFill>
            </p:spPr>
            <p:txBody>
              <a:bodyPr/>
              <a:lstStyle/>
              <a:p>
                <a:r>
                  <a:rPr lang="zh-CN" altLang="en-US">
                    <a:noFill/>
                  </a:rPr>
                  <a:t> </a:t>
                </a:r>
              </a:p>
            </p:txBody>
          </p:sp>
        </mc:Fallback>
      </mc:AlternateContent>
      <p:sp>
        <p:nvSpPr>
          <p:cNvPr id="25" name="矩形 24"/>
          <p:cNvSpPr/>
          <p:nvPr/>
        </p:nvSpPr>
        <p:spPr>
          <a:xfrm>
            <a:off x="632623" y="2606759"/>
            <a:ext cx="10926751" cy="2881154"/>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50000"/>
                </a:schemeClr>
              </a:solidFill>
            </a:endParaRPr>
          </a:p>
        </p:txBody>
      </p:sp>
      <mc:AlternateContent xmlns:mc="http://schemas.openxmlformats.org/markup-compatibility/2006">
        <mc:Choice xmlns:a14="http://schemas.microsoft.com/office/drawing/2010/main" Requires="a14">
          <p:sp>
            <p:nvSpPr>
              <p:cNvPr id="14" name="文本框 13"/>
              <p:cNvSpPr txBox="1"/>
              <p:nvPr/>
            </p:nvSpPr>
            <p:spPr>
              <a:xfrm>
                <a:off x="692541" y="3862704"/>
                <a:ext cx="7361249" cy="1077218"/>
              </a:xfrm>
              <a:prstGeom prst="rect">
                <a:avLst/>
              </a:prstGeom>
              <a:solidFill>
                <a:schemeClr val="accent2">
                  <a:lumMod val="20000"/>
                  <a:lumOff val="80000"/>
                </a:schemeClr>
              </a:solidFill>
              <a:ln>
                <a:noFill/>
              </a:ln>
            </p:spPr>
            <p:txBody>
              <a:bodyPr wrap="square" rtlCol="0">
                <a:spAutoFit/>
              </a:bodyPr>
              <a:lstStyle/>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i="0"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𝟎</m:t>
                    </m:r>
                  </m:oMath>
                </a14:m>
                <a:r>
                  <a:rPr lang="zh-CN" altLang="en-US" b="1">
                    <a:solidFill>
                      <a:srgbClr val="C00000"/>
                    </a:solidFill>
                  </a:rPr>
                  <a:t>开头</a:t>
                </a:r>
                <a:r>
                  <a:rPr lang="zh-CN" altLang="en-US" b="1">
                    <a:solidFill>
                      <a:schemeClr val="accent6">
                        <a:lumMod val="50000"/>
                      </a:schemeClr>
                    </a:solidFill>
                  </a:rPr>
                  <a:t>的串与长为</a:t>
                </a:r>
                <a14:m>
                  <m:oMath xmlns:m="http://schemas.openxmlformats.org/officeDocument/2006/math">
                    <m:r>
                      <a:rPr lang="en-US" altLang="zh-CN" b="1">
                        <a:solidFill>
                          <a:schemeClr val="accent6">
                            <a:lumMod val="50000"/>
                          </a:schemeClr>
                        </a:solidFill>
                        <a:latin typeface="Cambria Math" panose="02040503050406030204" pitchFamily="18" charset="0"/>
                      </a:rPr>
                      <m:t>𝒏</m:t>
                    </m:r>
                    <m:r>
                      <a:rPr lang="en-US" altLang="zh-CN" b="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有性质</a:t>
                </a:r>
                <a14:m>
                  <m:oMath xmlns:m="http://schemas.openxmlformats.org/officeDocument/2006/math">
                    <m:r>
                      <a:rPr lang="en-US" altLang="zh-CN" b="1">
                        <a:solidFill>
                          <a:schemeClr val="accent6">
                            <a:lumMod val="50000"/>
                          </a:schemeClr>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a:solidFill>
                          <a:srgbClr val="C00000"/>
                        </a:solidFill>
                        <a:latin typeface="Cambria Math" panose="02040503050406030204" pitchFamily="18" charset="0"/>
                      </a:rPr>
                      <m:t>𝟎</m:t>
                    </m:r>
                  </m:oMath>
                </a14:m>
                <a:r>
                  <a:rPr lang="zh-CN" altLang="en-US" b="1">
                    <a:solidFill>
                      <a:srgbClr val="C00000"/>
                    </a:solidFill>
                  </a:rPr>
                  <a:t>开头</a:t>
                </a:r>
                <a:r>
                  <a:rPr lang="zh-CN" altLang="en-US" b="1">
                    <a:solidFill>
                      <a:schemeClr val="accent6">
                        <a:lumMod val="50000"/>
                      </a:schemeClr>
                    </a:solidFill>
                  </a:rPr>
                  <a:t>的串一一对应</a:t>
                </a:r>
                <a:endParaRPr lang="en-US" altLang="zh-CN" b="1">
                  <a:solidFill>
                    <a:schemeClr val="accent6">
                      <a:lumMod val="50000"/>
                    </a:schemeClr>
                  </a:solidFill>
                </a:endParaRPr>
              </a:p>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i="1" smtClean="0">
                        <a:solidFill>
                          <a:srgbClr val="C00000"/>
                        </a:solidFill>
                        <a:latin typeface="Cambria Math" panose="02040503050406030204" pitchFamily="18" charset="0"/>
                      </a:rPr>
                      <m:t>𝟏</m:t>
                    </m:r>
                    <m:r>
                      <a:rPr lang="en-US" altLang="zh-CN" b="1" i="1">
                        <a:solidFill>
                          <a:srgbClr val="C00000"/>
                        </a:solidFill>
                        <a:latin typeface="Cambria Math" panose="02040503050406030204" pitchFamily="18" charset="0"/>
                      </a:rPr>
                      <m:t>𝟐</m:t>
                    </m:r>
                  </m:oMath>
                </a14:m>
                <a:r>
                  <a:rPr lang="zh-CN" altLang="en-US" b="1">
                    <a:solidFill>
                      <a:srgbClr val="C00000"/>
                    </a:solidFill>
                  </a:rPr>
                  <a:t>开头</a:t>
                </a:r>
                <a:r>
                  <a:rPr lang="zh-CN" altLang="en-US" b="1">
                    <a:solidFill>
                      <a:schemeClr val="accent6">
                        <a:lumMod val="50000"/>
                      </a:schemeClr>
                    </a:solidFill>
                  </a:rPr>
                  <a:t>的串与长为</a:t>
                </a:r>
                <a14:m>
                  <m:oMath xmlns:m="http://schemas.openxmlformats.org/officeDocument/2006/math">
                    <m:r>
                      <a:rPr lang="en-US" altLang="zh-CN" b="1">
                        <a:solidFill>
                          <a:schemeClr val="accent6">
                            <a:lumMod val="50000"/>
                          </a:schemeClr>
                        </a:solidFill>
                        <a:latin typeface="Cambria Math" panose="02040503050406030204" pitchFamily="18" charset="0"/>
                      </a:rPr>
                      <m:t>𝒏</m:t>
                    </m:r>
                    <m:r>
                      <a:rPr lang="en-US" altLang="zh-CN" b="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有性质</a:t>
                </a:r>
                <a14:m>
                  <m:oMath xmlns:m="http://schemas.openxmlformats.org/officeDocument/2006/math">
                    <m:r>
                      <a:rPr lang="en-US" altLang="zh-CN" b="1">
                        <a:solidFill>
                          <a:schemeClr val="accent6">
                            <a:lumMod val="50000"/>
                          </a:schemeClr>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a:solidFill>
                          <a:srgbClr val="C00000"/>
                        </a:solidFill>
                        <a:latin typeface="Cambria Math" panose="02040503050406030204" pitchFamily="18" charset="0"/>
                      </a:rPr>
                      <m:t>𝟐</m:t>
                    </m:r>
                  </m:oMath>
                </a14:m>
                <a:r>
                  <a:rPr lang="zh-CN" altLang="en-US" b="1">
                    <a:solidFill>
                      <a:srgbClr val="C00000"/>
                    </a:solidFill>
                  </a:rPr>
                  <a:t>开头</a:t>
                </a:r>
                <a:r>
                  <a:rPr lang="zh-CN" altLang="en-US" b="1">
                    <a:solidFill>
                      <a:schemeClr val="accent6">
                        <a:lumMod val="50000"/>
                      </a:schemeClr>
                    </a:solidFill>
                  </a:rPr>
                  <a:t>的串一一对应</a:t>
                </a:r>
                <a:endParaRPr lang="en-US" altLang="zh-CN" b="1">
                  <a:solidFill>
                    <a:schemeClr val="accent6">
                      <a:lumMod val="50000"/>
                    </a:schemeClr>
                  </a:solidFill>
                </a:endParaRPr>
              </a:p>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i="1" smtClean="0">
                        <a:solidFill>
                          <a:srgbClr val="C00000"/>
                        </a:solidFill>
                        <a:latin typeface="Cambria Math" panose="02040503050406030204" pitchFamily="18" charset="0"/>
                      </a:rPr>
                      <m:t>𝟏𝟏</m:t>
                    </m:r>
                  </m:oMath>
                </a14:m>
                <a:r>
                  <a:rPr lang="zh-CN" altLang="en-US" b="1">
                    <a:solidFill>
                      <a:srgbClr val="C00000"/>
                    </a:solidFill>
                  </a:rPr>
                  <a:t>开头</a:t>
                </a:r>
                <a:r>
                  <a:rPr lang="zh-CN" altLang="en-US" b="1">
                    <a:solidFill>
                      <a:schemeClr val="accent6">
                        <a:lumMod val="50000"/>
                      </a:schemeClr>
                    </a:solidFill>
                  </a:rPr>
                  <a:t>的串与长为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r>
                      <a:rPr lang="en-US" altLang="zh-CN" b="1" i="1">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𝟐</m:t>
                    </m:r>
                  </m:oMath>
                </a14:m>
                <a:r>
                  <a:rPr lang="zh-CN" altLang="en-US" b="1">
                    <a:solidFill>
                      <a:schemeClr val="accent6">
                        <a:lumMod val="50000"/>
                      </a:schemeClr>
                    </a:solidFill>
                  </a:rPr>
                  <a:t>的</a:t>
                </a:r>
                <a:r>
                  <a:rPr lang="zh-CN" altLang="en-US" b="1">
                    <a:solidFill>
                      <a:srgbClr val="C00000"/>
                    </a:solidFill>
                  </a:rPr>
                  <a:t>任意三进制串</a:t>
                </a:r>
                <a:r>
                  <a:rPr lang="zh-CN" altLang="en-US" b="1">
                    <a:solidFill>
                      <a:schemeClr val="accent6">
                        <a:lumMod val="50000"/>
                      </a:schemeClr>
                    </a:solidFill>
                  </a:rPr>
                  <a:t>一一对应</a:t>
                </a:r>
                <a:endParaRPr lang="en-US" altLang="zh-CN" b="1">
                  <a:solidFill>
                    <a:schemeClr val="accent6">
                      <a:lumMod val="50000"/>
                    </a:schemeClr>
                  </a:solidFill>
                </a:endParaRPr>
              </a:p>
            </p:txBody>
          </p:sp>
        </mc:Choice>
        <mc:Fallback>
          <p:sp>
            <p:nvSpPr>
              <p:cNvPr id="14" name="文本框 13"/>
              <p:cNvSpPr txBox="1">
                <a:spLocks noRot="1" noChangeAspect="1" noMove="1" noResize="1" noEditPoints="1" noAdjustHandles="1" noChangeArrowheads="1" noChangeShapeType="1" noTextEdit="1"/>
              </p:cNvSpPr>
              <p:nvPr/>
            </p:nvSpPr>
            <p:spPr>
              <a:xfrm>
                <a:off x="692541" y="3862704"/>
                <a:ext cx="7361249" cy="1077218"/>
              </a:xfrm>
              <a:prstGeom prst="rect">
                <a:avLst/>
              </a:prstGeom>
              <a:blipFill rotWithShape="1">
                <a:blip r:embed="rId4"/>
                <a:stretch>
                  <a:fillRect l="-5" t="-59" r="1" b="24"/>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692541" y="2653025"/>
                <a:ext cx="7410587" cy="1077218"/>
              </a:xfrm>
              <a:prstGeom prst="rect">
                <a:avLst/>
              </a:prstGeom>
              <a:solidFill>
                <a:schemeClr val="accent2">
                  <a:lumMod val="20000"/>
                  <a:lumOff val="80000"/>
                </a:schemeClr>
              </a:solidFill>
              <a:ln>
                <a:noFill/>
              </a:ln>
            </p:spPr>
            <p:txBody>
              <a:bodyPr wrap="square" rtlCol="0">
                <a:spAutoFit/>
              </a:bodyPr>
              <a:lstStyle/>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i="1" smtClean="0">
                        <a:solidFill>
                          <a:srgbClr val="C00000"/>
                        </a:solidFill>
                        <a:latin typeface="Cambria Math" panose="02040503050406030204" pitchFamily="18" charset="0"/>
                      </a:rPr>
                      <m:t>𝟎𝟏</m:t>
                    </m:r>
                  </m:oMath>
                </a14:m>
                <a:r>
                  <a:rPr lang="zh-CN" altLang="en-US" b="1">
                    <a:solidFill>
                      <a:srgbClr val="C00000"/>
                    </a:solidFill>
                  </a:rPr>
                  <a:t>开头</a:t>
                </a:r>
                <a:r>
                  <a:rPr lang="zh-CN" altLang="en-US" b="1">
                    <a:solidFill>
                      <a:schemeClr val="accent6">
                        <a:lumMod val="50000"/>
                      </a:schemeClr>
                    </a:solidFill>
                  </a:rPr>
                  <a:t>的串与长为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i="1">
                        <a:solidFill>
                          <a:srgbClr val="C00000"/>
                        </a:solidFill>
                        <a:latin typeface="Cambria Math" panose="02040503050406030204" pitchFamily="18" charset="0"/>
                      </a:rPr>
                      <m:t>𝟏</m:t>
                    </m:r>
                  </m:oMath>
                </a14:m>
                <a:r>
                  <a:rPr lang="zh-CN" altLang="en-US" b="1">
                    <a:solidFill>
                      <a:srgbClr val="C00000"/>
                    </a:solidFill>
                  </a:rPr>
                  <a:t>开头</a:t>
                </a:r>
                <a:r>
                  <a:rPr lang="zh-CN" altLang="en-US" b="1">
                    <a:solidFill>
                      <a:schemeClr val="accent6">
                        <a:lumMod val="50000"/>
                      </a:schemeClr>
                    </a:solidFill>
                  </a:rPr>
                  <a:t>的串一一对应</a:t>
                </a:r>
                <a:endParaRPr lang="en-US" altLang="zh-CN" b="1">
                  <a:solidFill>
                    <a:schemeClr val="accent6">
                      <a:lumMod val="50000"/>
                    </a:schemeClr>
                  </a:solidFill>
                </a:endParaRPr>
              </a:p>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i="1" smtClean="0">
                        <a:solidFill>
                          <a:srgbClr val="C00000"/>
                        </a:solidFill>
                        <a:latin typeface="Cambria Math" panose="02040503050406030204" pitchFamily="18" charset="0"/>
                      </a:rPr>
                      <m:t>𝟎</m:t>
                    </m:r>
                    <m:r>
                      <a:rPr lang="en-US" altLang="zh-CN" b="1" i="1">
                        <a:solidFill>
                          <a:srgbClr val="C00000"/>
                        </a:solidFill>
                        <a:latin typeface="Cambria Math" panose="02040503050406030204" pitchFamily="18" charset="0"/>
                      </a:rPr>
                      <m:t>𝟐</m:t>
                    </m:r>
                  </m:oMath>
                </a14:m>
                <a:r>
                  <a:rPr lang="zh-CN" altLang="en-US" b="1">
                    <a:solidFill>
                      <a:srgbClr val="C00000"/>
                    </a:solidFill>
                  </a:rPr>
                  <a:t>开头</a:t>
                </a:r>
                <a:r>
                  <a:rPr lang="zh-CN" altLang="en-US" b="1">
                    <a:solidFill>
                      <a:schemeClr val="accent6">
                        <a:lumMod val="50000"/>
                      </a:schemeClr>
                    </a:solidFill>
                  </a:rPr>
                  <a:t>的串与长为</a:t>
                </a:r>
                <a14:m>
                  <m:oMath xmlns:m="http://schemas.openxmlformats.org/officeDocument/2006/math">
                    <m:r>
                      <a:rPr lang="en-US" altLang="zh-CN" b="1">
                        <a:solidFill>
                          <a:schemeClr val="accent6">
                            <a:lumMod val="50000"/>
                          </a:schemeClr>
                        </a:solidFill>
                        <a:latin typeface="Cambria Math" panose="02040503050406030204" pitchFamily="18" charset="0"/>
                      </a:rPr>
                      <m:t>𝒏</m:t>
                    </m:r>
                    <m:r>
                      <a:rPr lang="en-US" altLang="zh-CN" b="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有性质</a:t>
                </a:r>
                <a14:m>
                  <m:oMath xmlns:m="http://schemas.openxmlformats.org/officeDocument/2006/math">
                    <m:r>
                      <a:rPr lang="en-US" altLang="zh-CN" b="1">
                        <a:solidFill>
                          <a:schemeClr val="accent6">
                            <a:lumMod val="50000"/>
                          </a:schemeClr>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a:solidFill>
                          <a:srgbClr val="C00000"/>
                        </a:solidFill>
                        <a:latin typeface="Cambria Math" panose="02040503050406030204" pitchFamily="18" charset="0"/>
                      </a:rPr>
                      <m:t>𝟐</m:t>
                    </m:r>
                  </m:oMath>
                </a14:m>
                <a:r>
                  <a:rPr lang="zh-CN" altLang="en-US" b="1">
                    <a:solidFill>
                      <a:srgbClr val="C00000"/>
                    </a:solidFill>
                  </a:rPr>
                  <a:t>开头</a:t>
                </a:r>
                <a:r>
                  <a:rPr lang="zh-CN" altLang="en-US" b="1">
                    <a:solidFill>
                      <a:schemeClr val="accent6">
                        <a:lumMod val="50000"/>
                      </a:schemeClr>
                    </a:solidFill>
                  </a:rPr>
                  <a:t>的串一一对应</a:t>
                </a:r>
                <a:endParaRPr lang="en-US" altLang="zh-CN" b="1">
                  <a:solidFill>
                    <a:schemeClr val="accent6">
                      <a:lumMod val="50000"/>
                    </a:schemeClr>
                  </a:solidFill>
                </a:endParaRPr>
              </a:p>
              <a:p>
                <a:pPr>
                  <a:spcBef>
                    <a:spcPts val="600"/>
                  </a:spcBef>
                </a:pPr>
                <a:r>
                  <a:rPr lang="zh-CN" altLang="en-US" b="1">
                    <a:solidFill>
                      <a:schemeClr val="accent6">
                        <a:lumMod val="50000"/>
                      </a:schemeClr>
                    </a:solidFill>
                  </a:rPr>
                  <a:t>长为</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𝑷</m:t>
                    </m:r>
                  </m:oMath>
                </a14:m>
                <a:r>
                  <a:rPr lang="zh-CN" altLang="en-US" b="1">
                    <a:solidFill>
                      <a:srgbClr val="C00000"/>
                    </a:solidFill>
                  </a:rPr>
                  <a:t>以</a:t>
                </a:r>
                <a14:m>
                  <m:oMath xmlns:m="http://schemas.openxmlformats.org/officeDocument/2006/math">
                    <m:r>
                      <a:rPr lang="en-US" altLang="zh-CN" b="1" i="1" smtClean="0">
                        <a:solidFill>
                          <a:srgbClr val="C00000"/>
                        </a:solidFill>
                        <a:latin typeface="Cambria Math" panose="02040503050406030204" pitchFamily="18" charset="0"/>
                      </a:rPr>
                      <m:t>𝟎𝟎</m:t>
                    </m:r>
                  </m:oMath>
                </a14:m>
                <a:r>
                  <a:rPr lang="zh-CN" altLang="en-US" b="1">
                    <a:solidFill>
                      <a:srgbClr val="C00000"/>
                    </a:solidFill>
                  </a:rPr>
                  <a:t>开头</a:t>
                </a:r>
                <a:r>
                  <a:rPr lang="zh-CN" altLang="en-US" b="1">
                    <a:solidFill>
                      <a:schemeClr val="accent6">
                        <a:lumMod val="50000"/>
                      </a:schemeClr>
                    </a:solidFill>
                  </a:rPr>
                  <a:t>的串与长为</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𝒏</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𝟐</m:t>
                    </m:r>
                  </m:oMath>
                </a14:m>
                <a:r>
                  <a:rPr lang="zh-CN" altLang="en-US" b="1">
                    <a:solidFill>
                      <a:schemeClr val="accent6">
                        <a:lumMod val="50000"/>
                      </a:schemeClr>
                    </a:solidFill>
                  </a:rPr>
                  <a:t>的</a:t>
                </a:r>
                <a:r>
                  <a:rPr lang="zh-CN" altLang="en-US" b="1">
                    <a:solidFill>
                      <a:srgbClr val="C00000"/>
                    </a:solidFill>
                  </a:rPr>
                  <a:t>任意三进制串</a:t>
                </a:r>
                <a:r>
                  <a:rPr lang="zh-CN" altLang="en-US" b="1">
                    <a:solidFill>
                      <a:schemeClr val="accent6">
                        <a:lumMod val="50000"/>
                      </a:schemeClr>
                    </a:solidFill>
                  </a:rPr>
                  <a:t>一一对应</a:t>
                </a:r>
                <a:endParaRPr lang="en-US" altLang="zh-CN" b="1">
                  <a:solidFill>
                    <a:schemeClr val="accent6">
                      <a:lumMod val="50000"/>
                    </a:schemeClr>
                  </a:solidFill>
                </a:endParaRPr>
              </a:p>
            </p:txBody>
          </p:sp>
        </mc:Choice>
        <mc:Fallback>
          <p:sp>
            <p:nvSpPr>
              <p:cNvPr id="15" name="文本框 14"/>
              <p:cNvSpPr txBox="1">
                <a:spLocks noRot="1" noChangeAspect="1" noMove="1" noResize="1" noEditPoints="1" noAdjustHandles="1" noChangeArrowheads="1" noChangeShapeType="1" noTextEdit="1"/>
              </p:cNvSpPr>
              <p:nvPr/>
            </p:nvSpPr>
            <p:spPr>
              <a:xfrm>
                <a:off x="692541" y="2653025"/>
                <a:ext cx="7410587" cy="1077218"/>
              </a:xfrm>
              <a:prstGeom prst="rect">
                <a:avLst/>
              </a:prstGeom>
              <a:blipFill rotWithShape="1">
                <a:blip r:embed="rId5"/>
                <a:stretch>
                  <a:fillRect l="-5" t="-58" r="7" b="23"/>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692541" y="5053430"/>
                <a:ext cx="7308622" cy="369332"/>
              </a:xfrm>
              <a:prstGeom prst="rect">
                <a:avLst/>
              </a:prstGeom>
              <a:solidFill>
                <a:schemeClr val="accent2">
                  <a:lumMod val="20000"/>
                  <a:lumOff val="80000"/>
                </a:schemeClr>
              </a:solidFill>
              <a:ln>
                <a:noFill/>
              </a:ln>
            </p:spPr>
            <p:txBody>
              <a:bodyPr wrap="square" rtlCol="0">
                <a:spAutoFit/>
              </a:bodyPr>
              <a:lstStyle/>
              <a:p>
                <a:pPr>
                  <a:spcBef>
                    <a:spcPts val="600"/>
                  </a:spcBef>
                </a:pPr>
                <a:r>
                  <a:rPr lang="zh-CN" altLang="en-US" b="1">
                    <a:solidFill>
                      <a:schemeClr val="accent6">
                        <a:lumMod val="50000"/>
                      </a:schemeClr>
                    </a:solidFill>
                  </a:rPr>
                  <a:t>长为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𝟐</m:t>
                    </m:r>
                  </m:oMath>
                </a14:m>
                <a:r>
                  <a:rPr lang="zh-CN" altLang="en-US" b="1">
                    <a:solidFill>
                      <a:schemeClr val="accent6">
                        <a:lumMod val="50000"/>
                      </a:schemeClr>
                    </a:solidFill>
                  </a:rPr>
                  <a:t>开头的串与长度为</a:t>
                </a:r>
                <a14:m>
                  <m:oMath xmlns:m="http://schemas.openxmlformats.org/officeDocument/2006/math">
                    <m:r>
                      <a:rPr lang="en-US" altLang="zh-CN" b="1" i="1">
                        <a:solidFill>
                          <a:schemeClr val="accent6">
                            <a:lumMod val="50000"/>
                          </a:schemeClr>
                        </a:solidFill>
                        <a:latin typeface="Cambria Math" panose="02040503050406030204" pitchFamily="18" charset="0"/>
                      </a:rPr>
                      <m:t>𝒏</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有性质</a:t>
                </a:r>
                <a14:m>
                  <m:oMath xmlns:m="http://schemas.openxmlformats.org/officeDocument/2006/math">
                    <m:r>
                      <a:rPr lang="en-US" altLang="zh-CN" b="1" i="1">
                        <a:solidFill>
                          <a:schemeClr val="accent6">
                            <a:lumMod val="50000"/>
                          </a:schemeClr>
                        </a:solidFill>
                        <a:latin typeface="Cambria Math" panose="02040503050406030204" pitchFamily="18" charset="0"/>
                      </a:rPr>
                      <m:t>𝑷</m:t>
                    </m:r>
                  </m:oMath>
                </a14:m>
                <a:r>
                  <a:rPr lang="zh-CN" altLang="en-US" b="1">
                    <a:solidFill>
                      <a:schemeClr val="accent6">
                        <a:lumMod val="50000"/>
                      </a:schemeClr>
                    </a:solidFill>
                  </a:rPr>
                  <a:t>的三进制串一一对应</a:t>
                </a:r>
                <a:endParaRPr lang="en-US" altLang="zh-CN" b="1">
                  <a:solidFill>
                    <a:schemeClr val="accent6">
                      <a:lumMod val="50000"/>
                    </a:schemeClr>
                  </a:solidFill>
                </a:endParaRPr>
              </a:p>
            </p:txBody>
          </p:sp>
        </mc:Choice>
        <mc:Fallback>
          <p:sp>
            <p:nvSpPr>
              <p:cNvPr id="16" name="文本框 15"/>
              <p:cNvSpPr txBox="1">
                <a:spLocks noRot="1" noChangeAspect="1" noMove="1" noResize="1" noEditPoints="1" noAdjustHandles="1" noChangeArrowheads="1" noChangeShapeType="1" noTextEdit="1"/>
              </p:cNvSpPr>
              <p:nvPr/>
            </p:nvSpPr>
            <p:spPr>
              <a:xfrm>
                <a:off x="692541" y="5053430"/>
                <a:ext cx="7308622" cy="369332"/>
              </a:xfrm>
              <a:prstGeom prst="rect">
                <a:avLst/>
              </a:prstGeom>
              <a:blipFill rotWithShape="1">
                <a:blip r:embed="rId6"/>
                <a:stretch>
                  <a:fillRect l="-5" t="-27" r="2" b="135"/>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8733560" y="2997382"/>
                <a:ext cx="2782671" cy="388504"/>
              </a:xfrm>
              <a:prstGeom prst="rect">
                <a:avLst/>
              </a:prstGeom>
              <a:solidFill>
                <a:schemeClr val="accent4">
                  <a:lumMod val="20000"/>
                  <a:lumOff val="80000"/>
                </a:schemeClr>
              </a:solidFill>
              <a:ln>
                <a:noFill/>
              </a:ln>
            </p:spPr>
            <p:txBody>
              <a:bodyPr wrap="square" rtlCol="0">
                <a:spAutoFit/>
              </a:bodyPr>
              <a:lstStyle/>
              <a:p>
                <a:pPr>
                  <a:spcBef>
                    <a:spcPts val="600"/>
                  </a:spcBef>
                </a:pPr>
                <a14:m>
                  <m:oMathPara xmlns:m="http://schemas.openxmlformats.org/officeDocument/2006/math">
                    <m:oMathParaPr>
                      <m:jc m:val="centerGroup"/>
                    </m:oMathParaPr>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𝟎</m:t>
                          </m:r>
                        </m:sup>
                      </m:sSubSup>
                      <m:r>
                        <a:rPr lang="en-US" altLang="zh-CN" b="1" i="1">
                          <a:solidFill>
                            <a:srgbClr val="C00000"/>
                          </a:solidFill>
                          <a:latin typeface="Cambria Math" panose="02040503050406030204" pitchFamily="18" charset="0"/>
                        </a:rPr>
                        <m:t>=</m:t>
                      </m:r>
                      <m:sSubSup>
                        <m:sSubSupPr>
                          <m:ctrlPr>
                            <a:rPr lang="en-US" altLang="zh-CN" b="1" i="1">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up>
                          <m:r>
                            <a:rPr lang="en-US" altLang="zh-CN" b="1" i="1">
                              <a:solidFill>
                                <a:srgbClr val="C00000"/>
                              </a:solidFill>
                              <a:latin typeface="Cambria Math" panose="02040503050406030204" pitchFamily="18" charset="0"/>
                            </a:rPr>
                            <m:t>𝟏</m:t>
                          </m:r>
                        </m:sup>
                      </m:sSubSup>
                      <m:r>
                        <a:rPr lang="en-US" altLang="zh-CN" b="1" i="1">
                          <a:solidFill>
                            <a:srgbClr val="C00000"/>
                          </a:solidFill>
                          <a:latin typeface="Cambria Math" panose="02040503050406030204" pitchFamily="18" charset="0"/>
                        </a:rPr>
                        <m:t>+</m:t>
                      </m:r>
                      <m:sSubSup>
                        <m:sSubSupPr>
                          <m:ctrlPr>
                            <a:rPr lang="en-US" altLang="zh-CN" b="1" i="1">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up>
                          <m:r>
                            <a:rPr lang="en-US" altLang="zh-CN" b="1" i="1">
                              <a:solidFill>
                                <a:srgbClr val="C00000"/>
                              </a:solidFill>
                              <a:latin typeface="Cambria Math" panose="02040503050406030204" pitchFamily="18" charset="0"/>
                            </a:rPr>
                            <m:t>𝟐</m:t>
                          </m:r>
                        </m:sup>
                      </m:sSubSup>
                      <m:r>
                        <a:rPr lang="en-US" altLang="zh-CN" b="1" i="1">
                          <a:solidFill>
                            <a:srgbClr val="C00000"/>
                          </a:solidFill>
                          <a:latin typeface="Cambria Math" panose="02040503050406030204" pitchFamily="18" charset="0"/>
                        </a:rPr>
                        <m:t>+</m:t>
                      </m:r>
                      <m:sSup>
                        <m:sSupPr>
                          <m:ctrlPr>
                            <a:rPr lang="en-US" altLang="zh-CN" b="1" i="1">
                              <a:solidFill>
                                <a:srgbClr val="C00000"/>
                              </a:solidFill>
                              <a:latin typeface="Cambria Math" panose="02040503050406030204" pitchFamily="18" charset="0"/>
                            </a:rPr>
                          </m:ctrlPr>
                        </m:sSupPr>
                        <m:e>
                          <m:r>
                            <a:rPr lang="en-US" altLang="zh-CN" b="1" i="1">
                              <a:solidFill>
                                <a:srgbClr val="C00000"/>
                              </a:solidFill>
                              <a:latin typeface="Cambria Math" panose="02040503050406030204" pitchFamily="18" charset="0"/>
                            </a:rPr>
                            <m:t>𝟑</m:t>
                          </m:r>
                        </m:e>
                        <m:sup>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sup>
                      </m:sSup>
                    </m:oMath>
                  </m:oMathPara>
                </a14:m>
                <a:endParaRPr lang="zh-CN" altLang="en-US">
                  <a:solidFill>
                    <a:schemeClr val="accent2">
                      <a:lumMod val="50000"/>
                    </a:schemeClr>
                  </a:solidFill>
                </a:endParaRPr>
              </a:p>
            </p:txBody>
          </p:sp>
        </mc:Choice>
        <mc:Fallback>
          <p:sp>
            <p:nvSpPr>
              <p:cNvPr id="18" name="文本框 17"/>
              <p:cNvSpPr txBox="1">
                <a:spLocks noRot="1" noChangeAspect="1" noMove="1" noResize="1" noEditPoints="1" noAdjustHandles="1" noChangeArrowheads="1" noChangeShapeType="1" noTextEdit="1"/>
              </p:cNvSpPr>
              <p:nvPr/>
            </p:nvSpPr>
            <p:spPr>
              <a:xfrm>
                <a:off x="8733560" y="2997382"/>
                <a:ext cx="2782671" cy="388504"/>
              </a:xfrm>
              <a:prstGeom prst="rect">
                <a:avLst/>
              </a:prstGeom>
              <a:blipFill rotWithShape="1">
                <a:blip r:embed="rId7"/>
                <a:stretch>
                  <a:fillRect l="-15" t="-47" r="18" b="17"/>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8733560" y="4201266"/>
                <a:ext cx="2782671" cy="389850"/>
              </a:xfrm>
              <a:prstGeom prst="rect">
                <a:avLst/>
              </a:prstGeom>
              <a:solidFill>
                <a:schemeClr val="accent4">
                  <a:lumMod val="20000"/>
                  <a:lumOff val="80000"/>
                </a:schemeClr>
              </a:solidFill>
              <a:ln>
                <a:noFill/>
              </a:ln>
            </p:spPr>
            <p:txBody>
              <a:bodyPr wrap="square" rtlCol="0">
                <a:spAutoFit/>
              </a:bodyPr>
              <a:lstStyle/>
              <a:p>
                <a:pPr>
                  <a:spcBef>
                    <a:spcPts val="600"/>
                  </a:spcBef>
                </a:pPr>
                <a14:m>
                  <m:oMathPara xmlns:m="http://schemas.openxmlformats.org/officeDocument/2006/math">
                    <m:oMathParaPr>
                      <m:jc m:val="centerGroup"/>
                    </m:oMathParaPr>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𝟏</m:t>
                          </m:r>
                        </m:sup>
                      </m:sSubSup>
                      <m:r>
                        <a:rPr lang="en-US" altLang="zh-CN" b="1" i="1">
                          <a:solidFill>
                            <a:srgbClr val="C00000"/>
                          </a:solidFill>
                          <a:latin typeface="Cambria Math" panose="02040503050406030204" pitchFamily="18" charset="0"/>
                        </a:rPr>
                        <m:t>=</m:t>
                      </m:r>
                      <m:sSubSup>
                        <m:sSubSupPr>
                          <m:ctrlPr>
                            <a:rPr lang="en-US" altLang="zh-CN" b="1" i="1">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up>
                          <m:r>
                            <a:rPr lang="en-US" altLang="zh-CN" b="1" i="1">
                              <a:solidFill>
                                <a:srgbClr val="C00000"/>
                              </a:solidFill>
                              <a:latin typeface="Cambria Math" panose="02040503050406030204" pitchFamily="18" charset="0"/>
                            </a:rPr>
                            <m:t>𝟎</m:t>
                          </m:r>
                        </m:sup>
                      </m:sSubSup>
                      <m:r>
                        <a:rPr lang="en-US" altLang="zh-CN" b="1" i="1">
                          <a:solidFill>
                            <a:srgbClr val="C00000"/>
                          </a:solidFill>
                          <a:latin typeface="Cambria Math" panose="02040503050406030204" pitchFamily="18" charset="0"/>
                        </a:rPr>
                        <m:t>+</m:t>
                      </m:r>
                      <m:sSubSup>
                        <m:sSubSupPr>
                          <m:ctrlPr>
                            <a:rPr lang="en-US" altLang="zh-CN" b="1" i="1">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up>
                          <m:r>
                            <a:rPr lang="en-US" altLang="zh-CN" b="1" i="1">
                              <a:solidFill>
                                <a:srgbClr val="C00000"/>
                              </a:solidFill>
                              <a:latin typeface="Cambria Math" panose="02040503050406030204" pitchFamily="18" charset="0"/>
                            </a:rPr>
                            <m:t>𝟐</m:t>
                          </m:r>
                        </m:sup>
                      </m:sSubSup>
                      <m:r>
                        <a:rPr lang="en-US" altLang="zh-CN" b="1" i="1">
                          <a:solidFill>
                            <a:srgbClr val="C00000"/>
                          </a:solidFill>
                          <a:latin typeface="Cambria Math" panose="02040503050406030204" pitchFamily="18" charset="0"/>
                        </a:rPr>
                        <m:t>+</m:t>
                      </m:r>
                      <m:sSup>
                        <m:sSupPr>
                          <m:ctrlPr>
                            <a:rPr lang="en-US" altLang="zh-CN" b="1" i="1">
                              <a:solidFill>
                                <a:srgbClr val="C00000"/>
                              </a:solidFill>
                              <a:latin typeface="Cambria Math" panose="02040503050406030204" pitchFamily="18" charset="0"/>
                            </a:rPr>
                          </m:ctrlPr>
                        </m:sSupPr>
                        <m:e>
                          <m:r>
                            <a:rPr lang="en-US" altLang="zh-CN" b="1" i="1">
                              <a:solidFill>
                                <a:srgbClr val="C00000"/>
                              </a:solidFill>
                              <a:latin typeface="Cambria Math" panose="02040503050406030204" pitchFamily="18" charset="0"/>
                            </a:rPr>
                            <m:t>𝟑</m:t>
                          </m:r>
                        </m:e>
                        <m:sup>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sup>
                      </m:sSup>
                    </m:oMath>
                  </m:oMathPara>
                </a14:m>
                <a:endParaRPr lang="zh-CN" altLang="en-US">
                  <a:solidFill>
                    <a:schemeClr val="accent2">
                      <a:lumMod val="50000"/>
                    </a:schemeClr>
                  </a:solidFill>
                </a:endParaRPr>
              </a:p>
            </p:txBody>
          </p:sp>
        </mc:Choice>
        <mc:Fallback>
          <p:sp>
            <p:nvSpPr>
              <p:cNvPr id="19" name="文本框 18"/>
              <p:cNvSpPr txBox="1">
                <a:spLocks noRot="1" noChangeAspect="1" noMove="1" noResize="1" noEditPoints="1" noAdjustHandles="1" noChangeArrowheads="1" noChangeShapeType="1" noTextEdit="1"/>
              </p:cNvSpPr>
              <p:nvPr/>
            </p:nvSpPr>
            <p:spPr>
              <a:xfrm>
                <a:off x="8733560" y="4201266"/>
                <a:ext cx="2782671" cy="389850"/>
              </a:xfrm>
              <a:prstGeom prst="rect">
                <a:avLst/>
              </a:prstGeom>
              <a:blipFill rotWithShape="1">
                <a:blip r:embed="rId8"/>
                <a:stretch>
                  <a:fillRect l="-15" t="-27" r="18" b="17"/>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8733559" y="5039565"/>
                <a:ext cx="2703729" cy="375552"/>
              </a:xfrm>
              <a:prstGeom prst="rect">
                <a:avLst/>
              </a:prstGeom>
              <a:solidFill>
                <a:schemeClr val="accent4">
                  <a:lumMod val="20000"/>
                  <a:lumOff val="80000"/>
                </a:schemeClr>
              </a:solidFill>
              <a:ln>
                <a:noFill/>
              </a:ln>
            </p:spPr>
            <p:txBody>
              <a:bodyPr wrap="square" rtlCol="0">
                <a:spAutoFit/>
              </a:bodyPr>
              <a:lstStyle/>
              <a:p>
                <a:pPr>
                  <a:spcBef>
                    <a:spcPts val="600"/>
                  </a:spcBef>
                </a:pPr>
                <a14:m>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up>
                        <m:r>
                          <a:rPr lang="en-US" altLang="zh-CN" b="1" i="1">
                            <a:solidFill>
                              <a:srgbClr val="C00000"/>
                            </a:solidFill>
                            <a:latin typeface="Cambria Math" panose="02040503050406030204" pitchFamily="18" charset="0"/>
                          </a:rPr>
                          <m:t>𝟐</m:t>
                        </m:r>
                      </m:sup>
                    </m:sSubSup>
                    <m:r>
                      <a:rPr lang="en-US" altLang="zh-CN" b="1" i="1">
                        <a:solidFill>
                          <a:srgbClr val="C00000"/>
                        </a:solidFill>
                        <a:latin typeface="Cambria Math" panose="02040503050406030204" pitchFamily="18" charset="0"/>
                      </a:rPr>
                      <m:t>= </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                        </m:t>
                    </m:r>
                  </m:oMath>
                </a14:m>
                <a:r>
                  <a:rPr lang="zh-CN" altLang="en-US">
                    <a:solidFill>
                      <a:schemeClr val="accent2">
                        <a:lumMod val="50000"/>
                      </a:schemeClr>
                    </a:solidFill>
                  </a:rPr>
                  <a:t> </a:t>
                </a:r>
                <a:endParaRPr lang="zh-CN" altLang="en-US">
                  <a:solidFill>
                    <a:schemeClr val="accent2">
                      <a:lumMod val="50000"/>
                    </a:schemeClr>
                  </a:solidFill>
                </a:endParaRPr>
              </a:p>
            </p:txBody>
          </p:sp>
        </mc:Choice>
        <mc:Fallback>
          <p:sp>
            <p:nvSpPr>
              <p:cNvPr id="20" name="文本框 19"/>
              <p:cNvSpPr txBox="1">
                <a:spLocks noRot="1" noChangeAspect="1" noMove="1" noResize="1" noEditPoints="1" noAdjustHandles="1" noChangeArrowheads="1" noChangeShapeType="1" noTextEdit="1"/>
              </p:cNvSpPr>
              <p:nvPr/>
            </p:nvSpPr>
            <p:spPr>
              <a:xfrm>
                <a:off x="8733559" y="5039565"/>
                <a:ext cx="2703729" cy="375552"/>
              </a:xfrm>
              <a:prstGeom prst="rect">
                <a:avLst/>
              </a:prstGeom>
              <a:blipFill rotWithShape="1">
                <a:blip r:embed="rId9"/>
                <a:stretch>
                  <a:fillRect l="-15" t="-55" r="11" b="126"/>
                </a:stretch>
              </a:blipFill>
              <a:ln>
                <a:noFill/>
              </a:ln>
            </p:spPr>
            <p:txBody>
              <a:bodyPr/>
              <a:lstStyle/>
              <a:p>
                <a:r>
                  <a:rPr lang="zh-CN" altLang="en-US">
                    <a:noFill/>
                  </a:rPr>
                  <a:t> </a:t>
                </a:r>
              </a:p>
            </p:txBody>
          </p:sp>
        </mc:Fallback>
      </mc:AlternateContent>
      <p:sp>
        <p:nvSpPr>
          <p:cNvPr id="21" name="箭头: 右 20"/>
          <p:cNvSpPr/>
          <p:nvPr/>
        </p:nvSpPr>
        <p:spPr>
          <a:xfrm>
            <a:off x="8103128" y="3185056"/>
            <a:ext cx="630432" cy="4571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p:cNvSpPr/>
          <p:nvPr/>
        </p:nvSpPr>
        <p:spPr>
          <a:xfrm>
            <a:off x="8053790" y="4396191"/>
            <a:ext cx="679770" cy="4571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p:cNvSpPr/>
          <p:nvPr/>
        </p:nvSpPr>
        <p:spPr>
          <a:xfrm>
            <a:off x="8001163" y="5234490"/>
            <a:ext cx="732397" cy="4571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4" name="文本框 23"/>
              <p:cNvSpPr txBox="1"/>
              <p:nvPr/>
            </p:nvSpPr>
            <p:spPr>
              <a:xfrm>
                <a:off x="632623" y="5632296"/>
                <a:ext cx="7308623" cy="686022"/>
              </a:xfrm>
              <a:prstGeom prst="rect">
                <a:avLst/>
              </a:prstGeom>
              <a:solidFill>
                <a:schemeClr val="accent4">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sub>
                      </m:sSub>
                      <m:r>
                        <a:rPr lang="en-US" altLang="zh-CN" b="1" i="1">
                          <a:solidFill>
                            <a:schemeClr val="accent2">
                              <a:lumMod val="50000"/>
                            </a:schemeClr>
                          </a:solidFill>
                          <a:latin typeface="Cambria Math" panose="02040503050406030204" pitchFamily="18" charset="0"/>
                        </a:rPr>
                        <m:t>= </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sub>
                        <m:sup>
                          <m:r>
                            <a:rPr lang="en-US" altLang="zh-CN" b="1" i="1">
                              <a:solidFill>
                                <a:schemeClr val="accent2">
                                  <a:lumMod val="50000"/>
                                </a:schemeClr>
                              </a:solidFill>
                              <a:latin typeface="Cambria Math" panose="02040503050406030204" pitchFamily="18" charset="0"/>
                            </a:rPr>
                            <m:t>𝟎</m:t>
                          </m:r>
                        </m:sup>
                      </m:sSubSup>
                      <m:r>
                        <a:rPr lang="en-US" altLang="zh-CN" b="1" i="1">
                          <a:solidFill>
                            <a:schemeClr val="accent2">
                              <a:lumMod val="50000"/>
                            </a:schemeClr>
                          </a:solidFill>
                          <a:latin typeface="Cambria Math" panose="02040503050406030204" pitchFamily="18" charset="0"/>
                        </a:rPr>
                        <m:t>+ </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sub>
                        <m:sup>
                          <m:r>
                            <a:rPr lang="en-US" altLang="zh-CN" b="1" i="1">
                              <a:solidFill>
                                <a:schemeClr val="accent2">
                                  <a:lumMod val="50000"/>
                                </a:schemeClr>
                              </a:solidFill>
                              <a:latin typeface="Cambria Math" panose="02040503050406030204" pitchFamily="18" charset="0"/>
                            </a:rPr>
                            <m:t>𝟏</m:t>
                          </m:r>
                        </m:sup>
                      </m:sSubSup>
                      <m:r>
                        <a:rPr lang="en-US" altLang="zh-CN" b="1" i="1">
                          <a:solidFill>
                            <a:schemeClr val="accent2">
                              <a:lumMod val="50000"/>
                            </a:schemeClr>
                          </a:solidFill>
                          <a:latin typeface="Cambria Math" panose="02040503050406030204" pitchFamily="18" charset="0"/>
                        </a:rPr>
                        <m:t>+ </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sub>
                        <m:sup>
                          <m:r>
                            <a:rPr lang="en-US" altLang="zh-CN" b="1" i="1">
                              <a:solidFill>
                                <a:schemeClr val="accent2">
                                  <a:lumMod val="50000"/>
                                </a:schemeClr>
                              </a:solidFill>
                              <a:latin typeface="Cambria Math" panose="02040503050406030204" pitchFamily="18" charset="0"/>
                            </a:rPr>
                            <m:t>𝟐</m:t>
                          </m:r>
                        </m:sup>
                      </m:sSubSup>
                      <m:r>
                        <a:rPr lang="en-US" altLang="zh-CN" b="1" i="1">
                          <a:solidFill>
                            <a:schemeClr val="accent2">
                              <a:lumMod val="50000"/>
                            </a:schemeClr>
                          </a:solidFill>
                          <a:latin typeface="Cambria Math" panose="02040503050406030204" pitchFamily="18" charset="0"/>
                        </a:rPr>
                        <m:t>= </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up>
                          <m:r>
                            <a:rPr lang="en-US" altLang="zh-CN" b="1" i="1">
                              <a:solidFill>
                                <a:schemeClr val="accent2">
                                  <a:lumMod val="50000"/>
                                </a:schemeClr>
                              </a:solidFill>
                              <a:latin typeface="Cambria Math" panose="02040503050406030204" pitchFamily="18" charset="0"/>
                            </a:rPr>
                            <m:t>𝟎</m:t>
                          </m:r>
                        </m:sup>
                      </m:sSubSup>
                      <m:r>
                        <a:rPr lang="en-US" altLang="zh-CN" b="1" i="1">
                          <a:solidFill>
                            <a:schemeClr val="accent2">
                              <a:lumMod val="50000"/>
                            </a:schemeClr>
                          </a:solidFill>
                          <a:latin typeface="Cambria Math" panose="02040503050406030204" pitchFamily="18" charset="0"/>
                        </a:rPr>
                        <m:t>+</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up>
                          <m:r>
                            <a:rPr lang="en-US" altLang="zh-CN" b="1" i="1">
                              <a:solidFill>
                                <a:schemeClr val="accent2">
                                  <a:lumMod val="50000"/>
                                </a:schemeClr>
                              </a:solidFill>
                              <a:latin typeface="Cambria Math" panose="02040503050406030204" pitchFamily="18" charset="0"/>
                            </a:rPr>
                            <m:t>𝟏</m:t>
                          </m:r>
                        </m:sup>
                      </m:sSubSup>
                      <m:r>
                        <a:rPr lang="en-US" altLang="zh-CN" b="1" i="1">
                          <a:solidFill>
                            <a:schemeClr val="accent2">
                              <a:lumMod val="50000"/>
                            </a:schemeClr>
                          </a:solidFill>
                          <a:latin typeface="Cambria Math" panose="02040503050406030204" pitchFamily="18" charset="0"/>
                        </a:rPr>
                        <m:t>+</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up>
                          <m:r>
                            <a:rPr lang="en-US" altLang="zh-CN" b="1" i="1">
                              <a:solidFill>
                                <a:schemeClr val="accent2">
                                  <a:lumMod val="50000"/>
                                </a:schemeClr>
                              </a:solidFill>
                              <a:latin typeface="Cambria Math" panose="02040503050406030204" pitchFamily="18" charset="0"/>
                            </a:rPr>
                            <m:t>𝟐</m:t>
                          </m:r>
                        </m:sup>
                      </m:sSubSup>
                      <m:r>
                        <a:rPr lang="en-US" altLang="zh-CN" b="1" i="1">
                          <a:solidFill>
                            <a:schemeClr val="accent2">
                              <a:lumMod val="50000"/>
                            </a:schemeClr>
                          </a:solidFill>
                          <a:latin typeface="Cambria Math" panose="02040503050406030204" pitchFamily="18" charset="0"/>
                        </a:rPr>
                        <m:t>+ </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up>
                          <m:r>
                            <a:rPr lang="en-US" altLang="zh-CN" b="1" i="1">
                              <a:solidFill>
                                <a:schemeClr val="accent2">
                                  <a:lumMod val="50000"/>
                                </a:schemeClr>
                              </a:solidFill>
                              <a:latin typeface="Cambria Math" panose="02040503050406030204" pitchFamily="18" charset="0"/>
                            </a:rPr>
                            <m:t>𝟐</m:t>
                          </m:r>
                        </m:sup>
                      </m:sSubSup>
                      <m:r>
                        <a:rPr lang="en-US" altLang="zh-CN" b="1" i="1">
                          <a:solidFill>
                            <a:schemeClr val="accent2">
                              <a:lumMod val="50000"/>
                            </a:schemeClr>
                          </a:solidFill>
                          <a:latin typeface="Cambria Math" panose="02040503050406030204" pitchFamily="18" charset="0"/>
                        </a:rPr>
                        <m:t>+</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Sub>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r>
                        <a:rPr lang="en-US" altLang="zh-CN" b="1" i="1">
                          <a:solidFill>
                            <a:schemeClr val="accent2">
                              <a:lumMod val="50000"/>
                            </a:schemeClr>
                          </a:solidFill>
                          <a:latin typeface="Cambria Math" panose="02040503050406030204" pitchFamily="18" charset="0"/>
                        </a:rPr>
                        <m:t>⋅</m:t>
                      </m:r>
                      <m:sSup>
                        <m:sSupPr>
                          <m:ctrlPr>
                            <a:rPr lang="en-US" altLang="zh-CN" b="1" i="1">
                              <a:solidFill>
                                <a:schemeClr val="accent2">
                                  <a:lumMod val="50000"/>
                                </a:schemeClr>
                              </a:solidFill>
                              <a:latin typeface="Cambria Math" panose="02040503050406030204" pitchFamily="18" charset="0"/>
                            </a:rPr>
                          </m:ctrlPr>
                        </m:sSupPr>
                        <m:e>
                          <m:r>
                            <a:rPr lang="en-US" altLang="zh-CN" b="1" i="1">
                              <a:solidFill>
                                <a:schemeClr val="accent2">
                                  <a:lumMod val="50000"/>
                                </a:schemeClr>
                              </a:solidFill>
                              <a:latin typeface="Cambria Math" panose="02040503050406030204" pitchFamily="18" charset="0"/>
                            </a:rPr>
                            <m:t>𝟑</m:t>
                          </m:r>
                        </m:e>
                        <m:sup>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sup>
                      </m:sSup>
                    </m:oMath>
                  </m:oMathPara>
                </a14:m>
                <a:endParaRPr lang="en-US" altLang="zh-CN" b="1">
                  <a:solidFill>
                    <a:schemeClr val="accent2">
                      <a:lumMod val="50000"/>
                    </a:schemeClr>
                  </a:solidFill>
                </a:endParaRPr>
              </a:p>
              <a:p>
                <a14:m>
                  <m:oMathPara xmlns:m="http://schemas.openxmlformats.org/officeDocument/2006/math">
                    <m:oMathParaPr>
                      <m:jc m:val="centerGroup"/>
                    </m:oMathParaPr>
                    <m:oMath xmlns:m="http://schemas.openxmlformats.org/officeDocument/2006/math">
                      <m:r>
                        <a:rPr lang="en-US" altLang="zh-CN" b="1" i="1">
                          <a:solidFill>
                            <a:schemeClr val="accent2">
                              <a:lumMod val="50000"/>
                            </a:schemeClr>
                          </a:solidFill>
                          <a:latin typeface="Cambria Math" panose="02040503050406030204" pitchFamily="18" charset="0"/>
                        </a:rPr>
                        <m:t>= </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Sub>
                      <m:r>
                        <a:rPr lang="en-US" altLang="zh-CN" b="1" i="1">
                          <a:solidFill>
                            <a:schemeClr val="accent2">
                              <a:lumMod val="50000"/>
                            </a:schemeClr>
                          </a:solidFill>
                          <a:latin typeface="Cambria Math" panose="02040503050406030204" pitchFamily="18" charset="0"/>
                        </a:rPr>
                        <m:t>+ </m:t>
                      </m:r>
                      <m:sSubSup>
                        <m:sSubSupPr>
                          <m:ctrlPr>
                            <a:rPr lang="en-US" altLang="zh-CN" b="1" i="1">
                              <a:solidFill>
                                <a:schemeClr val="accent2">
                                  <a:lumMod val="50000"/>
                                </a:schemeClr>
                              </a:solidFill>
                              <a:latin typeface="Cambria Math" panose="02040503050406030204" pitchFamily="18" charset="0"/>
                            </a:rPr>
                          </m:ctrlPr>
                        </m:sSubSup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up>
                          <m:r>
                            <a:rPr lang="en-US" altLang="zh-CN" b="1" i="1">
                              <a:solidFill>
                                <a:schemeClr val="accent2">
                                  <a:lumMod val="50000"/>
                                </a:schemeClr>
                              </a:solidFill>
                              <a:latin typeface="Cambria Math" panose="02040503050406030204" pitchFamily="18" charset="0"/>
                            </a:rPr>
                            <m:t>𝟐</m:t>
                          </m:r>
                        </m:sup>
                      </m:sSubSup>
                      <m:r>
                        <a:rPr lang="en-US" altLang="zh-CN" b="1" i="1">
                          <a:solidFill>
                            <a:schemeClr val="accent2">
                              <a:lumMod val="50000"/>
                            </a:schemeClr>
                          </a:solidFill>
                          <a:latin typeface="Cambria Math" panose="02040503050406030204" pitchFamily="18" charset="0"/>
                        </a:rPr>
                        <m:t>+</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Sub>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r>
                        <a:rPr lang="en-US" altLang="zh-CN" b="1" i="1">
                          <a:solidFill>
                            <a:schemeClr val="accent2">
                              <a:lumMod val="50000"/>
                            </a:schemeClr>
                          </a:solidFill>
                          <a:latin typeface="Cambria Math" panose="02040503050406030204" pitchFamily="18" charset="0"/>
                        </a:rPr>
                        <m:t>⋅</m:t>
                      </m:r>
                      <m:sSup>
                        <m:sSupPr>
                          <m:ctrlPr>
                            <a:rPr lang="en-US" altLang="zh-CN" b="1" i="1">
                              <a:solidFill>
                                <a:schemeClr val="accent2">
                                  <a:lumMod val="50000"/>
                                </a:schemeClr>
                              </a:solidFill>
                              <a:latin typeface="Cambria Math" panose="02040503050406030204" pitchFamily="18" charset="0"/>
                            </a:rPr>
                          </m:ctrlPr>
                        </m:sSupPr>
                        <m:e>
                          <m:r>
                            <a:rPr lang="en-US" altLang="zh-CN" b="1" i="1">
                              <a:solidFill>
                                <a:schemeClr val="accent2">
                                  <a:lumMod val="50000"/>
                                </a:schemeClr>
                              </a:solidFill>
                              <a:latin typeface="Cambria Math" panose="02040503050406030204" pitchFamily="18" charset="0"/>
                            </a:rPr>
                            <m:t>𝟑</m:t>
                          </m:r>
                        </m:e>
                        <m:sup>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sup>
                      </m:sSup>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𝟐</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Sub>
                      <m:r>
                        <a:rPr lang="en-US" altLang="zh-CN" b="1" i="1">
                          <a:solidFill>
                            <a:schemeClr val="accent2">
                              <a:lumMod val="50000"/>
                            </a:schemeClr>
                          </a:solidFill>
                          <a:latin typeface="Cambria Math" panose="02040503050406030204" pitchFamily="18" charset="0"/>
                        </a:rPr>
                        <m:t>+</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sub>
                      </m:sSub>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r>
                        <a:rPr lang="en-US" altLang="zh-CN" b="1" i="1">
                          <a:solidFill>
                            <a:schemeClr val="accent2">
                              <a:lumMod val="50000"/>
                            </a:schemeClr>
                          </a:solidFill>
                          <a:latin typeface="Cambria Math" panose="02040503050406030204" pitchFamily="18" charset="0"/>
                        </a:rPr>
                        <m:t>⋅</m:t>
                      </m:r>
                      <m:sSup>
                        <m:sSupPr>
                          <m:ctrlPr>
                            <a:rPr lang="en-US" altLang="zh-CN" b="1" i="1">
                              <a:solidFill>
                                <a:schemeClr val="accent2">
                                  <a:lumMod val="50000"/>
                                </a:schemeClr>
                              </a:solidFill>
                              <a:latin typeface="Cambria Math" panose="02040503050406030204" pitchFamily="18" charset="0"/>
                            </a:rPr>
                          </m:ctrlPr>
                        </m:sSupPr>
                        <m:e>
                          <m:r>
                            <a:rPr lang="en-US" altLang="zh-CN" b="1" i="1">
                              <a:solidFill>
                                <a:schemeClr val="accent2">
                                  <a:lumMod val="50000"/>
                                </a:schemeClr>
                              </a:solidFill>
                              <a:latin typeface="Cambria Math" panose="02040503050406030204" pitchFamily="18" charset="0"/>
                            </a:rPr>
                            <m:t>𝟑</m:t>
                          </m:r>
                        </m:e>
                        <m:sup>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sup>
                      </m:sSup>
                      <m:r>
                        <a:rPr lang="en-US" altLang="zh-CN" b="1" i="1">
                          <a:solidFill>
                            <a:schemeClr val="accent2">
                              <a:lumMod val="50000"/>
                            </a:schemeClr>
                          </a:solidFill>
                          <a:latin typeface="Cambria Math" panose="02040503050406030204" pitchFamily="18" charset="0"/>
                        </a:rPr>
                        <m:t> </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e>
                      </m:d>
                    </m:oMath>
                  </m:oMathPara>
                </a14:m>
                <a:endParaRPr lang="en-US" altLang="zh-CN" b="1" i="1">
                  <a:solidFill>
                    <a:schemeClr val="accent2">
                      <a:lumMod val="50000"/>
                    </a:schemeClr>
                  </a:solidFill>
                  <a:latin typeface="Cambria Math" panose="02040503050406030204" pitchFamily="18" charset="0"/>
                </a:endParaRPr>
              </a:p>
            </p:txBody>
          </p:sp>
        </mc:Choice>
        <mc:Fallback>
          <p:sp>
            <p:nvSpPr>
              <p:cNvPr id="24" name="文本框 23"/>
              <p:cNvSpPr txBox="1">
                <a:spLocks noRot="1" noChangeAspect="1" noMove="1" noResize="1" noEditPoints="1" noAdjustHandles="1" noChangeArrowheads="1" noChangeShapeType="1" noTextEdit="1"/>
              </p:cNvSpPr>
              <p:nvPr/>
            </p:nvSpPr>
            <p:spPr>
              <a:xfrm>
                <a:off x="632623" y="5632296"/>
                <a:ext cx="7308623" cy="686022"/>
              </a:xfrm>
              <a:prstGeom prst="rect">
                <a:avLst/>
              </a:prstGeom>
              <a:blipFill rotWithShape="1">
                <a:blip r:embed="rId10"/>
                <a:stretch>
                  <a:fillRect l="-2" t="-70" r="8" b="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8352560" y="5637397"/>
                <a:ext cx="3206814" cy="652551"/>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sub>
                      </m:sSub>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Sub>
                      <m:r>
                        <a:rPr lang="en-US" altLang="zh-CN" b="1" i="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sub>
                      </m:sSub>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r>
                        <a:rPr lang="en-US" altLang="zh-CN" b="1" i="1">
                          <a:solidFill>
                            <a:srgbClr val="C00000"/>
                          </a:solidFill>
                          <a:latin typeface="Cambria Math" panose="02040503050406030204" pitchFamily="18" charset="0"/>
                        </a:rPr>
                        <m:t>⋅</m:t>
                      </m:r>
                      <m:sSup>
                        <m:sSupPr>
                          <m:ctrlPr>
                            <a:rPr lang="en-US" altLang="zh-CN" b="1" i="1">
                              <a:solidFill>
                                <a:srgbClr val="C00000"/>
                              </a:solidFill>
                              <a:latin typeface="Cambria Math" panose="02040503050406030204" pitchFamily="18" charset="0"/>
                            </a:rPr>
                          </m:ctrlPr>
                        </m:sSupPr>
                        <m:e>
                          <m:r>
                            <a:rPr lang="en-US" altLang="zh-CN" b="1" i="1">
                              <a:solidFill>
                                <a:srgbClr val="C00000"/>
                              </a:solidFill>
                              <a:latin typeface="Cambria Math" panose="02040503050406030204" pitchFamily="18" charset="0"/>
                            </a:rPr>
                            <m:t>𝟑</m:t>
                          </m:r>
                        </m:e>
                        <m:sup>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sup>
                      </m:sSup>
                    </m:oMath>
                  </m:oMathPara>
                </a14:m>
                <a:endParaRPr lang="en-US" altLang="zh-CN" b="1" i="1">
                  <a:solidFill>
                    <a:srgbClr val="C00000"/>
                  </a:solidFill>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𝟎</m:t>
                          </m:r>
                        </m:sub>
                      </m:sSub>
                      <m:r>
                        <a:rPr lang="en-US" altLang="zh-CN" b="1" i="1">
                          <a:solidFill>
                            <a:srgbClr val="C00000"/>
                          </a:solidFill>
                          <a:latin typeface="Cambria Math" panose="02040503050406030204" pitchFamily="18" charset="0"/>
                        </a:rPr>
                        <m:t>= </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𝒂</m:t>
                          </m:r>
                        </m:e>
                        <m:sub>
                          <m:r>
                            <a:rPr lang="en-US" altLang="zh-CN" b="1" i="1">
                              <a:solidFill>
                                <a:srgbClr val="C00000"/>
                              </a:solidFill>
                              <a:latin typeface="Cambria Math" panose="02040503050406030204" pitchFamily="18" charset="0"/>
                            </a:rPr>
                            <m:t>𝟏</m:t>
                          </m:r>
                        </m:sub>
                      </m:sSub>
                      <m:r>
                        <a:rPr lang="en-US" altLang="zh-CN" b="1" i="1">
                          <a:solidFill>
                            <a:srgbClr val="C00000"/>
                          </a:solidFill>
                          <a:latin typeface="Cambria Math" panose="02040503050406030204" pitchFamily="18" charset="0"/>
                        </a:rPr>
                        <m:t>= </m:t>
                      </m:r>
                      <m:r>
                        <a:rPr lang="en-US" altLang="zh-CN" b="1" i="1">
                          <a:solidFill>
                            <a:srgbClr val="C00000"/>
                          </a:solidFill>
                          <a:latin typeface="Cambria Math" panose="02040503050406030204" pitchFamily="18" charset="0"/>
                        </a:rPr>
                        <m:t>𝟎</m:t>
                      </m:r>
                    </m:oMath>
                  </m:oMathPara>
                </a14:m>
                <a:endParaRPr lang="zh-CN" altLang="en-US">
                  <a:solidFill>
                    <a:srgbClr val="C00000"/>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a:off x="8352560" y="5637397"/>
                <a:ext cx="3206814" cy="652551"/>
              </a:xfrm>
              <a:prstGeom prst="rect">
                <a:avLst/>
              </a:prstGeom>
              <a:blipFill rotWithShape="1">
                <a:blip r:embed="rId11"/>
                <a:stretch>
                  <a:fillRect l="-13" t="-77" r="15" b="42"/>
                </a:stretch>
              </a:blipFill>
            </p:spPr>
            <p:txBody>
              <a:bodyPr/>
              <a:lstStyle/>
              <a:p>
                <a:r>
                  <a:rPr lang="zh-CN" altLang="en-US">
                    <a:noFill/>
                  </a:rPr>
                  <a:t> </a:t>
                </a:r>
              </a:p>
            </p:txBody>
          </p:sp>
        </mc:Fallback>
      </mc:AlternateContent>
      <p:sp>
        <p:nvSpPr>
          <p:cNvPr id="26" name="箭头: 下 25"/>
          <p:cNvSpPr/>
          <p:nvPr/>
        </p:nvSpPr>
        <p:spPr>
          <a:xfrm>
            <a:off x="4240884" y="5479822"/>
            <a:ext cx="92099" cy="1647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右 26"/>
          <p:cNvSpPr/>
          <p:nvPr/>
        </p:nvSpPr>
        <p:spPr>
          <a:xfrm>
            <a:off x="7935379" y="5963672"/>
            <a:ext cx="417181"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P spid="25" grpId="0" animBg="1"/>
      <p:bldP spid="14" grpId="0" animBg="1"/>
      <p:bldP spid="15" grpId="0" animBg="1"/>
      <p:bldP spid="16" grpId="0" animBg="1"/>
      <p:bldP spid="18" grpId="0" animBg="1"/>
      <p:bldP spid="19" grpId="0" animBg="1"/>
      <p:bldP spid="20" grpId="0" animBg="1"/>
      <p:bldP spid="21" grpId="0" animBg="1"/>
      <p:bldP spid="22" grpId="0" animBg="1"/>
      <p:bldP spid="23" grpId="0" animBg="1"/>
      <p:bldP spid="24" grpId="0" animBg="1"/>
      <p:bldP spid="11" grpId="0" animBg="1"/>
      <p:bldP spid="26" grpId="0" animBg="1"/>
      <p:bldP spid="2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计数问题的递推关系式建模</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算法效率分析与递推关系式建模</a:t>
            </a:r>
            <a:endParaRPr lang="zh-CN" altLang="en-US"/>
          </a:p>
        </p:txBody>
      </p:sp>
      <p:sp>
        <p:nvSpPr>
          <p:cNvPr id="2" name="文本框 1"/>
          <p:cNvSpPr txBox="1"/>
          <p:nvPr/>
        </p:nvSpPr>
        <p:spPr>
          <a:xfrm>
            <a:off x="732398" y="1237299"/>
            <a:ext cx="9051902" cy="461665"/>
          </a:xfrm>
          <a:prstGeom prst="rect">
            <a:avLst/>
          </a:prstGeom>
          <a:solidFill>
            <a:schemeClr val="accent4">
              <a:lumMod val="20000"/>
              <a:lumOff val="80000"/>
            </a:schemeClr>
          </a:solidFill>
        </p:spPr>
        <p:txBody>
          <a:bodyPr wrap="square" rtlCol="0">
            <a:spAutoFit/>
          </a:bodyPr>
          <a:lstStyle/>
          <a:p>
            <a:r>
              <a:rPr lang="zh-CN" altLang="en-US" sz="2400" b="1">
                <a:solidFill>
                  <a:schemeClr val="accent2">
                    <a:lumMod val="50000"/>
                  </a:schemeClr>
                </a:solidFill>
              </a:rPr>
              <a:t>算法，特别是递归算法的效率分析常基于输入规模建立递推关系式</a:t>
            </a:r>
            <a:endParaRPr lang="zh-CN" altLang="en-US" sz="2400" b="1">
              <a:solidFill>
                <a:schemeClr val="accent2">
                  <a:lumMod val="50000"/>
                </a:schemeClr>
              </a:solidFill>
            </a:endParaRPr>
          </a:p>
        </p:txBody>
      </p:sp>
      <mc:AlternateContent xmlns:mc="http://schemas.openxmlformats.org/markup-compatibility/2006">
        <mc:Choice xmlns:a14="http://schemas.microsoft.com/office/drawing/2010/main" Requires="a14">
          <p:sp>
            <p:nvSpPr>
              <p:cNvPr id="3" name="文本框 2"/>
              <p:cNvSpPr txBox="1"/>
              <p:nvPr/>
            </p:nvSpPr>
            <p:spPr>
              <a:xfrm>
                <a:off x="732398" y="1877723"/>
                <a:ext cx="8801922" cy="1384995"/>
              </a:xfrm>
              <a:prstGeom prst="rect">
                <a:avLst/>
              </a:prstGeom>
              <a:solidFill>
                <a:schemeClr val="accent6">
                  <a:lumMod val="20000"/>
                  <a:lumOff val="80000"/>
                  <a:alpha val="25000"/>
                </a:schemeClr>
              </a:solidFill>
            </p:spPr>
            <p:txBody>
              <a:bodyPr wrap="square" rtlCol="0">
                <a:spAutoFit/>
              </a:bodyPr>
              <a:lstStyle/>
              <a:p>
                <a:pPr algn="ctr">
                  <a:spcBef>
                    <a:spcPts val="600"/>
                  </a:spcBef>
                  <a:spcAft>
                    <a:spcPts val="600"/>
                  </a:spcAft>
                </a:pPr>
                <a:r>
                  <a:rPr lang="zh-CN" altLang="en-US" sz="2400" b="1">
                    <a:solidFill>
                      <a:schemeClr val="accent2">
                        <a:lumMod val="50000"/>
                      </a:schemeClr>
                    </a:solidFill>
                  </a:rPr>
                  <a:t>求解</a:t>
                </a:r>
                <a:r>
                  <a:rPr lang="en-US" altLang="zh-CN" sz="2400" b="1">
                    <a:solidFill>
                      <a:schemeClr val="accent2">
                        <a:lumMod val="50000"/>
                      </a:schemeClr>
                    </a:solidFill>
                  </a:rPr>
                  <a:t>Hanoi</a:t>
                </a:r>
                <a:r>
                  <a:rPr lang="zh-CN" altLang="en-US" sz="2400" b="1">
                    <a:solidFill>
                      <a:schemeClr val="accent2">
                        <a:lumMod val="50000"/>
                      </a:schemeClr>
                    </a:solidFill>
                  </a:rPr>
                  <a:t>塔问题的递归算法</a:t>
                </a:r>
                <a:endParaRPr lang="zh-CN" altLang="en-US" sz="2400" b="1">
                  <a:solidFill>
                    <a:schemeClr val="accent2">
                      <a:lumMod val="50000"/>
                    </a:schemeClr>
                  </a:solidFill>
                </a:endParaRP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设当有</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𝒏</m:t>
                    </m:r>
                  </m:oMath>
                </a14:m>
                <a:r>
                  <a:rPr lang="zh-CN" altLang="en-US" sz="2000" b="1">
                    <a:solidFill>
                      <a:srgbClr val="002060"/>
                    </a:solidFill>
                    <a:latin typeface="楷体" panose="02010609060101010101" pitchFamily="49" charset="-122"/>
                    <a:ea typeface="楷体" panose="02010609060101010101" pitchFamily="49" charset="-122"/>
                  </a:rPr>
                  <a:t>个盘子时，算法输出的（移动盘子的）指令条数为</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𝑻</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𝒏</m:t>
                    </m:r>
                    <m:r>
                      <a:rPr lang="en-US" altLang="zh-CN" sz="2000" b="1" i="1" smtClean="0">
                        <a:solidFill>
                          <a:srgbClr val="002060"/>
                        </a:solidFill>
                        <a:latin typeface="Cambria Math" panose="02040503050406030204" pitchFamily="18" charset="0"/>
                        <a:ea typeface="楷体" panose="02010609060101010101" pitchFamily="49" charset="-122"/>
                      </a:rPr>
                      <m:t>)</m:t>
                    </m:r>
                  </m:oMath>
                </a14:m>
                <a:endParaRPr lang="en-US" altLang="zh-CN" sz="20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当</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 = </m:t>
                    </m:r>
                    <m:r>
                      <a:rPr lang="en-US" altLang="zh-CN" sz="2000" b="1" i="1" smtClean="0">
                        <a:solidFill>
                          <a:schemeClr val="accent6">
                            <a:lumMod val="50000"/>
                          </a:schemeClr>
                        </a:solidFill>
                        <a:latin typeface="Cambria Math" panose="02040503050406030204" pitchFamily="18" charset="0"/>
                      </a:rPr>
                      <m:t>𝟏</m:t>
                    </m:r>
                  </m:oMath>
                </a14:m>
                <a:r>
                  <a:rPr lang="zh-CN" altLang="en-US" sz="2000" b="1">
                    <a:solidFill>
                      <a:schemeClr val="accent6">
                        <a:lumMod val="50000"/>
                      </a:schemeClr>
                    </a:solidFill>
                  </a:rPr>
                  <a:t>时有</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𝑻</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𝟏</m:t>
                    </m:r>
                    <m:r>
                      <a:rPr lang="en-US" altLang="zh-CN" sz="2000" b="1" i="1" smtClean="0">
                        <a:solidFill>
                          <a:schemeClr val="accent6">
                            <a:lumMod val="50000"/>
                          </a:schemeClr>
                        </a:solidFill>
                        <a:latin typeface="Cambria Math" panose="02040503050406030204" pitchFamily="18" charset="0"/>
                      </a:rPr>
                      <m:t>) = </m:t>
                    </m:r>
                    <m:r>
                      <a:rPr lang="en-US" altLang="zh-CN" sz="2000" b="1" i="1" smtClean="0">
                        <a:solidFill>
                          <a:schemeClr val="accent6">
                            <a:lumMod val="50000"/>
                          </a:schemeClr>
                        </a:solidFill>
                        <a:latin typeface="Cambria Math" panose="02040503050406030204" pitchFamily="18" charset="0"/>
                      </a:rPr>
                      <m:t>𝟏</m:t>
                    </m:r>
                  </m:oMath>
                </a14:m>
                <a:r>
                  <a:rPr lang="zh-CN" altLang="en-US" sz="2000" b="1">
                    <a:solidFill>
                      <a:schemeClr val="accent6">
                        <a:lumMod val="50000"/>
                      </a:schemeClr>
                    </a:solidFill>
                  </a:rPr>
                  <a:t>；</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&gt;</m:t>
                    </m:r>
                    <m:r>
                      <a:rPr lang="en-US" altLang="zh-CN" sz="2000" b="1" i="1" smtClean="0">
                        <a:solidFill>
                          <a:schemeClr val="accent6">
                            <a:lumMod val="50000"/>
                          </a:schemeClr>
                        </a:solidFill>
                        <a:latin typeface="Cambria Math" panose="02040503050406030204" pitchFamily="18" charset="0"/>
                      </a:rPr>
                      <m:t>𝟏</m:t>
                    </m:r>
                  </m:oMath>
                </a14:m>
                <a:r>
                  <a:rPr lang="zh-CN" altLang="en-US" sz="2000" b="1">
                    <a:solidFill>
                      <a:schemeClr val="accent6">
                        <a:lumMod val="50000"/>
                      </a:schemeClr>
                    </a:solidFill>
                  </a:rPr>
                  <a:t>时，有递推关系式</a:t>
                </a:r>
                <a14:m>
                  <m:oMath xmlns:m="http://schemas.openxmlformats.org/officeDocument/2006/math">
                    <m:r>
                      <a:rPr lang="en-US" altLang="zh-CN" sz="2000" b="1" i="1" smtClean="0">
                        <a:solidFill>
                          <a:srgbClr val="C00000"/>
                        </a:solidFill>
                        <a:latin typeface="Cambria Math" panose="02040503050406030204" pitchFamily="18" charset="0"/>
                      </a:rPr>
                      <m:t>𝑻</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𝒏</m:t>
                        </m:r>
                      </m:e>
                    </m:d>
                    <m:r>
                      <a:rPr lang="en-US" altLang="zh-CN" sz="2000" b="1" i="1" smtClean="0">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𝟐</m:t>
                    </m:r>
                    <m:r>
                      <a:rPr lang="en-US" altLang="zh-CN" sz="2000" b="1" i="1" smtClean="0">
                        <a:solidFill>
                          <a:srgbClr val="C00000"/>
                        </a:solidFill>
                        <a:latin typeface="Cambria Math" panose="02040503050406030204" pitchFamily="18" charset="0"/>
                      </a:rPr>
                      <m:t>𝑻</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e>
                    </m:d>
                    <m:r>
                      <a:rPr lang="en-US" altLang="zh-CN" sz="2000" b="1" i="1">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𝟏</m:t>
                    </m:r>
                  </m:oMath>
                </a14:m>
                <a:endParaRPr lang="en-US" altLang="zh-CN" sz="2000" b="1">
                  <a:solidFill>
                    <a:schemeClr val="accent6">
                      <a:lumMod val="50000"/>
                    </a:schemeClr>
                  </a:solidFill>
                </a:endParaRPr>
              </a:p>
            </p:txBody>
          </p:sp>
        </mc:Choice>
        <mc:Fallback>
          <p:sp>
            <p:nvSpPr>
              <p:cNvPr id="3" name="文本框 2"/>
              <p:cNvSpPr txBox="1">
                <a:spLocks noRot="1" noChangeAspect="1" noMove="1" noResize="1" noEditPoints="1" noAdjustHandles="1" noChangeArrowheads="1" noChangeShapeType="1" noTextEdit="1"/>
              </p:cNvSpPr>
              <p:nvPr/>
            </p:nvSpPr>
            <p:spPr>
              <a:xfrm>
                <a:off x="732398" y="1877723"/>
                <a:ext cx="8801922" cy="1384995"/>
              </a:xfrm>
              <a:prstGeom prst="rect">
                <a:avLst/>
              </a:prstGeom>
              <a:blipFill rotWithShape="1">
                <a:blip r:embed="rId1"/>
                <a:stretch>
                  <a:fillRect l="-3" t="-2" r="5" b="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732398" y="3432311"/>
                <a:ext cx="6056528" cy="2646174"/>
              </a:xfrm>
              <a:prstGeom prst="rect">
                <a:avLst/>
              </a:prstGeom>
              <a:solidFill>
                <a:schemeClr val="accent6">
                  <a:lumMod val="20000"/>
                  <a:lumOff val="80000"/>
                  <a:alpha val="50000"/>
                </a:schemeClr>
              </a:solidFill>
            </p:spPr>
            <p:txBody>
              <a:bodyPr wrap="square" rtlCol="0">
                <a:spAutoFit/>
              </a:bodyPr>
              <a:lstStyle/>
              <a:p>
                <a:pPr algn="ctr">
                  <a:spcBef>
                    <a:spcPts val="600"/>
                  </a:spcBef>
                  <a:spcAft>
                    <a:spcPts val="300"/>
                  </a:spcAft>
                </a:pPr>
                <a:r>
                  <a:rPr lang="zh-CN" altLang="en-US" sz="2400" b="1">
                    <a:solidFill>
                      <a:schemeClr val="accent2">
                        <a:lumMod val="50000"/>
                      </a:schemeClr>
                    </a:solidFill>
                  </a:rPr>
                  <a:t>二分查找算法</a:t>
                </a:r>
                <a:endParaRPr lang="zh-CN" altLang="en-US" sz="2400" b="1">
                  <a:solidFill>
                    <a:schemeClr val="accent2">
                      <a:lumMod val="50000"/>
                    </a:schemeClr>
                  </a:solidFill>
                </a:endParaRPr>
              </a:p>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若整数序列长度是</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𝒏</m:t>
                    </m:r>
                  </m:oMath>
                </a14:m>
                <a:r>
                  <a:rPr lang="zh-CN" altLang="en-US" sz="2000" b="1">
                    <a:solidFill>
                      <a:srgbClr val="002060"/>
                    </a:solidFill>
                    <a:latin typeface="楷体" panose="02010609060101010101" pitchFamily="49" charset="-122"/>
                    <a:ea typeface="楷体" panose="02010609060101010101" pitchFamily="49" charset="-122"/>
                  </a:rPr>
                  <a:t>时，算法要进行的比较是</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𝒇</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𝒏</m:t>
                    </m:r>
                    <m:r>
                      <a:rPr lang="en-US" altLang="zh-CN" sz="2000" b="1" i="1" smtClean="0">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次</a:t>
                </a:r>
                <a:endParaRPr lang="zh-CN" altLang="en-US" sz="2000" b="1">
                  <a:solidFill>
                    <a:srgbClr val="002060"/>
                  </a:solidFill>
                  <a:latin typeface="楷体" panose="02010609060101010101" pitchFamily="49" charset="-122"/>
                  <a:ea typeface="楷体" panose="02010609060101010101" pitchFamily="49" charset="-122"/>
                </a:endParaRPr>
              </a:p>
              <a:p>
                <a:pPr marL="342900" indent="-342900">
                  <a:lnSpc>
                    <a:spcPts val="2800"/>
                  </a:lnSpc>
                  <a:spcBef>
                    <a:spcPts val="600"/>
                  </a:spcBef>
                  <a:spcAft>
                    <a:spcPts val="300"/>
                  </a:spcAft>
                  <a:buFont typeface="Arial" panose="020B0604020202020204" pitchFamily="34" charset="0"/>
                  <a:buChar char="•"/>
                </a:pPr>
                <a:r>
                  <a:rPr lang="zh-CN" altLang="en-US" sz="2000" b="1">
                    <a:solidFill>
                      <a:schemeClr val="accent6">
                        <a:lumMod val="50000"/>
                      </a:schemeClr>
                    </a:solidFill>
                  </a:rPr>
                  <a:t>有递推关系式：</a:t>
                </a:r>
                <a14:m>
                  <m:oMath xmlns:m="http://schemas.openxmlformats.org/officeDocument/2006/math">
                    <m:r>
                      <a:rPr lang="en-US" altLang="zh-CN" sz="2000" b="1" i="1" smtClean="0">
                        <a:solidFill>
                          <a:srgbClr val="C00000"/>
                        </a:solidFill>
                        <a:latin typeface="Cambria Math" panose="02040503050406030204" pitchFamily="18" charset="0"/>
                      </a:rPr>
                      <m:t>𝒇</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𝒏</m:t>
                        </m:r>
                      </m:e>
                    </m:d>
                    <m:r>
                      <a:rPr lang="en-US" altLang="zh-CN" sz="2000" b="1" i="1" smtClean="0">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𝒇</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𝟐</m:t>
                        </m:r>
                      </m:e>
                    </m:d>
                    <m:r>
                      <a:rPr lang="en-US" altLang="zh-CN" sz="2000" b="1" i="1">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𝟑</m:t>
                    </m:r>
                  </m:oMath>
                </a14:m>
                <a:endParaRPr lang="en-US" altLang="zh-CN" sz="2000" b="1">
                  <a:solidFill>
                    <a:schemeClr val="accent6">
                      <a:lumMod val="50000"/>
                    </a:schemeClr>
                  </a:solidFill>
                </a:endParaRPr>
              </a:p>
              <a:p>
                <a:pPr marL="342900" indent="-342900">
                  <a:lnSpc>
                    <a:spcPts val="2800"/>
                  </a:lnSpc>
                  <a:spcBef>
                    <a:spcPts val="600"/>
                  </a:spcBef>
                  <a:spcAft>
                    <a:spcPts val="300"/>
                  </a:spcAft>
                  <a:buFont typeface="Arial" panose="020B0604020202020204" pitchFamily="34" charset="0"/>
                  <a:buChar char="•"/>
                </a:pPr>
                <a:r>
                  <a:rPr lang="zh-CN" altLang="en-US" sz="2000" b="1">
                    <a:solidFill>
                      <a:schemeClr val="accent6">
                        <a:lumMod val="50000"/>
                      </a:schemeClr>
                    </a:solidFill>
                  </a:rPr>
                  <a:t>当</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𝟏</m:t>
                    </m:r>
                  </m:oMath>
                </a14:m>
                <a:r>
                  <a:rPr lang="zh-CN" altLang="en-US" sz="2000" b="1">
                    <a:solidFill>
                      <a:schemeClr val="accent6">
                        <a:lumMod val="50000"/>
                      </a:schemeClr>
                    </a:solidFill>
                  </a:rPr>
                  <a:t>时，</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𝒇</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𝟏</m:t>
                    </m:r>
                    <m:r>
                      <a:rPr lang="en-US" altLang="zh-CN" sz="2000" b="1" i="1" smtClean="0">
                        <a:solidFill>
                          <a:schemeClr val="accent6">
                            <a:lumMod val="50000"/>
                          </a:schemeClr>
                        </a:solidFill>
                        <a:latin typeface="Cambria Math" panose="02040503050406030204" pitchFamily="18" charset="0"/>
                      </a:rPr>
                      <m:t>) = </m:t>
                    </m:r>
                    <m:r>
                      <a:rPr lang="en-US" altLang="zh-CN" sz="2000" b="1" i="1" smtClean="0">
                        <a:solidFill>
                          <a:schemeClr val="accent6">
                            <a:lumMod val="50000"/>
                          </a:schemeClr>
                        </a:solidFill>
                        <a:latin typeface="Cambria Math" panose="02040503050406030204" pitchFamily="18" charset="0"/>
                      </a:rPr>
                      <m:t>𝟏</m:t>
                    </m:r>
                  </m:oMath>
                </a14:m>
                <a:endParaRPr lang="en-US" altLang="zh-CN" sz="2000" b="1">
                  <a:solidFill>
                    <a:schemeClr val="accent6">
                      <a:lumMod val="50000"/>
                    </a:schemeClr>
                  </a:solidFill>
                </a:endParaRPr>
              </a:p>
              <a:p>
                <a:pPr marL="342900" indent="-342900">
                  <a:lnSpc>
                    <a:spcPts val="2800"/>
                  </a:lnSpc>
                  <a:spcBef>
                    <a:spcPts val="600"/>
                  </a:spcBef>
                  <a:spcAft>
                    <a:spcPts val="300"/>
                  </a:spcAft>
                  <a:buFont typeface="Arial" panose="020B0604020202020204" pitchFamily="34" charset="0"/>
                  <a:buChar char="•"/>
                </a:pPr>
                <a:r>
                  <a:rPr lang="zh-CN" altLang="en-US" sz="2000" b="1">
                    <a:solidFill>
                      <a:schemeClr val="accent6">
                        <a:lumMod val="50000"/>
                      </a:schemeClr>
                    </a:solidFill>
                  </a:rPr>
                  <a:t>由于</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𝟐</m:t>
                    </m:r>
                  </m:oMath>
                </a14:m>
                <a:r>
                  <a:rPr lang="zh-CN" altLang="en-US" sz="2000" b="1">
                    <a:solidFill>
                      <a:schemeClr val="accent6">
                        <a:lumMod val="50000"/>
                      </a:schemeClr>
                    </a:solidFill>
                  </a:rPr>
                  <a:t>不一定是整数，因此</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𝒇</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𝒏</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𝒇</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𝒏</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𝟐</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𝟑</m:t>
                    </m:r>
                  </m:oMath>
                </a14:m>
                <a:r>
                  <a:rPr lang="zh-CN" altLang="en-US" sz="2000" b="1">
                    <a:solidFill>
                      <a:schemeClr val="accent6">
                        <a:lumMod val="50000"/>
                      </a:schemeClr>
                    </a:solidFill>
                  </a:rPr>
                  <a:t>是一个用于估算算法效率的递推关系式</a:t>
                </a:r>
                <a:endParaRPr lang="zh-CN" altLang="en-US" sz="2000" b="1">
                  <a:solidFill>
                    <a:schemeClr val="accent6">
                      <a:lumMod val="50000"/>
                    </a:schemeClr>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732398" y="3432311"/>
                <a:ext cx="6056528" cy="2646174"/>
              </a:xfrm>
              <a:prstGeom prst="rect">
                <a:avLst/>
              </a:prstGeom>
              <a:blipFill rotWithShape="1">
                <a:blip r:embed="rId2"/>
                <a:stretch>
                  <a:fillRect l="-4" t="-5" r="2" b="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7167185" y="3932255"/>
                <a:ext cx="4292417" cy="1646285"/>
              </a:xfrm>
              <a:prstGeom prst="rect">
                <a:avLst/>
              </a:prstGeom>
              <a:solidFill>
                <a:schemeClr val="accent4">
                  <a:lumMod val="20000"/>
                  <a:lumOff val="80000"/>
                </a:schemeClr>
              </a:solidFill>
            </p:spPr>
            <p:txBody>
              <a:bodyPr wrap="square" rtlCol="0">
                <a:spAutoFit/>
              </a:bodyPr>
              <a:lstStyle/>
              <a:p>
                <a:pPr>
                  <a:spcBef>
                    <a:spcPts val="600"/>
                  </a:spcBef>
                  <a:spcAft>
                    <a:spcPts val="600"/>
                  </a:spcAft>
                </a:pPr>
                <a:r>
                  <a:rPr lang="zh-CN" altLang="en-US" sz="2400" b="1">
                    <a:solidFill>
                      <a:schemeClr val="accent2">
                        <a:lumMod val="50000"/>
                      </a:schemeClr>
                    </a:solidFill>
                  </a:rPr>
                  <a:t>算法效率分析关注函数的增长</a:t>
                </a:r>
                <a:endParaRPr lang="zh-CN" altLang="en-US" sz="2400" b="1">
                  <a:solidFill>
                    <a:schemeClr val="accent2">
                      <a:lumMod val="50000"/>
                    </a:schemeClr>
                  </a:solidFill>
                </a:endParaRPr>
              </a:p>
              <a:p>
                <a:pPr marL="342900" indent="-342900">
                  <a:lnSpc>
                    <a:spcPts val="28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常用类似</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𝒇</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𝒏</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𝒂𝒇</m:t>
                    </m:r>
                    <m: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𝒏</m:t>
                    </m:r>
                    <m: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𝒃</m:t>
                    </m:r>
                    <m: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𝑶</m:t>
                    </m:r>
                    <m: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𝒏</m:t>
                    </m:r>
                    <m:r>
                      <a:rPr lang="en-US" altLang="zh-CN" sz="2000" b="1" i="1">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的递推关系式，并用大</a:t>
                </a:r>
                <a14:m>
                  <m:oMath xmlns:m="http://schemas.openxmlformats.org/officeDocument/2006/math">
                    <m:r>
                      <a:rPr lang="en-US" altLang="zh-CN" sz="2000" b="1" i="1" smtClean="0">
                        <a:solidFill>
                          <a:srgbClr val="002060"/>
                        </a:solidFill>
                        <a:latin typeface="Cambria Math" panose="02040503050406030204" pitchFamily="18" charset="0"/>
                      </a:rPr>
                      <m:t>𝑶</m:t>
                    </m:r>
                  </m:oMath>
                </a14:m>
                <a:r>
                  <a:rPr lang="zh-CN" altLang="en-US" sz="2000" b="1">
                    <a:solidFill>
                      <a:srgbClr val="002060"/>
                    </a:solidFill>
                    <a:latin typeface="楷体" panose="02010609060101010101" pitchFamily="49" charset="-122"/>
                    <a:ea typeface="楷体" panose="02010609060101010101" pitchFamily="49" charset="-122"/>
                  </a:rPr>
                  <a:t>记号估计</a:t>
                </a:r>
                <a14:m>
                  <m:oMath xmlns:m="http://schemas.openxmlformats.org/officeDocument/2006/math">
                    <m:r>
                      <a:rPr lang="en-US" altLang="zh-CN" sz="2000" b="1" i="1" smtClean="0">
                        <a:solidFill>
                          <a:srgbClr val="002060"/>
                        </a:solidFill>
                        <a:latin typeface="Cambria Math" panose="02040503050406030204" pitchFamily="18" charset="0"/>
                      </a:rPr>
                      <m:t>𝒇</m:t>
                    </m:r>
                  </m:oMath>
                </a14:m>
                <a:r>
                  <a:rPr lang="zh-CN" altLang="en-US" sz="2000" b="1">
                    <a:solidFill>
                      <a:srgbClr val="002060"/>
                    </a:solidFill>
                    <a:latin typeface="楷体" panose="02010609060101010101" pitchFamily="49" charset="-122"/>
                    <a:ea typeface="楷体" panose="02010609060101010101" pitchFamily="49" charset="-122"/>
                  </a:rPr>
                  <a:t>的增长情况</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6" name="文本框 5"/>
              <p:cNvSpPr txBox="1">
                <a:spLocks noRot="1" noChangeAspect="1" noMove="1" noResize="1" noEditPoints="1" noAdjustHandles="1" noChangeArrowheads="1" noChangeShapeType="1" noTextEdit="1"/>
              </p:cNvSpPr>
              <p:nvPr/>
            </p:nvSpPr>
            <p:spPr>
              <a:xfrm>
                <a:off x="7167185" y="3932255"/>
                <a:ext cx="4292417" cy="1646285"/>
              </a:xfrm>
              <a:prstGeom prst="rect">
                <a:avLst/>
              </a:prstGeom>
              <a:blipFill rotWithShape="1">
                <a:blip r:embed="rId3"/>
                <a:stretch>
                  <a:fillRect l="-13" t="-20" r="9" b="4"/>
                </a:stretch>
              </a:blipFill>
            </p:spPr>
            <p:txBody>
              <a:bodyPr/>
              <a:lstStyle/>
              <a:p>
                <a:r>
                  <a:rPr lang="zh-CN"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endParaRPr lang="zh-CN" altLang="en-US"/>
          </a:p>
        </p:txBody>
      </p:sp>
      <p:sp>
        <p:nvSpPr>
          <p:cNvPr id="2" name="文本框 1"/>
          <p:cNvSpPr txBox="1"/>
          <p:nvPr/>
        </p:nvSpPr>
        <p:spPr>
          <a:xfrm>
            <a:off x="1107232" y="1448010"/>
            <a:ext cx="5299788" cy="3547125"/>
          </a:xfrm>
          <a:prstGeom prst="rect">
            <a:avLst/>
          </a:prstGeom>
          <a:noFill/>
        </p:spPr>
        <p:txBody>
          <a:bodyPr wrap="square" rtlCol="0">
            <a:spAutoFit/>
          </a:bodyPr>
          <a:lstStyle/>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递推关系式建模回顾</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线性递推关系式求解</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分治算法与递推关系式</a:t>
            </a:r>
            <a:endParaRPr lang="en-US" altLang="zh-CN" sz="3200" b="1">
              <a:solidFill>
                <a:schemeClr val="bg2">
                  <a:lumMod val="90000"/>
                </a:schemeClr>
              </a:solidFill>
              <a:latin typeface="仿宋" panose="02010609060101010101" pitchFamily="49" charset="-122"/>
              <a:ea typeface="仿宋" panose="02010609060101010101"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线性递推关系式求解</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线性递推关系式</a:t>
            </a:r>
            <a:endParaRPr lang="zh-CN" altLang="en-US"/>
          </a:p>
        </p:txBody>
      </p:sp>
      <p:sp>
        <p:nvSpPr>
          <p:cNvPr id="2" name="文本框 1"/>
          <p:cNvSpPr txBox="1"/>
          <p:nvPr/>
        </p:nvSpPr>
        <p:spPr>
          <a:xfrm>
            <a:off x="1842775" y="1217009"/>
            <a:ext cx="8506443" cy="1446550"/>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对递推关系式进行求解是要给出递推关系式的一个封闭公式解</a:t>
            </a:r>
            <a:endParaRPr lang="zh-CN" altLang="en-US" sz="24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rPr>
              <a:t>课程学习常系数</a:t>
            </a:r>
            <a:r>
              <a:rPr lang="zh-CN" altLang="en-US" sz="2400" b="1">
                <a:solidFill>
                  <a:srgbClr val="C00000"/>
                </a:solidFill>
              </a:rPr>
              <a:t>线性齐次</a:t>
            </a:r>
            <a:r>
              <a:rPr lang="zh-CN" altLang="en-US" sz="2400" b="1">
                <a:solidFill>
                  <a:schemeClr val="accent6">
                    <a:lumMod val="50000"/>
                  </a:schemeClr>
                </a:solidFill>
              </a:rPr>
              <a:t>和</a:t>
            </a:r>
            <a:r>
              <a:rPr lang="zh-CN" altLang="en-US" sz="2400" b="1">
                <a:solidFill>
                  <a:srgbClr val="C00000"/>
                </a:solidFill>
              </a:rPr>
              <a:t>线性非齐次</a:t>
            </a:r>
            <a:r>
              <a:rPr lang="zh-CN" altLang="en-US" sz="2400" b="1">
                <a:solidFill>
                  <a:schemeClr val="accent6">
                    <a:lumMod val="50000"/>
                  </a:schemeClr>
                </a:solidFill>
              </a:rPr>
              <a:t>递推关系式的求解</a:t>
            </a:r>
            <a:endParaRPr lang="zh-CN" altLang="en-US" sz="2400" b="1">
              <a:solidFill>
                <a:schemeClr val="accent6">
                  <a:lumMod val="50000"/>
                </a:schemeClr>
              </a:solidFill>
            </a:endParaRP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对于线性非齐次递推式只学习容易确定特殊形式解的一类</a:t>
            </a:r>
            <a:endParaRPr lang="zh-CN" altLang="en-US" sz="2000" b="1">
              <a:solidFill>
                <a:schemeClr val="accent2">
                  <a:lumMod val="50000"/>
                </a:schemeClr>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3" name="文本框 2"/>
              <p:cNvSpPr txBox="1"/>
              <p:nvPr/>
            </p:nvSpPr>
            <p:spPr>
              <a:xfrm>
                <a:off x="1749853" y="2808985"/>
                <a:ext cx="8692286" cy="3447098"/>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常系数线性递推关系式</a:t>
                </a:r>
                <a:endParaRPr lang="en-US" altLang="zh-CN" sz="2400" b="1">
                  <a:solidFill>
                    <a:srgbClr val="C00000"/>
                  </a:solidFill>
                </a:endParaRPr>
              </a:p>
              <a:p>
                <a:pPr>
                  <a:spcBef>
                    <a:spcPts val="600"/>
                  </a:spcBef>
                  <a:spcAft>
                    <a:spcPts val="300"/>
                  </a:spcAft>
                </a:pPr>
                <a:r>
                  <a:rPr lang="zh-CN" altLang="en-US" sz="2400" b="1">
                    <a:solidFill>
                      <a:srgbClr val="002060"/>
                    </a:solidFill>
                    <a:latin typeface="楷体" panose="02010609060101010101" pitchFamily="49" charset="-122"/>
                    <a:ea typeface="楷体" panose="02010609060101010101" pitchFamily="49" charset="-122"/>
                  </a:rPr>
                  <a:t>一个常系数</a:t>
                </a:r>
                <a14:m>
                  <m:oMath xmlns:m="http://schemas.openxmlformats.org/officeDocument/2006/math">
                    <m:r>
                      <a:rPr lang="en-US" altLang="zh-CN" sz="2400" b="1" i="1" smtClean="0">
                        <a:solidFill>
                          <a:srgbClr val="002060"/>
                        </a:solidFill>
                        <a:latin typeface="Cambria Math" panose="02040503050406030204" pitchFamily="18" charset="0"/>
                      </a:rPr>
                      <m:t>𝒌</m:t>
                    </m:r>
                  </m:oMath>
                </a14:m>
                <a:r>
                  <a:rPr lang="zh-CN" altLang="en-US" sz="2400" b="1">
                    <a:solidFill>
                      <a:srgbClr val="002060"/>
                    </a:solidFill>
                    <a:latin typeface="楷体" panose="02010609060101010101" pitchFamily="49" charset="-122"/>
                    <a:ea typeface="楷体" panose="02010609060101010101" pitchFamily="49" charset="-122"/>
                  </a:rPr>
                  <a:t>阶线性递推关系式具有下面形式</a:t>
                </a:r>
                <a:endParaRPr lang="zh-CN" altLang="en-US" sz="2400" b="1">
                  <a:solidFill>
                    <a:srgbClr val="002060"/>
                  </a:solidFill>
                  <a:latin typeface="楷体" panose="02010609060101010101" pitchFamily="49" charset="-122"/>
                  <a:ea typeface="楷体" panose="02010609060101010101" pitchFamily="49" charset="-122"/>
                </a:endParaRPr>
              </a:p>
              <a:p>
                <a:pPr>
                  <a:spcBef>
                    <a:spcPts val="600"/>
                  </a:spcBef>
                  <a:spcAft>
                    <a:spcPts val="300"/>
                  </a:spcAft>
                </a:pPr>
                <a14:m>
                  <m:oMathPara xmlns:m="http://schemas.openxmlformats.org/officeDocument/2006/math">
                    <m:oMathParaPr>
                      <m:jc m:val="centerGroup"/>
                    </m:oMathParaPr>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𝒏</m:t>
                          </m:r>
                        </m:sub>
                      </m:sSub>
                      <m:r>
                        <a:rPr lang="en-US" altLang="zh-CN" sz="2000" b="1" i="1" smtClean="0">
                          <a:solidFill>
                            <a:srgbClr val="C00000"/>
                          </a:solidFill>
                          <a:latin typeface="Cambria Math" panose="02040503050406030204" pitchFamily="18" charset="0"/>
                        </a:rPr>
                        <m:t>= </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𝒄</m:t>
                          </m:r>
                        </m:e>
                        <m:sub>
                          <m:r>
                            <a:rPr lang="en-US" altLang="zh-CN" sz="2000" b="1" i="1" smtClean="0">
                              <a:solidFill>
                                <a:srgbClr val="C00000"/>
                              </a:solidFill>
                              <a:latin typeface="Cambria Math" panose="02040503050406030204" pitchFamily="18" charset="0"/>
                            </a:rPr>
                            <m:t>𝟏</m:t>
                          </m:r>
                        </m:sub>
                      </m:sSub>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sub>
                      </m:sSub>
                      <m:r>
                        <a:rPr lang="en-US" altLang="zh-CN" sz="2000" b="1" i="1" smtClean="0">
                          <a:solidFill>
                            <a:srgbClr val="C00000"/>
                          </a:solidFill>
                          <a:latin typeface="Cambria Math" panose="02040503050406030204" pitchFamily="18" charset="0"/>
                        </a:rPr>
                        <m:t>+ </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𝒄</m:t>
                          </m:r>
                        </m:e>
                        <m:sub>
                          <m:r>
                            <a:rPr lang="en-US" altLang="zh-CN" sz="2000" b="1" i="1" smtClean="0">
                              <a:solidFill>
                                <a:srgbClr val="C00000"/>
                              </a:solidFill>
                              <a:latin typeface="Cambria Math" panose="02040503050406030204" pitchFamily="18" charset="0"/>
                            </a:rPr>
                            <m:t>𝟐</m:t>
                          </m:r>
                        </m:sub>
                      </m:sSub>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𝟐</m:t>
                          </m:r>
                        </m:sub>
                      </m:sSub>
                      <m:r>
                        <a:rPr lang="en-US" altLang="zh-CN" sz="2000" b="1" i="1" smtClean="0">
                          <a:solidFill>
                            <a:srgbClr val="C00000"/>
                          </a:solidFill>
                          <a:latin typeface="Cambria Math" panose="02040503050406030204" pitchFamily="18" charset="0"/>
                        </a:rPr>
                        <m:t>+ ⋯+ </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𝒄</m:t>
                          </m:r>
                        </m:e>
                        <m:sub>
                          <m:r>
                            <a:rPr lang="en-US" altLang="zh-CN" sz="2000" b="1" i="1" smtClean="0">
                              <a:solidFill>
                                <a:srgbClr val="C00000"/>
                              </a:solidFill>
                              <a:latin typeface="Cambria Math" panose="02040503050406030204" pitchFamily="18" charset="0"/>
                            </a:rPr>
                            <m:t>𝒌</m:t>
                          </m:r>
                        </m:sub>
                      </m:sSub>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𝒌</m:t>
                          </m:r>
                        </m:sub>
                      </m:sSub>
                      <m:r>
                        <a:rPr lang="en-US" altLang="zh-CN" sz="2000" b="1" i="1" smtClean="0">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𝑭</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𝒏</m:t>
                          </m:r>
                        </m:e>
                      </m:d>
                    </m:oMath>
                  </m:oMathPara>
                </a14:m>
                <a:endParaRPr lang="en-US" altLang="zh-CN" sz="2000" b="1"/>
              </a:p>
              <a:p>
                <a:pPr marL="342900" indent="-342900">
                  <a:spcBef>
                    <a:spcPts val="600"/>
                  </a:spcBef>
                  <a:spcAft>
                    <a:spcPts val="300"/>
                  </a:spcAft>
                  <a:buFont typeface="Arial" panose="020B0604020202020204" pitchFamily="34" charset="0"/>
                  <a:buChar char="•"/>
                </a:pP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𝒄</m:t>
                        </m:r>
                      </m:e>
                      <m:sub>
                        <m:r>
                          <a:rPr lang="en-US" altLang="zh-CN" sz="2000" b="1" i="1" smtClean="0">
                            <a:solidFill>
                              <a:schemeClr val="accent6">
                                <a:lumMod val="50000"/>
                              </a:schemeClr>
                            </a:solidFill>
                            <a:latin typeface="Cambria Math" panose="02040503050406030204" pitchFamily="18" charset="0"/>
                          </a:rPr>
                          <m:t>𝟏</m:t>
                        </m:r>
                      </m:sub>
                    </m:sSub>
                    <m:r>
                      <a:rPr lang="en-US" altLang="zh-CN" sz="2000" b="1" i="1" smtClean="0">
                        <a:solidFill>
                          <a:schemeClr val="accent6">
                            <a:lumMod val="50000"/>
                          </a:schemeClr>
                        </a:solidFill>
                        <a:latin typeface="Cambria Math" panose="02040503050406030204" pitchFamily="18" charset="0"/>
                      </a:rPr>
                      <m:t>, ⋯, </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𝒄</m:t>
                        </m:r>
                      </m:e>
                      <m:sub>
                        <m:r>
                          <a:rPr lang="en-US" altLang="zh-CN" sz="2000" b="1" i="1" smtClean="0">
                            <a:solidFill>
                              <a:schemeClr val="accent6">
                                <a:lumMod val="50000"/>
                              </a:schemeClr>
                            </a:solidFill>
                            <a:latin typeface="Cambria Math" panose="02040503050406030204" pitchFamily="18" charset="0"/>
                          </a:rPr>
                          <m:t>𝒌</m:t>
                        </m:r>
                      </m:sub>
                    </m:sSub>
                  </m:oMath>
                </a14:m>
                <a:r>
                  <a:rPr lang="zh-CN" altLang="en-US" sz="2000" b="1">
                    <a:solidFill>
                      <a:schemeClr val="accent6">
                        <a:lumMod val="50000"/>
                      </a:schemeClr>
                    </a:solidFill>
                  </a:rPr>
                  <a:t>是与</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oMath>
                </a14:m>
                <a:r>
                  <a:rPr lang="zh-CN" altLang="en-US" sz="2000" b="1">
                    <a:solidFill>
                      <a:schemeClr val="accent6">
                        <a:lumMod val="50000"/>
                      </a:schemeClr>
                    </a:solidFill>
                  </a:rPr>
                  <a:t>无关的常数，因此是</a:t>
                </a:r>
                <a:r>
                  <a:rPr lang="zh-CN" altLang="en-US" sz="2000" b="1">
                    <a:solidFill>
                      <a:srgbClr val="C00000"/>
                    </a:solidFill>
                  </a:rPr>
                  <a:t>常系数</a:t>
                </a:r>
                <a:r>
                  <a:rPr lang="zh-CN" altLang="en-US" sz="2000" b="1">
                    <a:solidFill>
                      <a:schemeClr val="accent6">
                        <a:lumMod val="50000"/>
                      </a:schemeClr>
                    </a:solidFill>
                  </a:rPr>
                  <a:t>递推关系式</a:t>
                </a:r>
                <a:endParaRPr lang="zh-CN" altLang="en-US" sz="2000" b="1">
                  <a:solidFill>
                    <a:schemeClr val="accent6">
                      <a:lumMod val="50000"/>
                    </a:schemeClr>
                  </a:solidFill>
                </a:endParaRPr>
              </a:p>
              <a:p>
                <a:pPr marL="342900" indent="-342900">
                  <a:spcBef>
                    <a:spcPts val="600"/>
                  </a:spcBef>
                  <a:spcAft>
                    <a:spcPts val="300"/>
                  </a:spcAft>
                  <a:buFont typeface="Arial" panose="020B0604020202020204" pitchFamily="34" charset="0"/>
                  <a:buChar char="•"/>
                </a:pP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𝒄</m:t>
                        </m:r>
                      </m:e>
                      <m:sub>
                        <m:r>
                          <a:rPr lang="en-US" altLang="zh-CN" sz="2000" b="1" i="1" smtClean="0">
                            <a:solidFill>
                              <a:schemeClr val="accent6">
                                <a:lumMod val="50000"/>
                              </a:schemeClr>
                            </a:solidFill>
                            <a:latin typeface="Cambria Math" panose="02040503050406030204" pitchFamily="18" charset="0"/>
                          </a:rPr>
                          <m:t>𝒌</m:t>
                        </m:r>
                      </m:sub>
                    </m:sSub>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𝟎</m:t>
                    </m:r>
                  </m:oMath>
                </a14:m>
                <a:r>
                  <a:rPr lang="zh-CN" altLang="en-US" sz="2000" b="1">
                    <a:solidFill>
                      <a:schemeClr val="accent6">
                        <a:lumMod val="50000"/>
                      </a:schemeClr>
                    </a:solidFill>
                  </a:rPr>
                  <a:t>，等号后面的序列项</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𝒌</m:t>
                        </m:r>
                      </m:sub>
                    </m:sSub>
                  </m:oMath>
                </a14:m>
                <a:r>
                  <a:rPr lang="zh-CN" altLang="en-US" sz="2000" b="1">
                    <a:solidFill>
                      <a:schemeClr val="accent6">
                        <a:lumMod val="50000"/>
                      </a:schemeClr>
                    </a:solidFill>
                  </a:rPr>
                  <a:t>的下标与</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oMath>
                </a14:m>
                <a:r>
                  <a:rPr lang="zh-CN" altLang="en-US" sz="2000" b="1">
                    <a:solidFill>
                      <a:schemeClr val="accent6">
                        <a:lumMod val="50000"/>
                      </a:schemeClr>
                    </a:solidFill>
                  </a:rPr>
                  <a:t>相差</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𝒌</m:t>
                    </m:r>
                  </m:oMath>
                </a14:m>
                <a:r>
                  <a:rPr lang="zh-CN" altLang="en-US" sz="2000" b="1">
                    <a:solidFill>
                      <a:schemeClr val="accent6">
                        <a:lumMod val="50000"/>
                      </a:schemeClr>
                    </a:solidFill>
                  </a:rPr>
                  <a:t>，因此是</a:t>
                </a:r>
                <a14:m>
                  <m:oMath xmlns:m="http://schemas.openxmlformats.org/officeDocument/2006/math">
                    <m:r>
                      <a:rPr lang="en-US" altLang="zh-CN" sz="2000" b="1" i="1" smtClean="0">
                        <a:solidFill>
                          <a:srgbClr val="C00000"/>
                        </a:solidFill>
                        <a:latin typeface="Cambria Math" panose="02040503050406030204" pitchFamily="18" charset="0"/>
                      </a:rPr>
                      <m:t>𝒌</m:t>
                    </m:r>
                  </m:oMath>
                </a14:m>
                <a:r>
                  <a:rPr lang="zh-CN" altLang="en-US" sz="2000" b="1">
                    <a:solidFill>
                      <a:srgbClr val="C00000"/>
                    </a:solidFill>
                  </a:rPr>
                  <a:t>阶</a:t>
                </a:r>
                <a:r>
                  <a:rPr lang="zh-CN" altLang="en-US" sz="2000" b="1">
                    <a:solidFill>
                      <a:schemeClr val="accent6">
                        <a:lumMod val="50000"/>
                      </a:schemeClr>
                    </a:solidFill>
                  </a:rPr>
                  <a:t>递推关系式</a:t>
                </a:r>
                <a:endParaRPr lang="zh-CN" altLang="en-US" sz="2000" b="1">
                  <a:solidFill>
                    <a:schemeClr val="accent6">
                      <a:lumMod val="50000"/>
                    </a:schemeClr>
                  </a:solidFill>
                </a:endParaRPr>
              </a:p>
              <a:p>
                <a:pPr marL="342900" indent="-342900">
                  <a:spcBef>
                    <a:spcPts val="600"/>
                  </a:spcBef>
                  <a:spcAft>
                    <a:spcPts val="300"/>
                  </a:spcAft>
                  <a:buFont typeface="Arial" panose="020B0604020202020204" pitchFamily="34" charset="0"/>
                  <a:buChar char="•"/>
                </a:pPr>
                <a:r>
                  <a:rPr lang="zh-CN" altLang="en-US" sz="2000" b="1">
                    <a:solidFill>
                      <a:schemeClr val="accent6">
                        <a:lumMod val="50000"/>
                      </a:schemeClr>
                    </a:solidFill>
                  </a:rPr>
                  <a:t>每个参与相加的乘式</a:t>
                </a:r>
                <a:r>
                  <a:rPr lang="zh-CN" altLang="en-US" sz="2000" b="1">
                    <a:solidFill>
                      <a:srgbClr val="0000FF"/>
                    </a:solidFill>
                  </a:rPr>
                  <a:t>至多包含一个</a:t>
                </a:r>
                <a:r>
                  <a:rPr lang="zh-CN" altLang="en-US" sz="2000" b="1">
                    <a:solidFill>
                      <a:schemeClr val="accent6">
                        <a:lumMod val="50000"/>
                      </a:schemeClr>
                    </a:solidFill>
                  </a:rPr>
                  <a:t>序列项</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𝒊</m:t>
                        </m:r>
                      </m:sub>
                    </m:sSub>
                  </m:oMath>
                </a14:m>
                <a:r>
                  <a:rPr lang="zh-CN" altLang="en-US" sz="2000" b="1">
                    <a:solidFill>
                      <a:schemeClr val="accent6">
                        <a:lumMod val="50000"/>
                      </a:schemeClr>
                    </a:solidFill>
                  </a:rPr>
                  <a:t>，因此是</a:t>
                </a:r>
                <a:r>
                  <a:rPr lang="zh-CN" altLang="en-US" sz="2000" b="1">
                    <a:solidFill>
                      <a:srgbClr val="C00000"/>
                    </a:solidFill>
                  </a:rPr>
                  <a:t>线性</a:t>
                </a:r>
                <a:r>
                  <a:rPr lang="zh-CN" altLang="en-US" sz="2000" b="1">
                    <a:solidFill>
                      <a:schemeClr val="accent6">
                        <a:lumMod val="50000"/>
                      </a:schemeClr>
                    </a:solidFill>
                  </a:rPr>
                  <a:t>递推关系式</a:t>
                </a:r>
                <a:endParaRPr lang="zh-CN" altLang="en-US" sz="2000" b="1">
                  <a:solidFill>
                    <a:schemeClr val="accent6">
                      <a:lumMod val="50000"/>
                    </a:schemeClr>
                  </a:solidFill>
                </a:endParaRPr>
              </a:p>
              <a:p>
                <a:pPr marL="342900" indent="-342900">
                  <a:spcBef>
                    <a:spcPts val="600"/>
                  </a:spcBef>
                  <a:spcAft>
                    <a:spcPts val="300"/>
                  </a:spcAft>
                  <a:buFont typeface="Arial" panose="020B0604020202020204" pitchFamily="34" charset="0"/>
                  <a:buChar char="•"/>
                </a:pP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𝑭</m:t>
                    </m:r>
                    <m:d>
                      <m:dPr>
                        <m:ctrlPr>
                          <a:rPr lang="en-US" altLang="zh-CN" sz="2000" b="1" i="1" smtClean="0">
                            <a:solidFill>
                              <a:schemeClr val="accent6">
                                <a:lumMod val="50000"/>
                              </a:schemeClr>
                            </a:solidFill>
                            <a:latin typeface="Cambria Math" panose="02040503050406030204" pitchFamily="18" charset="0"/>
                          </a:rPr>
                        </m:ctrlPr>
                      </m:dPr>
                      <m:e>
                        <m:r>
                          <a:rPr lang="en-US" altLang="zh-CN" sz="2000" b="1" i="1" smtClean="0">
                            <a:solidFill>
                              <a:schemeClr val="accent6">
                                <a:lumMod val="50000"/>
                              </a:schemeClr>
                            </a:solidFill>
                            <a:latin typeface="Cambria Math" panose="02040503050406030204" pitchFamily="18" charset="0"/>
                          </a:rPr>
                          <m:t>𝒏</m:t>
                        </m:r>
                      </m:e>
                    </m:d>
                  </m:oMath>
                </a14:m>
                <a:r>
                  <a:rPr lang="zh-CN" altLang="en-US" sz="2000" b="1">
                    <a:solidFill>
                      <a:schemeClr val="accent6">
                        <a:lumMod val="50000"/>
                      </a:schemeClr>
                    </a:solidFill>
                  </a:rPr>
                  <a:t>是不包括任何序列项的</a:t>
                </a:r>
                <a:r>
                  <a:rPr lang="zh-CN" altLang="en-US" sz="2000" b="1">
                    <a:solidFill>
                      <a:srgbClr val="C00000"/>
                    </a:solidFill>
                  </a:rPr>
                  <a:t>非齐次式</a:t>
                </a:r>
                <a:endParaRPr lang="zh-CN" altLang="en-US" sz="2000" b="1">
                  <a:solidFill>
                    <a:srgbClr val="C00000"/>
                  </a:solidFill>
                </a:endParaRPr>
              </a:p>
              <a:p>
                <a:pPr marL="800100" lvl="1" indent="-342900">
                  <a:spcBef>
                    <a:spcPts val="600"/>
                  </a:spcBef>
                  <a:spcAft>
                    <a:spcPts val="300"/>
                  </a:spcAft>
                  <a:buFont typeface="Arial" panose="020B0604020202020204" pitchFamily="34" charset="0"/>
                  <a:buChar char="•"/>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𝒏</m:t>
                        </m:r>
                      </m:e>
                    </m:d>
                    <m:r>
                      <a:rPr lang="en-US" altLang="zh-CN" sz="2000" b="1" i="1">
                        <a:solidFill>
                          <a:schemeClr val="accent2">
                            <a:lumMod val="50000"/>
                          </a:schemeClr>
                        </a:solidFill>
                        <a:latin typeface="Cambria Math" panose="02040503050406030204" pitchFamily="18" charset="0"/>
                        <a:ea typeface="楷体" panose="02010609060101010101" pitchFamily="49" charset="-122"/>
                      </a:rPr>
                      <m:t>=</m:t>
                    </m:r>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𝟎</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是</a:t>
                </a:r>
                <a:r>
                  <a:rPr lang="zh-CN" altLang="en-US" sz="2000" b="1">
                    <a:solidFill>
                      <a:srgbClr val="0000FF"/>
                    </a:solidFill>
                    <a:latin typeface="楷体" panose="02010609060101010101" pitchFamily="49" charset="-122"/>
                    <a:ea typeface="楷体" panose="02010609060101010101" pitchFamily="49" charset="-122"/>
                  </a:rPr>
                  <a:t>齐次递推关系式</a:t>
                </a:r>
                <a:r>
                  <a:rPr lang="zh-CN" altLang="en-US" sz="2000" b="1">
                    <a:solidFill>
                      <a:schemeClr val="accent2">
                        <a:lumMod val="50000"/>
                      </a:schemeClr>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𝒏</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𝟎</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是</a:t>
                </a:r>
                <a:r>
                  <a:rPr lang="zh-CN" altLang="en-US" sz="2000" b="1">
                    <a:solidFill>
                      <a:srgbClr val="0000FF"/>
                    </a:solidFill>
                    <a:latin typeface="楷体" panose="02010609060101010101" pitchFamily="49" charset="-122"/>
                    <a:ea typeface="楷体" panose="02010609060101010101" pitchFamily="49" charset="-122"/>
                  </a:rPr>
                  <a:t>非齐次递推关系式</a:t>
                </a:r>
                <a:endParaRPr lang="zh-CN" altLang="en-US" sz="2000" b="1">
                  <a:solidFill>
                    <a:srgbClr val="0000FF"/>
                  </a:solidFill>
                  <a:latin typeface="楷体" panose="02010609060101010101" pitchFamily="49" charset="-122"/>
                  <a:ea typeface="楷体" panose="02010609060101010101" pitchFamily="49"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1749853" y="2808985"/>
                <a:ext cx="8692286" cy="3447098"/>
              </a:xfrm>
              <a:prstGeom prst="rect">
                <a:avLst/>
              </a:prstGeom>
              <a:blipFill rotWithShape="1">
                <a:blip r:embed="rId1"/>
                <a:stretch>
                  <a:fillRect l="-5" t="-11" r="2" b="2"/>
                </a:stretch>
              </a:blipFill>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线性递推关系式求解</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线性递推关系式举例</a:t>
            </a:r>
            <a:endParaRPr lang="zh-CN" altLang="en-US"/>
          </a:p>
        </p:txBody>
      </p:sp>
      <p:grpSp>
        <p:nvGrpSpPr>
          <p:cNvPr id="23" name="组合 22"/>
          <p:cNvGrpSpPr/>
          <p:nvPr/>
        </p:nvGrpSpPr>
        <p:grpSpPr>
          <a:xfrm>
            <a:off x="576737" y="1589075"/>
            <a:ext cx="11038524" cy="3864046"/>
            <a:chOff x="677577" y="1527472"/>
            <a:chExt cx="11038524" cy="3864046"/>
          </a:xfrm>
        </p:grpSpPr>
        <mc:AlternateContent xmlns:mc="http://schemas.openxmlformats.org/markup-compatibility/2006">
          <mc:Choice xmlns:a14="http://schemas.microsoft.com/office/drawing/2010/main" Requires="a14">
            <p:sp>
              <p:nvSpPr>
                <p:cNvPr id="2" name="文本框 1"/>
                <p:cNvSpPr txBox="1"/>
                <p:nvPr/>
              </p:nvSpPr>
              <p:spPr>
                <a:xfrm>
                  <a:off x="901242" y="1757536"/>
                  <a:ext cx="3637866" cy="707886"/>
                </a:xfrm>
                <a:prstGeom prst="rect">
                  <a:avLst/>
                </a:prstGeom>
                <a:solidFill>
                  <a:schemeClr val="accent6">
                    <a:lumMod val="20000"/>
                    <a:lumOff val="80000"/>
                    <a:alpha val="5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长度为</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𝒏</m:t>
                      </m:r>
                    </m:oMath>
                  </a14:m>
                  <a:r>
                    <a:rPr lang="zh-CN" altLang="en-US" sz="2000" b="1">
                      <a:solidFill>
                        <a:srgbClr val="002060"/>
                      </a:solidFill>
                      <a:latin typeface="楷体" panose="02010609060101010101" pitchFamily="49" charset="-122"/>
                      <a:ea typeface="楷体" panose="02010609060101010101" pitchFamily="49" charset="-122"/>
                    </a:rPr>
                    <a:t>含有连续两个</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𝟎</m:t>
                      </m:r>
                    </m:oMath>
                  </a14:m>
                  <a:r>
                    <a:rPr lang="zh-CN" altLang="en-US" sz="2000" b="1">
                      <a:solidFill>
                        <a:srgbClr val="002060"/>
                      </a:solidFill>
                      <a:latin typeface="楷体" panose="02010609060101010101" pitchFamily="49" charset="-122"/>
                      <a:ea typeface="楷体" panose="02010609060101010101" pitchFamily="49" charset="-122"/>
                    </a:rPr>
                    <a:t>或含有连续两个</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𝟏</m:t>
                      </m:r>
                    </m:oMath>
                  </a14:m>
                  <a:r>
                    <a:rPr lang="zh-CN" altLang="en-US" sz="2000" b="1">
                      <a:solidFill>
                        <a:srgbClr val="002060"/>
                      </a:solidFill>
                      <a:latin typeface="楷体" panose="02010609060101010101" pitchFamily="49" charset="-122"/>
                      <a:ea typeface="楷体" panose="02010609060101010101" pitchFamily="49" charset="-122"/>
                    </a:rPr>
                    <a:t>的三进制串数</a:t>
                  </a:r>
                  <a14:m>
                    <m:oMath xmlns:m="http://schemas.openxmlformats.org/officeDocument/2006/math">
                      <m:r>
                        <m:rPr>
                          <m:lit/>
                        </m:rPr>
                        <a:rPr lang="en-US" altLang="zh-CN" sz="2000" b="1" i="1" smtClean="0">
                          <a:solidFill>
                            <a:srgbClr val="002060"/>
                          </a:solidFill>
                          <a:latin typeface="Cambria Math" panose="02040503050406030204" pitchFamily="18" charset="0"/>
                          <a:ea typeface="楷体" panose="02010609060101010101" pitchFamily="49" charset="-122"/>
                        </a:rPr>
                        <m:t>{</m:t>
                      </m:r>
                      <m:sSub>
                        <m:sSubPr>
                          <m:ctrlPr>
                            <a:rPr lang="en-US" altLang="zh-CN" sz="2000" b="1" i="1" smtClean="0">
                              <a:solidFill>
                                <a:srgbClr val="002060"/>
                              </a:solidFill>
                              <a:latin typeface="Cambria Math" panose="02040503050406030204" pitchFamily="18" charset="0"/>
                              <a:ea typeface="楷体" panose="02010609060101010101" pitchFamily="49" charset="-122"/>
                            </a:rPr>
                          </m:ctrlPr>
                        </m:sSubPr>
                        <m:e>
                          <m:r>
                            <a:rPr lang="en-US" altLang="zh-CN" sz="2000" b="1" i="1" smtClean="0">
                              <a:solidFill>
                                <a:srgbClr val="002060"/>
                              </a:solidFill>
                              <a:latin typeface="Cambria Math" panose="02040503050406030204" pitchFamily="18" charset="0"/>
                              <a:ea typeface="楷体" panose="02010609060101010101" pitchFamily="49" charset="-122"/>
                            </a:rPr>
                            <m:t>𝒂</m:t>
                          </m:r>
                        </m:e>
                        <m:sub>
                          <m:r>
                            <a:rPr lang="en-US" altLang="zh-CN" sz="2000" b="1" i="1" smtClean="0">
                              <a:solidFill>
                                <a:srgbClr val="002060"/>
                              </a:solidFill>
                              <a:latin typeface="Cambria Math" panose="02040503050406030204" pitchFamily="18" charset="0"/>
                              <a:ea typeface="楷体" panose="02010609060101010101" pitchFamily="49" charset="-122"/>
                            </a:rPr>
                            <m:t>𝒏</m:t>
                          </m:r>
                        </m:sub>
                      </m:sSub>
                      <m:r>
                        <m:rPr>
                          <m:lit/>
                        </m:rPr>
                        <a:rPr lang="en-US" altLang="zh-CN" sz="2000" b="1" i="1" smtClean="0">
                          <a:solidFill>
                            <a:srgbClr val="002060"/>
                          </a:solidFill>
                          <a:latin typeface="Cambria Math" panose="02040503050406030204" pitchFamily="18" charset="0"/>
                          <a:ea typeface="楷体" panose="02010609060101010101" pitchFamily="49" charset="-122"/>
                        </a:rPr>
                        <m:t>}</m:t>
                      </m:r>
                    </m:oMath>
                  </a14:m>
                  <a:endParaRPr lang="zh-CN" altLang="en-US" sz="2000"/>
                </a:p>
              </p:txBody>
            </p:sp>
          </mc:Choice>
          <mc:Fallback>
            <p:sp>
              <p:nvSpPr>
                <p:cNvPr id="2" name="文本框 1"/>
                <p:cNvSpPr txBox="1">
                  <a:spLocks noRot="1" noChangeAspect="1" noMove="1" noResize="1" noEditPoints="1" noAdjustHandles="1" noChangeArrowheads="1" noChangeShapeType="1" noTextEdit="1"/>
                </p:cNvSpPr>
                <p:nvPr/>
              </p:nvSpPr>
              <p:spPr>
                <a:xfrm>
                  <a:off x="901242" y="1757536"/>
                  <a:ext cx="3637866" cy="707886"/>
                </a:xfrm>
                <a:prstGeom prst="rect">
                  <a:avLst/>
                </a:prstGeom>
                <a:blipFill rotWithShape="1">
                  <a:blip r:embed="rId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4901245" y="1765213"/>
                  <a:ext cx="3637866" cy="714876"/>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𝒂</m:t>
                            </m:r>
                          </m:e>
                          <m:sub>
                            <m:r>
                              <a:rPr lang="en-US" altLang="zh-CN" sz="2000" b="1" i="1">
                                <a:solidFill>
                                  <a:srgbClr val="C00000"/>
                                </a:solidFill>
                                <a:latin typeface="Cambria Math" panose="02040503050406030204" pitchFamily="18" charset="0"/>
                              </a:rPr>
                              <m:t>𝒏</m:t>
                            </m:r>
                          </m:sub>
                        </m:sSub>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𝟐</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𝒂</m:t>
                            </m:r>
                          </m:e>
                          <m:sub>
                            <m:r>
                              <a:rPr lang="en-US" altLang="zh-CN" sz="2000" b="1" i="1">
                                <a:solidFill>
                                  <a:srgbClr val="C00000"/>
                                </a:solidFill>
                                <a:latin typeface="Cambria Math" panose="02040503050406030204" pitchFamily="18" charset="0"/>
                              </a:rPr>
                              <m:t>𝒏</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m:t>
                            </m:r>
                          </m:sub>
                        </m:sSub>
                        <m:r>
                          <a:rPr lang="en-US" altLang="zh-CN" sz="2000" b="1" i="1">
                            <a:solidFill>
                              <a:srgbClr val="C00000"/>
                            </a:solidFill>
                            <a:latin typeface="Cambria Math" panose="02040503050406030204" pitchFamily="18" charset="0"/>
                          </a:rPr>
                          <m:t>+</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𝒂</m:t>
                            </m:r>
                          </m:e>
                          <m:sub>
                            <m:r>
                              <a:rPr lang="en-US" altLang="zh-CN" sz="2000" b="1" i="1">
                                <a:solidFill>
                                  <a:srgbClr val="C00000"/>
                                </a:solidFill>
                                <a:latin typeface="Cambria Math" panose="02040503050406030204" pitchFamily="18" charset="0"/>
                              </a:rPr>
                              <m:t>𝒏</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𝟐</m:t>
                            </m:r>
                          </m:sub>
                        </m:sSub>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𝟐</m:t>
                        </m:r>
                        <m:r>
                          <a:rPr lang="en-US" altLang="zh-CN" sz="2000" b="1" i="1">
                            <a:solidFill>
                              <a:srgbClr val="C00000"/>
                            </a:solidFill>
                            <a:latin typeface="Cambria Math" panose="02040503050406030204" pitchFamily="18" charset="0"/>
                          </a:rPr>
                          <m:t>⋅</m:t>
                        </m:r>
                        <m:sSup>
                          <m:sSupPr>
                            <m:ctrlPr>
                              <a:rPr lang="en-US" altLang="zh-CN" sz="2000" b="1" i="1">
                                <a:solidFill>
                                  <a:srgbClr val="C00000"/>
                                </a:solidFill>
                                <a:latin typeface="Cambria Math" panose="02040503050406030204" pitchFamily="18" charset="0"/>
                              </a:rPr>
                            </m:ctrlPr>
                          </m:sSupPr>
                          <m:e>
                            <m:r>
                              <a:rPr lang="en-US" altLang="zh-CN" sz="2000" b="1" i="1">
                                <a:solidFill>
                                  <a:srgbClr val="C00000"/>
                                </a:solidFill>
                                <a:latin typeface="Cambria Math" panose="02040503050406030204" pitchFamily="18" charset="0"/>
                              </a:rPr>
                              <m:t>𝟑</m:t>
                            </m:r>
                          </m:e>
                          <m:sup>
                            <m:r>
                              <a:rPr lang="en-US" altLang="zh-CN" sz="2000" b="1" i="1">
                                <a:solidFill>
                                  <a:srgbClr val="C00000"/>
                                </a:solidFill>
                                <a:latin typeface="Cambria Math" panose="02040503050406030204" pitchFamily="18" charset="0"/>
                              </a:rPr>
                              <m:t>𝒏</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𝟐</m:t>
                            </m:r>
                          </m:sup>
                        </m:sSup>
                      </m:oMath>
                    </m:oMathPara>
                  </a14:m>
                  <a:endParaRPr lang="en-US" altLang="zh-CN" sz="2000" b="1" i="1">
                    <a:solidFill>
                      <a:srgbClr val="C00000"/>
                    </a:solidFill>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𝒂</m:t>
                            </m:r>
                          </m:e>
                          <m:sub>
                            <m:r>
                              <a:rPr lang="en-US" altLang="zh-CN" sz="2000" b="1" i="1">
                                <a:solidFill>
                                  <a:srgbClr val="C00000"/>
                                </a:solidFill>
                                <a:latin typeface="Cambria Math" panose="02040503050406030204" pitchFamily="18" charset="0"/>
                              </a:rPr>
                              <m:t>𝟎</m:t>
                            </m:r>
                          </m:sub>
                        </m:sSub>
                        <m:r>
                          <a:rPr lang="en-US" altLang="zh-CN" sz="2000" b="1" i="1">
                            <a:solidFill>
                              <a:srgbClr val="C00000"/>
                            </a:solidFill>
                            <a:latin typeface="Cambria Math" panose="02040503050406030204" pitchFamily="18" charset="0"/>
                          </a:rPr>
                          <m:t>= </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𝒂</m:t>
                            </m:r>
                          </m:e>
                          <m:sub>
                            <m:r>
                              <a:rPr lang="en-US" altLang="zh-CN" sz="2000" b="1" i="1">
                                <a:solidFill>
                                  <a:srgbClr val="C00000"/>
                                </a:solidFill>
                                <a:latin typeface="Cambria Math" panose="02040503050406030204" pitchFamily="18" charset="0"/>
                              </a:rPr>
                              <m:t>𝟏</m:t>
                            </m:r>
                          </m:sub>
                        </m:sSub>
                        <m:r>
                          <a:rPr lang="en-US" altLang="zh-CN" sz="2000" b="1" i="1">
                            <a:solidFill>
                              <a:srgbClr val="C00000"/>
                            </a:solidFill>
                            <a:latin typeface="Cambria Math" panose="02040503050406030204" pitchFamily="18" charset="0"/>
                          </a:rPr>
                          <m:t>= </m:t>
                        </m:r>
                        <m:r>
                          <a:rPr lang="en-US" altLang="zh-CN" sz="2000" b="1" i="1">
                            <a:solidFill>
                              <a:srgbClr val="C00000"/>
                            </a:solidFill>
                            <a:latin typeface="Cambria Math" panose="02040503050406030204" pitchFamily="18" charset="0"/>
                          </a:rPr>
                          <m:t>𝟎</m:t>
                        </m:r>
                      </m:oMath>
                    </m:oMathPara>
                  </a14:m>
                  <a:endParaRPr lang="zh-CN" altLang="en-US" sz="2000">
                    <a:solidFill>
                      <a:srgbClr val="C00000"/>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a:off x="4901245" y="1765213"/>
                  <a:ext cx="3637866" cy="714876"/>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矩形 2"/>
                <p:cNvSpPr/>
                <p:nvPr/>
              </p:nvSpPr>
              <p:spPr>
                <a:xfrm>
                  <a:off x="677577" y="3082719"/>
                  <a:ext cx="3861531" cy="707886"/>
                </a:xfrm>
                <a:prstGeom prst="rect">
                  <a:avLst/>
                </a:prstGeom>
                <a:solidFill>
                  <a:schemeClr val="accent6">
                    <a:lumMod val="20000"/>
                    <a:lumOff val="80000"/>
                    <a:alpha val="50000"/>
                  </a:schemeClr>
                </a:solidFill>
              </p:spPr>
              <p:txBody>
                <a:bodyPr wrap="square">
                  <a:spAutoFit/>
                </a:bodyPr>
                <a:lstStyle/>
                <a:p>
                  <a:r>
                    <a:rPr lang="zh-CN" altLang="en-US" sz="2000" b="1">
                      <a:solidFill>
                        <a:srgbClr val="002060"/>
                      </a:solidFill>
                      <a:latin typeface="楷体" panose="02010609060101010101" pitchFamily="49" charset="-122"/>
                      <a:ea typeface="楷体" panose="02010609060101010101" pitchFamily="49" charset="-122"/>
                    </a:rPr>
                    <a:t>长度为</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𝒏</m:t>
                      </m:r>
                    </m:oMath>
                  </a14:m>
                  <a:r>
                    <a:rPr lang="zh-CN" altLang="en-US" sz="2000" b="1">
                      <a:solidFill>
                        <a:srgbClr val="002060"/>
                      </a:solidFill>
                      <a:latin typeface="楷体" panose="02010609060101010101" pitchFamily="49" charset="-122"/>
                      <a:ea typeface="楷体" panose="02010609060101010101" pitchFamily="49" charset="-122"/>
                    </a:rPr>
                    <a:t>不含有连续两个</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𝟎</m:t>
                      </m:r>
                    </m:oMath>
                  </a14:m>
                  <a:r>
                    <a:rPr lang="zh-CN" altLang="en-US" sz="2000" b="1">
                      <a:solidFill>
                        <a:srgbClr val="002060"/>
                      </a:solidFill>
                      <a:latin typeface="楷体" panose="02010609060101010101" pitchFamily="49" charset="-122"/>
                      <a:ea typeface="楷体" panose="02010609060101010101" pitchFamily="49" charset="-122"/>
                    </a:rPr>
                    <a:t>且不含有连续两个</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𝟏</m:t>
                      </m:r>
                    </m:oMath>
                  </a14:m>
                  <a:r>
                    <a:rPr lang="zh-CN" altLang="en-US" sz="2000" b="1">
                      <a:solidFill>
                        <a:srgbClr val="002060"/>
                      </a:solidFill>
                      <a:latin typeface="楷体" panose="02010609060101010101" pitchFamily="49" charset="-122"/>
                      <a:ea typeface="楷体" panose="02010609060101010101" pitchFamily="49" charset="-122"/>
                    </a:rPr>
                    <a:t>的三进制串数</a:t>
                  </a:r>
                  <a14:m>
                    <m:oMath xmlns:m="http://schemas.openxmlformats.org/officeDocument/2006/math">
                      <m:r>
                        <m:rPr>
                          <m:lit/>
                        </m:rPr>
                        <a:rPr lang="en-US" altLang="zh-CN" sz="2000" b="1" i="1">
                          <a:solidFill>
                            <a:srgbClr val="002060"/>
                          </a:solidFill>
                          <a:latin typeface="Cambria Math" panose="02040503050406030204" pitchFamily="18" charset="0"/>
                          <a:ea typeface="楷体" panose="02010609060101010101" pitchFamily="49" charset="-122"/>
                        </a:rPr>
                        <m:t>{</m:t>
                      </m:r>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i="1" smtClean="0">
                              <a:solidFill>
                                <a:srgbClr val="002060"/>
                              </a:solidFill>
                              <a:latin typeface="Cambria Math" panose="02040503050406030204" pitchFamily="18" charset="0"/>
                              <a:ea typeface="楷体" panose="02010609060101010101" pitchFamily="49" charset="-122"/>
                            </a:rPr>
                            <m:t>𝒂</m:t>
                          </m:r>
                        </m:e>
                        <m:sub>
                          <m:r>
                            <a:rPr lang="en-US" altLang="zh-CN" sz="2000" b="1" i="1">
                              <a:solidFill>
                                <a:srgbClr val="002060"/>
                              </a:solidFill>
                              <a:latin typeface="Cambria Math" panose="02040503050406030204" pitchFamily="18" charset="0"/>
                              <a:ea typeface="楷体" panose="02010609060101010101" pitchFamily="49" charset="-122"/>
                            </a:rPr>
                            <m:t>𝒏</m:t>
                          </m:r>
                        </m:sub>
                      </m:sSub>
                      <m:r>
                        <m:rPr>
                          <m:lit/>
                        </m:rPr>
                        <a:rPr lang="en-US" altLang="zh-CN" sz="2000" b="1" i="1">
                          <a:solidFill>
                            <a:srgbClr val="002060"/>
                          </a:solidFill>
                          <a:latin typeface="Cambria Math" panose="02040503050406030204" pitchFamily="18" charset="0"/>
                          <a:ea typeface="楷体" panose="02010609060101010101" pitchFamily="49" charset="-122"/>
                        </a:rPr>
                        <m:t>}</m:t>
                      </m:r>
                    </m:oMath>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3" name="矩形 2"/>
                <p:cNvSpPr>
                  <a:spLocks noRot="1" noChangeAspect="1" noMove="1" noResize="1" noEditPoints="1" noAdjustHandles="1" noChangeArrowheads="1" noChangeShapeType="1" noTextEdit="1"/>
                </p:cNvSpPr>
                <p:nvPr/>
              </p:nvSpPr>
              <p:spPr>
                <a:xfrm>
                  <a:off x="677577" y="3082719"/>
                  <a:ext cx="3861531" cy="707886"/>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4901245" y="3100544"/>
                  <a:ext cx="2686188" cy="707886"/>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𝒂</m:t>
                            </m:r>
                          </m:e>
                          <m:sub>
                            <m:r>
                              <a:rPr lang="en-US" altLang="zh-CN" sz="2000" b="1" i="1">
                                <a:solidFill>
                                  <a:srgbClr val="C00000"/>
                                </a:solidFill>
                                <a:latin typeface="Cambria Math" panose="02040503050406030204" pitchFamily="18" charset="0"/>
                              </a:rPr>
                              <m:t>𝒏</m:t>
                            </m:r>
                          </m:sub>
                        </m:sSub>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𝟐</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𝒂</m:t>
                            </m:r>
                          </m:e>
                          <m:sub>
                            <m:r>
                              <a:rPr lang="en-US" altLang="zh-CN" sz="2000" b="1" i="1">
                                <a:solidFill>
                                  <a:srgbClr val="C00000"/>
                                </a:solidFill>
                                <a:latin typeface="Cambria Math" panose="02040503050406030204" pitchFamily="18" charset="0"/>
                              </a:rPr>
                              <m:t>𝒏</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m:t>
                            </m:r>
                          </m:sub>
                        </m:sSub>
                        <m:r>
                          <a:rPr lang="en-US" altLang="zh-CN" sz="2000" b="1" i="1">
                            <a:solidFill>
                              <a:srgbClr val="C00000"/>
                            </a:solidFill>
                            <a:latin typeface="Cambria Math" panose="02040503050406030204" pitchFamily="18" charset="0"/>
                          </a:rPr>
                          <m:t>+</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𝒂</m:t>
                            </m:r>
                          </m:e>
                          <m:sub>
                            <m:r>
                              <a:rPr lang="en-US" altLang="zh-CN" sz="2000" b="1" i="1">
                                <a:solidFill>
                                  <a:srgbClr val="C00000"/>
                                </a:solidFill>
                                <a:latin typeface="Cambria Math" panose="02040503050406030204" pitchFamily="18" charset="0"/>
                              </a:rPr>
                              <m:t>𝒏</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𝟐</m:t>
                            </m:r>
                          </m:sub>
                        </m:sSub>
                      </m:oMath>
                    </m:oMathPara>
                  </a14:m>
                  <a:endParaRPr lang="en-US" altLang="zh-CN" sz="2000" b="1" i="1">
                    <a:solidFill>
                      <a:srgbClr val="C00000"/>
                    </a:solidFill>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𝒂</m:t>
                            </m:r>
                          </m:e>
                          <m:sub>
                            <m:r>
                              <a:rPr lang="en-US" altLang="zh-CN" sz="2000" b="1" i="1">
                                <a:solidFill>
                                  <a:srgbClr val="C00000"/>
                                </a:solidFill>
                                <a:latin typeface="Cambria Math" panose="02040503050406030204" pitchFamily="18" charset="0"/>
                              </a:rPr>
                              <m:t>𝟎</m:t>
                            </m:r>
                          </m:sub>
                        </m:sSub>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m:t>
                        </m:r>
                        <m:r>
                          <a:rPr lang="en-US" altLang="zh-CN" sz="2000" b="1" i="1">
                            <a:solidFill>
                              <a:srgbClr val="C00000"/>
                            </a:solidFill>
                            <a:latin typeface="Cambria Math" panose="02040503050406030204" pitchFamily="18" charset="0"/>
                          </a:rPr>
                          <m:t>, </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𝒂</m:t>
                            </m:r>
                          </m:e>
                          <m:sub>
                            <m:r>
                              <a:rPr lang="en-US" altLang="zh-CN" sz="2000" b="1" i="1">
                                <a:solidFill>
                                  <a:srgbClr val="C00000"/>
                                </a:solidFill>
                                <a:latin typeface="Cambria Math" panose="02040503050406030204" pitchFamily="18" charset="0"/>
                              </a:rPr>
                              <m:t>𝟏</m:t>
                            </m:r>
                          </m:sub>
                        </m:sSub>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𝟑</m:t>
                        </m:r>
                      </m:oMath>
                    </m:oMathPara>
                  </a14:m>
                  <a:endParaRPr lang="zh-CN" altLang="en-US" sz="2000">
                    <a:solidFill>
                      <a:srgbClr val="C00000"/>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4901245" y="3100544"/>
                  <a:ext cx="2686188" cy="707886"/>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1828088" y="4414846"/>
                  <a:ext cx="2711020" cy="707886"/>
                </a:xfrm>
                <a:prstGeom prst="rect">
                  <a:avLst/>
                </a:prstGeom>
                <a:solidFill>
                  <a:schemeClr val="accent6">
                    <a:lumMod val="20000"/>
                    <a:lumOff val="80000"/>
                    <a:alpha val="5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长度为</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𝒏</m:t>
                      </m:r>
                    </m:oMath>
                  </a14:m>
                  <a:r>
                    <a:rPr lang="zh-CN" altLang="en-US" sz="2000" b="1">
                      <a:solidFill>
                        <a:srgbClr val="002060"/>
                      </a:solidFill>
                      <a:latin typeface="楷体" panose="02010609060101010101" pitchFamily="49" charset="-122"/>
                      <a:ea typeface="楷体" panose="02010609060101010101" pitchFamily="49" charset="-122"/>
                    </a:rPr>
                    <a:t>含有连续三个</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𝟎</m:t>
                      </m:r>
                    </m:oMath>
                  </a14:m>
                  <a:r>
                    <a:rPr lang="zh-CN" altLang="en-US" sz="2000" b="1">
                      <a:solidFill>
                        <a:srgbClr val="002060"/>
                      </a:solidFill>
                      <a:latin typeface="楷体" panose="02010609060101010101" pitchFamily="49" charset="-122"/>
                      <a:ea typeface="楷体" panose="02010609060101010101" pitchFamily="49" charset="-122"/>
                    </a:rPr>
                    <a:t>的二进制串数</a:t>
                  </a:r>
                  <a14:m>
                    <m:oMath xmlns:m="http://schemas.openxmlformats.org/officeDocument/2006/math">
                      <m:r>
                        <m:rPr>
                          <m:lit/>
                        </m:rPr>
                        <a:rPr lang="en-US" altLang="zh-CN" sz="2000" b="1" i="1">
                          <a:solidFill>
                            <a:srgbClr val="002060"/>
                          </a:solidFill>
                          <a:latin typeface="Cambria Math" panose="02040503050406030204" pitchFamily="18" charset="0"/>
                          <a:ea typeface="楷体" panose="02010609060101010101" pitchFamily="49" charset="-122"/>
                        </a:rPr>
                        <m:t>{</m:t>
                      </m:r>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i="1">
                              <a:solidFill>
                                <a:srgbClr val="002060"/>
                              </a:solidFill>
                              <a:latin typeface="Cambria Math" panose="02040503050406030204" pitchFamily="18" charset="0"/>
                              <a:ea typeface="楷体" panose="02010609060101010101" pitchFamily="49" charset="-122"/>
                            </a:rPr>
                            <m:t>𝒂</m:t>
                          </m:r>
                        </m:e>
                        <m:sub>
                          <m:r>
                            <a:rPr lang="en-US" altLang="zh-CN" sz="2000" b="1" i="1">
                              <a:solidFill>
                                <a:srgbClr val="002060"/>
                              </a:solidFill>
                              <a:latin typeface="Cambria Math" panose="02040503050406030204" pitchFamily="18" charset="0"/>
                              <a:ea typeface="楷体" panose="02010609060101010101" pitchFamily="49" charset="-122"/>
                            </a:rPr>
                            <m:t>𝒏</m:t>
                          </m:r>
                        </m:sub>
                      </m:sSub>
                      <m:r>
                        <m:rPr>
                          <m:lit/>
                        </m:rPr>
                        <a:rPr lang="en-US" altLang="zh-CN" sz="2000" b="1" i="1">
                          <a:solidFill>
                            <a:srgbClr val="002060"/>
                          </a:solidFill>
                          <a:latin typeface="Cambria Math" panose="02040503050406030204" pitchFamily="18" charset="0"/>
                          <a:ea typeface="楷体" panose="02010609060101010101" pitchFamily="49" charset="-122"/>
                        </a:rPr>
                        <m:t>}</m:t>
                      </m:r>
                    </m:oMath>
                  </a14:m>
                  <a:endParaRPr lang="zh-CN" altLang="en-US" sz="2000"/>
                </a:p>
              </p:txBody>
            </p:sp>
          </mc:Choice>
          <mc:Fallback>
            <p:sp>
              <p:nvSpPr>
                <p:cNvPr id="4" name="文本框 3"/>
                <p:cNvSpPr txBox="1">
                  <a:spLocks noRot="1" noChangeAspect="1" noMove="1" noResize="1" noEditPoints="1" noAdjustHandles="1" noChangeArrowheads="1" noChangeShapeType="1" noTextEdit="1"/>
                </p:cNvSpPr>
                <p:nvPr/>
              </p:nvSpPr>
              <p:spPr>
                <a:xfrm>
                  <a:off x="1828088" y="4414846"/>
                  <a:ext cx="2711020" cy="707886"/>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4901246" y="4352232"/>
                  <a:ext cx="4085968" cy="868764"/>
                </a:xfrm>
                <a:prstGeom prst="rect">
                  <a:avLst/>
                </a:prstGeom>
                <a:solidFill>
                  <a:schemeClr val="accent2">
                    <a:lumMod val="20000"/>
                    <a:lumOff val="80000"/>
                  </a:schemeClr>
                </a:solidFill>
              </p:spPr>
              <p:txBody>
                <a:bodyPr wrap="square" rtlCol="0">
                  <a:spAutoFit/>
                </a:bodyPr>
                <a:lstStyle/>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𝒂</m:t>
                            </m:r>
                          </m:e>
                          <m:sub>
                            <m:r>
                              <a:rPr lang="en-US" altLang="zh-CN" sz="2000" b="1" i="1">
                                <a:solidFill>
                                  <a:srgbClr val="C00000"/>
                                </a:solidFill>
                                <a:latin typeface="Cambria Math" panose="02040503050406030204" pitchFamily="18" charset="0"/>
                              </a:rPr>
                              <m:t>𝒏</m:t>
                            </m:r>
                          </m:sub>
                        </m:sSub>
                        <m:r>
                          <a:rPr lang="en-US" altLang="zh-CN" sz="2000" b="1" i="1">
                            <a:solidFill>
                              <a:srgbClr val="C00000"/>
                            </a:solidFill>
                            <a:latin typeface="Cambria Math" panose="02040503050406030204" pitchFamily="18" charset="0"/>
                          </a:rPr>
                          <m:t>=</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𝒂</m:t>
                            </m:r>
                          </m:e>
                          <m:sub>
                            <m:r>
                              <a:rPr lang="en-US" altLang="zh-CN" sz="2000" b="1" i="1">
                                <a:solidFill>
                                  <a:srgbClr val="C00000"/>
                                </a:solidFill>
                                <a:latin typeface="Cambria Math" panose="02040503050406030204" pitchFamily="18" charset="0"/>
                              </a:rPr>
                              <m:t>𝒏</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m:t>
                            </m:r>
                          </m:sub>
                        </m:sSub>
                        <m:r>
                          <a:rPr lang="en-US" altLang="zh-CN" sz="2000" b="1" i="1">
                            <a:solidFill>
                              <a:srgbClr val="C00000"/>
                            </a:solidFill>
                            <a:latin typeface="Cambria Math" panose="02040503050406030204" pitchFamily="18" charset="0"/>
                          </a:rPr>
                          <m:t>+</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𝒂</m:t>
                            </m:r>
                          </m:e>
                          <m:sub>
                            <m:r>
                              <a:rPr lang="en-US" altLang="zh-CN" sz="2000" b="1" i="1">
                                <a:solidFill>
                                  <a:srgbClr val="C00000"/>
                                </a:solidFill>
                                <a:latin typeface="Cambria Math" panose="02040503050406030204" pitchFamily="18" charset="0"/>
                              </a:rPr>
                              <m:t>𝒏</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𝟐</m:t>
                            </m:r>
                          </m:sub>
                        </m:sSub>
                        <m:r>
                          <a:rPr lang="en-US" altLang="zh-CN" sz="2000" b="1" i="1">
                            <a:solidFill>
                              <a:srgbClr val="C00000"/>
                            </a:solidFill>
                            <a:latin typeface="Cambria Math" panose="02040503050406030204" pitchFamily="18" charset="0"/>
                          </a:rPr>
                          <m:t>+</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𝒂</m:t>
                            </m:r>
                          </m:e>
                          <m:sub>
                            <m:r>
                              <a:rPr lang="en-US" altLang="zh-CN" sz="2000" b="1" i="1">
                                <a:solidFill>
                                  <a:srgbClr val="C00000"/>
                                </a:solidFill>
                                <a:latin typeface="Cambria Math" panose="02040503050406030204" pitchFamily="18" charset="0"/>
                              </a:rPr>
                              <m:t>𝒏</m:t>
                            </m:r>
                            <m:r>
                              <a:rPr lang="en-US" altLang="zh-CN" sz="2000" b="1" i="1">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𝟑</m:t>
                            </m:r>
                          </m:sub>
                        </m:sSub>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𝟐</m:t>
                            </m:r>
                          </m:e>
                          <m:sup>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𝟑</m:t>
                            </m:r>
                          </m:sup>
                        </m:sSup>
                      </m:oMath>
                    </m:oMathPara>
                  </a14:m>
                  <a:endParaRPr lang="en-US" altLang="zh-CN" sz="2000" b="1" i="1">
                    <a:solidFill>
                      <a:srgbClr val="C00000"/>
                    </a:solidFill>
                    <a:latin typeface="Cambria Math" panose="02040503050406030204" pitchFamily="18" charset="0"/>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𝒂</m:t>
                            </m:r>
                          </m:e>
                          <m:sub>
                            <m:r>
                              <a:rPr lang="en-US" altLang="zh-CN" sz="2000" b="1" i="1">
                                <a:solidFill>
                                  <a:srgbClr val="C00000"/>
                                </a:solidFill>
                                <a:latin typeface="Cambria Math" panose="02040503050406030204" pitchFamily="18" charset="0"/>
                              </a:rPr>
                              <m:t>𝟎</m:t>
                            </m:r>
                          </m:sub>
                        </m:sSub>
                        <m:r>
                          <a:rPr lang="en-US" altLang="zh-CN" sz="2000" b="1" i="1">
                            <a:solidFill>
                              <a:srgbClr val="C00000"/>
                            </a:solidFill>
                            <a:latin typeface="Cambria Math" panose="02040503050406030204" pitchFamily="18" charset="0"/>
                          </a:rPr>
                          <m:t>=</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𝒂</m:t>
                            </m:r>
                          </m:e>
                          <m:sub>
                            <m:r>
                              <a:rPr lang="en-US" altLang="zh-CN" sz="2000" b="1" i="1">
                                <a:solidFill>
                                  <a:srgbClr val="C00000"/>
                                </a:solidFill>
                                <a:latin typeface="Cambria Math" panose="02040503050406030204" pitchFamily="18" charset="0"/>
                              </a:rPr>
                              <m:t>𝟏</m:t>
                            </m:r>
                          </m:sub>
                        </m:sSub>
                        <m:r>
                          <a:rPr lang="en-US" altLang="zh-CN" sz="2000" b="1" i="1">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𝟐</m:t>
                            </m:r>
                          </m:sub>
                        </m:sSub>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𝟎</m:t>
                        </m:r>
                      </m:oMath>
                    </m:oMathPara>
                  </a14:m>
                  <a:endParaRPr lang="zh-CN" altLang="en-US" sz="2000">
                    <a:solidFill>
                      <a:srgbClr val="C00000"/>
                    </a:solidFill>
                  </a:endParaRPr>
                </a:p>
              </p:txBody>
            </p:sp>
          </mc:Choice>
          <mc:Fallback>
            <p:sp>
              <p:nvSpPr>
                <p:cNvPr id="13" name="文本框 12"/>
                <p:cNvSpPr txBox="1">
                  <a:spLocks noRot="1" noChangeAspect="1" noMove="1" noResize="1" noEditPoints="1" noAdjustHandles="1" noChangeArrowheads="1" noChangeShapeType="1" noTextEdit="1"/>
                </p:cNvSpPr>
                <p:nvPr/>
              </p:nvSpPr>
              <p:spPr>
                <a:xfrm>
                  <a:off x="4901246" y="4352232"/>
                  <a:ext cx="4085968" cy="868764"/>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9349352" y="1527472"/>
                  <a:ext cx="2366749" cy="1222964"/>
                </a:xfrm>
                <a:prstGeom prst="rect">
                  <a:avLst/>
                </a:prstGeom>
                <a:solidFill>
                  <a:schemeClr val="accent4">
                    <a:lumMod val="20000"/>
                    <a:lumOff val="80000"/>
                  </a:schemeClr>
                </a:solidFill>
              </p:spPr>
              <p:txBody>
                <a:bodyPr wrap="square" rtlCol="0">
                  <a:spAutoFit/>
                </a:bodyPr>
                <a:lstStyle/>
                <a:p>
                  <a:pPr>
                    <a:lnSpc>
                      <a:spcPts val="2800"/>
                    </a:lnSpc>
                    <a:spcBef>
                      <a:spcPts val="600"/>
                    </a:spcBef>
                  </a:pPr>
                  <a:r>
                    <a:rPr lang="zh-CN" altLang="en-US" sz="2000" b="1">
                      <a:solidFill>
                        <a:schemeClr val="accent2">
                          <a:lumMod val="50000"/>
                        </a:schemeClr>
                      </a:solidFill>
                    </a:rPr>
                    <a:t>常系数</a:t>
                  </a:r>
                  <a14:m>
                    <m:oMath xmlns:m="http://schemas.openxmlformats.org/officeDocument/2006/math">
                      <m:r>
                        <a:rPr lang="en-US" altLang="zh-CN" sz="2000" b="1" i="1">
                          <a:solidFill>
                            <a:schemeClr val="accent2">
                              <a:lumMod val="50000"/>
                            </a:schemeClr>
                          </a:solidFill>
                          <a:latin typeface="Cambria Math" panose="02040503050406030204" pitchFamily="18" charset="0"/>
                        </a:rPr>
                        <m:t>𝟐</m:t>
                      </m:r>
                    </m:oMath>
                  </a14:m>
                  <a:r>
                    <a:rPr lang="zh-CN" altLang="en-US" sz="2000" b="1">
                      <a:solidFill>
                        <a:schemeClr val="accent2">
                          <a:lumMod val="50000"/>
                        </a:schemeClr>
                      </a:solidFill>
                    </a:rPr>
                    <a:t>阶线性</a:t>
                  </a:r>
                  <a:r>
                    <a:rPr lang="zh-CN" altLang="en-US" sz="2000" b="1">
                      <a:solidFill>
                        <a:srgbClr val="C00000"/>
                      </a:solidFill>
                    </a:rPr>
                    <a:t>非齐次</a:t>
                  </a:r>
                  <a:r>
                    <a:rPr lang="zh-CN" altLang="en-US" sz="2000" b="1">
                      <a:solidFill>
                        <a:schemeClr val="accent2">
                          <a:lumMod val="50000"/>
                        </a:schemeClr>
                      </a:solidFill>
                    </a:rPr>
                    <a:t>递推关系式</a:t>
                  </a:r>
                  <a:endParaRPr lang="en-US" altLang="zh-CN" sz="2000" b="1">
                    <a:solidFill>
                      <a:schemeClr val="accent2">
                        <a:lumMod val="50000"/>
                      </a:schemeClr>
                    </a:solidFill>
                  </a:endParaRPr>
                </a:p>
                <a:p>
                  <a:pPr marL="342900" indent="-342900">
                    <a:lnSpc>
                      <a:spcPts val="2800"/>
                    </a:lnSpc>
                    <a:spcBef>
                      <a:spcPts val="600"/>
                    </a:spcBef>
                    <a:buFont typeface="Arial" panose="020B0604020202020204" pitchFamily="34" charset="0"/>
                    <a:buChar char="•"/>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𝒏</m:t>
                          </m:r>
                        </m:e>
                      </m:d>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𝟐</m:t>
                      </m:r>
                      <m:r>
                        <a:rPr lang="en-US" altLang="zh-CN" sz="2000" b="1" i="1" smtClean="0">
                          <a:solidFill>
                            <a:schemeClr val="accent2">
                              <a:lumMod val="50000"/>
                            </a:schemeClr>
                          </a:solidFill>
                          <a:latin typeface="Cambria Math" panose="02040503050406030204" pitchFamily="18" charset="0"/>
                        </a:rPr>
                        <m:t>⋅</m:t>
                      </m:r>
                      <m:sSup>
                        <m:sSupPr>
                          <m:ctrlPr>
                            <a:rPr lang="en-US" altLang="zh-CN" sz="2000" b="1" i="1" smtClean="0">
                              <a:solidFill>
                                <a:schemeClr val="accent2">
                                  <a:lumMod val="50000"/>
                                </a:schemeClr>
                              </a:solidFill>
                              <a:latin typeface="Cambria Math" panose="02040503050406030204" pitchFamily="18" charset="0"/>
                            </a:rPr>
                          </m:ctrlPr>
                        </m:sSupPr>
                        <m:e>
                          <m:r>
                            <a:rPr lang="en-US" altLang="zh-CN" sz="2000" b="1" i="1" smtClean="0">
                              <a:solidFill>
                                <a:schemeClr val="accent2">
                                  <a:lumMod val="50000"/>
                                </a:schemeClr>
                              </a:solidFill>
                              <a:latin typeface="Cambria Math" panose="02040503050406030204" pitchFamily="18" charset="0"/>
                            </a:rPr>
                            <m:t>𝟑</m:t>
                          </m:r>
                        </m:e>
                        <m:sup>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𝟐</m:t>
                          </m:r>
                        </m:sup>
                      </m:sSup>
                    </m:oMath>
                  </a14:m>
                  <a:endParaRPr lang="zh-CN" altLang="en-US" sz="2000" b="1">
                    <a:solidFill>
                      <a:schemeClr val="accent2">
                        <a:lumMod val="50000"/>
                      </a:schemeClr>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9349352" y="1527472"/>
                  <a:ext cx="2366749" cy="1222964"/>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9338032" y="2836352"/>
                  <a:ext cx="2366749" cy="1222964"/>
                </a:xfrm>
                <a:prstGeom prst="rect">
                  <a:avLst/>
                </a:prstGeom>
                <a:solidFill>
                  <a:schemeClr val="accent4">
                    <a:lumMod val="20000"/>
                    <a:lumOff val="80000"/>
                  </a:schemeClr>
                </a:solidFill>
              </p:spPr>
              <p:txBody>
                <a:bodyPr wrap="square" rtlCol="0">
                  <a:spAutoFit/>
                </a:bodyPr>
                <a:lstStyle/>
                <a:p>
                  <a:pPr>
                    <a:lnSpc>
                      <a:spcPts val="2800"/>
                    </a:lnSpc>
                    <a:spcBef>
                      <a:spcPts val="600"/>
                    </a:spcBef>
                  </a:pPr>
                  <a:r>
                    <a:rPr lang="zh-CN" altLang="en-US" sz="2000" b="1">
                      <a:solidFill>
                        <a:schemeClr val="accent2">
                          <a:lumMod val="50000"/>
                        </a:schemeClr>
                      </a:solidFill>
                    </a:rPr>
                    <a:t>常系数</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𝟐</m:t>
                      </m:r>
                    </m:oMath>
                  </a14:m>
                  <a:r>
                    <a:rPr lang="zh-CN" altLang="en-US" sz="2000" b="1">
                      <a:solidFill>
                        <a:schemeClr val="accent2">
                          <a:lumMod val="50000"/>
                        </a:schemeClr>
                      </a:solidFill>
                    </a:rPr>
                    <a:t>阶线性</a:t>
                  </a:r>
                  <a:r>
                    <a:rPr lang="zh-CN" altLang="en-US" sz="2000" b="1">
                      <a:solidFill>
                        <a:srgbClr val="C00000"/>
                      </a:solidFill>
                    </a:rPr>
                    <a:t>齐次</a:t>
                  </a:r>
                  <a:r>
                    <a:rPr lang="zh-CN" altLang="en-US" sz="2000" b="1">
                      <a:solidFill>
                        <a:schemeClr val="accent2">
                          <a:lumMod val="50000"/>
                        </a:schemeClr>
                      </a:solidFill>
                    </a:rPr>
                    <a:t>递推关系式</a:t>
                  </a:r>
                  <a:endParaRPr lang="en-US" altLang="zh-CN" sz="2000" b="1">
                    <a:solidFill>
                      <a:schemeClr val="accent2">
                        <a:lumMod val="50000"/>
                      </a:schemeClr>
                    </a:solidFill>
                  </a:endParaRPr>
                </a:p>
                <a:p>
                  <a:pPr marL="342900" indent="-342900">
                    <a:lnSpc>
                      <a:spcPts val="2800"/>
                    </a:lnSpc>
                    <a:spcBef>
                      <a:spcPts val="600"/>
                    </a:spcBef>
                    <a:buFont typeface="Arial" panose="020B0604020202020204" pitchFamily="34" charset="0"/>
                    <a:buChar char="•"/>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𝒏</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𝟎</m:t>
                      </m:r>
                    </m:oMath>
                  </a14:m>
                  <a:endParaRPr lang="zh-CN" altLang="en-US" sz="2000" b="1">
                    <a:solidFill>
                      <a:schemeClr val="accent2">
                        <a:lumMod val="50000"/>
                      </a:schemeClr>
                    </a:solidFill>
                  </a:endParaRPr>
                </a:p>
              </p:txBody>
            </p:sp>
          </mc:Choice>
          <mc:Fallback>
            <p:sp>
              <p:nvSpPr>
                <p:cNvPr id="15" name="文本框 14"/>
                <p:cNvSpPr txBox="1">
                  <a:spLocks noRot="1" noChangeAspect="1" noMove="1" noResize="1" noEditPoints="1" noAdjustHandles="1" noChangeArrowheads="1" noChangeShapeType="1" noTextEdit="1"/>
                </p:cNvSpPr>
                <p:nvPr/>
              </p:nvSpPr>
              <p:spPr>
                <a:xfrm>
                  <a:off x="9338032" y="2836352"/>
                  <a:ext cx="2366749" cy="1222964"/>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9349351" y="4168554"/>
                  <a:ext cx="2366749" cy="1222964"/>
                </a:xfrm>
                <a:prstGeom prst="rect">
                  <a:avLst/>
                </a:prstGeom>
                <a:solidFill>
                  <a:schemeClr val="accent4">
                    <a:lumMod val="20000"/>
                    <a:lumOff val="80000"/>
                  </a:schemeClr>
                </a:solidFill>
              </p:spPr>
              <p:txBody>
                <a:bodyPr wrap="square" rtlCol="0">
                  <a:spAutoFit/>
                </a:bodyPr>
                <a:lstStyle/>
                <a:p>
                  <a:pPr>
                    <a:lnSpc>
                      <a:spcPts val="2800"/>
                    </a:lnSpc>
                    <a:spcBef>
                      <a:spcPts val="600"/>
                    </a:spcBef>
                  </a:pPr>
                  <a:r>
                    <a:rPr lang="zh-CN" altLang="en-US" sz="2000" b="1">
                      <a:solidFill>
                        <a:schemeClr val="accent2">
                          <a:lumMod val="50000"/>
                        </a:schemeClr>
                      </a:solidFill>
                    </a:rPr>
                    <a:t>常系数</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𝟑</m:t>
                      </m:r>
                    </m:oMath>
                  </a14:m>
                  <a:r>
                    <a:rPr lang="zh-CN" altLang="en-US" sz="2000" b="1">
                      <a:solidFill>
                        <a:schemeClr val="accent2">
                          <a:lumMod val="50000"/>
                        </a:schemeClr>
                      </a:solidFill>
                    </a:rPr>
                    <a:t>阶线性</a:t>
                  </a:r>
                  <a:r>
                    <a:rPr lang="zh-CN" altLang="en-US" sz="2000" b="1">
                      <a:solidFill>
                        <a:srgbClr val="C00000"/>
                      </a:solidFill>
                    </a:rPr>
                    <a:t>非齐次</a:t>
                  </a:r>
                  <a:r>
                    <a:rPr lang="zh-CN" altLang="en-US" sz="2000" b="1">
                      <a:solidFill>
                        <a:schemeClr val="accent2">
                          <a:lumMod val="50000"/>
                        </a:schemeClr>
                      </a:solidFill>
                    </a:rPr>
                    <a:t>递推关系式</a:t>
                  </a:r>
                  <a:endParaRPr lang="en-US" altLang="zh-CN" sz="2000" b="1">
                    <a:solidFill>
                      <a:schemeClr val="accent2">
                        <a:lumMod val="50000"/>
                      </a:schemeClr>
                    </a:solidFill>
                  </a:endParaRPr>
                </a:p>
                <a:p>
                  <a:pPr marL="342900" indent="-342900">
                    <a:lnSpc>
                      <a:spcPts val="2800"/>
                    </a:lnSpc>
                    <a:spcBef>
                      <a:spcPts val="600"/>
                    </a:spcBef>
                    <a:buFont typeface="Arial" panose="020B0604020202020204" pitchFamily="34" charset="0"/>
                    <a:buChar char="•"/>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𝒏</m:t>
                          </m:r>
                        </m:e>
                      </m:d>
                      <m:r>
                        <a:rPr lang="en-US" altLang="zh-CN" sz="2000" b="1" i="1" smtClean="0">
                          <a:solidFill>
                            <a:schemeClr val="accent2">
                              <a:lumMod val="50000"/>
                            </a:schemeClr>
                          </a:solidFill>
                          <a:latin typeface="Cambria Math" panose="02040503050406030204" pitchFamily="18" charset="0"/>
                        </a:rPr>
                        <m:t>=</m:t>
                      </m:r>
                      <m:sSup>
                        <m:sSupPr>
                          <m:ctrlPr>
                            <a:rPr lang="en-US" altLang="zh-CN" sz="2000" b="1" i="1" smtClean="0">
                              <a:solidFill>
                                <a:schemeClr val="accent2">
                                  <a:lumMod val="50000"/>
                                </a:schemeClr>
                              </a:solidFill>
                              <a:latin typeface="Cambria Math" panose="02040503050406030204" pitchFamily="18" charset="0"/>
                            </a:rPr>
                          </m:ctrlPr>
                        </m:sSupPr>
                        <m:e>
                          <m:r>
                            <a:rPr lang="en-US" altLang="zh-CN" sz="2000" b="1" i="1" smtClean="0">
                              <a:solidFill>
                                <a:schemeClr val="accent2">
                                  <a:lumMod val="50000"/>
                                </a:schemeClr>
                              </a:solidFill>
                              <a:latin typeface="Cambria Math" panose="02040503050406030204" pitchFamily="18" charset="0"/>
                            </a:rPr>
                            <m:t>𝟐</m:t>
                          </m:r>
                        </m:e>
                        <m:sup>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𝟑</m:t>
                          </m:r>
                        </m:sup>
                      </m:sSup>
                    </m:oMath>
                  </a14:m>
                  <a:endParaRPr lang="zh-CN" altLang="en-US" sz="2000" b="1">
                    <a:solidFill>
                      <a:schemeClr val="accent2">
                        <a:lumMod val="50000"/>
                      </a:schemeClr>
                    </a:solidFill>
                  </a:endParaRPr>
                </a:p>
              </p:txBody>
            </p:sp>
          </mc:Choice>
          <mc:Fallback>
            <p:sp>
              <p:nvSpPr>
                <p:cNvPr id="16" name="文本框 15"/>
                <p:cNvSpPr txBox="1">
                  <a:spLocks noRot="1" noChangeAspect="1" noMove="1" noResize="1" noEditPoints="1" noAdjustHandles="1" noChangeArrowheads="1" noChangeShapeType="1" noTextEdit="1"/>
                </p:cNvSpPr>
                <p:nvPr/>
              </p:nvSpPr>
              <p:spPr>
                <a:xfrm>
                  <a:off x="9349351" y="4168554"/>
                  <a:ext cx="2366749" cy="1222964"/>
                </a:xfrm>
                <a:prstGeom prst="rect">
                  <a:avLst/>
                </a:prstGeom>
                <a:blipFill rotWithShape="1">
                  <a:blip r:embed="rId9"/>
                </a:blipFill>
              </p:spPr>
              <p:txBody>
                <a:bodyPr/>
                <a:lstStyle/>
                <a:p>
                  <a:r>
                    <a:rPr lang="zh-CN" altLang="en-US">
                      <a:noFill/>
                    </a:rPr>
                    <a:t> </a:t>
                  </a:r>
                </a:p>
              </p:txBody>
            </p:sp>
          </mc:Fallback>
        </mc:AlternateContent>
        <p:sp>
          <p:nvSpPr>
            <p:cNvPr id="14" name="箭头: 右 13"/>
            <p:cNvSpPr/>
            <p:nvPr/>
          </p:nvSpPr>
          <p:spPr>
            <a:xfrm>
              <a:off x="4539108" y="2102917"/>
              <a:ext cx="362137"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右 17"/>
            <p:cNvSpPr/>
            <p:nvPr/>
          </p:nvSpPr>
          <p:spPr>
            <a:xfrm>
              <a:off x="4539107" y="3425854"/>
              <a:ext cx="362137" cy="525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右 18"/>
            <p:cNvSpPr/>
            <p:nvPr/>
          </p:nvSpPr>
          <p:spPr>
            <a:xfrm>
              <a:off x="4539107" y="4749526"/>
              <a:ext cx="362137" cy="590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右 19"/>
            <p:cNvSpPr/>
            <p:nvPr/>
          </p:nvSpPr>
          <p:spPr>
            <a:xfrm>
              <a:off x="8539111" y="2111479"/>
              <a:ext cx="798921"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右 20"/>
            <p:cNvSpPr/>
            <p:nvPr/>
          </p:nvSpPr>
          <p:spPr>
            <a:xfrm>
              <a:off x="7587433" y="3429000"/>
              <a:ext cx="1750599"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p:cNvSpPr/>
            <p:nvPr/>
          </p:nvSpPr>
          <p:spPr>
            <a:xfrm>
              <a:off x="8987214" y="4765698"/>
              <a:ext cx="362137"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线性递推关系式求解</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线性齐次递推关系式的求解</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3255218" y="1047754"/>
                <a:ext cx="5681560" cy="984885"/>
              </a:xfrm>
              <a:prstGeom prst="rect">
                <a:avLst/>
              </a:prstGeom>
              <a:solidFill>
                <a:schemeClr val="accent2">
                  <a:lumMod val="20000"/>
                  <a:lumOff val="80000"/>
                </a:schemeClr>
              </a:solidFill>
            </p:spPr>
            <p:txBody>
              <a:bodyPr wrap="square" rtlCol="0">
                <a:spAutoFit/>
              </a:bodyPr>
              <a:lstStyle/>
              <a:p>
                <a:pPr algn="ct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常系数</a:t>
                </a:r>
                <a14:m>
                  <m:oMath xmlns:m="http://schemas.openxmlformats.org/officeDocument/2006/math">
                    <m:r>
                      <a:rPr lang="en-US" altLang="zh-CN" sz="2400" b="1" i="1" smtClean="0">
                        <a:solidFill>
                          <a:srgbClr val="002060"/>
                        </a:solidFill>
                        <a:latin typeface="Cambria Math" panose="02040503050406030204" pitchFamily="18" charset="0"/>
                      </a:rPr>
                      <m:t>𝒌</m:t>
                    </m:r>
                  </m:oMath>
                </a14:m>
                <a:r>
                  <a:rPr lang="zh-CN" altLang="en-US" sz="2400" b="1">
                    <a:solidFill>
                      <a:srgbClr val="002060"/>
                    </a:solidFill>
                    <a:latin typeface="楷体" panose="02010609060101010101" pitchFamily="49" charset="-122"/>
                    <a:ea typeface="楷体" panose="02010609060101010101" pitchFamily="49" charset="-122"/>
                  </a:rPr>
                  <a:t>阶线性齐次递推关系式</a:t>
                </a:r>
                <a:endParaRPr lang="en-US" altLang="zh-CN" sz="2400" b="1">
                  <a:solidFill>
                    <a:srgbClr val="002060"/>
                  </a:solidFill>
                  <a:latin typeface="楷体" panose="02010609060101010101" pitchFamily="49" charset="-122"/>
                  <a:ea typeface="楷体" panose="02010609060101010101" pitchFamily="49"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𝒏</m:t>
                          </m:r>
                        </m:sub>
                      </m:sSub>
                      <m:r>
                        <a:rPr lang="en-US" altLang="zh-CN" sz="2400" b="1" i="1" smtClean="0">
                          <a:solidFill>
                            <a:schemeClr val="accent2">
                              <a:lumMod val="50000"/>
                            </a:schemeClr>
                          </a:solidFill>
                          <a:latin typeface="Cambria Math" panose="02040503050406030204" pitchFamily="18" charset="0"/>
                        </a:rPr>
                        <m:t>= </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𝒄</m:t>
                          </m:r>
                        </m:e>
                        <m:sub>
                          <m:r>
                            <a:rPr lang="en-US" altLang="zh-CN" sz="2400" b="1" i="1" smtClean="0">
                              <a:solidFill>
                                <a:schemeClr val="accent2">
                                  <a:lumMod val="50000"/>
                                </a:schemeClr>
                              </a:solidFill>
                              <a:latin typeface="Cambria Math" panose="02040503050406030204" pitchFamily="18" charset="0"/>
                            </a:rPr>
                            <m:t>𝟏</m:t>
                          </m:r>
                        </m:sub>
                      </m:sSub>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𝒏</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𝟏</m:t>
                          </m:r>
                        </m:sub>
                      </m:sSub>
                      <m:r>
                        <a:rPr lang="en-US" altLang="zh-CN" sz="2400" b="1" i="1" smtClean="0">
                          <a:solidFill>
                            <a:schemeClr val="accent2">
                              <a:lumMod val="50000"/>
                            </a:schemeClr>
                          </a:solidFill>
                          <a:latin typeface="Cambria Math" panose="02040503050406030204" pitchFamily="18" charset="0"/>
                        </a:rPr>
                        <m:t>+ </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𝒄</m:t>
                          </m:r>
                        </m:e>
                        <m:sub>
                          <m:r>
                            <a:rPr lang="en-US" altLang="zh-CN" sz="2400" b="1" i="1" smtClean="0">
                              <a:solidFill>
                                <a:schemeClr val="accent2">
                                  <a:lumMod val="50000"/>
                                </a:schemeClr>
                              </a:solidFill>
                              <a:latin typeface="Cambria Math" panose="02040503050406030204" pitchFamily="18" charset="0"/>
                            </a:rPr>
                            <m:t>𝟐</m:t>
                          </m:r>
                        </m:sub>
                      </m:sSub>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𝒏</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𝟐</m:t>
                          </m:r>
                        </m:sub>
                      </m:sSub>
                      <m:r>
                        <a:rPr lang="en-US" altLang="zh-CN" sz="2400" b="1" i="1" smtClean="0">
                          <a:solidFill>
                            <a:schemeClr val="accent2">
                              <a:lumMod val="50000"/>
                            </a:schemeClr>
                          </a:solidFill>
                          <a:latin typeface="Cambria Math" panose="02040503050406030204" pitchFamily="18" charset="0"/>
                        </a:rPr>
                        <m:t>+ ⋯+ </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𝒄</m:t>
                          </m:r>
                        </m:e>
                        <m:sub>
                          <m:r>
                            <a:rPr lang="en-US" altLang="zh-CN" sz="2400" b="1" i="1" smtClean="0">
                              <a:solidFill>
                                <a:schemeClr val="accent2">
                                  <a:lumMod val="50000"/>
                                </a:schemeClr>
                              </a:solidFill>
                              <a:latin typeface="Cambria Math" panose="02040503050406030204" pitchFamily="18" charset="0"/>
                            </a:rPr>
                            <m:t>𝒌</m:t>
                          </m:r>
                        </m:sub>
                      </m:sSub>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𝒏</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𝒌</m:t>
                          </m:r>
                        </m:sub>
                      </m:sSub>
                    </m:oMath>
                  </m:oMathPara>
                </a14:m>
                <a:endParaRPr lang="en-US" altLang="zh-CN" sz="2400" b="1"/>
              </a:p>
            </p:txBody>
          </p:sp>
        </mc:Choice>
        <mc:Fallback>
          <p:sp>
            <p:nvSpPr>
              <p:cNvPr id="2" name="文本框 1"/>
              <p:cNvSpPr txBox="1">
                <a:spLocks noRot="1" noChangeAspect="1" noMove="1" noResize="1" noEditPoints="1" noAdjustHandles="1" noChangeArrowheads="1" noChangeShapeType="1" noTextEdit="1"/>
              </p:cNvSpPr>
              <p:nvPr/>
            </p:nvSpPr>
            <p:spPr>
              <a:xfrm>
                <a:off x="3255218" y="1047754"/>
                <a:ext cx="5681560" cy="984885"/>
              </a:xfrm>
              <a:prstGeom prst="rect">
                <a:avLst/>
              </a:prstGeom>
              <a:blipFill rotWithShape="1">
                <a:blip r:embed="rId1"/>
                <a:stretch>
                  <a:fillRect l="-4" r="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890098" y="2207587"/>
                <a:ext cx="10549769" cy="411779"/>
              </a:xfrm>
              <a:prstGeom prst="rect">
                <a:avLst/>
              </a:prstGeom>
              <a:solidFill>
                <a:schemeClr val="accent4">
                  <a:lumMod val="20000"/>
                  <a:lumOff val="80000"/>
                </a:schemeClr>
              </a:solidFill>
            </p:spPr>
            <p:txBody>
              <a:bodyPr wrap="square" rtlCol="0">
                <a:spAutoFit/>
              </a:bodyPr>
              <a:lstStyle/>
              <a:p>
                <a:r>
                  <a:rPr lang="zh-CN" altLang="en-US" sz="2000" b="1">
                    <a:solidFill>
                      <a:schemeClr val="accent2">
                        <a:lumMod val="50000"/>
                      </a:schemeClr>
                    </a:solidFill>
                  </a:rPr>
                  <a:t>方程</a:t>
                </a:r>
                <a14:m>
                  <m:oMath xmlns:m="http://schemas.openxmlformats.org/officeDocument/2006/math">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𝒙</m:t>
                        </m:r>
                      </m:e>
                      <m:sup>
                        <m:r>
                          <a:rPr lang="en-US" altLang="zh-CN" sz="2000" b="1" i="1" smtClean="0">
                            <a:solidFill>
                              <a:srgbClr val="C00000"/>
                            </a:solidFill>
                            <a:latin typeface="Cambria Math" panose="02040503050406030204" pitchFamily="18" charset="0"/>
                          </a:rPr>
                          <m:t>𝒌</m:t>
                        </m:r>
                      </m:sup>
                    </m:sSup>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𝒄</m:t>
                        </m:r>
                      </m:e>
                      <m:sub>
                        <m:r>
                          <a:rPr lang="en-US" altLang="zh-CN" sz="2000" b="1" i="1" smtClean="0">
                            <a:solidFill>
                              <a:srgbClr val="C00000"/>
                            </a:solidFill>
                            <a:latin typeface="Cambria Math" panose="02040503050406030204" pitchFamily="18" charset="0"/>
                          </a:rPr>
                          <m:t>𝟏</m:t>
                        </m:r>
                      </m:sub>
                    </m:sSub>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𝒙</m:t>
                        </m:r>
                      </m:e>
                      <m:sup>
                        <m:r>
                          <a:rPr lang="en-US" altLang="zh-CN" sz="2000" b="1" i="1">
                            <a:solidFill>
                              <a:srgbClr val="C00000"/>
                            </a:solidFill>
                            <a:latin typeface="Cambria Math" panose="02040503050406030204" pitchFamily="18" charset="0"/>
                          </a:rPr>
                          <m:t>𝒌</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m:t>
                        </m:r>
                      </m:sup>
                    </m:sSup>
                    <m:r>
                      <a:rPr lang="en-US" altLang="zh-CN" sz="2000" b="1" i="1">
                        <a:solidFill>
                          <a:srgbClr val="C00000"/>
                        </a:solidFill>
                        <a:latin typeface="Cambria Math" panose="02040503050406030204" pitchFamily="18" charset="0"/>
                      </a:rPr>
                      <m:t>+ </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𝒄</m:t>
                        </m:r>
                      </m:e>
                      <m:sub>
                        <m:r>
                          <a:rPr lang="en-US" altLang="zh-CN" sz="2000" b="1" i="1" smtClean="0">
                            <a:solidFill>
                              <a:srgbClr val="C00000"/>
                            </a:solidFill>
                            <a:latin typeface="Cambria Math" panose="02040503050406030204" pitchFamily="18" charset="0"/>
                          </a:rPr>
                          <m:t>𝟐</m:t>
                        </m:r>
                      </m:sub>
                    </m:sSub>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𝒙</m:t>
                        </m:r>
                      </m:e>
                      <m:sup>
                        <m:r>
                          <a:rPr lang="en-US" altLang="zh-CN" sz="2000" b="1" i="1">
                            <a:solidFill>
                              <a:srgbClr val="C00000"/>
                            </a:solidFill>
                            <a:latin typeface="Cambria Math" panose="02040503050406030204" pitchFamily="18" charset="0"/>
                          </a:rPr>
                          <m:t>𝒌</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𝟐</m:t>
                        </m:r>
                      </m:sup>
                    </m:sSup>
                    <m:r>
                      <a:rPr lang="en-US" altLang="zh-CN" sz="2000" b="1" i="1">
                        <a:solidFill>
                          <a:srgbClr val="C00000"/>
                        </a:solidFill>
                        <a:latin typeface="Cambria Math" panose="02040503050406030204" pitchFamily="18" charset="0"/>
                      </a:rPr>
                      <m:t>+ ⋯+ </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𝒄</m:t>
                        </m:r>
                      </m:e>
                      <m:sub>
                        <m:r>
                          <a:rPr lang="en-US" altLang="zh-CN" sz="2000" b="1" i="1" smtClean="0">
                            <a:solidFill>
                              <a:srgbClr val="C00000"/>
                            </a:solidFill>
                            <a:latin typeface="Cambria Math" panose="02040503050406030204" pitchFamily="18" charset="0"/>
                          </a:rPr>
                          <m:t>𝒌</m:t>
                        </m:r>
                      </m:sub>
                    </m:sSub>
                  </m:oMath>
                </a14:m>
                <a:r>
                  <a:rPr lang="zh-CN" altLang="en-US" sz="2000" b="1">
                    <a:solidFill>
                      <a:schemeClr val="accent2">
                        <a:lumMod val="50000"/>
                      </a:schemeClr>
                    </a:solidFill>
                  </a:rPr>
                  <a:t>称为该递推关系式的</a:t>
                </a:r>
                <a:r>
                  <a:rPr lang="zh-CN" altLang="en-US" sz="2000" b="1">
                    <a:solidFill>
                      <a:srgbClr val="C00000"/>
                    </a:solidFill>
                  </a:rPr>
                  <a:t>特征方程</a:t>
                </a:r>
                <a:r>
                  <a:rPr lang="en-US" altLang="zh-CN" sz="2000" b="1">
                    <a:solidFill>
                      <a:schemeClr val="accent2">
                        <a:lumMod val="50000"/>
                      </a:schemeClr>
                    </a:solidFill>
                  </a:rPr>
                  <a:t>(characteristic equation)</a:t>
                </a:r>
                <a:endParaRPr lang="en-US" altLang="zh-CN" sz="2000" b="1">
                  <a:solidFill>
                    <a:schemeClr val="accent2">
                      <a:lumMod val="50000"/>
                    </a:schemeClr>
                  </a:solidFill>
                </a:endParaRPr>
              </a:p>
            </p:txBody>
          </p:sp>
        </mc:Choice>
        <mc:Fallback>
          <p:sp>
            <p:nvSpPr>
              <p:cNvPr id="3" name="文本框 2"/>
              <p:cNvSpPr txBox="1">
                <a:spLocks noRot="1" noChangeAspect="1" noMove="1" noResize="1" noEditPoints="1" noAdjustHandles="1" noChangeArrowheads="1" noChangeShapeType="1" noTextEdit="1"/>
              </p:cNvSpPr>
              <p:nvPr/>
            </p:nvSpPr>
            <p:spPr>
              <a:xfrm>
                <a:off x="890098" y="2207587"/>
                <a:ext cx="10549769" cy="411779"/>
              </a:xfrm>
              <a:prstGeom prst="rect">
                <a:avLst/>
              </a:prstGeom>
              <a:blipFill rotWithShape="1">
                <a:blip r:embed="rId2"/>
                <a:stretch>
                  <a:fillRect l="-4" t="-79" r="3" b="152"/>
                </a:stretch>
              </a:blipFill>
            </p:spPr>
            <p:txBody>
              <a:bodyPr/>
              <a:lstStyle/>
              <a:p>
                <a:r>
                  <a:rPr lang="zh-CN" altLang="en-US">
                    <a:noFill/>
                  </a:rPr>
                  <a:t> </a:t>
                </a:r>
              </a:p>
            </p:txBody>
          </p:sp>
        </mc:Fallback>
      </mc:AlternateContent>
      <p:sp>
        <p:nvSpPr>
          <p:cNvPr id="13" name="矩形 12"/>
          <p:cNvSpPr/>
          <p:nvPr/>
        </p:nvSpPr>
        <p:spPr>
          <a:xfrm>
            <a:off x="611793" y="2794314"/>
            <a:ext cx="10979378" cy="2165813"/>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 name="文本框 3"/>
              <p:cNvSpPr txBox="1"/>
              <p:nvPr/>
            </p:nvSpPr>
            <p:spPr>
              <a:xfrm>
                <a:off x="668810" y="3148282"/>
                <a:ext cx="2379192" cy="1426031"/>
              </a:xfrm>
              <a:prstGeom prst="rect">
                <a:avLst/>
              </a:prstGeom>
              <a:solidFill>
                <a:schemeClr val="accent5">
                  <a:lumMod val="20000"/>
                  <a:lumOff val="80000"/>
                </a:schemeClr>
              </a:solidFill>
            </p:spPr>
            <p:txBody>
              <a:bodyPr wrap="square" rtlCol="0">
                <a:spAutoFit/>
              </a:bodyPr>
              <a:lstStyle/>
              <a:p>
                <a:pPr>
                  <a:lnSpc>
                    <a:spcPts val="2600"/>
                  </a:lnSpc>
                </a:pPr>
                <a:r>
                  <a:rPr lang="zh-CN" altLang="en-US" b="1">
                    <a:solidFill>
                      <a:schemeClr val="accent6">
                        <a:lumMod val="50000"/>
                      </a:schemeClr>
                    </a:solidFill>
                  </a:rPr>
                  <a:t>特征方程</a:t>
                </a:r>
                <a:r>
                  <a:rPr lang="en-US" altLang="zh-CN" b="1">
                    <a:solidFill>
                      <a:schemeClr val="accent6">
                        <a:lumMod val="50000"/>
                      </a:schemeClr>
                    </a:solidFill>
                  </a:rPr>
                  <a:t>(</a:t>
                </a:r>
                <a:r>
                  <a:rPr lang="zh-CN" altLang="en-US" b="1">
                    <a:solidFill>
                      <a:schemeClr val="accent6">
                        <a:lumMod val="50000"/>
                      </a:schemeClr>
                    </a:solidFill>
                  </a:rPr>
                  <a:t>在复数域内</a:t>
                </a:r>
                <a:r>
                  <a:rPr lang="en-US" altLang="zh-CN" b="1">
                    <a:solidFill>
                      <a:schemeClr val="accent6">
                        <a:lumMod val="50000"/>
                      </a:schemeClr>
                    </a:solidFill>
                  </a:rPr>
                  <a:t>)</a:t>
                </a:r>
                <a:r>
                  <a:rPr lang="zh-CN" altLang="en-US" b="1">
                    <a:solidFill>
                      <a:schemeClr val="accent6">
                        <a:lumMod val="50000"/>
                      </a:schemeClr>
                    </a:solidFill>
                  </a:rPr>
                  <a:t>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𝒕</m:t>
                    </m:r>
                  </m:oMath>
                </a14:m>
                <a:r>
                  <a:rPr lang="zh-CN" altLang="en-US" b="1">
                    <a:solidFill>
                      <a:schemeClr val="accent6">
                        <a:lumMod val="50000"/>
                      </a:schemeClr>
                    </a:solidFill>
                  </a:rPr>
                  <a:t>个</a:t>
                </a:r>
                <a:r>
                  <a:rPr lang="zh-CN" altLang="en-US" b="1">
                    <a:solidFill>
                      <a:srgbClr val="C00000"/>
                    </a:solidFill>
                  </a:rPr>
                  <a:t>不同根</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𝒓</m:t>
                        </m:r>
                      </m:e>
                      <m:sub>
                        <m:r>
                          <a:rPr lang="en-US" altLang="zh-CN" b="1" i="1" smtClean="0">
                            <a:solidFill>
                              <a:schemeClr val="accent6">
                                <a:lumMod val="50000"/>
                              </a:schemeClr>
                            </a:solidFill>
                            <a:latin typeface="Cambria Math" panose="02040503050406030204" pitchFamily="18" charset="0"/>
                          </a:rPr>
                          <m:t>𝟏</m:t>
                        </m:r>
                      </m:sub>
                    </m:sSub>
                    <m:r>
                      <a:rPr lang="en-US" altLang="zh-CN" b="1" i="1" smtClean="0">
                        <a:solidFill>
                          <a:schemeClr val="accent6">
                            <a:lumMod val="50000"/>
                          </a:schemeClr>
                        </a:solidFill>
                        <a:latin typeface="Cambria Math" panose="02040503050406030204" pitchFamily="18" charset="0"/>
                      </a:rPr>
                      <m:t>, ⋯, </m:t>
                    </m:r>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𝒓</m:t>
                        </m:r>
                      </m:e>
                      <m:sub>
                        <m:r>
                          <a:rPr lang="en-US" altLang="zh-CN" b="1" i="1" smtClean="0">
                            <a:solidFill>
                              <a:schemeClr val="accent6">
                                <a:lumMod val="50000"/>
                              </a:schemeClr>
                            </a:solidFill>
                            <a:latin typeface="Cambria Math" panose="02040503050406030204" pitchFamily="18" charset="0"/>
                          </a:rPr>
                          <m:t>𝒕</m:t>
                        </m:r>
                      </m:sub>
                    </m:sSub>
                  </m:oMath>
                </a14:m>
                <a:r>
                  <a:rPr lang="zh-CN" altLang="en-US" b="1">
                    <a:solidFill>
                      <a:schemeClr val="accent6">
                        <a:lumMod val="50000"/>
                      </a:schemeClr>
                    </a:solidFill>
                  </a:rPr>
                  <a:t>，</a:t>
                </a:r>
                <a:r>
                  <a:rPr lang="zh-CN" altLang="en-US" b="1">
                    <a:solidFill>
                      <a:srgbClr val="C00000"/>
                    </a:solidFill>
                  </a:rPr>
                  <a:t>重数</a:t>
                </a:r>
                <a:r>
                  <a:rPr lang="zh-CN" altLang="en-US" b="1">
                    <a:solidFill>
                      <a:schemeClr val="accent6">
                        <a:lumMod val="50000"/>
                      </a:schemeClr>
                    </a:solidFill>
                  </a:rPr>
                  <a:t>分别是</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𝒎</m:t>
                        </m:r>
                      </m:e>
                      <m:sub>
                        <m:r>
                          <a:rPr lang="en-US" altLang="zh-CN" b="1" i="1" smtClean="0">
                            <a:solidFill>
                              <a:schemeClr val="accent6">
                                <a:lumMod val="50000"/>
                              </a:schemeClr>
                            </a:solidFill>
                            <a:latin typeface="Cambria Math" panose="02040503050406030204" pitchFamily="18" charset="0"/>
                          </a:rPr>
                          <m:t>𝟏</m:t>
                        </m:r>
                      </m:sub>
                    </m:sSub>
                    <m:r>
                      <a:rPr lang="en-US" altLang="zh-CN" b="1" i="1" smtClean="0">
                        <a:solidFill>
                          <a:schemeClr val="accent6">
                            <a:lumMod val="50000"/>
                          </a:schemeClr>
                        </a:solidFill>
                        <a:latin typeface="Cambria Math" panose="02040503050406030204" pitchFamily="18" charset="0"/>
                      </a:rPr>
                      <m:t>, ⋯, </m:t>
                    </m:r>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𝒎</m:t>
                        </m:r>
                      </m:e>
                      <m:sub>
                        <m:r>
                          <a:rPr lang="en-US" altLang="zh-CN" b="1" i="1" smtClean="0">
                            <a:solidFill>
                              <a:schemeClr val="accent6">
                                <a:lumMod val="50000"/>
                              </a:schemeClr>
                            </a:solidFill>
                            <a:latin typeface="Cambria Math" panose="02040503050406030204" pitchFamily="18" charset="0"/>
                          </a:rPr>
                          <m:t>𝒕</m:t>
                        </m:r>
                      </m:sub>
                    </m:sSub>
                  </m:oMath>
                </a14:m>
                <a:r>
                  <a:rPr lang="zh-CN" altLang="en-US" b="1">
                    <a:solidFill>
                      <a:schemeClr val="accent6">
                        <a:lumMod val="50000"/>
                      </a:schemeClr>
                    </a:solidFill>
                  </a:rPr>
                  <a:t>，</a:t>
                </a:r>
                <a:endParaRPr lang="en-US" altLang="zh-CN" b="1">
                  <a:solidFill>
                    <a:schemeClr val="accent6">
                      <a:lumMod val="50000"/>
                    </a:schemeClr>
                  </a:solidFill>
                </a:endParaRPr>
              </a:p>
              <a:p>
                <a:pPr>
                  <a:lnSpc>
                    <a:spcPts val="2600"/>
                  </a:lnSpc>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𝒎</m:t>
                          </m:r>
                        </m:e>
                        <m:sub>
                          <m:r>
                            <a:rPr lang="en-US" altLang="zh-CN" b="1" i="1">
                              <a:solidFill>
                                <a:srgbClr val="C00000"/>
                              </a:solidFill>
                              <a:latin typeface="Cambria Math" panose="02040503050406030204" pitchFamily="18" charset="0"/>
                            </a:rPr>
                            <m:t>𝟏</m:t>
                          </m:r>
                        </m:sub>
                      </m:sSub>
                      <m:r>
                        <a:rPr lang="en-US" altLang="zh-CN" b="1" i="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𝒎</m:t>
                          </m:r>
                        </m:e>
                        <m:sub>
                          <m:r>
                            <a:rPr lang="en-US" altLang="zh-CN" b="1" i="1">
                              <a:solidFill>
                                <a:srgbClr val="C00000"/>
                              </a:solidFill>
                              <a:latin typeface="Cambria Math" panose="02040503050406030204" pitchFamily="18" charset="0"/>
                            </a:rPr>
                            <m:t>𝒕</m:t>
                          </m:r>
                        </m:sub>
                      </m:sSub>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𝒌</m:t>
                      </m:r>
                    </m:oMath>
                  </m:oMathPara>
                </a14:m>
                <a:endParaRPr lang="zh-CN" altLang="en-US" b="1">
                  <a:solidFill>
                    <a:schemeClr val="accent6">
                      <a:lumMod val="50000"/>
                    </a:schemeClr>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668810" y="3148282"/>
                <a:ext cx="2379192" cy="1426031"/>
              </a:xfrm>
              <a:prstGeom prst="rect">
                <a:avLst/>
              </a:prstGeom>
              <a:blipFill rotWithShape="1">
                <a:blip r:embed="rId3"/>
                <a:stretch>
                  <a:fillRect l="-7" t="-41" r="-3283" b="-1894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3428996" y="3148283"/>
                <a:ext cx="5334000" cy="1426031"/>
              </a:xfrm>
              <a:prstGeom prst="rect">
                <a:avLst/>
              </a:prstGeom>
              <a:solidFill>
                <a:schemeClr val="accent2">
                  <a:lumMod val="20000"/>
                  <a:lumOff val="80000"/>
                </a:schemeClr>
              </a:solidFill>
            </p:spPr>
            <p:txBody>
              <a:bodyPr wrap="square" rtlCol="0">
                <a:spAutoFit/>
              </a:bodyPr>
              <a:lstStyle/>
              <a:p>
                <a:pPr>
                  <a:lnSpc>
                    <a:spcPts val="2600"/>
                  </a:lnSpc>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𝒏</m:t>
                          </m:r>
                        </m:sub>
                      </m:sSub>
                      <m:r>
                        <a:rPr lang="en-US" altLang="zh-CN" b="1" i="1" smtClean="0">
                          <a:solidFill>
                            <a:srgbClr val="C00000"/>
                          </a:solidFill>
                          <a:latin typeface="Cambria Math" panose="02040503050406030204" pitchFamily="18" charset="0"/>
                        </a:rPr>
                        <m:t>= </m:t>
                      </m:r>
                      <m:d>
                        <m:dPr>
                          <m:ctrlPr>
                            <a:rPr lang="en-US" altLang="zh-CN" b="1" i="1" smtClean="0">
                              <a:solidFill>
                                <a:srgbClr val="C00000"/>
                              </a:solidFill>
                              <a:latin typeface="Cambria Math" panose="02040503050406030204" pitchFamily="18" charset="0"/>
                            </a:rPr>
                          </m:ctrlPr>
                        </m:dPr>
                        <m:e>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𝟎</m:t>
                              </m:r>
                            </m:sub>
                          </m:sSub>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 + ⋯+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𝒎</m:t>
                                  </m:r>
                                </m:e>
                                <m:sub>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m:t>
                          </m:r>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𝒏</m:t>
                              </m:r>
                            </m:e>
                            <m:sup>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𝒎</m:t>
                                  </m:r>
                                </m:e>
                                <m:sub>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p>
                          </m:sSup>
                        </m:e>
                      </m:d>
                      <m:sSubSup>
                        <m:sSubSupPr>
                          <m:ctrlPr>
                            <a:rPr lang="en-US" altLang="zh-CN" b="1" i="1" smtClean="0">
                              <a:solidFill>
                                <a:srgbClr val="C00000"/>
                              </a:solidFill>
                              <a:latin typeface="Cambria Math" panose="02040503050406030204" pitchFamily="18" charset="0"/>
                            </a:rPr>
                          </m:ctrlPr>
                        </m:sSubSupPr>
                        <m:e>
                          <m:r>
                            <a:rPr lang="en-US" altLang="zh-CN" b="1" i="1" smtClean="0">
                              <a:solidFill>
                                <a:srgbClr val="C00000"/>
                              </a:solidFill>
                              <a:latin typeface="Cambria Math" panose="02040503050406030204" pitchFamily="18" charset="0"/>
                            </a:rPr>
                            <m:t>𝒓</m:t>
                          </m:r>
                        </m:e>
                        <m:sub>
                          <m:r>
                            <a:rPr lang="en-US" altLang="zh-CN" b="1" i="1" smtClean="0">
                              <a:solidFill>
                                <a:srgbClr val="C00000"/>
                              </a:solidFill>
                              <a:latin typeface="Cambria Math" panose="02040503050406030204" pitchFamily="18" charset="0"/>
                            </a:rPr>
                            <m:t>𝟏</m:t>
                          </m:r>
                        </m:sub>
                        <m:sup>
                          <m:r>
                            <a:rPr lang="en-US" altLang="zh-CN" b="1" i="1" smtClean="0">
                              <a:solidFill>
                                <a:srgbClr val="C00000"/>
                              </a:solidFill>
                              <a:latin typeface="Cambria Math" panose="02040503050406030204" pitchFamily="18" charset="0"/>
                            </a:rPr>
                            <m:t>𝒏</m:t>
                          </m:r>
                        </m:sup>
                      </m:sSubSup>
                      <m:r>
                        <a:rPr lang="en-US" altLang="zh-CN" b="1" i="1" smtClean="0">
                          <a:solidFill>
                            <a:srgbClr val="C00000"/>
                          </a:solidFill>
                          <a:latin typeface="Cambria Math" panose="02040503050406030204" pitchFamily="18" charset="0"/>
                        </a:rPr>
                        <m:t>+ </m:t>
                      </m:r>
                      <m:d>
                        <m:dPr>
                          <m:ctrlPr>
                            <a:rPr lang="en-US" altLang="zh-CN" b="1" i="1" smtClean="0">
                              <a:solidFill>
                                <a:srgbClr val="C00000"/>
                              </a:solidFill>
                              <a:latin typeface="Cambria Math" panose="02040503050406030204" pitchFamily="18" charset="0"/>
                            </a:rPr>
                          </m:ctrlPr>
                        </m:dPr>
                        <m:e>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𝟐</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𝟎</m:t>
                              </m:r>
                            </m:sub>
                          </m:sSub>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𝟐</m:t>
                              </m:r>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 + ⋯+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𝟐</m:t>
                              </m:r>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𝒎</m:t>
                                  </m:r>
                                </m:e>
                                <m:sub>
                                  <m:r>
                                    <a:rPr lang="en-US" altLang="zh-CN" b="1" i="1" smtClean="0">
                                      <a:solidFill>
                                        <a:srgbClr val="C00000"/>
                                      </a:solidFill>
                                      <a:latin typeface="Cambria Math" panose="02040503050406030204" pitchFamily="18" charset="0"/>
                                    </a:rPr>
                                    <m:t>𝟐</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m:t>
                          </m:r>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𝒏</m:t>
                              </m:r>
                            </m:e>
                            <m:sup>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𝒎</m:t>
                                  </m:r>
                                </m:e>
                                <m:sub>
                                  <m:r>
                                    <a:rPr lang="en-US" altLang="zh-CN" b="1" i="1" smtClean="0">
                                      <a:solidFill>
                                        <a:srgbClr val="C00000"/>
                                      </a:solidFill>
                                      <a:latin typeface="Cambria Math" panose="02040503050406030204" pitchFamily="18" charset="0"/>
                                    </a:rPr>
                                    <m:t>𝟐</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p>
                          </m:sSup>
                        </m:e>
                      </m:d>
                      <m:sSubSup>
                        <m:sSubSupPr>
                          <m:ctrlPr>
                            <a:rPr lang="en-US" altLang="zh-CN" b="1" i="1" smtClean="0">
                              <a:solidFill>
                                <a:srgbClr val="C00000"/>
                              </a:solidFill>
                              <a:latin typeface="Cambria Math" panose="02040503050406030204" pitchFamily="18" charset="0"/>
                            </a:rPr>
                          </m:ctrlPr>
                        </m:sSubSupPr>
                        <m:e>
                          <m:r>
                            <a:rPr lang="en-US" altLang="zh-CN" b="1" i="1" smtClean="0">
                              <a:solidFill>
                                <a:srgbClr val="C00000"/>
                              </a:solidFill>
                              <a:latin typeface="Cambria Math" panose="02040503050406030204" pitchFamily="18" charset="0"/>
                            </a:rPr>
                            <m:t>𝒓</m:t>
                          </m:r>
                        </m:e>
                        <m:sub>
                          <m:r>
                            <a:rPr lang="en-US" altLang="zh-CN" b="1" i="1" smtClean="0">
                              <a:solidFill>
                                <a:srgbClr val="C00000"/>
                              </a:solidFill>
                              <a:latin typeface="Cambria Math" panose="02040503050406030204" pitchFamily="18" charset="0"/>
                            </a:rPr>
                            <m:t>𝟐</m:t>
                          </m:r>
                        </m:sub>
                        <m:sup>
                          <m:r>
                            <a:rPr lang="en-US" altLang="zh-CN" b="1" i="1" smtClean="0">
                              <a:solidFill>
                                <a:srgbClr val="C00000"/>
                              </a:solidFill>
                              <a:latin typeface="Cambria Math" panose="02040503050406030204" pitchFamily="18" charset="0"/>
                            </a:rPr>
                            <m:t>𝒏</m:t>
                          </m:r>
                        </m:sup>
                      </m:sSubSup>
                      <m:r>
                        <a:rPr lang="en-US" altLang="zh-CN" b="1" i="1" smtClean="0">
                          <a:solidFill>
                            <a:srgbClr val="C00000"/>
                          </a:solidFill>
                          <a:latin typeface="Cambria Math" panose="02040503050406030204" pitchFamily="18" charset="0"/>
                        </a:rPr>
                        <m:t>+ ⋯+ </m:t>
                      </m:r>
                      <m:d>
                        <m:dPr>
                          <m:ctrlPr>
                            <a:rPr lang="en-US" altLang="zh-CN" b="1" i="1" smtClean="0">
                              <a:solidFill>
                                <a:srgbClr val="C00000"/>
                              </a:solidFill>
                              <a:latin typeface="Cambria Math" panose="02040503050406030204" pitchFamily="18" charset="0"/>
                            </a:rPr>
                          </m:ctrlPr>
                        </m:dPr>
                        <m:e>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𝒕</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𝟎</m:t>
                              </m:r>
                            </m:sub>
                          </m:sSub>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𝒕</m:t>
                              </m:r>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 + ⋯+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𝒕</m:t>
                              </m:r>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𝒎</m:t>
                                  </m:r>
                                </m:e>
                                <m:sub>
                                  <m:r>
                                    <a:rPr lang="en-US" altLang="zh-CN" b="1" i="1" smtClean="0">
                                      <a:solidFill>
                                        <a:srgbClr val="C00000"/>
                                      </a:solidFill>
                                      <a:latin typeface="Cambria Math" panose="02040503050406030204" pitchFamily="18" charset="0"/>
                                    </a:rPr>
                                    <m:t>𝒕</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m:t>
                          </m:r>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𝒏</m:t>
                              </m:r>
                            </m:e>
                            <m:sup>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𝒎</m:t>
                                  </m:r>
                                </m:e>
                                <m:sub>
                                  <m:r>
                                    <a:rPr lang="en-US" altLang="zh-CN" b="1" i="1" smtClean="0">
                                      <a:solidFill>
                                        <a:srgbClr val="C00000"/>
                                      </a:solidFill>
                                      <a:latin typeface="Cambria Math" panose="02040503050406030204" pitchFamily="18" charset="0"/>
                                    </a:rPr>
                                    <m:t>𝒕</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p>
                          </m:sSup>
                        </m:e>
                      </m:d>
                      <m:sSubSup>
                        <m:sSubSupPr>
                          <m:ctrlPr>
                            <a:rPr lang="en-US" altLang="zh-CN" b="1" i="1" smtClean="0">
                              <a:solidFill>
                                <a:srgbClr val="C00000"/>
                              </a:solidFill>
                              <a:latin typeface="Cambria Math" panose="02040503050406030204" pitchFamily="18" charset="0"/>
                            </a:rPr>
                          </m:ctrlPr>
                        </m:sSubSupPr>
                        <m:e>
                          <m:r>
                            <a:rPr lang="en-US" altLang="zh-CN" b="1" i="1" smtClean="0">
                              <a:solidFill>
                                <a:srgbClr val="C00000"/>
                              </a:solidFill>
                              <a:latin typeface="Cambria Math" panose="02040503050406030204" pitchFamily="18" charset="0"/>
                            </a:rPr>
                            <m:t>𝒓</m:t>
                          </m:r>
                        </m:e>
                        <m:sub>
                          <m:r>
                            <a:rPr lang="en-US" altLang="zh-CN" b="1" i="1" smtClean="0">
                              <a:solidFill>
                                <a:srgbClr val="C00000"/>
                              </a:solidFill>
                              <a:latin typeface="Cambria Math" panose="02040503050406030204" pitchFamily="18" charset="0"/>
                            </a:rPr>
                            <m:t>𝒕</m:t>
                          </m:r>
                        </m:sub>
                        <m:sup>
                          <m:r>
                            <a:rPr lang="en-US" altLang="zh-CN" b="1" i="1" smtClean="0">
                              <a:solidFill>
                                <a:srgbClr val="C00000"/>
                              </a:solidFill>
                              <a:latin typeface="Cambria Math" panose="02040503050406030204" pitchFamily="18" charset="0"/>
                            </a:rPr>
                            <m:t>𝒏</m:t>
                          </m:r>
                        </m:sup>
                      </m:sSubSup>
                    </m:oMath>
                  </m:oMathPara>
                </a14:m>
                <a:endParaRPr lang="en-US" altLang="zh-CN" b="1">
                  <a:solidFill>
                    <a:schemeClr val="accent6">
                      <a:lumMod val="50000"/>
                    </a:schemeClr>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3428996" y="3148283"/>
                <a:ext cx="5334000" cy="1426031"/>
              </a:xfrm>
              <a:prstGeom prst="rect">
                <a:avLst/>
              </a:prstGeom>
              <a:blipFill rotWithShape="1">
                <a:blip r:embed="rId4"/>
                <a:stretch>
                  <a:fillRect l="-12" t="-41" r="12" b="2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9143994" y="2825693"/>
                <a:ext cx="2379192" cy="2071208"/>
              </a:xfrm>
              <a:prstGeom prst="rect">
                <a:avLst/>
              </a:prstGeom>
              <a:solidFill>
                <a:schemeClr val="accent5">
                  <a:lumMod val="20000"/>
                  <a:lumOff val="80000"/>
                </a:schemeClr>
              </a:solidFill>
            </p:spPr>
            <p:txBody>
              <a:bodyPr wrap="square" rtlCol="0">
                <a:spAutoFit/>
              </a:bodyPr>
              <a:lstStyle/>
              <a:p>
                <a:pPr algn="just">
                  <a:lnSpc>
                    <a:spcPts val="2600"/>
                  </a:lnSpc>
                </a:pP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𝜷</m:t>
                        </m:r>
                      </m:e>
                      <m:sub>
                        <m:r>
                          <a:rPr lang="en-US" altLang="zh-CN" b="1" i="1" smtClean="0">
                            <a:solidFill>
                              <a:schemeClr val="accent6">
                                <a:lumMod val="50000"/>
                              </a:schemeClr>
                            </a:solidFill>
                            <a:latin typeface="Cambria Math" panose="02040503050406030204" pitchFamily="18" charset="0"/>
                          </a:rPr>
                          <m:t>𝒊</m:t>
                        </m:r>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𝒋</m:t>
                        </m:r>
                      </m:sub>
                    </m:sSub>
                    <m:r>
                      <a:rPr lang="en-US" altLang="zh-CN" b="1" i="1" smtClean="0">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𝒊</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𝟏</m:t>
                    </m:r>
                    <m:r>
                      <a:rPr lang="en-US" altLang="zh-CN" b="1" i="1">
                        <a:solidFill>
                          <a:schemeClr val="accent6">
                            <a:lumMod val="50000"/>
                          </a:schemeClr>
                        </a:solidFill>
                        <a:latin typeface="Cambria Math" panose="02040503050406030204" pitchFamily="18" charset="0"/>
                      </a:rPr>
                      <m:t>,⋯, </m:t>
                    </m:r>
                    <m:r>
                      <a:rPr lang="en-US" altLang="zh-CN" b="1" i="1">
                        <a:solidFill>
                          <a:schemeClr val="accent6">
                            <a:lumMod val="50000"/>
                          </a:schemeClr>
                        </a:solidFill>
                        <a:latin typeface="Cambria Math" panose="02040503050406030204" pitchFamily="18" charset="0"/>
                      </a:rPr>
                      <m:t>𝒕</m:t>
                    </m:r>
                    <m:r>
                      <a:rPr lang="en-US" altLang="zh-CN" b="1" i="1" smtClean="0">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𝒋</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𝟏</m:t>
                    </m:r>
                    <m:r>
                      <a:rPr lang="en-US" altLang="zh-CN" b="1" i="1">
                        <a:solidFill>
                          <a:schemeClr val="accent6">
                            <a:lumMod val="50000"/>
                          </a:schemeClr>
                        </a:solidFill>
                        <a:latin typeface="Cambria Math" panose="02040503050406030204" pitchFamily="18" charset="0"/>
                      </a:rPr>
                      <m:t>, ⋯, </m:t>
                    </m:r>
                    <m:sSub>
                      <m:sSubPr>
                        <m:ctrlPr>
                          <a:rPr lang="en-US" altLang="zh-CN" b="1" i="1">
                            <a:solidFill>
                              <a:schemeClr val="accent6">
                                <a:lumMod val="50000"/>
                              </a:schemeClr>
                            </a:solidFill>
                            <a:latin typeface="Cambria Math" panose="02040503050406030204" pitchFamily="18" charset="0"/>
                          </a:rPr>
                        </m:ctrlPr>
                      </m:sSubPr>
                      <m:e>
                        <m:r>
                          <a:rPr lang="en-US" altLang="zh-CN" b="1" i="1">
                            <a:solidFill>
                              <a:schemeClr val="accent6">
                                <a:lumMod val="50000"/>
                              </a:schemeClr>
                            </a:solidFill>
                            <a:latin typeface="Cambria Math" panose="02040503050406030204" pitchFamily="18" charset="0"/>
                          </a:rPr>
                          <m:t>𝒎</m:t>
                        </m:r>
                      </m:e>
                      <m:sub>
                        <m:r>
                          <a:rPr lang="en-US" altLang="zh-CN" b="1" i="1">
                            <a:solidFill>
                              <a:schemeClr val="accent6">
                                <a:lumMod val="50000"/>
                              </a:schemeClr>
                            </a:solidFill>
                            <a:latin typeface="Cambria Math" panose="02040503050406030204" pitchFamily="18" charset="0"/>
                          </a:rPr>
                          <m:t>𝒊</m:t>
                        </m:r>
                      </m:sub>
                    </m:sSub>
                    <m: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rPr>
                  <a:t>是</a:t>
                </a:r>
                <a:r>
                  <a:rPr lang="zh-CN" altLang="en-US" b="1">
                    <a:solidFill>
                      <a:srgbClr val="C00000"/>
                    </a:solidFill>
                  </a:rPr>
                  <a:t>待定系数</a:t>
                </a:r>
                <a:r>
                  <a:rPr lang="zh-CN" altLang="en-US" b="1">
                    <a:solidFill>
                      <a:schemeClr val="accent6">
                        <a:lumMod val="50000"/>
                      </a:schemeClr>
                    </a:solidFill>
                  </a:rPr>
                  <a:t>，共</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𝒌</m:t>
                    </m:r>
                  </m:oMath>
                </a14:m>
                <a:r>
                  <a:rPr lang="zh-CN" altLang="en-US" b="1">
                    <a:solidFill>
                      <a:schemeClr val="accent6">
                        <a:lumMod val="50000"/>
                      </a:schemeClr>
                    </a:solidFill>
                  </a:rPr>
                  <a:t>个，由递推关系式</a:t>
                </a:r>
                <a14:m>
                  <m:oMath xmlns:m="http://schemas.openxmlformats.org/officeDocument/2006/math">
                    <m:r>
                      <a:rPr lang="en-US" altLang="zh-CN" b="1" i="1">
                        <a:solidFill>
                          <a:schemeClr val="accent6">
                            <a:lumMod val="50000"/>
                          </a:schemeClr>
                        </a:solidFill>
                        <a:latin typeface="Cambria Math" panose="02040503050406030204" pitchFamily="18" charset="0"/>
                      </a:rPr>
                      <m:t>𝒌</m:t>
                    </m:r>
                  </m:oMath>
                </a14:m>
                <a:r>
                  <a:rPr lang="zh-CN" altLang="en-US" b="1">
                    <a:solidFill>
                      <a:schemeClr val="accent6">
                        <a:lumMod val="50000"/>
                      </a:schemeClr>
                    </a:solidFill>
                  </a:rPr>
                  <a:t>个初始条件，即序列</a:t>
                </a:r>
                <a14:m>
                  <m:oMath xmlns:m="http://schemas.openxmlformats.org/officeDocument/2006/math">
                    <m:r>
                      <m:rPr>
                        <m:lit/>
                      </m:rPr>
                      <a:rPr lang="en-US" altLang="zh-CN" b="1" i="1" smtClean="0">
                        <a:solidFill>
                          <a:schemeClr val="accent6">
                            <a:lumMod val="50000"/>
                          </a:schemeClr>
                        </a:solidFill>
                        <a:latin typeface="Cambria Math" panose="02040503050406030204" pitchFamily="18" charset="0"/>
                      </a:rPr>
                      <m:t>{</m:t>
                    </m:r>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𝒂</m:t>
                        </m:r>
                      </m:e>
                      <m:sub>
                        <m:r>
                          <a:rPr lang="en-US" altLang="zh-CN" b="1" i="1" smtClean="0">
                            <a:solidFill>
                              <a:schemeClr val="accent6">
                                <a:lumMod val="50000"/>
                              </a:schemeClr>
                            </a:solidFill>
                            <a:latin typeface="Cambria Math" panose="02040503050406030204" pitchFamily="18" charset="0"/>
                          </a:rPr>
                          <m:t>𝒏</m:t>
                        </m:r>
                      </m:sub>
                    </m:sSub>
                    <m:r>
                      <m:rPr>
                        <m:lit/>
                      </m:rP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rPr>
                  <a:t>的</a:t>
                </a:r>
                <a14:m>
                  <m:oMath xmlns:m="http://schemas.openxmlformats.org/officeDocument/2006/math">
                    <m:r>
                      <a:rPr lang="en-US" altLang="zh-CN" b="1" i="1" smtClean="0">
                        <a:solidFill>
                          <a:srgbClr val="C00000"/>
                        </a:solidFill>
                        <a:latin typeface="Cambria Math" panose="02040503050406030204" pitchFamily="18" charset="0"/>
                      </a:rPr>
                      <m:t>𝒌</m:t>
                    </m:r>
                  </m:oMath>
                </a14:m>
                <a:r>
                  <a:rPr lang="zh-CN" altLang="en-US" b="1">
                    <a:solidFill>
                      <a:srgbClr val="C00000"/>
                    </a:solidFill>
                  </a:rPr>
                  <a:t>个初值</a:t>
                </a:r>
                <a:r>
                  <a:rPr lang="en-US" altLang="zh-CN" b="1">
                    <a:solidFill>
                      <a:schemeClr val="accent6">
                        <a:lumMod val="50000"/>
                      </a:schemeClr>
                    </a:solidFill>
                  </a:rPr>
                  <a:t>,</a:t>
                </a:r>
                <a:r>
                  <a:rPr lang="zh-CN" altLang="en-US" b="1">
                    <a:solidFill>
                      <a:schemeClr val="accent6">
                        <a:lumMod val="50000"/>
                      </a:schemeClr>
                    </a:solidFill>
                  </a:rPr>
                  <a:t>列</a:t>
                </a:r>
                <a:r>
                  <a:rPr lang="zh-CN" altLang="en-US" b="1">
                    <a:solidFill>
                      <a:srgbClr val="C00000"/>
                    </a:solidFill>
                  </a:rPr>
                  <a:t>线性方程组</a:t>
                </a:r>
                <a:r>
                  <a:rPr lang="zh-CN" altLang="en-US" b="1">
                    <a:solidFill>
                      <a:schemeClr val="accent6">
                        <a:lumMod val="50000"/>
                      </a:schemeClr>
                    </a:solidFill>
                  </a:rPr>
                  <a:t>求解</a:t>
                </a:r>
                <a:endParaRPr lang="zh-CN" altLang="en-US" b="1">
                  <a:solidFill>
                    <a:schemeClr val="accent6">
                      <a:lumMod val="50000"/>
                    </a:schemeClr>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a:off x="9143994" y="2825693"/>
                <a:ext cx="2379192" cy="2071208"/>
              </a:xfrm>
              <a:prstGeom prst="rect">
                <a:avLst/>
              </a:prstGeom>
              <a:blipFill rotWithShape="1">
                <a:blip r:embed="rId5"/>
                <a:stretch>
                  <a:fillRect l="-26" t="-28" r="-2676" b="20"/>
                </a:stretch>
              </a:blipFill>
            </p:spPr>
            <p:txBody>
              <a:bodyPr/>
              <a:lstStyle/>
              <a:p>
                <a:r>
                  <a:rPr lang="zh-CN" altLang="en-US">
                    <a:noFill/>
                  </a:rPr>
                  <a:t> </a:t>
                </a:r>
              </a:p>
            </p:txBody>
          </p:sp>
        </mc:Fallback>
      </mc:AlternateContent>
      <p:sp>
        <p:nvSpPr>
          <p:cNvPr id="15" name="箭头: 右 14"/>
          <p:cNvSpPr/>
          <p:nvPr/>
        </p:nvSpPr>
        <p:spPr>
          <a:xfrm>
            <a:off x="3048002" y="3795748"/>
            <a:ext cx="380994" cy="1776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右 15"/>
          <p:cNvSpPr/>
          <p:nvPr/>
        </p:nvSpPr>
        <p:spPr>
          <a:xfrm>
            <a:off x="8762996" y="3782592"/>
            <a:ext cx="380994" cy="1776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下 18"/>
          <p:cNvSpPr/>
          <p:nvPr/>
        </p:nvSpPr>
        <p:spPr>
          <a:xfrm>
            <a:off x="6067311" y="2619366"/>
            <a:ext cx="111833" cy="17494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611793" y="5221778"/>
            <a:ext cx="10979378" cy="889352"/>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2" name="文本框 21"/>
              <p:cNvSpPr txBox="1"/>
              <p:nvPr/>
            </p:nvSpPr>
            <p:spPr>
              <a:xfrm>
                <a:off x="668807" y="5299181"/>
                <a:ext cx="3094048" cy="736612"/>
              </a:xfrm>
              <a:prstGeom prst="rect">
                <a:avLst/>
              </a:prstGeom>
              <a:solidFill>
                <a:schemeClr val="accent5">
                  <a:lumMod val="20000"/>
                  <a:lumOff val="80000"/>
                </a:schemeClr>
              </a:solidFill>
            </p:spPr>
            <p:txBody>
              <a:bodyPr wrap="square" rtlCol="0">
                <a:spAutoFit/>
              </a:bodyPr>
              <a:lstStyle/>
              <a:p>
                <a:pPr>
                  <a:lnSpc>
                    <a:spcPts val="2600"/>
                  </a:lnSpc>
                </a:pPr>
                <a:r>
                  <a:rPr lang="zh-CN" altLang="en-US" b="1">
                    <a:solidFill>
                      <a:schemeClr val="accent6">
                        <a:lumMod val="50000"/>
                      </a:schemeClr>
                    </a:solidFill>
                  </a:rPr>
                  <a:t>特征方程</a:t>
                </a:r>
                <a:r>
                  <a:rPr lang="en-US" altLang="zh-CN" b="1">
                    <a:solidFill>
                      <a:schemeClr val="accent6">
                        <a:lumMod val="50000"/>
                      </a:schemeClr>
                    </a:solidFill>
                  </a:rPr>
                  <a:t>(</a:t>
                </a:r>
                <a:r>
                  <a:rPr lang="zh-CN" altLang="en-US" b="1">
                    <a:solidFill>
                      <a:schemeClr val="accent6">
                        <a:lumMod val="50000"/>
                      </a:schemeClr>
                    </a:solidFill>
                  </a:rPr>
                  <a:t>在复数域内</a:t>
                </a:r>
                <a:r>
                  <a:rPr lang="en-US" altLang="zh-CN" b="1">
                    <a:solidFill>
                      <a:schemeClr val="accent6">
                        <a:lumMod val="50000"/>
                      </a:schemeClr>
                    </a:solidFill>
                  </a:rPr>
                  <a:t>)</a:t>
                </a:r>
                <a:r>
                  <a:rPr lang="zh-CN" altLang="en-US" b="1">
                    <a:solidFill>
                      <a:schemeClr val="accent6">
                        <a:lumMod val="50000"/>
                      </a:schemeClr>
                    </a:solidFill>
                  </a:rPr>
                  <a:t>没有重根，即有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𝒌</m:t>
                    </m:r>
                  </m:oMath>
                </a14:m>
                <a:r>
                  <a:rPr lang="zh-CN" altLang="en-US" b="1">
                    <a:solidFill>
                      <a:schemeClr val="accent6">
                        <a:lumMod val="50000"/>
                      </a:schemeClr>
                    </a:solidFill>
                  </a:rPr>
                  <a:t>个</a:t>
                </a:r>
                <a:r>
                  <a:rPr lang="zh-CN" altLang="en-US" b="1">
                    <a:solidFill>
                      <a:srgbClr val="C00000"/>
                    </a:solidFill>
                  </a:rPr>
                  <a:t>不同根</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𝒓</m:t>
                        </m:r>
                      </m:e>
                      <m:sub>
                        <m:r>
                          <a:rPr lang="en-US" altLang="zh-CN" b="1" i="1" smtClean="0">
                            <a:solidFill>
                              <a:schemeClr val="accent6">
                                <a:lumMod val="50000"/>
                              </a:schemeClr>
                            </a:solidFill>
                            <a:latin typeface="Cambria Math" panose="02040503050406030204" pitchFamily="18" charset="0"/>
                          </a:rPr>
                          <m:t>𝟏</m:t>
                        </m:r>
                      </m:sub>
                    </m:sSub>
                    <m:r>
                      <a:rPr lang="en-US" altLang="zh-CN" b="1" i="1" smtClean="0">
                        <a:solidFill>
                          <a:schemeClr val="accent6">
                            <a:lumMod val="50000"/>
                          </a:schemeClr>
                        </a:solidFill>
                        <a:latin typeface="Cambria Math" panose="02040503050406030204" pitchFamily="18" charset="0"/>
                      </a:rPr>
                      <m:t>, ⋯, </m:t>
                    </m:r>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𝒓</m:t>
                        </m:r>
                      </m:e>
                      <m:sub>
                        <m:r>
                          <a:rPr lang="en-US" altLang="zh-CN" b="1" i="1" smtClean="0">
                            <a:solidFill>
                              <a:schemeClr val="accent6">
                                <a:lumMod val="50000"/>
                              </a:schemeClr>
                            </a:solidFill>
                            <a:latin typeface="Cambria Math" panose="02040503050406030204" pitchFamily="18" charset="0"/>
                          </a:rPr>
                          <m:t>𝒌</m:t>
                        </m:r>
                      </m:sub>
                    </m:sSub>
                  </m:oMath>
                </a14:m>
                <a:endParaRPr lang="zh-CN" altLang="en-US" b="1">
                  <a:solidFill>
                    <a:schemeClr val="accent6">
                      <a:lumMod val="50000"/>
                    </a:schemeClr>
                  </a:solidFill>
                </a:endParaRPr>
              </a:p>
            </p:txBody>
          </p:sp>
        </mc:Choice>
        <mc:Fallback>
          <p:sp>
            <p:nvSpPr>
              <p:cNvPr id="22" name="文本框 21"/>
              <p:cNvSpPr txBox="1">
                <a:spLocks noRot="1" noChangeAspect="1" noMove="1" noResize="1" noEditPoints="1" noAdjustHandles="1" noChangeArrowheads="1" noChangeShapeType="1" noTextEdit="1"/>
              </p:cNvSpPr>
              <p:nvPr/>
            </p:nvSpPr>
            <p:spPr>
              <a:xfrm>
                <a:off x="668807" y="5299181"/>
                <a:ext cx="3094048" cy="736612"/>
              </a:xfrm>
              <a:prstGeom prst="rect">
                <a:avLst/>
              </a:prstGeom>
              <a:blipFill rotWithShape="1">
                <a:blip r:embed="rId6"/>
                <a:stretch>
                  <a:fillRect l="-5" t="-14" r="16" b="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文本框 22"/>
              <p:cNvSpPr txBox="1"/>
              <p:nvPr/>
            </p:nvSpPr>
            <p:spPr>
              <a:xfrm>
                <a:off x="4172914" y="5477232"/>
                <a:ext cx="3361571" cy="425758"/>
              </a:xfrm>
              <a:prstGeom prst="rect">
                <a:avLst/>
              </a:prstGeom>
              <a:solidFill>
                <a:schemeClr val="accent2">
                  <a:lumMod val="20000"/>
                  <a:lumOff val="80000"/>
                </a:schemeClr>
              </a:solidFill>
            </p:spPr>
            <p:txBody>
              <a:bodyPr wrap="square" rtlCol="0">
                <a:spAutoFit/>
              </a:bodyPr>
              <a:lstStyle/>
              <a:p>
                <a:pPr>
                  <a:lnSpc>
                    <a:spcPts val="2600"/>
                  </a:lnSpc>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𝒏</m:t>
                          </m:r>
                        </m:sub>
                      </m:sSub>
                      <m:r>
                        <a:rPr lang="en-US" altLang="zh-CN" b="1" i="1" smtClean="0">
                          <a:solidFill>
                            <a:srgbClr val="C00000"/>
                          </a:solidFill>
                          <a:latin typeface="Cambria Math" panose="02040503050406030204" pitchFamily="18" charset="0"/>
                        </a:rPr>
                        <m:t>=</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𝟏</m:t>
                          </m:r>
                        </m:sub>
                      </m:sSub>
                      <m:sSubSup>
                        <m:sSubSupPr>
                          <m:ctrlPr>
                            <a:rPr lang="en-US" altLang="zh-CN" b="1" i="1" smtClean="0">
                              <a:solidFill>
                                <a:srgbClr val="C00000"/>
                              </a:solidFill>
                              <a:latin typeface="Cambria Math" panose="02040503050406030204" pitchFamily="18" charset="0"/>
                            </a:rPr>
                          </m:ctrlPr>
                        </m:sSubSupPr>
                        <m:e>
                          <m:r>
                            <a:rPr lang="en-US" altLang="zh-CN" b="1" i="1" smtClean="0">
                              <a:solidFill>
                                <a:srgbClr val="C00000"/>
                              </a:solidFill>
                              <a:latin typeface="Cambria Math" panose="02040503050406030204" pitchFamily="18" charset="0"/>
                            </a:rPr>
                            <m:t>𝒓</m:t>
                          </m:r>
                        </m:e>
                        <m:sub>
                          <m:r>
                            <a:rPr lang="en-US" altLang="zh-CN" b="1" i="1" smtClean="0">
                              <a:solidFill>
                                <a:srgbClr val="C00000"/>
                              </a:solidFill>
                              <a:latin typeface="Cambria Math" panose="02040503050406030204" pitchFamily="18" charset="0"/>
                            </a:rPr>
                            <m:t>𝟏</m:t>
                          </m:r>
                        </m:sub>
                        <m:sup>
                          <m:r>
                            <a:rPr lang="en-US" altLang="zh-CN" b="1" i="1" smtClean="0">
                              <a:solidFill>
                                <a:srgbClr val="C00000"/>
                              </a:solidFill>
                              <a:latin typeface="Cambria Math" panose="02040503050406030204" pitchFamily="18" charset="0"/>
                            </a:rPr>
                            <m:t>𝒏</m:t>
                          </m:r>
                        </m:sup>
                      </m:sSubSup>
                      <m:r>
                        <a:rPr lang="en-US" altLang="zh-CN" b="1" i="1" smtClean="0">
                          <a:solidFill>
                            <a:srgbClr val="C00000"/>
                          </a:solidFill>
                          <a:latin typeface="Cambria Math" panose="02040503050406030204" pitchFamily="18" charset="0"/>
                        </a:rPr>
                        <m:t>+</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𝟐</m:t>
                          </m:r>
                        </m:sub>
                      </m:sSub>
                      <m:sSubSup>
                        <m:sSubSupPr>
                          <m:ctrlPr>
                            <a:rPr lang="en-US" altLang="zh-CN" b="1" i="1" smtClean="0">
                              <a:solidFill>
                                <a:srgbClr val="C00000"/>
                              </a:solidFill>
                              <a:latin typeface="Cambria Math" panose="02040503050406030204" pitchFamily="18" charset="0"/>
                            </a:rPr>
                          </m:ctrlPr>
                        </m:sSubSupPr>
                        <m:e>
                          <m:r>
                            <a:rPr lang="en-US" altLang="zh-CN" b="1" i="1" smtClean="0">
                              <a:solidFill>
                                <a:srgbClr val="C00000"/>
                              </a:solidFill>
                              <a:latin typeface="Cambria Math" panose="02040503050406030204" pitchFamily="18" charset="0"/>
                            </a:rPr>
                            <m:t>𝒓</m:t>
                          </m:r>
                        </m:e>
                        <m:sub>
                          <m:r>
                            <a:rPr lang="en-US" altLang="zh-CN" b="1" i="1" smtClean="0">
                              <a:solidFill>
                                <a:srgbClr val="C00000"/>
                              </a:solidFill>
                              <a:latin typeface="Cambria Math" panose="02040503050406030204" pitchFamily="18" charset="0"/>
                            </a:rPr>
                            <m:t>𝟐</m:t>
                          </m:r>
                        </m:sub>
                        <m:sup>
                          <m:r>
                            <a:rPr lang="en-US" altLang="zh-CN" b="1" i="1" smtClean="0">
                              <a:solidFill>
                                <a:srgbClr val="C00000"/>
                              </a:solidFill>
                              <a:latin typeface="Cambria Math" panose="02040503050406030204" pitchFamily="18" charset="0"/>
                            </a:rPr>
                            <m:t>𝒏</m:t>
                          </m:r>
                        </m:sup>
                      </m:sSubSup>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𝒌</m:t>
                          </m:r>
                        </m:sub>
                      </m:sSub>
                      <m:sSubSup>
                        <m:sSubSupPr>
                          <m:ctrlPr>
                            <a:rPr lang="en-US" altLang="zh-CN" b="1" i="1" smtClean="0">
                              <a:solidFill>
                                <a:srgbClr val="C00000"/>
                              </a:solidFill>
                              <a:latin typeface="Cambria Math" panose="02040503050406030204" pitchFamily="18" charset="0"/>
                            </a:rPr>
                          </m:ctrlPr>
                        </m:sSubSupPr>
                        <m:e>
                          <m:r>
                            <a:rPr lang="en-US" altLang="zh-CN" b="1" i="1" smtClean="0">
                              <a:solidFill>
                                <a:srgbClr val="C00000"/>
                              </a:solidFill>
                              <a:latin typeface="Cambria Math" panose="02040503050406030204" pitchFamily="18" charset="0"/>
                            </a:rPr>
                            <m:t>𝒓</m:t>
                          </m:r>
                        </m:e>
                        <m:sub>
                          <m:r>
                            <a:rPr lang="en-US" altLang="zh-CN" b="1" i="1" smtClean="0">
                              <a:solidFill>
                                <a:srgbClr val="C00000"/>
                              </a:solidFill>
                              <a:latin typeface="Cambria Math" panose="02040503050406030204" pitchFamily="18" charset="0"/>
                            </a:rPr>
                            <m:t>𝒌</m:t>
                          </m:r>
                        </m:sub>
                        <m:sup>
                          <m:r>
                            <a:rPr lang="en-US" altLang="zh-CN" b="1" i="1" smtClean="0">
                              <a:solidFill>
                                <a:srgbClr val="C00000"/>
                              </a:solidFill>
                              <a:latin typeface="Cambria Math" panose="02040503050406030204" pitchFamily="18" charset="0"/>
                            </a:rPr>
                            <m:t>𝒏</m:t>
                          </m:r>
                        </m:sup>
                      </m:sSubSup>
                    </m:oMath>
                  </m:oMathPara>
                </a14:m>
                <a:endParaRPr lang="en-US" altLang="zh-CN" b="1">
                  <a:solidFill>
                    <a:schemeClr val="accent6">
                      <a:lumMod val="50000"/>
                    </a:schemeClr>
                  </a:solidFill>
                </a:endParaRPr>
              </a:p>
            </p:txBody>
          </p:sp>
        </mc:Choice>
        <mc:Fallback>
          <p:sp>
            <p:nvSpPr>
              <p:cNvPr id="23" name="文本框 22"/>
              <p:cNvSpPr txBox="1">
                <a:spLocks noRot="1" noChangeAspect="1" noMove="1" noResize="1" noEditPoints="1" noAdjustHandles="1" noChangeArrowheads="1" noChangeShapeType="1" noTextEdit="1"/>
              </p:cNvSpPr>
              <p:nvPr/>
            </p:nvSpPr>
            <p:spPr>
              <a:xfrm>
                <a:off x="4172914" y="5477232"/>
                <a:ext cx="3361571" cy="425758"/>
              </a:xfrm>
              <a:prstGeom prst="rect">
                <a:avLst/>
              </a:prstGeom>
              <a:blipFill rotWithShape="1">
                <a:blip r:embed="rId7"/>
                <a:stretch>
                  <a:fillRect l="-10" t="-84" r="6" b="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文本框 23"/>
              <p:cNvSpPr txBox="1"/>
              <p:nvPr/>
            </p:nvSpPr>
            <p:spPr>
              <a:xfrm>
                <a:off x="7981817" y="5307971"/>
                <a:ext cx="3541365" cy="736612"/>
              </a:xfrm>
              <a:prstGeom prst="rect">
                <a:avLst/>
              </a:prstGeom>
              <a:solidFill>
                <a:schemeClr val="accent5">
                  <a:lumMod val="20000"/>
                  <a:lumOff val="80000"/>
                </a:schemeClr>
              </a:solidFill>
            </p:spPr>
            <p:txBody>
              <a:bodyPr wrap="square" rtlCol="0">
                <a:spAutoFit/>
              </a:bodyPr>
              <a:lstStyle/>
              <a:p>
                <a:pPr algn="just">
                  <a:lnSpc>
                    <a:spcPts val="2600"/>
                  </a:lnSpc>
                </a:pP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𝜷</m:t>
                        </m:r>
                      </m:e>
                      <m:sub>
                        <m:r>
                          <a:rPr lang="en-US" altLang="zh-CN" b="1" i="1" smtClean="0">
                            <a:solidFill>
                              <a:schemeClr val="accent6">
                                <a:lumMod val="50000"/>
                              </a:schemeClr>
                            </a:solidFill>
                            <a:latin typeface="Cambria Math" panose="02040503050406030204" pitchFamily="18" charset="0"/>
                          </a:rPr>
                          <m:t>𝒊</m:t>
                        </m:r>
                      </m:sub>
                    </m:sSub>
                    <m:r>
                      <a:rPr lang="en-US" altLang="zh-CN" b="1" i="1" smtClean="0">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𝒊</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𝟏</m:t>
                    </m:r>
                    <m:r>
                      <a:rPr lang="en-US" altLang="zh-CN" b="1" i="1">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𝒌</m:t>
                    </m:r>
                    <m: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rPr>
                  <a:t>是</a:t>
                </a:r>
                <a14:m>
                  <m:oMath xmlns:m="http://schemas.openxmlformats.org/officeDocument/2006/math">
                    <m:r>
                      <a:rPr lang="en-US" altLang="zh-CN" b="1" i="1">
                        <a:solidFill>
                          <a:schemeClr val="accent6">
                            <a:lumMod val="50000"/>
                          </a:schemeClr>
                        </a:solidFill>
                        <a:latin typeface="Cambria Math" panose="02040503050406030204" pitchFamily="18" charset="0"/>
                      </a:rPr>
                      <m:t>𝒌</m:t>
                    </m:r>
                  </m:oMath>
                </a14:m>
                <a:r>
                  <a:rPr lang="zh-CN" altLang="en-US" b="1">
                    <a:solidFill>
                      <a:schemeClr val="accent6">
                        <a:lumMod val="50000"/>
                      </a:schemeClr>
                    </a:solidFill>
                  </a:rPr>
                  <a:t>个</a:t>
                </a:r>
                <a:r>
                  <a:rPr lang="zh-CN" altLang="en-US" b="1">
                    <a:solidFill>
                      <a:srgbClr val="C00000"/>
                    </a:solidFill>
                  </a:rPr>
                  <a:t>待定系数</a:t>
                </a:r>
                <a:r>
                  <a:rPr lang="zh-CN" altLang="en-US" b="1">
                    <a:solidFill>
                      <a:schemeClr val="accent6">
                        <a:lumMod val="50000"/>
                      </a:schemeClr>
                    </a:solidFill>
                  </a:rPr>
                  <a:t>，由序列</a:t>
                </a:r>
                <a14:m>
                  <m:oMath xmlns:m="http://schemas.openxmlformats.org/officeDocument/2006/math">
                    <m:r>
                      <a:rPr lang="en-US" altLang="zh-CN" b="1" i="1" smtClean="0">
                        <a:solidFill>
                          <a:srgbClr val="C00000"/>
                        </a:solidFill>
                        <a:latin typeface="Cambria Math" panose="02040503050406030204" pitchFamily="18" charset="0"/>
                      </a:rPr>
                      <m:t>𝒌</m:t>
                    </m:r>
                  </m:oMath>
                </a14:m>
                <a:r>
                  <a:rPr lang="zh-CN" altLang="en-US" b="1">
                    <a:solidFill>
                      <a:srgbClr val="C00000"/>
                    </a:solidFill>
                  </a:rPr>
                  <a:t>个初值</a:t>
                </a:r>
                <a:r>
                  <a:rPr lang="zh-CN" altLang="en-US" b="1">
                    <a:solidFill>
                      <a:schemeClr val="accent6">
                        <a:lumMod val="50000"/>
                      </a:schemeClr>
                    </a:solidFill>
                  </a:rPr>
                  <a:t>列</a:t>
                </a:r>
                <a:r>
                  <a:rPr lang="zh-CN" altLang="en-US" b="1">
                    <a:solidFill>
                      <a:srgbClr val="C00000"/>
                    </a:solidFill>
                  </a:rPr>
                  <a:t>线性方程组</a:t>
                </a:r>
                <a:r>
                  <a:rPr lang="zh-CN" altLang="en-US" b="1">
                    <a:solidFill>
                      <a:schemeClr val="accent6">
                        <a:lumMod val="50000"/>
                      </a:schemeClr>
                    </a:solidFill>
                  </a:rPr>
                  <a:t>求解</a:t>
                </a:r>
                <a:endParaRPr lang="zh-CN" altLang="en-US" b="1">
                  <a:solidFill>
                    <a:schemeClr val="accent6">
                      <a:lumMod val="50000"/>
                    </a:schemeClr>
                  </a:solidFill>
                </a:endParaRPr>
              </a:p>
            </p:txBody>
          </p:sp>
        </mc:Choice>
        <mc:Fallback>
          <p:sp>
            <p:nvSpPr>
              <p:cNvPr id="24" name="文本框 23"/>
              <p:cNvSpPr txBox="1">
                <a:spLocks noRot="1" noChangeAspect="1" noMove="1" noResize="1" noEditPoints="1" noAdjustHandles="1" noChangeArrowheads="1" noChangeShapeType="1" noTextEdit="1"/>
              </p:cNvSpPr>
              <p:nvPr/>
            </p:nvSpPr>
            <p:spPr>
              <a:xfrm>
                <a:off x="7981817" y="5307971"/>
                <a:ext cx="3541365" cy="736612"/>
              </a:xfrm>
              <a:prstGeom prst="rect">
                <a:avLst/>
              </a:prstGeom>
              <a:blipFill rotWithShape="1">
                <a:blip r:embed="rId8"/>
                <a:stretch>
                  <a:fillRect l="-14" t="-1" r="13" b="2"/>
                </a:stretch>
              </a:blipFill>
            </p:spPr>
            <p:txBody>
              <a:bodyPr/>
              <a:lstStyle/>
              <a:p>
                <a:r>
                  <a:rPr lang="zh-CN" altLang="en-US">
                    <a:noFill/>
                  </a:rPr>
                  <a:t> </a:t>
                </a:r>
              </a:p>
            </p:txBody>
          </p:sp>
        </mc:Fallback>
      </mc:AlternateContent>
      <p:sp>
        <p:nvSpPr>
          <p:cNvPr id="25" name="箭头: 右 24"/>
          <p:cNvSpPr/>
          <p:nvPr/>
        </p:nvSpPr>
        <p:spPr>
          <a:xfrm>
            <a:off x="3765056" y="5601303"/>
            <a:ext cx="407858" cy="1776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右 25"/>
          <p:cNvSpPr/>
          <p:nvPr/>
        </p:nvSpPr>
        <p:spPr>
          <a:xfrm>
            <a:off x="7534485" y="5601302"/>
            <a:ext cx="447332" cy="1776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下 26"/>
          <p:cNvSpPr/>
          <p:nvPr/>
        </p:nvSpPr>
        <p:spPr>
          <a:xfrm>
            <a:off x="6123227" y="4971117"/>
            <a:ext cx="111833" cy="2554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6235060" y="4909814"/>
            <a:ext cx="1144645" cy="372190"/>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简化情形</a:t>
            </a:r>
            <a:endParaRPr lang="zh-CN" altLang="en-US" b="1">
              <a:solidFill>
                <a:schemeClr val="accent2">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animBg="1"/>
      <p:bldP spid="4" grpId="0" animBg="1"/>
      <p:bldP spid="6" grpId="0" animBg="1"/>
      <p:bldP spid="11" grpId="0" animBg="1"/>
      <p:bldP spid="15" grpId="0" animBg="1"/>
      <p:bldP spid="16" grpId="0" animBg="1"/>
      <p:bldP spid="19"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线性递推关系式求解</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线性齐次递推关系式求解举例</a:t>
            </a:r>
            <a:endParaRPr lang="zh-CN" altLang="en-US"/>
          </a:p>
        </p:txBody>
      </p:sp>
      <mc:AlternateContent xmlns:mc="http://schemas.openxmlformats.org/markup-compatibility/2006">
        <mc:Choice xmlns:a14="http://schemas.microsoft.com/office/drawing/2010/main" Requires="a14">
          <p:sp>
            <p:nvSpPr>
              <p:cNvPr id="3" name="文本框 2"/>
              <p:cNvSpPr txBox="1"/>
              <p:nvPr/>
            </p:nvSpPr>
            <p:spPr>
              <a:xfrm>
                <a:off x="644685" y="1316464"/>
                <a:ext cx="8591413"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求解线性齐次递推关系式</a:t>
                </a:r>
                <a14:m>
                  <m:oMath xmlns:m="http://schemas.openxmlformats.org/officeDocument/2006/math">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𝒏</m:t>
                        </m:r>
                      </m:sub>
                    </m:sSub>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𝟐</m:t>
                    </m:r>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𝒏</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𝟏</m:t>
                        </m:r>
                      </m:sub>
                    </m:sSub>
                    <m:r>
                      <a:rPr lang="en-US" altLang="zh-CN" sz="2400" b="1" i="1">
                        <a:solidFill>
                          <a:srgbClr val="002060"/>
                        </a:solidFill>
                        <a:latin typeface="Cambria Math" panose="02040503050406030204" pitchFamily="18" charset="0"/>
                      </a:rPr>
                      <m:t>+</m:t>
                    </m:r>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𝒏</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𝟐</m:t>
                        </m:r>
                      </m:sub>
                    </m:sSub>
                  </m:oMath>
                </a14:m>
                <a:r>
                  <a:rPr lang="zh-CN" altLang="en-US" sz="2400" b="1">
                    <a:solidFill>
                      <a:srgbClr val="002060"/>
                    </a:solidFill>
                    <a:latin typeface="楷体" panose="02010609060101010101" pitchFamily="49" charset="-122"/>
                    <a:ea typeface="楷体" panose="02010609060101010101" pitchFamily="49" charset="-122"/>
                  </a:rPr>
                  <a:t>，</a:t>
                </a:r>
                <a14:m>
                  <m:oMath xmlns:m="http://schemas.openxmlformats.org/officeDocument/2006/math">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𝟎</m:t>
                        </m:r>
                      </m:sub>
                    </m:sSub>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𝟏</m:t>
                    </m:r>
                    <m:r>
                      <a:rPr lang="en-US" altLang="zh-CN" sz="2400" b="1" i="1">
                        <a:solidFill>
                          <a:srgbClr val="002060"/>
                        </a:solidFill>
                        <a:latin typeface="Cambria Math" panose="02040503050406030204" pitchFamily="18" charset="0"/>
                      </a:rPr>
                      <m:t>, </m:t>
                    </m:r>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𝟏</m:t>
                        </m:r>
                      </m:sub>
                    </m:sSub>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𝟑</m:t>
                    </m:r>
                  </m:oMath>
                </a14:m>
                <a:endParaRPr lang="zh-CN" altLang="en-US" sz="2400" b="1">
                  <a:solidFill>
                    <a:srgbClr val="002060"/>
                  </a:solidFill>
                  <a:latin typeface="楷体" panose="02010609060101010101" pitchFamily="49" charset="-122"/>
                  <a:ea typeface="楷体" panose="02010609060101010101" pitchFamily="49"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644685" y="1316464"/>
                <a:ext cx="8591413" cy="461665"/>
              </a:xfrm>
              <a:prstGeom prst="rect">
                <a:avLst/>
              </a:prstGeom>
              <a:blipFill rotWithShape="1">
                <a:blip r:embed="rId1"/>
                <a:stretch>
                  <a:fillRect l="-2" t="-24" b="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1384565" y="2115924"/>
                <a:ext cx="6552103" cy="430118"/>
              </a:xfrm>
              <a:prstGeom prst="rect">
                <a:avLst/>
              </a:prstGeom>
              <a:solidFill>
                <a:schemeClr val="accent4">
                  <a:lumMod val="20000"/>
                  <a:lumOff val="80000"/>
                  <a:alpha val="50000"/>
                </a:schemeClr>
              </a:solidFill>
            </p:spPr>
            <p:txBody>
              <a:bodyPr wrap="square" rtlCol="0">
                <a:spAutoFit/>
              </a:bodyPr>
              <a:lstStyle/>
              <a:p>
                <a:r>
                  <a:rPr lang="zh-CN" altLang="en-US" sz="2000" b="1">
                    <a:solidFill>
                      <a:schemeClr val="accent2">
                        <a:lumMod val="50000"/>
                      </a:schemeClr>
                    </a:solidFill>
                  </a:rPr>
                  <a:t>特征方程是</a:t>
                </a:r>
                <a14:m>
                  <m:oMath xmlns:m="http://schemas.openxmlformats.org/officeDocument/2006/math">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𝒙</m:t>
                        </m:r>
                      </m:e>
                      <m:sup>
                        <m:r>
                          <a:rPr lang="en-US" altLang="zh-CN" sz="2000" b="1" i="1" smtClean="0">
                            <a:solidFill>
                              <a:srgbClr val="C00000"/>
                            </a:solidFill>
                            <a:latin typeface="Cambria Math" panose="02040503050406030204" pitchFamily="18" charset="0"/>
                          </a:rPr>
                          <m:t>𝟐</m:t>
                        </m:r>
                      </m:sup>
                    </m:sSup>
                    <m:r>
                      <a:rPr lang="en-US" altLang="zh-CN" sz="2000" b="1" i="1" smtClean="0">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𝟐</m:t>
                    </m:r>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oMath>
                </a14:m>
                <a:r>
                  <a:rPr lang="zh-CN" altLang="en-US" sz="2000" b="1">
                    <a:solidFill>
                      <a:schemeClr val="accent2">
                        <a:lumMod val="50000"/>
                      </a:schemeClr>
                    </a:solidFill>
                  </a:rPr>
                  <a:t>，有两个不同根</a:t>
                </a:r>
                <a14:m>
                  <m:oMath xmlns:m="http://schemas.openxmlformats.org/officeDocument/2006/math">
                    <m:r>
                      <a:rPr lang="en-US" altLang="zh-CN" sz="2000" b="1" i="1" smtClean="0">
                        <a:solidFill>
                          <a:srgbClr val="C00000"/>
                        </a:solidFill>
                        <a:latin typeface="Cambria Math" panose="02040503050406030204" pitchFamily="18" charset="0"/>
                      </a:rPr>
                      <m:t>𝟏</m:t>
                    </m:r>
                    <m:r>
                      <a:rPr lang="en-US" altLang="zh-CN" sz="2000" b="1" i="1" smtClean="0">
                        <a:solidFill>
                          <a:srgbClr val="C00000"/>
                        </a:solidFill>
                        <a:latin typeface="Cambria Math" panose="02040503050406030204" pitchFamily="18" charset="0"/>
                      </a:rPr>
                      <m:t>+</m:t>
                    </m:r>
                    <m:rad>
                      <m:radPr>
                        <m:degHide m:val="on"/>
                        <m:ctrlPr>
                          <a:rPr lang="en-US" altLang="zh-CN" sz="2000" b="1" i="1" smtClean="0">
                            <a:solidFill>
                              <a:srgbClr val="C00000"/>
                            </a:solidFill>
                            <a:latin typeface="Cambria Math" panose="02040503050406030204" pitchFamily="18" charset="0"/>
                          </a:rPr>
                        </m:ctrlPr>
                      </m:radPr>
                      <m:deg/>
                      <m:e>
                        <m:r>
                          <a:rPr lang="en-US" altLang="zh-CN" sz="2000" b="1" i="1" smtClean="0">
                            <a:solidFill>
                              <a:srgbClr val="C00000"/>
                            </a:solidFill>
                            <a:latin typeface="Cambria Math" panose="02040503050406030204" pitchFamily="18" charset="0"/>
                          </a:rPr>
                          <m:t>𝟐</m:t>
                        </m:r>
                      </m:e>
                    </m:rad>
                  </m:oMath>
                </a14:m>
                <a:r>
                  <a:rPr lang="zh-CN" altLang="en-US" sz="2000" b="1">
                    <a:solidFill>
                      <a:schemeClr val="accent2">
                        <a:lumMod val="50000"/>
                      </a:schemeClr>
                    </a:solidFill>
                  </a:rPr>
                  <a:t>和</a:t>
                </a:r>
                <a14:m>
                  <m:oMath xmlns:m="http://schemas.openxmlformats.org/officeDocument/2006/math">
                    <m:r>
                      <a:rPr lang="en-US" altLang="zh-CN" sz="2000" b="1" i="1" smtClean="0">
                        <a:solidFill>
                          <a:srgbClr val="C00000"/>
                        </a:solidFill>
                        <a:latin typeface="Cambria Math" panose="02040503050406030204" pitchFamily="18" charset="0"/>
                      </a:rPr>
                      <m:t>𝟏</m:t>
                    </m:r>
                    <m:r>
                      <a:rPr lang="en-US" altLang="zh-CN" sz="2000" b="1" i="1" smtClean="0">
                        <a:solidFill>
                          <a:srgbClr val="C00000"/>
                        </a:solidFill>
                        <a:latin typeface="Cambria Math" panose="02040503050406030204" pitchFamily="18" charset="0"/>
                      </a:rPr>
                      <m:t>−</m:t>
                    </m:r>
                    <m:rad>
                      <m:radPr>
                        <m:degHide m:val="on"/>
                        <m:ctrlPr>
                          <a:rPr lang="en-US" altLang="zh-CN" sz="2000" b="1" i="1" smtClean="0">
                            <a:solidFill>
                              <a:srgbClr val="C00000"/>
                            </a:solidFill>
                            <a:latin typeface="Cambria Math" panose="02040503050406030204" pitchFamily="18" charset="0"/>
                          </a:rPr>
                        </m:ctrlPr>
                      </m:radPr>
                      <m:deg/>
                      <m:e>
                        <m:r>
                          <a:rPr lang="en-US" altLang="zh-CN" sz="2000" b="1" i="1" smtClean="0">
                            <a:solidFill>
                              <a:srgbClr val="C00000"/>
                            </a:solidFill>
                            <a:latin typeface="Cambria Math" panose="02040503050406030204" pitchFamily="18" charset="0"/>
                          </a:rPr>
                          <m:t>𝟐</m:t>
                        </m:r>
                      </m:e>
                    </m:rad>
                  </m:oMath>
                </a14:m>
                <a:endParaRPr lang="zh-CN" altLang="en-US" sz="2000" b="1">
                  <a:solidFill>
                    <a:schemeClr val="accent2">
                      <a:lumMod val="50000"/>
                    </a:schemeClr>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1384565" y="2115924"/>
                <a:ext cx="6552103" cy="430118"/>
              </a:xfrm>
              <a:prstGeom prst="rect">
                <a:avLst/>
              </a:prstGeom>
              <a:blipFill rotWithShape="1">
                <a:blip r:embed="rId2"/>
                <a:stretch>
                  <a:fillRect l="-4" t="-24" r="7" b="7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1384565" y="3084020"/>
                <a:ext cx="4053018" cy="916918"/>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000" b="1">
                    <a:solidFill>
                      <a:schemeClr val="accent2">
                        <a:lumMod val="50000"/>
                      </a:schemeClr>
                    </a:solidFill>
                  </a:rPr>
                  <a:t>解</a:t>
                </a:r>
                <a14:m>
                  <m:oMath xmlns:m="http://schemas.openxmlformats.org/officeDocument/2006/math">
                    <m:r>
                      <m:rPr>
                        <m:lit/>
                      </m:rP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𝒏</m:t>
                        </m:r>
                      </m:sub>
                    </m:sSub>
                    <m:r>
                      <m:rPr>
                        <m:lit/>
                      </m:rPr>
                      <a:rPr lang="en-US" altLang="zh-CN" sz="2000" b="1" i="1" smtClean="0">
                        <a:solidFill>
                          <a:schemeClr val="accent2">
                            <a:lumMod val="50000"/>
                          </a:schemeClr>
                        </a:solidFill>
                        <a:latin typeface="Cambria Math" panose="02040503050406030204" pitchFamily="18" charset="0"/>
                      </a:rPr>
                      <m:t>}</m:t>
                    </m:r>
                  </m:oMath>
                </a14:m>
                <a:r>
                  <a:rPr lang="zh-CN" altLang="en-US" sz="2000" b="1">
                    <a:solidFill>
                      <a:schemeClr val="accent2">
                        <a:lumMod val="50000"/>
                      </a:schemeClr>
                    </a:solidFill>
                  </a:rPr>
                  <a:t>具有形式：</a:t>
                </a:r>
                <a:endParaRPr lang="en-US" altLang="zh-CN" sz="2000" b="1">
                  <a:solidFill>
                    <a:schemeClr val="accent2">
                      <a:lumMod val="50000"/>
                    </a:schemeClr>
                  </a:solidFill>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𝒏</m:t>
                          </m:r>
                        </m:sub>
                      </m:sSub>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𝟏</m:t>
                          </m:r>
                        </m:sub>
                      </m:sSub>
                      <m:sSup>
                        <m:sSupPr>
                          <m:ctrlPr>
                            <a:rPr lang="en-US" altLang="zh-CN" b="1" i="1" smtClean="0">
                              <a:solidFill>
                                <a:srgbClr val="C00000"/>
                              </a:solidFill>
                              <a:latin typeface="Cambria Math" panose="02040503050406030204" pitchFamily="18" charset="0"/>
                            </a:rPr>
                          </m:ctrlPr>
                        </m:sSupPr>
                        <m:e>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ad>
                                <m:radPr>
                                  <m:degHide m:val="on"/>
                                  <m:ctrlPr>
                                    <a:rPr lang="en-US" altLang="zh-CN" b="1" i="1" smtClean="0">
                                      <a:solidFill>
                                        <a:srgbClr val="C00000"/>
                                      </a:solidFill>
                                      <a:latin typeface="Cambria Math" panose="02040503050406030204" pitchFamily="18" charset="0"/>
                                    </a:rPr>
                                  </m:ctrlPr>
                                </m:radPr>
                                <m:deg/>
                                <m:e>
                                  <m:r>
                                    <a:rPr lang="en-US" altLang="zh-CN" b="1" i="1" smtClean="0">
                                      <a:solidFill>
                                        <a:srgbClr val="C00000"/>
                                      </a:solidFill>
                                      <a:latin typeface="Cambria Math" panose="02040503050406030204" pitchFamily="18" charset="0"/>
                                    </a:rPr>
                                    <m:t>𝟐</m:t>
                                  </m:r>
                                </m:e>
                              </m:rad>
                            </m:e>
                          </m:d>
                        </m:e>
                        <m:sup>
                          <m:r>
                            <a:rPr lang="en-US" altLang="zh-CN" b="1" i="1" smtClean="0">
                              <a:solidFill>
                                <a:srgbClr val="C00000"/>
                              </a:solidFill>
                              <a:latin typeface="Cambria Math" panose="02040503050406030204" pitchFamily="18" charset="0"/>
                            </a:rPr>
                            <m:t>𝒏</m:t>
                          </m:r>
                        </m:sup>
                      </m:sSup>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𝟐</m:t>
                          </m:r>
                        </m:sub>
                      </m:sSub>
                      <m:sSup>
                        <m:sSupPr>
                          <m:ctrlPr>
                            <a:rPr lang="en-US" altLang="zh-CN" b="1" i="1" smtClean="0">
                              <a:solidFill>
                                <a:srgbClr val="C00000"/>
                              </a:solidFill>
                              <a:latin typeface="Cambria Math" panose="02040503050406030204" pitchFamily="18" charset="0"/>
                            </a:rPr>
                          </m:ctrlPr>
                        </m:sSupPr>
                        <m:e>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ad>
                                <m:radPr>
                                  <m:degHide m:val="on"/>
                                  <m:ctrlPr>
                                    <a:rPr lang="en-US" altLang="zh-CN" b="1" i="1" smtClean="0">
                                      <a:solidFill>
                                        <a:srgbClr val="C00000"/>
                                      </a:solidFill>
                                      <a:latin typeface="Cambria Math" panose="02040503050406030204" pitchFamily="18" charset="0"/>
                                    </a:rPr>
                                  </m:ctrlPr>
                                </m:radPr>
                                <m:deg/>
                                <m:e>
                                  <m:r>
                                    <a:rPr lang="en-US" altLang="zh-CN" b="1" i="1" smtClean="0">
                                      <a:solidFill>
                                        <a:srgbClr val="C00000"/>
                                      </a:solidFill>
                                      <a:latin typeface="Cambria Math" panose="02040503050406030204" pitchFamily="18" charset="0"/>
                                    </a:rPr>
                                    <m:t>𝟐</m:t>
                                  </m:r>
                                </m:e>
                              </m:rad>
                            </m:e>
                          </m:d>
                        </m:e>
                        <m:sup>
                          <m:r>
                            <a:rPr lang="en-US" altLang="zh-CN" b="1" i="1" smtClean="0">
                              <a:solidFill>
                                <a:srgbClr val="C00000"/>
                              </a:solidFill>
                              <a:latin typeface="Cambria Math" panose="02040503050406030204" pitchFamily="18" charset="0"/>
                            </a:rPr>
                            <m:t>𝒏</m:t>
                          </m:r>
                        </m:sup>
                      </m:sSup>
                    </m:oMath>
                  </m:oMathPara>
                </a14:m>
                <a:endParaRPr lang="zh-CN" altLang="en-US" b="1">
                  <a:solidFill>
                    <a:schemeClr val="accent2">
                      <a:lumMod val="50000"/>
                    </a:schemeClr>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1384565" y="3084020"/>
                <a:ext cx="4053018" cy="916918"/>
              </a:xfrm>
              <a:prstGeom prst="rect">
                <a:avLst/>
              </a:prstGeom>
              <a:blipFill rotWithShape="1">
                <a:blip r:embed="rId3"/>
                <a:stretch>
                  <a:fillRect l="-7" t="-50" r="2" b="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7187441" y="3136598"/>
                <a:ext cx="3460248" cy="811761"/>
              </a:xfrm>
              <a:prstGeom prst="rect">
                <a:avLst/>
              </a:prstGeom>
              <a:solidFill>
                <a:schemeClr val="accent5">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eqArr>
                            <m:eqArrPr>
                              <m:ctrlPr>
                                <a:rPr lang="en-US" altLang="zh-CN" b="1" i="1" smtClean="0">
                                  <a:solidFill>
                                    <a:schemeClr val="accent2">
                                      <a:lumMod val="50000"/>
                                    </a:schemeClr>
                                  </a:solidFill>
                                  <a:latin typeface="Cambria Math" panose="02040503050406030204" pitchFamily="18" charset="0"/>
                                </a:rPr>
                              </m:ctrlPr>
                            </m:eqArrPr>
                            <m:e>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𝟐</m:t>
                                  </m:r>
                                </m:sub>
                              </m:sSub>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e>
                            <m:e>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𝟏</m:t>
                                  </m:r>
                                </m:sub>
                              </m:sSub>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𝟏</m:t>
                                  </m:r>
                                  <m:r>
                                    <a:rPr lang="en-US" altLang="zh-CN" b="1" i="1" smtClean="0">
                                      <a:solidFill>
                                        <a:schemeClr val="accent2">
                                          <a:lumMod val="50000"/>
                                        </a:schemeClr>
                                      </a:solidFill>
                                      <a:latin typeface="Cambria Math" panose="02040503050406030204" pitchFamily="18" charset="0"/>
                                    </a:rPr>
                                    <m:t>+</m:t>
                                  </m:r>
                                  <m:rad>
                                    <m:radPr>
                                      <m:degHide m:val="on"/>
                                      <m:ctrlPr>
                                        <a:rPr lang="en-US" altLang="zh-CN" b="1" i="1" smtClean="0">
                                          <a:solidFill>
                                            <a:schemeClr val="accent2">
                                              <a:lumMod val="50000"/>
                                            </a:schemeClr>
                                          </a:solidFill>
                                          <a:latin typeface="Cambria Math" panose="02040503050406030204" pitchFamily="18" charset="0"/>
                                        </a:rPr>
                                      </m:ctrlPr>
                                    </m:radPr>
                                    <m:deg/>
                                    <m:e>
                                      <m:r>
                                        <a:rPr lang="en-US" altLang="zh-CN" b="1" i="1" smtClean="0">
                                          <a:solidFill>
                                            <a:schemeClr val="accent2">
                                              <a:lumMod val="50000"/>
                                            </a:schemeClr>
                                          </a:solidFill>
                                          <a:latin typeface="Cambria Math" panose="02040503050406030204" pitchFamily="18" charset="0"/>
                                        </a:rPr>
                                        <m:t>𝟐</m:t>
                                      </m:r>
                                    </m:e>
                                  </m:rad>
                                </m:e>
                              </m:d>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𝟐</m:t>
                                  </m:r>
                                </m:sub>
                              </m:sSub>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𝟏</m:t>
                                  </m:r>
                                  <m:r>
                                    <a:rPr lang="en-US" altLang="zh-CN" b="1" i="1" smtClean="0">
                                      <a:solidFill>
                                        <a:schemeClr val="accent2">
                                          <a:lumMod val="50000"/>
                                        </a:schemeClr>
                                      </a:solidFill>
                                      <a:latin typeface="Cambria Math" panose="02040503050406030204" pitchFamily="18" charset="0"/>
                                    </a:rPr>
                                    <m:t>−</m:t>
                                  </m:r>
                                  <m:rad>
                                    <m:radPr>
                                      <m:degHide m:val="on"/>
                                      <m:ctrlPr>
                                        <a:rPr lang="en-US" altLang="zh-CN" b="1" i="1" smtClean="0">
                                          <a:solidFill>
                                            <a:schemeClr val="accent2">
                                              <a:lumMod val="50000"/>
                                            </a:schemeClr>
                                          </a:solidFill>
                                          <a:latin typeface="Cambria Math" panose="02040503050406030204" pitchFamily="18" charset="0"/>
                                        </a:rPr>
                                      </m:ctrlPr>
                                    </m:radPr>
                                    <m:deg/>
                                    <m:e>
                                      <m:r>
                                        <a:rPr lang="en-US" altLang="zh-CN" b="1" i="1" smtClean="0">
                                          <a:solidFill>
                                            <a:schemeClr val="accent2">
                                              <a:lumMod val="50000"/>
                                            </a:schemeClr>
                                          </a:solidFill>
                                          <a:latin typeface="Cambria Math" panose="02040503050406030204" pitchFamily="18" charset="0"/>
                                        </a:rPr>
                                        <m:t>𝟐</m:t>
                                      </m:r>
                                    </m:e>
                                  </m:rad>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𝟑</m:t>
                              </m:r>
                            </m:e>
                          </m:eqArr>
                        </m:e>
                      </m:d>
                    </m:oMath>
                  </m:oMathPara>
                </a14:m>
                <a:endParaRPr lang="zh-CN" altLang="en-US" b="1">
                  <a:solidFill>
                    <a:schemeClr val="accent2">
                      <a:lumMod val="50000"/>
                    </a:schemeClr>
                  </a:solidFill>
                </a:endParaRPr>
              </a:p>
            </p:txBody>
          </p:sp>
        </mc:Choice>
        <mc:Fallback>
          <p:sp>
            <p:nvSpPr>
              <p:cNvPr id="19" name="文本框 18"/>
              <p:cNvSpPr txBox="1">
                <a:spLocks noRot="1" noChangeAspect="1" noMove="1" noResize="1" noEditPoints="1" noAdjustHandles="1" noChangeArrowheads="1" noChangeShapeType="1" noTextEdit="1"/>
              </p:cNvSpPr>
              <p:nvPr/>
            </p:nvSpPr>
            <p:spPr>
              <a:xfrm>
                <a:off x="7187441" y="3136598"/>
                <a:ext cx="3460248" cy="811761"/>
              </a:xfrm>
              <a:prstGeom prst="rect">
                <a:avLst/>
              </a:prstGeom>
              <a:blipFill rotWithShape="1">
                <a:blip r:embed="rId4"/>
                <a:stretch>
                  <a:fillRect l="-15" t="-41" b="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8347819" y="4427870"/>
                <a:ext cx="1638026" cy="1255985"/>
              </a:xfrm>
              <a:prstGeom prst="rect">
                <a:avLst/>
              </a:prstGeom>
              <a:solidFill>
                <a:schemeClr val="accent5">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m:t>
                      </m:r>
                      <m:f>
                        <m:fPr>
                          <m:ctrlPr>
                            <a:rPr lang="en-US" altLang="zh-CN" b="1" i="1" smtClean="0">
                              <a:solidFill>
                                <a:srgbClr val="C00000"/>
                              </a:solidFill>
                              <a:latin typeface="Cambria Math" panose="02040503050406030204" pitchFamily="18" charset="0"/>
                            </a:rPr>
                          </m:ctrlPr>
                        </m:fPr>
                        <m:num>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ad>
                            <m:radPr>
                              <m:degHide m:val="on"/>
                              <m:ctrlPr>
                                <a:rPr lang="en-US" altLang="zh-CN" b="1" i="1" smtClean="0">
                                  <a:solidFill>
                                    <a:srgbClr val="C00000"/>
                                  </a:solidFill>
                                  <a:latin typeface="Cambria Math" panose="02040503050406030204" pitchFamily="18" charset="0"/>
                                </a:rPr>
                              </m:ctrlPr>
                            </m:radPr>
                            <m:deg/>
                            <m:e>
                              <m:r>
                                <a:rPr lang="en-US" altLang="zh-CN" b="1" i="1" smtClean="0">
                                  <a:solidFill>
                                    <a:srgbClr val="C00000"/>
                                  </a:solidFill>
                                  <a:latin typeface="Cambria Math" panose="02040503050406030204" pitchFamily="18" charset="0"/>
                                </a:rPr>
                                <m:t>𝟐</m:t>
                              </m:r>
                            </m:e>
                          </m:rad>
                        </m:num>
                        <m:den>
                          <m:r>
                            <a:rPr lang="en-US" altLang="zh-CN" b="1" i="1" smtClean="0">
                              <a:solidFill>
                                <a:srgbClr val="C00000"/>
                              </a:solidFill>
                              <a:latin typeface="Cambria Math" panose="02040503050406030204" pitchFamily="18" charset="0"/>
                            </a:rPr>
                            <m:t>𝟐</m:t>
                          </m:r>
                        </m:den>
                      </m:f>
                    </m:oMath>
                  </m:oMathPara>
                </a14:m>
                <a:endParaRPr lang="en-US" altLang="zh-CN" b="1">
                  <a:solidFill>
                    <a:srgbClr val="C00000"/>
                  </a:solidFill>
                </a:endParaRPr>
              </a:p>
              <a:p>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𝟐</m:t>
                          </m:r>
                        </m:sub>
                      </m:sSub>
                      <m:r>
                        <a:rPr lang="en-US" altLang="zh-CN" b="1" i="1" smtClean="0">
                          <a:solidFill>
                            <a:srgbClr val="C00000"/>
                          </a:solidFill>
                          <a:latin typeface="Cambria Math" panose="02040503050406030204" pitchFamily="18" charset="0"/>
                        </a:rPr>
                        <m:t>=</m:t>
                      </m:r>
                      <m:f>
                        <m:fPr>
                          <m:ctrlPr>
                            <a:rPr lang="en-US" altLang="zh-CN" b="1" i="1" smtClean="0">
                              <a:solidFill>
                                <a:srgbClr val="C00000"/>
                              </a:solidFill>
                              <a:latin typeface="Cambria Math" panose="02040503050406030204" pitchFamily="18" charset="0"/>
                            </a:rPr>
                          </m:ctrlPr>
                        </m:fPr>
                        <m:num>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ad>
                            <m:radPr>
                              <m:degHide m:val="on"/>
                              <m:ctrlPr>
                                <a:rPr lang="en-US" altLang="zh-CN" b="1" i="1" smtClean="0">
                                  <a:solidFill>
                                    <a:srgbClr val="C00000"/>
                                  </a:solidFill>
                                  <a:latin typeface="Cambria Math" panose="02040503050406030204" pitchFamily="18" charset="0"/>
                                </a:rPr>
                              </m:ctrlPr>
                            </m:radPr>
                            <m:deg/>
                            <m:e>
                              <m:r>
                                <a:rPr lang="en-US" altLang="zh-CN" b="1" i="1" smtClean="0">
                                  <a:solidFill>
                                    <a:srgbClr val="C00000"/>
                                  </a:solidFill>
                                  <a:latin typeface="Cambria Math" panose="02040503050406030204" pitchFamily="18" charset="0"/>
                                </a:rPr>
                                <m:t>𝟐</m:t>
                              </m:r>
                            </m:e>
                          </m:rad>
                        </m:num>
                        <m:den>
                          <m:r>
                            <a:rPr lang="en-US" altLang="zh-CN" b="1" i="1">
                              <a:solidFill>
                                <a:srgbClr val="C00000"/>
                              </a:solidFill>
                              <a:latin typeface="Cambria Math" panose="02040503050406030204" pitchFamily="18" charset="0"/>
                            </a:rPr>
                            <m:t>𝟐</m:t>
                          </m:r>
                        </m:den>
                      </m:f>
                    </m:oMath>
                  </m:oMathPara>
                </a14:m>
                <a:endParaRPr lang="zh-CN" altLang="en-US" b="1">
                  <a:solidFill>
                    <a:srgbClr val="C00000"/>
                  </a:solidFill>
                </a:endParaRPr>
              </a:p>
            </p:txBody>
          </p:sp>
        </mc:Choice>
        <mc:Fallback>
          <p:sp>
            <p:nvSpPr>
              <p:cNvPr id="20" name="文本框 19"/>
              <p:cNvSpPr txBox="1">
                <a:spLocks noRot="1" noChangeAspect="1" noMove="1" noResize="1" noEditPoints="1" noAdjustHandles="1" noChangeArrowheads="1" noChangeShapeType="1" noTextEdit="1"/>
              </p:cNvSpPr>
              <p:nvPr/>
            </p:nvSpPr>
            <p:spPr>
              <a:xfrm>
                <a:off x="8347819" y="4427870"/>
                <a:ext cx="1638026" cy="1255985"/>
              </a:xfrm>
              <a:prstGeom prst="rect">
                <a:avLst/>
              </a:prstGeom>
              <a:blipFill rotWithShape="1">
                <a:blip r:embed="rId5"/>
                <a:stretch>
                  <a:fillRect l="-7" t="-1" r="29" b="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1384565" y="4694929"/>
                <a:ext cx="3973364" cy="737446"/>
              </a:xfrm>
              <a:prstGeom prst="rect">
                <a:avLst/>
              </a:prstGeom>
              <a:solidFill>
                <a:schemeClr val="accent2">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𝒏</m:t>
                          </m:r>
                        </m:sub>
                      </m:sSub>
                      <m:r>
                        <a:rPr lang="en-US" altLang="zh-CN" b="1" i="1" smtClean="0">
                          <a:solidFill>
                            <a:srgbClr val="C00000"/>
                          </a:solidFill>
                          <a:latin typeface="Cambria Math" panose="02040503050406030204" pitchFamily="18" charset="0"/>
                        </a:rPr>
                        <m:t>=</m:t>
                      </m:r>
                      <m:f>
                        <m:fPr>
                          <m:ctrlPr>
                            <a:rPr lang="en-US" altLang="zh-CN" b="1" i="1" smtClean="0">
                              <a:solidFill>
                                <a:srgbClr val="C00000"/>
                              </a:solidFill>
                              <a:latin typeface="Cambria Math" panose="02040503050406030204" pitchFamily="18" charset="0"/>
                            </a:rPr>
                          </m:ctrlPr>
                        </m:fPr>
                        <m:num>
                          <m:sSup>
                            <m:sSupPr>
                              <m:ctrlPr>
                                <a:rPr lang="en-US" altLang="zh-CN" b="1" i="1" smtClean="0">
                                  <a:solidFill>
                                    <a:srgbClr val="C00000"/>
                                  </a:solidFill>
                                  <a:latin typeface="Cambria Math" panose="02040503050406030204" pitchFamily="18" charset="0"/>
                                </a:rPr>
                              </m:ctrlPr>
                            </m:sSupPr>
                            <m:e>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ad>
                                    <m:radPr>
                                      <m:degHide m:val="on"/>
                                      <m:ctrlPr>
                                        <a:rPr lang="en-US" altLang="zh-CN" b="1" i="1" smtClean="0">
                                          <a:solidFill>
                                            <a:srgbClr val="C00000"/>
                                          </a:solidFill>
                                          <a:latin typeface="Cambria Math" panose="02040503050406030204" pitchFamily="18" charset="0"/>
                                        </a:rPr>
                                      </m:ctrlPr>
                                    </m:radPr>
                                    <m:deg/>
                                    <m:e>
                                      <m:r>
                                        <a:rPr lang="en-US" altLang="zh-CN" b="1" i="1" smtClean="0">
                                          <a:solidFill>
                                            <a:srgbClr val="C00000"/>
                                          </a:solidFill>
                                          <a:latin typeface="Cambria Math" panose="02040503050406030204" pitchFamily="18" charset="0"/>
                                        </a:rPr>
                                        <m:t>𝟐</m:t>
                                      </m:r>
                                    </m:e>
                                  </m:rad>
                                </m:e>
                              </m:d>
                            </m:e>
                            <m:sup>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p>
                          </m:sSup>
                        </m:num>
                        <m:den>
                          <m:r>
                            <a:rPr lang="en-US" altLang="zh-CN" b="1" i="1" smtClean="0">
                              <a:solidFill>
                                <a:srgbClr val="C00000"/>
                              </a:solidFill>
                              <a:latin typeface="Cambria Math" panose="02040503050406030204" pitchFamily="18" charset="0"/>
                            </a:rPr>
                            <m:t>𝟐</m:t>
                          </m:r>
                        </m:den>
                      </m:f>
                      <m:r>
                        <a:rPr lang="en-US" altLang="zh-CN" b="1" i="1" smtClean="0">
                          <a:solidFill>
                            <a:srgbClr val="C00000"/>
                          </a:solidFill>
                          <a:latin typeface="Cambria Math" panose="02040503050406030204" pitchFamily="18" charset="0"/>
                        </a:rPr>
                        <m:t>+</m:t>
                      </m:r>
                      <m:f>
                        <m:fPr>
                          <m:ctrlPr>
                            <a:rPr lang="en-US" altLang="zh-CN" b="1" i="1" smtClean="0">
                              <a:solidFill>
                                <a:srgbClr val="C00000"/>
                              </a:solidFill>
                              <a:latin typeface="Cambria Math" panose="02040503050406030204" pitchFamily="18" charset="0"/>
                            </a:rPr>
                          </m:ctrlPr>
                        </m:fPr>
                        <m:num>
                          <m:sSup>
                            <m:sSupPr>
                              <m:ctrlPr>
                                <a:rPr lang="en-US" altLang="zh-CN" b="1" i="1" smtClean="0">
                                  <a:solidFill>
                                    <a:srgbClr val="C00000"/>
                                  </a:solidFill>
                                  <a:latin typeface="Cambria Math" panose="02040503050406030204" pitchFamily="18" charset="0"/>
                                </a:rPr>
                              </m:ctrlPr>
                            </m:sSupPr>
                            <m:e>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ad>
                                    <m:radPr>
                                      <m:degHide m:val="on"/>
                                      <m:ctrlPr>
                                        <a:rPr lang="en-US" altLang="zh-CN" b="1" i="1" smtClean="0">
                                          <a:solidFill>
                                            <a:srgbClr val="C00000"/>
                                          </a:solidFill>
                                          <a:latin typeface="Cambria Math" panose="02040503050406030204" pitchFamily="18" charset="0"/>
                                        </a:rPr>
                                      </m:ctrlPr>
                                    </m:radPr>
                                    <m:deg/>
                                    <m:e>
                                      <m:r>
                                        <a:rPr lang="en-US" altLang="zh-CN" b="1" i="1">
                                          <a:solidFill>
                                            <a:srgbClr val="C00000"/>
                                          </a:solidFill>
                                          <a:latin typeface="Cambria Math" panose="02040503050406030204" pitchFamily="18" charset="0"/>
                                        </a:rPr>
                                        <m:t>𝟐</m:t>
                                      </m:r>
                                    </m:e>
                                  </m:rad>
                                </m:e>
                              </m:d>
                            </m:e>
                            <m:sup>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p>
                          </m:sSup>
                        </m:num>
                        <m:den>
                          <m:r>
                            <a:rPr lang="en-US" altLang="zh-CN" b="1" i="1">
                              <a:solidFill>
                                <a:srgbClr val="C00000"/>
                              </a:solidFill>
                              <a:latin typeface="Cambria Math" panose="02040503050406030204" pitchFamily="18" charset="0"/>
                            </a:rPr>
                            <m:t>𝟐</m:t>
                          </m:r>
                        </m:den>
                      </m:f>
                    </m:oMath>
                  </m:oMathPara>
                </a14:m>
                <a:endParaRPr lang="zh-CN" altLang="en-US" b="1">
                  <a:solidFill>
                    <a:schemeClr val="accent2">
                      <a:lumMod val="50000"/>
                    </a:schemeClr>
                  </a:solidFill>
                </a:endParaRPr>
              </a:p>
            </p:txBody>
          </p:sp>
        </mc:Choice>
        <mc:Fallback>
          <p:sp>
            <p:nvSpPr>
              <p:cNvPr id="21" name="文本框 20"/>
              <p:cNvSpPr txBox="1">
                <a:spLocks noRot="1" noChangeAspect="1" noMove="1" noResize="1" noEditPoints="1" noAdjustHandles="1" noChangeArrowheads="1" noChangeShapeType="1" noTextEdit="1"/>
              </p:cNvSpPr>
              <p:nvPr/>
            </p:nvSpPr>
            <p:spPr>
              <a:xfrm>
                <a:off x="1384565" y="4694929"/>
                <a:ext cx="3973364" cy="737446"/>
              </a:xfrm>
              <a:prstGeom prst="rect">
                <a:avLst/>
              </a:prstGeom>
              <a:blipFill rotWithShape="1">
                <a:blip r:embed="rId6"/>
                <a:stretch>
                  <a:fillRect l="-7" t="-51" r="11" b="79"/>
                </a:stretch>
              </a:blipFill>
            </p:spPr>
            <p:txBody>
              <a:bodyPr/>
              <a:lstStyle/>
              <a:p>
                <a:r>
                  <a:rPr lang="zh-CN" altLang="en-US">
                    <a:noFill/>
                  </a:rPr>
                  <a:t> </a:t>
                </a:r>
              </a:p>
            </p:txBody>
          </p:sp>
        </mc:Fallback>
      </mc:AlternateContent>
      <p:sp>
        <p:nvSpPr>
          <p:cNvPr id="22" name="箭头: 下 21"/>
          <p:cNvSpPr/>
          <p:nvPr/>
        </p:nvSpPr>
        <p:spPr>
          <a:xfrm>
            <a:off x="3357759" y="2546042"/>
            <a:ext cx="78941" cy="53797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右 23"/>
          <p:cNvSpPr/>
          <p:nvPr/>
        </p:nvSpPr>
        <p:spPr>
          <a:xfrm>
            <a:off x="5437583" y="3557955"/>
            <a:ext cx="1749858" cy="667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下 24"/>
          <p:cNvSpPr/>
          <p:nvPr/>
        </p:nvSpPr>
        <p:spPr>
          <a:xfrm>
            <a:off x="9143972" y="3971315"/>
            <a:ext cx="45719" cy="4565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左 25"/>
          <p:cNvSpPr/>
          <p:nvPr/>
        </p:nvSpPr>
        <p:spPr>
          <a:xfrm>
            <a:off x="5357929" y="4997445"/>
            <a:ext cx="2989890" cy="8215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下 26"/>
          <p:cNvSpPr/>
          <p:nvPr/>
        </p:nvSpPr>
        <p:spPr>
          <a:xfrm>
            <a:off x="3377825" y="4000938"/>
            <a:ext cx="78941" cy="6939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8" name="文本框 27"/>
              <p:cNvSpPr txBox="1"/>
              <p:nvPr/>
            </p:nvSpPr>
            <p:spPr>
              <a:xfrm>
                <a:off x="5642394" y="3003957"/>
                <a:ext cx="1373791" cy="1107996"/>
              </a:xfrm>
              <a:prstGeom prst="rect">
                <a:avLst/>
              </a:prstGeom>
              <a:solidFill>
                <a:schemeClr val="accent4">
                  <a:lumMod val="20000"/>
                  <a:lumOff val="80000"/>
                </a:schemeClr>
              </a:solidFill>
            </p:spPr>
            <p:txBody>
              <a:bodyPr wrap="square" lIns="0" tIns="0" rIns="0" bIns="0" rtlCol="0">
                <a:spAutoFit/>
              </a:bodyPr>
              <a:lstStyle/>
              <a:p>
                <a:pPr algn="ctr"/>
                <a:r>
                  <a:rPr lang="zh-CN" altLang="en-US" b="1">
                    <a:solidFill>
                      <a:schemeClr val="accent2">
                        <a:lumMod val="50000"/>
                      </a:schemeClr>
                    </a:solidFill>
                  </a:rPr>
                  <a:t>根据初值</a:t>
                </a:r>
                <a:endParaRPr lang="en-US" altLang="zh-CN" b="1">
                  <a:solidFill>
                    <a:schemeClr val="accent2">
                      <a:lumMod val="50000"/>
                    </a:schemeClr>
                  </a:solidFill>
                </a:endParaRPr>
              </a:p>
              <a:p>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𝟎</m:t>
                          </m:r>
                        </m:sub>
                      </m:sSub>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oMath>
                  </m:oMathPara>
                </a14:m>
                <a:endParaRPr lang="en-US" altLang="zh-CN" b="1" i="1">
                  <a:solidFill>
                    <a:schemeClr val="accent2">
                      <a:lumMod val="50000"/>
                    </a:schemeClr>
                  </a:solidFill>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𝟑</m:t>
                      </m:r>
                    </m:oMath>
                  </m:oMathPara>
                </a14:m>
                <a:endParaRPr lang="en-US" altLang="zh-CN" b="1">
                  <a:solidFill>
                    <a:schemeClr val="accent2">
                      <a:lumMod val="50000"/>
                    </a:schemeClr>
                  </a:solidFill>
                </a:endParaRPr>
              </a:p>
              <a:p>
                <a:r>
                  <a:rPr lang="zh-CN" altLang="en-US" b="1">
                    <a:solidFill>
                      <a:schemeClr val="accent2">
                        <a:lumMod val="50000"/>
                      </a:schemeClr>
                    </a:solidFill>
                  </a:rPr>
                  <a:t>列线性方程组</a:t>
                </a:r>
                <a:endParaRPr lang="zh-CN" altLang="en-US" b="1">
                  <a:solidFill>
                    <a:schemeClr val="accent2">
                      <a:lumMod val="50000"/>
                    </a:schemeClr>
                  </a:solidFill>
                </a:endParaRPr>
              </a:p>
            </p:txBody>
          </p:sp>
        </mc:Choice>
        <mc:Fallback>
          <p:sp>
            <p:nvSpPr>
              <p:cNvPr id="28" name="文本框 27"/>
              <p:cNvSpPr txBox="1">
                <a:spLocks noRot="1" noChangeAspect="1" noMove="1" noResize="1" noEditPoints="1" noAdjustHandles="1" noChangeArrowheads="1" noChangeShapeType="1" noTextEdit="1"/>
              </p:cNvSpPr>
              <p:nvPr/>
            </p:nvSpPr>
            <p:spPr>
              <a:xfrm>
                <a:off x="5642394" y="3003957"/>
                <a:ext cx="1373791" cy="1107996"/>
              </a:xfrm>
              <a:prstGeom prst="rect">
                <a:avLst/>
              </a:prstGeom>
              <a:blipFill rotWithShape="1">
                <a:blip r:embed="rId7"/>
                <a:stretch>
                  <a:fillRect l="-30" t="-37" r="5" b="3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文本框 28"/>
              <p:cNvSpPr txBox="1"/>
              <p:nvPr/>
            </p:nvSpPr>
            <p:spPr>
              <a:xfrm>
                <a:off x="7571948" y="4061092"/>
                <a:ext cx="3235486" cy="276999"/>
              </a:xfrm>
              <a:prstGeom prst="rect">
                <a:avLst/>
              </a:prstGeom>
              <a:solidFill>
                <a:schemeClr val="accent4">
                  <a:lumMod val="20000"/>
                  <a:lumOff val="80000"/>
                </a:schemeClr>
              </a:solidFill>
            </p:spPr>
            <p:txBody>
              <a:bodyPr wrap="square" lIns="0" tIns="0" rIns="0" bIns="0" rtlCol="0">
                <a:spAutoFit/>
              </a:bodyPr>
              <a:lstStyle/>
              <a:p>
                <a:r>
                  <a:rPr lang="zh-CN" altLang="en-US" b="1">
                    <a:solidFill>
                      <a:schemeClr val="accent2">
                        <a:lumMod val="50000"/>
                      </a:schemeClr>
                    </a:solidFill>
                  </a:rPr>
                  <a:t>求解线性方程组得到</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𝟐</m:t>
                        </m:r>
                      </m:sub>
                    </m:sSub>
                  </m:oMath>
                </a14:m>
                <a:r>
                  <a:rPr lang="zh-CN" altLang="en-US" b="1">
                    <a:solidFill>
                      <a:schemeClr val="accent2">
                        <a:lumMod val="50000"/>
                      </a:schemeClr>
                    </a:solidFill>
                  </a:rPr>
                  <a:t>的值</a:t>
                </a:r>
                <a:endParaRPr lang="zh-CN" altLang="en-US" b="1">
                  <a:solidFill>
                    <a:schemeClr val="accent2">
                      <a:lumMod val="50000"/>
                    </a:schemeClr>
                  </a:solidFill>
                </a:endParaRPr>
              </a:p>
            </p:txBody>
          </p:sp>
        </mc:Choice>
        <mc:Fallback>
          <p:sp>
            <p:nvSpPr>
              <p:cNvPr id="29" name="文本框 28"/>
              <p:cNvSpPr txBox="1">
                <a:spLocks noRot="1" noChangeAspect="1" noMove="1" noResize="1" noEditPoints="1" noAdjustHandles="1" noChangeArrowheads="1" noChangeShapeType="1" noTextEdit="1"/>
              </p:cNvSpPr>
              <p:nvPr/>
            </p:nvSpPr>
            <p:spPr>
              <a:xfrm>
                <a:off x="7571948" y="4061092"/>
                <a:ext cx="3235486" cy="276999"/>
              </a:xfrm>
              <a:prstGeom prst="rect">
                <a:avLst/>
              </a:prstGeom>
              <a:blipFill rotWithShape="1">
                <a:blip r:embed="rId8"/>
                <a:stretch>
                  <a:fillRect l="-6" t="-96" r="11" b="14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19" grpId="0" animBg="1"/>
      <p:bldP spid="20" grpId="0" animBg="1"/>
      <p:bldP spid="21" grpId="0" animBg="1"/>
      <p:bldP spid="22" grpId="0" animBg="1"/>
      <p:bldP spid="24" grpId="0" animBg="1"/>
      <p:bldP spid="25" grpId="0" animBg="1"/>
      <p:bldP spid="26" grpId="0" animBg="1"/>
      <p:bldP spid="27" grpId="0" animBg="1"/>
      <p:bldP spid="28" grpId="0" animBg="1"/>
      <p:bldP spid="2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线性递推关系式求解</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线性齐次递推关系式求解练习</a:t>
            </a:r>
            <a:endParaRPr lang="zh-CN" altLang="en-US"/>
          </a:p>
        </p:txBody>
      </p:sp>
      <mc:AlternateContent xmlns:mc="http://schemas.openxmlformats.org/markup-compatibility/2006">
        <mc:Choice xmlns:a14="http://schemas.microsoft.com/office/drawing/2010/main" Requires="a14">
          <p:sp>
            <p:nvSpPr>
              <p:cNvPr id="3" name="文本框 2"/>
              <p:cNvSpPr txBox="1"/>
              <p:nvPr/>
            </p:nvSpPr>
            <p:spPr>
              <a:xfrm>
                <a:off x="644685" y="1316464"/>
                <a:ext cx="8591413"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求解线性齐次递推关系式</a:t>
                </a:r>
                <a14:m>
                  <m:oMath xmlns:m="http://schemas.openxmlformats.org/officeDocument/2006/math">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𝒏</m:t>
                        </m:r>
                      </m:sub>
                    </m:sSub>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𝟒</m:t>
                    </m:r>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𝒏</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𝟏</m:t>
                        </m:r>
                      </m:sub>
                    </m:sSub>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𝟒</m:t>
                    </m:r>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𝒏</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𝟐</m:t>
                        </m:r>
                      </m:sub>
                    </m:sSub>
                  </m:oMath>
                </a14:m>
                <a:r>
                  <a:rPr lang="zh-CN" altLang="en-US" sz="2400" b="1">
                    <a:solidFill>
                      <a:srgbClr val="002060"/>
                    </a:solidFill>
                    <a:latin typeface="楷体" panose="02010609060101010101" pitchFamily="49" charset="-122"/>
                    <a:ea typeface="楷体" panose="02010609060101010101" pitchFamily="49" charset="-122"/>
                  </a:rPr>
                  <a:t>，</a:t>
                </a:r>
                <a14:m>
                  <m:oMath xmlns:m="http://schemas.openxmlformats.org/officeDocument/2006/math">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𝟎</m:t>
                        </m:r>
                      </m:sub>
                    </m:sSub>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𝟔</m:t>
                    </m:r>
                    <m:r>
                      <a:rPr lang="en-US" altLang="zh-CN" sz="2400" b="1" i="1">
                        <a:solidFill>
                          <a:srgbClr val="002060"/>
                        </a:solidFill>
                        <a:latin typeface="Cambria Math" panose="02040503050406030204" pitchFamily="18" charset="0"/>
                      </a:rPr>
                      <m:t>, </m:t>
                    </m:r>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𝟏</m:t>
                        </m:r>
                      </m:sub>
                    </m:sSub>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𝟖</m:t>
                    </m:r>
                  </m:oMath>
                </a14:m>
                <a:endParaRPr lang="zh-CN" altLang="en-US" sz="2400" b="1">
                  <a:solidFill>
                    <a:srgbClr val="002060"/>
                  </a:solidFill>
                  <a:latin typeface="楷体" panose="02010609060101010101" pitchFamily="49" charset="-122"/>
                  <a:ea typeface="楷体" panose="02010609060101010101" pitchFamily="49"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644685" y="1316464"/>
                <a:ext cx="8591413" cy="461665"/>
              </a:xfrm>
              <a:prstGeom prst="rect">
                <a:avLst/>
              </a:prstGeom>
              <a:blipFill rotWithShape="1">
                <a:blip r:embed="rId1"/>
                <a:stretch>
                  <a:fillRect l="-2" t="-24" b="-68332"/>
                </a:stretch>
              </a:blipFill>
            </p:spPr>
            <p:txBody>
              <a:bodyPr/>
              <a:lstStyle/>
              <a:p>
                <a:r>
                  <a:rPr lang="zh-CN" altLang="en-US">
                    <a:noFill/>
                  </a:rPr>
                  <a:t> </a:t>
                </a:r>
              </a:p>
            </p:txBody>
          </p:sp>
        </mc:Fallback>
      </mc:AlternateContent>
      <p:grpSp>
        <p:nvGrpSpPr>
          <p:cNvPr id="30" name="组合 29"/>
          <p:cNvGrpSpPr/>
          <p:nvPr/>
        </p:nvGrpSpPr>
        <p:grpSpPr>
          <a:xfrm>
            <a:off x="1384565" y="2115924"/>
            <a:ext cx="9422870" cy="3204686"/>
            <a:chOff x="1736703" y="2069875"/>
            <a:chExt cx="9422870" cy="3204686"/>
          </a:xfrm>
        </p:grpSpPr>
        <mc:AlternateContent xmlns:mc="http://schemas.openxmlformats.org/markup-compatibility/2006">
          <mc:Choice xmlns:a14="http://schemas.microsoft.com/office/drawing/2010/main" Requires="a14">
            <p:sp>
              <p:nvSpPr>
                <p:cNvPr id="4" name="文本框 3"/>
                <p:cNvSpPr txBox="1"/>
                <p:nvPr/>
              </p:nvSpPr>
              <p:spPr>
                <a:xfrm>
                  <a:off x="1736703" y="2069875"/>
                  <a:ext cx="5963527" cy="407099"/>
                </a:xfrm>
                <a:prstGeom prst="rect">
                  <a:avLst/>
                </a:prstGeom>
                <a:solidFill>
                  <a:schemeClr val="accent4">
                    <a:lumMod val="20000"/>
                    <a:lumOff val="80000"/>
                    <a:alpha val="50000"/>
                  </a:schemeClr>
                </a:solidFill>
              </p:spPr>
              <p:txBody>
                <a:bodyPr wrap="square" rtlCol="0">
                  <a:spAutoFit/>
                </a:bodyPr>
                <a:lstStyle/>
                <a:p>
                  <a:r>
                    <a:rPr lang="zh-CN" altLang="en-US" sz="2000" b="1">
                      <a:solidFill>
                        <a:schemeClr val="accent2">
                          <a:lumMod val="50000"/>
                        </a:schemeClr>
                      </a:solidFill>
                    </a:rPr>
                    <a:t>特征方程是</a:t>
                  </a:r>
                  <a14:m>
                    <m:oMath xmlns:m="http://schemas.openxmlformats.org/officeDocument/2006/math">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𝒙</m:t>
                          </m:r>
                        </m:e>
                        <m:sup>
                          <m:r>
                            <a:rPr lang="en-US" altLang="zh-CN" sz="2000" b="1" i="1" smtClean="0">
                              <a:solidFill>
                                <a:srgbClr val="C00000"/>
                              </a:solidFill>
                              <a:latin typeface="Cambria Math" panose="02040503050406030204" pitchFamily="18" charset="0"/>
                            </a:rPr>
                            <m:t>𝟐</m:t>
                          </m:r>
                        </m:sup>
                      </m:sSup>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𝟒</m:t>
                      </m:r>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𝟒</m:t>
                      </m:r>
                    </m:oMath>
                  </a14:m>
                  <a:r>
                    <a:rPr lang="zh-CN" altLang="en-US" sz="2000" b="1">
                      <a:solidFill>
                        <a:schemeClr val="accent2">
                          <a:lumMod val="50000"/>
                        </a:schemeClr>
                      </a:solidFill>
                    </a:rPr>
                    <a:t>，有一个不同根</a:t>
                  </a:r>
                  <a14:m>
                    <m:oMath xmlns:m="http://schemas.openxmlformats.org/officeDocument/2006/math">
                      <m:r>
                        <a:rPr lang="en-US" altLang="zh-CN" sz="2000" b="1" i="0" smtClean="0">
                          <a:solidFill>
                            <a:srgbClr val="C00000"/>
                          </a:solidFill>
                          <a:latin typeface="Cambria Math" panose="02040503050406030204" pitchFamily="18" charset="0"/>
                        </a:rPr>
                        <m:t>𝟐</m:t>
                      </m:r>
                    </m:oMath>
                  </a14:m>
                  <a:r>
                    <a:rPr lang="zh-CN" altLang="en-US" sz="2000" b="1">
                      <a:solidFill>
                        <a:schemeClr val="accent2">
                          <a:lumMod val="50000"/>
                        </a:schemeClr>
                      </a:solidFill>
                    </a:rPr>
                    <a:t>，是</a:t>
                  </a:r>
                  <a14:m>
                    <m:oMath xmlns:m="http://schemas.openxmlformats.org/officeDocument/2006/math">
                      <m:r>
                        <a:rPr lang="en-US" altLang="zh-CN" sz="2000" b="1" i="0" smtClean="0">
                          <a:solidFill>
                            <a:schemeClr val="accent2">
                              <a:lumMod val="50000"/>
                            </a:schemeClr>
                          </a:solidFill>
                          <a:latin typeface="Cambria Math" panose="02040503050406030204" pitchFamily="18" charset="0"/>
                        </a:rPr>
                        <m:t>𝟐</m:t>
                      </m:r>
                    </m:oMath>
                  </a14:m>
                  <a:r>
                    <a:rPr lang="zh-CN" altLang="en-US" sz="2000" b="1">
                      <a:solidFill>
                        <a:schemeClr val="accent2">
                          <a:lumMod val="50000"/>
                        </a:schemeClr>
                      </a:solidFill>
                    </a:rPr>
                    <a:t>重根</a:t>
                  </a:r>
                  <a:endParaRPr lang="zh-CN" altLang="en-US" sz="2000" b="1">
                    <a:solidFill>
                      <a:schemeClr val="accent2">
                        <a:lumMod val="50000"/>
                      </a:schemeClr>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1736703" y="2069875"/>
                  <a:ext cx="5963527" cy="407099"/>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1736703" y="3037971"/>
                  <a:ext cx="3161121" cy="861774"/>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000" b="1">
                      <a:solidFill>
                        <a:schemeClr val="accent2">
                          <a:lumMod val="50000"/>
                        </a:schemeClr>
                      </a:solidFill>
                    </a:rPr>
                    <a:t>解</a:t>
                  </a:r>
                  <a14:m>
                    <m:oMath xmlns:m="http://schemas.openxmlformats.org/officeDocument/2006/math">
                      <m:r>
                        <m:rPr>
                          <m:lit/>
                        </m:rP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𝒏</m:t>
                          </m:r>
                        </m:sub>
                      </m:sSub>
                      <m:r>
                        <m:rPr>
                          <m:lit/>
                        </m:rPr>
                        <a:rPr lang="en-US" altLang="zh-CN" sz="2000" b="1" i="1" smtClean="0">
                          <a:solidFill>
                            <a:schemeClr val="accent2">
                              <a:lumMod val="50000"/>
                            </a:schemeClr>
                          </a:solidFill>
                          <a:latin typeface="Cambria Math" panose="02040503050406030204" pitchFamily="18" charset="0"/>
                        </a:rPr>
                        <m:t>}</m:t>
                      </m:r>
                    </m:oMath>
                  </a14:m>
                  <a:r>
                    <a:rPr lang="zh-CN" altLang="en-US" sz="2000" b="1">
                      <a:solidFill>
                        <a:schemeClr val="accent2">
                          <a:lumMod val="50000"/>
                        </a:schemeClr>
                      </a:solidFill>
                    </a:rPr>
                    <a:t>具有形式：</a:t>
                  </a:r>
                  <a:endParaRPr lang="en-US" altLang="zh-CN" sz="2000" b="1">
                    <a:solidFill>
                      <a:schemeClr val="accent2">
                        <a:lumMod val="50000"/>
                      </a:schemeClr>
                    </a:solidFill>
                  </a:endParaRPr>
                </a:p>
                <a:p>
                  <a:pPr algn="ctr">
                    <a:spcBef>
                      <a:spcPts val="600"/>
                    </a:spcBef>
                    <a:spcAft>
                      <a:spcPts val="600"/>
                    </a:spcAft>
                  </a:pPr>
                  <a14:m>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𝒏</m:t>
                          </m:r>
                        </m:sub>
                      </m:sSub>
                      <m:r>
                        <a:rPr lang="en-US" altLang="zh-CN" sz="2000" b="1" i="1" smtClean="0">
                          <a:solidFill>
                            <a:srgbClr val="C00000"/>
                          </a:solidFill>
                          <a:latin typeface="Cambria Math" panose="02040503050406030204" pitchFamily="18" charset="0"/>
                        </a:rPr>
                        <m:t>= </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𝜷</m:t>
                          </m:r>
                        </m:e>
                        <m:sub>
                          <m:r>
                            <a:rPr lang="en-US" altLang="zh-CN" sz="2000" b="1" i="1" smtClean="0">
                              <a:solidFill>
                                <a:srgbClr val="C00000"/>
                              </a:solidFill>
                              <a:latin typeface="Cambria Math" panose="02040503050406030204" pitchFamily="18" charset="0"/>
                            </a:rPr>
                            <m:t>𝟏</m:t>
                          </m:r>
                        </m:sub>
                      </m:sSub>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𝟐</m:t>
                          </m:r>
                        </m:e>
                        <m:sup>
                          <m:r>
                            <a:rPr lang="en-US" altLang="zh-CN" sz="2000" b="1" i="1" smtClean="0">
                              <a:solidFill>
                                <a:srgbClr val="C00000"/>
                              </a:solidFill>
                              <a:latin typeface="Cambria Math" panose="02040503050406030204" pitchFamily="18" charset="0"/>
                            </a:rPr>
                            <m:t>𝒏</m:t>
                          </m:r>
                        </m:sup>
                      </m:sSup>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𝜷</m:t>
                          </m:r>
                        </m:e>
                        <m:sub>
                          <m:r>
                            <a:rPr lang="en-US" altLang="zh-CN" sz="2000" b="1" i="1" smtClean="0">
                              <a:solidFill>
                                <a:srgbClr val="C00000"/>
                              </a:solidFill>
                              <a:latin typeface="Cambria Math" panose="02040503050406030204" pitchFamily="18" charset="0"/>
                            </a:rPr>
                            <m:t>𝟐</m:t>
                          </m:r>
                        </m:sub>
                      </m:sSub>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𝟐</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𝒏</m:t>
                      </m:r>
                    </m:oMath>
                  </a14:m>
                  <a:r>
                    <a:rPr lang="zh-CN" altLang="en-US" sz="2000" b="1">
                      <a:solidFill>
                        <a:schemeClr val="accent2">
                          <a:lumMod val="50000"/>
                        </a:schemeClr>
                      </a:solidFill>
                    </a:rPr>
                    <a:t> </a:t>
                  </a:r>
                  <a:endParaRPr lang="zh-CN" altLang="en-US" b="1">
                    <a:solidFill>
                      <a:schemeClr val="accent2">
                        <a:lumMod val="50000"/>
                      </a:schemeClr>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1736703" y="3037971"/>
                  <a:ext cx="3161121" cy="861774"/>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7924087" y="3090549"/>
                  <a:ext cx="3235486" cy="710194"/>
                </a:xfrm>
                <a:prstGeom prst="rect">
                  <a:avLst/>
                </a:prstGeom>
                <a:solidFill>
                  <a:schemeClr val="accent5">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eqArr>
                              <m:eqArrPr>
                                <m:ctrlPr>
                                  <a:rPr lang="en-US" altLang="zh-CN" b="1" i="1" smtClean="0">
                                    <a:solidFill>
                                      <a:schemeClr val="accent2">
                                        <a:lumMod val="50000"/>
                                      </a:schemeClr>
                                    </a:solidFill>
                                    <a:latin typeface="Cambria Math" panose="02040503050406030204" pitchFamily="18" charset="0"/>
                                  </a:rPr>
                                </m:ctrlPr>
                              </m:eqArrPr>
                              <m:e>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𝟔</m:t>
                                </m:r>
                              </m:e>
                              <m:e>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𝟐</m:t>
                                    </m:r>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𝟐</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𝟐</m:t>
                                    </m:r>
                                  </m:sub>
                                </m:sSub>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𝟖</m:t>
                                </m:r>
                              </m:e>
                            </m:eqArr>
                          </m:e>
                        </m:d>
                      </m:oMath>
                    </m:oMathPara>
                  </a14:m>
                  <a:endParaRPr lang="zh-CN" altLang="en-US" b="1">
                    <a:solidFill>
                      <a:schemeClr val="accent2">
                        <a:lumMod val="50000"/>
                      </a:schemeClr>
                    </a:solidFill>
                  </a:endParaRPr>
                </a:p>
              </p:txBody>
            </p:sp>
          </mc:Choice>
          <mc:Fallback>
            <p:sp>
              <p:nvSpPr>
                <p:cNvPr id="19" name="文本框 18"/>
                <p:cNvSpPr txBox="1">
                  <a:spLocks noRot="1" noChangeAspect="1" noMove="1" noResize="1" noEditPoints="1" noAdjustHandles="1" noChangeArrowheads="1" noChangeShapeType="1" noTextEdit="1"/>
                </p:cNvSpPr>
                <p:nvPr/>
              </p:nvSpPr>
              <p:spPr>
                <a:xfrm>
                  <a:off x="7924087" y="3090549"/>
                  <a:ext cx="3235486" cy="710194"/>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8699957" y="4628230"/>
                  <a:ext cx="1638026" cy="646331"/>
                </a:xfrm>
                <a:prstGeom prst="rect">
                  <a:avLst/>
                </a:prstGeom>
                <a:solidFill>
                  <a:schemeClr val="accent5">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𝟔</m:t>
                        </m:r>
                      </m:oMath>
                    </m:oMathPara>
                  </a14:m>
                  <a:endParaRPr lang="en-US" altLang="zh-CN" b="1">
                    <a:solidFill>
                      <a:srgbClr val="C00000"/>
                    </a:solidFill>
                  </a:endParaRPr>
                </a:p>
                <a:p>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𝟐</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𝟐</m:t>
                        </m:r>
                      </m:oMath>
                    </m:oMathPara>
                  </a14:m>
                  <a:endParaRPr lang="zh-CN" altLang="en-US" b="1">
                    <a:solidFill>
                      <a:srgbClr val="C00000"/>
                    </a:solidFill>
                  </a:endParaRPr>
                </a:p>
              </p:txBody>
            </p:sp>
          </mc:Choice>
          <mc:Fallback>
            <p:sp>
              <p:nvSpPr>
                <p:cNvPr id="20" name="文本框 19"/>
                <p:cNvSpPr txBox="1">
                  <a:spLocks noRot="1" noChangeAspect="1" noMove="1" noResize="1" noEditPoints="1" noAdjustHandles="1" noChangeArrowheads="1" noChangeShapeType="1" noTextEdit="1"/>
                </p:cNvSpPr>
                <p:nvPr/>
              </p:nvSpPr>
              <p:spPr>
                <a:xfrm>
                  <a:off x="8699957" y="4628230"/>
                  <a:ext cx="1638026" cy="646331"/>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1736703" y="4763620"/>
                  <a:ext cx="3161121" cy="407099"/>
                </a:xfrm>
                <a:prstGeom prst="rect">
                  <a:avLst/>
                </a:prstGeom>
                <a:solidFill>
                  <a:schemeClr val="accent2">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𝒏</m:t>
                            </m:r>
                          </m:sub>
                        </m:sSub>
                        <m:r>
                          <a:rPr lang="en-US" altLang="zh-CN" sz="2000" b="1" i="1" smtClean="0">
                            <a:solidFill>
                              <a:srgbClr val="C00000"/>
                            </a:solidFill>
                            <a:latin typeface="Cambria Math" panose="02040503050406030204" pitchFamily="18" charset="0"/>
                          </a:rPr>
                          <m:t>=</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𝟑</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𝒏</m:t>
                            </m:r>
                          </m:e>
                        </m:d>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𝟐</m:t>
                            </m:r>
                          </m:e>
                          <m:sup>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sup>
                        </m:sSup>
                      </m:oMath>
                    </m:oMathPara>
                  </a14:m>
                  <a:endParaRPr lang="zh-CN" altLang="en-US" b="1">
                    <a:solidFill>
                      <a:schemeClr val="accent2">
                        <a:lumMod val="50000"/>
                      </a:schemeClr>
                    </a:solidFill>
                  </a:endParaRPr>
                </a:p>
              </p:txBody>
            </p:sp>
          </mc:Choice>
          <mc:Fallback>
            <p:sp>
              <p:nvSpPr>
                <p:cNvPr id="21" name="文本框 20"/>
                <p:cNvSpPr txBox="1">
                  <a:spLocks noRot="1" noChangeAspect="1" noMove="1" noResize="1" noEditPoints="1" noAdjustHandles="1" noChangeArrowheads="1" noChangeShapeType="1" noTextEdit="1"/>
                </p:cNvSpPr>
                <p:nvPr/>
              </p:nvSpPr>
              <p:spPr>
                <a:xfrm>
                  <a:off x="1736703" y="4763620"/>
                  <a:ext cx="3161121" cy="407099"/>
                </a:xfrm>
                <a:prstGeom prst="rect">
                  <a:avLst/>
                </a:prstGeom>
                <a:blipFill rotWithShape="1">
                  <a:blip r:embed="rId6"/>
                </a:blipFill>
              </p:spPr>
              <p:txBody>
                <a:bodyPr/>
                <a:lstStyle/>
                <a:p>
                  <a:r>
                    <a:rPr lang="zh-CN" altLang="en-US">
                      <a:noFill/>
                    </a:rPr>
                    <a:t> </a:t>
                  </a:r>
                </a:p>
              </p:txBody>
            </p:sp>
          </mc:Fallback>
        </mc:AlternateContent>
        <p:sp>
          <p:nvSpPr>
            <p:cNvPr id="22" name="箭头: 下 21"/>
            <p:cNvSpPr/>
            <p:nvPr/>
          </p:nvSpPr>
          <p:spPr>
            <a:xfrm>
              <a:off x="3277792" y="2499993"/>
              <a:ext cx="78941" cy="53797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右 23"/>
            <p:cNvSpPr/>
            <p:nvPr/>
          </p:nvSpPr>
          <p:spPr>
            <a:xfrm>
              <a:off x="4897824" y="3507702"/>
              <a:ext cx="2989890" cy="7095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下 24"/>
            <p:cNvSpPr/>
            <p:nvPr/>
          </p:nvSpPr>
          <p:spPr>
            <a:xfrm>
              <a:off x="9496110" y="3800744"/>
              <a:ext cx="78941" cy="81851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左 25"/>
            <p:cNvSpPr/>
            <p:nvPr/>
          </p:nvSpPr>
          <p:spPr>
            <a:xfrm>
              <a:off x="4897824" y="4956352"/>
              <a:ext cx="3802133" cy="7720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下 26"/>
            <p:cNvSpPr/>
            <p:nvPr/>
          </p:nvSpPr>
          <p:spPr>
            <a:xfrm>
              <a:off x="3280888" y="3874602"/>
              <a:ext cx="75845" cy="88901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8" name="文本框 27"/>
                <p:cNvSpPr txBox="1"/>
                <p:nvPr/>
              </p:nvSpPr>
              <p:spPr>
                <a:xfrm>
                  <a:off x="5710067" y="2953704"/>
                  <a:ext cx="1373791" cy="1107996"/>
                </a:xfrm>
                <a:prstGeom prst="rect">
                  <a:avLst/>
                </a:prstGeom>
                <a:solidFill>
                  <a:schemeClr val="accent4">
                    <a:lumMod val="20000"/>
                    <a:lumOff val="80000"/>
                  </a:schemeClr>
                </a:solidFill>
              </p:spPr>
              <p:txBody>
                <a:bodyPr wrap="square" lIns="0" tIns="0" rIns="0" bIns="0" rtlCol="0">
                  <a:spAutoFit/>
                </a:bodyPr>
                <a:lstStyle/>
                <a:p>
                  <a:pPr algn="ctr"/>
                  <a:r>
                    <a:rPr lang="zh-CN" altLang="en-US" b="1">
                      <a:solidFill>
                        <a:schemeClr val="accent2">
                          <a:lumMod val="50000"/>
                        </a:schemeClr>
                      </a:solidFill>
                    </a:rPr>
                    <a:t>根据初值</a:t>
                  </a:r>
                  <a:endParaRPr lang="en-US" altLang="zh-CN" b="1">
                    <a:solidFill>
                      <a:schemeClr val="accent2">
                        <a:lumMod val="50000"/>
                      </a:schemeClr>
                    </a:solidFill>
                  </a:endParaRPr>
                </a:p>
                <a:p>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𝟎</m:t>
                            </m:r>
                          </m:sub>
                        </m:sSub>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𝟔</m:t>
                        </m:r>
                      </m:oMath>
                    </m:oMathPara>
                  </a14:m>
                  <a:endParaRPr lang="en-US" altLang="zh-CN" b="1" i="1">
                    <a:solidFill>
                      <a:schemeClr val="accent2">
                        <a:lumMod val="50000"/>
                      </a:schemeClr>
                    </a:solidFill>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𝟖</m:t>
                        </m:r>
                      </m:oMath>
                    </m:oMathPara>
                  </a14:m>
                  <a:endParaRPr lang="en-US" altLang="zh-CN" b="1">
                    <a:solidFill>
                      <a:schemeClr val="accent2">
                        <a:lumMod val="50000"/>
                      </a:schemeClr>
                    </a:solidFill>
                  </a:endParaRPr>
                </a:p>
                <a:p>
                  <a:r>
                    <a:rPr lang="zh-CN" altLang="en-US" b="1">
                      <a:solidFill>
                        <a:schemeClr val="accent2">
                          <a:lumMod val="50000"/>
                        </a:schemeClr>
                      </a:solidFill>
                    </a:rPr>
                    <a:t>列线性方程组</a:t>
                  </a:r>
                  <a:endParaRPr lang="zh-CN" altLang="en-US" b="1">
                    <a:solidFill>
                      <a:schemeClr val="accent2">
                        <a:lumMod val="50000"/>
                      </a:schemeClr>
                    </a:solidFill>
                  </a:endParaRPr>
                </a:p>
              </p:txBody>
            </p:sp>
          </mc:Choice>
          <mc:Fallback>
            <p:sp>
              <p:nvSpPr>
                <p:cNvPr id="28" name="文本框 27"/>
                <p:cNvSpPr txBox="1">
                  <a:spLocks noRot="1" noChangeAspect="1" noMove="1" noResize="1" noEditPoints="1" noAdjustHandles="1" noChangeArrowheads="1" noChangeShapeType="1" noTextEdit="1"/>
                </p:cNvSpPr>
                <p:nvPr/>
              </p:nvSpPr>
              <p:spPr>
                <a:xfrm>
                  <a:off x="5710067" y="2953704"/>
                  <a:ext cx="1373791" cy="1107996"/>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文本框 28"/>
                <p:cNvSpPr txBox="1"/>
                <p:nvPr/>
              </p:nvSpPr>
              <p:spPr>
                <a:xfrm>
                  <a:off x="7924087" y="4072958"/>
                  <a:ext cx="3235486" cy="276999"/>
                </a:xfrm>
                <a:prstGeom prst="rect">
                  <a:avLst/>
                </a:prstGeom>
                <a:solidFill>
                  <a:schemeClr val="accent4">
                    <a:lumMod val="20000"/>
                    <a:lumOff val="80000"/>
                  </a:schemeClr>
                </a:solidFill>
              </p:spPr>
              <p:txBody>
                <a:bodyPr wrap="square" lIns="0" tIns="0" rIns="0" bIns="0" rtlCol="0">
                  <a:spAutoFit/>
                </a:bodyPr>
                <a:lstStyle/>
                <a:p>
                  <a:r>
                    <a:rPr lang="zh-CN" altLang="en-US" b="1">
                      <a:solidFill>
                        <a:schemeClr val="accent2">
                          <a:lumMod val="50000"/>
                        </a:schemeClr>
                      </a:solidFill>
                    </a:rPr>
                    <a:t>求解线性方程组得到</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𝟐</m:t>
                          </m:r>
                        </m:sub>
                      </m:sSub>
                    </m:oMath>
                  </a14:m>
                  <a:r>
                    <a:rPr lang="zh-CN" altLang="en-US" b="1">
                      <a:solidFill>
                        <a:schemeClr val="accent2">
                          <a:lumMod val="50000"/>
                        </a:schemeClr>
                      </a:solidFill>
                    </a:rPr>
                    <a:t>的值</a:t>
                  </a:r>
                  <a:endParaRPr lang="zh-CN" altLang="en-US" b="1">
                    <a:solidFill>
                      <a:schemeClr val="accent2">
                        <a:lumMod val="50000"/>
                      </a:schemeClr>
                    </a:solidFill>
                  </a:endParaRPr>
                </a:p>
              </p:txBody>
            </p:sp>
          </mc:Choice>
          <mc:Fallback>
            <p:sp>
              <p:nvSpPr>
                <p:cNvPr id="29" name="文本框 28"/>
                <p:cNvSpPr txBox="1">
                  <a:spLocks noRot="1" noChangeAspect="1" noMove="1" noResize="1" noEditPoints="1" noAdjustHandles="1" noChangeArrowheads="1" noChangeShapeType="1" noTextEdit="1"/>
                </p:cNvSpPr>
                <p:nvPr/>
              </p:nvSpPr>
              <p:spPr>
                <a:xfrm>
                  <a:off x="7924087" y="4072958"/>
                  <a:ext cx="3235486" cy="276999"/>
                </a:xfrm>
                <a:prstGeom prst="rect">
                  <a:avLst/>
                </a:prstGeom>
                <a:blipFill rotWithShape="1">
                  <a:blip r:embed="rId8"/>
                </a:blipFill>
              </p:spPr>
              <p:txBody>
                <a:bodyPr/>
                <a:lstStyle/>
                <a:p>
                  <a:r>
                    <a:rPr lang="zh-CN" altLang="en-US">
                      <a:noFill/>
                    </a:rPr>
                    <a:t> </a:t>
                  </a:r>
                </a:p>
              </p:txBody>
            </p:sp>
          </mc:Fallback>
        </mc:AlternateContent>
      </p:grpSp>
      <p:cxnSp>
        <p:nvCxnSpPr>
          <p:cNvPr id="11" name="直接连接符 10"/>
          <p:cNvCxnSpPr/>
          <p:nvPr/>
        </p:nvCxnSpPr>
        <p:spPr>
          <a:xfrm>
            <a:off x="2328760" y="3913987"/>
            <a:ext cx="1855113"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2540366" y="5164983"/>
            <a:ext cx="1855113"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2345205" y="3589106"/>
            <a:ext cx="1855113" cy="307777"/>
          </a:xfrm>
          <a:prstGeom prst="rect">
            <a:avLst/>
          </a:prstGeom>
          <a:solidFill>
            <a:srgbClr val="EEF5FB"/>
          </a:solidFill>
        </p:spPr>
        <p:txBody>
          <a:bodyPr wrap="square" lIns="0" tIns="0" rIns="0" bIns="0" rtlCol="0">
            <a:spAutoFit/>
          </a:bodyPr>
          <a:lstStyle/>
          <a:p>
            <a:pPr algn="ctr"/>
            <a:r>
              <a:rPr lang="en-US" altLang="zh-CN" sz="2000" b="1">
                <a:solidFill>
                  <a:srgbClr val="C00000"/>
                </a:solidFill>
              </a:rPr>
              <a:t>(1)</a:t>
            </a:r>
            <a:endParaRPr lang="zh-CN" altLang="en-US" sz="2000" b="1">
              <a:solidFill>
                <a:srgbClr val="C00000"/>
              </a:solidFill>
            </a:endParaRPr>
          </a:p>
        </p:txBody>
      </p:sp>
      <p:sp>
        <p:nvSpPr>
          <p:cNvPr id="32" name="文本框 31"/>
          <p:cNvSpPr txBox="1"/>
          <p:nvPr/>
        </p:nvSpPr>
        <p:spPr>
          <a:xfrm>
            <a:off x="2582030" y="4833437"/>
            <a:ext cx="1813449" cy="307777"/>
          </a:xfrm>
          <a:prstGeom prst="rect">
            <a:avLst/>
          </a:prstGeom>
          <a:solidFill>
            <a:srgbClr val="FDF2EA"/>
          </a:solidFill>
        </p:spPr>
        <p:txBody>
          <a:bodyPr wrap="square" lIns="0" tIns="0" rIns="0" bIns="0" rtlCol="0">
            <a:spAutoFit/>
          </a:bodyPr>
          <a:lstStyle/>
          <a:p>
            <a:pPr algn="ctr"/>
            <a:r>
              <a:rPr lang="en-US" altLang="zh-CN" sz="2000" b="1">
                <a:solidFill>
                  <a:srgbClr val="C00000"/>
                </a:solidFill>
              </a:rPr>
              <a:t>(2)</a:t>
            </a:r>
            <a:endParaRPr lang="zh-CN" altLang="en-US" sz="2000" b="1">
              <a:solidFill>
                <a:srgbClr val="C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线性递推关系式求解</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线性齐次递推关系式求解练习</a:t>
            </a:r>
            <a:endParaRPr lang="zh-CN" altLang="en-US"/>
          </a:p>
        </p:txBody>
      </p:sp>
      <mc:AlternateContent xmlns:mc="http://schemas.openxmlformats.org/markup-compatibility/2006">
        <mc:Choice xmlns:a14="http://schemas.microsoft.com/office/drawing/2010/main" Requires="a14">
          <p:sp>
            <p:nvSpPr>
              <p:cNvPr id="3" name="文本框 2"/>
              <p:cNvSpPr txBox="1"/>
              <p:nvPr/>
            </p:nvSpPr>
            <p:spPr>
              <a:xfrm>
                <a:off x="644685" y="1316464"/>
                <a:ext cx="8591413"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求解线性齐次递推关系式</a:t>
                </a:r>
                <a14:m>
                  <m:oMath xmlns:m="http://schemas.openxmlformats.org/officeDocument/2006/math">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𝒏</m:t>
                        </m:r>
                      </m:sub>
                    </m:sSub>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𝟒</m:t>
                    </m:r>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𝒏</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𝟏</m:t>
                        </m:r>
                      </m:sub>
                    </m:sSub>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𝟒</m:t>
                    </m:r>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𝒏</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𝟐</m:t>
                        </m:r>
                      </m:sub>
                    </m:sSub>
                  </m:oMath>
                </a14:m>
                <a:r>
                  <a:rPr lang="zh-CN" altLang="en-US" sz="2400" b="1">
                    <a:solidFill>
                      <a:srgbClr val="002060"/>
                    </a:solidFill>
                    <a:latin typeface="楷体" panose="02010609060101010101" pitchFamily="49" charset="-122"/>
                    <a:ea typeface="楷体" panose="02010609060101010101" pitchFamily="49" charset="-122"/>
                  </a:rPr>
                  <a:t>，</a:t>
                </a:r>
                <a14:m>
                  <m:oMath xmlns:m="http://schemas.openxmlformats.org/officeDocument/2006/math">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𝟎</m:t>
                        </m:r>
                      </m:sub>
                    </m:sSub>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𝟔</m:t>
                    </m:r>
                    <m:r>
                      <a:rPr lang="en-US" altLang="zh-CN" sz="2400" b="1" i="1">
                        <a:solidFill>
                          <a:srgbClr val="002060"/>
                        </a:solidFill>
                        <a:latin typeface="Cambria Math" panose="02040503050406030204" pitchFamily="18" charset="0"/>
                      </a:rPr>
                      <m:t>, </m:t>
                    </m:r>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𝟏</m:t>
                        </m:r>
                      </m:sub>
                    </m:sSub>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𝟖</m:t>
                    </m:r>
                  </m:oMath>
                </a14:m>
                <a:endParaRPr lang="zh-CN" altLang="en-US" sz="2400" b="1">
                  <a:solidFill>
                    <a:srgbClr val="002060"/>
                  </a:solidFill>
                  <a:latin typeface="楷体" panose="02010609060101010101" pitchFamily="49" charset="-122"/>
                  <a:ea typeface="楷体" panose="02010609060101010101" pitchFamily="49"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644685" y="1316464"/>
                <a:ext cx="8591413" cy="461665"/>
              </a:xfrm>
              <a:prstGeom prst="rect">
                <a:avLst/>
              </a:prstGeom>
              <a:blipFill rotWithShape="1">
                <a:blip r:embed="rId1"/>
                <a:stretch>
                  <a:fillRect l="-2" t="-24" b="-68332"/>
                </a:stretch>
              </a:blipFill>
            </p:spPr>
            <p:txBody>
              <a:bodyPr/>
              <a:lstStyle/>
              <a:p>
                <a:r>
                  <a:rPr lang="zh-CN" altLang="en-US">
                    <a:noFill/>
                  </a:rPr>
                  <a:t> </a:t>
                </a:r>
              </a:p>
            </p:txBody>
          </p:sp>
        </mc:Fallback>
      </mc:AlternateContent>
      <p:grpSp>
        <p:nvGrpSpPr>
          <p:cNvPr id="30" name="组合 29"/>
          <p:cNvGrpSpPr/>
          <p:nvPr/>
        </p:nvGrpSpPr>
        <p:grpSpPr>
          <a:xfrm>
            <a:off x="1384565" y="2115924"/>
            <a:ext cx="9422870" cy="3204686"/>
            <a:chOff x="1736703" y="2069875"/>
            <a:chExt cx="9422870" cy="3204686"/>
          </a:xfrm>
        </p:grpSpPr>
        <mc:AlternateContent xmlns:mc="http://schemas.openxmlformats.org/markup-compatibility/2006">
          <mc:Choice xmlns:a14="http://schemas.microsoft.com/office/drawing/2010/main" Requires="a14">
            <p:sp>
              <p:nvSpPr>
                <p:cNvPr id="4" name="文本框 3"/>
                <p:cNvSpPr txBox="1"/>
                <p:nvPr/>
              </p:nvSpPr>
              <p:spPr>
                <a:xfrm>
                  <a:off x="1736703" y="2069875"/>
                  <a:ext cx="5963527" cy="407099"/>
                </a:xfrm>
                <a:prstGeom prst="rect">
                  <a:avLst/>
                </a:prstGeom>
                <a:solidFill>
                  <a:schemeClr val="accent4">
                    <a:lumMod val="20000"/>
                    <a:lumOff val="80000"/>
                    <a:alpha val="50000"/>
                  </a:schemeClr>
                </a:solidFill>
              </p:spPr>
              <p:txBody>
                <a:bodyPr wrap="square" rtlCol="0">
                  <a:spAutoFit/>
                </a:bodyPr>
                <a:lstStyle/>
                <a:p>
                  <a:r>
                    <a:rPr lang="zh-CN" altLang="en-US" sz="2000" b="1">
                      <a:solidFill>
                        <a:schemeClr val="accent2">
                          <a:lumMod val="50000"/>
                        </a:schemeClr>
                      </a:solidFill>
                    </a:rPr>
                    <a:t>特征方程是</a:t>
                  </a:r>
                  <a14:m>
                    <m:oMath xmlns:m="http://schemas.openxmlformats.org/officeDocument/2006/math">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𝒙</m:t>
                          </m:r>
                        </m:e>
                        <m:sup>
                          <m:r>
                            <a:rPr lang="en-US" altLang="zh-CN" sz="2000" b="1" i="1" smtClean="0">
                              <a:solidFill>
                                <a:srgbClr val="C00000"/>
                              </a:solidFill>
                              <a:latin typeface="Cambria Math" panose="02040503050406030204" pitchFamily="18" charset="0"/>
                            </a:rPr>
                            <m:t>𝟐</m:t>
                          </m:r>
                        </m:sup>
                      </m:sSup>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𝟒</m:t>
                      </m:r>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𝟒</m:t>
                      </m:r>
                    </m:oMath>
                  </a14:m>
                  <a:r>
                    <a:rPr lang="zh-CN" altLang="en-US" sz="2000" b="1">
                      <a:solidFill>
                        <a:schemeClr val="accent2">
                          <a:lumMod val="50000"/>
                        </a:schemeClr>
                      </a:solidFill>
                    </a:rPr>
                    <a:t>，有一个不同根</a:t>
                  </a:r>
                  <a14:m>
                    <m:oMath xmlns:m="http://schemas.openxmlformats.org/officeDocument/2006/math">
                      <m:r>
                        <a:rPr lang="en-US" altLang="zh-CN" sz="2000" b="1" i="0" smtClean="0">
                          <a:solidFill>
                            <a:srgbClr val="C00000"/>
                          </a:solidFill>
                          <a:latin typeface="Cambria Math" panose="02040503050406030204" pitchFamily="18" charset="0"/>
                        </a:rPr>
                        <m:t>𝟐</m:t>
                      </m:r>
                    </m:oMath>
                  </a14:m>
                  <a:r>
                    <a:rPr lang="zh-CN" altLang="en-US" sz="2000" b="1">
                      <a:solidFill>
                        <a:schemeClr val="accent2">
                          <a:lumMod val="50000"/>
                        </a:schemeClr>
                      </a:solidFill>
                    </a:rPr>
                    <a:t>，是</a:t>
                  </a:r>
                  <a14:m>
                    <m:oMath xmlns:m="http://schemas.openxmlformats.org/officeDocument/2006/math">
                      <m:r>
                        <a:rPr lang="en-US" altLang="zh-CN" sz="2000" b="1" i="0" smtClean="0">
                          <a:solidFill>
                            <a:schemeClr val="accent2">
                              <a:lumMod val="50000"/>
                            </a:schemeClr>
                          </a:solidFill>
                          <a:latin typeface="Cambria Math" panose="02040503050406030204" pitchFamily="18" charset="0"/>
                        </a:rPr>
                        <m:t>𝟐</m:t>
                      </m:r>
                    </m:oMath>
                  </a14:m>
                  <a:r>
                    <a:rPr lang="zh-CN" altLang="en-US" sz="2000" b="1">
                      <a:solidFill>
                        <a:schemeClr val="accent2">
                          <a:lumMod val="50000"/>
                        </a:schemeClr>
                      </a:solidFill>
                    </a:rPr>
                    <a:t>重根</a:t>
                  </a:r>
                  <a:endParaRPr lang="zh-CN" altLang="en-US" sz="2000" b="1">
                    <a:solidFill>
                      <a:schemeClr val="accent2">
                        <a:lumMod val="50000"/>
                      </a:schemeClr>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1736703" y="2069875"/>
                  <a:ext cx="5963527" cy="407099"/>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1736703" y="3037971"/>
                  <a:ext cx="3161121" cy="861774"/>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000" b="1">
                      <a:solidFill>
                        <a:schemeClr val="accent2">
                          <a:lumMod val="50000"/>
                        </a:schemeClr>
                      </a:solidFill>
                    </a:rPr>
                    <a:t>解</a:t>
                  </a:r>
                  <a14:m>
                    <m:oMath xmlns:m="http://schemas.openxmlformats.org/officeDocument/2006/math">
                      <m:r>
                        <m:rPr>
                          <m:lit/>
                        </m:rP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𝒏</m:t>
                          </m:r>
                        </m:sub>
                      </m:sSub>
                      <m:r>
                        <m:rPr>
                          <m:lit/>
                        </m:rPr>
                        <a:rPr lang="en-US" altLang="zh-CN" sz="2000" b="1" i="1" smtClean="0">
                          <a:solidFill>
                            <a:schemeClr val="accent2">
                              <a:lumMod val="50000"/>
                            </a:schemeClr>
                          </a:solidFill>
                          <a:latin typeface="Cambria Math" panose="02040503050406030204" pitchFamily="18" charset="0"/>
                        </a:rPr>
                        <m:t>}</m:t>
                      </m:r>
                    </m:oMath>
                  </a14:m>
                  <a:r>
                    <a:rPr lang="zh-CN" altLang="en-US" sz="2000" b="1">
                      <a:solidFill>
                        <a:schemeClr val="accent2">
                          <a:lumMod val="50000"/>
                        </a:schemeClr>
                      </a:solidFill>
                    </a:rPr>
                    <a:t>具有形式：</a:t>
                  </a:r>
                  <a:endParaRPr lang="en-US" altLang="zh-CN" sz="2000" b="1">
                    <a:solidFill>
                      <a:schemeClr val="accent2">
                        <a:lumMod val="50000"/>
                      </a:schemeClr>
                    </a:solidFill>
                  </a:endParaRPr>
                </a:p>
                <a:p>
                  <a:pPr algn="ctr">
                    <a:spcBef>
                      <a:spcPts val="600"/>
                    </a:spcBef>
                    <a:spcAft>
                      <a:spcPts val="600"/>
                    </a:spcAft>
                  </a:pPr>
                  <a14:m>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𝒏</m:t>
                          </m:r>
                        </m:sub>
                      </m:sSub>
                      <m:r>
                        <a:rPr lang="en-US" altLang="zh-CN" sz="2000" b="1" i="1" smtClean="0">
                          <a:solidFill>
                            <a:srgbClr val="C00000"/>
                          </a:solidFill>
                          <a:latin typeface="Cambria Math" panose="02040503050406030204" pitchFamily="18" charset="0"/>
                        </a:rPr>
                        <m:t>= </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𝜷</m:t>
                          </m:r>
                        </m:e>
                        <m:sub>
                          <m:r>
                            <a:rPr lang="en-US" altLang="zh-CN" sz="2000" b="1" i="1" smtClean="0">
                              <a:solidFill>
                                <a:srgbClr val="C00000"/>
                              </a:solidFill>
                              <a:latin typeface="Cambria Math" panose="02040503050406030204" pitchFamily="18" charset="0"/>
                            </a:rPr>
                            <m:t>𝟏</m:t>
                          </m:r>
                        </m:sub>
                      </m:sSub>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𝟐</m:t>
                          </m:r>
                        </m:e>
                        <m:sup>
                          <m:r>
                            <a:rPr lang="en-US" altLang="zh-CN" sz="2000" b="1" i="1" smtClean="0">
                              <a:solidFill>
                                <a:srgbClr val="C00000"/>
                              </a:solidFill>
                              <a:latin typeface="Cambria Math" panose="02040503050406030204" pitchFamily="18" charset="0"/>
                            </a:rPr>
                            <m:t>𝒏</m:t>
                          </m:r>
                        </m:sup>
                      </m:sSup>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𝜷</m:t>
                          </m:r>
                        </m:e>
                        <m:sub>
                          <m:r>
                            <a:rPr lang="en-US" altLang="zh-CN" sz="2000" b="1" i="1" smtClean="0">
                              <a:solidFill>
                                <a:srgbClr val="C00000"/>
                              </a:solidFill>
                              <a:latin typeface="Cambria Math" panose="02040503050406030204" pitchFamily="18" charset="0"/>
                            </a:rPr>
                            <m:t>𝟐</m:t>
                          </m:r>
                        </m:sub>
                      </m:sSub>
                      <m:r>
                        <a:rPr lang="en-US" altLang="zh-CN" sz="2000" b="1" i="1" smtClean="0">
                          <a:solidFill>
                            <a:srgbClr val="C00000"/>
                          </a:solidFill>
                          <a:latin typeface="Cambria Math" panose="02040503050406030204" pitchFamily="18" charset="0"/>
                        </a:rPr>
                        <m:t>𝒏</m:t>
                      </m:r>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𝟐</m:t>
                          </m:r>
                        </m:e>
                        <m:sup>
                          <m:r>
                            <a:rPr lang="en-US" altLang="zh-CN" sz="2000" b="1" i="1" smtClean="0">
                              <a:solidFill>
                                <a:srgbClr val="C00000"/>
                              </a:solidFill>
                              <a:latin typeface="Cambria Math" panose="02040503050406030204" pitchFamily="18" charset="0"/>
                            </a:rPr>
                            <m:t>𝒏</m:t>
                          </m:r>
                        </m:sup>
                      </m:sSup>
                    </m:oMath>
                  </a14:m>
                  <a:r>
                    <a:rPr lang="zh-CN" altLang="en-US" sz="2000" b="1">
                      <a:solidFill>
                        <a:schemeClr val="accent2">
                          <a:lumMod val="50000"/>
                        </a:schemeClr>
                      </a:solidFill>
                    </a:rPr>
                    <a:t> </a:t>
                  </a:r>
                  <a:endParaRPr lang="zh-CN" altLang="en-US" b="1">
                    <a:solidFill>
                      <a:schemeClr val="accent2">
                        <a:lumMod val="50000"/>
                      </a:schemeClr>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1736703" y="3037971"/>
                  <a:ext cx="3161121" cy="861774"/>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7924087" y="3090549"/>
                  <a:ext cx="3235486" cy="710194"/>
                </a:xfrm>
                <a:prstGeom prst="rect">
                  <a:avLst/>
                </a:prstGeom>
                <a:solidFill>
                  <a:schemeClr val="accent5">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eqArr>
                              <m:eqArrPr>
                                <m:ctrlPr>
                                  <a:rPr lang="en-US" altLang="zh-CN" b="1" i="1" smtClean="0">
                                    <a:solidFill>
                                      <a:schemeClr val="accent2">
                                        <a:lumMod val="50000"/>
                                      </a:schemeClr>
                                    </a:solidFill>
                                    <a:latin typeface="Cambria Math" panose="02040503050406030204" pitchFamily="18" charset="0"/>
                                  </a:rPr>
                                </m:ctrlPr>
                              </m:eqArrPr>
                              <m:e>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𝟔</m:t>
                                </m:r>
                              </m:e>
                              <m:e>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𝟐</m:t>
                                    </m:r>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𝟐</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𝟐</m:t>
                                    </m:r>
                                  </m:sub>
                                </m:sSub>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𝟖</m:t>
                                </m:r>
                              </m:e>
                            </m:eqArr>
                          </m:e>
                        </m:d>
                      </m:oMath>
                    </m:oMathPara>
                  </a14:m>
                  <a:endParaRPr lang="zh-CN" altLang="en-US" b="1">
                    <a:solidFill>
                      <a:schemeClr val="accent2">
                        <a:lumMod val="50000"/>
                      </a:schemeClr>
                    </a:solidFill>
                  </a:endParaRPr>
                </a:p>
              </p:txBody>
            </p:sp>
          </mc:Choice>
          <mc:Fallback>
            <p:sp>
              <p:nvSpPr>
                <p:cNvPr id="19" name="文本框 18"/>
                <p:cNvSpPr txBox="1">
                  <a:spLocks noRot="1" noChangeAspect="1" noMove="1" noResize="1" noEditPoints="1" noAdjustHandles="1" noChangeArrowheads="1" noChangeShapeType="1" noTextEdit="1"/>
                </p:cNvSpPr>
                <p:nvPr/>
              </p:nvSpPr>
              <p:spPr>
                <a:xfrm>
                  <a:off x="7924087" y="3090549"/>
                  <a:ext cx="3235486" cy="710194"/>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8699957" y="4628230"/>
                  <a:ext cx="1638026" cy="646331"/>
                </a:xfrm>
                <a:prstGeom prst="rect">
                  <a:avLst/>
                </a:prstGeom>
                <a:solidFill>
                  <a:schemeClr val="accent5">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𝟔</m:t>
                        </m:r>
                      </m:oMath>
                    </m:oMathPara>
                  </a14:m>
                  <a:endParaRPr lang="en-US" altLang="zh-CN" b="1">
                    <a:solidFill>
                      <a:srgbClr val="C00000"/>
                    </a:solidFill>
                  </a:endParaRPr>
                </a:p>
                <a:p>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𝟐</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𝟐</m:t>
                        </m:r>
                      </m:oMath>
                    </m:oMathPara>
                  </a14:m>
                  <a:endParaRPr lang="zh-CN" altLang="en-US" b="1">
                    <a:solidFill>
                      <a:srgbClr val="C00000"/>
                    </a:solidFill>
                  </a:endParaRPr>
                </a:p>
              </p:txBody>
            </p:sp>
          </mc:Choice>
          <mc:Fallback>
            <p:sp>
              <p:nvSpPr>
                <p:cNvPr id="20" name="文本框 19"/>
                <p:cNvSpPr txBox="1">
                  <a:spLocks noRot="1" noChangeAspect="1" noMove="1" noResize="1" noEditPoints="1" noAdjustHandles="1" noChangeArrowheads="1" noChangeShapeType="1" noTextEdit="1"/>
                </p:cNvSpPr>
                <p:nvPr/>
              </p:nvSpPr>
              <p:spPr>
                <a:xfrm>
                  <a:off x="8699957" y="4628230"/>
                  <a:ext cx="1638026" cy="646331"/>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1736703" y="4763620"/>
                  <a:ext cx="3161121" cy="407099"/>
                </a:xfrm>
                <a:prstGeom prst="rect">
                  <a:avLst/>
                </a:prstGeom>
                <a:solidFill>
                  <a:schemeClr val="accent2">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𝒏</m:t>
                            </m:r>
                          </m:sub>
                        </m:sSub>
                        <m:r>
                          <a:rPr lang="en-US" altLang="zh-CN" sz="2000" b="1" i="1" smtClean="0">
                            <a:solidFill>
                              <a:srgbClr val="C00000"/>
                            </a:solidFill>
                            <a:latin typeface="Cambria Math" panose="02040503050406030204" pitchFamily="18" charset="0"/>
                          </a:rPr>
                          <m:t>=</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𝟑</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𝒏</m:t>
                            </m:r>
                          </m:e>
                        </m:d>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𝟐</m:t>
                            </m:r>
                          </m:e>
                          <m:sup>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sup>
                        </m:sSup>
                      </m:oMath>
                    </m:oMathPara>
                  </a14:m>
                  <a:endParaRPr lang="zh-CN" altLang="en-US" b="1">
                    <a:solidFill>
                      <a:schemeClr val="accent2">
                        <a:lumMod val="50000"/>
                      </a:schemeClr>
                    </a:solidFill>
                  </a:endParaRPr>
                </a:p>
              </p:txBody>
            </p:sp>
          </mc:Choice>
          <mc:Fallback>
            <p:sp>
              <p:nvSpPr>
                <p:cNvPr id="21" name="文本框 20"/>
                <p:cNvSpPr txBox="1">
                  <a:spLocks noRot="1" noChangeAspect="1" noMove="1" noResize="1" noEditPoints="1" noAdjustHandles="1" noChangeArrowheads="1" noChangeShapeType="1" noTextEdit="1"/>
                </p:cNvSpPr>
                <p:nvPr/>
              </p:nvSpPr>
              <p:spPr>
                <a:xfrm>
                  <a:off x="1736703" y="4763620"/>
                  <a:ext cx="3161121" cy="407099"/>
                </a:xfrm>
                <a:prstGeom prst="rect">
                  <a:avLst/>
                </a:prstGeom>
                <a:blipFill rotWithShape="1">
                  <a:blip r:embed="rId6"/>
                </a:blipFill>
              </p:spPr>
              <p:txBody>
                <a:bodyPr/>
                <a:lstStyle/>
                <a:p>
                  <a:r>
                    <a:rPr lang="zh-CN" altLang="en-US">
                      <a:noFill/>
                    </a:rPr>
                    <a:t> </a:t>
                  </a:r>
                </a:p>
              </p:txBody>
            </p:sp>
          </mc:Fallback>
        </mc:AlternateContent>
        <p:sp>
          <p:nvSpPr>
            <p:cNvPr id="22" name="箭头: 下 21"/>
            <p:cNvSpPr/>
            <p:nvPr/>
          </p:nvSpPr>
          <p:spPr>
            <a:xfrm>
              <a:off x="3277792" y="2499993"/>
              <a:ext cx="78941" cy="53797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右 23"/>
            <p:cNvSpPr/>
            <p:nvPr/>
          </p:nvSpPr>
          <p:spPr>
            <a:xfrm>
              <a:off x="4897824" y="3507702"/>
              <a:ext cx="2989890" cy="7095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下 24"/>
            <p:cNvSpPr/>
            <p:nvPr/>
          </p:nvSpPr>
          <p:spPr>
            <a:xfrm>
              <a:off x="9496110" y="3800744"/>
              <a:ext cx="78941" cy="81851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左 25"/>
            <p:cNvSpPr/>
            <p:nvPr/>
          </p:nvSpPr>
          <p:spPr>
            <a:xfrm>
              <a:off x="4897824" y="4956352"/>
              <a:ext cx="3802133" cy="7720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下 26"/>
            <p:cNvSpPr/>
            <p:nvPr/>
          </p:nvSpPr>
          <p:spPr>
            <a:xfrm>
              <a:off x="3280888" y="3874602"/>
              <a:ext cx="75845" cy="88901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8" name="文本框 27"/>
                <p:cNvSpPr txBox="1"/>
                <p:nvPr/>
              </p:nvSpPr>
              <p:spPr>
                <a:xfrm>
                  <a:off x="5710067" y="2953704"/>
                  <a:ext cx="1373791" cy="1107996"/>
                </a:xfrm>
                <a:prstGeom prst="rect">
                  <a:avLst/>
                </a:prstGeom>
                <a:solidFill>
                  <a:schemeClr val="accent4">
                    <a:lumMod val="20000"/>
                    <a:lumOff val="80000"/>
                  </a:schemeClr>
                </a:solidFill>
              </p:spPr>
              <p:txBody>
                <a:bodyPr wrap="square" lIns="0" tIns="0" rIns="0" bIns="0" rtlCol="0">
                  <a:spAutoFit/>
                </a:bodyPr>
                <a:lstStyle/>
                <a:p>
                  <a:pPr algn="ctr"/>
                  <a:r>
                    <a:rPr lang="zh-CN" altLang="en-US" b="1">
                      <a:solidFill>
                        <a:schemeClr val="accent2">
                          <a:lumMod val="50000"/>
                        </a:schemeClr>
                      </a:solidFill>
                    </a:rPr>
                    <a:t>根据初值</a:t>
                  </a:r>
                  <a:endParaRPr lang="en-US" altLang="zh-CN" b="1">
                    <a:solidFill>
                      <a:schemeClr val="accent2">
                        <a:lumMod val="50000"/>
                      </a:schemeClr>
                    </a:solidFill>
                  </a:endParaRPr>
                </a:p>
                <a:p>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𝟎</m:t>
                            </m:r>
                          </m:sub>
                        </m:sSub>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𝟔</m:t>
                        </m:r>
                      </m:oMath>
                    </m:oMathPara>
                  </a14:m>
                  <a:endParaRPr lang="en-US" altLang="zh-CN" b="1" i="1">
                    <a:solidFill>
                      <a:schemeClr val="accent2">
                        <a:lumMod val="50000"/>
                      </a:schemeClr>
                    </a:solidFill>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𝟖</m:t>
                        </m:r>
                      </m:oMath>
                    </m:oMathPara>
                  </a14:m>
                  <a:endParaRPr lang="en-US" altLang="zh-CN" b="1">
                    <a:solidFill>
                      <a:schemeClr val="accent2">
                        <a:lumMod val="50000"/>
                      </a:schemeClr>
                    </a:solidFill>
                  </a:endParaRPr>
                </a:p>
                <a:p>
                  <a:r>
                    <a:rPr lang="zh-CN" altLang="en-US" b="1">
                      <a:solidFill>
                        <a:schemeClr val="accent2">
                          <a:lumMod val="50000"/>
                        </a:schemeClr>
                      </a:solidFill>
                    </a:rPr>
                    <a:t>列线性方程组</a:t>
                  </a:r>
                  <a:endParaRPr lang="zh-CN" altLang="en-US" b="1">
                    <a:solidFill>
                      <a:schemeClr val="accent2">
                        <a:lumMod val="50000"/>
                      </a:schemeClr>
                    </a:solidFill>
                  </a:endParaRPr>
                </a:p>
              </p:txBody>
            </p:sp>
          </mc:Choice>
          <mc:Fallback>
            <p:sp>
              <p:nvSpPr>
                <p:cNvPr id="28" name="文本框 27"/>
                <p:cNvSpPr txBox="1">
                  <a:spLocks noRot="1" noChangeAspect="1" noMove="1" noResize="1" noEditPoints="1" noAdjustHandles="1" noChangeArrowheads="1" noChangeShapeType="1" noTextEdit="1"/>
                </p:cNvSpPr>
                <p:nvPr/>
              </p:nvSpPr>
              <p:spPr>
                <a:xfrm>
                  <a:off x="5710067" y="2953704"/>
                  <a:ext cx="1373791" cy="1107996"/>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文本框 28"/>
                <p:cNvSpPr txBox="1"/>
                <p:nvPr/>
              </p:nvSpPr>
              <p:spPr>
                <a:xfrm>
                  <a:off x="7924087" y="4072958"/>
                  <a:ext cx="3235486" cy="276999"/>
                </a:xfrm>
                <a:prstGeom prst="rect">
                  <a:avLst/>
                </a:prstGeom>
                <a:solidFill>
                  <a:schemeClr val="accent4">
                    <a:lumMod val="20000"/>
                    <a:lumOff val="80000"/>
                  </a:schemeClr>
                </a:solidFill>
              </p:spPr>
              <p:txBody>
                <a:bodyPr wrap="square" lIns="0" tIns="0" rIns="0" bIns="0" rtlCol="0">
                  <a:spAutoFit/>
                </a:bodyPr>
                <a:lstStyle/>
                <a:p>
                  <a:r>
                    <a:rPr lang="zh-CN" altLang="en-US" b="1">
                      <a:solidFill>
                        <a:schemeClr val="accent2">
                          <a:lumMod val="50000"/>
                        </a:schemeClr>
                      </a:solidFill>
                    </a:rPr>
                    <a:t>求解线性方程组得到</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𝟐</m:t>
                          </m:r>
                        </m:sub>
                      </m:sSub>
                    </m:oMath>
                  </a14:m>
                  <a:r>
                    <a:rPr lang="zh-CN" altLang="en-US" b="1">
                      <a:solidFill>
                        <a:schemeClr val="accent2">
                          <a:lumMod val="50000"/>
                        </a:schemeClr>
                      </a:solidFill>
                    </a:rPr>
                    <a:t>的值</a:t>
                  </a:r>
                  <a:endParaRPr lang="zh-CN" altLang="en-US" b="1">
                    <a:solidFill>
                      <a:schemeClr val="accent2">
                        <a:lumMod val="50000"/>
                      </a:schemeClr>
                    </a:solidFill>
                  </a:endParaRPr>
                </a:p>
              </p:txBody>
            </p:sp>
          </mc:Choice>
          <mc:Fallback>
            <p:sp>
              <p:nvSpPr>
                <p:cNvPr id="29" name="文本框 28"/>
                <p:cNvSpPr txBox="1">
                  <a:spLocks noRot="1" noChangeAspect="1" noMove="1" noResize="1" noEditPoints="1" noAdjustHandles="1" noChangeArrowheads="1" noChangeShapeType="1" noTextEdit="1"/>
                </p:cNvSpPr>
                <p:nvPr/>
              </p:nvSpPr>
              <p:spPr>
                <a:xfrm>
                  <a:off x="7924087" y="4072958"/>
                  <a:ext cx="3235486" cy="276999"/>
                </a:xfrm>
                <a:prstGeom prst="rect">
                  <a:avLst/>
                </a:prstGeom>
                <a:blipFill rotWithShape="1">
                  <a:blip r:embed="rId8"/>
                </a:blipFill>
              </p:spPr>
              <p:txBody>
                <a:bodyPr/>
                <a:lstStyle/>
                <a:p>
                  <a:r>
                    <a:rPr lang="zh-CN" altLang="en-US">
                      <a:noFill/>
                    </a:rPr>
                    <a:t> </a:t>
                  </a:r>
                </a:p>
              </p:txBody>
            </p:sp>
          </mc:Fallback>
        </mc:AlternateContent>
      </p:grpSp>
      <p:cxnSp>
        <p:nvCxnSpPr>
          <p:cNvPr id="11" name="直接连接符 10"/>
          <p:cNvCxnSpPr/>
          <p:nvPr/>
        </p:nvCxnSpPr>
        <p:spPr>
          <a:xfrm>
            <a:off x="2328760" y="3913987"/>
            <a:ext cx="1855113"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2540366" y="5164983"/>
            <a:ext cx="1855113"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线性递推关系式求解</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线性非齐次递推关系式的求解</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2760191" y="1073957"/>
                <a:ext cx="6671614" cy="984885"/>
              </a:xfrm>
              <a:prstGeom prst="rect">
                <a:avLst/>
              </a:prstGeom>
              <a:solidFill>
                <a:schemeClr val="accent2">
                  <a:lumMod val="20000"/>
                  <a:lumOff val="80000"/>
                </a:schemeClr>
              </a:solidFill>
            </p:spPr>
            <p:txBody>
              <a:bodyPr wrap="square" rtlCol="0">
                <a:spAutoFit/>
              </a:bodyPr>
              <a:lstStyle/>
              <a:p>
                <a:pPr algn="ct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常系数</a:t>
                </a:r>
                <a14:m>
                  <m:oMath xmlns:m="http://schemas.openxmlformats.org/officeDocument/2006/math">
                    <m:r>
                      <a:rPr lang="en-US" altLang="zh-CN" sz="2400" b="1" i="1" smtClean="0">
                        <a:solidFill>
                          <a:srgbClr val="002060"/>
                        </a:solidFill>
                        <a:latin typeface="Cambria Math" panose="02040503050406030204" pitchFamily="18" charset="0"/>
                      </a:rPr>
                      <m:t>𝒌</m:t>
                    </m:r>
                  </m:oMath>
                </a14:m>
                <a:r>
                  <a:rPr lang="zh-CN" altLang="en-US" sz="2400" b="1">
                    <a:solidFill>
                      <a:srgbClr val="002060"/>
                    </a:solidFill>
                    <a:latin typeface="楷体" panose="02010609060101010101" pitchFamily="49" charset="-122"/>
                    <a:ea typeface="楷体" panose="02010609060101010101" pitchFamily="49" charset="-122"/>
                  </a:rPr>
                  <a:t>阶线性非齐次递推关系式</a:t>
                </a:r>
                <a:endParaRPr lang="en-US" altLang="zh-CN" sz="2400" b="1">
                  <a:solidFill>
                    <a:srgbClr val="002060"/>
                  </a:solidFill>
                  <a:latin typeface="楷体" panose="02010609060101010101" pitchFamily="49" charset="-122"/>
                  <a:ea typeface="楷体" panose="02010609060101010101" pitchFamily="49"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𝒏</m:t>
                          </m:r>
                        </m:sub>
                      </m:sSub>
                      <m:r>
                        <a:rPr lang="en-US" altLang="zh-CN" sz="2400" b="1" i="1" smtClean="0">
                          <a:solidFill>
                            <a:schemeClr val="accent2">
                              <a:lumMod val="50000"/>
                            </a:schemeClr>
                          </a:solidFill>
                          <a:latin typeface="Cambria Math" panose="02040503050406030204" pitchFamily="18" charset="0"/>
                        </a:rPr>
                        <m:t>= </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𝒄</m:t>
                          </m:r>
                        </m:e>
                        <m:sub>
                          <m:r>
                            <a:rPr lang="en-US" altLang="zh-CN" sz="2400" b="1" i="1" smtClean="0">
                              <a:solidFill>
                                <a:schemeClr val="accent2">
                                  <a:lumMod val="50000"/>
                                </a:schemeClr>
                              </a:solidFill>
                              <a:latin typeface="Cambria Math" panose="02040503050406030204" pitchFamily="18" charset="0"/>
                            </a:rPr>
                            <m:t>𝟏</m:t>
                          </m:r>
                        </m:sub>
                      </m:sSub>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𝒏</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𝟏</m:t>
                          </m:r>
                        </m:sub>
                      </m:sSub>
                      <m:r>
                        <a:rPr lang="en-US" altLang="zh-CN" sz="2400" b="1" i="1" smtClean="0">
                          <a:solidFill>
                            <a:schemeClr val="accent2">
                              <a:lumMod val="50000"/>
                            </a:schemeClr>
                          </a:solidFill>
                          <a:latin typeface="Cambria Math" panose="02040503050406030204" pitchFamily="18" charset="0"/>
                        </a:rPr>
                        <m:t>+ </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𝒄</m:t>
                          </m:r>
                        </m:e>
                        <m:sub>
                          <m:r>
                            <a:rPr lang="en-US" altLang="zh-CN" sz="2400" b="1" i="1" smtClean="0">
                              <a:solidFill>
                                <a:schemeClr val="accent2">
                                  <a:lumMod val="50000"/>
                                </a:schemeClr>
                              </a:solidFill>
                              <a:latin typeface="Cambria Math" panose="02040503050406030204" pitchFamily="18" charset="0"/>
                            </a:rPr>
                            <m:t>𝟐</m:t>
                          </m:r>
                        </m:sub>
                      </m:sSub>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𝒏</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𝟐</m:t>
                          </m:r>
                        </m:sub>
                      </m:sSub>
                      <m:r>
                        <a:rPr lang="en-US" altLang="zh-CN" sz="2400" b="1" i="1" smtClean="0">
                          <a:solidFill>
                            <a:schemeClr val="accent2">
                              <a:lumMod val="50000"/>
                            </a:schemeClr>
                          </a:solidFill>
                          <a:latin typeface="Cambria Math" panose="02040503050406030204" pitchFamily="18" charset="0"/>
                        </a:rPr>
                        <m:t>+ ⋯+ </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𝒄</m:t>
                          </m:r>
                        </m:e>
                        <m:sub>
                          <m:r>
                            <a:rPr lang="en-US" altLang="zh-CN" sz="2400" b="1" i="1" smtClean="0">
                              <a:solidFill>
                                <a:schemeClr val="accent2">
                                  <a:lumMod val="50000"/>
                                </a:schemeClr>
                              </a:solidFill>
                              <a:latin typeface="Cambria Math" panose="02040503050406030204" pitchFamily="18" charset="0"/>
                            </a:rPr>
                            <m:t>𝒌</m:t>
                          </m:r>
                        </m:sub>
                      </m:sSub>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𝒏</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𝒌</m:t>
                          </m:r>
                        </m:sub>
                      </m:sSub>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𝑭</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𝒏</m:t>
                      </m:r>
                      <m:r>
                        <a:rPr lang="en-US" altLang="zh-CN" sz="2400" b="1" i="1" smtClean="0">
                          <a:solidFill>
                            <a:schemeClr val="accent2">
                              <a:lumMod val="50000"/>
                            </a:schemeClr>
                          </a:solidFill>
                          <a:latin typeface="Cambria Math" panose="02040503050406030204" pitchFamily="18" charset="0"/>
                        </a:rPr>
                        <m:t>)</m:t>
                      </m:r>
                    </m:oMath>
                  </m:oMathPara>
                </a14:m>
                <a:endParaRPr lang="en-US" altLang="zh-CN" sz="2400" b="1"/>
              </a:p>
            </p:txBody>
          </p:sp>
        </mc:Choice>
        <mc:Fallback>
          <p:sp>
            <p:nvSpPr>
              <p:cNvPr id="2" name="文本框 1"/>
              <p:cNvSpPr txBox="1">
                <a:spLocks noRot="1" noChangeAspect="1" noMove="1" noResize="1" noEditPoints="1" noAdjustHandles="1" noChangeArrowheads="1" noChangeShapeType="1" noTextEdit="1"/>
              </p:cNvSpPr>
              <p:nvPr/>
            </p:nvSpPr>
            <p:spPr>
              <a:xfrm>
                <a:off x="2760191" y="1073957"/>
                <a:ext cx="6671614" cy="984885"/>
              </a:xfrm>
              <a:prstGeom prst="rect">
                <a:avLst/>
              </a:prstGeom>
              <a:blipFill rotWithShape="1">
                <a:blip r:embed="rId1"/>
                <a:stretch>
                  <a:fillRect l="-7" t="-17" r="2" b="1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1379273" y="2189166"/>
                <a:ext cx="9433451" cy="846386"/>
              </a:xfrm>
              <a:prstGeom prst="rect">
                <a:avLst/>
              </a:prstGeom>
              <a:solidFill>
                <a:schemeClr val="accent4">
                  <a:lumMod val="20000"/>
                  <a:lumOff val="80000"/>
                </a:schemeClr>
              </a:solidFill>
            </p:spPr>
            <p:txBody>
              <a:bodyPr wrap="square" rtlCol="0">
                <a:spAutoFit/>
              </a:bodyPr>
              <a:lstStyle/>
              <a:p>
                <a:pPr algn="ctr">
                  <a:spcBef>
                    <a:spcPts val="600"/>
                  </a:spcBef>
                </a:pPr>
                <a:r>
                  <a:rPr lang="zh-CN" altLang="en-US" sz="2400" b="1">
                    <a:solidFill>
                      <a:schemeClr val="accent2">
                        <a:lumMod val="50000"/>
                      </a:schemeClr>
                    </a:solidFill>
                  </a:rPr>
                  <a:t>伴随齐次递推关系式</a:t>
                </a:r>
                <a:r>
                  <a:rPr lang="en-US" altLang="zh-CN" sz="2400" b="1">
                    <a:solidFill>
                      <a:schemeClr val="accent2">
                        <a:lumMod val="50000"/>
                      </a:schemeClr>
                    </a:solidFill>
                  </a:rPr>
                  <a:t>(associated homogeneous recurrence relation)</a:t>
                </a:r>
                <a:endParaRPr lang="en-US" altLang="zh-CN" sz="2400" b="1" i="1">
                  <a:solidFill>
                    <a:schemeClr val="accent2">
                      <a:lumMod val="50000"/>
                    </a:schemeClr>
                  </a:solidFill>
                  <a:latin typeface="Cambria Math" panose="02040503050406030204" pitchFamily="18" charset="0"/>
                </a:endParaRPr>
              </a:p>
              <a:p>
                <a:pPr>
                  <a:spcBef>
                    <a:spcPts val="600"/>
                  </a:spcBef>
                </a:pPr>
                <a14:m>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a:solidFill>
                              <a:srgbClr val="002060"/>
                            </a:solidFill>
                            <a:latin typeface="Cambria Math" panose="02040503050406030204" pitchFamily="18" charset="0"/>
                          </a:rPr>
                          <m:t>𝒏</m:t>
                        </m:r>
                      </m:sub>
                    </m:sSub>
                    <m:r>
                      <a:rPr lang="en-US" altLang="zh-CN" sz="2000" b="1" i="1">
                        <a:solidFill>
                          <a:srgbClr val="002060"/>
                        </a:solidFill>
                        <a:latin typeface="Cambria Math" panose="02040503050406030204" pitchFamily="18" charset="0"/>
                      </a:rPr>
                      <m:t>=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𝒄</m:t>
                        </m:r>
                      </m:e>
                      <m:sub>
                        <m:r>
                          <a:rPr lang="en-US" altLang="zh-CN" sz="2000" b="1" i="1">
                            <a:solidFill>
                              <a:srgbClr val="002060"/>
                            </a:solidFill>
                            <a:latin typeface="Cambria Math" panose="02040503050406030204" pitchFamily="18" charset="0"/>
                          </a:rPr>
                          <m:t>𝟏</m:t>
                        </m:r>
                      </m:sub>
                    </m:sSub>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𝒂</m:t>
                        </m:r>
                      </m:e>
                      <m:sub>
                        <m:r>
                          <a:rPr lang="en-US" altLang="zh-CN" sz="2000" b="1" i="1">
                            <a:solidFill>
                              <a:srgbClr val="002060"/>
                            </a:solidFill>
                            <a:latin typeface="Cambria Math" panose="02040503050406030204" pitchFamily="18" charset="0"/>
                          </a:rPr>
                          <m:t>𝒏</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𝟏</m:t>
                        </m:r>
                      </m:sub>
                    </m:sSub>
                    <m:r>
                      <a:rPr lang="en-US" altLang="zh-CN" sz="2000" b="1" i="1">
                        <a:solidFill>
                          <a:srgbClr val="002060"/>
                        </a:solidFill>
                        <a:latin typeface="Cambria Math" panose="02040503050406030204" pitchFamily="18" charset="0"/>
                      </a:rPr>
                      <m:t>+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𝒄</m:t>
                        </m:r>
                      </m:e>
                      <m:sub>
                        <m:r>
                          <a:rPr lang="en-US" altLang="zh-CN" sz="2000" b="1" i="1">
                            <a:solidFill>
                              <a:srgbClr val="002060"/>
                            </a:solidFill>
                            <a:latin typeface="Cambria Math" panose="02040503050406030204" pitchFamily="18" charset="0"/>
                          </a:rPr>
                          <m:t>𝟐</m:t>
                        </m:r>
                      </m:sub>
                    </m:sSub>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𝒂</m:t>
                        </m:r>
                      </m:e>
                      <m:sub>
                        <m:r>
                          <a:rPr lang="en-US" altLang="zh-CN" sz="2000" b="1" i="1">
                            <a:solidFill>
                              <a:srgbClr val="002060"/>
                            </a:solidFill>
                            <a:latin typeface="Cambria Math" panose="02040503050406030204" pitchFamily="18" charset="0"/>
                          </a:rPr>
                          <m:t>𝒏</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𝟐</m:t>
                        </m:r>
                      </m:sub>
                    </m:sSub>
                    <m:r>
                      <a:rPr lang="en-US" altLang="zh-CN" sz="2000" b="1" i="1">
                        <a:solidFill>
                          <a:srgbClr val="002060"/>
                        </a:solidFill>
                        <a:latin typeface="Cambria Math" panose="02040503050406030204" pitchFamily="18" charset="0"/>
                      </a:rPr>
                      <m:t>+ ⋯+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𝒄</m:t>
                        </m:r>
                      </m:e>
                      <m:sub>
                        <m:r>
                          <a:rPr lang="en-US" altLang="zh-CN" sz="2000" b="1" i="1">
                            <a:solidFill>
                              <a:srgbClr val="002060"/>
                            </a:solidFill>
                            <a:latin typeface="Cambria Math" panose="02040503050406030204" pitchFamily="18" charset="0"/>
                          </a:rPr>
                          <m:t>𝒌</m:t>
                        </m:r>
                      </m:sub>
                    </m:sSub>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𝒂</m:t>
                        </m:r>
                      </m:e>
                      <m:sub>
                        <m:r>
                          <a:rPr lang="en-US" altLang="zh-CN" sz="2000" b="1" i="1">
                            <a:solidFill>
                              <a:srgbClr val="002060"/>
                            </a:solidFill>
                            <a:latin typeface="Cambria Math" panose="02040503050406030204" pitchFamily="18" charset="0"/>
                          </a:rPr>
                          <m:t>𝒏</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𝒌</m:t>
                        </m:r>
                      </m:sub>
                    </m:sSub>
                  </m:oMath>
                </a14:m>
                <a:r>
                  <a:rPr lang="zh-CN" altLang="en-US" sz="2000" b="1">
                    <a:solidFill>
                      <a:srgbClr val="002060"/>
                    </a:solidFill>
                    <a:latin typeface="楷体" panose="02010609060101010101" pitchFamily="49" charset="-122"/>
                    <a:ea typeface="楷体" panose="02010609060101010101" pitchFamily="49" charset="-122"/>
                  </a:rPr>
                  <a:t>称为上述递推关系式的伴随齐次递推关系式</a:t>
                </a:r>
                <a:endParaRPr lang="en-US" altLang="zh-CN" sz="2000" b="1">
                  <a:latin typeface="楷体" panose="02010609060101010101" pitchFamily="49" charset="-122"/>
                  <a:ea typeface="楷体" panose="02010609060101010101" pitchFamily="49" charset="-122"/>
                </a:endParaRPr>
              </a:p>
            </p:txBody>
          </p:sp>
        </mc:Choice>
        <mc:Fallback>
          <p:sp>
            <p:nvSpPr>
              <p:cNvPr id="12" name="文本框 11"/>
              <p:cNvSpPr txBox="1">
                <a:spLocks noRot="1" noChangeAspect="1" noMove="1" noResize="1" noEditPoints="1" noAdjustHandles="1" noChangeArrowheads="1" noChangeShapeType="1" noTextEdit="1"/>
              </p:cNvSpPr>
              <p:nvPr/>
            </p:nvSpPr>
            <p:spPr>
              <a:xfrm>
                <a:off x="1379273" y="2189166"/>
                <a:ext cx="9433451" cy="846386"/>
              </a:xfrm>
              <a:prstGeom prst="rect">
                <a:avLst/>
              </a:prstGeom>
              <a:blipFill rotWithShape="1">
                <a:blip r:embed="rId2"/>
                <a:stretch>
                  <a:fillRect l="-1" t="-38" r="6" b="30"/>
                </a:stretch>
              </a:blipFill>
            </p:spPr>
            <p:txBody>
              <a:bodyPr/>
              <a:lstStyle/>
              <a:p>
                <a:r>
                  <a:rPr lang="zh-CN" altLang="en-US">
                    <a:noFill/>
                  </a:rPr>
                  <a:t> </a:t>
                </a:r>
              </a:p>
            </p:txBody>
          </p:sp>
        </mc:Fallback>
      </mc:AlternateContent>
      <p:grpSp>
        <p:nvGrpSpPr>
          <p:cNvPr id="36" name="组合 35"/>
          <p:cNvGrpSpPr/>
          <p:nvPr/>
        </p:nvGrpSpPr>
        <p:grpSpPr>
          <a:xfrm>
            <a:off x="1060221" y="3213381"/>
            <a:ext cx="10071557" cy="3049272"/>
            <a:chOff x="1072282" y="3094970"/>
            <a:chExt cx="10071557" cy="3049272"/>
          </a:xfrm>
        </p:grpSpPr>
        <p:sp>
          <p:nvSpPr>
            <p:cNvPr id="35" name="矩形 34"/>
            <p:cNvSpPr/>
            <p:nvPr/>
          </p:nvSpPr>
          <p:spPr>
            <a:xfrm>
              <a:off x="1072282" y="3094970"/>
              <a:ext cx="10071557" cy="3049272"/>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4" name="文本框 13"/>
                <p:cNvSpPr txBox="1"/>
                <p:nvPr/>
              </p:nvSpPr>
              <p:spPr>
                <a:xfrm>
                  <a:off x="1179945" y="3686833"/>
                  <a:ext cx="4890547" cy="1234762"/>
                </a:xfrm>
                <a:prstGeom prst="rect">
                  <a:avLst/>
                </a:prstGeom>
                <a:solidFill>
                  <a:schemeClr val="accent5">
                    <a:lumMod val="20000"/>
                    <a:lumOff val="80000"/>
                  </a:schemeClr>
                </a:solidFill>
              </p:spPr>
              <p:txBody>
                <a:bodyPr wrap="square" rtlCol="0">
                  <a:spAutoFit/>
                </a:bodyPr>
                <a:lstStyle/>
                <a:p>
                  <a:pPr algn="ctr">
                    <a:spcBef>
                      <a:spcPts val="600"/>
                    </a:spcBef>
                  </a:pPr>
                  <a:r>
                    <a:rPr lang="zh-CN" altLang="en-US" sz="2000" b="1">
                      <a:solidFill>
                        <a:srgbClr val="C00000"/>
                      </a:solidFill>
                    </a:rPr>
                    <a:t>特解</a:t>
                  </a:r>
                  <a:r>
                    <a:rPr lang="en-US" altLang="zh-CN" sz="2000" b="1">
                      <a:solidFill>
                        <a:srgbClr val="C00000"/>
                      </a:solidFill>
                    </a:rPr>
                    <a:t>(particular solution)</a:t>
                  </a:r>
                  <a:endParaRPr lang="en-US" altLang="zh-CN" sz="2000" b="1">
                    <a:solidFill>
                      <a:srgbClr val="C00000"/>
                    </a:solidFill>
                  </a:endParaRPr>
                </a:p>
                <a:p>
                  <a:pPr>
                    <a:spcBef>
                      <a:spcPts val="600"/>
                    </a:spcBef>
                  </a:pPr>
                  <a:r>
                    <a:rPr lang="zh-CN" altLang="en-US" sz="2000" b="1">
                      <a:solidFill>
                        <a:srgbClr val="002060"/>
                      </a:solidFill>
                      <a:latin typeface="楷体" panose="02010609060101010101" pitchFamily="49" charset="-122"/>
                      <a:ea typeface="楷体" panose="02010609060101010101" pitchFamily="49" charset="-122"/>
                    </a:rPr>
                    <a:t>不考虑初始条件的情况下确定它的一个解</a:t>
                  </a:r>
                  <a:endParaRPr lang="zh-CN" altLang="en-US" sz="2000" b="1">
                    <a:solidFill>
                      <a:srgbClr val="002060"/>
                    </a:solidFill>
                    <a:latin typeface="楷体" panose="02010609060101010101" pitchFamily="49" charset="-122"/>
                    <a:ea typeface="楷体" panose="02010609060101010101" pitchFamily="49" charset="-122"/>
                  </a:endParaRPr>
                </a:p>
                <a:p>
                  <a:pPr marL="342900" indent="-342900">
                    <a:spcBef>
                      <a:spcPts val="600"/>
                    </a:spcBef>
                    <a:buFont typeface="Arial" panose="020B0604020202020204" pitchFamily="34" charset="0"/>
                    <a:buChar char="•"/>
                  </a:pPr>
                  <a:r>
                    <a:rPr lang="zh-CN" altLang="en-US" sz="2000" b="1">
                      <a:solidFill>
                        <a:schemeClr val="accent6">
                          <a:lumMod val="50000"/>
                        </a:schemeClr>
                      </a:solidFill>
                    </a:rPr>
                    <a:t>这个解称为它的</a:t>
                  </a:r>
                  <a:r>
                    <a:rPr lang="zh-CN" altLang="en-US" sz="2000" b="1">
                      <a:solidFill>
                        <a:srgbClr val="C00000"/>
                      </a:solidFill>
                    </a:rPr>
                    <a:t>特解</a:t>
                  </a:r>
                  <a:r>
                    <a:rPr lang="zh-CN" altLang="en-US" sz="2000" b="1">
                      <a:solidFill>
                        <a:schemeClr val="accent6">
                          <a:lumMod val="50000"/>
                        </a:schemeClr>
                      </a:solidFill>
                    </a:rPr>
                    <a:t>，记为</a:t>
                  </a:r>
                  <a14:m>
                    <m:oMath xmlns:m="http://schemas.openxmlformats.org/officeDocument/2006/math">
                      <m:r>
                        <m:rPr>
                          <m:lit/>
                        </m:rPr>
                        <a:rPr lang="en-US" altLang="zh-CN" sz="2000" b="1" i="1" smtClean="0">
                          <a:solidFill>
                            <a:srgbClr val="C00000"/>
                          </a:solidFill>
                          <a:latin typeface="Cambria Math" panose="02040503050406030204" pitchFamily="18" charset="0"/>
                        </a:rPr>
                        <m:t>{</m:t>
                      </m:r>
                      <m:sSubSup>
                        <m:sSubSupPr>
                          <m:ctrlPr>
                            <a:rPr lang="en-US" altLang="zh-CN" sz="2000" b="1" i="1" smtClean="0">
                              <a:solidFill>
                                <a:srgbClr val="C00000"/>
                              </a:solidFill>
                              <a:latin typeface="Cambria Math" panose="02040503050406030204" pitchFamily="18" charset="0"/>
                            </a:rPr>
                          </m:ctrlPr>
                        </m:sSubSup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𝒏</m:t>
                          </m:r>
                        </m:sub>
                        <m:sup>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𝒑</m:t>
                              </m:r>
                            </m:e>
                          </m:d>
                        </m:sup>
                      </m:sSubSup>
                      <m:r>
                        <m:rPr>
                          <m:lit/>
                        </m:rPr>
                        <a:rPr lang="en-US" altLang="zh-CN" sz="2000" b="1" i="1" smtClean="0">
                          <a:solidFill>
                            <a:srgbClr val="C00000"/>
                          </a:solidFill>
                          <a:latin typeface="Cambria Math" panose="02040503050406030204" pitchFamily="18" charset="0"/>
                        </a:rPr>
                        <m:t>}</m:t>
                      </m:r>
                    </m:oMath>
                  </a14:m>
                  <a:endParaRPr lang="en-US" altLang="zh-CN" sz="2000" b="1">
                    <a:solidFill>
                      <a:schemeClr val="accent6">
                        <a:lumMod val="50000"/>
                      </a:schemeClr>
                    </a:solidFill>
                  </a:endParaRPr>
                </a:p>
              </p:txBody>
            </p:sp>
          </mc:Choice>
          <mc:Fallback>
            <p:sp>
              <p:nvSpPr>
                <p:cNvPr id="14" name="文本框 13"/>
                <p:cNvSpPr txBox="1">
                  <a:spLocks noRot="1" noChangeAspect="1" noMove="1" noResize="1" noEditPoints="1" noAdjustHandles="1" noChangeArrowheads="1" noChangeShapeType="1" noTextEdit="1"/>
                </p:cNvSpPr>
                <p:nvPr/>
              </p:nvSpPr>
              <p:spPr>
                <a:xfrm>
                  <a:off x="1179945" y="3686833"/>
                  <a:ext cx="4890547" cy="1234762"/>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矩形 28"/>
                <p:cNvSpPr/>
                <p:nvPr/>
              </p:nvSpPr>
              <p:spPr>
                <a:xfrm>
                  <a:off x="3464033" y="3112256"/>
                  <a:ext cx="5288051" cy="461665"/>
                </a:xfrm>
                <a:prstGeom prst="rect">
                  <a:avLst/>
                </a:prstGeom>
              </p:spPr>
              <p:txBody>
                <a:bodyPr wrap="none">
                  <a:spAutoFit/>
                </a:bodyPr>
                <a:lstStyle/>
                <a:p>
                  <a:r>
                    <a:rPr lang="zh-CN" altLang="en-US" sz="2400" b="1">
                      <a:solidFill>
                        <a:schemeClr val="accent2">
                          <a:lumMod val="50000"/>
                        </a:schemeClr>
                      </a:solidFill>
                    </a:rPr>
                    <a:t>求解常系数</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𝒌</m:t>
                      </m:r>
                    </m:oMath>
                  </a14:m>
                  <a:r>
                    <a:rPr lang="zh-CN" altLang="en-US" sz="2400" b="1">
                      <a:solidFill>
                        <a:schemeClr val="accent2">
                          <a:lumMod val="50000"/>
                        </a:schemeClr>
                      </a:solidFill>
                    </a:rPr>
                    <a:t>阶线性非齐次递推关系式</a:t>
                  </a:r>
                  <a:endParaRPr lang="zh-CN" altLang="en-US" sz="2400" b="1">
                    <a:solidFill>
                      <a:schemeClr val="accent2">
                        <a:lumMod val="50000"/>
                      </a:schemeClr>
                    </a:solidFill>
                  </a:endParaRPr>
                </a:p>
              </p:txBody>
            </p:sp>
          </mc:Choice>
          <mc:Fallback>
            <p:sp>
              <p:nvSpPr>
                <p:cNvPr id="29" name="矩形 28"/>
                <p:cNvSpPr>
                  <a:spLocks noRot="1" noChangeAspect="1" noMove="1" noResize="1" noEditPoints="1" noAdjustHandles="1" noChangeArrowheads="1" noChangeShapeType="1" noTextEdit="1"/>
                </p:cNvSpPr>
                <p:nvPr/>
              </p:nvSpPr>
              <p:spPr>
                <a:xfrm>
                  <a:off x="3464033" y="3112256"/>
                  <a:ext cx="5288051" cy="461665"/>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矩形 29"/>
                <p:cNvSpPr/>
                <p:nvPr/>
              </p:nvSpPr>
              <p:spPr>
                <a:xfrm>
                  <a:off x="1163262" y="5061728"/>
                  <a:ext cx="4923912" cy="462050"/>
                </a:xfrm>
                <a:prstGeom prst="rect">
                  <a:avLst/>
                </a:prstGeom>
                <a:solidFill>
                  <a:schemeClr val="accent5">
                    <a:lumMod val="20000"/>
                    <a:lumOff val="80000"/>
                  </a:schemeClr>
                </a:solidFill>
              </p:spPr>
              <p:txBody>
                <a:bodyPr wrap="none">
                  <a:spAutoFit/>
                </a:bodyPr>
                <a:lstStyle/>
                <a:p>
                  <a:r>
                    <a:rPr lang="zh-CN" altLang="en-US" sz="2000" b="1">
                      <a:solidFill>
                        <a:srgbClr val="C00000"/>
                      </a:solidFill>
                    </a:rPr>
                    <a:t>伴随齐次递推关系式</a:t>
                  </a:r>
                  <a:r>
                    <a:rPr lang="zh-CN" altLang="en-US" sz="2000" b="1">
                      <a:solidFill>
                        <a:schemeClr val="accent6">
                          <a:lumMod val="50000"/>
                        </a:schemeClr>
                      </a:solidFill>
                    </a:rPr>
                    <a:t>的一个解，记为</a:t>
                  </a:r>
                  <a14:m>
                    <m:oMath xmlns:m="http://schemas.openxmlformats.org/officeDocument/2006/math">
                      <m:r>
                        <m:rPr>
                          <m:lit/>
                        </m:rPr>
                        <a:rPr lang="en-US" altLang="zh-CN" sz="2000" b="1" i="1" smtClean="0">
                          <a:solidFill>
                            <a:srgbClr val="C00000"/>
                          </a:solidFill>
                          <a:latin typeface="Cambria Math" panose="02040503050406030204" pitchFamily="18" charset="0"/>
                        </a:rPr>
                        <m:t>{</m:t>
                      </m:r>
                      <m:sSubSup>
                        <m:sSubSupPr>
                          <m:ctrlPr>
                            <a:rPr lang="en-US" altLang="zh-CN" sz="2000" b="1" i="1" smtClean="0">
                              <a:solidFill>
                                <a:srgbClr val="C00000"/>
                              </a:solidFill>
                              <a:latin typeface="Cambria Math" panose="02040503050406030204" pitchFamily="18" charset="0"/>
                            </a:rPr>
                          </m:ctrlPr>
                        </m:sSubSup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𝒏</m:t>
                          </m:r>
                        </m:sub>
                        <m:sup>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𝒉</m:t>
                              </m:r>
                            </m:e>
                          </m:d>
                        </m:sup>
                      </m:sSubSup>
                      <m:r>
                        <m:rPr>
                          <m:lit/>
                        </m:rPr>
                        <a:rPr lang="en-US" altLang="zh-CN" sz="2000" b="1" i="1" smtClean="0">
                          <a:solidFill>
                            <a:srgbClr val="C00000"/>
                          </a:solidFill>
                          <a:latin typeface="Cambria Math" panose="02040503050406030204" pitchFamily="18" charset="0"/>
                        </a:rPr>
                        <m:t>}</m:t>
                      </m:r>
                    </m:oMath>
                  </a14:m>
                  <a:endParaRPr lang="en-US" altLang="zh-CN" sz="2000" b="1">
                    <a:solidFill>
                      <a:schemeClr val="accent6">
                        <a:lumMod val="50000"/>
                      </a:schemeClr>
                    </a:solidFill>
                  </a:endParaRPr>
                </a:p>
              </p:txBody>
            </p:sp>
          </mc:Choice>
          <mc:Fallback>
            <p:sp>
              <p:nvSpPr>
                <p:cNvPr id="30" name="矩形 29"/>
                <p:cNvSpPr>
                  <a:spLocks noRot="1" noChangeAspect="1" noMove="1" noResize="1" noEditPoints="1" noAdjustHandles="1" noChangeArrowheads="1" noChangeShapeType="1" noTextEdit="1"/>
                </p:cNvSpPr>
                <p:nvPr/>
              </p:nvSpPr>
              <p:spPr>
                <a:xfrm>
                  <a:off x="1163262" y="5061728"/>
                  <a:ext cx="4923912" cy="462050"/>
                </a:xfrm>
                <a:prstGeom prst="rect">
                  <a:avLst/>
                </a:prstGeom>
                <a:blipFill rotWithShape="1">
                  <a:blip r:embed="rId5"/>
                </a:blipFill>
              </p:spPr>
              <p:txBody>
                <a:bodyPr/>
                <a:lstStyle/>
                <a:p>
                  <a:r>
                    <a:rPr lang="zh-CN" altLang="en-US">
                      <a:noFill/>
                    </a:rPr>
                    <a:t> </a:t>
                  </a:r>
                </a:p>
              </p:txBody>
            </p:sp>
          </mc:Fallback>
        </mc:AlternateContent>
        <p:sp>
          <p:nvSpPr>
            <p:cNvPr id="31" name="矩形 30"/>
            <p:cNvSpPr/>
            <p:nvPr/>
          </p:nvSpPr>
          <p:spPr>
            <a:xfrm>
              <a:off x="4876586" y="5663911"/>
              <a:ext cx="1210588" cy="400110"/>
            </a:xfrm>
            <a:prstGeom prst="rect">
              <a:avLst/>
            </a:prstGeom>
            <a:solidFill>
              <a:schemeClr val="accent5">
                <a:lumMod val="20000"/>
                <a:lumOff val="80000"/>
              </a:schemeClr>
            </a:solidFill>
          </p:spPr>
          <p:txBody>
            <a:bodyPr wrap="none">
              <a:spAutoFit/>
            </a:bodyPr>
            <a:lstStyle/>
            <a:p>
              <a:r>
                <a:rPr lang="zh-CN" altLang="en-US" sz="2000" b="1">
                  <a:solidFill>
                    <a:schemeClr val="accent6">
                      <a:lumMod val="50000"/>
                    </a:schemeClr>
                  </a:solidFill>
                </a:rPr>
                <a:t>初始条件</a:t>
              </a:r>
              <a:endParaRPr lang="zh-CN" altLang="en-US" sz="2000" b="1">
                <a:solidFill>
                  <a:schemeClr val="accent6">
                    <a:lumMod val="50000"/>
                  </a:schemeClr>
                </a:solidFill>
              </a:endParaRPr>
            </a:p>
          </p:txBody>
        </p:sp>
        <mc:AlternateContent xmlns:mc="http://schemas.openxmlformats.org/markup-compatibility/2006">
          <mc:Choice xmlns:a14="http://schemas.microsoft.com/office/drawing/2010/main" Requires="a14">
            <p:sp>
              <p:nvSpPr>
                <p:cNvPr id="32" name="矩形 31"/>
                <p:cNvSpPr/>
                <p:nvPr/>
              </p:nvSpPr>
              <p:spPr>
                <a:xfrm>
                  <a:off x="7297762" y="4490776"/>
                  <a:ext cx="3748467" cy="773097"/>
                </a:xfrm>
                <a:prstGeom prst="rect">
                  <a:avLst/>
                </a:prstGeom>
                <a:solidFill>
                  <a:schemeClr val="accent2">
                    <a:lumMod val="20000"/>
                    <a:lumOff val="80000"/>
                  </a:schemeClr>
                </a:solidFill>
              </p:spPr>
              <p:txBody>
                <a:bodyPr wrap="square">
                  <a:spAutoFit/>
                </a:bodyPr>
                <a:lstStyle/>
                <a:p>
                  <a:r>
                    <a:rPr lang="zh-CN" altLang="en-US" sz="2000" b="1">
                      <a:solidFill>
                        <a:schemeClr val="accent2">
                          <a:lumMod val="50000"/>
                        </a:schemeClr>
                      </a:solidFill>
                    </a:rPr>
                    <a:t>非齐次递推关系式解序列</a:t>
                  </a:r>
                  <a14:m>
                    <m:oMath xmlns:m="http://schemas.openxmlformats.org/officeDocument/2006/math">
                      <m:r>
                        <m:rPr>
                          <m:lit/>
                        </m:rP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𝒏</m:t>
                          </m:r>
                        </m:sub>
                      </m:sSub>
                      <m:r>
                        <m:rPr>
                          <m:lit/>
                        </m:rPr>
                        <a:rPr lang="en-US" altLang="zh-CN" sz="2000" b="1" i="1" smtClean="0">
                          <a:solidFill>
                            <a:schemeClr val="accent2">
                              <a:lumMod val="50000"/>
                            </a:schemeClr>
                          </a:solidFill>
                          <a:latin typeface="Cambria Math" panose="02040503050406030204" pitchFamily="18" charset="0"/>
                        </a:rPr>
                        <m:t>}</m:t>
                      </m:r>
                    </m:oMath>
                  </a14:m>
                  <a:r>
                    <a:rPr lang="zh-CN" altLang="en-US" sz="2000" b="1">
                      <a:solidFill>
                        <a:schemeClr val="accent2">
                          <a:lumMod val="50000"/>
                        </a:schemeClr>
                      </a:solidFill>
                    </a:rPr>
                    <a:t>的通项公式具有形式</a:t>
                  </a:r>
                  <a14:m>
                    <m:oMath xmlns:m="http://schemas.openxmlformats.org/officeDocument/2006/math">
                      <m:r>
                        <m:rPr>
                          <m:lit/>
                        </m:rPr>
                        <a:rPr lang="en-US" altLang="zh-CN" sz="2000" b="1" i="1" smtClean="0">
                          <a:solidFill>
                            <a:srgbClr val="C00000"/>
                          </a:solidFill>
                          <a:latin typeface="Cambria Math" panose="02040503050406030204" pitchFamily="18" charset="0"/>
                        </a:rPr>
                        <m:t>{</m:t>
                      </m:r>
                      <m:sSubSup>
                        <m:sSubSupPr>
                          <m:ctrlPr>
                            <a:rPr lang="en-US" altLang="zh-CN" sz="2000" b="1" i="1" smtClean="0">
                              <a:solidFill>
                                <a:srgbClr val="C00000"/>
                              </a:solidFill>
                              <a:latin typeface="Cambria Math" panose="02040503050406030204" pitchFamily="18" charset="0"/>
                            </a:rPr>
                          </m:ctrlPr>
                        </m:sSubSupPr>
                        <m:e>
                          <m:r>
                            <a:rPr lang="en-US" altLang="zh-CN" sz="2000" b="1" i="1">
                              <a:solidFill>
                                <a:srgbClr val="C00000"/>
                              </a:solidFill>
                              <a:latin typeface="Cambria Math" panose="02040503050406030204" pitchFamily="18" charset="0"/>
                            </a:rPr>
                            <m:t>𝒂</m:t>
                          </m:r>
                        </m:e>
                        <m:sub>
                          <m:r>
                            <a:rPr lang="en-US" altLang="zh-CN" sz="2000" b="1" i="1">
                              <a:solidFill>
                                <a:srgbClr val="C00000"/>
                              </a:solidFill>
                              <a:latin typeface="Cambria Math" panose="02040503050406030204" pitchFamily="18" charset="0"/>
                            </a:rPr>
                            <m:t>𝒏</m:t>
                          </m:r>
                        </m:sub>
                        <m:sup>
                          <m:d>
                            <m:dPr>
                              <m:ctrlPr>
                                <a:rPr lang="en-US" altLang="zh-CN" sz="2000" b="1" i="1" smtClean="0">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𝒑</m:t>
                              </m:r>
                            </m:e>
                          </m:d>
                        </m:sup>
                      </m:sSubSup>
                      <m:r>
                        <a:rPr lang="en-US" altLang="zh-CN" sz="2000" b="1" i="1">
                          <a:solidFill>
                            <a:srgbClr val="C00000"/>
                          </a:solidFill>
                          <a:latin typeface="Cambria Math" panose="02040503050406030204" pitchFamily="18" charset="0"/>
                        </a:rPr>
                        <m:t>+ </m:t>
                      </m:r>
                      <m:sSubSup>
                        <m:sSubSupPr>
                          <m:ctrlPr>
                            <a:rPr lang="en-US" altLang="zh-CN" sz="2000" b="1" i="1">
                              <a:solidFill>
                                <a:srgbClr val="C00000"/>
                              </a:solidFill>
                              <a:latin typeface="Cambria Math" panose="02040503050406030204" pitchFamily="18" charset="0"/>
                            </a:rPr>
                          </m:ctrlPr>
                        </m:sSubSupPr>
                        <m:e>
                          <m:r>
                            <a:rPr lang="en-US" altLang="zh-CN" sz="2000" b="1" i="1">
                              <a:solidFill>
                                <a:srgbClr val="C00000"/>
                              </a:solidFill>
                              <a:latin typeface="Cambria Math" panose="02040503050406030204" pitchFamily="18" charset="0"/>
                            </a:rPr>
                            <m:t>𝒂</m:t>
                          </m:r>
                        </m:e>
                        <m:sub>
                          <m:r>
                            <a:rPr lang="en-US" altLang="zh-CN" sz="2000" b="1" i="1">
                              <a:solidFill>
                                <a:srgbClr val="C00000"/>
                              </a:solidFill>
                              <a:latin typeface="Cambria Math" panose="02040503050406030204" pitchFamily="18" charset="0"/>
                            </a:rPr>
                            <m:t>𝒏</m:t>
                          </m:r>
                        </m:sub>
                        <m:sup>
                          <m:d>
                            <m:dPr>
                              <m:ctrlPr>
                                <a:rPr lang="en-US" altLang="zh-CN" sz="2000" b="1" i="1" smtClean="0">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𝒉</m:t>
                              </m:r>
                            </m:e>
                          </m:d>
                        </m:sup>
                      </m:sSubSup>
                      <m:r>
                        <m:rPr>
                          <m:lit/>
                        </m:rPr>
                        <a:rPr lang="en-US" altLang="zh-CN" sz="2000" b="1" i="1" smtClean="0">
                          <a:solidFill>
                            <a:srgbClr val="C00000"/>
                          </a:solidFill>
                          <a:latin typeface="Cambria Math" panose="02040503050406030204" pitchFamily="18" charset="0"/>
                        </a:rPr>
                        <m:t>}</m:t>
                      </m:r>
                    </m:oMath>
                  </a14:m>
                  <a:endParaRPr lang="en-US" altLang="zh-CN" sz="2000" b="1">
                    <a:solidFill>
                      <a:schemeClr val="accent2">
                        <a:lumMod val="50000"/>
                      </a:schemeClr>
                    </a:solidFill>
                  </a:endParaRPr>
                </a:p>
              </p:txBody>
            </p:sp>
          </mc:Choice>
          <mc:Fallback>
            <p:sp>
              <p:nvSpPr>
                <p:cNvPr id="32" name="矩形 31"/>
                <p:cNvSpPr>
                  <a:spLocks noRot="1" noChangeAspect="1" noMove="1" noResize="1" noEditPoints="1" noAdjustHandles="1" noChangeArrowheads="1" noChangeShapeType="1" noTextEdit="1"/>
                </p:cNvSpPr>
                <p:nvPr/>
              </p:nvSpPr>
              <p:spPr>
                <a:xfrm>
                  <a:off x="7297762" y="4490776"/>
                  <a:ext cx="3748467" cy="773097"/>
                </a:xfrm>
                <a:prstGeom prst="rect">
                  <a:avLst/>
                </a:prstGeom>
                <a:blipFill rotWithShape="1">
                  <a:blip r:embed="rId6"/>
                </a:blipFill>
              </p:spPr>
              <p:txBody>
                <a:bodyPr/>
                <a:lstStyle/>
                <a:p>
                  <a:r>
                    <a:rPr lang="zh-CN" altLang="en-US">
                      <a:noFill/>
                    </a:rPr>
                    <a:t> </a:t>
                  </a:r>
                </a:p>
              </p:txBody>
            </p:sp>
          </mc:Fallback>
        </mc:AlternateContent>
        <p:sp>
          <p:nvSpPr>
            <p:cNvPr id="33" name="右大括号 32"/>
            <p:cNvSpPr/>
            <p:nvPr/>
          </p:nvSpPr>
          <p:spPr>
            <a:xfrm>
              <a:off x="6087174" y="3795747"/>
              <a:ext cx="425459" cy="2137986"/>
            </a:xfrm>
            <a:prstGeom prst="rightBrace">
              <a:avLst>
                <a:gd name="adj1" fmla="val 40803"/>
                <a:gd name="adj2" fmla="val 5000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4" name="箭头: 右 33"/>
            <p:cNvSpPr/>
            <p:nvPr/>
          </p:nvSpPr>
          <p:spPr>
            <a:xfrm>
              <a:off x="6466584" y="4798805"/>
              <a:ext cx="814496" cy="15704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mc:Choice xmlns:a14="http://schemas.microsoft.com/office/drawing/2010/main" Requires="a14">
          <p:sp>
            <p:nvSpPr>
              <p:cNvPr id="38" name="文本框 37"/>
              <p:cNvSpPr txBox="1"/>
              <p:nvPr/>
            </p:nvSpPr>
            <p:spPr>
              <a:xfrm>
                <a:off x="7490463" y="5636064"/>
                <a:ext cx="3543705" cy="692626"/>
              </a:xfrm>
              <a:prstGeom prst="rect">
                <a:avLst/>
              </a:prstGeom>
              <a:solidFill>
                <a:schemeClr val="accent4">
                  <a:lumMod val="40000"/>
                  <a:lumOff val="60000"/>
                </a:schemeClr>
              </a:solidFill>
            </p:spPr>
            <p:txBody>
              <a:bodyPr wrap="square" rtlCol="0">
                <a:spAutoFit/>
              </a:bodyPr>
              <a:lstStyle/>
              <a:p>
                <a:pPr>
                  <a:lnSpc>
                    <a:spcPts val="2400"/>
                  </a:lnSpc>
                </a:pPr>
                <a:r>
                  <a:rPr lang="zh-CN" altLang="en-US" b="1">
                    <a:solidFill>
                      <a:schemeClr val="accent2">
                        <a:lumMod val="50000"/>
                      </a:schemeClr>
                    </a:solidFill>
                  </a:rPr>
                  <a:t>求解常系数</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𝒌</m:t>
                    </m:r>
                  </m:oMath>
                </a14:m>
                <a:r>
                  <a:rPr lang="zh-CN" altLang="en-US" b="1">
                    <a:solidFill>
                      <a:schemeClr val="accent2">
                        <a:lumMod val="50000"/>
                      </a:schemeClr>
                    </a:solidFill>
                  </a:rPr>
                  <a:t>阶线性非齐次递推关系式的关键是找到它的一个</a:t>
                </a:r>
                <a:r>
                  <a:rPr lang="zh-CN" altLang="en-US" b="1">
                    <a:solidFill>
                      <a:srgbClr val="C00000"/>
                    </a:solidFill>
                  </a:rPr>
                  <a:t>特解</a:t>
                </a:r>
                <a:endParaRPr lang="zh-CN" altLang="en-US" b="1">
                  <a:solidFill>
                    <a:srgbClr val="C00000"/>
                  </a:solidFill>
                </a:endParaRPr>
              </a:p>
            </p:txBody>
          </p:sp>
        </mc:Choice>
        <mc:Fallback>
          <p:sp>
            <p:nvSpPr>
              <p:cNvPr id="38" name="文本框 37"/>
              <p:cNvSpPr txBox="1">
                <a:spLocks noRot="1" noChangeAspect="1" noMove="1" noResize="1" noEditPoints="1" noAdjustHandles="1" noChangeArrowheads="1" noChangeShapeType="1" noTextEdit="1"/>
              </p:cNvSpPr>
              <p:nvPr/>
            </p:nvSpPr>
            <p:spPr>
              <a:xfrm>
                <a:off x="7490463" y="5636064"/>
                <a:ext cx="3543705" cy="692626"/>
              </a:xfrm>
              <a:prstGeom prst="rect">
                <a:avLst/>
              </a:prstGeom>
              <a:blipFill rotWithShape="1">
                <a:blip r:embed="rId7"/>
                <a:stretch>
                  <a:fillRect t="-63" r="12" b="40"/>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线性递推关系式求解</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线性非齐次递推关系式的求解</a:t>
            </a:r>
            <a:endParaRPr lang="zh-CN" altLang="en-US"/>
          </a:p>
        </p:txBody>
      </p:sp>
      <mc:AlternateContent xmlns:mc="http://schemas.openxmlformats.org/markup-compatibility/2006">
        <mc:Choice xmlns:a14="http://schemas.microsoft.com/office/drawing/2010/main" Requires="a14">
          <p:sp>
            <p:nvSpPr>
              <p:cNvPr id="30" name="文本框 29"/>
              <p:cNvSpPr txBox="1"/>
              <p:nvPr/>
            </p:nvSpPr>
            <p:spPr>
              <a:xfrm>
                <a:off x="2760192" y="1175658"/>
                <a:ext cx="6671614" cy="984885"/>
              </a:xfrm>
              <a:prstGeom prst="rect">
                <a:avLst/>
              </a:prstGeom>
              <a:solidFill>
                <a:schemeClr val="accent2">
                  <a:lumMod val="20000"/>
                  <a:lumOff val="80000"/>
                </a:schemeClr>
              </a:solidFill>
            </p:spPr>
            <p:txBody>
              <a:bodyPr wrap="square" rtlCol="0">
                <a:spAutoFit/>
              </a:bodyPr>
              <a:lstStyle/>
              <a:p>
                <a:pPr algn="ct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常系数</a:t>
                </a:r>
                <a14:m>
                  <m:oMath xmlns:m="http://schemas.openxmlformats.org/officeDocument/2006/math">
                    <m:r>
                      <a:rPr lang="en-US" altLang="zh-CN" sz="2400" b="1" i="1" smtClean="0">
                        <a:solidFill>
                          <a:srgbClr val="002060"/>
                        </a:solidFill>
                        <a:latin typeface="Cambria Math" panose="02040503050406030204" pitchFamily="18" charset="0"/>
                      </a:rPr>
                      <m:t>𝒌</m:t>
                    </m:r>
                  </m:oMath>
                </a14:m>
                <a:r>
                  <a:rPr lang="zh-CN" altLang="en-US" sz="2400" b="1">
                    <a:solidFill>
                      <a:srgbClr val="002060"/>
                    </a:solidFill>
                    <a:latin typeface="楷体" panose="02010609060101010101" pitchFamily="49" charset="-122"/>
                    <a:ea typeface="楷体" panose="02010609060101010101" pitchFamily="49" charset="-122"/>
                  </a:rPr>
                  <a:t>阶线性非齐次递推关系式</a:t>
                </a:r>
                <a:endParaRPr lang="en-US" altLang="zh-CN" sz="2400" b="1">
                  <a:solidFill>
                    <a:srgbClr val="002060"/>
                  </a:solidFill>
                  <a:latin typeface="楷体" panose="02010609060101010101" pitchFamily="49" charset="-122"/>
                  <a:ea typeface="楷体" panose="02010609060101010101" pitchFamily="49"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𝒏</m:t>
                          </m:r>
                        </m:sub>
                      </m:sSub>
                      <m:r>
                        <a:rPr lang="en-US" altLang="zh-CN" sz="2400" b="1" i="1" smtClean="0">
                          <a:solidFill>
                            <a:schemeClr val="accent2">
                              <a:lumMod val="50000"/>
                            </a:schemeClr>
                          </a:solidFill>
                          <a:latin typeface="Cambria Math" panose="02040503050406030204" pitchFamily="18" charset="0"/>
                        </a:rPr>
                        <m:t>= </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𝒄</m:t>
                          </m:r>
                        </m:e>
                        <m:sub>
                          <m:r>
                            <a:rPr lang="en-US" altLang="zh-CN" sz="2400" b="1" i="1" smtClean="0">
                              <a:solidFill>
                                <a:schemeClr val="accent2">
                                  <a:lumMod val="50000"/>
                                </a:schemeClr>
                              </a:solidFill>
                              <a:latin typeface="Cambria Math" panose="02040503050406030204" pitchFamily="18" charset="0"/>
                            </a:rPr>
                            <m:t>𝟏</m:t>
                          </m:r>
                        </m:sub>
                      </m:sSub>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𝒏</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𝟏</m:t>
                          </m:r>
                        </m:sub>
                      </m:sSub>
                      <m:r>
                        <a:rPr lang="en-US" altLang="zh-CN" sz="2400" b="1" i="1" smtClean="0">
                          <a:solidFill>
                            <a:schemeClr val="accent2">
                              <a:lumMod val="50000"/>
                            </a:schemeClr>
                          </a:solidFill>
                          <a:latin typeface="Cambria Math" panose="02040503050406030204" pitchFamily="18" charset="0"/>
                        </a:rPr>
                        <m:t>+ </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𝒄</m:t>
                          </m:r>
                        </m:e>
                        <m:sub>
                          <m:r>
                            <a:rPr lang="en-US" altLang="zh-CN" sz="2400" b="1" i="1" smtClean="0">
                              <a:solidFill>
                                <a:schemeClr val="accent2">
                                  <a:lumMod val="50000"/>
                                </a:schemeClr>
                              </a:solidFill>
                              <a:latin typeface="Cambria Math" panose="02040503050406030204" pitchFamily="18" charset="0"/>
                            </a:rPr>
                            <m:t>𝟐</m:t>
                          </m:r>
                        </m:sub>
                      </m:sSub>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𝒏</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𝟐</m:t>
                          </m:r>
                        </m:sub>
                      </m:sSub>
                      <m:r>
                        <a:rPr lang="en-US" altLang="zh-CN" sz="2400" b="1" i="1" smtClean="0">
                          <a:solidFill>
                            <a:schemeClr val="accent2">
                              <a:lumMod val="50000"/>
                            </a:schemeClr>
                          </a:solidFill>
                          <a:latin typeface="Cambria Math" panose="02040503050406030204" pitchFamily="18" charset="0"/>
                        </a:rPr>
                        <m:t>+ ⋯+ </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𝒄</m:t>
                          </m:r>
                        </m:e>
                        <m:sub>
                          <m:r>
                            <a:rPr lang="en-US" altLang="zh-CN" sz="2400" b="1" i="1" smtClean="0">
                              <a:solidFill>
                                <a:schemeClr val="accent2">
                                  <a:lumMod val="50000"/>
                                </a:schemeClr>
                              </a:solidFill>
                              <a:latin typeface="Cambria Math" panose="02040503050406030204" pitchFamily="18" charset="0"/>
                            </a:rPr>
                            <m:t>𝒌</m:t>
                          </m:r>
                        </m:sub>
                      </m:sSub>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1" smtClean="0">
                              <a:solidFill>
                                <a:schemeClr val="accent2">
                                  <a:lumMod val="50000"/>
                                </a:schemeClr>
                              </a:solidFill>
                              <a:latin typeface="Cambria Math" panose="02040503050406030204" pitchFamily="18" charset="0"/>
                            </a:rPr>
                            <m:t>𝒂</m:t>
                          </m:r>
                        </m:e>
                        <m:sub>
                          <m:r>
                            <a:rPr lang="en-US" altLang="zh-CN" sz="2400" b="1" i="1" smtClean="0">
                              <a:solidFill>
                                <a:schemeClr val="accent2">
                                  <a:lumMod val="50000"/>
                                </a:schemeClr>
                              </a:solidFill>
                              <a:latin typeface="Cambria Math" panose="02040503050406030204" pitchFamily="18" charset="0"/>
                            </a:rPr>
                            <m:t>𝒏</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𝒌</m:t>
                          </m:r>
                        </m:sub>
                      </m:sSub>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𝑭</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𝒏</m:t>
                      </m:r>
                      <m:r>
                        <a:rPr lang="en-US" altLang="zh-CN" sz="2400" b="1" i="1" smtClean="0">
                          <a:solidFill>
                            <a:schemeClr val="accent2">
                              <a:lumMod val="50000"/>
                            </a:schemeClr>
                          </a:solidFill>
                          <a:latin typeface="Cambria Math" panose="02040503050406030204" pitchFamily="18" charset="0"/>
                        </a:rPr>
                        <m:t>)</m:t>
                      </m:r>
                    </m:oMath>
                  </m:oMathPara>
                </a14:m>
                <a:endParaRPr lang="en-US" altLang="zh-CN" sz="2400" b="1"/>
              </a:p>
            </p:txBody>
          </p:sp>
        </mc:Choice>
        <mc:Fallback>
          <p:sp>
            <p:nvSpPr>
              <p:cNvPr id="30" name="文本框 29"/>
              <p:cNvSpPr txBox="1">
                <a:spLocks noRot="1" noChangeAspect="1" noMove="1" noResize="1" noEditPoints="1" noAdjustHandles="1" noChangeArrowheads="1" noChangeShapeType="1" noTextEdit="1"/>
              </p:cNvSpPr>
              <p:nvPr/>
            </p:nvSpPr>
            <p:spPr>
              <a:xfrm>
                <a:off x="2760192" y="1175658"/>
                <a:ext cx="6671614" cy="984885"/>
              </a:xfrm>
              <a:prstGeom prst="rect">
                <a:avLst/>
              </a:prstGeom>
              <a:blipFill rotWithShape="1">
                <a:blip r:embed="rId1"/>
                <a:stretch>
                  <a:fillRect l="-7" t="-28" r="2" b="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矩形 1"/>
              <p:cNvSpPr/>
              <p:nvPr/>
            </p:nvSpPr>
            <p:spPr>
              <a:xfrm>
                <a:off x="1321072" y="2334711"/>
                <a:ext cx="9549854" cy="439736"/>
              </a:xfrm>
              <a:prstGeom prst="rect">
                <a:avLst/>
              </a:prstGeom>
              <a:solidFill>
                <a:schemeClr val="accent4">
                  <a:lumMod val="20000"/>
                  <a:lumOff val="80000"/>
                </a:schemeClr>
              </a:solidFill>
            </p:spPr>
            <p:txBody>
              <a:bodyPr wrap="square">
                <a:spAutoFit/>
              </a:bodyPr>
              <a:lstStyle/>
              <a:p>
                <a:pPr>
                  <a:spcBef>
                    <a:spcPts val="600"/>
                  </a:spcBef>
                </a:pPr>
                <a:r>
                  <a:rPr lang="zh-CN" altLang="en-US" sz="2000" b="1">
                    <a:solidFill>
                      <a:schemeClr val="accent2">
                        <a:lumMod val="50000"/>
                      </a:schemeClr>
                    </a:solidFill>
                  </a:rPr>
                  <a:t>若</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𝒏</m:t>
                        </m:r>
                      </m:e>
                    </m:d>
                    <m:r>
                      <a:rPr lang="en-US" altLang="zh-CN" sz="2000" b="1" i="1">
                        <a:solidFill>
                          <a:schemeClr val="accent2">
                            <a:lumMod val="50000"/>
                          </a:schemeClr>
                        </a:solidFill>
                        <a:latin typeface="Cambria Math" panose="02040503050406030204" pitchFamily="18" charset="0"/>
                      </a:rPr>
                      <m:t>= </m:t>
                    </m:r>
                    <m:d>
                      <m:dPr>
                        <m:ctrlPr>
                          <a:rPr lang="en-US" altLang="zh-CN" sz="2000" b="1" i="1">
                            <a:solidFill>
                              <a:schemeClr val="accent2">
                                <a:lumMod val="50000"/>
                              </a:schemeClr>
                            </a:solidFill>
                            <a:latin typeface="Cambria Math" panose="02040503050406030204" pitchFamily="18" charset="0"/>
                          </a:rPr>
                        </m:ctrlPr>
                      </m:dPr>
                      <m:e>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𝒃</m:t>
                            </m:r>
                          </m:e>
                          <m:sub>
                            <m:r>
                              <a:rPr lang="en-US" altLang="zh-CN" sz="2000" b="1" i="1">
                                <a:solidFill>
                                  <a:schemeClr val="accent2">
                                    <a:lumMod val="50000"/>
                                  </a:schemeClr>
                                </a:solidFill>
                                <a:latin typeface="Cambria Math" panose="02040503050406030204" pitchFamily="18" charset="0"/>
                              </a:rPr>
                              <m:t>𝒕</m:t>
                            </m:r>
                          </m:sub>
                        </m:sSub>
                        <m:r>
                          <a:rPr lang="en-US" altLang="zh-CN" sz="2000" b="1" i="1">
                            <a:solidFill>
                              <a:schemeClr val="accent2">
                                <a:lumMod val="50000"/>
                              </a:schemeClr>
                            </a:solidFill>
                            <a:latin typeface="Cambria Math" panose="02040503050406030204" pitchFamily="18" charset="0"/>
                          </a:rPr>
                          <m:t>⋅</m:t>
                        </m:r>
                        <m:sSup>
                          <m:sSupPr>
                            <m:ctrlPr>
                              <a:rPr lang="en-US" altLang="zh-CN" sz="2000" b="1" i="1">
                                <a:solidFill>
                                  <a:schemeClr val="accent2">
                                    <a:lumMod val="50000"/>
                                  </a:schemeClr>
                                </a:solidFill>
                                <a:latin typeface="Cambria Math" panose="02040503050406030204" pitchFamily="18" charset="0"/>
                              </a:rPr>
                            </m:ctrlPr>
                          </m:sSupPr>
                          <m:e>
                            <m:r>
                              <a:rPr lang="en-US" altLang="zh-CN" sz="2000" b="1" i="1">
                                <a:solidFill>
                                  <a:schemeClr val="accent2">
                                    <a:lumMod val="50000"/>
                                  </a:schemeClr>
                                </a:solidFill>
                                <a:latin typeface="Cambria Math" panose="02040503050406030204" pitchFamily="18" charset="0"/>
                              </a:rPr>
                              <m:t>𝒏</m:t>
                            </m:r>
                          </m:e>
                          <m:sup>
                            <m:r>
                              <a:rPr lang="en-US" altLang="zh-CN" sz="2000" b="1" i="1">
                                <a:solidFill>
                                  <a:schemeClr val="accent2">
                                    <a:lumMod val="50000"/>
                                  </a:schemeClr>
                                </a:solidFill>
                                <a:latin typeface="Cambria Math" panose="02040503050406030204" pitchFamily="18" charset="0"/>
                              </a:rPr>
                              <m:t>𝒕</m:t>
                            </m:r>
                          </m:sup>
                        </m:sSup>
                        <m:r>
                          <a:rPr lang="en-US" altLang="zh-CN" sz="2000" b="1" i="1">
                            <a:solidFill>
                              <a:schemeClr val="accent2">
                                <a:lumMod val="50000"/>
                              </a:schemeClr>
                            </a:solidFill>
                            <a:latin typeface="Cambria Math" panose="02040503050406030204" pitchFamily="18" charset="0"/>
                          </a:rPr>
                          <m:t>+ </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𝒃</m:t>
                            </m:r>
                          </m:e>
                          <m:sub>
                            <m:r>
                              <a:rPr lang="en-US" altLang="zh-CN" sz="2000" b="1" i="1">
                                <a:solidFill>
                                  <a:schemeClr val="accent2">
                                    <a:lumMod val="50000"/>
                                  </a:schemeClr>
                                </a:solidFill>
                                <a:latin typeface="Cambria Math" panose="02040503050406030204" pitchFamily="18" charset="0"/>
                              </a:rPr>
                              <m:t>𝒕</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𝟏</m:t>
                            </m:r>
                          </m:sub>
                        </m:sSub>
                        <m:r>
                          <a:rPr lang="en-US" altLang="zh-CN" sz="2000" b="1" i="1">
                            <a:solidFill>
                              <a:schemeClr val="accent2">
                                <a:lumMod val="50000"/>
                              </a:schemeClr>
                            </a:solidFill>
                            <a:latin typeface="Cambria Math" panose="02040503050406030204" pitchFamily="18" charset="0"/>
                          </a:rPr>
                          <m:t>⋅</m:t>
                        </m:r>
                        <m:sSup>
                          <m:sSupPr>
                            <m:ctrlPr>
                              <a:rPr lang="en-US" altLang="zh-CN" sz="2000" b="1" i="1">
                                <a:solidFill>
                                  <a:schemeClr val="accent2">
                                    <a:lumMod val="50000"/>
                                  </a:schemeClr>
                                </a:solidFill>
                                <a:latin typeface="Cambria Math" panose="02040503050406030204" pitchFamily="18" charset="0"/>
                              </a:rPr>
                            </m:ctrlPr>
                          </m:sSupPr>
                          <m:e>
                            <m:r>
                              <a:rPr lang="en-US" altLang="zh-CN" sz="2000" b="1" i="1">
                                <a:solidFill>
                                  <a:schemeClr val="accent2">
                                    <a:lumMod val="50000"/>
                                  </a:schemeClr>
                                </a:solidFill>
                                <a:latin typeface="Cambria Math" panose="02040503050406030204" pitchFamily="18" charset="0"/>
                              </a:rPr>
                              <m:t>𝒏</m:t>
                            </m:r>
                          </m:e>
                          <m:sup>
                            <m:r>
                              <a:rPr lang="en-US" altLang="zh-CN" sz="2000" b="1" i="1">
                                <a:solidFill>
                                  <a:schemeClr val="accent2">
                                    <a:lumMod val="50000"/>
                                  </a:schemeClr>
                                </a:solidFill>
                                <a:latin typeface="Cambria Math" panose="02040503050406030204" pitchFamily="18" charset="0"/>
                              </a:rPr>
                              <m:t>𝒕</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𝟏</m:t>
                            </m:r>
                          </m:sup>
                        </m:sSup>
                        <m:r>
                          <a:rPr lang="en-US" altLang="zh-CN" sz="2000" b="1" i="1">
                            <a:solidFill>
                              <a:schemeClr val="accent2">
                                <a:lumMod val="50000"/>
                              </a:schemeClr>
                            </a:solidFill>
                            <a:latin typeface="Cambria Math" panose="02040503050406030204" pitchFamily="18" charset="0"/>
                          </a:rPr>
                          <m:t>+ ⋯+ </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𝒃</m:t>
                            </m:r>
                          </m:e>
                          <m:sub>
                            <m:r>
                              <a:rPr lang="en-US" altLang="zh-CN" sz="2000" b="1" i="1">
                                <a:solidFill>
                                  <a:schemeClr val="accent2">
                                    <a:lumMod val="50000"/>
                                  </a:schemeClr>
                                </a:solidFill>
                                <a:latin typeface="Cambria Math" panose="02040503050406030204" pitchFamily="18" charset="0"/>
                              </a:rPr>
                              <m:t>𝟏</m:t>
                            </m:r>
                          </m:sub>
                        </m:sSub>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𝒏</m:t>
                        </m:r>
                        <m:r>
                          <a:rPr lang="en-US" altLang="zh-CN" sz="2000" b="1" i="1">
                            <a:solidFill>
                              <a:schemeClr val="accent2">
                                <a:lumMod val="50000"/>
                              </a:schemeClr>
                            </a:solidFill>
                            <a:latin typeface="Cambria Math" panose="02040503050406030204" pitchFamily="18" charset="0"/>
                          </a:rPr>
                          <m:t> + </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𝒃</m:t>
                            </m:r>
                          </m:e>
                          <m:sub>
                            <m:r>
                              <a:rPr lang="en-US" altLang="zh-CN" sz="2000" b="1" i="1">
                                <a:solidFill>
                                  <a:schemeClr val="accent2">
                                    <a:lumMod val="50000"/>
                                  </a:schemeClr>
                                </a:solidFill>
                                <a:latin typeface="Cambria Math" panose="02040503050406030204" pitchFamily="18" charset="0"/>
                              </a:rPr>
                              <m:t>𝟎</m:t>
                            </m:r>
                          </m:sub>
                        </m:sSub>
                      </m:e>
                    </m:d>
                    <m:sSup>
                      <m:sSupPr>
                        <m:ctrlPr>
                          <a:rPr lang="en-US" altLang="zh-CN" sz="2000" b="1" i="1">
                            <a:solidFill>
                              <a:schemeClr val="accent2">
                                <a:lumMod val="50000"/>
                              </a:schemeClr>
                            </a:solidFill>
                            <a:latin typeface="Cambria Math" panose="02040503050406030204" pitchFamily="18" charset="0"/>
                          </a:rPr>
                        </m:ctrlPr>
                      </m:sSupPr>
                      <m:e>
                        <m:r>
                          <a:rPr lang="en-US" altLang="zh-CN" sz="2000" b="1" i="1">
                            <a:solidFill>
                              <a:schemeClr val="accent2">
                                <a:lumMod val="50000"/>
                              </a:schemeClr>
                            </a:solidFill>
                            <a:latin typeface="Cambria Math" panose="02040503050406030204" pitchFamily="18" charset="0"/>
                          </a:rPr>
                          <m:t>𝒔</m:t>
                        </m:r>
                      </m:e>
                      <m:sup>
                        <m:r>
                          <a:rPr lang="en-US" altLang="zh-CN" sz="2000" b="1" i="1">
                            <a:solidFill>
                              <a:schemeClr val="accent2">
                                <a:lumMod val="50000"/>
                              </a:schemeClr>
                            </a:solidFill>
                            <a:latin typeface="Cambria Math" panose="02040503050406030204" pitchFamily="18" charset="0"/>
                          </a:rPr>
                          <m:t>𝒏</m:t>
                        </m:r>
                      </m:sup>
                    </m:sSup>
                  </m:oMath>
                </a14:m>
                <a:r>
                  <a:rPr lang="zh-CN" altLang="en-US" sz="2000" b="1">
                    <a:solidFill>
                      <a:schemeClr val="accent2">
                        <a:lumMod val="50000"/>
                      </a:schemeClr>
                    </a:solidFill>
                  </a:rPr>
                  <a:t>，这里</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𝒃</m:t>
                        </m:r>
                      </m:e>
                      <m:sub>
                        <m:r>
                          <a:rPr lang="en-US" altLang="zh-CN" sz="2000" b="1" i="1">
                            <a:solidFill>
                              <a:schemeClr val="accent2">
                                <a:lumMod val="50000"/>
                              </a:schemeClr>
                            </a:solidFill>
                            <a:latin typeface="Cambria Math" panose="02040503050406030204" pitchFamily="18" charset="0"/>
                          </a:rPr>
                          <m:t>𝟎</m:t>
                        </m:r>
                      </m:sub>
                    </m:sSub>
                    <m:r>
                      <a:rPr lang="en-US" altLang="zh-CN" sz="2000" b="1" i="1">
                        <a:solidFill>
                          <a:schemeClr val="accent2">
                            <a:lumMod val="50000"/>
                          </a:schemeClr>
                        </a:solidFill>
                        <a:latin typeface="Cambria Math" panose="02040503050406030204" pitchFamily="18" charset="0"/>
                      </a:rPr>
                      <m:t>, </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𝒃</m:t>
                        </m:r>
                      </m:e>
                      <m:sub>
                        <m:r>
                          <a:rPr lang="en-US" altLang="zh-CN" sz="2000" b="1" i="1">
                            <a:solidFill>
                              <a:schemeClr val="accent2">
                                <a:lumMod val="50000"/>
                              </a:schemeClr>
                            </a:solidFill>
                            <a:latin typeface="Cambria Math" panose="02040503050406030204" pitchFamily="18" charset="0"/>
                          </a:rPr>
                          <m:t>𝟏</m:t>
                        </m:r>
                      </m:sub>
                    </m:sSub>
                    <m:r>
                      <a:rPr lang="en-US" altLang="zh-CN" sz="2000" b="1" i="1">
                        <a:solidFill>
                          <a:schemeClr val="accent2">
                            <a:lumMod val="50000"/>
                          </a:schemeClr>
                        </a:solidFill>
                        <a:latin typeface="Cambria Math" panose="02040503050406030204" pitchFamily="18" charset="0"/>
                      </a:rPr>
                      <m:t>, ⋯, </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𝒃</m:t>
                        </m:r>
                      </m:e>
                      <m:sub>
                        <m:r>
                          <a:rPr lang="en-US" altLang="zh-CN" sz="2000" b="1" i="1">
                            <a:solidFill>
                              <a:schemeClr val="accent2">
                                <a:lumMod val="50000"/>
                              </a:schemeClr>
                            </a:solidFill>
                            <a:latin typeface="Cambria Math" panose="02040503050406030204" pitchFamily="18" charset="0"/>
                          </a:rPr>
                          <m:t>𝒕</m:t>
                        </m:r>
                      </m:sub>
                    </m:sSub>
                  </m:oMath>
                </a14:m>
                <a:r>
                  <a:rPr lang="zh-CN" altLang="en-US" sz="2000" b="1">
                    <a:solidFill>
                      <a:schemeClr val="accent2">
                        <a:lumMod val="50000"/>
                      </a:schemeClr>
                    </a:solidFill>
                  </a:rPr>
                  <a:t>和</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𝒔</m:t>
                    </m:r>
                  </m:oMath>
                </a14:m>
                <a:r>
                  <a:rPr lang="zh-CN" altLang="en-US" sz="2000" b="1">
                    <a:solidFill>
                      <a:schemeClr val="accent2">
                        <a:lumMod val="50000"/>
                      </a:schemeClr>
                    </a:solidFill>
                  </a:rPr>
                  <a:t>是实数</a:t>
                </a:r>
                <a:endParaRPr lang="zh-CN" altLang="en-US" sz="2000" b="1">
                  <a:solidFill>
                    <a:schemeClr val="accent2">
                      <a:lumMod val="50000"/>
                    </a:schemeClr>
                  </a:solidFill>
                </a:endParaRPr>
              </a:p>
            </p:txBody>
          </p:sp>
        </mc:Choice>
        <mc:Fallback>
          <p:sp>
            <p:nvSpPr>
              <p:cNvPr id="2" name="矩形 1"/>
              <p:cNvSpPr>
                <a:spLocks noRot="1" noChangeAspect="1" noMove="1" noResize="1" noEditPoints="1" noAdjustHandles="1" noChangeArrowheads="1" noChangeShapeType="1" noTextEdit="1"/>
              </p:cNvSpPr>
              <p:nvPr/>
            </p:nvSpPr>
            <p:spPr>
              <a:xfrm>
                <a:off x="1321072" y="2334711"/>
                <a:ext cx="9549854" cy="439736"/>
              </a:xfrm>
              <a:prstGeom prst="rect">
                <a:avLst/>
              </a:prstGeom>
              <a:blipFill rotWithShape="1">
                <a:blip r:embed="rId2"/>
                <a:stretch>
                  <a:fillRect l="-3" t="-103" r="4" b="-568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文本框 31"/>
              <p:cNvSpPr txBox="1"/>
              <p:nvPr/>
            </p:nvSpPr>
            <p:spPr>
              <a:xfrm>
                <a:off x="869458" y="4986346"/>
                <a:ext cx="6854682" cy="1224310"/>
              </a:xfrm>
              <a:prstGeom prst="rect">
                <a:avLst/>
              </a:prstGeom>
              <a:solidFill>
                <a:schemeClr val="accent2">
                  <a:lumMod val="20000"/>
                  <a:lumOff val="80000"/>
                  <a:alpha val="50000"/>
                </a:schemeClr>
              </a:solidFill>
            </p:spPr>
            <p:txBody>
              <a:bodyPr wrap="square" rtlCol="0">
                <a:spAutoFit/>
              </a:bodyPr>
              <a:lstStyle/>
              <a:p>
                <a:pPr>
                  <a:lnSpc>
                    <a:spcPts val="2800"/>
                  </a:lnSpc>
                  <a:spcBef>
                    <a:spcPts val="600"/>
                  </a:spcBef>
                </a:pPr>
                <a14:m>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𝒑</m:t>
                        </m:r>
                      </m:e>
                      <m:sub>
                        <m:r>
                          <a:rPr lang="en-US" altLang="zh-CN" sz="2000" b="1" i="1">
                            <a:solidFill>
                              <a:srgbClr val="002060"/>
                            </a:solidFill>
                            <a:latin typeface="Cambria Math" panose="02040503050406030204" pitchFamily="18" charset="0"/>
                          </a:rPr>
                          <m:t>𝒕</m:t>
                        </m:r>
                      </m:sub>
                    </m:sSub>
                    <m:r>
                      <a:rPr lang="en-US" altLang="zh-CN" sz="2000" b="1" i="1">
                        <a:solidFill>
                          <a:srgbClr val="002060"/>
                        </a:solidFill>
                        <a:latin typeface="Cambria Math" panose="02040503050406030204" pitchFamily="18" charset="0"/>
                      </a:rPr>
                      <m:t>,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𝒑</m:t>
                        </m:r>
                      </m:e>
                      <m:sub>
                        <m:r>
                          <a:rPr lang="en-US" altLang="zh-CN" sz="2000" b="1" i="1">
                            <a:solidFill>
                              <a:srgbClr val="002060"/>
                            </a:solidFill>
                            <a:latin typeface="Cambria Math" panose="02040503050406030204" pitchFamily="18" charset="0"/>
                          </a:rPr>
                          <m:t>𝒕</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𝟏</m:t>
                        </m:r>
                      </m:sub>
                    </m:sSub>
                    <m:r>
                      <a:rPr lang="en-US" altLang="zh-CN" sz="2000" b="1" i="1">
                        <a:solidFill>
                          <a:srgbClr val="002060"/>
                        </a:solidFill>
                        <a:latin typeface="Cambria Math" panose="02040503050406030204" pitchFamily="18" charset="0"/>
                      </a:rPr>
                      <m:t>, ⋯,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𝒑</m:t>
                        </m:r>
                      </m:e>
                      <m:sub>
                        <m:r>
                          <a:rPr lang="en-US" altLang="zh-CN" sz="2000" b="1" i="1">
                            <a:solidFill>
                              <a:srgbClr val="002060"/>
                            </a:solidFill>
                            <a:latin typeface="Cambria Math" panose="02040503050406030204" pitchFamily="18" charset="0"/>
                          </a:rPr>
                          <m:t>𝟎</m:t>
                        </m:r>
                      </m:sub>
                    </m:sSub>
                  </m:oMath>
                </a14:m>
                <a:r>
                  <a:rPr lang="zh-CN" altLang="en-US" sz="2000" b="1">
                    <a:solidFill>
                      <a:srgbClr val="002060"/>
                    </a:solidFill>
                    <a:latin typeface="楷体" panose="02010609060101010101" pitchFamily="49" charset="-122"/>
                    <a:ea typeface="楷体" panose="02010609060101010101" pitchFamily="49" charset="-122"/>
                  </a:rPr>
                  <a:t>是待定系数，</a:t>
                </a:r>
                <a:r>
                  <a:rPr lang="zh-CN" altLang="en-US" sz="2000" b="1">
                    <a:solidFill>
                      <a:srgbClr val="0000FF"/>
                    </a:solidFill>
                    <a:latin typeface="楷体" panose="02010609060101010101" pitchFamily="49" charset="-122"/>
                    <a:ea typeface="楷体" panose="02010609060101010101" pitchFamily="49" charset="-122"/>
                  </a:rPr>
                  <a:t>与</a:t>
                </a:r>
                <a14:m>
                  <m:oMath xmlns:m="http://schemas.openxmlformats.org/officeDocument/2006/math">
                    <m:r>
                      <a:rPr lang="en-US" altLang="zh-CN" sz="2000" b="1" i="1" smtClean="0">
                        <a:solidFill>
                          <a:srgbClr val="0000FF"/>
                        </a:solidFill>
                        <a:latin typeface="Cambria Math" panose="02040503050406030204" pitchFamily="18" charset="0"/>
                      </a:rPr>
                      <m:t>𝑭</m:t>
                    </m:r>
                    <m:r>
                      <a:rPr lang="en-US" altLang="zh-CN" sz="2000" b="1" i="1" smtClean="0">
                        <a:solidFill>
                          <a:srgbClr val="0000FF"/>
                        </a:solidFill>
                        <a:latin typeface="Cambria Math" panose="02040503050406030204" pitchFamily="18" charset="0"/>
                      </a:rPr>
                      <m:t>(</m:t>
                    </m:r>
                    <m:r>
                      <a:rPr lang="en-US" altLang="zh-CN" sz="2000" b="1" i="1" smtClean="0">
                        <a:solidFill>
                          <a:srgbClr val="0000FF"/>
                        </a:solidFill>
                        <a:latin typeface="Cambria Math" panose="02040503050406030204" pitchFamily="18" charset="0"/>
                      </a:rPr>
                      <m:t>𝒏</m:t>
                    </m:r>
                    <m:r>
                      <a:rPr lang="en-US" altLang="zh-CN" sz="2000" b="1" i="1" smtClean="0">
                        <a:solidFill>
                          <a:srgbClr val="0000FF"/>
                        </a:solidFill>
                        <a:latin typeface="Cambria Math" panose="02040503050406030204" pitchFamily="18" charset="0"/>
                      </a:rPr>
                      <m:t>)</m:t>
                    </m:r>
                  </m:oMath>
                </a14:m>
                <a:r>
                  <a:rPr lang="zh-CN" altLang="en-US" sz="2000" b="1">
                    <a:solidFill>
                      <a:srgbClr val="0000FF"/>
                    </a:solidFill>
                    <a:latin typeface="楷体" panose="02010609060101010101" pitchFamily="49" charset="-122"/>
                    <a:ea typeface="楷体" panose="02010609060101010101" pitchFamily="49" charset="-122"/>
                  </a:rPr>
                  <a:t>中的</a:t>
                </a:r>
                <a14:m>
                  <m:oMath xmlns:m="http://schemas.openxmlformats.org/officeDocument/2006/math">
                    <m:sSub>
                      <m:sSubPr>
                        <m:ctrlPr>
                          <a:rPr lang="en-US" altLang="zh-CN" sz="2000" b="1" i="1" smtClean="0">
                            <a:solidFill>
                              <a:srgbClr val="0000FF"/>
                            </a:solidFill>
                            <a:latin typeface="Cambria Math" panose="02040503050406030204" pitchFamily="18" charset="0"/>
                          </a:rPr>
                        </m:ctrlPr>
                      </m:sSubPr>
                      <m:e>
                        <m:r>
                          <a:rPr lang="en-US" altLang="zh-CN" sz="2000" b="1" i="1" smtClean="0">
                            <a:solidFill>
                              <a:srgbClr val="0000FF"/>
                            </a:solidFill>
                            <a:latin typeface="Cambria Math" panose="02040503050406030204" pitchFamily="18" charset="0"/>
                          </a:rPr>
                          <m:t>𝒃</m:t>
                        </m:r>
                      </m:e>
                      <m:sub>
                        <m:r>
                          <a:rPr lang="en-US" altLang="zh-CN" sz="2000" b="1" i="1" smtClean="0">
                            <a:solidFill>
                              <a:srgbClr val="0000FF"/>
                            </a:solidFill>
                            <a:latin typeface="Cambria Math" panose="02040503050406030204" pitchFamily="18" charset="0"/>
                          </a:rPr>
                          <m:t>𝒕</m:t>
                        </m:r>
                      </m:sub>
                    </m:sSub>
                    <m:r>
                      <a:rPr lang="en-US" altLang="zh-CN" sz="2000" b="1" i="1" smtClean="0">
                        <a:solidFill>
                          <a:srgbClr val="0000FF"/>
                        </a:solidFill>
                        <a:latin typeface="Cambria Math" panose="02040503050406030204" pitchFamily="18" charset="0"/>
                      </a:rPr>
                      <m:t>, ⋯, </m:t>
                    </m:r>
                    <m:sSub>
                      <m:sSubPr>
                        <m:ctrlPr>
                          <a:rPr lang="en-US" altLang="zh-CN" sz="2000" b="1" i="1" smtClean="0">
                            <a:solidFill>
                              <a:srgbClr val="0000FF"/>
                            </a:solidFill>
                            <a:latin typeface="Cambria Math" panose="02040503050406030204" pitchFamily="18" charset="0"/>
                          </a:rPr>
                        </m:ctrlPr>
                      </m:sSubPr>
                      <m:e>
                        <m:r>
                          <a:rPr lang="en-US" altLang="zh-CN" sz="2000" b="1" i="1" smtClean="0">
                            <a:solidFill>
                              <a:srgbClr val="0000FF"/>
                            </a:solidFill>
                            <a:latin typeface="Cambria Math" panose="02040503050406030204" pitchFamily="18" charset="0"/>
                          </a:rPr>
                          <m:t>𝒃</m:t>
                        </m:r>
                      </m:e>
                      <m:sub>
                        <m:r>
                          <a:rPr lang="en-US" altLang="zh-CN" sz="2000" b="1" i="1" smtClean="0">
                            <a:solidFill>
                              <a:srgbClr val="0000FF"/>
                            </a:solidFill>
                            <a:latin typeface="Cambria Math" panose="02040503050406030204" pitchFamily="18" charset="0"/>
                          </a:rPr>
                          <m:t>𝟎</m:t>
                        </m:r>
                      </m:sub>
                    </m:sSub>
                  </m:oMath>
                </a14:m>
                <a:r>
                  <a:rPr lang="zh-CN" altLang="en-US" sz="2000" b="1">
                    <a:solidFill>
                      <a:srgbClr val="0000FF"/>
                    </a:solidFill>
                    <a:latin typeface="楷体" panose="02010609060101010101" pitchFamily="49" charset="-122"/>
                    <a:ea typeface="楷体" panose="02010609060101010101" pitchFamily="49" charset="-122"/>
                  </a:rPr>
                  <a:t>不同</a:t>
                </a:r>
                <a:endParaRPr lang="zh-CN" altLang="en-US" sz="2000" b="1">
                  <a:solidFill>
                    <a:srgbClr val="002060"/>
                  </a:solidFill>
                  <a:latin typeface="楷体" panose="02010609060101010101" pitchFamily="49" charset="-122"/>
                  <a:ea typeface="楷体" panose="02010609060101010101" pitchFamily="49" charset="-122"/>
                </a:endParaRPr>
              </a:p>
              <a:p>
                <a:pPr marL="342900" indent="-342900">
                  <a:lnSpc>
                    <a:spcPts val="2800"/>
                  </a:lnSpc>
                  <a:spcBef>
                    <a:spcPts val="600"/>
                  </a:spcBef>
                  <a:buFont typeface="Arial" panose="020B0604020202020204" pitchFamily="34" charset="0"/>
                  <a:buChar char="•"/>
                </a:pPr>
                <a:r>
                  <a:rPr lang="zh-CN" altLang="en-US" sz="2000" b="1">
                    <a:solidFill>
                      <a:schemeClr val="accent6">
                        <a:lumMod val="50000"/>
                      </a:schemeClr>
                    </a:solidFill>
                  </a:rPr>
                  <a:t>通过将</a:t>
                </a:r>
                <a:r>
                  <a:rPr lang="zh-CN" altLang="en-US" sz="2000" b="1">
                    <a:solidFill>
                      <a:srgbClr val="C00000"/>
                    </a:solidFill>
                  </a:rPr>
                  <a:t>特解代入递推关系式</a:t>
                </a:r>
                <a:r>
                  <a:rPr lang="zh-CN" altLang="en-US" sz="2000" b="1">
                    <a:solidFill>
                      <a:schemeClr val="accent6">
                        <a:lumMod val="50000"/>
                      </a:schemeClr>
                    </a:solidFill>
                  </a:rPr>
                  <a:t>，得到关于</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oMath>
                </a14:m>
                <a:r>
                  <a:rPr lang="zh-CN" altLang="en-US" sz="2000" b="1">
                    <a:solidFill>
                      <a:schemeClr val="accent6">
                        <a:lumMod val="50000"/>
                      </a:schemeClr>
                    </a:solidFill>
                  </a:rPr>
                  <a:t>的多项式等式，然后</a:t>
                </a:r>
                <a:r>
                  <a:rPr lang="zh-CN" altLang="en-US" sz="2000" b="1">
                    <a:solidFill>
                      <a:srgbClr val="C00000"/>
                    </a:solidFill>
                  </a:rPr>
                  <a:t>比较等式两边</a:t>
                </a:r>
                <a14:m>
                  <m:oMath xmlns:m="http://schemas.openxmlformats.org/officeDocument/2006/math">
                    <m:r>
                      <a:rPr lang="en-US" altLang="zh-CN" sz="2000" b="1" i="1" smtClean="0">
                        <a:solidFill>
                          <a:srgbClr val="C00000"/>
                        </a:solidFill>
                        <a:latin typeface="Cambria Math" panose="02040503050406030204" pitchFamily="18" charset="0"/>
                      </a:rPr>
                      <m:t>𝒏</m:t>
                    </m:r>
                  </m:oMath>
                </a14:m>
                <a:r>
                  <a:rPr lang="zh-CN" altLang="en-US" sz="2000" b="1">
                    <a:solidFill>
                      <a:srgbClr val="C00000"/>
                    </a:solidFill>
                  </a:rPr>
                  <a:t>相同幂次前的系数</a:t>
                </a:r>
                <a:r>
                  <a:rPr lang="zh-CN" altLang="en-US" sz="2000" b="1">
                    <a:solidFill>
                      <a:schemeClr val="accent6">
                        <a:lumMod val="50000"/>
                      </a:schemeClr>
                    </a:solidFill>
                  </a:rPr>
                  <a:t>而确定</a:t>
                </a:r>
                <a:endParaRPr lang="zh-CN" altLang="en-US" sz="2000" b="1">
                  <a:solidFill>
                    <a:schemeClr val="accent6">
                      <a:lumMod val="50000"/>
                    </a:schemeClr>
                  </a:solidFill>
                </a:endParaRPr>
              </a:p>
            </p:txBody>
          </p:sp>
        </mc:Choice>
        <mc:Fallback>
          <p:sp>
            <p:nvSpPr>
              <p:cNvPr id="32" name="文本框 31"/>
              <p:cNvSpPr txBox="1">
                <a:spLocks noRot="1" noChangeAspect="1" noMove="1" noResize="1" noEditPoints="1" noAdjustHandles="1" noChangeArrowheads="1" noChangeShapeType="1" noTextEdit="1"/>
              </p:cNvSpPr>
              <p:nvPr/>
            </p:nvSpPr>
            <p:spPr>
              <a:xfrm>
                <a:off x="869458" y="4986346"/>
                <a:ext cx="6854682" cy="1224310"/>
              </a:xfrm>
              <a:prstGeom prst="rect">
                <a:avLst/>
              </a:prstGeom>
              <a:blipFill rotWithShape="1">
                <a:blip r:embed="rId3"/>
                <a:stretch>
                  <a:fillRect l="-2" t="-27" b="29"/>
                </a:stretch>
              </a:blipFill>
            </p:spPr>
            <p:txBody>
              <a:bodyPr/>
              <a:lstStyle/>
              <a:p>
                <a:r>
                  <a:rPr lang="zh-CN" altLang="en-US">
                    <a:noFill/>
                  </a:rPr>
                  <a:t> </a:t>
                </a:r>
              </a:p>
            </p:txBody>
          </p:sp>
        </mc:Fallback>
      </mc:AlternateContent>
      <p:sp>
        <p:nvSpPr>
          <p:cNvPr id="33" name="矩形 32"/>
          <p:cNvSpPr/>
          <p:nvPr/>
        </p:nvSpPr>
        <p:spPr>
          <a:xfrm>
            <a:off x="8288075" y="5229746"/>
            <a:ext cx="3034467" cy="737510"/>
          </a:xfrm>
          <a:prstGeom prst="rect">
            <a:avLst/>
          </a:prstGeom>
          <a:solidFill>
            <a:schemeClr val="accent4">
              <a:lumMod val="40000"/>
              <a:lumOff val="60000"/>
            </a:schemeClr>
          </a:solidFill>
        </p:spPr>
        <p:txBody>
          <a:bodyPr wrap="square">
            <a:spAutoFit/>
          </a:bodyPr>
          <a:lstStyle/>
          <a:p>
            <a:pPr>
              <a:lnSpc>
                <a:spcPts val="2600"/>
              </a:lnSpc>
            </a:pPr>
            <a:r>
              <a:rPr lang="zh-CN" altLang="en-US" b="1">
                <a:solidFill>
                  <a:schemeClr val="accent2">
                    <a:lumMod val="50000"/>
                  </a:schemeClr>
                </a:solidFill>
              </a:rPr>
              <a:t>这些待定系数的确定</a:t>
            </a:r>
            <a:r>
              <a:rPr lang="zh-CN" altLang="en-US" b="1">
                <a:solidFill>
                  <a:srgbClr val="C00000"/>
                </a:solidFill>
              </a:rPr>
              <a:t>不需要</a:t>
            </a:r>
            <a:r>
              <a:rPr lang="zh-CN" altLang="en-US" b="1">
                <a:solidFill>
                  <a:schemeClr val="accent2">
                    <a:lumMod val="50000"/>
                  </a:schemeClr>
                </a:solidFill>
              </a:rPr>
              <a:t>用到递推关系式的初始条件</a:t>
            </a:r>
            <a:endParaRPr lang="zh-CN" altLang="en-US" b="1">
              <a:solidFill>
                <a:schemeClr val="accent2">
                  <a:lumMod val="50000"/>
                </a:schemeClr>
              </a:solidFill>
            </a:endParaRPr>
          </a:p>
        </p:txBody>
      </p:sp>
      <p:sp>
        <p:nvSpPr>
          <p:cNvPr id="36" name="矩形 35"/>
          <p:cNvSpPr/>
          <p:nvPr/>
        </p:nvSpPr>
        <p:spPr>
          <a:xfrm>
            <a:off x="1356249" y="2948615"/>
            <a:ext cx="9479499" cy="1907741"/>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 name="矩形 2"/>
              <p:cNvSpPr/>
              <p:nvPr/>
            </p:nvSpPr>
            <p:spPr>
              <a:xfrm>
                <a:off x="1436690" y="3000247"/>
                <a:ext cx="2831463" cy="789255"/>
              </a:xfrm>
              <a:prstGeom prst="rect">
                <a:avLst/>
              </a:prstGeom>
              <a:solidFill>
                <a:schemeClr val="accent5">
                  <a:lumMod val="20000"/>
                  <a:lumOff val="80000"/>
                </a:schemeClr>
              </a:solidFill>
            </p:spPr>
            <p:txBody>
              <a:bodyPr wrap="square">
                <a:spAutoFit/>
              </a:bodyPr>
              <a:lstStyle/>
              <a:p>
                <a:pPr>
                  <a:lnSpc>
                    <a:spcPts val="2800"/>
                  </a:lnSpc>
                </a:pPr>
                <a14:m>
                  <m:oMath xmlns:m="http://schemas.openxmlformats.org/officeDocument/2006/math">
                    <m:r>
                      <a:rPr lang="zh-CN" altLang="en-US" sz="2000" b="1" i="1" smtClean="0">
                        <a:solidFill>
                          <a:schemeClr val="accent6">
                            <a:lumMod val="50000"/>
                          </a:schemeClr>
                        </a:solidFill>
                        <a:latin typeface="Cambria Math" panose="02040503050406030204" pitchFamily="18" charset="0"/>
                      </a:rPr>
                      <m:t>𝒔</m:t>
                    </m:r>
                  </m:oMath>
                </a14:m>
                <a:r>
                  <a:rPr lang="zh-CN" altLang="en-US" sz="2000" b="1">
                    <a:solidFill>
                      <a:srgbClr val="C00000"/>
                    </a:solidFill>
                  </a:rPr>
                  <a:t>不是</a:t>
                </a:r>
                <a:r>
                  <a:rPr lang="zh-CN" altLang="en-US" sz="2000" b="1">
                    <a:solidFill>
                      <a:schemeClr val="accent6">
                        <a:lumMod val="50000"/>
                      </a:schemeClr>
                    </a:solidFill>
                  </a:rPr>
                  <a:t>伴随线性齐次递推关系式特征方程的根</a:t>
                </a:r>
                <a:endParaRPr lang="zh-CN" altLang="en-US" sz="2000" b="1">
                  <a:solidFill>
                    <a:schemeClr val="accent6">
                      <a:lumMod val="50000"/>
                    </a:schemeClr>
                  </a:solidFill>
                </a:endParaRPr>
              </a:p>
            </p:txBody>
          </p:sp>
        </mc:Choice>
        <mc:Fallback>
          <p:sp>
            <p:nvSpPr>
              <p:cNvPr id="3" name="矩形 2"/>
              <p:cNvSpPr>
                <a:spLocks noRot="1" noChangeAspect="1" noMove="1" noResize="1" noEditPoints="1" noAdjustHandles="1" noChangeArrowheads="1" noChangeShapeType="1" noTextEdit="1"/>
              </p:cNvSpPr>
              <p:nvPr/>
            </p:nvSpPr>
            <p:spPr>
              <a:xfrm>
                <a:off x="1436690" y="3000247"/>
                <a:ext cx="2831463" cy="789255"/>
              </a:xfrm>
              <a:prstGeom prst="rect">
                <a:avLst/>
              </a:prstGeom>
              <a:blipFill rotWithShape="1">
                <a:blip r:embed="rId4"/>
                <a:stretch>
                  <a:fillRect l="-11" t="-64" r="11" b="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5474337" y="3042407"/>
                <a:ext cx="4970087" cy="74514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Sup>
                        <m:sSubSupPr>
                          <m:ctrlPr>
                            <a:rPr lang="zh-CN" altLang="en-US" b="1" i="1" smtClean="0">
                              <a:solidFill>
                                <a:srgbClr val="C00000"/>
                              </a:solidFill>
                              <a:latin typeface="Cambria Math" panose="02040503050406030204" pitchFamily="18" charset="0"/>
                            </a:rPr>
                          </m:ctrlPr>
                        </m:sSubSupPr>
                        <m:e>
                          <m:r>
                            <a:rPr lang="zh-CN" altLang="en-US" b="1" i="1" smtClean="0">
                              <a:solidFill>
                                <a:srgbClr val="C00000"/>
                              </a:solidFill>
                              <a:latin typeface="Cambria Math" panose="02040503050406030204" pitchFamily="18" charset="0"/>
                            </a:rPr>
                            <m:t>𝒂</m:t>
                          </m:r>
                        </m:e>
                        <m:sub>
                          <m:r>
                            <a:rPr lang="zh-CN" altLang="en-US" b="1" i="1">
                              <a:solidFill>
                                <a:srgbClr val="C00000"/>
                              </a:solidFill>
                              <a:latin typeface="Cambria Math" panose="02040503050406030204" pitchFamily="18" charset="0"/>
                            </a:rPr>
                            <m:t>𝒏</m:t>
                          </m:r>
                        </m:sub>
                        <m:sup>
                          <m:d>
                            <m:dPr>
                              <m:ctrlPr>
                                <a:rPr lang="zh-CN" altLang="en-US" b="1" i="1">
                                  <a:solidFill>
                                    <a:srgbClr val="C00000"/>
                                  </a:solidFill>
                                  <a:latin typeface="Cambria Math" panose="02040503050406030204" pitchFamily="18" charset="0"/>
                                </a:rPr>
                              </m:ctrlPr>
                            </m:dPr>
                            <m:e>
                              <m:r>
                                <a:rPr lang="zh-CN" altLang="en-US" b="1" i="1">
                                  <a:solidFill>
                                    <a:srgbClr val="C00000"/>
                                  </a:solidFill>
                                  <a:latin typeface="Cambria Math" panose="02040503050406030204" pitchFamily="18" charset="0"/>
                                </a:rPr>
                                <m:t>𝒑</m:t>
                              </m:r>
                            </m:e>
                          </m:d>
                        </m:sup>
                      </m:sSubSup>
                      <m:r>
                        <a:rPr lang="zh-CN" altLang="en-US" b="1" i="1" smtClean="0">
                          <a:solidFill>
                            <a:srgbClr val="C00000"/>
                          </a:solidFill>
                          <a:latin typeface="Cambria Math" panose="02040503050406030204" pitchFamily="18" charset="0"/>
                        </a:rPr>
                        <m:t>=</m:t>
                      </m:r>
                      <m:d>
                        <m:dPr>
                          <m:ctrlPr>
                            <a:rPr lang="zh-CN" altLang="en-US" b="1" i="1" smtClean="0">
                              <a:solidFill>
                                <a:srgbClr val="C00000"/>
                              </a:solidFill>
                              <a:latin typeface="Cambria Math" panose="02040503050406030204" pitchFamily="18" charset="0"/>
                            </a:rPr>
                          </m:ctrlPr>
                        </m:dPr>
                        <m:e>
                          <m:sSub>
                            <m:sSubPr>
                              <m:ctrlPr>
                                <a:rPr lang="zh-CN" altLang="en-US" b="1" i="1">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𝒑</m:t>
                              </m:r>
                            </m:e>
                            <m:sub>
                              <m:r>
                                <a:rPr lang="zh-CN" altLang="en-US" b="1" i="1">
                                  <a:solidFill>
                                    <a:srgbClr val="C00000"/>
                                  </a:solidFill>
                                  <a:latin typeface="Cambria Math" panose="02040503050406030204" pitchFamily="18" charset="0"/>
                                </a:rPr>
                                <m:t>𝒕</m:t>
                              </m:r>
                            </m:sub>
                          </m:sSub>
                          <m:r>
                            <a:rPr lang="zh-CN" altLang="en-US" b="1" i="1">
                              <a:solidFill>
                                <a:srgbClr val="C00000"/>
                              </a:solidFill>
                              <a:latin typeface="Cambria Math" panose="02040503050406030204" pitchFamily="18" charset="0"/>
                            </a:rPr>
                            <m:t>⋅</m:t>
                          </m:r>
                          <m:sSup>
                            <m:sSupPr>
                              <m:ctrlPr>
                                <a:rPr lang="zh-CN" altLang="en-US" b="1" i="1">
                                  <a:solidFill>
                                    <a:srgbClr val="C00000"/>
                                  </a:solidFill>
                                  <a:latin typeface="Cambria Math" panose="02040503050406030204" pitchFamily="18" charset="0"/>
                                </a:rPr>
                              </m:ctrlPr>
                            </m:sSupPr>
                            <m:e>
                              <m:r>
                                <a:rPr lang="zh-CN" altLang="en-US" b="1" i="1">
                                  <a:solidFill>
                                    <a:srgbClr val="C00000"/>
                                  </a:solidFill>
                                  <a:latin typeface="Cambria Math" panose="02040503050406030204" pitchFamily="18" charset="0"/>
                                </a:rPr>
                                <m:t>𝒏</m:t>
                              </m:r>
                            </m:e>
                            <m:sup>
                              <m:r>
                                <a:rPr lang="zh-CN" altLang="en-US" b="1" i="1">
                                  <a:solidFill>
                                    <a:srgbClr val="C00000"/>
                                  </a:solidFill>
                                  <a:latin typeface="Cambria Math" panose="02040503050406030204" pitchFamily="18" charset="0"/>
                                </a:rPr>
                                <m:t>𝒕</m:t>
                              </m:r>
                            </m:sup>
                          </m:sSup>
                          <m:r>
                            <a:rPr lang="zh-CN" altLang="en-US" b="1" i="1">
                              <a:solidFill>
                                <a:srgbClr val="C00000"/>
                              </a:solidFill>
                              <a:latin typeface="Cambria Math" panose="02040503050406030204" pitchFamily="18" charset="0"/>
                            </a:rPr>
                            <m:t>+ </m:t>
                          </m:r>
                          <m:sSub>
                            <m:sSubPr>
                              <m:ctrlPr>
                                <a:rPr lang="zh-CN" altLang="en-US" b="1" i="1">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𝒑</m:t>
                              </m:r>
                            </m:e>
                            <m:sub>
                              <m:r>
                                <a:rPr lang="zh-CN" altLang="en-US" b="1" i="1">
                                  <a:solidFill>
                                    <a:srgbClr val="C00000"/>
                                  </a:solidFill>
                                  <a:latin typeface="Cambria Math" panose="02040503050406030204" pitchFamily="18" charset="0"/>
                                </a:rPr>
                                <m:t>𝒕</m:t>
                              </m:r>
                              <m:r>
                                <a:rPr lang="zh-CN" altLang="en-US" b="1" i="1">
                                  <a:solidFill>
                                    <a:srgbClr val="C00000"/>
                                  </a:solidFill>
                                  <a:latin typeface="Cambria Math" panose="02040503050406030204" pitchFamily="18" charset="0"/>
                                </a:rPr>
                                <m:t>−</m:t>
                              </m:r>
                              <m:r>
                                <a:rPr lang="zh-CN" altLang="en-US" b="1" i="1">
                                  <a:solidFill>
                                    <a:srgbClr val="C00000"/>
                                  </a:solidFill>
                                  <a:latin typeface="Cambria Math" panose="02040503050406030204" pitchFamily="18" charset="0"/>
                                </a:rPr>
                                <m:t>𝟏</m:t>
                              </m:r>
                            </m:sub>
                          </m:sSub>
                          <m:r>
                            <a:rPr lang="zh-CN" altLang="en-US" b="1" i="1">
                              <a:solidFill>
                                <a:srgbClr val="C00000"/>
                              </a:solidFill>
                              <a:latin typeface="Cambria Math" panose="02040503050406030204" pitchFamily="18" charset="0"/>
                            </a:rPr>
                            <m:t>⋅</m:t>
                          </m:r>
                          <m:sSup>
                            <m:sSupPr>
                              <m:ctrlPr>
                                <a:rPr lang="zh-CN" altLang="en-US" b="1" i="1">
                                  <a:solidFill>
                                    <a:srgbClr val="C00000"/>
                                  </a:solidFill>
                                  <a:latin typeface="Cambria Math" panose="02040503050406030204" pitchFamily="18" charset="0"/>
                                </a:rPr>
                              </m:ctrlPr>
                            </m:sSupPr>
                            <m:e>
                              <m:r>
                                <a:rPr lang="zh-CN" altLang="en-US" b="1" i="1">
                                  <a:solidFill>
                                    <a:srgbClr val="C00000"/>
                                  </a:solidFill>
                                  <a:latin typeface="Cambria Math" panose="02040503050406030204" pitchFamily="18" charset="0"/>
                                </a:rPr>
                                <m:t>𝒏</m:t>
                              </m:r>
                            </m:e>
                            <m:sup>
                              <m:r>
                                <a:rPr lang="zh-CN" altLang="en-US" b="1" i="1">
                                  <a:solidFill>
                                    <a:srgbClr val="C00000"/>
                                  </a:solidFill>
                                  <a:latin typeface="Cambria Math" panose="02040503050406030204" pitchFamily="18" charset="0"/>
                                </a:rPr>
                                <m:t>𝒕</m:t>
                              </m:r>
                              <m:r>
                                <a:rPr lang="zh-CN" altLang="en-US" b="1" i="1">
                                  <a:solidFill>
                                    <a:srgbClr val="C00000"/>
                                  </a:solidFill>
                                  <a:latin typeface="Cambria Math" panose="02040503050406030204" pitchFamily="18" charset="0"/>
                                </a:rPr>
                                <m:t>−</m:t>
                              </m:r>
                              <m:r>
                                <a:rPr lang="zh-CN" altLang="en-US" b="1" i="1">
                                  <a:solidFill>
                                    <a:srgbClr val="C00000"/>
                                  </a:solidFill>
                                  <a:latin typeface="Cambria Math" panose="02040503050406030204" pitchFamily="18" charset="0"/>
                                </a:rPr>
                                <m:t>𝟏</m:t>
                              </m:r>
                            </m:sup>
                          </m:sSup>
                          <m:r>
                            <a:rPr lang="zh-CN" altLang="en-US" b="1" i="1">
                              <a:solidFill>
                                <a:srgbClr val="C00000"/>
                              </a:solidFill>
                              <a:latin typeface="Cambria Math" panose="02040503050406030204" pitchFamily="18" charset="0"/>
                            </a:rPr>
                            <m:t>+ ⋯+ </m:t>
                          </m:r>
                          <m:sSub>
                            <m:sSubPr>
                              <m:ctrlPr>
                                <a:rPr lang="zh-CN" altLang="en-US" b="1" i="1">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𝒑</m:t>
                              </m:r>
                            </m:e>
                            <m:sub>
                              <m:r>
                                <a:rPr lang="zh-CN" altLang="en-US" b="1" i="1">
                                  <a:solidFill>
                                    <a:srgbClr val="C00000"/>
                                  </a:solidFill>
                                  <a:latin typeface="Cambria Math" panose="02040503050406030204" pitchFamily="18" charset="0"/>
                                </a:rPr>
                                <m:t>𝟏</m:t>
                              </m:r>
                            </m:sub>
                          </m:sSub>
                          <m:r>
                            <a:rPr lang="zh-CN" altLang="en-US" b="1" i="1">
                              <a:solidFill>
                                <a:srgbClr val="C00000"/>
                              </a:solidFill>
                              <a:latin typeface="Cambria Math" panose="02040503050406030204" pitchFamily="18" charset="0"/>
                            </a:rPr>
                            <m:t>⋅</m:t>
                          </m:r>
                          <m:r>
                            <a:rPr lang="zh-CN" altLang="en-US" b="1" i="1">
                              <a:solidFill>
                                <a:srgbClr val="C00000"/>
                              </a:solidFill>
                              <a:latin typeface="Cambria Math" panose="02040503050406030204" pitchFamily="18" charset="0"/>
                            </a:rPr>
                            <m:t>𝒏</m:t>
                          </m:r>
                          <m:r>
                            <a:rPr lang="zh-CN" altLang="en-US" b="1" i="1">
                              <a:solidFill>
                                <a:srgbClr val="C00000"/>
                              </a:solidFill>
                              <a:latin typeface="Cambria Math" panose="02040503050406030204" pitchFamily="18" charset="0"/>
                            </a:rPr>
                            <m:t> + </m:t>
                          </m:r>
                          <m:sSub>
                            <m:sSubPr>
                              <m:ctrlPr>
                                <a:rPr lang="zh-CN" altLang="en-US" b="1" i="1">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𝒑</m:t>
                              </m:r>
                            </m:e>
                            <m:sub>
                              <m:r>
                                <a:rPr lang="zh-CN" altLang="en-US" b="1" i="1">
                                  <a:solidFill>
                                    <a:srgbClr val="C00000"/>
                                  </a:solidFill>
                                  <a:latin typeface="Cambria Math" panose="02040503050406030204" pitchFamily="18" charset="0"/>
                                </a:rPr>
                                <m:t>𝟎</m:t>
                              </m:r>
                            </m:sub>
                          </m:sSub>
                        </m:e>
                      </m:d>
                      <m:sSup>
                        <m:sSupPr>
                          <m:ctrlPr>
                            <a:rPr lang="zh-CN" altLang="en-US" b="1" i="1">
                              <a:solidFill>
                                <a:srgbClr val="C00000"/>
                              </a:solidFill>
                              <a:latin typeface="Cambria Math" panose="02040503050406030204" pitchFamily="18" charset="0"/>
                            </a:rPr>
                          </m:ctrlPr>
                        </m:sSupPr>
                        <m:e>
                          <m:r>
                            <a:rPr lang="zh-CN" altLang="en-US" b="1" i="1">
                              <a:solidFill>
                                <a:srgbClr val="C00000"/>
                              </a:solidFill>
                              <a:latin typeface="Cambria Math" panose="02040503050406030204" pitchFamily="18" charset="0"/>
                            </a:rPr>
                            <m:t>𝒔</m:t>
                          </m:r>
                        </m:e>
                        <m:sup>
                          <m:r>
                            <a:rPr lang="zh-CN" altLang="en-US" b="1" i="1">
                              <a:solidFill>
                                <a:srgbClr val="C00000"/>
                              </a:solidFill>
                              <a:latin typeface="Cambria Math" panose="02040503050406030204" pitchFamily="18" charset="0"/>
                            </a:rPr>
                            <m:t>𝒏</m:t>
                          </m:r>
                        </m:sup>
                      </m:sSup>
                    </m:oMath>
                  </m:oMathPara>
                </a14:m>
                <a:endParaRPr lang="zh-CN" altLang="en-US" b="1">
                  <a:solidFill>
                    <a:srgbClr val="C00000"/>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5474337" y="3042407"/>
                <a:ext cx="4970087" cy="745140"/>
              </a:xfrm>
              <a:prstGeom prst="rect">
                <a:avLst/>
              </a:prstGeom>
              <a:blipFill rotWithShape="1">
                <a:blip r:embed="rId5"/>
                <a:stretch>
                  <a:fillRect t="-16" r="12" b="5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1408045" y="3957608"/>
                <a:ext cx="2888754" cy="788293"/>
              </a:xfrm>
              <a:prstGeom prst="rect">
                <a:avLst/>
              </a:prstGeom>
              <a:solidFill>
                <a:schemeClr val="accent5">
                  <a:lumMod val="20000"/>
                  <a:lumOff val="80000"/>
                </a:schemeClr>
              </a:solidFill>
            </p:spPr>
            <p:txBody>
              <a:bodyPr wrap="square">
                <a:spAutoFit/>
              </a:bodyPr>
              <a:lstStyle/>
              <a:p>
                <a:pPr>
                  <a:lnSpc>
                    <a:spcPts val="2800"/>
                  </a:lnSpc>
                </a:pP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𝒔</m:t>
                    </m:r>
                  </m:oMath>
                </a14:m>
                <a:r>
                  <a:rPr lang="zh-CN" altLang="en-US" sz="2000" b="1">
                    <a:solidFill>
                      <a:srgbClr val="C00000"/>
                    </a:solidFill>
                  </a:rPr>
                  <a:t>是</a:t>
                </a:r>
                <a:r>
                  <a:rPr lang="zh-CN" altLang="en-US" sz="2000" b="1">
                    <a:solidFill>
                      <a:schemeClr val="accent6">
                        <a:lumMod val="50000"/>
                      </a:schemeClr>
                    </a:solidFill>
                  </a:rPr>
                  <a:t>伴随线性齐次递推关系式特征方程的</a:t>
                </a:r>
                <a14:m>
                  <m:oMath xmlns:m="http://schemas.openxmlformats.org/officeDocument/2006/math">
                    <m:r>
                      <a:rPr lang="en-US" altLang="zh-CN" sz="2000" b="1" i="1" smtClean="0">
                        <a:solidFill>
                          <a:srgbClr val="C00000"/>
                        </a:solidFill>
                        <a:latin typeface="Cambria Math" panose="02040503050406030204" pitchFamily="18" charset="0"/>
                      </a:rPr>
                      <m:t>𝒎</m:t>
                    </m:r>
                  </m:oMath>
                </a14:m>
                <a:r>
                  <a:rPr lang="zh-CN" altLang="en-US" sz="2000" b="1">
                    <a:solidFill>
                      <a:srgbClr val="C00000"/>
                    </a:solidFill>
                  </a:rPr>
                  <a:t>重根</a:t>
                </a:r>
                <a:endParaRPr lang="zh-CN" altLang="en-US" sz="2000" b="1">
                  <a:solidFill>
                    <a:schemeClr val="accent6">
                      <a:lumMod val="50000"/>
                    </a:schemeClr>
                  </a:solidFill>
                </a:endParaRPr>
              </a:p>
            </p:txBody>
          </p:sp>
        </mc:Choice>
        <mc:Fallback>
          <p:sp>
            <p:nvSpPr>
              <p:cNvPr id="6" name="矩形 5"/>
              <p:cNvSpPr>
                <a:spLocks noRot="1" noChangeAspect="1" noMove="1" noResize="1" noEditPoints="1" noAdjustHandles="1" noChangeArrowheads="1" noChangeShapeType="1" noTextEdit="1"/>
              </p:cNvSpPr>
              <p:nvPr/>
            </p:nvSpPr>
            <p:spPr>
              <a:xfrm>
                <a:off x="1408045" y="3957608"/>
                <a:ext cx="2888754" cy="788293"/>
              </a:xfrm>
              <a:prstGeom prst="rect">
                <a:avLst/>
              </a:prstGeom>
              <a:blipFill rotWithShape="1">
                <a:blip r:embed="rId6"/>
                <a:stretch>
                  <a:fillRect l="-9" t="-37" r="13" b="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矩形 30"/>
              <p:cNvSpPr/>
              <p:nvPr/>
            </p:nvSpPr>
            <p:spPr>
              <a:xfrm>
                <a:off x="5474337" y="3999287"/>
                <a:ext cx="5242999" cy="745140"/>
              </a:xfrm>
              <a:prstGeom prst="rect">
                <a:avLst/>
              </a:prstGeom>
              <a:solidFill>
                <a:schemeClr val="accent2">
                  <a:lumMod val="20000"/>
                  <a:lumOff val="80000"/>
                </a:schemeClr>
              </a:solidFill>
            </p:spPr>
            <p:txBody>
              <a:bodyPr wrap="square">
                <a:spAutoFit/>
              </a:bodyPr>
              <a:lstStyle/>
              <a:p>
                <a14:m>
                  <m:oMathPara xmlns:m="http://schemas.openxmlformats.org/officeDocument/2006/math">
                    <m:oMathParaPr>
                      <m:jc m:val="centerGroup"/>
                    </m:oMathParaPr>
                    <m:oMath xmlns:m="http://schemas.openxmlformats.org/officeDocument/2006/math">
                      <m:sSubSup>
                        <m:sSubSupPr>
                          <m:ctrlPr>
                            <a:rPr lang="zh-CN" altLang="en-US" b="1" i="1" smtClean="0">
                              <a:solidFill>
                                <a:srgbClr val="C00000"/>
                              </a:solidFill>
                              <a:latin typeface="Cambria Math" panose="02040503050406030204" pitchFamily="18" charset="0"/>
                            </a:rPr>
                          </m:ctrlPr>
                        </m:sSubSupPr>
                        <m:e>
                          <m:r>
                            <a:rPr lang="zh-CN" altLang="en-US" b="1" i="1" smtClean="0">
                              <a:solidFill>
                                <a:srgbClr val="C00000"/>
                              </a:solidFill>
                              <a:latin typeface="Cambria Math" panose="02040503050406030204" pitchFamily="18" charset="0"/>
                            </a:rPr>
                            <m:t>𝒂</m:t>
                          </m:r>
                        </m:e>
                        <m:sub>
                          <m:r>
                            <a:rPr lang="zh-CN" altLang="en-US" b="1" i="1" smtClean="0">
                              <a:solidFill>
                                <a:srgbClr val="C00000"/>
                              </a:solidFill>
                              <a:latin typeface="Cambria Math" panose="02040503050406030204" pitchFamily="18" charset="0"/>
                            </a:rPr>
                            <m:t>𝒏</m:t>
                          </m:r>
                        </m:sub>
                        <m:sup>
                          <m:d>
                            <m:dPr>
                              <m:ctrlPr>
                                <a:rPr lang="zh-CN" altLang="en-US" b="1" i="1" smtClean="0">
                                  <a:solidFill>
                                    <a:srgbClr val="C00000"/>
                                  </a:solidFill>
                                  <a:latin typeface="Cambria Math" panose="02040503050406030204" pitchFamily="18" charset="0"/>
                                </a:rPr>
                              </m:ctrlPr>
                            </m:dPr>
                            <m:e>
                              <m:r>
                                <a:rPr lang="zh-CN" altLang="en-US" b="1" i="1" smtClean="0">
                                  <a:solidFill>
                                    <a:srgbClr val="C00000"/>
                                  </a:solidFill>
                                  <a:latin typeface="Cambria Math" panose="02040503050406030204" pitchFamily="18" charset="0"/>
                                </a:rPr>
                                <m:t>𝒑</m:t>
                              </m:r>
                            </m:e>
                          </m:d>
                        </m:sup>
                      </m:sSubSup>
                      <m:r>
                        <a:rPr lang="zh-CN" altLang="en-US" b="1" i="1" smtClean="0">
                          <a:solidFill>
                            <a:srgbClr val="C00000"/>
                          </a:solidFill>
                          <a:latin typeface="Cambria Math" panose="02040503050406030204" pitchFamily="18" charset="0"/>
                        </a:rPr>
                        <m:t>= </m:t>
                      </m:r>
                      <m:sSup>
                        <m:sSupPr>
                          <m:ctrlPr>
                            <a:rPr lang="zh-CN" altLang="en-US" b="1" i="1" smtClean="0">
                              <a:solidFill>
                                <a:srgbClr val="0000FF"/>
                              </a:solidFill>
                              <a:latin typeface="Cambria Math" panose="02040503050406030204" pitchFamily="18" charset="0"/>
                            </a:rPr>
                          </m:ctrlPr>
                        </m:sSupPr>
                        <m:e>
                          <m:r>
                            <a:rPr lang="zh-CN" altLang="en-US" b="1" i="1">
                              <a:solidFill>
                                <a:srgbClr val="0000FF"/>
                              </a:solidFill>
                              <a:latin typeface="Cambria Math" panose="02040503050406030204" pitchFamily="18" charset="0"/>
                            </a:rPr>
                            <m:t>𝒏</m:t>
                          </m:r>
                        </m:e>
                        <m:sup>
                          <m:r>
                            <a:rPr lang="zh-CN" altLang="en-US" b="1" i="1" smtClean="0">
                              <a:solidFill>
                                <a:srgbClr val="0000FF"/>
                              </a:solidFill>
                              <a:latin typeface="Cambria Math" panose="02040503050406030204" pitchFamily="18" charset="0"/>
                            </a:rPr>
                            <m:t>𝒎</m:t>
                          </m:r>
                        </m:sup>
                      </m:sSup>
                      <m:d>
                        <m:dPr>
                          <m:ctrlPr>
                            <a:rPr lang="zh-CN" altLang="en-US" b="1" i="1" smtClean="0">
                              <a:solidFill>
                                <a:srgbClr val="C00000"/>
                              </a:solidFill>
                              <a:latin typeface="Cambria Math" panose="02040503050406030204" pitchFamily="18" charset="0"/>
                            </a:rPr>
                          </m:ctrlPr>
                        </m:dPr>
                        <m:e>
                          <m:sSub>
                            <m:sSubPr>
                              <m:ctrlPr>
                                <a:rPr lang="zh-CN" altLang="en-US" b="1" i="1" smtClean="0">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𝒑</m:t>
                              </m:r>
                            </m:e>
                            <m:sub>
                              <m:r>
                                <a:rPr lang="zh-CN" altLang="en-US" b="1" i="1">
                                  <a:solidFill>
                                    <a:srgbClr val="C00000"/>
                                  </a:solidFill>
                                  <a:latin typeface="Cambria Math" panose="02040503050406030204" pitchFamily="18" charset="0"/>
                                </a:rPr>
                                <m:t>𝒕</m:t>
                              </m:r>
                            </m:sub>
                          </m:sSub>
                          <m:r>
                            <a:rPr lang="zh-CN" altLang="en-US" b="1" i="1">
                              <a:solidFill>
                                <a:srgbClr val="C00000"/>
                              </a:solidFill>
                              <a:latin typeface="Cambria Math" panose="02040503050406030204" pitchFamily="18" charset="0"/>
                            </a:rPr>
                            <m:t>⋅</m:t>
                          </m:r>
                          <m:sSup>
                            <m:sSupPr>
                              <m:ctrlPr>
                                <a:rPr lang="zh-CN" altLang="en-US" b="1" i="1">
                                  <a:solidFill>
                                    <a:srgbClr val="C00000"/>
                                  </a:solidFill>
                                  <a:latin typeface="Cambria Math" panose="02040503050406030204" pitchFamily="18" charset="0"/>
                                </a:rPr>
                              </m:ctrlPr>
                            </m:sSupPr>
                            <m:e>
                              <m:r>
                                <a:rPr lang="zh-CN" altLang="en-US" b="1" i="1">
                                  <a:solidFill>
                                    <a:srgbClr val="C00000"/>
                                  </a:solidFill>
                                  <a:latin typeface="Cambria Math" panose="02040503050406030204" pitchFamily="18" charset="0"/>
                                </a:rPr>
                                <m:t>𝒏</m:t>
                              </m:r>
                            </m:e>
                            <m:sup>
                              <m:r>
                                <a:rPr lang="zh-CN" altLang="en-US" b="1" i="1">
                                  <a:solidFill>
                                    <a:srgbClr val="C00000"/>
                                  </a:solidFill>
                                  <a:latin typeface="Cambria Math" panose="02040503050406030204" pitchFamily="18" charset="0"/>
                                </a:rPr>
                                <m:t>𝒕</m:t>
                              </m:r>
                            </m:sup>
                          </m:sSup>
                          <m:r>
                            <a:rPr lang="zh-CN" altLang="en-US" b="1" i="1">
                              <a:solidFill>
                                <a:srgbClr val="C00000"/>
                              </a:solidFill>
                              <a:latin typeface="Cambria Math" panose="02040503050406030204" pitchFamily="18" charset="0"/>
                            </a:rPr>
                            <m:t>+ </m:t>
                          </m:r>
                          <m:sSub>
                            <m:sSubPr>
                              <m:ctrlPr>
                                <a:rPr lang="zh-CN" altLang="en-US" b="1" i="1">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𝒑</m:t>
                              </m:r>
                            </m:e>
                            <m:sub>
                              <m:r>
                                <a:rPr lang="zh-CN" altLang="en-US" b="1" i="1">
                                  <a:solidFill>
                                    <a:srgbClr val="C00000"/>
                                  </a:solidFill>
                                  <a:latin typeface="Cambria Math" panose="02040503050406030204" pitchFamily="18" charset="0"/>
                                </a:rPr>
                                <m:t>𝒕</m:t>
                              </m:r>
                              <m:r>
                                <a:rPr lang="zh-CN" altLang="en-US" b="1" i="1">
                                  <a:solidFill>
                                    <a:srgbClr val="C00000"/>
                                  </a:solidFill>
                                  <a:latin typeface="Cambria Math" panose="02040503050406030204" pitchFamily="18" charset="0"/>
                                </a:rPr>
                                <m:t>−</m:t>
                              </m:r>
                              <m:r>
                                <a:rPr lang="zh-CN" altLang="en-US" b="1" i="1">
                                  <a:solidFill>
                                    <a:srgbClr val="C00000"/>
                                  </a:solidFill>
                                  <a:latin typeface="Cambria Math" panose="02040503050406030204" pitchFamily="18" charset="0"/>
                                </a:rPr>
                                <m:t>𝟏</m:t>
                              </m:r>
                            </m:sub>
                          </m:sSub>
                          <m:r>
                            <a:rPr lang="zh-CN" altLang="en-US" b="1" i="1">
                              <a:solidFill>
                                <a:srgbClr val="C00000"/>
                              </a:solidFill>
                              <a:latin typeface="Cambria Math" panose="02040503050406030204" pitchFamily="18" charset="0"/>
                            </a:rPr>
                            <m:t>⋅</m:t>
                          </m:r>
                          <m:sSup>
                            <m:sSupPr>
                              <m:ctrlPr>
                                <a:rPr lang="zh-CN" altLang="en-US" b="1" i="1">
                                  <a:solidFill>
                                    <a:srgbClr val="C00000"/>
                                  </a:solidFill>
                                  <a:latin typeface="Cambria Math" panose="02040503050406030204" pitchFamily="18" charset="0"/>
                                </a:rPr>
                              </m:ctrlPr>
                            </m:sSupPr>
                            <m:e>
                              <m:r>
                                <a:rPr lang="zh-CN" altLang="en-US" b="1" i="1">
                                  <a:solidFill>
                                    <a:srgbClr val="C00000"/>
                                  </a:solidFill>
                                  <a:latin typeface="Cambria Math" panose="02040503050406030204" pitchFamily="18" charset="0"/>
                                </a:rPr>
                                <m:t>𝒏</m:t>
                              </m:r>
                            </m:e>
                            <m:sup>
                              <m:r>
                                <a:rPr lang="zh-CN" altLang="en-US" b="1" i="1">
                                  <a:solidFill>
                                    <a:srgbClr val="C00000"/>
                                  </a:solidFill>
                                  <a:latin typeface="Cambria Math" panose="02040503050406030204" pitchFamily="18" charset="0"/>
                                </a:rPr>
                                <m:t>𝒕</m:t>
                              </m:r>
                              <m:r>
                                <a:rPr lang="zh-CN" altLang="en-US" b="1" i="1">
                                  <a:solidFill>
                                    <a:srgbClr val="C00000"/>
                                  </a:solidFill>
                                  <a:latin typeface="Cambria Math" panose="02040503050406030204" pitchFamily="18" charset="0"/>
                                </a:rPr>
                                <m:t>−</m:t>
                              </m:r>
                              <m:r>
                                <a:rPr lang="zh-CN" altLang="en-US" b="1" i="1">
                                  <a:solidFill>
                                    <a:srgbClr val="C00000"/>
                                  </a:solidFill>
                                  <a:latin typeface="Cambria Math" panose="02040503050406030204" pitchFamily="18" charset="0"/>
                                </a:rPr>
                                <m:t>𝟏</m:t>
                              </m:r>
                            </m:sup>
                          </m:sSup>
                          <m:r>
                            <a:rPr lang="zh-CN" altLang="en-US" b="1" i="1">
                              <a:solidFill>
                                <a:srgbClr val="C00000"/>
                              </a:solidFill>
                              <a:latin typeface="Cambria Math" panose="02040503050406030204" pitchFamily="18" charset="0"/>
                            </a:rPr>
                            <m:t>+ ⋯+ </m:t>
                          </m:r>
                          <m:sSub>
                            <m:sSubPr>
                              <m:ctrlPr>
                                <a:rPr lang="zh-CN" altLang="en-US" b="1" i="1">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𝒑</m:t>
                              </m:r>
                            </m:e>
                            <m:sub>
                              <m:r>
                                <a:rPr lang="zh-CN" altLang="en-US" b="1" i="1">
                                  <a:solidFill>
                                    <a:srgbClr val="C00000"/>
                                  </a:solidFill>
                                  <a:latin typeface="Cambria Math" panose="02040503050406030204" pitchFamily="18" charset="0"/>
                                </a:rPr>
                                <m:t>𝟏</m:t>
                              </m:r>
                            </m:sub>
                          </m:sSub>
                          <m:r>
                            <a:rPr lang="zh-CN" altLang="en-US" b="1" i="1">
                              <a:solidFill>
                                <a:srgbClr val="C00000"/>
                              </a:solidFill>
                              <a:latin typeface="Cambria Math" panose="02040503050406030204" pitchFamily="18" charset="0"/>
                            </a:rPr>
                            <m:t>⋅</m:t>
                          </m:r>
                          <m:r>
                            <a:rPr lang="zh-CN" altLang="en-US" b="1" i="1">
                              <a:solidFill>
                                <a:srgbClr val="C00000"/>
                              </a:solidFill>
                              <a:latin typeface="Cambria Math" panose="02040503050406030204" pitchFamily="18" charset="0"/>
                            </a:rPr>
                            <m:t>𝒏</m:t>
                          </m:r>
                          <m:r>
                            <a:rPr lang="zh-CN" altLang="en-US" b="1" i="1">
                              <a:solidFill>
                                <a:srgbClr val="C00000"/>
                              </a:solidFill>
                              <a:latin typeface="Cambria Math" panose="02040503050406030204" pitchFamily="18" charset="0"/>
                            </a:rPr>
                            <m:t> + </m:t>
                          </m:r>
                          <m:sSub>
                            <m:sSubPr>
                              <m:ctrlPr>
                                <a:rPr lang="zh-CN" altLang="en-US" b="1" i="1">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𝒑</m:t>
                              </m:r>
                            </m:e>
                            <m:sub>
                              <m:r>
                                <a:rPr lang="zh-CN" altLang="en-US" b="1" i="1">
                                  <a:solidFill>
                                    <a:srgbClr val="C00000"/>
                                  </a:solidFill>
                                  <a:latin typeface="Cambria Math" panose="02040503050406030204" pitchFamily="18" charset="0"/>
                                </a:rPr>
                                <m:t>𝟎</m:t>
                              </m:r>
                            </m:sub>
                          </m:sSub>
                        </m:e>
                      </m:d>
                      <m:sSup>
                        <m:sSupPr>
                          <m:ctrlPr>
                            <a:rPr lang="zh-CN" altLang="en-US" b="1" i="1">
                              <a:solidFill>
                                <a:srgbClr val="C00000"/>
                              </a:solidFill>
                              <a:latin typeface="Cambria Math" panose="02040503050406030204" pitchFamily="18" charset="0"/>
                            </a:rPr>
                          </m:ctrlPr>
                        </m:sSupPr>
                        <m:e>
                          <m:r>
                            <a:rPr lang="zh-CN" altLang="en-US" b="1" i="1">
                              <a:solidFill>
                                <a:srgbClr val="C00000"/>
                              </a:solidFill>
                              <a:latin typeface="Cambria Math" panose="02040503050406030204" pitchFamily="18" charset="0"/>
                            </a:rPr>
                            <m:t>𝒔</m:t>
                          </m:r>
                        </m:e>
                        <m:sup>
                          <m:r>
                            <a:rPr lang="zh-CN" altLang="en-US" b="1" i="1">
                              <a:solidFill>
                                <a:srgbClr val="C00000"/>
                              </a:solidFill>
                              <a:latin typeface="Cambria Math" panose="02040503050406030204" pitchFamily="18" charset="0"/>
                            </a:rPr>
                            <m:t>𝒏</m:t>
                          </m:r>
                        </m:sup>
                      </m:sSup>
                    </m:oMath>
                  </m:oMathPara>
                </a14:m>
                <a:endParaRPr lang="zh-CN" altLang="en-US" b="1">
                  <a:solidFill>
                    <a:srgbClr val="C00000"/>
                  </a:solidFill>
                </a:endParaRPr>
              </a:p>
            </p:txBody>
          </p:sp>
        </mc:Choice>
        <mc:Fallback>
          <p:sp>
            <p:nvSpPr>
              <p:cNvPr id="31" name="矩形 30"/>
              <p:cNvSpPr>
                <a:spLocks noRot="1" noChangeAspect="1" noMove="1" noResize="1" noEditPoints="1" noAdjustHandles="1" noChangeArrowheads="1" noChangeShapeType="1" noTextEdit="1"/>
              </p:cNvSpPr>
              <p:nvPr/>
            </p:nvSpPr>
            <p:spPr>
              <a:xfrm>
                <a:off x="5474337" y="3999287"/>
                <a:ext cx="5242999" cy="745140"/>
              </a:xfrm>
              <a:prstGeom prst="rect">
                <a:avLst/>
              </a:prstGeom>
              <a:blipFill rotWithShape="1">
                <a:blip r:embed="rId7"/>
                <a:stretch>
                  <a:fillRect t="-8" r="8" b="46"/>
                </a:stretch>
              </a:blipFill>
            </p:spPr>
            <p:txBody>
              <a:bodyPr/>
              <a:lstStyle/>
              <a:p>
                <a:r>
                  <a:rPr lang="zh-CN" altLang="en-US">
                    <a:noFill/>
                  </a:rPr>
                  <a:t> </a:t>
                </a:r>
              </a:p>
            </p:txBody>
          </p:sp>
        </mc:Fallback>
      </mc:AlternateContent>
      <p:sp>
        <p:nvSpPr>
          <p:cNvPr id="34" name="箭头: 右 33"/>
          <p:cNvSpPr/>
          <p:nvPr/>
        </p:nvSpPr>
        <p:spPr>
          <a:xfrm>
            <a:off x="4268153" y="3344965"/>
            <a:ext cx="1206184" cy="1365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p:cNvSpPr/>
          <p:nvPr/>
        </p:nvSpPr>
        <p:spPr>
          <a:xfrm>
            <a:off x="4296799" y="4291818"/>
            <a:ext cx="1177538" cy="1347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下 37"/>
          <p:cNvSpPr/>
          <p:nvPr/>
        </p:nvSpPr>
        <p:spPr>
          <a:xfrm>
            <a:off x="2806702" y="3827618"/>
            <a:ext cx="45719" cy="2117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p:cNvSpPr txBox="1"/>
          <p:nvPr/>
        </p:nvSpPr>
        <p:spPr>
          <a:xfrm>
            <a:off x="2904217" y="3807864"/>
            <a:ext cx="635301" cy="246221"/>
          </a:xfrm>
          <a:prstGeom prst="rect">
            <a:avLst/>
          </a:prstGeom>
          <a:solidFill>
            <a:schemeClr val="accent4">
              <a:lumMod val="20000"/>
              <a:lumOff val="80000"/>
            </a:schemeClr>
          </a:solidFill>
        </p:spPr>
        <p:txBody>
          <a:bodyPr wrap="square" lIns="0" tIns="0" rIns="0" bIns="0" rtlCol="0">
            <a:spAutoFit/>
          </a:bodyPr>
          <a:lstStyle/>
          <a:p>
            <a:r>
              <a:rPr lang="zh-CN" altLang="en-US" sz="1600" b="1">
                <a:solidFill>
                  <a:schemeClr val="accent2">
                    <a:lumMod val="50000"/>
                  </a:schemeClr>
                </a:solidFill>
              </a:rPr>
              <a:t>一般化</a:t>
            </a:r>
            <a:endParaRPr lang="zh-CN" altLang="en-US" sz="1600" b="1">
              <a:solidFill>
                <a:schemeClr val="accent2">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6" grpId="0" animBg="1"/>
      <p:bldP spid="3" grpId="0" animBg="1"/>
      <p:bldP spid="4" grpId="0" animBg="1"/>
      <p:bldP spid="6" grpId="0" animBg="1"/>
      <p:bldP spid="31" grpId="0" animBg="1"/>
      <p:bldP spid="34" grpId="0" animBg="1"/>
      <p:bldP spid="35" grpId="0" animBg="1"/>
      <p:bldP spid="38" grpId="0" animBg="1"/>
      <p:bldP spid="3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线性递推关系式求解</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非齐次递推关系式特解形式判断练习</a:t>
            </a:r>
            <a:endParaRPr lang="zh-CN" altLang="en-US"/>
          </a:p>
        </p:txBody>
      </p:sp>
      <mc:AlternateContent xmlns:mc="http://schemas.openxmlformats.org/markup-compatibility/2006">
        <mc:Choice xmlns:a14="http://schemas.microsoft.com/office/drawing/2010/main" Requires="a14">
          <p:sp>
            <p:nvSpPr>
              <p:cNvPr id="3" name="文本框 2"/>
              <p:cNvSpPr txBox="1"/>
              <p:nvPr/>
            </p:nvSpPr>
            <p:spPr>
              <a:xfrm>
                <a:off x="759869" y="1070304"/>
                <a:ext cx="7989426"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对线性非齐次递推关系式 </a:t>
                </a:r>
                <a14:m>
                  <m:oMath xmlns:m="http://schemas.openxmlformats.org/officeDocument/2006/math">
                    <m:sSub>
                      <m:sSubPr>
                        <m:ctrlPr>
                          <a:rPr lang="en-US" altLang="zh-CN" sz="2400" b="1" i="1" smtClean="0">
                            <a:solidFill>
                              <a:srgbClr val="002060"/>
                            </a:solidFill>
                            <a:latin typeface="Cambria Math" panose="02040503050406030204" pitchFamily="18" charset="0"/>
                          </a:rPr>
                        </m:ctrlPr>
                      </m:sSubPr>
                      <m:e>
                        <m:r>
                          <a:rPr lang="en-US" altLang="zh-CN" sz="2400" b="1" i="1" smtClean="0">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𝒏</m:t>
                        </m:r>
                      </m:sub>
                    </m:sSub>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𝟖</m:t>
                    </m:r>
                    <m:sSub>
                      <m:sSubPr>
                        <m:ctrlPr>
                          <a:rPr lang="en-US" altLang="zh-CN" sz="2400" b="1" i="1" smtClean="0">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smtClean="0">
                            <a:solidFill>
                              <a:srgbClr val="002060"/>
                            </a:solidFill>
                            <a:latin typeface="Cambria Math" panose="02040503050406030204" pitchFamily="18" charset="0"/>
                          </a:rPr>
                          <m:t>𝒏</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𝟐</m:t>
                        </m:r>
                      </m:sub>
                    </m:sSub>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𝟏𝟔</m:t>
                    </m:r>
                    <m:sSub>
                      <m:sSubPr>
                        <m:ctrlPr>
                          <a:rPr lang="en-US" altLang="zh-CN" sz="2400" b="1" i="1" smtClean="0">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smtClean="0">
                            <a:solidFill>
                              <a:srgbClr val="002060"/>
                            </a:solidFill>
                            <a:latin typeface="Cambria Math" panose="02040503050406030204" pitchFamily="18" charset="0"/>
                          </a:rPr>
                          <m:t>𝒏</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𝟒</m:t>
                        </m:r>
                      </m:sub>
                    </m:sSub>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𝑭</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𝒏</m:t>
                        </m:r>
                      </m:e>
                    </m:d>
                  </m:oMath>
                </a14:m>
                <a:endParaRPr lang="en-US" altLang="zh-CN" sz="2400" b="1">
                  <a:latin typeface="楷体" panose="02010609060101010101" pitchFamily="49" charset="-122"/>
                  <a:ea typeface="楷体" panose="02010609060101010101" pitchFamily="49"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759869" y="1070304"/>
                <a:ext cx="7989426" cy="461665"/>
              </a:xfrm>
              <a:prstGeom prst="rect">
                <a:avLst/>
              </a:prstGeom>
              <a:blipFill rotWithShape="1">
                <a:blip r:embed="rId1"/>
                <a:stretch>
                  <a:fillRect l="-5" t="-71" r="3" b="76"/>
                </a:stretch>
              </a:blipFill>
            </p:spPr>
            <p:txBody>
              <a:bodyPr/>
              <a:lstStyle/>
              <a:p>
                <a:r>
                  <a:rPr lang="zh-CN" altLang="en-US">
                    <a:noFill/>
                  </a:rPr>
                  <a:t> </a:t>
                </a:r>
              </a:p>
            </p:txBody>
          </p:sp>
        </mc:Fallback>
      </mc:AlternateContent>
      <p:grpSp>
        <p:nvGrpSpPr>
          <p:cNvPr id="2" name="组合 1"/>
          <p:cNvGrpSpPr/>
          <p:nvPr/>
        </p:nvGrpSpPr>
        <p:grpSpPr>
          <a:xfrm>
            <a:off x="759869" y="1718889"/>
            <a:ext cx="10581322" cy="3226011"/>
            <a:chOff x="759869" y="2797920"/>
            <a:chExt cx="10581322" cy="3226011"/>
          </a:xfrm>
        </p:grpSpPr>
        <mc:AlternateContent xmlns:mc="http://schemas.openxmlformats.org/markup-compatibility/2006">
          <mc:Choice xmlns:a14="http://schemas.microsoft.com/office/drawing/2010/main" Requires="a14">
            <p:sp>
              <p:nvSpPr>
                <p:cNvPr id="6" name="文本框 5"/>
                <p:cNvSpPr txBox="1"/>
                <p:nvPr/>
              </p:nvSpPr>
              <p:spPr>
                <a:xfrm>
                  <a:off x="759869" y="2797920"/>
                  <a:ext cx="10581322" cy="3226011"/>
                </a:xfrm>
                <a:prstGeom prst="rect">
                  <a:avLst/>
                </a:prstGeom>
                <a:solidFill>
                  <a:schemeClr val="accent6">
                    <a:lumMod val="20000"/>
                    <a:lumOff val="80000"/>
                    <a:alpha val="50000"/>
                  </a:schemeClr>
                </a:solidFill>
              </p:spPr>
              <p:txBody>
                <a:bodyPr wrap="square" rtlCol="0">
                  <a:spAutoFit/>
                </a:bodyPr>
                <a:lstStyle/>
                <a:p>
                  <a:pPr marL="342900" indent="-342900">
                    <a:spcBef>
                      <a:spcPts val="1200"/>
                    </a:spcBef>
                    <a:spcAft>
                      <a:spcPts val="600"/>
                    </a:spcAft>
                    <a:buFont typeface="Arial" panose="020B0604020202020204" pitchFamily="34" charset="0"/>
                    <a:buChar char="•"/>
                  </a:pPr>
                  <a:r>
                    <a:rPr lang="zh-CN" altLang="en-US" sz="2000" b="1">
                      <a:solidFill>
                        <a:schemeClr val="tx2">
                          <a:lumMod val="50000"/>
                        </a:schemeClr>
                      </a:solidFill>
                    </a:rPr>
                    <a:t>当</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𝑭</m:t>
                      </m:r>
                      <m:d>
                        <m:dPr>
                          <m:ctrlPr>
                            <a:rPr lang="en-US" altLang="zh-CN" sz="2000" b="1" i="1" smtClean="0">
                              <a:solidFill>
                                <a:schemeClr val="tx2">
                                  <a:lumMod val="50000"/>
                                </a:schemeClr>
                              </a:solidFill>
                              <a:latin typeface="Cambria Math" panose="02040503050406030204" pitchFamily="18" charset="0"/>
                            </a:rPr>
                          </m:ctrlPr>
                        </m:dPr>
                        <m:e>
                          <m:r>
                            <a:rPr lang="en-US" altLang="zh-CN" sz="2000" b="1" i="1" smtClean="0">
                              <a:solidFill>
                                <a:schemeClr val="tx2">
                                  <a:lumMod val="50000"/>
                                </a:schemeClr>
                              </a:solidFill>
                              <a:latin typeface="Cambria Math" panose="02040503050406030204" pitchFamily="18" charset="0"/>
                            </a:rPr>
                            <m:t>𝒏</m:t>
                          </m:r>
                        </m:e>
                      </m:d>
                      <m:r>
                        <a:rPr lang="en-US" altLang="zh-CN" sz="2000" b="1" i="1" smtClean="0">
                          <a:solidFill>
                            <a:schemeClr val="tx2">
                              <a:lumMod val="50000"/>
                            </a:schemeClr>
                          </a:solidFill>
                          <a:latin typeface="Cambria Math" panose="02040503050406030204" pitchFamily="18" charset="0"/>
                        </a:rPr>
                        <m:t>= </m:t>
                      </m:r>
                      <m:sSup>
                        <m:sSupPr>
                          <m:ctrlPr>
                            <a:rPr lang="en-US" altLang="zh-CN" sz="2000" b="1" i="1" smtClean="0">
                              <a:solidFill>
                                <a:schemeClr val="tx2">
                                  <a:lumMod val="50000"/>
                                </a:schemeClr>
                              </a:solidFill>
                              <a:latin typeface="Cambria Math" panose="02040503050406030204" pitchFamily="18" charset="0"/>
                            </a:rPr>
                          </m:ctrlPr>
                        </m:sSupPr>
                        <m:e>
                          <m:d>
                            <m:dPr>
                              <m:ctrlPr>
                                <a:rPr lang="en-US" altLang="zh-CN" sz="2000" b="1" i="1" smtClean="0">
                                  <a:solidFill>
                                    <a:schemeClr val="tx2">
                                      <a:lumMod val="50000"/>
                                    </a:schemeClr>
                                  </a:solidFill>
                                  <a:latin typeface="Cambria Math" panose="02040503050406030204" pitchFamily="18" charset="0"/>
                                </a:rPr>
                              </m:ctrlPr>
                            </m:dPr>
                            <m:e>
                              <m:r>
                                <a:rPr lang="en-US" altLang="zh-CN" sz="2000" b="1" i="1" smtClean="0">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𝟐</m:t>
                              </m:r>
                            </m:e>
                          </m:d>
                        </m:e>
                        <m:sup>
                          <m:r>
                            <a:rPr lang="en-US" altLang="zh-CN" sz="2000" b="1" i="1" smtClean="0">
                              <a:solidFill>
                                <a:schemeClr val="tx2">
                                  <a:lumMod val="50000"/>
                                </a:schemeClr>
                              </a:solidFill>
                              <a:latin typeface="Cambria Math" panose="02040503050406030204" pitchFamily="18" charset="0"/>
                            </a:rPr>
                            <m:t>𝒏</m:t>
                          </m:r>
                        </m:sup>
                      </m:sSup>
                    </m:oMath>
                  </a14:m>
                  <a:r>
                    <a:rPr lang="zh-CN" altLang="en-US" sz="2000" b="1">
                      <a:solidFill>
                        <a:schemeClr val="tx2">
                          <a:lumMod val="50000"/>
                        </a:schemeClr>
                      </a:solidFill>
                    </a:rPr>
                    <a:t>时，它的特解形式是   </a:t>
                  </a:r>
                  <a14:m>
                    <m:oMath xmlns:m="http://schemas.openxmlformats.org/officeDocument/2006/math">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𝟐</m:t>
                          </m:r>
                        </m:sup>
                      </m:sSup>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𝟎</m:t>
                          </m:r>
                        </m:sub>
                      </m:sSub>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𝟐</m:t>
                              </m:r>
                            </m:e>
                          </m:d>
                        </m:e>
                        <m:sup>
                          <m:r>
                            <a:rPr lang="en-US" altLang="zh-CN" sz="2000" b="1" i="1" smtClean="0">
                              <a:solidFill>
                                <a:srgbClr val="C00000"/>
                              </a:solidFill>
                              <a:latin typeface="Cambria Math" panose="02040503050406030204" pitchFamily="18" charset="0"/>
                            </a:rPr>
                            <m:t>𝒏</m:t>
                          </m:r>
                        </m:sup>
                      </m:sSup>
                    </m:oMath>
                  </a14:m>
                  <a:r>
                    <a:rPr lang="en-US" altLang="zh-CN" sz="2000" b="1">
                      <a:solidFill>
                        <a:schemeClr val="tx2">
                          <a:lumMod val="50000"/>
                        </a:schemeClr>
                      </a:solidFill>
                    </a:rPr>
                    <a:t> </a:t>
                  </a:r>
                  <a:r>
                    <a:rPr lang="zh-CN" altLang="en-US" sz="2000" b="1">
                      <a:solidFill>
                        <a:schemeClr val="tx2">
                          <a:lumMod val="50000"/>
                        </a:schemeClr>
                      </a:solidFill>
                    </a:rPr>
                    <a:t>；</a:t>
                  </a:r>
                  <a:endParaRPr lang="zh-CN" altLang="en-US" sz="2000" b="1">
                    <a:solidFill>
                      <a:schemeClr val="tx2">
                        <a:lumMod val="50000"/>
                      </a:schemeClr>
                    </a:solidFill>
                  </a:endParaRPr>
                </a:p>
                <a:p>
                  <a:pPr marL="342900" indent="-342900">
                    <a:spcBef>
                      <a:spcPts val="1200"/>
                    </a:spcBef>
                    <a:spcAft>
                      <a:spcPts val="600"/>
                    </a:spcAft>
                    <a:buFont typeface="Arial" panose="020B0604020202020204" pitchFamily="34" charset="0"/>
                    <a:buChar char="•"/>
                  </a:pPr>
                  <a:r>
                    <a:rPr lang="zh-CN" altLang="en-US" sz="2000" b="1">
                      <a:solidFill>
                        <a:schemeClr val="tx2">
                          <a:lumMod val="50000"/>
                        </a:schemeClr>
                      </a:solidFill>
                    </a:rPr>
                    <a:t>当</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𝑭</m:t>
                      </m:r>
                      <m:d>
                        <m:dPr>
                          <m:ctrlPr>
                            <a:rPr lang="en-US" altLang="zh-CN" sz="2000" b="1" i="1" smtClean="0">
                              <a:solidFill>
                                <a:schemeClr val="tx2">
                                  <a:lumMod val="50000"/>
                                </a:schemeClr>
                              </a:solidFill>
                              <a:latin typeface="Cambria Math" panose="02040503050406030204" pitchFamily="18" charset="0"/>
                            </a:rPr>
                          </m:ctrlPr>
                        </m:dPr>
                        <m:e>
                          <m:r>
                            <a:rPr lang="en-US" altLang="zh-CN" sz="2000" b="1" i="1" smtClean="0">
                              <a:solidFill>
                                <a:schemeClr val="tx2">
                                  <a:lumMod val="50000"/>
                                </a:schemeClr>
                              </a:solidFill>
                              <a:latin typeface="Cambria Math" panose="02040503050406030204" pitchFamily="18" charset="0"/>
                            </a:rPr>
                            <m:t>𝒏</m:t>
                          </m:r>
                        </m:e>
                      </m:d>
                      <m:r>
                        <a:rPr lang="en-US" altLang="zh-CN" sz="2000" b="1" i="1" smtClean="0">
                          <a:solidFill>
                            <a:schemeClr val="tx2">
                              <a:lumMod val="50000"/>
                            </a:schemeClr>
                          </a:solidFill>
                          <a:latin typeface="Cambria Math" panose="02040503050406030204" pitchFamily="18" charset="0"/>
                        </a:rPr>
                        <m:t>= </m:t>
                      </m:r>
                      <m:r>
                        <a:rPr lang="en-US" altLang="zh-CN" sz="2000" b="1" i="1" smtClean="0">
                          <a:solidFill>
                            <a:schemeClr val="tx2">
                              <a:lumMod val="50000"/>
                            </a:schemeClr>
                          </a:solidFill>
                          <a:latin typeface="Cambria Math" panose="02040503050406030204" pitchFamily="18" charset="0"/>
                        </a:rPr>
                        <m:t>𝒏</m:t>
                      </m:r>
                      <m:sSup>
                        <m:sSupPr>
                          <m:ctrlPr>
                            <a:rPr lang="en-US" altLang="zh-CN" sz="2000" b="1" i="1" smtClean="0">
                              <a:solidFill>
                                <a:schemeClr val="tx2">
                                  <a:lumMod val="50000"/>
                                </a:schemeClr>
                              </a:solidFill>
                              <a:latin typeface="Cambria Math" panose="02040503050406030204" pitchFamily="18" charset="0"/>
                            </a:rPr>
                          </m:ctrlPr>
                        </m:sSupPr>
                        <m:e>
                          <m:r>
                            <a:rPr lang="en-US" altLang="zh-CN" sz="2000" b="1" i="1" smtClean="0">
                              <a:solidFill>
                                <a:schemeClr val="tx2">
                                  <a:lumMod val="50000"/>
                                </a:schemeClr>
                              </a:solidFill>
                              <a:latin typeface="Cambria Math" panose="02040503050406030204" pitchFamily="18" charset="0"/>
                            </a:rPr>
                            <m:t>𝟐</m:t>
                          </m:r>
                        </m:e>
                        <m:sup>
                          <m:r>
                            <a:rPr lang="en-US" altLang="zh-CN" sz="2000" b="1" i="1" smtClean="0">
                              <a:solidFill>
                                <a:schemeClr val="tx2">
                                  <a:lumMod val="50000"/>
                                </a:schemeClr>
                              </a:solidFill>
                              <a:latin typeface="Cambria Math" panose="02040503050406030204" pitchFamily="18" charset="0"/>
                            </a:rPr>
                            <m:t>𝒏</m:t>
                          </m:r>
                        </m:sup>
                      </m:sSup>
                    </m:oMath>
                  </a14:m>
                  <a:r>
                    <a:rPr lang="zh-CN" altLang="en-US" sz="2000" b="1">
                      <a:solidFill>
                        <a:schemeClr val="tx2">
                          <a:lumMod val="50000"/>
                        </a:schemeClr>
                      </a:solidFill>
                    </a:rPr>
                    <a:t>时，它的特解形式是   </a:t>
                  </a:r>
                  <a14:m>
                    <m:oMath xmlns:m="http://schemas.openxmlformats.org/officeDocument/2006/math">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𝟐</m:t>
                          </m:r>
                        </m:sup>
                      </m:sSup>
                      <m:r>
                        <a:rPr lang="en-US" altLang="zh-CN" sz="2000" b="1" i="1" smtClean="0">
                          <a:solidFill>
                            <a:srgbClr val="C00000"/>
                          </a:solidFill>
                          <a:latin typeface="Cambria Math" panose="02040503050406030204" pitchFamily="18" charset="0"/>
                        </a:rPr>
                        <m:t>⋅</m:t>
                      </m:r>
                      <m:d>
                        <m:dPr>
                          <m:ctrlPr>
                            <a:rPr lang="en-US" altLang="zh-CN" sz="2000" b="1" i="1" smtClean="0">
                              <a:solidFill>
                                <a:srgbClr val="C00000"/>
                              </a:solidFill>
                              <a:latin typeface="Cambria Math" panose="02040503050406030204" pitchFamily="18" charset="0"/>
                            </a:rPr>
                          </m:ctrlPr>
                        </m:dPr>
                        <m:e>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𝟎</m:t>
                              </m:r>
                            </m:sub>
                          </m:sSub>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𝟏</m:t>
                              </m:r>
                            </m:sub>
                          </m:sSub>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𝒏</m:t>
                          </m:r>
                        </m:e>
                      </m:d>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𝟐</m:t>
                          </m:r>
                        </m:e>
                        <m:sup>
                          <m:r>
                            <a:rPr lang="en-US" altLang="zh-CN" sz="2000" b="1" i="1" smtClean="0">
                              <a:solidFill>
                                <a:srgbClr val="C00000"/>
                              </a:solidFill>
                              <a:latin typeface="Cambria Math" panose="02040503050406030204" pitchFamily="18" charset="0"/>
                            </a:rPr>
                            <m:t>𝒏</m:t>
                          </m:r>
                        </m:sup>
                      </m:sSup>
                    </m:oMath>
                  </a14:m>
                  <a:r>
                    <a:rPr lang="en-US" altLang="zh-CN" sz="2000" b="1">
                      <a:solidFill>
                        <a:schemeClr val="tx2">
                          <a:lumMod val="50000"/>
                        </a:schemeClr>
                      </a:solidFill>
                    </a:rPr>
                    <a:t> </a:t>
                  </a:r>
                  <a:r>
                    <a:rPr lang="zh-CN" altLang="en-US" sz="2000" b="1">
                      <a:solidFill>
                        <a:schemeClr val="tx2">
                          <a:lumMod val="50000"/>
                        </a:schemeClr>
                      </a:solidFill>
                    </a:rPr>
                    <a:t>；</a:t>
                  </a:r>
                  <a:endParaRPr lang="zh-CN" altLang="en-US" sz="2000" b="1">
                    <a:solidFill>
                      <a:schemeClr val="tx2">
                        <a:lumMod val="50000"/>
                      </a:schemeClr>
                    </a:solidFill>
                  </a:endParaRPr>
                </a:p>
                <a:p>
                  <a:pPr marL="342900" indent="-342900">
                    <a:spcBef>
                      <a:spcPts val="1200"/>
                    </a:spcBef>
                    <a:spcAft>
                      <a:spcPts val="600"/>
                    </a:spcAft>
                    <a:buFont typeface="Arial" panose="020B0604020202020204" pitchFamily="34" charset="0"/>
                    <a:buChar char="•"/>
                  </a:pPr>
                  <a:r>
                    <a:rPr lang="zh-CN" altLang="en-US" sz="2000" b="1">
                      <a:solidFill>
                        <a:schemeClr val="tx2">
                          <a:lumMod val="50000"/>
                        </a:schemeClr>
                      </a:solidFill>
                    </a:rPr>
                    <a:t>当</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𝑭</m:t>
                      </m:r>
                      <m:d>
                        <m:dPr>
                          <m:ctrlPr>
                            <a:rPr lang="en-US" altLang="zh-CN" sz="2000" b="1" i="1" smtClean="0">
                              <a:solidFill>
                                <a:schemeClr val="tx2">
                                  <a:lumMod val="50000"/>
                                </a:schemeClr>
                              </a:solidFill>
                              <a:latin typeface="Cambria Math" panose="02040503050406030204" pitchFamily="18" charset="0"/>
                            </a:rPr>
                          </m:ctrlPr>
                        </m:dPr>
                        <m:e>
                          <m:r>
                            <a:rPr lang="en-US" altLang="zh-CN" sz="2000" b="1" i="1" smtClean="0">
                              <a:solidFill>
                                <a:schemeClr val="tx2">
                                  <a:lumMod val="50000"/>
                                </a:schemeClr>
                              </a:solidFill>
                              <a:latin typeface="Cambria Math" panose="02040503050406030204" pitchFamily="18" charset="0"/>
                            </a:rPr>
                            <m:t>𝒏</m:t>
                          </m:r>
                        </m:e>
                      </m:d>
                      <m:r>
                        <a:rPr lang="en-US" altLang="zh-CN" sz="2000" b="1" i="1" smtClean="0">
                          <a:solidFill>
                            <a:schemeClr val="tx2">
                              <a:lumMod val="50000"/>
                            </a:schemeClr>
                          </a:solidFill>
                          <a:latin typeface="Cambria Math" panose="02040503050406030204" pitchFamily="18" charset="0"/>
                        </a:rPr>
                        <m:t>= </m:t>
                      </m:r>
                      <m:sSup>
                        <m:sSupPr>
                          <m:ctrlPr>
                            <a:rPr lang="en-US" altLang="zh-CN" sz="2000" b="1" i="1" smtClean="0">
                              <a:solidFill>
                                <a:schemeClr val="tx2">
                                  <a:lumMod val="50000"/>
                                </a:schemeClr>
                              </a:solidFill>
                              <a:latin typeface="Cambria Math" panose="02040503050406030204" pitchFamily="18" charset="0"/>
                            </a:rPr>
                          </m:ctrlPr>
                        </m:sSupPr>
                        <m:e>
                          <m:r>
                            <a:rPr lang="en-US" altLang="zh-CN" sz="2000" b="1" i="1" smtClean="0">
                              <a:solidFill>
                                <a:schemeClr val="tx2">
                                  <a:lumMod val="50000"/>
                                </a:schemeClr>
                              </a:solidFill>
                              <a:latin typeface="Cambria Math" panose="02040503050406030204" pitchFamily="18" charset="0"/>
                            </a:rPr>
                            <m:t>𝒏</m:t>
                          </m:r>
                        </m:e>
                        <m:sup>
                          <m:r>
                            <a:rPr lang="en-US" altLang="zh-CN" sz="2000" b="1" i="1" smtClean="0">
                              <a:solidFill>
                                <a:schemeClr val="tx2">
                                  <a:lumMod val="50000"/>
                                </a:schemeClr>
                              </a:solidFill>
                              <a:latin typeface="Cambria Math" panose="02040503050406030204" pitchFamily="18" charset="0"/>
                            </a:rPr>
                            <m:t>𝟐</m:t>
                          </m:r>
                        </m:sup>
                      </m:sSup>
                      <m:sSup>
                        <m:sSupPr>
                          <m:ctrlPr>
                            <a:rPr lang="en-US" altLang="zh-CN" sz="2000" b="1" i="1" smtClean="0">
                              <a:solidFill>
                                <a:schemeClr val="tx2">
                                  <a:lumMod val="50000"/>
                                </a:schemeClr>
                              </a:solidFill>
                              <a:latin typeface="Cambria Math" panose="02040503050406030204" pitchFamily="18" charset="0"/>
                            </a:rPr>
                          </m:ctrlPr>
                        </m:sSupPr>
                        <m:e>
                          <m:r>
                            <a:rPr lang="en-US" altLang="zh-CN" sz="2000" b="1" i="1" smtClean="0">
                              <a:solidFill>
                                <a:schemeClr val="tx2">
                                  <a:lumMod val="50000"/>
                                </a:schemeClr>
                              </a:solidFill>
                              <a:latin typeface="Cambria Math" panose="02040503050406030204" pitchFamily="18" charset="0"/>
                            </a:rPr>
                            <m:t>𝟒</m:t>
                          </m:r>
                        </m:e>
                        <m:sup>
                          <m:r>
                            <a:rPr lang="en-US" altLang="zh-CN" sz="2000" b="1" i="1" smtClean="0">
                              <a:solidFill>
                                <a:schemeClr val="tx2">
                                  <a:lumMod val="50000"/>
                                </a:schemeClr>
                              </a:solidFill>
                              <a:latin typeface="Cambria Math" panose="02040503050406030204" pitchFamily="18" charset="0"/>
                            </a:rPr>
                            <m:t>𝒏</m:t>
                          </m:r>
                        </m:sup>
                      </m:sSup>
                    </m:oMath>
                  </a14:m>
                  <a:r>
                    <a:rPr lang="zh-CN" altLang="en-US" sz="2000" b="1">
                      <a:solidFill>
                        <a:schemeClr val="tx2">
                          <a:lumMod val="50000"/>
                        </a:schemeClr>
                      </a:solidFill>
                    </a:rPr>
                    <a:t>时，它的特解形式是   </a:t>
                  </a:r>
                  <a14:m>
                    <m:oMath xmlns:m="http://schemas.openxmlformats.org/officeDocument/2006/math">
                      <m:d>
                        <m:dPr>
                          <m:ctrlPr>
                            <a:rPr lang="en-US" altLang="zh-CN" sz="2000" b="1" i="1" smtClean="0">
                              <a:solidFill>
                                <a:srgbClr val="C00000"/>
                              </a:solidFill>
                              <a:latin typeface="Cambria Math" panose="02040503050406030204" pitchFamily="18" charset="0"/>
                            </a:rPr>
                          </m:ctrlPr>
                        </m:dPr>
                        <m:e>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𝟎</m:t>
                              </m:r>
                            </m:sub>
                          </m:sSub>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𝟏</m:t>
                              </m:r>
                            </m:sub>
                          </m:sSub>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𝟐</m:t>
                              </m:r>
                            </m:sub>
                          </m:sSub>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𝟐</m:t>
                              </m:r>
                            </m:sup>
                          </m:sSup>
                        </m:e>
                      </m:d>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𝟒</m:t>
                          </m:r>
                        </m:e>
                        <m:sup>
                          <m:r>
                            <a:rPr lang="en-US" altLang="zh-CN" sz="2000" b="1" i="1" smtClean="0">
                              <a:solidFill>
                                <a:srgbClr val="C00000"/>
                              </a:solidFill>
                              <a:latin typeface="Cambria Math" panose="02040503050406030204" pitchFamily="18" charset="0"/>
                            </a:rPr>
                            <m:t>𝒏</m:t>
                          </m:r>
                        </m:sup>
                      </m:sSup>
                    </m:oMath>
                  </a14:m>
                  <a:r>
                    <a:rPr lang="en-US" altLang="zh-CN" sz="2000" b="1">
                      <a:solidFill>
                        <a:schemeClr val="tx2">
                          <a:lumMod val="50000"/>
                        </a:schemeClr>
                      </a:solidFill>
                    </a:rPr>
                    <a:t> </a:t>
                  </a:r>
                  <a:r>
                    <a:rPr lang="zh-CN" altLang="en-US" sz="2000" b="1">
                      <a:solidFill>
                        <a:schemeClr val="tx2">
                          <a:lumMod val="50000"/>
                        </a:schemeClr>
                      </a:solidFill>
                    </a:rPr>
                    <a:t>；</a:t>
                  </a:r>
                  <a:endParaRPr lang="zh-CN" altLang="en-US" sz="2000" b="1">
                    <a:solidFill>
                      <a:schemeClr val="tx2">
                        <a:lumMod val="50000"/>
                      </a:schemeClr>
                    </a:solidFill>
                  </a:endParaRPr>
                </a:p>
                <a:p>
                  <a:pPr marL="342900" indent="-342900">
                    <a:spcBef>
                      <a:spcPts val="1200"/>
                    </a:spcBef>
                    <a:spcAft>
                      <a:spcPts val="600"/>
                    </a:spcAft>
                    <a:buFont typeface="Arial" panose="020B0604020202020204" pitchFamily="34" charset="0"/>
                    <a:buChar char="•"/>
                  </a:pPr>
                  <a:r>
                    <a:rPr lang="zh-CN" altLang="en-US" sz="2000" b="1">
                      <a:solidFill>
                        <a:schemeClr val="tx2">
                          <a:lumMod val="50000"/>
                        </a:schemeClr>
                      </a:solidFill>
                    </a:rPr>
                    <a:t>当</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𝑭</m:t>
                      </m:r>
                      <m:d>
                        <m:dPr>
                          <m:ctrlPr>
                            <a:rPr lang="en-US" altLang="zh-CN" sz="2000" b="1" i="1" smtClean="0">
                              <a:solidFill>
                                <a:schemeClr val="tx2">
                                  <a:lumMod val="50000"/>
                                </a:schemeClr>
                              </a:solidFill>
                              <a:latin typeface="Cambria Math" panose="02040503050406030204" pitchFamily="18" charset="0"/>
                            </a:rPr>
                          </m:ctrlPr>
                        </m:dPr>
                        <m:e>
                          <m:r>
                            <a:rPr lang="en-US" altLang="zh-CN" sz="2000" b="1" i="1" smtClean="0">
                              <a:solidFill>
                                <a:schemeClr val="tx2">
                                  <a:lumMod val="50000"/>
                                </a:schemeClr>
                              </a:solidFill>
                              <a:latin typeface="Cambria Math" panose="02040503050406030204" pitchFamily="18" charset="0"/>
                            </a:rPr>
                            <m:t>𝒏</m:t>
                          </m:r>
                        </m:e>
                      </m:d>
                      <m:r>
                        <a:rPr lang="en-US" altLang="zh-CN" sz="2000" b="1" i="1" smtClean="0">
                          <a:solidFill>
                            <a:schemeClr val="tx2">
                              <a:lumMod val="50000"/>
                            </a:schemeClr>
                          </a:solidFill>
                          <a:latin typeface="Cambria Math" panose="02040503050406030204" pitchFamily="18" charset="0"/>
                        </a:rPr>
                        <m:t>= </m:t>
                      </m:r>
                      <m:d>
                        <m:dPr>
                          <m:ctrlPr>
                            <a:rPr lang="en-US" altLang="zh-CN" sz="2000" b="1" i="1" smtClean="0">
                              <a:solidFill>
                                <a:schemeClr val="tx2">
                                  <a:lumMod val="50000"/>
                                </a:schemeClr>
                              </a:solidFill>
                              <a:latin typeface="Cambria Math" panose="02040503050406030204" pitchFamily="18" charset="0"/>
                            </a:rPr>
                          </m:ctrlPr>
                        </m:dPr>
                        <m:e>
                          <m:sSup>
                            <m:sSupPr>
                              <m:ctrlPr>
                                <a:rPr lang="en-US" altLang="zh-CN" sz="2000" b="1" i="1" smtClean="0">
                                  <a:solidFill>
                                    <a:schemeClr val="tx2">
                                      <a:lumMod val="50000"/>
                                    </a:schemeClr>
                                  </a:solidFill>
                                  <a:latin typeface="Cambria Math" panose="02040503050406030204" pitchFamily="18" charset="0"/>
                                </a:rPr>
                              </m:ctrlPr>
                            </m:sSupPr>
                            <m:e>
                              <m:r>
                                <a:rPr lang="en-US" altLang="zh-CN" sz="2000" b="1" i="1" smtClean="0">
                                  <a:solidFill>
                                    <a:schemeClr val="tx2">
                                      <a:lumMod val="50000"/>
                                    </a:schemeClr>
                                  </a:solidFill>
                                  <a:latin typeface="Cambria Math" panose="02040503050406030204" pitchFamily="18" charset="0"/>
                                </a:rPr>
                                <m:t>𝒏</m:t>
                              </m:r>
                            </m:e>
                            <m:sup>
                              <m:r>
                                <a:rPr lang="en-US" altLang="zh-CN" sz="2000" b="1" i="1" smtClean="0">
                                  <a:solidFill>
                                    <a:schemeClr val="tx2">
                                      <a:lumMod val="50000"/>
                                    </a:schemeClr>
                                  </a:solidFill>
                                  <a:latin typeface="Cambria Math" panose="02040503050406030204" pitchFamily="18" charset="0"/>
                                </a:rPr>
                                <m:t>𝟐</m:t>
                              </m:r>
                            </m:sup>
                          </m:sSup>
                          <m:r>
                            <a:rPr lang="en-US" altLang="zh-CN" sz="2000" b="1" i="1" smtClean="0">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𝒏</m:t>
                          </m:r>
                          <m:r>
                            <a:rPr lang="en-US" altLang="zh-CN" sz="2000" b="1" i="1" smtClean="0">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𝟏</m:t>
                          </m:r>
                        </m:e>
                      </m:d>
                      <m:sSup>
                        <m:sSupPr>
                          <m:ctrlPr>
                            <a:rPr lang="en-US" altLang="zh-CN" sz="2000" b="1" i="1" smtClean="0">
                              <a:solidFill>
                                <a:schemeClr val="tx2">
                                  <a:lumMod val="50000"/>
                                </a:schemeClr>
                              </a:solidFill>
                              <a:latin typeface="Cambria Math" panose="02040503050406030204" pitchFamily="18" charset="0"/>
                            </a:rPr>
                          </m:ctrlPr>
                        </m:sSupPr>
                        <m:e>
                          <m:d>
                            <m:dPr>
                              <m:ctrlPr>
                                <a:rPr lang="en-US" altLang="zh-CN" sz="2000" b="1" i="1" smtClean="0">
                                  <a:solidFill>
                                    <a:schemeClr val="tx2">
                                      <a:lumMod val="50000"/>
                                    </a:schemeClr>
                                  </a:solidFill>
                                  <a:latin typeface="Cambria Math" panose="02040503050406030204" pitchFamily="18" charset="0"/>
                                </a:rPr>
                              </m:ctrlPr>
                            </m:dPr>
                            <m:e>
                              <m:r>
                                <a:rPr lang="en-US" altLang="zh-CN" sz="2000" b="1" i="1" smtClean="0">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𝟐</m:t>
                              </m:r>
                            </m:e>
                          </m:d>
                        </m:e>
                        <m:sup>
                          <m:r>
                            <a:rPr lang="en-US" altLang="zh-CN" sz="2000" b="1" i="1" smtClean="0">
                              <a:solidFill>
                                <a:schemeClr val="tx2">
                                  <a:lumMod val="50000"/>
                                </a:schemeClr>
                              </a:solidFill>
                              <a:latin typeface="Cambria Math" panose="02040503050406030204" pitchFamily="18" charset="0"/>
                            </a:rPr>
                            <m:t>𝒏</m:t>
                          </m:r>
                        </m:sup>
                      </m:sSup>
                    </m:oMath>
                  </a14:m>
                  <a:r>
                    <a:rPr lang="zh-CN" altLang="en-US" sz="2000" b="1">
                      <a:solidFill>
                        <a:schemeClr val="tx2">
                          <a:lumMod val="50000"/>
                        </a:schemeClr>
                      </a:solidFill>
                    </a:rPr>
                    <a:t>时，它的特解形式是   </a:t>
                  </a:r>
                  <a14:m>
                    <m:oMath xmlns:m="http://schemas.openxmlformats.org/officeDocument/2006/math">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𝟐</m:t>
                          </m:r>
                        </m:sup>
                      </m:sSup>
                      <m:r>
                        <a:rPr lang="en-US" altLang="zh-CN" sz="2000" b="1" i="1" smtClean="0">
                          <a:solidFill>
                            <a:srgbClr val="C00000"/>
                          </a:solidFill>
                          <a:latin typeface="Cambria Math" panose="02040503050406030204" pitchFamily="18" charset="0"/>
                        </a:rPr>
                        <m:t>⋅</m:t>
                      </m:r>
                      <m:d>
                        <m:dPr>
                          <m:ctrlPr>
                            <a:rPr lang="en-US" altLang="zh-CN" sz="2000" b="1" i="1" smtClean="0">
                              <a:solidFill>
                                <a:srgbClr val="C00000"/>
                              </a:solidFill>
                              <a:latin typeface="Cambria Math" panose="02040503050406030204" pitchFamily="18" charset="0"/>
                            </a:rPr>
                          </m:ctrlPr>
                        </m:dPr>
                        <m:e>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𝟎</m:t>
                              </m:r>
                            </m:sub>
                          </m:sSub>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𝟏</m:t>
                              </m:r>
                            </m:sub>
                          </m:sSub>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𝟐</m:t>
                              </m:r>
                            </m:sub>
                          </m:sSub>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𝟐</m:t>
                              </m:r>
                            </m:sup>
                          </m:sSup>
                        </m:e>
                      </m:d>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𝟐</m:t>
                              </m:r>
                            </m:e>
                          </m:d>
                        </m:e>
                        <m:sup>
                          <m:r>
                            <a:rPr lang="en-US" altLang="zh-CN" sz="2000" b="1" i="1" smtClean="0">
                              <a:solidFill>
                                <a:srgbClr val="C00000"/>
                              </a:solidFill>
                              <a:latin typeface="Cambria Math" panose="02040503050406030204" pitchFamily="18" charset="0"/>
                            </a:rPr>
                            <m:t>𝒏</m:t>
                          </m:r>
                        </m:sup>
                      </m:sSup>
                    </m:oMath>
                  </a14:m>
                  <a:r>
                    <a:rPr lang="en-US" altLang="zh-CN" sz="2000" b="1">
                      <a:solidFill>
                        <a:schemeClr val="tx2">
                          <a:lumMod val="50000"/>
                        </a:schemeClr>
                      </a:solidFill>
                    </a:rPr>
                    <a:t> </a:t>
                  </a:r>
                  <a:r>
                    <a:rPr lang="zh-CN" altLang="en-US" sz="2000" b="1">
                      <a:solidFill>
                        <a:schemeClr val="tx2">
                          <a:lumMod val="50000"/>
                        </a:schemeClr>
                      </a:solidFill>
                    </a:rPr>
                    <a:t>；</a:t>
                  </a:r>
                  <a:endParaRPr lang="zh-CN" altLang="en-US" sz="2000" b="1">
                    <a:solidFill>
                      <a:schemeClr val="tx2">
                        <a:lumMod val="50000"/>
                      </a:schemeClr>
                    </a:solidFill>
                  </a:endParaRPr>
                </a:p>
                <a:p>
                  <a:pPr marL="342900" indent="-342900">
                    <a:spcBef>
                      <a:spcPts val="1200"/>
                    </a:spcBef>
                    <a:spcAft>
                      <a:spcPts val="600"/>
                    </a:spcAft>
                    <a:buFont typeface="Arial" panose="020B0604020202020204" pitchFamily="34" charset="0"/>
                    <a:buChar char="•"/>
                  </a:pPr>
                  <a:r>
                    <a:rPr lang="zh-CN" altLang="en-US" sz="2000" b="1">
                      <a:solidFill>
                        <a:schemeClr val="tx2">
                          <a:lumMod val="50000"/>
                        </a:schemeClr>
                      </a:solidFill>
                    </a:rPr>
                    <a:t>当</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𝑭</m:t>
                      </m:r>
                      <m:r>
                        <a:rPr lang="en-US" altLang="zh-CN" sz="2000" b="1" i="1" smtClean="0">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𝒏</m:t>
                      </m:r>
                      <m:r>
                        <a:rPr lang="en-US" altLang="zh-CN" sz="2000" b="1" i="1" smtClean="0">
                          <a:solidFill>
                            <a:schemeClr val="tx2">
                              <a:lumMod val="50000"/>
                            </a:schemeClr>
                          </a:solidFill>
                          <a:latin typeface="Cambria Math" panose="02040503050406030204" pitchFamily="18" charset="0"/>
                        </a:rPr>
                        <m:t>) = </m:t>
                      </m:r>
                      <m:r>
                        <a:rPr lang="en-US" altLang="zh-CN" sz="2000" b="1" i="1" smtClean="0">
                          <a:solidFill>
                            <a:schemeClr val="tx2">
                              <a:lumMod val="50000"/>
                            </a:schemeClr>
                          </a:solidFill>
                          <a:latin typeface="Cambria Math" panose="02040503050406030204" pitchFamily="18" charset="0"/>
                        </a:rPr>
                        <m:t>𝟐</m:t>
                      </m:r>
                    </m:oMath>
                  </a14:m>
                  <a:r>
                    <a:rPr lang="zh-CN" altLang="en-US" sz="2000" b="1">
                      <a:solidFill>
                        <a:schemeClr val="tx2">
                          <a:lumMod val="50000"/>
                        </a:schemeClr>
                      </a:solidFill>
                    </a:rPr>
                    <a:t>时，它的特解形式是          </a:t>
                  </a:r>
                  <a14:m>
                    <m:oMath xmlns:m="http://schemas.openxmlformats.org/officeDocument/2006/math">
                      <m:r>
                        <a:rPr lang="zh-CN" altLang="en-US" sz="2000" b="1" i="1" smtClean="0">
                          <a:solidFill>
                            <a:schemeClr val="tx2">
                              <a:lumMod val="50000"/>
                            </a:schemeClr>
                          </a:solidFill>
                          <a:latin typeface="Cambria Math" panose="02040503050406030204" pitchFamily="18" charset="0"/>
                        </a:rPr>
                        <m:t> </m:t>
                      </m:r>
                      <m:sSub>
                        <m:sSubPr>
                          <m:ctrlPr>
                            <a:rPr lang="en-US" altLang="zh-CN" sz="2000" b="1" i="1" smtClean="0">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𝒑</m:t>
                          </m:r>
                        </m:e>
                        <m:sub>
                          <m:r>
                            <a:rPr lang="en-US" altLang="zh-CN" sz="2000" b="1" i="1">
                              <a:solidFill>
                                <a:srgbClr val="C00000"/>
                              </a:solidFill>
                              <a:latin typeface="Cambria Math" panose="02040503050406030204" pitchFamily="18" charset="0"/>
                            </a:rPr>
                            <m:t>𝟎</m:t>
                          </m:r>
                        </m:sub>
                      </m:sSub>
                    </m:oMath>
                  </a14:m>
                  <a:r>
                    <a:rPr lang="en-US" altLang="zh-CN" sz="2000" b="1">
                      <a:solidFill>
                        <a:schemeClr val="tx2">
                          <a:lumMod val="50000"/>
                        </a:schemeClr>
                      </a:solidFill>
                    </a:rPr>
                    <a:t>           </a:t>
                  </a:r>
                  <a:r>
                    <a:rPr lang="zh-CN" altLang="en-US" sz="2000" b="1">
                      <a:solidFill>
                        <a:schemeClr val="tx2">
                          <a:lumMod val="50000"/>
                        </a:schemeClr>
                      </a:solidFill>
                    </a:rPr>
                    <a:t>；</a:t>
                  </a:r>
                  <a:endParaRPr lang="zh-CN" altLang="en-US" sz="2000" b="1">
                    <a:solidFill>
                      <a:schemeClr val="tx2">
                        <a:lumMod val="50000"/>
                      </a:schemeClr>
                    </a:solidFill>
                  </a:endParaRPr>
                </a:p>
                <a:p>
                  <a:pPr marL="342900" indent="-342900">
                    <a:spcBef>
                      <a:spcPts val="1200"/>
                    </a:spcBef>
                    <a:spcAft>
                      <a:spcPts val="600"/>
                    </a:spcAft>
                    <a:buFont typeface="Arial" panose="020B0604020202020204" pitchFamily="34" charset="0"/>
                    <a:buChar char="•"/>
                  </a:pPr>
                  <a:r>
                    <a:rPr lang="zh-CN" altLang="en-US" sz="2000" b="1">
                      <a:solidFill>
                        <a:schemeClr val="tx2">
                          <a:lumMod val="50000"/>
                        </a:schemeClr>
                      </a:solidFill>
                    </a:rPr>
                    <a:t>当</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𝑭</m:t>
                      </m:r>
                      <m:d>
                        <m:dPr>
                          <m:ctrlPr>
                            <a:rPr lang="en-US" altLang="zh-CN" sz="2000" b="1" i="1" smtClean="0">
                              <a:solidFill>
                                <a:schemeClr val="tx2">
                                  <a:lumMod val="50000"/>
                                </a:schemeClr>
                              </a:solidFill>
                              <a:latin typeface="Cambria Math" panose="02040503050406030204" pitchFamily="18" charset="0"/>
                            </a:rPr>
                          </m:ctrlPr>
                        </m:dPr>
                        <m:e>
                          <m:r>
                            <a:rPr lang="en-US" altLang="zh-CN" sz="2000" b="1" i="1" smtClean="0">
                              <a:solidFill>
                                <a:schemeClr val="tx2">
                                  <a:lumMod val="50000"/>
                                </a:schemeClr>
                              </a:solidFill>
                              <a:latin typeface="Cambria Math" panose="02040503050406030204" pitchFamily="18" charset="0"/>
                            </a:rPr>
                            <m:t>𝒏</m:t>
                          </m:r>
                        </m:e>
                      </m:d>
                      <m:r>
                        <a:rPr lang="en-US" altLang="zh-CN" sz="2000" b="1" i="1" smtClean="0">
                          <a:solidFill>
                            <a:schemeClr val="tx2">
                              <a:lumMod val="50000"/>
                            </a:schemeClr>
                          </a:solidFill>
                          <a:latin typeface="Cambria Math" panose="02040503050406030204" pitchFamily="18" charset="0"/>
                        </a:rPr>
                        <m:t>= </m:t>
                      </m:r>
                      <m:sSup>
                        <m:sSupPr>
                          <m:ctrlPr>
                            <a:rPr lang="en-US" altLang="zh-CN" sz="2000" b="1" i="1" smtClean="0">
                              <a:solidFill>
                                <a:schemeClr val="tx2">
                                  <a:lumMod val="50000"/>
                                </a:schemeClr>
                              </a:solidFill>
                              <a:latin typeface="Cambria Math" panose="02040503050406030204" pitchFamily="18" charset="0"/>
                            </a:rPr>
                          </m:ctrlPr>
                        </m:sSupPr>
                        <m:e>
                          <m:r>
                            <a:rPr lang="en-US" altLang="zh-CN" sz="2000" b="1" i="1" smtClean="0">
                              <a:solidFill>
                                <a:schemeClr val="tx2">
                                  <a:lumMod val="50000"/>
                                </a:schemeClr>
                              </a:solidFill>
                              <a:latin typeface="Cambria Math" panose="02040503050406030204" pitchFamily="18" charset="0"/>
                            </a:rPr>
                            <m:t>𝒏</m:t>
                          </m:r>
                        </m:e>
                        <m:sup>
                          <m:r>
                            <a:rPr lang="en-US" altLang="zh-CN" sz="2000" b="1" i="1" smtClean="0">
                              <a:solidFill>
                                <a:schemeClr val="tx2">
                                  <a:lumMod val="50000"/>
                                </a:schemeClr>
                              </a:solidFill>
                              <a:latin typeface="Cambria Math" panose="02040503050406030204" pitchFamily="18" charset="0"/>
                            </a:rPr>
                            <m:t>𝟒</m:t>
                          </m:r>
                        </m:sup>
                      </m:sSup>
                      <m:sSup>
                        <m:sSupPr>
                          <m:ctrlPr>
                            <a:rPr lang="en-US" altLang="zh-CN" sz="2000" b="1" i="1" smtClean="0">
                              <a:solidFill>
                                <a:schemeClr val="tx2">
                                  <a:lumMod val="50000"/>
                                </a:schemeClr>
                              </a:solidFill>
                              <a:latin typeface="Cambria Math" panose="02040503050406030204" pitchFamily="18" charset="0"/>
                            </a:rPr>
                          </m:ctrlPr>
                        </m:sSupPr>
                        <m:e>
                          <m:r>
                            <a:rPr lang="en-US" altLang="zh-CN" sz="2000" b="1" i="1" smtClean="0">
                              <a:solidFill>
                                <a:schemeClr val="tx2">
                                  <a:lumMod val="50000"/>
                                </a:schemeClr>
                              </a:solidFill>
                              <a:latin typeface="Cambria Math" panose="02040503050406030204" pitchFamily="18" charset="0"/>
                            </a:rPr>
                            <m:t>𝟐</m:t>
                          </m:r>
                        </m:e>
                        <m:sup>
                          <m:r>
                            <a:rPr lang="en-US" altLang="zh-CN" sz="2000" b="1" i="1" smtClean="0">
                              <a:solidFill>
                                <a:schemeClr val="tx2">
                                  <a:lumMod val="50000"/>
                                </a:schemeClr>
                              </a:solidFill>
                              <a:latin typeface="Cambria Math" panose="02040503050406030204" pitchFamily="18" charset="0"/>
                            </a:rPr>
                            <m:t>𝒏</m:t>
                          </m:r>
                        </m:sup>
                      </m:sSup>
                    </m:oMath>
                  </a14:m>
                  <a:r>
                    <a:rPr lang="zh-CN" altLang="en-US" sz="2000" b="1">
                      <a:solidFill>
                        <a:schemeClr val="tx2">
                          <a:lumMod val="50000"/>
                        </a:schemeClr>
                      </a:solidFill>
                    </a:rPr>
                    <a:t>时，它的特解形式是   </a:t>
                  </a:r>
                  <a14:m>
                    <m:oMath xmlns:m="http://schemas.openxmlformats.org/officeDocument/2006/math">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𝟐</m:t>
                          </m:r>
                        </m:sup>
                      </m:sSup>
                      <m:d>
                        <m:dPr>
                          <m:ctrlPr>
                            <a:rPr lang="en-US" altLang="zh-CN" sz="2000" b="1" i="1" smtClean="0">
                              <a:solidFill>
                                <a:srgbClr val="C00000"/>
                              </a:solidFill>
                              <a:latin typeface="Cambria Math" panose="02040503050406030204" pitchFamily="18" charset="0"/>
                            </a:rPr>
                          </m:ctrlPr>
                        </m:dPr>
                        <m:e>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𝟎</m:t>
                              </m:r>
                            </m:sub>
                          </m:sSub>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𝟏</m:t>
                              </m:r>
                            </m:sub>
                          </m:sSub>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𝟐</m:t>
                              </m:r>
                            </m:sub>
                          </m:sSub>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𝟐</m:t>
                              </m:r>
                            </m:sup>
                          </m:sSup>
                          <m:r>
                            <a:rPr lang="en-US" altLang="zh-CN" sz="2000" b="1" i="1" smtClean="0">
                              <a:solidFill>
                                <a:srgbClr val="C00000"/>
                              </a:solidFill>
                              <a:latin typeface="Cambria Math" panose="02040503050406030204" pitchFamily="18" charset="0"/>
                            </a:rPr>
                            <m:t>+ </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𝟑</m:t>
                              </m:r>
                            </m:sub>
                          </m:sSub>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𝟑</m:t>
                              </m:r>
                            </m:sup>
                          </m:sSup>
                          <m:r>
                            <a:rPr lang="en-US" altLang="zh-CN" sz="2000" b="1" i="1" smtClean="0">
                              <a:solidFill>
                                <a:srgbClr val="C00000"/>
                              </a:solidFill>
                              <a:latin typeface="Cambria Math" panose="02040503050406030204" pitchFamily="18" charset="0"/>
                            </a:rPr>
                            <m:t>+ </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𝟒</m:t>
                              </m:r>
                            </m:sub>
                          </m:sSub>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𝟒</m:t>
                              </m:r>
                            </m:sup>
                          </m:sSup>
                        </m:e>
                      </m:d>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𝟐</m:t>
                          </m:r>
                        </m:e>
                        <m:sup>
                          <m:r>
                            <a:rPr lang="en-US" altLang="zh-CN" sz="2000" b="1" i="1" smtClean="0">
                              <a:solidFill>
                                <a:srgbClr val="C00000"/>
                              </a:solidFill>
                              <a:latin typeface="Cambria Math" panose="02040503050406030204" pitchFamily="18" charset="0"/>
                            </a:rPr>
                            <m:t>𝒏</m:t>
                          </m:r>
                        </m:sup>
                      </m:sSup>
                    </m:oMath>
                  </a14:m>
                  <a:r>
                    <a:rPr lang="en-US" altLang="zh-CN" sz="2000" b="1">
                      <a:solidFill>
                        <a:schemeClr val="tx2">
                          <a:lumMod val="50000"/>
                        </a:schemeClr>
                      </a:solidFill>
                    </a:rPr>
                    <a:t> </a:t>
                  </a:r>
                  <a:r>
                    <a:rPr lang="zh-CN" altLang="en-US" sz="2000" b="1">
                      <a:solidFill>
                        <a:schemeClr val="tx2">
                          <a:lumMod val="50000"/>
                        </a:schemeClr>
                      </a:solidFill>
                    </a:rPr>
                    <a:t>。</a:t>
                  </a:r>
                  <a:endParaRPr lang="zh-CN" altLang="en-US" sz="2000" b="1">
                    <a:solidFill>
                      <a:schemeClr val="tx2">
                        <a:lumMod val="50000"/>
                      </a:schemeClr>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759869" y="2797920"/>
                  <a:ext cx="10581322" cy="3226011"/>
                </a:xfrm>
                <a:prstGeom prst="rect">
                  <a:avLst/>
                </a:prstGeom>
                <a:blipFill rotWithShape="1">
                  <a:blip r:embed="rId2"/>
                </a:blipFill>
              </p:spPr>
              <p:txBody>
                <a:bodyPr/>
                <a:lstStyle/>
                <a:p>
                  <a:r>
                    <a:rPr lang="zh-CN" altLang="en-US">
                      <a:noFill/>
                    </a:rPr>
                    <a:t> </a:t>
                  </a:r>
                </a:p>
              </p:txBody>
            </p:sp>
          </mc:Fallback>
        </mc:AlternateContent>
        <p:cxnSp>
          <p:nvCxnSpPr>
            <p:cNvPr id="19" name="直接连接符 18"/>
            <p:cNvCxnSpPr/>
            <p:nvPr/>
          </p:nvCxnSpPr>
          <p:spPr>
            <a:xfrm>
              <a:off x="5443702" y="3157640"/>
              <a:ext cx="1713616"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5317615" y="3711323"/>
              <a:ext cx="2392290"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5385075" y="4304478"/>
              <a:ext cx="2982672"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6913267" y="4836232"/>
              <a:ext cx="3901651"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4924535" y="5415134"/>
              <a:ext cx="1713616"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5443702" y="5974299"/>
              <a:ext cx="552909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nvGraphicFramePr>
            <p:xfrm>
              <a:off x="1735426" y="5130076"/>
              <a:ext cx="8721145" cy="1203198"/>
            </p:xfrm>
            <a:graphic>
              <a:graphicData uri="http://schemas.openxmlformats.org/drawingml/2006/table">
                <a:tbl>
                  <a:tblPr>
                    <a:tableStyleId>{5C22544A-7EE6-4342-B048-85BDC9FD1C3A}</a:tableStyleId>
                  </a:tblPr>
                  <a:tblGrid>
                    <a:gridCol w="2920818"/>
                    <a:gridCol w="5800327"/>
                  </a:tblGrid>
                  <a:tr h="370840">
                    <a:tc>
                      <a:txBody>
                        <a:bodyPr/>
                        <a:lstStyle/>
                        <a:p>
                          <a:pPr algn="l"/>
                          <a:r>
                            <a:rPr lang="en-US" altLang="zh-CN" sz="1800" b="1">
                              <a:solidFill>
                                <a:srgbClr val="C00000"/>
                              </a:solidFill>
                            </a:rPr>
                            <a:t>A.  </a:t>
                          </a:r>
                          <a14:m>
                            <m:oMath xmlns:m="http://schemas.openxmlformats.org/officeDocument/2006/math">
                              <m:sSub>
                                <m:sSubPr>
                                  <m:ctrlPr>
                                    <a:rPr lang="en-US" altLang="zh-CN" sz="1800" b="1" i="1" smtClean="0">
                                      <a:solidFill>
                                        <a:schemeClr val="accent2">
                                          <a:lumMod val="50000"/>
                                        </a:schemeClr>
                                      </a:solidFill>
                                      <a:latin typeface="Cambria Math" panose="02040503050406030204" pitchFamily="18" charset="0"/>
                                    </a:rPr>
                                  </m:ctrlPr>
                                </m:sSubPr>
                                <m:e>
                                  <m:r>
                                    <a:rPr lang="en-US" altLang="zh-CN" sz="1800" b="1" i="1" smtClean="0">
                                      <a:solidFill>
                                        <a:schemeClr val="accent2">
                                          <a:lumMod val="50000"/>
                                        </a:schemeClr>
                                      </a:solidFill>
                                      <a:latin typeface="Cambria Math" panose="02040503050406030204" pitchFamily="18" charset="0"/>
                                    </a:rPr>
                                    <m:t>𝒑</m:t>
                                  </m:r>
                                </m:e>
                                <m:sub>
                                  <m:r>
                                    <a:rPr lang="en-US" altLang="zh-CN" sz="1800" b="1" i="1" smtClean="0">
                                      <a:solidFill>
                                        <a:schemeClr val="accent2">
                                          <a:lumMod val="50000"/>
                                        </a:schemeClr>
                                      </a:solidFill>
                                      <a:latin typeface="Cambria Math" panose="02040503050406030204" pitchFamily="18" charset="0"/>
                                    </a:rPr>
                                    <m:t>𝟎</m:t>
                                  </m:r>
                                </m:sub>
                              </m:sSub>
                            </m:oMath>
                          </a14:m>
                          <a:r>
                            <a:rPr lang="zh-CN" altLang="en-US" sz="1800" b="1">
                              <a:solidFill>
                                <a:schemeClr val="accent2">
                                  <a:lumMod val="50000"/>
                                </a:schemeClr>
                              </a:solidFill>
                            </a:rPr>
                            <a:t> </a:t>
                          </a:r>
                          <a:endParaRPr lang="zh-CN" altLang="en-US" sz="18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1800" b="1">
                              <a:solidFill>
                                <a:srgbClr val="C00000"/>
                              </a:solidFill>
                            </a:rPr>
                            <a:t>B.  </a:t>
                          </a:r>
                          <a14:m>
                            <m:oMath xmlns:m="http://schemas.openxmlformats.org/officeDocument/2006/math">
                              <m:d>
                                <m:dPr>
                                  <m:ctrlPr>
                                    <a:rPr lang="pt-BR" altLang="zh-CN" sz="1800" b="1" i="1" smtClean="0">
                                      <a:solidFill>
                                        <a:schemeClr val="accent2">
                                          <a:lumMod val="50000"/>
                                        </a:schemeClr>
                                      </a:solidFill>
                                      <a:latin typeface="Cambria Math" panose="02040503050406030204" pitchFamily="18" charset="0"/>
                                    </a:rPr>
                                  </m:ctrlPr>
                                </m:dPr>
                                <m:e>
                                  <m:sSub>
                                    <m:sSubPr>
                                      <m:ctrlPr>
                                        <a:rPr lang="pt-BR" altLang="zh-CN" sz="1800" b="1" i="1" smtClean="0">
                                          <a:solidFill>
                                            <a:schemeClr val="accent2">
                                              <a:lumMod val="50000"/>
                                            </a:schemeClr>
                                          </a:solidFill>
                                          <a:latin typeface="Cambria Math" panose="02040503050406030204" pitchFamily="18" charset="0"/>
                                        </a:rPr>
                                      </m:ctrlPr>
                                    </m:sSubPr>
                                    <m:e>
                                      <m:r>
                                        <a:rPr lang="pt-BR" altLang="zh-CN" sz="1800" b="1" i="1" smtClean="0">
                                          <a:solidFill>
                                            <a:schemeClr val="accent2">
                                              <a:lumMod val="50000"/>
                                            </a:schemeClr>
                                          </a:solidFill>
                                          <a:latin typeface="Cambria Math" panose="02040503050406030204" pitchFamily="18" charset="0"/>
                                        </a:rPr>
                                        <m:t>𝒑</m:t>
                                      </m:r>
                                    </m:e>
                                    <m:sub>
                                      <m:r>
                                        <a:rPr lang="pt-BR" altLang="zh-CN" sz="1800" b="1" i="1" smtClean="0">
                                          <a:solidFill>
                                            <a:schemeClr val="accent2">
                                              <a:lumMod val="50000"/>
                                            </a:schemeClr>
                                          </a:solidFill>
                                          <a:latin typeface="Cambria Math" panose="02040503050406030204" pitchFamily="18" charset="0"/>
                                        </a:rPr>
                                        <m:t>𝟎</m:t>
                                      </m:r>
                                    </m:sub>
                                  </m:sSub>
                                  <m:r>
                                    <a:rPr lang="pt-BR" altLang="zh-CN" sz="1800" b="1" i="1" smtClean="0">
                                      <a:solidFill>
                                        <a:schemeClr val="accent2">
                                          <a:lumMod val="50000"/>
                                        </a:schemeClr>
                                      </a:solidFill>
                                      <a:latin typeface="Cambria Math" panose="02040503050406030204" pitchFamily="18" charset="0"/>
                                    </a:rPr>
                                    <m:t>+</m:t>
                                  </m:r>
                                  <m:sSub>
                                    <m:sSubPr>
                                      <m:ctrlPr>
                                        <a:rPr lang="pt-BR" altLang="zh-CN" sz="1800" b="1" i="1" smtClean="0">
                                          <a:solidFill>
                                            <a:schemeClr val="accent2">
                                              <a:lumMod val="50000"/>
                                            </a:schemeClr>
                                          </a:solidFill>
                                          <a:latin typeface="Cambria Math" panose="02040503050406030204" pitchFamily="18" charset="0"/>
                                        </a:rPr>
                                      </m:ctrlPr>
                                    </m:sSubPr>
                                    <m:e>
                                      <m:r>
                                        <a:rPr lang="pt-BR" altLang="zh-CN" sz="1800" b="1" i="1" smtClean="0">
                                          <a:solidFill>
                                            <a:schemeClr val="accent2">
                                              <a:lumMod val="50000"/>
                                            </a:schemeClr>
                                          </a:solidFill>
                                          <a:latin typeface="Cambria Math" panose="02040503050406030204" pitchFamily="18" charset="0"/>
                                        </a:rPr>
                                        <m:t>𝒑</m:t>
                                      </m:r>
                                    </m:e>
                                    <m:sub>
                                      <m:r>
                                        <a:rPr lang="pt-BR" altLang="zh-CN" sz="1800" b="1" i="1" smtClean="0">
                                          <a:solidFill>
                                            <a:schemeClr val="accent2">
                                              <a:lumMod val="50000"/>
                                            </a:schemeClr>
                                          </a:solidFill>
                                          <a:latin typeface="Cambria Math" panose="02040503050406030204" pitchFamily="18" charset="0"/>
                                        </a:rPr>
                                        <m:t>𝟏</m:t>
                                      </m:r>
                                    </m:sub>
                                  </m:sSub>
                                  <m:r>
                                    <a:rPr lang="pt-BR" altLang="zh-CN" sz="1800" b="1" i="1" smtClean="0">
                                      <a:solidFill>
                                        <a:schemeClr val="accent2">
                                          <a:lumMod val="50000"/>
                                        </a:schemeClr>
                                      </a:solidFill>
                                      <a:latin typeface="Cambria Math" panose="02040503050406030204" pitchFamily="18" charset="0"/>
                                    </a:rPr>
                                    <m:t>⋅</m:t>
                                  </m:r>
                                  <m:r>
                                    <a:rPr lang="pt-BR" altLang="zh-CN" sz="1800" b="1" i="1" smtClean="0">
                                      <a:solidFill>
                                        <a:schemeClr val="accent2">
                                          <a:lumMod val="50000"/>
                                        </a:schemeClr>
                                      </a:solidFill>
                                      <a:latin typeface="Cambria Math" panose="02040503050406030204" pitchFamily="18" charset="0"/>
                                    </a:rPr>
                                    <m:t>𝒏</m:t>
                                  </m:r>
                                  <m:r>
                                    <a:rPr lang="pt-BR" altLang="zh-CN" sz="1800" b="1" i="1" smtClean="0">
                                      <a:solidFill>
                                        <a:schemeClr val="accent2">
                                          <a:lumMod val="50000"/>
                                        </a:schemeClr>
                                      </a:solidFill>
                                      <a:latin typeface="Cambria Math" panose="02040503050406030204" pitchFamily="18" charset="0"/>
                                    </a:rPr>
                                    <m:t>+</m:t>
                                  </m:r>
                                  <m:sSub>
                                    <m:sSubPr>
                                      <m:ctrlPr>
                                        <a:rPr lang="pt-BR" altLang="zh-CN" sz="1800" b="1" i="1" smtClean="0">
                                          <a:solidFill>
                                            <a:schemeClr val="accent2">
                                              <a:lumMod val="50000"/>
                                            </a:schemeClr>
                                          </a:solidFill>
                                          <a:latin typeface="Cambria Math" panose="02040503050406030204" pitchFamily="18" charset="0"/>
                                        </a:rPr>
                                      </m:ctrlPr>
                                    </m:sSubPr>
                                    <m:e>
                                      <m:r>
                                        <a:rPr lang="pt-BR" altLang="zh-CN" sz="1800" b="1" i="1" smtClean="0">
                                          <a:solidFill>
                                            <a:schemeClr val="accent2">
                                              <a:lumMod val="50000"/>
                                            </a:schemeClr>
                                          </a:solidFill>
                                          <a:latin typeface="Cambria Math" panose="02040503050406030204" pitchFamily="18" charset="0"/>
                                        </a:rPr>
                                        <m:t>𝒑</m:t>
                                      </m:r>
                                    </m:e>
                                    <m:sub>
                                      <m:r>
                                        <a:rPr lang="pt-BR" altLang="zh-CN" sz="1800" b="1" i="1" smtClean="0">
                                          <a:solidFill>
                                            <a:schemeClr val="accent2">
                                              <a:lumMod val="50000"/>
                                            </a:schemeClr>
                                          </a:solidFill>
                                          <a:latin typeface="Cambria Math" panose="02040503050406030204" pitchFamily="18" charset="0"/>
                                        </a:rPr>
                                        <m:t>𝟐</m:t>
                                      </m:r>
                                    </m:sub>
                                  </m:sSub>
                                  <m:r>
                                    <a:rPr lang="pt-BR" altLang="zh-CN" sz="1800" b="1" i="1" smtClean="0">
                                      <a:solidFill>
                                        <a:schemeClr val="accent2">
                                          <a:lumMod val="50000"/>
                                        </a:schemeClr>
                                      </a:solidFill>
                                      <a:latin typeface="Cambria Math" panose="02040503050406030204" pitchFamily="18" charset="0"/>
                                    </a:rPr>
                                    <m:t>⋅</m:t>
                                  </m:r>
                                  <m:sSup>
                                    <m:sSupPr>
                                      <m:ctrlPr>
                                        <a:rPr lang="pt-BR" altLang="zh-CN" sz="1800" b="1" i="1" smtClean="0">
                                          <a:solidFill>
                                            <a:schemeClr val="accent2">
                                              <a:lumMod val="50000"/>
                                            </a:schemeClr>
                                          </a:solidFill>
                                          <a:latin typeface="Cambria Math" panose="02040503050406030204" pitchFamily="18" charset="0"/>
                                        </a:rPr>
                                      </m:ctrlPr>
                                    </m:sSupPr>
                                    <m:e>
                                      <m:r>
                                        <a:rPr lang="pt-BR" altLang="zh-CN" sz="1800" b="1" i="1" smtClean="0">
                                          <a:solidFill>
                                            <a:schemeClr val="accent2">
                                              <a:lumMod val="50000"/>
                                            </a:schemeClr>
                                          </a:solidFill>
                                          <a:latin typeface="Cambria Math" panose="02040503050406030204" pitchFamily="18" charset="0"/>
                                        </a:rPr>
                                        <m:t>𝒏</m:t>
                                      </m:r>
                                    </m:e>
                                    <m:sup>
                                      <m:r>
                                        <a:rPr lang="pt-BR" altLang="zh-CN" sz="1800" b="1" i="1" smtClean="0">
                                          <a:solidFill>
                                            <a:schemeClr val="accent2">
                                              <a:lumMod val="50000"/>
                                            </a:schemeClr>
                                          </a:solidFill>
                                          <a:latin typeface="Cambria Math" panose="02040503050406030204" pitchFamily="18" charset="0"/>
                                        </a:rPr>
                                        <m:t>𝟐</m:t>
                                      </m:r>
                                    </m:sup>
                                  </m:sSup>
                                </m:e>
                              </m:d>
                              <m:r>
                                <a:rPr lang="pt-BR" altLang="zh-CN" sz="1800" b="1" i="1" smtClean="0">
                                  <a:solidFill>
                                    <a:schemeClr val="accent2">
                                      <a:lumMod val="50000"/>
                                    </a:schemeClr>
                                  </a:solidFill>
                                  <a:latin typeface="Cambria Math" panose="02040503050406030204" pitchFamily="18" charset="0"/>
                                </a:rPr>
                                <m:t>⋅</m:t>
                              </m:r>
                              <m:sSup>
                                <m:sSupPr>
                                  <m:ctrlPr>
                                    <a:rPr lang="pt-BR" altLang="zh-CN" sz="1800" b="1" i="1" smtClean="0">
                                      <a:solidFill>
                                        <a:schemeClr val="accent2">
                                          <a:lumMod val="50000"/>
                                        </a:schemeClr>
                                      </a:solidFill>
                                      <a:latin typeface="Cambria Math" panose="02040503050406030204" pitchFamily="18" charset="0"/>
                                    </a:rPr>
                                  </m:ctrlPr>
                                </m:sSupPr>
                                <m:e>
                                  <m:r>
                                    <a:rPr lang="pt-BR" altLang="zh-CN" sz="1800" b="1" i="1" smtClean="0">
                                      <a:solidFill>
                                        <a:schemeClr val="accent2">
                                          <a:lumMod val="50000"/>
                                        </a:schemeClr>
                                      </a:solidFill>
                                      <a:latin typeface="Cambria Math" panose="02040503050406030204" pitchFamily="18" charset="0"/>
                                    </a:rPr>
                                    <m:t>𝟒</m:t>
                                  </m:r>
                                </m:e>
                                <m:sup>
                                  <m:r>
                                    <a:rPr lang="pt-BR" altLang="zh-CN" sz="1800" b="1" i="1" smtClean="0">
                                      <a:solidFill>
                                        <a:schemeClr val="accent2">
                                          <a:lumMod val="50000"/>
                                        </a:schemeClr>
                                      </a:solidFill>
                                      <a:latin typeface="Cambria Math" panose="02040503050406030204" pitchFamily="18" charset="0"/>
                                    </a:rPr>
                                    <m:t>𝒏</m:t>
                                  </m:r>
                                </m:sup>
                              </m:sSup>
                            </m:oMath>
                          </a14:m>
                          <a:r>
                            <a:rPr lang="zh-CN" altLang="en-US" sz="1800" b="1">
                              <a:solidFill>
                                <a:schemeClr val="accent2">
                                  <a:lumMod val="50000"/>
                                </a:schemeClr>
                              </a:solidFill>
                            </a:rPr>
                            <a:t> </a:t>
                          </a:r>
                          <a:endParaRPr lang="zh-CN" altLang="en-US" sz="18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r>
                  <a:tr h="370840">
                    <a:tc>
                      <a:txBody>
                        <a:bodyPr/>
                        <a:lstStyle/>
                        <a:p>
                          <a:pPr algn="l"/>
                          <a:r>
                            <a:rPr lang="en-US" altLang="zh-CN" sz="1800" b="1">
                              <a:solidFill>
                                <a:srgbClr val="C00000"/>
                              </a:solidFill>
                            </a:rPr>
                            <a:t>C.  </a:t>
                          </a:r>
                          <a14:m>
                            <m:oMath xmlns:m="http://schemas.openxmlformats.org/officeDocument/2006/math">
                              <m:sSup>
                                <m:sSupPr>
                                  <m:ctrlPr>
                                    <a:rPr lang="pt-BR" altLang="zh-CN" sz="1800" b="1" i="1" smtClean="0">
                                      <a:solidFill>
                                        <a:schemeClr val="accent2">
                                          <a:lumMod val="50000"/>
                                        </a:schemeClr>
                                      </a:solidFill>
                                      <a:latin typeface="Cambria Math" panose="02040503050406030204" pitchFamily="18" charset="0"/>
                                    </a:rPr>
                                  </m:ctrlPr>
                                </m:sSupPr>
                                <m:e>
                                  <m:r>
                                    <a:rPr lang="pt-BR" altLang="zh-CN" sz="1800" b="1" i="1" smtClean="0">
                                      <a:solidFill>
                                        <a:schemeClr val="accent2">
                                          <a:lumMod val="50000"/>
                                        </a:schemeClr>
                                      </a:solidFill>
                                      <a:latin typeface="Cambria Math" panose="02040503050406030204" pitchFamily="18" charset="0"/>
                                    </a:rPr>
                                    <m:t>𝒏</m:t>
                                  </m:r>
                                </m:e>
                                <m:sup>
                                  <m:r>
                                    <a:rPr lang="pt-BR" altLang="zh-CN" sz="1800" b="1" i="1" smtClean="0">
                                      <a:solidFill>
                                        <a:schemeClr val="accent2">
                                          <a:lumMod val="50000"/>
                                        </a:schemeClr>
                                      </a:solidFill>
                                      <a:latin typeface="Cambria Math" panose="02040503050406030204" pitchFamily="18" charset="0"/>
                                    </a:rPr>
                                    <m:t>𝟐</m:t>
                                  </m:r>
                                </m:sup>
                              </m:sSup>
                              <m:r>
                                <a:rPr lang="pt-BR" altLang="zh-CN" sz="1800" b="1" i="1" smtClean="0">
                                  <a:solidFill>
                                    <a:schemeClr val="accent2">
                                      <a:lumMod val="50000"/>
                                    </a:schemeClr>
                                  </a:solidFill>
                                  <a:latin typeface="Cambria Math" panose="02040503050406030204" pitchFamily="18" charset="0"/>
                                </a:rPr>
                                <m:t>⋅</m:t>
                              </m:r>
                              <m:sSub>
                                <m:sSubPr>
                                  <m:ctrlPr>
                                    <a:rPr lang="pt-BR" altLang="zh-CN" sz="1800" b="1" i="1" smtClean="0">
                                      <a:solidFill>
                                        <a:schemeClr val="accent2">
                                          <a:lumMod val="50000"/>
                                        </a:schemeClr>
                                      </a:solidFill>
                                      <a:latin typeface="Cambria Math" panose="02040503050406030204" pitchFamily="18" charset="0"/>
                                    </a:rPr>
                                  </m:ctrlPr>
                                </m:sSubPr>
                                <m:e>
                                  <m:r>
                                    <a:rPr lang="pt-BR" altLang="zh-CN" sz="1800" b="1" i="1" smtClean="0">
                                      <a:solidFill>
                                        <a:schemeClr val="accent2">
                                          <a:lumMod val="50000"/>
                                        </a:schemeClr>
                                      </a:solidFill>
                                      <a:latin typeface="Cambria Math" panose="02040503050406030204" pitchFamily="18" charset="0"/>
                                    </a:rPr>
                                    <m:t>𝒑</m:t>
                                  </m:r>
                                </m:e>
                                <m:sub>
                                  <m:r>
                                    <a:rPr lang="pt-BR" altLang="zh-CN" sz="1800" b="1" i="1" smtClean="0">
                                      <a:solidFill>
                                        <a:schemeClr val="accent2">
                                          <a:lumMod val="50000"/>
                                        </a:schemeClr>
                                      </a:solidFill>
                                      <a:latin typeface="Cambria Math" panose="02040503050406030204" pitchFamily="18" charset="0"/>
                                    </a:rPr>
                                    <m:t>𝟎</m:t>
                                  </m:r>
                                </m:sub>
                              </m:sSub>
                              <m:r>
                                <a:rPr lang="pt-BR" altLang="zh-CN" sz="1800" b="1" i="1" smtClean="0">
                                  <a:solidFill>
                                    <a:schemeClr val="accent2">
                                      <a:lumMod val="50000"/>
                                    </a:schemeClr>
                                  </a:solidFill>
                                  <a:latin typeface="Cambria Math" panose="02040503050406030204" pitchFamily="18" charset="0"/>
                                </a:rPr>
                                <m:t>⋅</m:t>
                              </m:r>
                              <m:sSup>
                                <m:sSupPr>
                                  <m:ctrlPr>
                                    <a:rPr lang="pt-BR" altLang="zh-CN" sz="1800" b="1" i="1" smtClean="0">
                                      <a:solidFill>
                                        <a:schemeClr val="accent2">
                                          <a:lumMod val="50000"/>
                                        </a:schemeClr>
                                      </a:solidFill>
                                      <a:latin typeface="Cambria Math" panose="02040503050406030204" pitchFamily="18" charset="0"/>
                                    </a:rPr>
                                  </m:ctrlPr>
                                </m:sSupPr>
                                <m:e>
                                  <m:d>
                                    <m:dPr>
                                      <m:ctrlPr>
                                        <a:rPr lang="pt-BR" altLang="zh-CN" sz="1800" b="1" i="1" smtClean="0">
                                          <a:solidFill>
                                            <a:schemeClr val="accent2">
                                              <a:lumMod val="50000"/>
                                            </a:schemeClr>
                                          </a:solidFill>
                                          <a:latin typeface="Cambria Math" panose="02040503050406030204" pitchFamily="18" charset="0"/>
                                        </a:rPr>
                                      </m:ctrlPr>
                                    </m:dPr>
                                    <m:e>
                                      <m:r>
                                        <a:rPr lang="pt-BR" altLang="zh-CN" sz="1800" b="1" i="1" smtClean="0">
                                          <a:solidFill>
                                            <a:schemeClr val="accent2">
                                              <a:lumMod val="50000"/>
                                            </a:schemeClr>
                                          </a:solidFill>
                                          <a:latin typeface="Cambria Math" panose="02040503050406030204" pitchFamily="18" charset="0"/>
                                        </a:rPr>
                                        <m:t>−</m:t>
                                      </m:r>
                                      <m:r>
                                        <a:rPr lang="pt-BR" altLang="zh-CN" sz="1800" b="1" i="1" smtClean="0">
                                          <a:solidFill>
                                            <a:schemeClr val="accent2">
                                              <a:lumMod val="50000"/>
                                            </a:schemeClr>
                                          </a:solidFill>
                                          <a:latin typeface="Cambria Math" panose="02040503050406030204" pitchFamily="18" charset="0"/>
                                        </a:rPr>
                                        <m:t>𝟐</m:t>
                                      </m:r>
                                    </m:e>
                                  </m:d>
                                </m:e>
                                <m:sup>
                                  <m:r>
                                    <a:rPr lang="pt-BR" altLang="zh-CN" sz="1800" b="1" i="1" smtClean="0">
                                      <a:solidFill>
                                        <a:schemeClr val="accent2">
                                          <a:lumMod val="50000"/>
                                        </a:schemeClr>
                                      </a:solidFill>
                                      <a:latin typeface="Cambria Math" panose="02040503050406030204" pitchFamily="18" charset="0"/>
                                    </a:rPr>
                                    <m:t>𝒏</m:t>
                                  </m:r>
                                </m:sup>
                              </m:sSup>
                            </m:oMath>
                          </a14:m>
                          <a:endParaRPr lang="zh-CN" altLang="en-US" sz="18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b="1">
                              <a:solidFill>
                                <a:srgbClr val="C00000"/>
                              </a:solidFill>
                            </a:rPr>
                            <a:t>D.  </a:t>
                          </a:r>
                          <a14:m>
                            <m:oMath xmlns:m="http://schemas.openxmlformats.org/officeDocument/2006/math">
                              <m:sSup>
                                <m:sSupPr>
                                  <m:ctrlPr>
                                    <a:rPr lang="pt-BR" altLang="zh-CN" sz="1800" b="1" i="1" smtClean="0">
                                      <a:solidFill>
                                        <a:schemeClr val="accent2">
                                          <a:lumMod val="50000"/>
                                        </a:schemeClr>
                                      </a:solidFill>
                                      <a:latin typeface="Cambria Math" panose="02040503050406030204" pitchFamily="18" charset="0"/>
                                    </a:rPr>
                                  </m:ctrlPr>
                                </m:sSupPr>
                                <m:e>
                                  <m:r>
                                    <a:rPr lang="pt-BR" altLang="zh-CN" sz="1800" b="1" i="1" smtClean="0">
                                      <a:solidFill>
                                        <a:schemeClr val="accent2">
                                          <a:lumMod val="50000"/>
                                        </a:schemeClr>
                                      </a:solidFill>
                                      <a:latin typeface="Cambria Math" panose="02040503050406030204" pitchFamily="18" charset="0"/>
                                    </a:rPr>
                                    <m:t>𝒏</m:t>
                                  </m:r>
                                </m:e>
                                <m:sup>
                                  <m:r>
                                    <a:rPr lang="pt-BR" altLang="zh-CN" sz="1800" b="1" i="1" smtClean="0">
                                      <a:solidFill>
                                        <a:schemeClr val="accent2">
                                          <a:lumMod val="50000"/>
                                        </a:schemeClr>
                                      </a:solidFill>
                                      <a:latin typeface="Cambria Math" panose="02040503050406030204" pitchFamily="18" charset="0"/>
                                    </a:rPr>
                                    <m:t>𝟐</m:t>
                                  </m:r>
                                </m:sup>
                              </m:sSup>
                              <m:d>
                                <m:dPr>
                                  <m:ctrlPr>
                                    <a:rPr lang="pt-BR" altLang="zh-CN" sz="1800" b="1" i="1" smtClean="0">
                                      <a:solidFill>
                                        <a:schemeClr val="accent2">
                                          <a:lumMod val="50000"/>
                                        </a:schemeClr>
                                      </a:solidFill>
                                      <a:latin typeface="Cambria Math" panose="02040503050406030204" pitchFamily="18" charset="0"/>
                                    </a:rPr>
                                  </m:ctrlPr>
                                </m:dPr>
                                <m:e>
                                  <m:sSub>
                                    <m:sSubPr>
                                      <m:ctrlPr>
                                        <a:rPr lang="pt-BR" altLang="zh-CN" sz="1800" b="1" i="1" smtClean="0">
                                          <a:solidFill>
                                            <a:schemeClr val="accent2">
                                              <a:lumMod val="50000"/>
                                            </a:schemeClr>
                                          </a:solidFill>
                                          <a:latin typeface="Cambria Math" panose="02040503050406030204" pitchFamily="18" charset="0"/>
                                        </a:rPr>
                                      </m:ctrlPr>
                                    </m:sSubPr>
                                    <m:e>
                                      <m:r>
                                        <a:rPr lang="pt-BR" altLang="zh-CN" sz="1800" b="1" i="1" smtClean="0">
                                          <a:solidFill>
                                            <a:schemeClr val="accent2">
                                              <a:lumMod val="50000"/>
                                            </a:schemeClr>
                                          </a:solidFill>
                                          <a:latin typeface="Cambria Math" panose="02040503050406030204" pitchFamily="18" charset="0"/>
                                        </a:rPr>
                                        <m:t>𝒑</m:t>
                                      </m:r>
                                    </m:e>
                                    <m:sub>
                                      <m:r>
                                        <a:rPr lang="pt-BR" altLang="zh-CN" sz="1800" b="1" i="1" smtClean="0">
                                          <a:solidFill>
                                            <a:schemeClr val="accent2">
                                              <a:lumMod val="50000"/>
                                            </a:schemeClr>
                                          </a:solidFill>
                                          <a:latin typeface="Cambria Math" panose="02040503050406030204" pitchFamily="18" charset="0"/>
                                        </a:rPr>
                                        <m:t>𝟎</m:t>
                                      </m:r>
                                    </m:sub>
                                  </m:sSub>
                                  <m:r>
                                    <a:rPr lang="pt-BR" altLang="zh-CN" sz="1800" b="1" i="1" smtClean="0">
                                      <a:solidFill>
                                        <a:schemeClr val="accent2">
                                          <a:lumMod val="50000"/>
                                        </a:schemeClr>
                                      </a:solidFill>
                                      <a:latin typeface="Cambria Math" panose="02040503050406030204" pitchFamily="18" charset="0"/>
                                    </a:rPr>
                                    <m:t>+</m:t>
                                  </m:r>
                                  <m:sSub>
                                    <m:sSubPr>
                                      <m:ctrlPr>
                                        <a:rPr lang="pt-BR" altLang="zh-CN" sz="1800" b="1" i="1" smtClean="0">
                                          <a:solidFill>
                                            <a:schemeClr val="accent2">
                                              <a:lumMod val="50000"/>
                                            </a:schemeClr>
                                          </a:solidFill>
                                          <a:latin typeface="Cambria Math" panose="02040503050406030204" pitchFamily="18" charset="0"/>
                                        </a:rPr>
                                      </m:ctrlPr>
                                    </m:sSubPr>
                                    <m:e>
                                      <m:r>
                                        <a:rPr lang="pt-BR" altLang="zh-CN" sz="1800" b="1" i="1" smtClean="0">
                                          <a:solidFill>
                                            <a:schemeClr val="accent2">
                                              <a:lumMod val="50000"/>
                                            </a:schemeClr>
                                          </a:solidFill>
                                          <a:latin typeface="Cambria Math" panose="02040503050406030204" pitchFamily="18" charset="0"/>
                                        </a:rPr>
                                        <m:t>𝒑</m:t>
                                      </m:r>
                                    </m:e>
                                    <m:sub>
                                      <m:r>
                                        <a:rPr lang="pt-BR" altLang="zh-CN" sz="1800" b="1" i="1" smtClean="0">
                                          <a:solidFill>
                                            <a:schemeClr val="accent2">
                                              <a:lumMod val="50000"/>
                                            </a:schemeClr>
                                          </a:solidFill>
                                          <a:latin typeface="Cambria Math" panose="02040503050406030204" pitchFamily="18" charset="0"/>
                                        </a:rPr>
                                        <m:t>𝟏</m:t>
                                      </m:r>
                                    </m:sub>
                                  </m:sSub>
                                  <m:r>
                                    <a:rPr lang="pt-BR" altLang="zh-CN" sz="1800" b="1" i="1" smtClean="0">
                                      <a:solidFill>
                                        <a:schemeClr val="accent2">
                                          <a:lumMod val="50000"/>
                                        </a:schemeClr>
                                      </a:solidFill>
                                      <a:latin typeface="Cambria Math" panose="02040503050406030204" pitchFamily="18" charset="0"/>
                                    </a:rPr>
                                    <m:t>⋅</m:t>
                                  </m:r>
                                  <m:r>
                                    <a:rPr lang="pt-BR" altLang="zh-CN" sz="1800" b="1" i="1" smtClean="0">
                                      <a:solidFill>
                                        <a:schemeClr val="accent2">
                                          <a:lumMod val="50000"/>
                                        </a:schemeClr>
                                      </a:solidFill>
                                      <a:latin typeface="Cambria Math" panose="02040503050406030204" pitchFamily="18" charset="0"/>
                                    </a:rPr>
                                    <m:t>𝒏</m:t>
                                  </m:r>
                                  <m:r>
                                    <a:rPr lang="pt-BR" altLang="zh-CN" sz="1800" b="1" i="1" smtClean="0">
                                      <a:solidFill>
                                        <a:schemeClr val="accent2">
                                          <a:lumMod val="50000"/>
                                        </a:schemeClr>
                                      </a:solidFill>
                                      <a:latin typeface="Cambria Math" panose="02040503050406030204" pitchFamily="18" charset="0"/>
                                    </a:rPr>
                                    <m:t>+</m:t>
                                  </m:r>
                                  <m:sSub>
                                    <m:sSubPr>
                                      <m:ctrlPr>
                                        <a:rPr lang="pt-BR" altLang="zh-CN" sz="1800" b="1" i="1" smtClean="0">
                                          <a:solidFill>
                                            <a:schemeClr val="accent2">
                                              <a:lumMod val="50000"/>
                                            </a:schemeClr>
                                          </a:solidFill>
                                          <a:latin typeface="Cambria Math" panose="02040503050406030204" pitchFamily="18" charset="0"/>
                                        </a:rPr>
                                      </m:ctrlPr>
                                    </m:sSubPr>
                                    <m:e>
                                      <m:r>
                                        <a:rPr lang="pt-BR" altLang="zh-CN" sz="1800" b="1" i="1" smtClean="0">
                                          <a:solidFill>
                                            <a:schemeClr val="accent2">
                                              <a:lumMod val="50000"/>
                                            </a:schemeClr>
                                          </a:solidFill>
                                          <a:latin typeface="Cambria Math" panose="02040503050406030204" pitchFamily="18" charset="0"/>
                                        </a:rPr>
                                        <m:t>𝒑</m:t>
                                      </m:r>
                                    </m:e>
                                    <m:sub>
                                      <m:r>
                                        <a:rPr lang="pt-BR" altLang="zh-CN" sz="1800" b="1" i="1" smtClean="0">
                                          <a:solidFill>
                                            <a:schemeClr val="accent2">
                                              <a:lumMod val="50000"/>
                                            </a:schemeClr>
                                          </a:solidFill>
                                          <a:latin typeface="Cambria Math" panose="02040503050406030204" pitchFamily="18" charset="0"/>
                                        </a:rPr>
                                        <m:t>𝟐</m:t>
                                      </m:r>
                                    </m:sub>
                                  </m:sSub>
                                  <m:r>
                                    <a:rPr lang="pt-BR" altLang="zh-CN" sz="1800" b="1" i="1" smtClean="0">
                                      <a:solidFill>
                                        <a:schemeClr val="accent2">
                                          <a:lumMod val="50000"/>
                                        </a:schemeClr>
                                      </a:solidFill>
                                      <a:latin typeface="Cambria Math" panose="02040503050406030204" pitchFamily="18" charset="0"/>
                                    </a:rPr>
                                    <m:t>⋅</m:t>
                                  </m:r>
                                  <m:sSup>
                                    <m:sSupPr>
                                      <m:ctrlPr>
                                        <a:rPr lang="pt-BR" altLang="zh-CN" sz="1800" b="1" i="1" smtClean="0">
                                          <a:solidFill>
                                            <a:schemeClr val="accent2">
                                              <a:lumMod val="50000"/>
                                            </a:schemeClr>
                                          </a:solidFill>
                                          <a:latin typeface="Cambria Math" panose="02040503050406030204" pitchFamily="18" charset="0"/>
                                        </a:rPr>
                                      </m:ctrlPr>
                                    </m:sSupPr>
                                    <m:e>
                                      <m:r>
                                        <a:rPr lang="pt-BR" altLang="zh-CN" sz="1800" b="1" i="1" smtClean="0">
                                          <a:solidFill>
                                            <a:schemeClr val="accent2">
                                              <a:lumMod val="50000"/>
                                            </a:schemeClr>
                                          </a:solidFill>
                                          <a:latin typeface="Cambria Math" panose="02040503050406030204" pitchFamily="18" charset="0"/>
                                        </a:rPr>
                                        <m:t>𝒏</m:t>
                                      </m:r>
                                    </m:e>
                                    <m:sup>
                                      <m:r>
                                        <a:rPr lang="pt-BR" altLang="zh-CN" sz="1800" b="1" i="1" smtClean="0">
                                          <a:solidFill>
                                            <a:schemeClr val="accent2">
                                              <a:lumMod val="50000"/>
                                            </a:schemeClr>
                                          </a:solidFill>
                                          <a:latin typeface="Cambria Math" panose="02040503050406030204" pitchFamily="18" charset="0"/>
                                        </a:rPr>
                                        <m:t>𝟐</m:t>
                                      </m:r>
                                    </m:sup>
                                  </m:sSup>
                                  <m:r>
                                    <a:rPr lang="pt-BR" altLang="zh-CN" sz="1800" b="1" i="1" smtClean="0">
                                      <a:solidFill>
                                        <a:schemeClr val="accent2">
                                          <a:lumMod val="50000"/>
                                        </a:schemeClr>
                                      </a:solidFill>
                                      <a:latin typeface="Cambria Math" panose="02040503050406030204" pitchFamily="18" charset="0"/>
                                    </a:rPr>
                                    <m:t>+ </m:t>
                                  </m:r>
                                  <m:sSub>
                                    <m:sSubPr>
                                      <m:ctrlPr>
                                        <a:rPr lang="pt-BR" altLang="zh-CN" sz="1800" b="1" i="1" smtClean="0">
                                          <a:solidFill>
                                            <a:schemeClr val="accent2">
                                              <a:lumMod val="50000"/>
                                            </a:schemeClr>
                                          </a:solidFill>
                                          <a:latin typeface="Cambria Math" panose="02040503050406030204" pitchFamily="18" charset="0"/>
                                        </a:rPr>
                                      </m:ctrlPr>
                                    </m:sSubPr>
                                    <m:e>
                                      <m:r>
                                        <a:rPr lang="pt-BR" altLang="zh-CN" sz="1800" b="1" i="1" smtClean="0">
                                          <a:solidFill>
                                            <a:schemeClr val="accent2">
                                              <a:lumMod val="50000"/>
                                            </a:schemeClr>
                                          </a:solidFill>
                                          <a:latin typeface="Cambria Math" panose="02040503050406030204" pitchFamily="18" charset="0"/>
                                        </a:rPr>
                                        <m:t>𝒑</m:t>
                                      </m:r>
                                    </m:e>
                                    <m:sub>
                                      <m:r>
                                        <a:rPr lang="pt-BR" altLang="zh-CN" sz="1800" b="1" i="1" smtClean="0">
                                          <a:solidFill>
                                            <a:schemeClr val="accent2">
                                              <a:lumMod val="50000"/>
                                            </a:schemeClr>
                                          </a:solidFill>
                                          <a:latin typeface="Cambria Math" panose="02040503050406030204" pitchFamily="18" charset="0"/>
                                        </a:rPr>
                                        <m:t>𝟑</m:t>
                                      </m:r>
                                    </m:sub>
                                  </m:sSub>
                                  <m:r>
                                    <a:rPr lang="pt-BR" altLang="zh-CN" sz="1800" b="1" i="1" smtClean="0">
                                      <a:solidFill>
                                        <a:schemeClr val="accent2">
                                          <a:lumMod val="50000"/>
                                        </a:schemeClr>
                                      </a:solidFill>
                                      <a:latin typeface="Cambria Math" panose="02040503050406030204" pitchFamily="18" charset="0"/>
                                    </a:rPr>
                                    <m:t>⋅</m:t>
                                  </m:r>
                                  <m:sSup>
                                    <m:sSupPr>
                                      <m:ctrlPr>
                                        <a:rPr lang="pt-BR" altLang="zh-CN" sz="1800" b="1" i="1" smtClean="0">
                                          <a:solidFill>
                                            <a:schemeClr val="accent2">
                                              <a:lumMod val="50000"/>
                                            </a:schemeClr>
                                          </a:solidFill>
                                          <a:latin typeface="Cambria Math" panose="02040503050406030204" pitchFamily="18" charset="0"/>
                                        </a:rPr>
                                      </m:ctrlPr>
                                    </m:sSupPr>
                                    <m:e>
                                      <m:r>
                                        <a:rPr lang="pt-BR" altLang="zh-CN" sz="1800" b="1" i="1" smtClean="0">
                                          <a:solidFill>
                                            <a:schemeClr val="accent2">
                                              <a:lumMod val="50000"/>
                                            </a:schemeClr>
                                          </a:solidFill>
                                          <a:latin typeface="Cambria Math" panose="02040503050406030204" pitchFamily="18" charset="0"/>
                                        </a:rPr>
                                        <m:t>𝒏</m:t>
                                      </m:r>
                                    </m:e>
                                    <m:sup>
                                      <m:r>
                                        <a:rPr lang="pt-BR" altLang="zh-CN" sz="1800" b="1" i="1" smtClean="0">
                                          <a:solidFill>
                                            <a:schemeClr val="accent2">
                                              <a:lumMod val="50000"/>
                                            </a:schemeClr>
                                          </a:solidFill>
                                          <a:latin typeface="Cambria Math" panose="02040503050406030204" pitchFamily="18" charset="0"/>
                                        </a:rPr>
                                        <m:t>𝟑</m:t>
                                      </m:r>
                                    </m:sup>
                                  </m:sSup>
                                  <m:r>
                                    <a:rPr lang="pt-BR" altLang="zh-CN" sz="1800" b="1" i="1" smtClean="0">
                                      <a:solidFill>
                                        <a:schemeClr val="accent2">
                                          <a:lumMod val="50000"/>
                                        </a:schemeClr>
                                      </a:solidFill>
                                      <a:latin typeface="Cambria Math" panose="02040503050406030204" pitchFamily="18" charset="0"/>
                                    </a:rPr>
                                    <m:t>+ </m:t>
                                  </m:r>
                                  <m:sSub>
                                    <m:sSubPr>
                                      <m:ctrlPr>
                                        <a:rPr lang="pt-BR" altLang="zh-CN" sz="1800" b="1" i="1" smtClean="0">
                                          <a:solidFill>
                                            <a:schemeClr val="accent2">
                                              <a:lumMod val="50000"/>
                                            </a:schemeClr>
                                          </a:solidFill>
                                          <a:latin typeface="Cambria Math" panose="02040503050406030204" pitchFamily="18" charset="0"/>
                                        </a:rPr>
                                      </m:ctrlPr>
                                    </m:sSubPr>
                                    <m:e>
                                      <m:r>
                                        <a:rPr lang="pt-BR" altLang="zh-CN" sz="1800" b="1" i="1" smtClean="0">
                                          <a:solidFill>
                                            <a:schemeClr val="accent2">
                                              <a:lumMod val="50000"/>
                                            </a:schemeClr>
                                          </a:solidFill>
                                          <a:latin typeface="Cambria Math" panose="02040503050406030204" pitchFamily="18" charset="0"/>
                                        </a:rPr>
                                        <m:t>𝒑</m:t>
                                      </m:r>
                                    </m:e>
                                    <m:sub>
                                      <m:r>
                                        <a:rPr lang="pt-BR" altLang="zh-CN" sz="1800" b="1" i="1" smtClean="0">
                                          <a:solidFill>
                                            <a:schemeClr val="accent2">
                                              <a:lumMod val="50000"/>
                                            </a:schemeClr>
                                          </a:solidFill>
                                          <a:latin typeface="Cambria Math" panose="02040503050406030204" pitchFamily="18" charset="0"/>
                                        </a:rPr>
                                        <m:t>𝟒</m:t>
                                      </m:r>
                                    </m:sub>
                                  </m:sSub>
                                  <m:r>
                                    <a:rPr lang="pt-BR" altLang="zh-CN" sz="1800" b="1" i="1" smtClean="0">
                                      <a:solidFill>
                                        <a:schemeClr val="accent2">
                                          <a:lumMod val="50000"/>
                                        </a:schemeClr>
                                      </a:solidFill>
                                      <a:latin typeface="Cambria Math" panose="02040503050406030204" pitchFamily="18" charset="0"/>
                                    </a:rPr>
                                    <m:t>⋅</m:t>
                                  </m:r>
                                  <m:sSup>
                                    <m:sSupPr>
                                      <m:ctrlPr>
                                        <a:rPr lang="pt-BR" altLang="zh-CN" sz="1800" b="1" i="1" smtClean="0">
                                          <a:solidFill>
                                            <a:schemeClr val="accent2">
                                              <a:lumMod val="50000"/>
                                            </a:schemeClr>
                                          </a:solidFill>
                                          <a:latin typeface="Cambria Math" panose="02040503050406030204" pitchFamily="18" charset="0"/>
                                        </a:rPr>
                                      </m:ctrlPr>
                                    </m:sSupPr>
                                    <m:e>
                                      <m:r>
                                        <a:rPr lang="pt-BR" altLang="zh-CN" sz="1800" b="1" i="1" smtClean="0">
                                          <a:solidFill>
                                            <a:schemeClr val="accent2">
                                              <a:lumMod val="50000"/>
                                            </a:schemeClr>
                                          </a:solidFill>
                                          <a:latin typeface="Cambria Math" panose="02040503050406030204" pitchFamily="18" charset="0"/>
                                        </a:rPr>
                                        <m:t>𝒏</m:t>
                                      </m:r>
                                    </m:e>
                                    <m:sup>
                                      <m:r>
                                        <a:rPr lang="pt-BR" altLang="zh-CN" sz="1800" b="1" i="1" smtClean="0">
                                          <a:solidFill>
                                            <a:schemeClr val="accent2">
                                              <a:lumMod val="50000"/>
                                            </a:schemeClr>
                                          </a:solidFill>
                                          <a:latin typeface="Cambria Math" panose="02040503050406030204" pitchFamily="18" charset="0"/>
                                        </a:rPr>
                                        <m:t>𝟒</m:t>
                                      </m:r>
                                    </m:sup>
                                  </m:sSup>
                                </m:e>
                              </m:d>
                              <m:r>
                                <a:rPr lang="pt-BR" altLang="zh-CN" sz="1800" b="1" i="1" smtClean="0">
                                  <a:solidFill>
                                    <a:schemeClr val="accent2">
                                      <a:lumMod val="50000"/>
                                    </a:schemeClr>
                                  </a:solidFill>
                                  <a:latin typeface="Cambria Math" panose="02040503050406030204" pitchFamily="18" charset="0"/>
                                </a:rPr>
                                <m:t>⋅</m:t>
                              </m:r>
                              <m:sSup>
                                <m:sSupPr>
                                  <m:ctrlPr>
                                    <a:rPr lang="pt-BR" altLang="zh-CN" sz="1800" b="1" i="1" smtClean="0">
                                      <a:solidFill>
                                        <a:schemeClr val="accent2">
                                          <a:lumMod val="50000"/>
                                        </a:schemeClr>
                                      </a:solidFill>
                                      <a:latin typeface="Cambria Math" panose="02040503050406030204" pitchFamily="18" charset="0"/>
                                    </a:rPr>
                                  </m:ctrlPr>
                                </m:sSupPr>
                                <m:e>
                                  <m:r>
                                    <a:rPr lang="pt-BR" altLang="zh-CN" sz="1800" b="1" i="1" smtClean="0">
                                      <a:solidFill>
                                        <a:schemeClr val="accent2">
                                          <a:lumMod val="50000"/>
                                        </a:schemeClr>
                                      </a:solidFill>
                                      <a:latin typeface="Cambria Math" panose="02040503050406030204" pitchFamily="18" charset="0"/>
                                    </a:rPr>
                                    <m:t>𝟐</m:t>
                                  </m:r>
                                </m:e>
                                <m:sup>
                                  <m:r>
                                    <a:rPr lang="pt-BR" altLang="zh-CN" sz="1800" b="1" i="1" smtClean="0">
                                      <a:solidFill>
                                        <a:schemeClr val="accent2">
                                          <a:lumMod val="50000"/>
                                        </a:schemeClr>
                                      </a:solidFill>
                                      <a:latin typeface="Cambria Math" panose="02040503050406030204" pitchFamily="18" charset="0"/>
                                    </a:rPr>
                                    <m:t>𝒏</m:t>
                                  </m:r>
                                </m:sup>
                              </m:sSup>
                            </m:oMath>
                          </a14:m>
                          <a:r>
                            <a:rPr lang="en-US" altLang="zh-CN" sz="1800" b="1">
                              <a:solidFill>
                                <a:schemeClr val="accent2">
                                  <a:lumMod val="50000"/>
                                </a:schemeClr>
                              </a:solidFill>
                            </a:rPr>
                            <a:t> </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r>
                  <a:tr h="370840">
                    <a:tc>
                      <a:txBody>
                        <a:bodyPr/>
                        <a:lstStyle/>
                        <a:p>
                          <a:pPr algn="l"/>
                          <a:r>
                            <a:rPr lang="en-US" altLang="zh-CN" sz="1800" b="1">
                              <a:solidFill>
                                <a:srgbClr val="C00000"/>
                              </a:solidFill>
                            </a:rPr>
                            <a:t>E.  </a:t>
                          </a:r>
                          <a14:m>
                            <m:oMath xmlns:m="http://schemas.openxmlformats.org/officeDocument/2006/math">
                              <m:sSup>
                                <m:sSupPr>
                                  <m:ctrlPr>
                                    <a:rPr lang="pt-BR" altLang="zh-CN" sz="1800" b="1" i="1" smtClean="0">
                                      <a:solidFill>
                                        <a:schemeClr val="accent2">
                                          <a:lumMod val="50000"/>
                                        </a:schemeClr>
                                      </a:solidFill>
                                      <a:latin typeface="Cambria Math" panose="02040503050406030204" pitchFamily="18" charset="0"/>
                                    </a:rPr>
                                  </m:ctrlPr>
                                </m:sSupPr>
                                <m:e>
                                  <m:r>
                                    <a:rPr lang="pt-BR" altLang="zh-CN" sz="1800" b="1" i="1" smtClean="0">
                                      <a:solidFill>
                                        <a:schemeClr val="accent2">
                                          <a:lumMod val="50000"/>
                                        </a:schemeClr>
                                      </a:solidFill>
                                      <a:latin typeface="Cambria Math" panose="02040503050406030204" pitchFamily="18" charset="0"/>
                                    </a:rPr>
                                    <m:t>𝒏</m:t>
                                  </m:r>
                                </m:e>
                                <m:sup>
                                  <m:r>
                                    <a:rPr lang="pt-BR" altLang="zh-CN" sz="1800" b="1" i="1" smtClean="0">
                                      <a:solidFill>
                                        <a:schemeClr val="accent2">
                                          <a:lumMod val="50000"/>
                                        </a:schemeClr>
                                      </a:solidFill>
                                      <a:latin typeface="Cambria Math" panose="02040503050406030204" pitchFamily="18" charset="0"/>
                                    </a:rPr>
                                    <m:t>𝟐</m:t>
                                  </m:r>
                                </m:sup>
                              </m:sSup>
                              <m:r>
                                <a:rPr lang="pt-BR" altLang="zh-CN" sz="1800" b="1" i="1" smtClean="0">
                                  <a:solidFill>
                                    <a:schemeClr val="accent2">
                                      <a:lumMod val="50000"/>
                                    </a:schemeClr>
                                  </a:solidFill>
                                  <a:latin typeface="Cambria Math" panose="02040503050406030204" pitchFamily="18" charset="0"/>
                                </a:rPr>
                                <m:t>⋅</m:t>
                              </m:r>
                              <m:d>
                                <m:dPr>
                                  <m:ctrlPr>
                                    <a:rPr lang="pt-BR" altLang="zh-CN" sz="1800" b="1" i="1" smtClean="0">
                                      <a:solidFill>
                                        <a:schemeClr val="accent2">
                                          <a:lumMod val="50000"/>
                                        </a:schemeClr>
                                      </a:solidFill>
                                      <a:latin typeface="Cambria Math" panose="02040503050406030204" pitchFamily="18" charset="0"/>
                                    </a:rPr>
                                  </m:ctrlPr>
                                </m:dPr>
                                <m:e>
                                  <m:sSub>
                                    <m:sSubPr>
                                      <m:ctrlPr>
                                        <a:rPr lang="pt-BR" altLang="zh-CN" sz="1800" b="1" i="1" smtClean="0">
                                          <a:solidFill>
                                            <a:schemeClr val="accent2">
                                              <a:lumMod val="50000"/>
                                            </a:schemeClr>
                                          </a:solidFill>
                                          <a:latin typeface="Cambria Math" panose="02040503050406030204" pitchFamily="18" charset="0"/>
                                        </a:rPr>
                                      </m:ctrlPr>
                                    </m:sSubPr>
                                    <m:e>
                                      <m:r>
                                        <a:rPr lang="pt-BR" altLang="zh-CN" sz="1800" b="1" i="1" smtClean="0">
                                          <a:solidFill>
                                            <a:schemeClr val="accent2">
                                              <a:lumMod val="50000"/>
                                            </a:schemeClr>
                                          </a:solidFill>
                                          <a:latin typeface="Cambria Math" panose="02040503050406030204" pitchFamily="18" charset="0"/>
                                        </a:rPr>
                                        <m:t>𝒑</m:t>
                                      </m:r>
                                    </m:e>
                                    <m:sub>
                                      <m:r>
                                        <a:rPr lang="pt-BR" altLang="zh-CN" sz="1800" b="1" i="1" smtClean="0">
                                          <a:solidFill>
                                            <a:schemeClr val="accent2">
                                              <a:lumMod val="50000"/>
                                            </a:schemeClr>
                                          </a:solidFill>
                                          <a:latin typeface="Cambria Math" panose="02040503050406030204" pitchFamily="18" charset="0"/>
                                        </a:rPr>
                                        <m:t>𝟎</m:t>
                                      </m:r>
                                    </m:sub>
                                  </m:sSub>
                                  <m:r>
                                    <a:rPr lang="pt-BR" altLang="zh-CN" sz="1800" b="1" i="1" smtClean="0">
                                      <a:solidFill>
                                        <a:schemeClr val="accent2">
                                          <a:lumMod val="50000"/>
                                        </a:schemeClr>
                                      </a:solidFill>
                                      <a:latin typeface="Cambria Math" panose="02040503050406030204" pitchFamily="18" charset="0"/>
                                    </a:rPr>
                                    <m:t>+</m:t>
                                  </m:r>
                                  <m:sSub>
                                    <m:sSubPr>
                                      <m:ctrlPr>
                                        <a:rPr lang="pt-BR" altLang="zh-CN" sz="1800" b="1" i="1" smtClean="0">
                                          <a:solidFill>
                                            <a:schemeClr val="accent2">
                                              <a:lumMod val="50000"/>
                                            </a:schemeClr>
                                          </a:solidFill>
                                          <a:latin typeface="Cambria Math" panose="02040503050406030204" pitchFamily="18" charset="0"/>
                                        </a:rPr>
                                      </m:ctrlPr>
                                    </m:sSubPr>
                                    <m:e>
                                      <m:r>
                                        <a:rPr lang="pt-BR" altLang="zh-CN" sz="1800" b="1" i="1" smtClean="0">
                                          <a:solidFill>
                                            <a:schemeClr val="accent2">
                                              <a:lumMod val="50000"/>
                                            </a:schemeClr>
                                          </a:solidFill>
                                          <a:latin typeface="Cambria Math" panose="02040503050406030204" pitchFamily="18" charset="0"/>
                                        </a:rPr>
                                        <m:t>𝒑</m:t>
                                      </m:r>
                                    </m:e>
                                    <m:sub>
                                      <m:r>
                                        <a:rPr lang="pt-BR" altLang="zh-CN" sz="1800" b="1" i="1" smtClean="0">
                                          <a:solidFill>
                                            <a:schemeClr val="accent2">
                                              <a:lumMod val="50000"/>
                                            </a:schemeClr>
                                          </a:solidFill>
                                          <a:latin typeface="Cambria Math" panose="02040503050406030204" pitchFamily="18" charset="0"/>
                                        </a:rPr>
                                        <m:t>𝟏</m:t>
                                      </m:r>
                                    </m:sub>
                                  </m:sSub>
                                  <m:r>
                                    <a:rPr lang="pt-BR" altLang="zh-CN" sz="1800" b="1" i="1" smtClean="0">
                                      <a:solidFill>
                                        <a:schemeClr val="accent2">
                                          <a:lumMod val="50000"/>
                                        </a:schemeClr>
                                      </a:solidFill>
                                      <a:latin typeface="Cambria Math" panose="02040503050406030204" pitchFamily="18" charset="0"/>
                                    </a:rPr>
                                    <m:t>⋅</m:t>
                                  </m:r>
                                  <m:r>
                                    <a:rPr lang="pt-BR" altLang="zh-CN" sz="1800" b="1" i="1" smtClean="0">
                                      <a:solidFill>
                                        <a:schemeClr val="accent2">
                                          <a:lumMod val="50000"/>
                                        </a:schemeClr>
                                      </a:solidFill>
                                      <a:latin typeface="Cambria Math" panose="02040503050406030204" pitchFamily="18" charset="0"/>
                                    </a:rPr>
                                    <m:t>𝒏</m:t>
                                  </m:r>
                                </m:e>
                              </m:d>
                              <m:r>
                                <a:rPr lang="pt-BR" altLang="zh-CN" sz="1800" b="1" i="1" smtClean="0">
                                  <a:solidFill>
                                    <a:schemeClr val="accent2">
                                      <a:lumMod val="50000"/>
                                    </a:schemeClr>
                                  </a:solidFill>
                                  <a:latin typeface="Cambria Math" panose="02040503050406030204" pitchFamily="18" charset="0"/>
                                </a:rPr>
                                <m:t>⋅</m:t>
                              </m:r>
                              <m:sSup>
                                <m:sSupPr>
                                  <m:ctrlPr>
                                    <a:rPr lang="pt-BR" altLang="zh-CN" sz="1800" b="1" i="1" smtClean="0">
                                      <a:solidFill>
                                        <a:schemeClr val="accent2">
                                          <a:lumMod val="50000"/>
                                        </a:schemeClr>
                                      </a:solidFill>
                                      <a:latin typeface="Cambria Math" panose="02040503050406030204" pitchFamily="18" charset="0"/>
                                    </a:rPr>
                                  </m:ctrlPr>
                                </m:sSupPr>
                                <m:e>
                                  <m:r>
                                    <a:rPr lang="pt-BR" altLang="zh-CN" sz="1800" b="1" i="1" smtClean="0">
                                      <a:solidFill>
                                        <a:schemeClr val="accent2">
                                          <a:lumMod val="50000"/>
                                        </a:schemeClr>
                                      </a:solidFill>
                                      <a:latin typeface="Cambria Math" panose="02040503050406030204" pitchFamily="18" charset="0"/>
                                    </a:rPr>
                                    <m:t>𝟐</m:t>
                                  </m:r>
                                </m:e>
                                <m:sup>
                                  <m:r>
                                    <a:rPr lang="pt-BR" altLang="zh-CN" sz="1800" b="1" i="1" smtClean="0">
                                      <a:solidFill>
                                        <a:schemeClr val="accent2">
                                          <a:lumMod val="50000"/>
                                        </a:schemeClr>
                                      </a:solidFill>
                                      <a:latin typeface="Cambria Math" panose="02040503050406030204" pitchFamily="18" charset="0"/>
                                    </a:rPr>
                                    <m:t>𝒏</m:t>
                                  </m:r>
                                </m:sup>
                              </m:sSup>
                            </m:oMath>
                          </a14:m>
                          <a:endParaRPr lang="zh-CN" altLang="en-US" sz="18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1800" b="1">
                              <a:solidFill>
                                <a:srgbClr val="C00000"/>
                              </a:solidFill>
                            </a:rPr>
                            <a:t>F.  </a:t>
                          </a:r>
                          <a14:m>
                            <m:oMath xmlns:m="http://schemas.openxmlformats.org/officeDocument/2006/math">
                              <m:sSup>
                                <m:sSupPr>
                                  <m:ctrlPr>
                                    <a:rPr lang="pt-BR" altLang="zh-CN" sz="1800" b="1" i="1" smtClean="0">
                                      <a:solidFill>
                                        <a:schemeClr val="accent2">
                                          <a:lumMod val="50000"/>
                                        </a:schemeClr>
                                      </a:solidFill>
                                      <a:latin typeface="Cambria Math" panose="02040503050406030204" pitchFamily="18" charset="0"/>
                                    </a:rPr>
                                  </m:ctrlPr>
                                </m:sSupPr>
                                <m:e>
                                  <m:r>
                                    <a:rPr lang="pt-BR" altLang="zh-CN" sz="1800" b="1" i="1" smtClean="0">
                                      <a:solidFill>
                                        <a:schemeClr val="accent2">
                                          <a:lumMod val="50000"/>
                                        </a:schemeClr>
                                      </a:solidFill>
                                      <a:latin typeface="Cambria Math" panose="02040503050406030204" pitchFamily="18" charset="0"/>
                                    </a:rPr>
                                    <m:t>𝒏</m:t>
                                  </m:r>
                                </m:e>
                                <m:sup>
                                  <m:r>
                                    <a:rPr lang="pt-BR" altLang="zh-CN" sz="1800" b="1" i="1" smtClean="0">
                                      <a:solidFill>
                                        <a:schemeClr val="accent2">
                                          <a:lumMod val="50000"/>
                                        </a:schemeClr>
                                      </a:solidFill>
                                      <a:latin typeface="Cambria Math" panose="02040503050406030204" pitchFamily="18" charset="0"/>
                                    </a:rPr>
                                    <m:t>𝟐</m:t>
                                  </m:r>
                                </m:sup>
                              </m:sSup>
                              <m:r>
                                <a:rPr lang="pt-BR" altLang="zh-CN" sz="1800" b="1" i="1" smtClean="0">
                                  <a:solidFill>
                                    <a:schemeClr val="accent2">
                                      <a:lumMod val="50000"/>
                                    </a:schemeClr>
                                  </a:solidFill>
                                  <a:latin typeface="Cambria Math" panose="02040503050406030204" pitchFamily="18" charset="0"/>
                                </a:rPr>
                                <m:t>⋅</m:t>
                              </m:r>
                              <m:d>
                                <m:dPr>
                                  <m:ctrlPr>
                                    <a:rPr lang="pt-BR" altLang="zh-CN" sz="1800" b="1" i="1" smtClean="0">
                                      <a:solidFill>
                                        <a:schemeClr val="accent2">
                                          <a:lumMod val="50000"/>
                                        </a:schemeClr>
                                      </a:solidFill>
                                      <a:latin typeface="Cambria Math" panose="02040503050406030204" pitchFamily="18" charset="0"/>
                                    </a:rPr>
                                  </m:ctrlPr>
                                </m:dPr>
                                <m:e>
                                  <m:sSub>
                                    <m:sSubPr>
                                      <m:ctrlPr>
                                        <a:rPr lang="pt-BR" altLang="zh-CN" sz="1800" b="1" i="1" smtClean="0">
                                          <a:solidFill>
                                            <a:schemeClr val="accent2">
                                              <a:lumMod val="50000"/>
                                            </a:schemeClr>
                                          </a:solidFill>
                                          <a:latin typeface="Cambria Math" panose="02040503050406030204" pitchFamily="18" charset="0"/>
                                        </a:rPr>
                                      </m:ctrlPr>
                                    </m:sSubPr>
                                    <m:e>
                                      <m:r>
                                        <a:rPr lang="pt-BR" altLang="zh-CN" sz="1800" b="1" i="1" smtClean="0">
                                          <a:solidFill>
                                            <a:schemeClr val="accent2">
                                              <a:lumMod val="50000"/>
                                            </a:schemeClr>
                                          </a:solidFill>
                                          <a:latin typeface="Cambria Math" panose="02040503050406030204" pitchFamily="18" charset="0"/>
                                        </a:rPr>
                                        <m:t>𝒑</m:t>
                                      </m:r>
                                    </m:e>
                                    <m:sub>
                                      <m:r>
                                        <a:rPr lang="pt-BR" altLang="zh-CN" sz="1800" b="1" i="1" smtClean="0">
                                          <a:solidFill>
                                            <a:schemeClr val="accent2">
                                              <a:lumMod val="50000"/>
                                            </a:schemeClr>
                                          </a:solidFill>
                                          <a:latin typeface="Cambria Math" panose="02040503050406030204" pitchFamily="18" charset="0"/>
                                        </a:rPr>
                                        <m:t>𝟎</m:t>
                                      </m:r>
                                    </m:sub>
                                  </m:sSub>
                                  <m:r>
                                    <a:rPr lang="pt-BR" altLang="zh-CN" sz="1800" b="1" i="1" smtClean="0">
                                      <a:solidFill>
                                        <a:schemeClr val="accent2">
                                          <a:lumMod val="50000"/>
                                        </a:schemeClr>
                                      </a:solidFill>
                                      <a:latin typeface="Cambria Math" panose="02040503050406030204" pitchFamily="18" charset="0"/>
                                    </a:rPr>
                                    <m:t>+</m:t>
                                  </m:r>
                                  <m:sSub>
                                    <m:sSubPr>
                                      <m:ctrlPr>
                                        <a:rPr lang="pt-BR" altLang="zh-CN" sz="1800" b="1" i="1" smtClean="0">
                                          <a:solidFill>
                                            <a:schemeClr val="accent2">
                                              <a:lumMod val="50000"/>
                                            </a:schemeClr>
                                          </a:solidFill>
                                          <a:latin typeface="Cambria Math" panose="02040503050406030204" pitchFamily="18" charset="0"/>
                                        </a:rPr>
                                      </m:ctrlPr>
                                    </m:sSubPr>
                                    <m:e>
                                      <m:r>
                                        <a:rPr lang="pt-BR" altLang="zh-CN" sz="1800" b="1" i="1" smtClean="0">
                                          <a:solidFill>
                                            <a:schemeClr val="accent2">
                                              <a:lumMod val="50000"/>
                                            </a:schemeClr>
                                          </a:solidFill>
                                          <a:latin typeface="Cambria Math" panose="02040503050406030204" pitchFamily="18" charset="0"/>
                                        </a:rPr>
                                        <m:t>𝒑</m:t>
                                      </m:r>
                                    </m:e>
                                    <m:sub>
                                      <m:r>
                                        <a:rPr lang="pt-BR" altLang="zh-CN" sz="1800" b="1" i="1" smtClean="0">
                                          <a:solidFill>
                                            <a:schemeClr val="accent2">
                                              <a:lumMod val="50000"/>
                                            </a:schemeClr>
                                          </a:solidFill>
                                          <a:latin typeface="Cambria Math" panose="02040503050406030204" pitchFamily="18" charset="0"/>
                                        </a:rPr>
                                        <m:t>𝟏</m:t>
                                      </m:r>
                                    </m:sub>
                                  </m:sSub>
                                  <m:r>
                                    <a:rPr lang="pt-BR" altLang="zh-CN" sz="1800" b="1" i="1" smtClean="0">
                                      <a:solidFill>
                                        <a:schemeClr val="accent2">
                                          <a:lumMod val="50000"/>
                                        </a:schemeClr>
                                      </a:solidFill>
                                      <a:latin typeface="Cambria Math" panose="02040503050406030204" pitchFamily="18" charset="0"/>
                                    </a:rPr>
                                    <m:t>⋅</m:t>
                                  </m:r>
                                  <m:r>
                                    <a:rPr lang="pt-BR" altLang="zh-CN" sz="1800" b="1" i="1" smtClean="0">
                                      <a:solidFill>
                                        <a:schemeClr val="accent2">
                                          <a:lumMod val="50000"/>
                                        </a:schemeClr>
                                      </a:solidFill>
                                      <a:latin typeface="Cambria Math" panose="02040503050406030204" pitchFamily="18" charset="0"/>
                                    </a:rPr>
                                    <m:t>𝒏</m:t>
                                  </m:r>
                                  <m:r>
                                    <a:rPr lang="pt-BR" altLang="zh-CN" sz="1800" b="1" i="1" smtClean="0">
                                      <a:solidFill>
                                        <a:schemeClr val="accent2">
                                          <a:lumMod val="50000"/>
                                        </a:schemeClr>
                                      </a:solidFill>
                                      <a:latin typeface="Cambria Math" panose="02040503050406030204" pitchFamily="18" charset="0"/>
                                    </a:rPr>
                                    <m:t>+</m:t>
                                  </m:r>
                                  <m:sSub>
                                    <m:sSubPr>
                                      <m:ctrlPr>
                                        <a:rPr lang="pt-BR" altLang="zh-CN" sz="1800" b="1" i="1" smtClean="0">
                                          <a:solidFill>
                                            <a:schemeClr val="accent2">
                                              <a:lumMod val="50000"/>
                                            </a:schemeClr>
                                          </a:solidFill>
                                          <a:latin typeface="Cambria Math" panose="02040503050406030204" pitchFamily="18" charset="0"/>
                                        </a:rPr>
                                      </m:ctrlPr>
                                    </m:sSubPr>
                                    <m:e>
                                      <m:r>
                                        <a:rPr lang="pt-BR" altLang="zh-CN" sz="1800" b="1" i="1" smtClean="0">
                                          <a:solidFill>
                                            <a:schemeClr val="accent2">
                                              <a:lumMod val="50000"/>
                                            </a:schemeClr>
                                          </a:solidFill>
                                          <a:latin typeface="Cambria Math" panose="02040503050406030204" pitchFamily="18" charset="0"/>
                                        </a:rPr>
                                        <m:t>𝒑</m:t>
                                      </m:r>
                                    </m:e>
                                    <m:sub>
                                      <m:r>
                                        <a:rPr lang="pt-BR" altLang="zh-CN" sz="1800" b="1" i="1" smtClean="0">
                                          <a:solidFill>
                                            <a:schemeClr val="accent2">
                                              <a:lumMod val="50000"/>
                                            </a:schemeClr>
                                          </a:solidFill>
                                          <a:latin typeface="Cambria Math" panose="02040503050406030204" pitchFamily="18" charset="0"/>
                                        </a:rPr>
                                        <m:t>𝟐</m:t>
                                      </m:r>
                                    </m:sub>
                                  </m:sSub>
                                  <m:r>
                                    <a:rPr lang="pt-BR" altLang="zh-CN" sz="1800" b="1" i="1" smtClean="0">
                                      <a:solidFill>
                                        <a:schemeClr val="accent2">
                                          <a:lumMod val="50000"/>
                                        </a:schemeClr>
                                      </a:solidFill>
                                      <a:latin typeface="Cambria Math" panose="02040503050406030204" pitchFamily="18" charset="0"/>
                                    </a:rPr>
                                    <m:t>⋅</m:t>
                                  </m:r>
                                  <m:sSup>
                                    <m:sSupPr>
                                      <m:ctrlPr>
                                        <a:rPr lang="pt-BR" altLang="zh-CN" sz="1800" b="1" i="1" smtClean="0">
                                          <a:solidFill>
                                            <a:schemeClr val="accent2">
                                              <a:lumMod val="50000"/>
                                            </a:schemeClr>
                                          </a:solidFill>
                                          <a:latin typeface="Cambria Math" panose="02040503050406030204" pitchFamily="18" charset="0"/>
                                        </a:rPr>
                                      </m:ctrlPr>
                                    </m:sSupPr>
                                    <m:e>
                                      <m:r>
                                        <a:rPr lang="pt-BR" altLang="zh-CN" sz="1800" b="1" i="1" smtClean="0">
                                          <a:solidFill>
                                            <a:schemeClr val="accent2">
                                              <a:lumMod val="50000"/>
                                            </a:schemeClr>
                                          </a:solidFill>
                                          <a:latin typeface="Cambria Math" panose="02040503050406030204" pitchFamily="18" charset="0"/>
                                        </a:rPr>
                                        <m:t>𝒏</m:t>
                                      </m:r>
                                    </m:e>
                                    <m:sup>
                                      <m:r>
                                        <a:rPr lang="pt-BR" altLang="zh-CN" sz="1800" b="1" i="1" smtClean="0">
                                          <a:solidFill>
                                            <a:schemeClr val="accent2">
                                              <a:lumMod val="50000"/>
                                            </a:schemeClr>
                                          </a:solidFill>
                                          <a:latin typeface="Cambria Math" panose="02040503050406030204" pitchFamily="18" charset="0"/>
                                        </a:rPr>
                                        <m:t>𝟐</m:t>
                                      </m:r>
                                    </m:sup>
                                  </m:sSup>
                                </m:e>
                              </m:d>
                              <m:r>
                                <a:rPr lang="pt-BR" altLang="zh-CN" sz="1800" b="1" i="1" smtClean="0">
                                  <a:solidFill>
                                    <a:schemeClr val="accent2">
                                      <a:lumMod val="50000"/>
                                    </a:schemeClr>
                                  </a:solidFill>
                                  <a:latin typeface="Cambria Math" panose="02040503050406030204" pitchFamily="18" charset="0"/>
                                </a:rPr>
                                <m:t>⋅</m:t>
                              </m:r>
                              <m:sSup>
                                <m:sSupPr>
                                  <m:ctrlPr>
                                    <a:rPr lang="pt-BR" altLang="zh-CN" sz="1800" b="1" i="1" smtClean="0">
                                      <a:solidFill>
                                        <a:schemeClr val="accent2">
                                          <a:lumMod val="50000"/>
                                        </a:schemeClr>
                                      </a:solidFill>
                                      <a:latin typeface="Cambria Math" panose="02040503050406030204" pitchFamily="18" charset="0"/>
                                    </a:rPr>
                                  </m:ctrlPr>
                                </m:sSupPr>
                                <m:e>
                                  <m:d>
                                    <m:dPr>
                                      <m:ctrlPr>
                                        <a:rPr lang="pt-BR" altLang="zh-CN" sz="1800" b="1" i="1" smtClean="0">
                                          <a:solidFill>
                                            <a:schemeClr val="accent2">
                                              <a:lumMod val="50000"/>
                                            </a:schemeClr>
                                          </a:solidFill>
                                          <a:latin typeface="Cambria Math" panose="02040503050406030204" pitchFamily="18" charset="0"/>
                                        </a:rPr>
                                      </m:ctrlPr>
                                    </m:dPr>
                                    <m:e>
                                      <m:r>
                                        <a:rPr lang="pt-BR" altLang="zh-CN" sz="1800" b="1" i="1" smtClean="0">
                                          <a:solidFill>
                                            <a:schemeClr val="accent2">
                                              <a:lumMod val="50000"/>
                                            </a:schemeClr>
                                          </a:solidFill>
                                          <a:latin typeface="Cambria Math" panose="02040503050406030204" pitchFamily="18" charset="0"/>
                                        </a:rPr>
                                        <m:t>−</m:t>
                                      </m:r>
                                      <m:r>
                                        <a:rPr lang="pt-BR" altLang="zh-CN" sz="1800" b="1" i="1" smtClean="0">
                                          <a:solidFill>
                                            <a:schemeClr val="accent2">
                                              <a:lumMod val="50000"/>
                                            </a:schemeClr>
                                          </a:solidFill>
                                          <a:latin typeface="Cambria Math" panose="02040503050406030204" pitchFamily="18" charset="0"/>
                                        </a:rPr>
                                        <m:t>𝟐</m:t>
                                      </m:r>
                                    </m:e>
                                  </m:d>
                                </m:e>
                                <m:sup>
                                  <m:r>
                                    <a:rPr lang="pt-BR" altLang="zh-CN" sz="1800" b="1" i="1" smtClean="0">
                                      <a:solidFill>
                                        <a:schemeClr val="accent2">
                                          <a:lumMod val="50000"/>
                                        </a:schemeClr>
                                      </a:solidFill>
                                      <a:latin typeface="Cambria Math" panose="02040503050406030204" pitchFamily="18" charset="0"/>
                                    </a:rPr>
                                    <m:t>𝒏</m:t>
                                  </m:r>
                                </m:sup>
                              </m:sSup>
                            </m:oMath>
                          </a14:m>
                          <a:endParaRPr lang="zh-CN" altLang="en-US" sz="18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r>
                </a:tbl>
              </a:graphicData>
            </a:graphic>
          </p:graphicFrame>
        </mc:Choice>
        <mc:Fallback xmlns="">
          <p:graphicFrame>
            <p:nvGraphicFramePr>
              <p:cNvPr id="25" name="表格 24"/>
              <p:cNvGraphicFramePr>
                <a:graphicFrameLocks noGrp="1"/>
              </p:cNvGraphicFramePr>
              <p:nvPr/>
            </p:nvGraphicFramePr>
            <p:xfrm>
              <a:off x="1735426" y="5130076"/>
              <a:ext cx="8721145" cy="1203198"/>
            </p:xfrm>
            <a:graphic>
              <a:graphicData uri="http://schemas.openxmlformats.org/drawingml/2006/table">
                <a:tbl>
                  <a:tblPr>
                    <a:tableStyleId>{5C22544A-7EE6-4342-B048-85BDC9FD1C3A}</a:tableStyleId>
                  </a:tblPr>
                  <a:tblGrid>
                    <a:gridCol w="2920818"/>
                    <a:gridCol w="5800327"/>
                  </a:tblGrid>
                  <a:tr h="396240">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blipFill>
                      </a:tcPr>
                    </a:tc>
                  </a:tr>
                  <a:tr h="421640">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blipFill>
                      </a:tcPr>
                    </a:tc>
                  </a:tr>
                  <a:tr h="396240">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blipFill>
                      </a:tcPr>
                    </a:tc>
                  </a:tr>
                </a:tbl>
              </a:graphicData>
            </a:graphic>
          </p:graphicFrame>
        </mc:Fallback>
      </mc:AlternateContent>
      <p:sp>
        <p:nvSpPr>
          <p:cNvPr id="28" name="文本框 27"/>
          <p:cNvSpPr txBox="1"/>
          <p:nvPr/>
        </p:nvSpPr>
        <p:spPr>
          <a:xfrm>
            <a:off x="8864092" y="1748000"/>
            <a:ext cx="2477099" cy="369332"/>
          </a:xfrm>
          <a:prstGeom prst="rect">
            <a:avLst/>
          </a:prstGeom>
          <a:solidFill>
            <a:schemeClr val="accent4">
              <a:lumMod val="40000"/>
              <a:lumOff val="60000"/>
            </a:schemeClr>
          </a:solidFill>
        </p:spPr>
        <p:txBody>
          <a:bodyPr wrap="square" rtlCol="0">
            <a:spAutoFit/>
          </a:bodyPr>
          <a:lstStyle/>
          <a:p>
            <a:r>
              <a:rPr lang="zh-CN" altLang="en-US" b="1">
                <a:solidFill>
                  <a:schemeClr val="accent2">
                    <a:lumMod val="50000"/>
                  </a:schemeClr>
                </a:solidFill>
              </a:rPr>
              <a:t>使用下面选项字母填空</a:t>
            </a:r>
            <a:endParaRPr lang="zh-CN" altLang="en-US" b="1">
              <a:solidFill>
                <a:schemeClr val="accent2">
                  <a:lumMod val="50000"/>
                </a:schemeClr>
              </a:solidFill>
            </a:endParaRPr>
          </a:p>
        </p:txBody>
      </p:sp>
      <p:sp>
        <p:nvSpPr>
          <p:cNvPr id="11" name="文本框 10"/>
          <p:cNvSpPr txBox="1"/>
          <p:nvPr/>
        </p:nvSpPr>
        <p:spPr>
          <a:xfrm>
            <a:off x="5317614" y="2328593"/>
            <a:ext cx="2392289" cy="276999"/>
          </a:xfrm>
          <a:prstGeom prst="rect">
            <a:avLst/>
          </a:prstGeom>
          <a:solidFill>
            <a:srgbClr val="F0F7EC"/>
          </a:solidFill>
        </p:spPr>
        <p:txBody>
          <a:bodyPr wrap="square" lIns="0" tIns="0" rIns="0" bIns="0" rtlCol="0">
            <a:spAutoFit/>
          </a:bodyPr>
          <a:lstStyle/>
          <a:p>
            <a:pPr algn="ctr"/>
            <a:r>
              <a:rPr lang="en-US" altLang="zh-CN" b="1">
                <a:solidFill>
                  <a:srgbClr val="C00000"/>
                </a:solidFill>
              </a:rPr>
              <a:t>(2)</a:t>
            </a:r>
            <a:endParaRPr lang="zh-CN" altLang="en-US" b="1">
              <a:solidFill>
                <a:srgbClr val="C00000"/>
              </a:solidFill>
            </a:endParaRPr>
          </a:p>
        </p:txBody>
      </p:sp>
      <p:sp>
        <p:nvSpPr>
          <p:cNvPr id="30" name="文本框 29"/>
          <p:cNvSpPr txBox="1"/>
          <p:nvPr/>
        </p:nvSpPr>
        <p:spPr>
          <a:xfrm>
            <a:off x="5443702" y="1785480"/>
            <a:ext cx="1713616" cy="276999"/>
          </a:xfrm>
          <a:prstGeom prst="rect">
            <a:avLst/>
          </a:prstGeom>
          <a:solidFill>
            <a:srgbClr val="F0F7EC"/>
          </a:solidFill>
        </p:spPr>
        <p:txBody>
          <a:bodyPr wrap="square" lIns="0" tIns="0" rIns="0" bIns="0" rtlCol="0">
            <a:spAutoFit/>
          </a:bodyPr>
          <a:lstStyle/>
          <a:p>
            <a:pPr algn="ctr"/>
            <a:r>
              <a:rPr lang="en-US" altLang="zh-CN" b="1">
                <a:solidFill>
                  <a:srgbClr val="C00000"/>
                </a:solidFill>
              </a:rPr>
              <a:t>(1)</a:t>
            </a:r>
            <a:endParaRPr lang="zh-CN" altLang="en-US" b="1">
              <a:solidFill>
                <a:srgbClr val="C00000"/>
              </a:solidFill>
            </a:endParaRPr>
          </a:p>
        </p:txBody>
      </p:sp>
      <p:sp>
        <p:nvSpPr>
          <p:cNvPr id="31" name="文本框 30"/>
          <p:cNvSpPr txBox="1"/>
          <p:nvPr/>
        </p:nvSpPr>
        <p:spPr>
          <a:xfrm>
            <a:off x="5414388" y="2852645"/>
            <a:ext cx="2982672" cy="349702"/>
          </a:xfrm>
          <a:prstGeom prst="rect">
            <a:avLst/>
          </a:prstGeom>
          <a:solidFill>
            <a:srgbClr val="F0F7EC"/>
          </a:solidFill>
        </p:spPr>
        <p:txBody>
          <a:bodyPr wrap="square" lIns="0" tIns="72000" rIns="0" bIns="0" rtlCol="0">
            <a:spAutoFit/>
          </a:bodyPr>
          <a:lstStyle/>
          <a:p>
            <a:pPr algn="ctr"/>
            <a:r>
              <a:rPr lang="en-US" altLang="zh-CN" b="1">
                <a:solidFill>
                  <a:srgbClr val="C00000"/>
                </a:solidFill>
              </a:rPr>
              <a:t>(3)</a:t>
            </a:r>
            <a:endParaRPr lang="zh-CN" altLang="en-US" b="1">
              <a:solidFill>
                <a:srgbClr val="C00000"/>
              </a:solidFill>
            </a:endParaRPr>
          </a:p>
        </p:txBody>
      </p:sp>
      <p:sp>
        <p:nvSpPr>
          <p:cNvPr id="32" name="文本框 31"/>
          <p:cNvSpPr txBox="1"/>
          <p:nvPr/>
        </p:nvSpPr>
        <p:spPr>
          <a:xfrm>
            <a:off x="6963316" y="3434021"/>
            <a:ext cx="3851601" cy="313350"/>
          </a:xfrm>
          <a:prstGeom prst="rect">
            <a:avLst/>
          </a:prstGeom>
          <a:solidFill>
            <a:srgbClr val="F0F7EC"/>
          </a:solidFill>
        </p:spPr>
        <p:txBody>
          <a:bodyPr wrap="square" lIns="0" tIns="36000" rIns="0" bIns="0" rtlCol="0">
            <a:spAutoFit/>
          </a:bodyPr>
          <a:lstStyle/>
          <a:p>
            <a:pPr algn="ctr"/>
            <a:r>
              <a:rPr lang="en-US" altLang="zh-CN" b="1">
                <a:solidFill>
                  <a:srgbClr val="C00000"/>
                </a:solidFill>
              </a:rPr>
              <a:t>(4)</a:t>
            </a:r>
            <a:endParaRPr lang="zh-CN" altLang="en-US" b="1">
              <a:solidFill>
                <a:srgbClr val="C00000"/>
              </a:solidFill>
            </a:endParaRPr>
          </a:p>
        </p:txBody>
      </p:sp>
      <p:sp>
        <p:nvSpPr>
          <p:cNvPr id="33" name="文本框 32"/>
          <p:cNvSpPr txBox="1"/>
          <p:nvPr/>
        </p:nvSpPr>
        <p:spPr>
          <a:xfrm>
            <a:off x="4924535" y="4044320"/>
            <a:ext cx="1713616" cy="276999"/>
          </a:xfrm>
          <a:prstGeom prst="rect">
            <a:avLst/>
          </a:prstGeom>
          <a:solidFill>
            <a:srgbClr val="F0F7EC"/>
          </a:solidFill>
        </p:spPr>
        <p:txBody>
          <a:bodyPr wrap="square" lIns="0" tIns="0" rIns="0" bIns="0" rtlCol="0">
            <a:spAutoFit/>
          </a:bodyPr>
          <a:lstStyle/>
          <a:p>
            <a:pPr algn="ctr"/>
            <a:r>
              <a:rPr lang="en-US" altLang="zh-CN" b="1">
                <a:solidFill>
                  <a:srgbClr val="C00000"/>
                </a:solidFill>
              </a:rPr>
              <a:t>(5)</a:t>
            </a:r>
            <a:endParaRPr lang="zh-CN" altLang="en-US" b="1">
              <a:solidFill>
                <a:srgbClr val="C00000"/>
              </a:solidFill>
            </a:endParaRPr>
          </a:p>
        </p:txBody>
      </p:sp>
      <p:sp>
        <p:nvSpPr>
          <p:cNvPr id="34" name="文本框 33"/>
          <p:cNvSpPr txBox="1"/>
          <p:nvPr/>
        </p:nvSpPr>
        <p:spPr>
          <a:xfrm>
            <a:off x="5443701" y="4531126"/>
            <a:ext cx="5529097" cy="349702"/>
          </a:xfrm>
          <a:prstGeom prst="rect">
            <a:avLst/>
          </a:prstGeom>
          <a:solidFill>
            <a:srgbClr val="F0F7EC"/>
          </a:solidFill>
        </p:spPr>
        <p:txBody>
          <a:bodyPr wrap="square" lIns="0" tIns="72000" rIns="0" bIns="0" rtlCol="0">
            <a:spAutoFit/>
          </a:bodyPr>
          <a:lstStyle/>
          <a:p>
            <a:pPr algn="ctr"/>
            <a:r>
              <a:rPr lang="en-US" altLang="zh-CN" b="1">
                <a:solidFill>
                  <a:srgbClr val="C00000"/>
                </a:solidFill>
              </a:rPr>
              <a:t>(6)</a:t>
            </a:r>
            <a:endParaRPr lang="zh-CN" altLang="en-US" b="1">
              <a:solidFill>
                <a:srgbClr val="C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线性递推关系式求解</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非齐次递推关系式特解形式判断练习</a:t>
            </a:r>
            <a:endParaRPr lang="zh-CN" altLang="en-US"/>
          </a:p>
        </p:txBody>
      </p:sp>
      <mc:AlternateContent xmlns:mc="http://schemas.openxmlformats.org/markup-compatibility/2006">
        <mc:Choice xmlns:a14="http://schemas.microsoft.com/office/drawing/2010/main" Requires="a14">
          <p:sp>
            <p:nvSpPr>
              <p:cNvPr id="3" name="文本框 2"/>
              <p:cNvSpPr txBox="1"/>
              <p:nvPr/>
            </p:nvSpPr>
            <p:spPr>
              <a:xfrm>
                <a:off x="759869" y="1669237"/>
                <a:ext cx="8709824"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对线性非齐次递推关系式 </a:t>
                </a:r>
                <a14:m>
                  <m:oMath xmlns:m="http://schemas.openxmlformats.org/officeDocument/2006/math">
                    <m:sSub>
                      <m:sSubPr>
                        <m:ctrlPr>
                          <a:rPr lang="en-US" altLang="zh-CN" sz="2400" b="1" i="1" smtClean="0">
                            <a:solidFill>
                              <a:srgbClr val="002060"/>
                            </a:solidFill>
                            <a:latin typeface="Cambria Math" panose="02040503050406030204" pitchFamily="18" charset="0"/>
                          </a:rPr>
                        </m:ctrlPr>
                      </m:sSubPr>
                      <m:e>
                        <m:r>
                          <a:rPr lang="en-US" altLang="zh-CN" sz="2400" b="1" i="1" smtClean="0">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𝒏</m:t>
                        </m:r>
                      </m:sub>
                    </m:sSub>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𝟖</m:t>
                    </m:r>
                    <m:sSub>
                      <m:sSubPr>
                        <m:ctrlPr>
                          <a:rPr lang="en-US" altLang="zh-CN" sz="2400" b="1" i="1" smtClean="0">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smtClean="0">
                            <a:solidFill>
                              <a:srgbClr val="002060"/>
                            </a:solidFill>
                            <a:latin typeface="Cambria Math" panose="02040503050406030204" pitchFamily="18" charset="0"/>
                          </a:rPr>
                          <m:t>𝒏</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𝟐</m:t>
                        </m:r>
                      </m:sub>
                    </m:sSub>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𝟏𝟔</m:t>
                    </m:r>
                    <m:sSub>
                      <m:sSubPr>
                        <m:ctrlPr>
                          <a:rPr lang="en-US" altLang="zh-CN" sz="2400" b="1" i="1" smtClean="0">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smtClean="0">
                            <a:solidFill>
                              <a:srgbClr val="002060"/>
                            </a:solidFill>
                            <a:latin typeface="Cambria Math" panose="02040503050406030204" pitchFamily="18" charset="0"/>
                          </a:rPr>
                          <m:t>𝒏</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𝟒</m:t>
                        </m:r>
                      </m:sub>
                    </m:sSub>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𝑭</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𝒏</m:t>
                        </m:r>
                      </m:e>
                    </m:d>
                  </m:oMath>
                </a14:m>
                <a:endParaRPr lang="en-US" altLang="zh-CN" sz="2400" b="1">
                  <a:latin typeface="楷体" panose="02010609060101010101" pitchFamily="49" charset="-122"/>
                  <a:ea typeface="楷体" panose="02010609060101010101" pitchFamily="49"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759869" y="1669237"/>
                <a:ext cx="8709824" cy="461665"/>
              </a:xfrm>
              <a:prstGeom prst="rect">
                <a:avLst/>
              </a:prstGeom>
              <a:blipFill rotWithShape="1">
                <a:blip r:embed="rId1"/>
                <a:stretch>
                  <a:fillRect l="-5" t="-99" r="7" b="10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759869" y="2263307"/>
                <a:ext cx="9367667" cy="407099"/>
              </a:xfrm>
              <a:prstGeom prst="rect">
                <a:avLst/>
              </a:prstGeom>
              <a:solidFill>
                <a:schemeClr val="accent4">
                  <a:lumMod val="20000"/>
                  <a:lumOff val="80000"/>
                  <a:alpha val="50000"/>
                </a:schemeClr>
              </a:solidFill>
            </p:spPr>
            <p:txBody>
              <a:bodyPr wrap="square" rtlCol="0">
                <a:spAutoFit/>
              </a:bodyPr>
              <a:lstStyle/>
              <a:p>
                <a:r>
                  <a:rPr lang="zh-CN" altLang="en-US" sz="2000" b="1">
                    <a:solidFill>
                      <a:schemeClr val="accent2">
                        <a:lumMod val="50000"/>
                      </a:schemeClr>
                    </a:solidFill>
                  </a:rPr>
                  <a:t>伴随线性齐次递推关系式的特征方程是</a:t>
                </a:r>
                <a14:m>
                  <m:oMath xmlns:m="http://schemas.openxmlformats.org/officeDocument/2006/math">
                    <m:sSup>
                      <m:sSupPr>
                        <m:ctrlPr>
                          <a:rPr lang="en-US" altLang="zh-CN" sz="2000" b="1" i="1" smtClean="0">
                            <a:solidFill>
                              <a:schemeClr val="accent2">
                                <a:lumMod val="50000"/>
                              </a:schemeClr>
                            </a:solidFill>
                            <a:latin typeface="Cambria Math" panose="02040503050406030204" pitchFamily="18" charset="0"/>
                          </a:rPr>
                        </m:ctrlPr>
                      </m:sSupPr>
                      <m:e>
                        <m:r>
                          <a:rPr lang="en-US" altLang="zh-CN" sz="2000" b="1" i="1" smtClean="0">
                            <a:solidFill>
                              <a:schemeClr val="accent2">
                                <a:lumMod val="50000"/>
                              </a:schemeClr>
                            </a:solidFill>
                            <a:latin typeface="Cambria Math" panose="02040503050406030204" pitchFamily="18" charset="0"/>
                          </a:rPr>
                          <m:t>𝒙</m:t>
                        </m:r>
                      </m:e>
                      <m:sup>
                        <m:r>
                          <a:rPr lang="en-US" altLang="zh-CN" sz="2000" b="1" i="1" smtClean="0">
                            <a:solidFill>
                              <a:schemeClr val="accent2">
                                <a:lumMod val="50000"/>
                              </a:schemeClr>
                            </a:solidFill>
                            <a:latin typeface="Cambria Math" panose="02040503050406030204" pitchFamily="18" charset="0"/>
                          </a:rPr>
                          <m:t>𝟒</m:t>
                        </m:r>
                      </m:sup>
                    </m:sSup>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𝟖</m:t>
                    </m:r>
                    <m:sSup>
                      <m:sSupPr>
                        <m:ctrlPr>
                          <a:rPr lang="en-US" altLang="zh-CN" sz="2000" b="1" i="1" smtClean="0">
                            <a:solidFill>
                              <a:schemeClr val="accent2">
                                <a:lumMod val="50000"/>
                              </a:schemeClr>
                            </a:solidFill>
                            <a:latin typeface="Cambria Math" panose="02040503050406030204" pitchFamily="18" charset="0"/>
                          </a:rPr>
                        </m:ctrlPr>
                      </m:sSupPr>
                      <m:e>
                        <m:r>
                          <a:rPr lang="en-US" altLang="zh-CN" sz="2000" b="1" i="1" smtClean="0">
                            <a:solidFill>
                              <a:schemeClr val="accent2">
                                <a:lumMod val="50000"/>
                              </a:schemeClr>
                            </a:solidFill>
                            <a:latin typeface="Cambria Math" panose="02040503050406030204" pitchFamily="18" charset="0"/>
                          </a:rPr>
                          <m:t>𝒙</m:t>
                        </m:r>
                      </m:e>
                      <m:sup>
                        <m:r>
                          <a:rPr lang="en-US" altLang="zh-CN" sz="2000" b="1" i="1" smtClean="0">
                            <a:solidFill>
                              <a:schemeClr val="accent2">
                                <a:lumMod val="50000"/>
                              </a:schemeClr>
                            </a:solidFill>
                            <a:latin typeface="Cambria Math" panose="02040503050406030204" pitchFamily="18" charset="0"/>
                          </a:rPr>
                          <m:t>𝟐</m:t>
                        </m:r>
                      </m:sup>
                    </m:sSup>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𝟏𝟔</m:t>
                    </m:r>
                  </m:oMath>
                </a14:m>
                <a:r>
                  <a:rPr lang="zh-CN" altLang="en-US" sz="2000" b="1">
                    <a:solidFill>
                      <a:schemeClr val="accent2">
                        <a:lumMod val="50000"/>
                      </a:schemeClr>
                    </a:solidFill>
                  </a:rPr>
                  <a:t>，有根</a:t>
                </a:r>
                <a14:m>
                  <m:oMath xmlns:m="http://schemas.openxmlformats.org/officeDocument/2006/math">
                    <m:r>
                      <a:rPr lang="en-US" altLang="zh-CN" sz="2000" b="1" i="1" smtClean="0">
                        <a:solidFill>
                          <a:srgbClr val="C00000"/>
                        </a:solidFill>
                        <a:latin typeface="Cambria Math" panose="02040503050406030204" pitchFamily="18" charset="0"/>
                      </a:rPr>
                      <m:t>𝟐</m:t>
                    </m:r>
                  </m:oMath>
                </a14:m>
                <a:r>
                  <a:rPr lang="zh-CN" altLang="en-US" sz="2000" b="1">
                    <a:solidFill>
                      <a:schemeClr val="accent2">
                        <a:lumMod val="50000"/>
                      </a:schemeClr>
                    </a:solidFill>
                  </a:rPr>
                  <a:t>和</a:t>
                </a:r>
                <a14:m>
                  <m:oMath xmlns:m="http://schemas.openxmlformats.org/officeDocument/2006/math">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𝟐</m:t>
                    </m:r>
                  </m:oMath>
                </a14:m>
                <a:r>
                  <a:rPr lang="zh-CN" altLang="en-US" sz="2000" b="1">
                    <a:solidFill>
                      <a:schemeClr val="accent2">
                        <a:lumMod val="50000"/>
                      </a:schemeClr>
                    </a:solidFill>
                  </a:rPr>
                  <a:t>，都是</a:t>
                </a:r>
                <a:r>
                  <a:rPr lang="zh-CN" altLang="en-US" sz="2000" b="1">
                    <a:solidFill>
                      <a:srgbClr val="C00000"/>
                    </a:solidFill>
                  </a:rPr>
                  <a:t>二重根</a:t>
                </a:r>
                <a:endParaRPr lang="zh-CN" altLang="en-US" sz="2000" b="1">
                  <a:solidFill>
                    <a:srgbClr val="C00000"/>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759869" y="2263307"/>
                <a:ext cx="9367667" cy="407099"/>
              </a:xfrm>
              <a:prstGeom prst="rect">
                <a:avLst/>
              </a:prstGeom>
              <a:blipFill rotWithShape="1">
                <a:blip r:embed="rId2"/>
                <a:stretch>
                  <a:fillRect l="-4" t="-41" r="6" b="5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759869" y="2797920"/>
                <a:ext cx="10581322" cy="3226011"/>
              </a:xfrm>
              <a:prstGeom prst="rect">
                <a:avLst/>
              </a:prstGeom>
              <a:solidFill>
                <a:schemeClr val="accent6">
                  <a:lumMod val="20000"/>
                  <a:lumOff val="80000"/>
                  <a:alpha val="50000"/>
                </a:schemeClr>
              </a:solidFill>
            </p:spPr>
            <p:txBody>
              <a:bodyPr wrap="square" rtlCol="0">
                <a:spAutoFit/>
              </a:bodyPr>
              <a:lstStyle/>
              <a:p>
                <a:pPr marL="342900" indent="-342900">
                  <a:spcBef>
                    <a:spcPts val="1200"/>
                  </a:spcBef>
                  <a:spcAft>
                    <a:spcPts val="600"/>
                  </a:spcAft>
                  <a:buFont typeface="Arial" panose="020B0604020202020204" pitchFamily="34" charset="0"/>
                  <a:buChar char="•"/>
                </a:pPr>
                <a:r>
                  <a:rPr lang="zh-CN" altLang="en-US" sz="2000" b="1">
                    <a:solidFill>
                      <a:schemeClr val="tx2">
                        <a:lumMod val="50000"/>
                      </a:schemeClr>
                    </a:solidFill>
                  </a:rPr>
                  <a:t>当</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𝑭</m:t>
                    </m:r>
                    <m:d>
                      <m:dPr>
                        <m:ctrlPr>
                          <a:rPr lang="en-US" altLang="zh-CN" sz="2000" b="1" i="1" smtClean="0">
                            <a:solidFill>
                              <a:schemeClr val="tx2">
                                <a:lumMod val="50000"/>
                              </a:schemeClr>
                            </a:solidFill>
                            <a:latin typeface="Cambria Math" panose="02040503050406030204" pitchFamily="18" charset="0"/>
                          </a:rPr>
                        </m:ctrlPr>
                      </m:dPr>
                      <m:e>
                        <m:r>
                          <a:rPr lang="en-US" altLang="zh-CN" sz="2000" b="1" i="1" smtClean="0">
                            <a:solidFill>
                              <a:schemeClr val="tx2">
                                <a:lumMod val="50000"/>
                              </a:schemeClr>
                            </a:solidFill>
                            <a:latin typeface="Cambria Math" panose="02040503050406030204" pitchFamily="18" charset="0"/>
                          </a:rPr>
                          <m:t>𝒏</m:t>
                        </m:r>
                      </m:e>
                    </m:d>
                    <m:r>
                      <a:rPr lang="en-US" altLang="zh-CN" sz="2000" b="1" i="1" smtClean="0">
                        <a:solidFill>
                          <a:schemeClr val="tx2">
                            <a:lumMod val="50000"/>
                          </a:schemeClr>
                        </a:solidFill>
                        <a:latin typeface="Cambria Math" panose="02040503050406030204" pitchFamily="18" charset="0"/>
                      </a:rPr>
                      <m:t>= </m:t>
                    </m:r>
                    <m:sSup>
                      <m:sSupPr>
                        <m:ctrlPr>
                          <a:rPr lang="en-US" altLang="zh-CN" sz="2000" b="1" i="1" smtClean="0">
                            <a:solidFill>
                              <a:schemeClr val="tx2">
                                <a:lumMod val="50000"/>
                              </a:schemeClr>
                            </a:solidFill>
                            <a:latin typeface="Cambria Math" panose="02040503050406030204" pitchFamily="18" charset="0"/>
                          </a:rPr>
                        </m:ctrlPr>
                      </m:sSupPr>
                      <m:e>
                        <m:d>
                          <m:dPr>
                            <m:ctrlPr>
                              <a:rPr lang="en-US" altLang="zh-CN" sz="2000" b="1" i="1" smtClean="0">
                                <a:solidFill>
                                  <a:schemeClr val="tx2">
                                    <a:lumMod val="50000"/>
                                  </a:schemeClr>
                                </a:solidFill>
                                <a:latin typeface="Cambria Math" panose="02040503050406030204" pitchFamily="18" charset="0"/>
                              </a:rPr>
                            </m:ctrlPr>
                          </m:dPr>
                          <m:e>
                            <m:r>
                              <a:rPr lang="en-US" altLang="zh-CN" sz="2000" b="1" i="1" smtClean="0">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𝟐</m:t>
                            </m:r>
                          </m:e>
                        </m:d>
                      </m:e>
                      <m:sup>
                        <m:r>
                          <a:rPr lang="en-US" altLang="zh-CN" sz="2000" b="1" i="1" smtClean="0">
                            <a:solidFill>
                              <a:schemeClr val="tx2">
                                <a:lumMod val="50000"/>
                              </a:schemeClr>
                            </a:solidFill>
                            <a:latin typeface="Cambria Math" panose="02040503050406030204" pitchFamily="18" charset="0"/>
                          </a:rPr>
                          <m:t>𝒏</m:t>
                        </m:r>
                      </m:sup>
                    </m:sSup>
                  </m:oMath>
                </a14:m>
                <a:r>
                  <a:rPr lang="zh-CN" altLang="en-US" sz="2000" b="1">
                    <a:solidFill>
                      <a:schemeClr val="tx2">
                        <a:lumMod val="50000"/>
                      </a:schemeClr>
                    </a:solidFill>
                  </a:rPr>
                  <a:t>时，它的特解形式是   </a:t>
                </a:r>
                <a14:m>
                  <m:oMath xmlns:m="http://schemas.openxmlformats.org/officeDocument/2006/math">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𝟐</m:t>
                        </m:r>
                      </m:sup>
                    </m:sSup>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𝟎</m:t>
                        </m:r>
                      </m:sub>
                    </m:sSub>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𝟐</m:t>
                            </m:r>
                          </m:e>
                        </m:d>
                      </m:e>
                      <m:sup>
                        <m:r>
                          <a:rPr lang="en-US" altLang="zh-CN" sz="2000" b="1" i="1" smtClean="0">
                            <a:solidFill>
                              <a:srgbClr val="C00000"/>
                            </a:solidFill>
                            <a:latin typeface="Cambria Math" panose="02040503050406030204" pitchFamily="18" charset="0"/>
                          </a:rPr>
                          <m:t>𝒏</m:t>
                        </m:r>
                      </m:sup>
                    </m:sSup>
                  </m:oMath>
                </a14:m>
                <a:r>
                  <a:rPr lang="en-US" altLang="zh-CN" sz="2000" b="1">
                    <a:solidFill>
                      <a:schemeClr val="tx2">
                        <a:lumMod val="50000"/>
                      </a:schemeClr>
                    </a:solidFill>
                  </a:rPr>
                  <a:t> </a:t>
                </a:r>
                <a:r>
                  <a:rPr lang="zh-CN" altLang="en-US" sz="2000" b="1">
                    <a:solidFill>
                      <a:schemeClr val="tx2">
                        <a:lumMod val="50000"/>
                      </a:schemeClr>
                    </a:solidFill>
                  </a:rPr>
                  <a:t>；</a:t>
                </a:r>
                <a:endParaRPr lang="zh-CN" altLang="en-US" sz="2000" b="1">
                  <a:solidFill>
                    <a:schemeClr val="tx2">
                      <a:lumMod val="50000"/>
                    </a:schemeClr>
                  </a:solidFill>
                </a:endParaRPr>
              </a:p>
              <a:p>
                <a:pPr marL="342900" indent="-342900">
                  <a:spcBef>
                    <a:spcPts val="1200"/>
                  </a:spcBef>
                  <a:spcAft>
                    <a:spcPts val="600"/>
                  </a:spcAft>
                  <a:buFont typeface="Arial" panose="020B0604020202020204" pitchFamily="34" charset="0"/>
                  <a:buChar char="•"/>
                </a:pPr>
                <a:r>
                  <a:rPr lang="zh-CN" altLang="en-US" sz="2000" b="1">
                    <a:solidFill>
                      <a:schemeClr val="tx2">
                        <a:lumMod val="50000"/>
                      </a:schemeClr>
                    </a:solidFill>
                  </a:rPr>
                  <a:t>当</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𝑭</m:t>
                    </m:r>
                    <m:d>
                      <m:dPr>
                        <m:ctrlPr>
                          <a:rPr lang="en-US" altLang="zh-CN" sz="2000" b="1" i="1" smtClean="0">
                            <a:solidFill>
                              <a:schemeClr val="tx2">
                                <a:lumMod val="50000"/>
                              </a:schemeClr>
                            </a:solidFill>
                            <a:latin typeface="Cambria Math" panose="02040503050406030204" pitchFamily="18" charset="0"/>
                          </a:rPr>
                        </m:ctrlPr>
                      </m:dPr>
                      <m:e>
                        <m:r>
                          <a:rPr lang="en-US" altLang="zh-CN" sz="2000" b="1" i="1" smtClean="0">
                            <a:solidFill>
                              <a:schemeClr val="tx2">
                                <a:lumMod val="50000"/>
                              </a:schemeClr>
                            </a:solidFill>
                            <a:latin typeface="Cambria Math" panose="02040503050406030204" pitchFamily="18" charset="0"/>
                          </a:rPr>
                          <m:t>𝒏</m:t>
                        </m:r>
                      </m:e>
                    </m:d>
                    <m:r>
                      <a:rPr lang="en-US" altLang="zh-CN" sz="2000" b="1" i="1" smtClean="0">
                        <a:solidFill>
                          <a:schemeClr val="tx2">
                            <a:lumMod val="50000"/>
                          </a:schemeClr>
                        </a:solidFill>
                        <a:latin typeface="Cambria Math" panose="02040503050406030204" pitchFamily="18" charset="0"/>
                      </a:rPr>
                      <m:t>= </m:t>
                    </m:r>
                    <m:r>
                      <a:rPr lang="en-US" altLang="zh-CN" sz="2000" b="1" i="1" smtClean="0">
                        <a:solidFill>
                          <a:schemeClr val="tx2">
                            <a:lumMod val="50000"/>
                          </a:schemeClr>
                        </a:solidFill>
                        <a:latin typeface="Cambria Math" panose="02040503050406030204" pitchFamily="18" charset="0"/>
                      </a:rPr>
                      <m:t>𝒏</m:t>
                    </m:r>
                    <m:sSup>
                      <m:sSupPr>
                        <m:ctrlPr>
                          <a:rPr lang="en-US" altLang="zh-CN" sz="2000" b="1" i="1" smtClean="0">
                            <a:solidFill>
                              <a:schemeClr val="tx2">
                                <a:lumMod val="50000"/>
                              </a:schemeClr>
                            </a:solidFill>
                            <a:latin typeface="Cambria Math" panose="02040503050406030204" pitchFamily="18" charset="0"/>
                          </a:rPr>
                        </m:ctrlPr>
                      </m:sSupPr>
                      <m:e>
                        <m:r>
                          <a:rPr lang="en-US" altLang="zh-CN" sz="2000" b="1" i="1" smtClean="0">
                            <a:solidFill>
                              <a:schemeClr val="tx2">
                                <a:lumMod val="50000"/>
                              </a:schemeClr>
                            </a:solidFill>
                            <a:latin typeface="Cambria Math" panose="02040503050406030204" pitchFamily="18" charset="0"/>
                          </a:rPr>
                          <m:t>𝟐</m:t>
                        </m:r>
                      </m:e>
                      <m:sup>
                        <m:r>
                          <a:rPr lang="en-US" altLang="zh-CN" sz="2000" b="1" i="1" smtClean="0">
                            <a:solidFill>
                              <a:schemeClr val="tx2">
                                <a:lumMod val="50000"/>
                              </a:schemeClr>
                            </a:solidFill>
                            <a:latin typeface="Cambria Math" panose="02040503050406030204" pitchFamily="18" charset="0"/>
                          </a:rPr>
                          <m:t>𝒏</m:t>
                        </m:r>
                      </m:sup>
                    </m:sSup>
                  </m:oMath>
                </a14:m>
                <a:r>
                  <a:rPr lang="zh-CN" altLang="en-US" sz="2000" b="1">
                    <a:solidFill>
                      <a:schemeClr val="tx2">
                        <a:lumMod val="50000"/>
                      </a:schemeClr>
                    </a:solidFill>
                  </a:rPr>
                  <a:t>时，它的特解形式是   </a:t>
                </a:r>
                <a14:m>
                  <m:oMath xmlns:m="http://schemas.openxmlformats.org/officeDocument/2006/math">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𝟐</m:t>
                        </m:r>
                      </m:sup>
                    </m:sSup>
                    <m:r>
                      <a:rPr lang="en-US" altLang="zh-CN" sz="2000" b="1" i="1" smtClean="0">
                        <a:solidFill>
                          <a:srgbClr val="C00000"/>
                        </a:solidFill>
                        <a:latin typeface="Cambria Math" panose="02040503050406030204" pitchFamily="18" charset="0"/>
                      </a:rPr>
                      <m:t>⋅</m:t>
                    </m:r>
                    <m:d>
                      <m:dPr>
                        <m:ctrlPr>
                          <a:rPr lang="en-US" altLang="zh-CN" sz="2000" b="1" i="1" smtClean="0">
                            <a:solidFill>
                              <a:srgbClr val="C00000"/>
                            </a:solidFill>
                            <a:latin typeface="Cambria Math" panose="02040503050406030204" pitchFamily="18" charset="0"/>
                          </a:rPr>
                        </m:ctrlPr>
                      </m:dPr>
                      <m:e>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𝟎</m:t>
                            </m:r>
                          </m:sub>
                        </m:sSub>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𝟏</m:t>
                            </m:r>
                          </m:sub>
                        </m:sSub>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𝒏</m:t>
                        </m:r>
                      </m:e>
                    </m:d>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𝟐</m:t>
                        </m:r>
                      </m:e>
                      <m:sup>
                        <m:r>
                          <a:rPr lang="en-US" altLang="zh-CN" sz="2000" b="1" i="1" smtClean="0">
                            <a:solidFill>
                              <a:srgbClr val="C00000"/>
                            </a:solidFill>
                            <a:latin typeface="Cambria Math" panose="02040503050406030204" pitchFamily="18" charset="0"/>
                          </a:rPr>
                          <m:t>𝒏</m:t>
                        </m:r>
                      </m:sup>
                    </m:sSup>
                  </m:oMath>
                </a14:m>
                <a:r>
                  <a:rPr lang="en-US" altLang="zh-CN" sz="2000" b="1">
                    <a:solidFill>
                      <a:schemeClr val="tx2">
                        <a:lumMod val="50000"/>
                      </a:schemeClr>
                    </a:solidFill>
                  </a:rPr>
                  <a:t> </a:t>
                </a:r>
                <a:r>
                  <a:rPr lang="zh-CN" altLang="en-US" sz="2000" b="1">
                    <a:solidFill>
                      <a:schemeClr val="tx2">
                        <a:lumMod val="50000"/>
                      </a:schemeClr>
                    </a:solidFill>
                  </a:rPr>
                  <a:t>；</a:t>
                </a:r>
                <a:endParaRPr lang="zh-CN" altLang="en-US" sz="2000" b="1">
                  <a:solidFill>
                    <a:schemeClr val="tx2">
                      <a:lumMod val="50000"/>
                    </a:schemeClr>
                  </a:solidFill>
                </a:endParaRPr>
              </a:p>
              <a:p>
                <a:pPr marL="342900" indent="-342900">
                  <a:spcBef>
                    <a:spcPts val="1200"/>
                  </a:spcBef>
                  <a:spcAft>
                    <a:spcPts val="600"/>
                  </a:spcAft>
                  <a:buFont typeface="Arial" panose="020B0604020202020204" pitchFamily="34" charset="0"/>
                  <a:buChar char="•"/>
                </a:pPr>
                <a:r>
                  <a:rPr lang="zh-CN" altLang="en-US" sz="2000" b="1">
                    <a:solidFill>
                      <a:schemeClr val="tx2">
                        <a:lumMod val="50000"/>
                      </a:schemeClr>
                    </a:solidFill>
                  </a:rPr>
                  <a:t>当</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𝑭</m:t>
                    </m:r>
                    <m:d>
                      <m:dPr>
                        <m:ctrlPr>
                          <a:rPr lang="en-US" altLang="zh-CN" sz="2000" b="1" i="1" smtClean="0">
                            <a:solidFill>
                              <a:schemeClr val="tx2">
                                <a:lumMod val="50000"/>
                              </a:schemeClr>
                            </a:solidFill>
                            <a:latin typeface="Cambria Math" panose="02040503050406030204" pitchFamily="18" charset="0"/>
                          </a:rPr>
                        </m:ctrlPr>
                      </m:dPr>
                      <m:e>
                        <m:r>
                          <a:rPr lang="en-US" altLang="zh-CN" sz="2000" b="1" i="1" smtClean="0">
                            <a:solidFill>
                              <a:schemeClr val="tx2">
                                <a:lumMod val="50000"/>
                              </a:schemeClr>
                            </a:solidFill>
                            <a:latin typeface="Cambria Math" panose="02040503050406030204" pitchFamily="18" charset="0"/>
                          </a:rPr>
                          <m:t>𝒏</m:t>
                        </m:r>
                      </m:e>
                    </m:d>
                    <m:r>
                      <a:rPr lang="en-US" altLang="zh-CN" sz="2000" b="1" i="1" smtClean="0">
                        <a:solidFill>
                          <a:schemeClr val="tx2">
                            <a:lumMod val="50000"/>
                          </a:schemeClr>
                        </a:solidFill>
                        <a:latin typeface="Cambria Math" panose="02040503050406030204" pitchFamily="18" charset="0"/>
                      </a:rPr>
                      <m:t>= </m:t>
                    </m:r>
                    <m:sSup>
                      <m:sSupPr>
                        <m:ctrlPr>
                          <a:rPr lang="en-US" altLang="zh-CN" sz="2000" b="1" i="1" smtClean="0">
                            <a:solidFill>
                              <a:schemeClr val="tx2">
                                <a:lumMod val="50000"/>
                              </a:schemeClr>
                            </a:solidFill>
                            <a:latin typeface="Cambria Math" panose="02040503050406030204" pitchFamily="18" charset="0"/>
                          </a:rPr>
                        </m:ctrlPr>
                      </m:sSupPr>
                      <m:e>
                        <m:r>
                          <a:rPr lang="en-US" altLang="zh-CN" sz="2000" b="1" i="1" smtClean="0">
                            <a:solidFill>
                              <a:schemeClr val="tx2">
                                <a:lumMod val="50000"/>
                              </a:schemeClr>
                            </a:solidFill>
                            <a:latin typeface="Cambria Math" panose="02040503050406030204" pitchFamily="18" charset="0"/>
                          </a:rPr>
                          <m:t>𝒏</m:t>
                        </m:r>
                      </m:e>
                      <m:sup>
                        <m:r>
                          <a:rPr lang="en-US" altLang="zh-CN" sz="2000" b="1" i="1" smtClean="0">
                            <a:solidFill>
                              <a:schemeClr val="tx2">
                                <a:lumMod val="50000"/>
                              </a:schemeClr>
                            </a:solidFill>
                            <a:latin typeface="Cambria Math" panose="02040503050406030204" pitchFamily="18" charset="0"/>
                          </a:rPr>
                          <m:t>𝟐</m:t>
                        </m:r>
                      </m:sup>
                    </m:sSup>
                    <m:sSup>
                      <m:sSupPr>
                        <m:ctrlPr>
                          <a:rPr lang="en-US" altLang="zh-CN" sz="2000" b="1" i="1" smtClean="0">
                            <a:solidFill>
                              <a:schemeClr val="tx2">
                                <a:lumMod val="50000"/>
                              </a:schemeClr>
                            </a:solidFill>
                            <a:latin typeface="Cambria Math" panose="02040503050406030204" pitchFamily="18" charset="0"/>
                          </a:rPr>
                        </m:ctrlPr>
                      </m:sSupPr>
                      <m:e>
                        <m:r>
                          <a:rPr lang="en-US" altLang="zh-CN" sz="2000" b="1" i="1" smtClean="0">
                            <a:solidFill>
                              <a:schemeClr val="tx2">
                                <a:lumMod val="50000"/>
                              </a:schemeClr>
                            </a:solidFill>
                            <a:latin typeface="Cambria Math" panose="02040503050406030204" pitchFamily="18" charset="0"/>
                          </a:rPr>
                          <m:t>𝟒</m:t>
                        </m:r>
                      </m:e>
                      <m:sup>
                        <m:r>
                          <a:rPr lang="en-US" altLang="zh-CN" sz="2000" b="1" i="1" smtClean="0">
                            <a:solidFill>
                              <a:schemeClr val="tx2">
                                <a:lumMod val="50000"/>
                              </a:schemeClr>
                            </a:solidFill>
                            <a:latin typeface="Cambria Math" panose="02040503050406030204" pitchFamily="18" charset="0"/>
                          </a:rPr>
                          <m:t>𝒏</m:t>
                        </m:r>
                      </m:sup>
                    </m:sSup>
                  </m:oMath>
                </a14:m>
                <a:r>
                  <a:rPr lang="zh-CN" altLang="en-US" sz="2000" b="1">
                    <a:solidFill>
                      <a:schemeClr val="tx2">
                        <a:lumMod val="50000"/>
                      </a:schemeClr>
                    </a:solidFill>
                  </a:rPr>
                  <a:t>时，它的特解形式是   </a:t>
                </a:r>
                <a14:m>
                  <m:oMath xmlns:m="http://schemas.openxmlformats.org/officeDocument/2006/math">
                    <m:d>
                      <m:dPr>
                        <m:ctrlPr>
                          <a:rPr lang="en-US" altLang="zh-CN" sz="2000" b="1" i="1" smtClean="0">
                            <a:solidFill>
                              <a:srgbClr val="C00000"/>
                            </a:solidFill>
                            <a:latin typeface="Cambria Math" panose="02040503050406030204" pitchFamily="18" charset="0"/>
                          </a:rPr>
                        </m:ctrlPr>
                      </m:dPr>
                      <m:e>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𝟎</m:t>
                            </m:r>
                          </m:sub>
                        </m:sSub>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𝟏</m:t>
                            </m:r>
                          </m:sub>
                        </m:sSub>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𝟐</m:t>
                            </m:r>
                          </m:sub>
                        </m:sSub>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𝟐</m:t>
                            </m:r>
                          </m:sup>
                        </m:sSup>
                      </m:e>
                    </m:d>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𝟒</m:t>
                        </m:r>
                      </m:e>
                      <m:sup>
                        <m:r>
                          <a:rPr lang="en-US" altLang="zh-CN" sz="2000" b="1" i="1" smtClean="0">
                            <a:solidFill>
                              <a:srgbClr val="C00000"/>
                            </a:solidFill>
                            <a:latin typeface="Cambria Math" panose="02040503050406030204" pitchFamily="18" charset="0"/>
                          </a:rPr>
                          <m:t>𝒏</m:t>
                        </m:r>
                      </m:sup>
                    </m:sSup>
                  </m:oMath>
                </a14:m>
                <a:r>
                  <a:rPr lang="en-US" altLang="zh-CN" sz="2000" b="1">
                    <a:solidFill>
                      <a:schemeClr val="tx2">
                        <a:lumMod val="50000"/>
                      </a:schemeClr>
                    </a:solidFill>
                  </a:rPr>
                  <a:t> </a:t>
                </a:r>
                <a:r>
                  <a:rPr lang="zh-CN" altLang="en-US" sz="2000" b="1">
                    <a:solidFill>
                      <a:schemeClr val="tx2">
                        <a:lumMod val="50000"/>
                      </a:schemeClr>
                    </a:solidFill>
                  </a:rPr>
                  <a:t>；</a:t>
                </a:r>
                <a:endParaRPr lang="zh-CN" altLang="en-US" sz="2000" b="1">
                  <a:solidFill>
                    <a:schemeClr val="tx2">
                      <a:lumMod val="50000"/>
                    </a:schemeClr>
                  </a:solidFill>
                </a:endParaRPr>
              </a:p>
              <a:p>
                <a:pPr marL="342900" indent="-342900">
                  <a:spcBef>
                    <a:spcPts val="1200"/>
                  </a:spcBef>
                  <a:spcAft>
                    <a:spcPts val="600"/>
                  </a:spcAft>
                  <a:buFont typeface="Arial" panose="020B0604020202020204" pitchFamily="34" charset="0"/>
                  <a:buChar char="•"/>
                </a:pPr>
                <a:r>
                  <a:rPr lang="zh-CN" altLang="en-US" sz="2000" b="1">
                    <a:solidFill>
                      <a:schemeClr val="tx2">
                        <a:lumMod val="50000"/>
                      </a:schemeClr>
                    </a:solidFill>
                  </a:rPr>
                  <a:t>当</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𝑭</m:t>
                    </m:r>
                    <m:d>
                      <m:dPr>
                        <m:ctrlPr>
                          <a:rPr lang="en-US" altLang="zh-CN" sz="2000" b="1" i="1" smtClean="0">
                            <a:solidFill>
                              <a:schemeClr val="tx2">
                                <a:lumMod val="50000"/>
                              </a:schemeClr>
                            </a:solidFill>
                            <a:latin typeface="Cambria Math" panose="02040503050406030204" pitchFamily="18" charset="0"/>
                          </a:rPr>
                        </m:ctrlPr>
                      </m:dPr>
                      <m:e>
                        <m:r>
                          <a:rPr lang="en-US" altLang="zh-CN" sz="2000" b="1" i="1" smtClean="0">
                            <a:solidFill>
                              <a:schemeClr val="tx2">
                                <a:lumMod val="50000"/>
                              </a:schemeClr>
                            </a:solidFill>
                            <a:latin typeface="Cambria Math" panose="02040503050406030204" pitchFamily="18" charset="0"/>
                          </a:rPr>
                          <m:t>𝒏</m:t>
                        </m:r>
                      </m:e>
                    </m:d>
                    <m:r>
                      <a:rPr lang="en-US" altLang="zh-CN" sz="2000" b="1" i="1" smtClean="0">
                        <a:solidFill>
                          <a:schemeClr val="tx2">
                            <a:lumMod val="50000"/>
                          </a:schemeClr>
                        </a:solidFill>
                        <a:latin typeface="Cambria Math" panose="02040503050406030204" pitchFamily="18" charset="0"/>
                      </a:rPr>
                      <m:t>= </m:t>
                    </m:r>
                    <m:d>
                      <m:dPr>
                        <m:ctrlPr>
                          <a:rPr lang="en-US" altLang="zh-CN" sz="2000" b="1" i="1" smtClean="0">
                            <a:solidFill>
                              <a:schemeClr val="tx2">
                                <a:lumMod val="50000"/>
                              </a:schemeClr>
                            </a:solidFill>
                            <a:latin typeface="Cambria Math" panose="02040503050406030204" pitchFamily="18" charset="0"/>
                          </a:rPr>
                        </m:ctrlPr>
                      </m:dPr>
                      <m:e>
                        <m:sSup>
                          <m:sSupPr>
                            <m:ctrlPr>
                              <a:rPr lang="en-US" altLang="zh-CN" sz="2000" b="1" i="1" smtClean="0">
                                <a:solidFill>
                                  <a:schemeClr val="tx2">
                                    <a:lumMod val="50000"/>
                                  </a:schemeClr>
                                </a:solidFill>
                                <a:latin typeface="Cambria Math" panose="02040503050406030204" pitchFamily="18" charset="0"/>
                              </a:rPr>
                            </m:ctrlPr>
                          </m:sSupPr>
                          <m:e>
                            <m:r>
                              <a:rPr lang="en-US" altLang="zh-CN" sz="2000" b="1" i="1" smtClean="0">
                                <a:solidFill>
                                  <a:schemeClr val="tx2">
                                    <a:lumMod val="50000"/>
                                  </a:schemeClr>
                                </a:solidFill>
                                <a:latin typeface="Cambria Math" panose="02040503050406030204" pitchFamily="18" charset="0"/>
                              </a:rPr>
                              <m:t>𝒏</m:t>
                            </m:r>
                          </m:e>
                          <m:sup>
                            <m:r>
                              <a:rPr lang="en-US" altLang="zh-CN" sz="2000" b="1" i="1" smtClean="0">
                                <a:solidFill>
                                  <a:schemeClr val="tx2">
                                    <a:lumMod val="50000"/>
                                  </a:schemeClr>
                                </a:solidFill>
                                <a:latin typeface="Cambria Math" panose="02040503050406030204" pitchFamily="18" charset="0"/>
                              </a:rPr>
                              <m:t>𝟐</m:t>
                            </m:r>
                          </m:sup>
                        </m:sSup>
                        <m:r>
                          <a:rPr lang="en-US" altLang="zh-CN" sz="2000" b="1" i="1" smtClean="0">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𝒏</m:t>
                        </m:r>
                        <m:r>
                          <a:rPr lang="en-US" altLang="zh-CN" sz="2000" b="1" i="1" smtClean="0">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𝟏</m:t>
                        </m:r>
                      </m:e>
                    </m:d>
                    <m:sSup>
                      <m:sSupPr>
                        <m:ctrlPr>
                          <a:rPr lang="en-US" altLang="zh-CN" sz="2000" b="1" i="1" smtClean="0">
                            <a:solidFill>
                              <a:schemeClr val="tx2">
                                <a:lumMod val="50000"/>
                              </a:schemeClr>
                            </a:solidFill>
                            <a:latin typeface="Cambria Math" panose="02040503050406030204" pitchFamily="18" charset="0"/>
                          </a:rPr>
                        </m:ctrlPr>
                      </m:sSupPr>
                      <m:e>
                        <m:d>
                          <m:dPr>
                            <m:ctrlPr>
                              <a:rPr lang="en-US" altLang="zh-CN" sz="2000" b="1" i="1" smtClean="0">
                                <a:solidFill>
                                  <a:schemeClr val="tx2">
                                    <a:lumMod val="50000"/>
                                  </a:schemeClr>
                                </a:solidFill>
                                <a:latin typeface="Cambria Math" panose="02040503050406030204" pitchFamily="18" charset="0"/>
                              </a:rPr>
                            </m:ctrlPr>
                          </m:dPr>
                          <m:e>
                            <m:r>
                              <a:rPr lang="en-US" altLang="zh-CN" sz="2000" b="1" i="1" smtClean="0">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𝟐</m:t>
                            </m:r>
                          </m:e>
                        </m:d>
                      </m:e>
                      <m:sup>
                        <m:r>
                          <a:rPr lang="en-US" altLang="zh-CN" sz="2000" b="1" i="1" smtClean="0">
                            <a:solidFill>
                              <a:schemeClr val="tx2">
                                <a:lumMod val="50000"/>
                              </a:schemeClr>
                            </a:solidFill>
                            <a:latin typeface="Cambria Math" panose="02040503050406030204" pitchFamily="18" charset="0"/>
                          </a:rPr>
                          <m:t>𝒏</m:t>
                        </m:r>
                      </m:sup>
                    </m:sSup>
                  </m:oMath>
                </a14:m>
                <a:r>
                  <a:rPr lang="zh-CN" altLang="en-US" sz="2000" b="1">
                    <a:solidFill>
                      <a:schemeClr val="tx2">
                        <a:lumMod val="50000"/>
                      </a:schemeClr>
                    </a:solidFill>
                  </a:rPr>
                  <a:t>时，它的特解形式是   </a:t>
                </a:r>
                <a14:m>
                  <m:oMath xmlns:m="http://schemas.openxmlformats.org/officeDocument/2006/math">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𝟐</m:t>
                        </m:r>
                      </m:sup>
                    </m:sSup>
                    <m:r>
                      <a:rPr lang="en-US" altLang="zh-CN" sz="2000" b="1" i="1" smtClean="0">
                        <a:solidFill>
                          <a:srgbClr val="C00000"/>
                        </a:solidFill>
                        <a:latin typeface="Cambria Math" panose="02040503050406030204" pitchFamily="18" charset="0"/>
                      </a:rPr>
                      <m:t>⋅</m:t>
                    </m:r>
                    <m:d>
                      <m:dPr>
                        <m:ctrlPr>
                          <a:rPr lang="en-US" altLang="zh-CN" sz="2000" b="1" i="1" smtClean="0">
                            <a:solidFill>
                              <a:srgbClr val="C00000"/>
                            </a:solidFill>
                            <a:latin typeface="Cambria Math" panose="02040503050406030204" pitchFamily="18" charset="0"/>
                          </a:rPr>
                        </m:ctrlPr>
                      </m:dPr>
                      <m:e>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𝟎</m:t>
                            </m:r>
                          </m:sub>
                        </m:sSub>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𝟏</m:t>
                            </m:r>
                          </m:sub>
                        </m:sSub>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𝟐</m:t>
                            </m:r>
                          </m:sub>
                        </m:sSub>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𝟐</m:t>
                            </m:r>
                          </m:sup>
                        </m:sSup>
                      </m:e>
                    </m:d>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𝟐</m:t>
                            </m:r>
                          </m:e>
                        </m:d>
                      </m:e>
                      <m:sup>
                        <m:r>
                          <a:rPr lang="en-US" altLang="zh-CN" sz="2000" b="1" i="1" smtClean="0">
                            <a:solidFill>
                              <a:srgbClr val="C00000"/>
                            </a:solidFill>
                            <a:latin typeface="Cambria Math" panose="02040503050406030204" pitchFamily="18" charset="0"/>
                          </a:rPr>
                          <m:t>𝒏</m:t>
                        </m:r>
                      </m:sup>
                    </m:sSup>
                  </m:oMath>
                </a14:m>
                <a:r>
                  <a:rPr lang="en-US" altLang="zh-CN" sz="2000" b="1">
                    <a:solidFill>
                      <a:schemeClr val="tx2">
                        <a:lumMod val="50000"/>
                      </a:schemeClr>
                    </a:solidFill>
                  </a:rPr>
                  <a:t> </a:t>
                </a:r>
                <a:r>
                  <a:rPr lang="zh-CN" altLang="en-US" sz="2000" b="1">
                    <a:solidFill>
                      <a:schemeClr val="tx2">
                        <a:lumMod val="50000"/>
                      </a:schemeClr>
                    </a:solidFill>
                  </a:rPr>
                  <a:t>；</a:t>
                </a:r>
                <a:endParaRPr lang="zh-CN" altLang="en-US" sz="2000" b="1">
                  <a:solidFill>
                    <a:schemeClr val="tx2">
                      <a:lumMod val="50000"/>
                    </a:schemeClr>
                  </a:solidFill>
                </a:endParaRPr>
              </a:p>
              <a:p>
                <a:pPr marL="342900" indent="-342900">
                  <a:spcBef>
                    <a:spcPts val="1200"/>
                  </a:spcBef>
                  <a:spcAft>
                    <a:spcPts val="600"/>
                  </a:spcAft>
                  <a:buFont typeface="Arial" panose="020B0604020202020204" pitchFamily="34" charset="0"/>
                  <a:buChar char="•"/>
                </a:pPr>
                <a:r>
                  <a:rPr lang="zh-CN" altLang="en-US" sz="2000" b="1">
                    <a:solidFill>
                      <a:schemeClr val="tx2">
                        <a:lumMod val="50000"/>
                      </a:schemeClr>
                    </a:solidFill>
                  </a:rPr>
                  <a:t>当</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𝑭</m:t>
                    </m:r>
                    <m:r>
                      <a:rPr lang="en-US" altLang="zh-CN" sz="2000" b="1" i="1" smtClean="0">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𝒏</m:t>
                    </m:r>
                    <m:r>
                      <a:rPr lang="en-US" altLang="zh-CN" sz="2000" b="1" i="1" smtClean="0">
                        <a:solidFill>
                          <a:schemeClr val="tx2">
                            <a:lumMod val="50000"/>
                          </a:schemeClr>
                        </a:solidFill>
                        <a:latin typeface="Cambria Math" panose="02040503050406030204" pitchFamily="18" charset="0"/>
                      </a:rPr>
                      <m:t>) = </m:t>
                    </m:r>
                    <m:r>
                      <a:rPr lang="en-US" altLang="zh-CN" sz="2000" b="1" i="1" smtClean="0">
                        <a:solidFill>
                          <a:schemeClr val="tx2">
                            <a:lumMod val="50000"/>
                          </a:schemeClr>
                        </a:solidFill>
                        <a:latin typeface="Cambria Math" panose="02040503050406030204" pitchFamily="18" charset="0"/>
                      </a:rPr>
                      <m:t>𝟐</m:t>
                    </m:r>
                  </m:oMath>
                </a14:m>
                <a:r>
                  <a:rPr lang="zh-CN" altLang="en-US" sz="2000" b="1">
                    <a:solidFill>
                      <a:schemeClr val="tx2">
                        <a:lumMod val="50000"/>
                      </a:schemeClr>
                    </a:solidFill>
                  </a:rPr>
                  <a:t>时，它的特解形式是          </a:t>
                </a:r>
                <a14:m>
                  <m:oMath xmlns:m="http://schemas.openxmlformats.org/officeDocument/2006/math">
                    <m:r>
                      <a:rPr lang="zh-CN" altLang="en-US" sz="2000" b="1" i="1" smtClean="0">
                        <a:solidFill>
                          <a:schemeClr val="tx2">
                            <a:lumMod val="50000"/>
                          </a:schemeClr>
                        </a:solidFill>
                        <a:latin typeface="Cambria Math" panose="02040503050406030204" pitchFamily="18" charset="0"/>
                      </a:rPr>
                      <m:t> </m:t>
                    </m:r>
                    <m:sSub>
                      <m:sSubPr>
                        <m:ctrlPr>
                          <a:rPr lang="en-US" altLang="zh-CN" sz="2000" b="1" i="1" smtClean="0">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𝒑</m:t>
                        </m:r>
                      </m:e>
                      <m:sub>
                        <m:r>
                          <a:rPr lang="en-US" altLang="zh-CN" sz="2000" b="1" i="1">
                            <a:solidFill>
                              <a:srgbClr val="C00000"/>
                            </a:solidFill>
                            <a:latin typeface="Cambria Math" panose="02040503050406030204" pitchFamily="18" charset="0"/>
                          </a:rPr>
                          <m:t>𝟎</m:t>
                        </m:r>
                      </m:sub>
                    </m:sSub>
                  </m:oMath>
                </a14:m>
                <a:r>
                  <a:rPr lang="en-US" altLang="zh-CN" sz="2000" b="1">
                    <a:solidFill>
                      <a:schemeClr val="tx2">
                        <a:lumMod val="50000"/>
                      </a:schemeClr>
                    </a:solidFill>
                  </a:rPr>
                  <a:t>           </a:t>
                </a:r>
                <a:r>
                  <a:rPr lang="zh-CN" altLang="en-US" sz="2000" b="1">
                    <a:solidFill>
                      <a:schemeClr val="tx2">
                        <a:lumMod val="50000"/>
                      </a:schemeClr>
                    </a:solidFill>
                  </a:rPr>
                  <a:t>；</a:t>
                </a:r>
                <a:endParaRPr lang="zh-CN" altLang="en-US" sz="2000" b="1">
                  <a:solidFill>
                    <a:schemeClr val="tx2">
                      <a:lumMod val="50000"/>
                    </a:schemeClr>
                  </a:solidFill>
                </a:endParaRPr>
              </a:p>
              <a:p>
                <a:pPr marL="342900" indent="-342900">
                  <a:spcBef>
                    <a:spcPts val="1200"/>
                  </a:spcBef>
                  <a:spcAft>
                    <a:spcPts val="600"/>
                  </a:spcAft>
                  <a:buFont typeface="Arial" panose="020B0604020202020204" pitchFamily="34" charset="0"/>
                  <a:buChar char="•"/>
                </a:pPr>
                <a:r>
                  <a:rPr lang="zh-CN" altLang="en-US" sz="2000" b="1">
                    <a:solidFill>
                      <a:schemeClr val="tx2">
                        <a:lumMod val="50000"/>
                      </a:schemeClr>
                    </a:solidFill>
                  </a:rPr>
                  <a:t>当</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𝑭</m:t>
                    </m:r>
                    <m:d>
                      <m:dPr>
                        <m:ctrlPr>
                          <a:rPr lang="en-US" altLang="zh-CN" sz="2000" b="1" i="1" smtClean="0">
                            <a:solidFill>
                              <a:schemeClr val="tx2">
                                <a:lumMod val="50000"/>
                              </a:schemeClr>
                            </a:solidFill>
                            <a:latin typeface="Cambria Math" panose="02040503050406030204" pitchFamily="18" charset="0"/>
                          </a:rPr>
                        </m:ctrlPr>
                      </m:dPr>
                      <m:e>
                        <m:r>
                          <a:rPr lang="en-US" altLang="zh-CN" sz="2000" b="1" i="1" smtClean="0">
                            <a:solidFill>
                              <a:schemeClr val="tx2">
                                <a:lumMod val="50000"/>
                              </a:schemeClr>
                            </a:solidFill>
                            <a:latin typeface="Cambria Math" panose="02040503050406030204" pitchFamily="18" charset="0"/>
                          </a:rPr>
                          <m:t>𝒏</m:t>
                        </m:r>
                      </m:e>
                    </m:d>
                    <m:r>
                      <a:rPr lang="en-US" altLang="zh-CN" sz="2000" b="1" i="1" smtClean="0">
                        <a:solidFill>
                          <a:schemeClr val="tx2">
                            <a:lumMod val="50000"/>
                          </a:schemeClr>
                        </a:solidFill>
                        <a:latin typeface="Cambria Math" panose="02040503050406030204" pitchFamily="18" charset="0"/>
                      </a:rPr>
                      <m:t>= </m:t>
                    </m:r>
                    <m:sSup>
                      <m:sSupPr>
                        <m:ctrlPr>
                          <a:rPr lang="en-US" altLang="zh-CN" sz="2000" b="1" i="1" smtClean="0">
                            <a:solidFill>
                              <a:schemeClr val="tx2">
                                <a:lumMod val="50000"/>
                              </a:schemeClr>
                            </a:solidFill>
                            <a:latin typeface="Cambria Math" panose="02040503050406030204" pitchFamily="18" charset="0"/>
                          </a:rPr>
                        </m:ctrlPr>
                      </m:sSupPr>
                      <m:e>
                        <m:r>
                          <a:rPr lang="en-US" altLang="zh-CN" sz="2000" b="1" i="1" smtClean="0">
                            <a:solidFill>
                              <a:schemeClr val="tx2">
                                <a:lumMod val="50000"/>
                              </a:schemeClr>
                            </a:solidFill>
                            <a:latin typeface="Cambria Math" panose="02040503050406030204" pitchFamily="18" charset="0"/>
                          </a:rPr>
                          <m:t>𝒏</m:t>
                        </m:r>
                      </m:e>
                      <m:sup>
                        <m:r>
                          <a:rPr lang="en-US" altLang="zh-CN" sz="2000" b="1" i="1" smtClean="0">
                            <a:solidFill>
                              <a:schemeClr val="tx2">
                                <a:lumMod val="50000"/>
                              </a:schemeClr>
                            </a:solidFill>
                            <a:latin typeface="Cambria Math" panose="02040503050406030204" pitchFamily="18" charset="0"/>
                          </a:rPr>
                          <m:t>𝟒</m:t>
                        </m:r>
                      </m:sup>
                    </m:sSup>
                    <m:sSup>
                      <m:sSupPr>
                        <m:ctrlPr>
                          <a:rPr lang="en-US" altLang="zh-CN" sz="2000" b="1" i="1" smtClean="0">
                            <a:solidFill>
                              <a:schemeClr val="tx2">
                                <a:lumMod val="50000"/>
                              </a:schemeClr>
                            </a:solidFill>
                            <a:latin typeface="Cambria Math" panose="02040503050406030204" pitchFamily="18" charset="0"/>
                          </a:rPr>
                        </m:ctrlPr>
                      </m:sSupPr>
                      <m:e>
                        <m:r>
                          <a:rPr lang="en-US" altLang="zh-CN" sz="2000" b="1" i="1" smtClean="0">
                            <a:solidFill>
                              <a:schemeClr val="tx2">
                                <a:lumMod val="50000"/>
                              </a:schemeClr>
                            </a:solidFill>
                            <a:latin typeface="Cambria Math" panose="02040503050406030204" pitchFamily="18" charset="0"/>
                          </a:rPr>
                          <m:t>𝟐</m:t>
                        </m:r>
                      </m:e>
                      <m:sup>
                        <m:r>
                          <a:rPr lang="en-US" altLang="zh-CN" sz="2000" b="1" i="1" smtClean="0">
                            <a:solidFill>
                              <a:schemeClr val="tx2">
                                <a:lumMod val="50000"/>
                              </a:schemeClr>
                            </a:solidFill>
                            <a:latin typeface="Cambria Math" panose="02040503050406030204" pitchFamily="18" charset="0"/>
                          </a:rPr>
                          <m:t>𝒏</m:t>
                        </m:r>
                      </m:sup>
                    </m:sSup>
                  </m:oMath>
                </a14:m>
                <a:r>
                  <a:rPr lang="zh-CN" altLang="en-US" sz="2000" b="1">
                    <a:solidFill>
                      <a:schemeClr val="tx2">
                        <a:lumMod val="50000"/>
                      </a:schemeClr>
                    </a:solidFill>
                  </a:rPr>
                  <a:t>时，它的特解形式是   </a:t>
                </a:r>
                <a14:m>
                  <m:oMath xmlns:m="http://schemas.openxmlformats.org/officeDocument/2006/math">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𝟐</m:t>
                        </m:r>
                      </m:sup>
                    </m:sSup>
                    <m:d>
                      <m:dPr>
                        <m:ctrlPr>
                          <a:rPr lang="en-US" altLang="zh-CN" sz="2000" b="1" i="1" smtClean="0">
                            <a:solidFill>
                              <a:srgbClr val="C00000"/>
                            </a:solidFill>
                            <a:latin typeface="Cambria Math" panose="02040503050406030204" pitchFamily="18" charset="0"/>
                          </a:rPr>
                        </m:ctrlPr>
                      </m:dPr>
                      <m:e>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𝟎</m:t>
                            </m:r>
                          </m:sub>
                        </m:sSub>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𝟏</m:t>
                            </m:r>
                          </m:sub>
                        </m:sSub>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𝟐</m:t>
                            </m:r>
                          </m:sub>
                        </m:sSub>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𝟐</m:t>
                            </m:r>
                          </m:sup>
                        </m:sSup>
                        <m:r>
                          <a:rPr lang="en-US" altLang="zh-CN" sz="2000" b="1" i="1" smtClean="0">
                            <a:solidFill>
                              <a:srgbClr val="C00000"/>
                            </a:solidFill>
                            <a:latin typeface="Cambria Math" panose="02040503050406030204" pitchFamily="18" charset="0"/>
                          </a:rPr>
                          <m:t>+ </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𝟑</m:t>
                            </m:r>
                          </m:sub>
                        </m:sSub>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𝟑</m:t>
                            </m:r>
                          </m:sup>
                        </m:sSup>
                        <m:r>
                          <a:rPr lang="en-US" altLang="zh-CN" sz="2000" b="1" i="1" smtClean="0">
                            <a:solidFill>
                              <a:srgbClr val="C00000"/>
                            </a:solidFill>
                            <a:latin typeface="Cambria Math" panose="02040503050406030204" pitchFamily="18" charset="0"/>
                          </a:rPr>
                          <m:t>+ </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𝒑</m:t>
                            </m:r>
                          </m:e>
                          <m:sub>
                            <m:r>
                              <a:rPr lang="en-US" altLang="zh-CN" sz="2000" b="1" i="1" smtClean="0">
                                <a:solidFill>
                                  <a:srgbClr val="C00000"/>
                                </a:solidFill>
                                <a:latin typeface="Cambria Math" panose="02040503050406030204" pitchFamily="18" charset="0"/>
                              </a:rPr>
                              <m:t>𝟒</m:t>
                            </m:r>
                          </m:sub>
                        </m:sSub>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𝟒</m:t>
                            </m:r>
                          </m:sup>
                        </m:sSup>
                      </m:e>
                    </m:d>
                    <m:r>
                      <a:rPr lang="en-US" altLang="zh-CN" sz="2000" b="1" i="1" smtClean="0">
                        <a:solidFill>
                          <a:srgbClr val="C00000"/>
                        </a:solidFill>
                        <a:latin typeface="Cambria Math" panose="02040503050406030204" pitchFamily="18" charset="0"/>
                      </a:rPr>
                      <m:t>⋅</m:t>
                    </m:r>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𝟐</m:t>
                        </m:r>
                      </m:e>
                      <m:sup>
                        <m:r>
                          <a:rPr lang="en-US" altLang="zh-CN" sz="2000" b="1" i="1" smtClean="0">
                            <a:solidFill>
                              <a:srgbClr val="C00000"/>
                            </a:solidFill>
                            <a:latin typeface="Cambria Math" panose="02040503050406030204" pitchFamily="18" charset="0"/>
                          </a:rPr>
                          <m:t>𝒏</m:t>
                        </m:r>
                      </m:sup>
                    </m:sSup>
                  </m:oMath>
                </a14:m>
                <a:r>
                  <a:rPr lang="en-US" altLang="zh-CN" sz="2000" b="1">
                    <a:solidFill>
                      <a:schemeClr val="tx2">
                        <a:lumMod val="50000"/>
                      </a:schemeClr>
                    </a:solidFill>
                  </a:rPr>
                  <a:t> </a:t>
                </a:r>
                <a:r>
                  <a:rPr lang="zh-CN" altLang="en-US" sz="2000" b="1">
                    <a:solidFill>
                      <a:schemeClr val="tx2">
                        <a:lumMod val="50000"/>
                      </a:schemeClr>
                    </a:solidFill>
                  </a:rPr>
                  <a:t>。</a:t>
                </a:r>
                <a:endParaRPr lang="zh-CN" altLang="en-US" sz="2000" b="1">
                  <a:solidFill>
                    <a:schemeClr val="tx2">
                      <a:lumMod val="50000"/>
                    </a:schemeClr>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759869" y="2797920"/>
                <a:ext cx="10581322" cy="3226011"/>
              </a:xfrm>
              <a:prstGeom prst="rect">
                <a:avLst/>
              </a:prstGeom>
              <a:blipFill rotWithShape="1">
                <a:blip r:embed="rId3"/>
                <a:stretch>
                  <a:fillRect l="-4" t="-3" r="1" b="10"/>
                </a:stretch>
              </a:blipFill>
            </p:spPr>
            <p:txBody>
              <a:bodyPr/>
              <a:lstStyle/>
              <a:p>
                <a:r>
                  <a:rPr lang="zh-CN" altLang="en-US">
                    <a:noFill/>
                  </a:rPr>
                  <a:t> </a:t>
                </a:r>
              </a:p>
            </p:txBody>
          </p:sp>
        </mc:Fallback>
      </mc:AlternateContent>
      <p:grpSp>
        <p:nvGrpSpPr>
          <p:cNvPr id="12" name="组合 11"/>
          <p:cNvGrpSpPr/>
          <p:nvPr/>
        </p:nvGrpSpPr>
        <p:grpSpPr>
          <a:xfrm>
            <a:off x="759869" y="1075715"/>
            <a:ext cx="10395214" cy="432491"/>
            <a:chOff x="530010" y="3150023"/>
            <a:chExt cx="10395214" cy="432491"/>
          </a:xfrm>
        </p:grpSpPr>
        <mc:AlternateContent xmlns:mc="http://schemas.openxmlformats.org/markup-compatibility/2006">
          <mc:Choice xmlns:a14="http://schemas.microsoft.com/office/drawing/2010/main" Requires="a14">
            <p:sp>
              <p:nvSpPr>
                <p:cNvPr id="13" name="矩形 12"/>
                <p:cNvSpPr/>
                <p:nvPr/>
              </p:nvSpPr>
              <p:spPr>
                <a:xfrm>
                  <a:off x="530010" y="3181601"/>
                  <a:ext cx="4164666" cy="369332"/>
                </a:xfrm>
                <a:prstGeom prst="rect">
                  <a:avLst/>
                </a:prstGeom>
                <a:solidFill>
                  <a:schemeClr val="accent4">
                    <a:lumMod val="20000"/>
                    <a:lumOff val="80000"/>
                  </a:schemeClr>
                </a:solidFill>
              </p:spPr>
              <p:txBody>
                <a:bodyPr wrap="none">
                  <a:spAutoFit/>
                </a:bodyPr>
                <a:lstStyle/>
                <a:p>
                  <a14:m>
                    <m:oMathPara xmlns:m="http://schemas.openxmlformats.org/officeDocument/2006/math">
                      <m:oMathParaPr>
                        <m:jc m:val="centerGroup"/>
                      </m:oMathParaPr>
                      <m:oMath xmlns:m="http://schemas.openxmlformats.org/officeDocument/2006/math">
                        <m:r>
                          <a:rPr lang="en-US" altLang="zh-CN" b="1" i="1">
                            <a:solidFill>
                              <a:schemeClr val="accent2">
                                <a:lumMod val="50000"/>
                              </a:schemeClr>
                            </a:solidFill>
                            <a:latin typeface="Cambria Math" panose="02040503050406030204" pitchFamily="18" charset="0"/>
                          </a:rPr>
                          <m:t>𝑭</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𝒏</m:t>
                            </m:r>
                          </m:e>
                        </m:d>
                        <m:r>
                          <a:rPr lang="en-US" altLang="zh-CN" b="1" i="1">
                            <a:solidFill>
                              <a:schemeClr val="accent2">
                                <a:lumMod val="50000"/>
                              </a:schemeClr>
                            </a:solidFill>
                            <a:latin typeface="Cambria Math" panose="02040503050406030204" pitchFamily="18" charset="0"/>
                          </a:rPr>
                          <m:t>= </m:t>
                        </m:r>
                        <m:d>
                          <m:dPr>
                            <m:ctrlPr>
                              <a:rPr lang="en-US" altLang="zh-CN" b="1" i="1">
                                <a:solidFill>
                                  <a:schemeClr val="accent2">
                                    <a:lumMod val="50000"/>
                                  </a:schemeClr>
                                </a:solidFill>
                                <a:latin typeface="Cambria Math" panose="02040503050406030204" pitchFamily="18" charset="0"/>
                              </a:rPr>
                            </m:ctrlPr>
                          </m:dPr>
                          <m:e>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𝒃</m:t>
                                </m:r>
                              </m:e>
                              <m:sub>
                                <m:r>
                                  <a:rPr lang="en-US" altLang="zh-CN" b="1" i="1">
                                    <a:solidFill>
                                      <a:schemeClr val="accent2">
                                        <a:lumMod val="50000"/>
                                      </a:schemeClr>
                                    </a:solidFill>
                                    <a:latin typeface="Cambria Math" panose="02040503050406030204" pitchFamily="18" charset="0"/>
                                  </a:rPr>
                                  <m:t>𝒕</m:t>
                                </m:r>
                              </m:sub>
                            </m:sSub>
                            <m:r>
                              <a:rPr lang="en-US" altLang="zh-CN" b="1" i="1">
                                <a:solidFill>
                                  <a:schemeClr val="accent2">
                                    <a:lumMod val="50000"/>
                                  </a:schemeClr>
                                </a:solidFill>
                                <a:latin typeface="Cambria Math" panose="02040503050406030204" pitchFamily="18" charset="0"/>
                              </a:rPr>
                              <m:t>⋅</m:t>
                            </m:r>
                            <m:sSup>
                              <m:sSupPr>
                                <m:ctrlPr>
                                  <a:rPr lang="en-US" altLang="zh-CN" b="1" i="1">
                                    <a:solidFill>
                                      <a:schemeClr val="accent2">
                                        <a:lumMod val="50000"/>
                                      </a:schemeClr>
                                    </a:solidFill>
                                    <a:latin typeface="Cambria Math" panose="02040503050406030204" pitchFamily="18" charset="0"/>
                                  </a:rPr>
                                </m:ctrlPr>
                              </m:sSupPr>
                              <m:e>
                                <m:r>
                                  <a:rPr lang="en-US" altLang="zh-CN" b="1" i="1">
                                    <a:solidFill>
                                      <a:schemeClr val="accent2">
                                        <a:lumMod val="50000"/>
                                      </a:schemeClr>
                                    </a:solidFill>
                                    <a:latin typeface="Cambria Math" panose="02040503050406030204" pitchFamily="18" charset="0"/>
                                  </a:rPr>
                                  <m:t>𝒏</m:t>
                                </m:r>
                              </m:e>
                              <m:sup>
                                <m:r>
                                  <a:rPr lang="en-US" altLang="zh-CN" b="1" i="1">
                                    <a:solidFill>
                                      <a:schemeClr val="accent2">
                                        <a:lumMod val="50000"/>
                                      </a:schemeClr>
                                    </a:solidFill>
                                    <a:latin typeface="Cambria Math" panose="02040503050406030204" pitchFamily="18" charset="0"/>
                                  </a:rPr>
                                  <m:t>𝒕</m:t>
                                </m:r>
                              </m:sup>
                            </m:sSup>
                            <m:r>
                              <a:rPr lang="en-US" altLang="zh-CN" b="1" i="1">
                                <a:solidFill>
                                  <a:schemeClr val="accent2">
                                    <a:lumMod val="50000"/>
                                  </a:schemeClr>
                                </a:solidFill>
                                <a:latin typeface="Cambria Math" panose="02040503050406030204" pitchFamily="18" charset="0"/>
                              </a:rPr>
                              <m:t>+ ⋯+ </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𝒃</m:t>
                                </m:r>
                              </m:e>
                              <m:sub>
                                <m:r>
                                  <a:rPr lang="en-US" altLang="zh-CN" b="1" i="1">
                                    <a:solidFill>
                                      <a:schemeClr val="accent2">
                                        <a:lumMod val="50000"/>
                                      </a:schemeClr>
                                    </a:solidFill>
                                    <a:latin typeface="Cambria Math" panose="02040503050406030204" pitchFamily="18" charset="0"/>
                                  </a:rPr>
                                  <m:t>𝟏</m:t>
                                </m:r>
                              </m:sub>
                            </m:sSub>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 + </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𝒃</m:t>
                                </m:r>
                              </m:e>
                              <m:sub>
                                <m:r>
                                  <a:rPr lang="en-US" altLang="zh-CN" b="1" i="1">
                                    <a:solidFill>
                                      <a:schemeClr val="accent2">
                                        <a:lumMod val="50000"/>
                                      </a:schemeClr>
                                    </a:solidFill>
                                    <a:latin typeface="Cambria Math" panose="02040503050406030204" pitchFamily="18" charset="0"/>
                                  </a:rPr>
                                  <m:t>𝟎</m:t>
                                </m:r>
                              </m:sub>
                            </m:sSub>
                          </m:e>
                        </m:d>
                        <m:sSup>
                          <m:sSupPr>
                            <m:ctrlPr>
                              <a:rPr lang="en-US" altLang="zh-CN" b="1" i="1">
                                <a:solidFill>
                                  <a:schemeClr val="accent2">
                                    <a:lumMod val="50000"/>
                                  </a:schemeClr>
                                </a:solidFill>
                                <a:latin typeface="Cambria Math" panose="02040503050406030204" pitchFamily="18" charset="0"/>
                              </a:rPr>
                            </m:ctrlPr>
                          </m:sSupPr>
                          <m:e>
                            <m:r>
                              <a:rPr lang="en-US" altLang="zh-CN" b="1" i="1">
                                <a:solidFill>
                                  <a:schemeClr val="accent2">
                                    <a:lumMod val="50000"/>
                                  </a:schemeClr>
                                </a:solidFill>
                                <a:latin typeface="Cambria Math" panose="02040503050406030204" pitchFamily="18" charset="0"/>
                              </a:rPr>
                              <m:t>𝒔</m:t>
                            </m:r>
                          </m:e>
                          <m:sup>
                            <m:r>
                              <a:rPr lang="en-US" altLang="zh-CN" b="1" i="1">
                                <a:solidFill>
                                  <a:schemeClr val="accent2">
                                    <a:lumMod val="50000"/>
                                  </a:schemeClr>
                                </a:solidFill>
                                <a:latin typeface="Cambria Math" panose="02040503050406030204" pitchFamily="18" charset="0"/>
                              </a:rPr>
                              <m:t>𝒏</m:t>
                            </m:r>
                          </m:sup>
                        </m:sSup>
                      </m:oMath>
                    </m:oMathPara>
                  </a14:m>
                  <a:endParaRPr lang="zh-CN" altLang="en-US"/>
                </a:p>
              </p:txBody>
            </p:sp>
          </mc:Choice>
          <mc:Fallback>
            <p:sp>
              <p:nvSpPr>
                <p:cNvPr id="13" name="矩形 12"/>
                <p:cNvSpPr>
                  <a:spLocks noRot="1" noChangeAspect="1" noMove="1" noResize="1" noEditPoints="1" noAdjustHandles="1" noChangeArrowheads="1" noChangeShapeType="1" noTextEdit="1"/>
                </p:cNvSpPr>
                <p:nvPr/>
              </p:nvSpPr>
              <p:spPr>
                <a:xfrm>
                  <a:off x="530010" y="3181601"/>
                  <a:ext cx="4164666" cy="369332"/>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矩形 13"/>
                <p:cNvSpPr/>
                <p:nvPr/>
              </p:nvSpPr>
              <p:spPr>
                <a:xfrm>
                  <a:off x="5007965" y="3155056"/>
                  <a:ext cx="1207382" cy="422423"/>
                </a:xfrm>
                <a:prstGeom prst="rect">
                  <a:avLst/>
                </a:prstGeom>
                <a:solidFill>
                  <a:schemeClr val="accent4">
                    <a:lumMod val="20000"/>
                    <a:lumOff val="80000"/>
                  </a:schemeClr>
                </a:solidFill>
              </p:spPr>
              <p:txBody>
                <a:bodyPr wrap="none">
                  <a:spAutoFit/>
                </a:bodyPr>
                <a:lstStyle/>
                <a:p>
                  <a:pPr>
                    <a:lnSpc>
                      <a:spcPts val="2800"/>
                    </a:lnSpc>
                  </a:pPr>
                  <a14:m>
                    <m:oMath xmlns:m="http://schemas.openxmlformats.org/officeDocument/2006/math">
                      <m:r>
                        <a:rPr lang="en-US" altLang="zh-CN" b="1" i="1" smtClean="0">
                          <a:solidFill>
                            <a:srgbClr val="002060"/>
                          </a:solidFill>
                          <a:latin typeface="Cambria Math" panose="02040503050406030204" pitchFamily="18" charset="0"/>
                        </a:rPr>
                        <m:t>𝒔</m:t>
                      </m:r>
                    </m:oMath>
                  </a14:m>
                  <a:r>
                    <a:rPr lang="zh-CN" altLang="en-US" b="1">
                      <a:solidFill>
                        <a:srgbClr val="002060"/>
                      </a:solidFill>
                      <a:latin typeface="楷体" panose="02010609060101010101" pitchFamily="49" charset="-122"/>
                      <a:ea typeface="楷体" panose="02010609060101010101" pitchFamily="49" charset="-122"/>
                    </a:rPr>
                    <a:t>是</a:t>
                  </a:r>
                  <a14:m>
                    <m:oMath xmlns:m="http://schemas.openxmlformats.org/officeDocument/2006/math">
                      <m:r>
                        <a:rPr lang="en-US" altLang="zh-CN" b="1" i="1">
                          <a:solidFill>
                            <a:srgbClr val="002060"/>
                          </a:solidFill>
                          <a:latin typeface="Cambria Math" panose="02040503050406030204" pitchFamily="18" charset="0"/>
                        </a:rPr>
                        <m:t>𝒎</m:t>
                      </m:r>
                    </m:oMath>
                  </a14:m>
                  <a:r>
                    <a:rPr lang="zh-CN" altLang="en-US" b="1">
                      <a:solidFill>
                        <a:srgbClr val="002060"/>
                      </a:solidFill>
                      <a:latin typeface="楷体" panose="02010609060101010101" pitchFamily="49" charset="-122"/>
                      <a:ea typeface="楷体" panose="02010609060101010101" pitchFamily="49" charset="-122"/>
                    </a:rPr>
                    <a:t>重根</a:t>
                  </a:r>
                  <a:endParaRPr lang="zh-CN" altLang="en-US" b="1">
                    <a:solidFill>
                      <a:srgbClr val="002060"/>
                    </a:solidFill>
                    <a:latin typeface="楷体" panose="02010609060101010101" pitchFamily="49" charset="-122"/>
                    <a:ea typeface="楷体" panose="02010609060101010101" pitchFamily="49" charset="-122"/>
                  </a:endParaRPr>
                </a:p>
              </p:txBody>
            </p:sp>
          </mc:Choice>
          <mc:Fallback>
            <p:sp>
              <p:nvSpPr>
                <p:cNvPr id="14" name="矩形 13"/>
                <p:cNvSpPr>
                  <a:spLocks noRot="1" noChangeAspect="1" noMove="1" noResize="1" noEditPoints="1" noAdjustHandles="1" noChangeArrowheads="1" noChangeShapeType="1" noTextEdit="1"/>
                </p:cNvSpPr>
                <p:nvPr/>
              </p:nvSpPr>
              <p:spPr>
                <a:xfrm>
                  <a:off x="5007965" y="3155056"/>
                  <a:ext cx="1207382" cy="422423"/>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矩形 14"/>
                <p:cNvSpPr/>
                <p:nvPr/>
              </p:nvSpPr>
              <p:spPr>
                <a:xfrm>
                  <a:off x="6528636" y="3150023"/>
                  <a:ext cx="4396588" cy="432491"/>
                </a:xfrm>
                <a:prstGeom prst="rect">
                  <a:avLst/>
                </a:prstGeom>
                <a:solidFill>
                  <a:schemeClr val="accent4">
                    <a:lumMod val="20000"/>
                    <a:lumOff val="80000"/>
                  </a:schemeClr>
                </a:solidFill>
              </p:spPr>
              <p:txBody>
                <a:bodyPr wrap="none">
                  <a:spAutoFit/>
                </a:bodyPr>
                <a:lstStyle/>
                <a:p>
                  <a14:m>
                    <m:oMathPara xmlns:m="http://schemas.openxmlformats.org/officeDocument/2006/math">
                      <m:oMathParaPr>
                        <m:jc m:val="centerGroup"/>
                      </m:oMathParaPr>
                      <m:oMath xmlns:m="http://schemas.openxmlformats.org/officeDocument/2006/math">
                        <m:sSubSup>
                          <m:sSubSupPr>
                            <m:ctrlPr>
                              <a:rPr lang="zh-CN" altLang="en-US" b="1" i="1">
                                <a:solidFill>
                                  <a:srgbClr val="C00000"/>
                                </a:solidFill>
                                <a:latin typeface="Cambria Math" panose="02040503050406030204" pitchFamily="18" charset="0"/>
                              </a:rPr>
                            </m:ctrlPr>
                          </m:sSubSupPr>
                          <m:e>
                            <m:r>
                              <a:rPr lang="zh-CN" altLang="en-US" b="1" i="1">
                                <a:solidFill>
                                  <a:srgbClr val="C00000"/>
                                </a:solidFill>
                                <a:latin typeface="Cambria Math" panose="02040503050406030204" pitchFamily="18" charset="0"/>
                              </a:rPr>
                              <m:t>𝒂</m:t>
                            </m:r>
                          </m:e>
                          <m:sub>
                            <m:r>
                              <a:rPr lang="zh-CN" altLang="en-US" b="1" i="1">
                                <a:solidFill>
                                  <a:srgbClr val="C00000"/>
                                </a:solidFill>
                                <a:latin typeface="Cambria Math" panose="02040503050406030204" pitchFamily="18" charset="0"/>
                              </a:rPr>
                              <m:t>𝒏</m:t>
                            </m:r>
                          </m:sub>
                          <m:sup>
                            <m:d>
                              <m:dPr>
                                <m:ctrlPr>
                                  <a:rPr lang="zh-CN" altLang="en-US" b="1" i="1">
                                    <a:solidFill>
                                      <a:srgbClr val="C00000"/>
                                    </a:solidFill>
                                    <a:latin typeface="Cambria Math" panose="02040503050406030204" pitchFamily="18" charset="0"/>
                                  </a:rPr>
                                </m:ctrlPr>
                              </m:dPr>
                              <m:e>
                                <m:r>
                                  <a:rPr lang="zh-CN" altLang="en-US" b="1" i="1">
                                    <a:solidFill>
                                      <a:srgbClr val="C00000"/>
                                    </a:solidFill>
                                    <a:latin typeface="Cambria Math" panose="02040503050406030204" pitchFamily="18" charset="0"/>
                                  </a:rPr>
                                  <m:t>𝒑</m:t>
                                </m:r>
                              </m:e>
                            </m:d>
                          </m:sup>
                        </m:sSubSup>
                        <m:r>
                          <a:rPr lang="zh-CN" altLang="en-US" b="1" i="1">
                            <a:solidFill>
                              <a:srgbClr val="C00000"/>
                            </a:solidFill>
                            <a:latin typeface="Cambria Math" panose="02040503050406030204" pitchFamily="18" charset="0"/>
                          </a:rPr>
                          <m:t>= </m:t>
                        </m:r>
                        <m:sSup>
                          <m:sSupPr>
                            <m:ctrlPr>
                              <a:rPr lang="zh-CN" altLang="en-US" b="1" i="1">
                                <a:solidFill>
                                  <a:srgbClr val="0000FF"/>
                                </a:solidFill>
                                <a:latin typeface="Cambria Math" panose="02040503050406030204" pitchFamily="18" charset="0"/>
                              </a:rPr>
                            </m:ctrlPr>
                          </m:sSupPr>
                          <m:e>
                            <m:r>
                              <a:rPr lang="zh-CN" altLang="en-US" b="1" i="1">
                                <a:solidFill>
                                  <a:srgbClr val="0000FF"/>
                                </a:solidFill>
                                <a:latin typeface="Cambria Math" panose="02040503050406030204" pitchFamily="18" charset="0"/>
                              </a:rPr>
                              <m:t>𝒏</m:t>
                            </m:r>
                          </m:e>
                          <m:sup>
                            <m:r>
                              <a:rPr lang="zh-CN" altLang="en-US" b="1" i="1">
                                <a:solidFill>
                                  <a:srgbClr val="0000FF"/>
                                </a:solidFill>
                                <a:latin typeface="Cambria Math" panose="02040503050406030204" pitchFamily="18" charset="0"/>
                              </a:rPr>
                              <m:t>𝒎</m:t>
                            </m:r>
                          </m:sup>
                        </m:sSup>
                        <m:d>
                          <m:dPr>
                            <m:ctrlPr>
                              <a:rPr lang="zh-CN" altLang="en-US" b="1" i="1">
                                <a:solidFill>
                                  <a:srgbClr val="C00000"/>
                                </a:solidFill>
                                <a:latin typeface="Cambria Math" panose="02040503050406030204" pitchFamily="18" charset="0"/>
                              </a:rPr>
                            </m:ctrlPr>
                          </m:dPr>
                          <m:e>
                            <m:sSub>
                              <m:sSubPr>
                                <m:ctrlPr>
                                  <a:rPr lang="zh-CN" altLang="en-US" b="1" i="1">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𝒑</m:t>
                                </m:r>
                              </m:e>
                              <m:sub>
                                <m:r>
                                  <a:rPr lang="zh-CN" altLang="en-US" b="1" i="1">
                                    <a:solidFill>
                                      <a:srgbClr val="C00000"/>
                                    </a:solidFill>
                                    <a:latin typeface="Cambria Math" panose="02040503050406030204" pitchFamily="18" charset="0"/>
                                  </a:rPr>
                                  <m:t>𝒕</m:t>
                                </m:r>
                              </m:sub>
                            </m:sSub>
                            <m:r>
                              <a:rPr lang="zh-CN" altLang="en-US" b="1" i="1">
                                <a:solidFill>
                                  <a:srgbClr val="C00000"/>
                                </a:solidFill>
                                <a:latin typeface="Cambria Math" panose="02040503050406030204" pitchFamily="18" charset="0"/>
                              </a:rPr>
                              <m:t>⋅</m:t>
                            </m:r>
                            <m:sSup>
                              <m:sSupPr>
                                <m:ctrlPr>
                                  <a:rPr lang="zh-CN" altLang="en-US" b="1" i="1">
                                    <a:solidFill>
                                      <a:srgbClr val="C00000"/>
                                    </a:solidFill>
                                    <a:latin typeface="Cambria Math" panose="02040503050406030204" pitchFamily="18" charset="0"/>
                                  </a:rPr>
                                </m:ctrlPr>
                              </m:sSupPr>
                              <m:e>
                                <m:r>
                                  <a:rPr lang="zh-CN" altLang="en-US" b="1" i="1">
                                    <a:solidFill>
                                      <a:srgbClr val="C00000"/>
                                    </a:solidFill>
                                    <a:latin typeface="Cambria Math" panose="02040503050406030204" pitchFamily="18" charset="0"/>
                                  </a:rPr>
                                  <m:t>𝒏</m:t>
                                </m:r>
                              </m:e>
                              <m:sup>
                                <m:r>
                                  <a:rPr lang="zh-CN" altLang="en-US" b="1" i="1">
                                    <a:solidFill>
                                      <a:srgbClr val="C00000"/>
                                    </a:solidFill>
                                    <a:latin typeface="Cambria Math" panose="02040503050406030204" pitchFamily="18" charset="0"/>
                                  </a:rPr>
                                  <m:t>𝒕</m:t>
                                </m:r>
                              </m:sup>
                            </m:sSup>
                            <m:r>
                              <a:rPr lang="zh-CN" altLang="en-US" b="1" i="1">
                                <a:solidFill>
                                  <a:srgbClr val="C00000"/>
                                </a:solidFill>
                                <a:latin typeface="Cambria Math" panose="02040503050406030204" pitchFamily="18" charset="0"/>
                              </a:rPr>
                              <m:t>+ ⋯+ </m:t>
                            </m:r>
                            <m:sSub>
                              <m:sSubPr>
                                <m:ctrlPr>
                                  <a:rPr lang="zh-CN" altLang="en-US" b="1" i="1">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𝒑</m:t>
                                </m:r>
                              </m:e>
                              <m:sub>
                                <m:r>
                                  <a:rPr lang="zh-CN" altLang="en-US" b="1" i="1">
                                    <a:solidFill>
                                      <a:srgbClr val="C00000"/>
                                    </a:solidFill>
                                    <a:latin typeface="Cambria Math" panose="02040503050406030204" pitchFamily="18" charset="0"/>
                                  </a:rPr>
                                  <m:t>𝟏</m:t>
                                </m:r>
                              </m:sub>
                            </m:sSub>
                            <m:r>
                              <a:rPr lang="zh-CN" altLang="en-US" b="1" i="1">
                                <a:solidFill>
                                  <a:srgbClr val="C00000"/>
                                </a:solidFill>
                                <a:latin typeface="Cambria Math" panose="02040503050406030204" pitchFamily="18" charset="0"/>
                              </a:rPr>
                              <m:t>⋅</m:t>
                            </m:r>
                            <m:r>
                              <a:rPr lang="zh-CN" altLang="en-US" b="1" i="1">
                                <a:solidFill>
                                  <a:srgbClr val="C00000"/>
                                </a:solidFill>
                                <a:latin typeface="Cambria Math" panose="02040503050406030204" pitchFamily="18" charset="0"/>
                              </a:rPr>
                              <m:t>𝒏</m:t>
                            </m:r>
                            <m:r>
                              <a:rPr lang="zh-CN" altLang="en-US" b="1" i="1">
                                <a:solidFill>
                                  <a:srgbClr val="C00000"/>
                                </a:solidFill>
                                <a:latin typeface="Cambria Math" panose="02040503050406030204" pitchFamily="18" charset="0"/>
                              </a:rPr>
                              <m:t> + </m:t>
                            </m:r>
                            <m:sSub>
                              <m:sSubPr>
                                <m:ctrlPr>
                                  <a:rPr lang="zh-CN" altLang="en-US" b="1" i="1">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𝒑</m:t>
                                </m:r>
                              </m:e>
                              <m:sub>
                                <m:r>
                                  <a:rPr lang="zh-CN" altLang="en-US" b="1" i="1">
                                    <a:solidFill>
                                      <a:srgbClr val="C00000"/>
                                    </a:solidFill>
                                    <a:latin typeface="Cambria Math" panose="02040503050406030204" pitchFamily="18" charset="0"/>
                                  </a:rPr>
                                  <m:t>𝟎</m:t>
                                </m:r>
                              </m:sub>
                            </m:sSub>
                          </m:e>
                        </m:d>
                        <m:sSup>
                          <m:sSupPr>
                            <m:ctrlPr>
                              <a:rPr lang="zh-CN" altLang="en-US" b="1" i="1">
                                <a:solidFill>
                                  <a:srgbClr val="C00000"/>
                                </a:solidFill>
                                <a:latin typeface="Cambria Math" panose="02040503050406030204" pitchFamily="18" charset="0"/>
                              </a:rPr>
                            </m:ctrlPr>
                          </m:sSupPr>
                          <m:e>
                            <m:r>
                              <a:rPr lang="zh-CN" altLang="en-US" b="1" i="1">
                                <a:solidFill>
                                  <a:srgbClr val="C00000"/>
                                </a:solidFill>
                                <a:latin typeface="Cambria Math" panose="02040503050406030204" pitchFamily="18" charset="0"/>
                              </a:rPr>
                              <m:t>𝒔</m:t>
                            </m:r>
                          </m:e>
                          <m:sup>
                            <m:r>
                              <a:rPr lang="zh-CN" altLang="en-US" b="1" i="1">
                                <a:solidFill>
                                  <a:srgbClr val="C00000"/>
                                </a:solidFill>
                                <a:latin typeface="Cambria Math" panose="02040503050406030204" pitchFamily="18" charset="0"/>
                              </a:rPr>
                              <m:t>𝒏</m:t>
                            </m:r>
                          </m:sup>
                        </m:sSup>
                      </m:oMath>
                    </m:oMathPara>
                  </a14:m>
                  <a:endParaRPr lang="zh-CN" altLang="en-US"/>
                </a:p>
              </p:txBody>
            </p:sp>
          </mc:Choice>
          <mc:Fallback>
            <p:sp>
              <p:nvSpPr>
                <p:cNvPr id="15" name="矩形 14"/>
                <p:cNvSpPr>
                  <a:spLocks noRot="1" noChangeAspect="1" noMove="1" noResize="1" noEditPoints="1" noAdjustHandles="1" noChangeArrowheads="1" noChangeShapeType="1" noTextEdit="1"/>
                </p:cNvSpPr>
                <p:nvPr/>
              </p:nvSpPr>
              <p:spPr>
                <a:xfrm>
                  <a:off x="6528636" y="3150023"/>
                  <a:ext cx="4396588" cy="432491"/>
                </a:xfrm>
                <a:prstGeom prst="rect">
                  <a:avLst/>
                </a:prstGeom>
                <a:blipFill rotWithShape="1">
                  <a:blip r:embed="rId6"/>
                </a:blipFill>
              </p:spPr>
              <p:txBody>
                <a:bodyPr/>
                <a:lstStyle/>
                <a:p>
                  <a:r>
                    <a:rPr lang="zh-CN" altLang="en-US">
                      <a:noFill/>
                    </a:rPr>
                    <a:t> </a:t>
                  </a:r>
                </a:p>
              </p:txBody>
            </p:sp>
          </mc:Fallback>
        </mc:AlternateContent>
        <p:sp>
          <p:nvSpPr>
            <p:cNvPr id="16" name="箭头: 右 15"/>
            <p:cNvSpPr/>
            <p:nvPr/>
          </p:nvSpPr>
          <p:spPr>
            <a:xfrm>
              <a:off x="4694676" y="3341852"/>
              <a:ext cx="313289"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右 17"/>
            <p:cNvSpPr/>
            <p:nvPr/>
          </p:nvSpPr>
          <p:spPr>
            <a:xfrm>
              <a:off x="6215347" y="3359690"/>
              <a:ext cx="313289" cy="457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9" name="直接连接符 18"/>
          <p:cNvCxnSpPr/>
          <p:nvPr/>
        </p:nvCxnSpPr>
        <p:spPr>
          <a:xfrm>
            <a:off x="5443702" y="3157640"/>
            <a:ext cx="1713616"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5317615" y="3711323"/>
            <a:ext cx="2392290"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5385075" y="4304478"/>
            <a:ext cx="2982672"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6913267" y="4836232"/>
            <a:ext cx="3901651"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4924535" y="5415134"/>
            <a:ext cx="1713616"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5443702" y="5974299"/>
            <a:ext cx="552909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7545444" y="2901027"/>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C</a:t>
            </a:r>
            <a:endParaRPr lang="zh-CN" altLang="en-US" b="1">
              <a:solidFill>
                <a:srgbClr val="C00000"/>
              </a:solidFill>
            </a:endParaRPr>
          </a:p>
        </p:txBody>
      </p:sp>
      <p:sp>
        <p:nvSpPr>
          <p:cNvPr id="30" name="文本框 29"/>
          <p:cNvSpPr txBox="1"/>
          <p:nvPr/>
        </p:nvSpPr>
        <p:spPr>
          <a:xfrm>
            <a:off x="8038826" y="3429000"/>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E</a:t>
            </a:r>
            <a:endParaRPr lang="zh-CN" altLang="en-US" b="1">
              <a:solidFill>
                <a:srgbClr val="C00000"/>
              </a:solidFill>
            </a:endParaRPr>
          </a:p>
        </p:txBody>
      </p:sp>
      <p:sp>
        <p:nvSpPr>
          <p:cNvPr id="31" name="文本框 30"/>
          <p:cNvSpPr txBox="1"/>
          <p:nvPr/>
        </p:nvSpPr>
        <p:spPr>
          <a:xfrm>
            <a:off x="8699631" y="4008700"/>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B</a:t>
            </a:r>
            <a:endParaRPr lang="zh-CN" altLang="en-US" b="1">
              <a:solidFill>
                <a:srgbClr val="C00000"/>
              </a:solidFill>
            </a:endParaRPr>
          </a:p>
        </p:txBody>
      </p:sp>
      <p:sp>
        <p:nvSpPr>
          <p:cNvPr id="32" name="文本框 31"/>
          <p:cNvSpPr txBox="1"/>
          <p:nvPr/>
        </p:nvSpPr>
        <p:spPr>
          <a:xfrm>
            <a:off x="11012270" y="4559233"/>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F</a:t>
            </a:r>
            <a:endParaRPr lang="zh-CN" altLang="en-US" b="1">
              <a:solidFill>
                <a:srgbClr val="C00000"/>
              </a:solidFill>
            </a:endParaRPr>
          </a:p>
        </p:txBody>
      </p:sp>
      <p:sp>
        <p:nvSpPr>
          <p:cNvPr id="33" name="文本框 32"/>
          <p:cNvSpPr txBox="1"/>
          <p:nvPr/>
        </p:nvSpPr>
        <p:spPr>
          <a:xfrm>
            <a:off x="6876411" y="5140429"/>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A</a:t>
            </a:r>
            <a:endParaRPr lang="zh-CN" altLang="en-US" b="1">
              <a:solidFill>
                <a:srgbClr val="C00000"/>
              </a:solidFill>
            </a:endParaRPr>
          </a:p>
        </p:txBody>
      </p:sp>
      <p:sp>
        <p:nvSpPr>
          <p:cNvPr id="34" name="文本框 33"/>
          <p:cNvSpPr txBox="1"/>
          <p:nvPr/>
        </p:nvSpPr>
        <p:spPr>
          <a:xfrm>
            <a:off x="11103210" y="5643785"/>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D</a:t>
            </a:r>
            <a:endParaRPr lang="zh-CN" altLang="en-US" b="1">
              <a:solidFill>
                <a:srgbClr val="C00000"/>
              </a:solidFill>
            </a:endParaRPr>
          </a:p>
        </p:txBody>
      </p:sp>
      <mc:AlternateContent xmlns:mc="http://schemas.openxmlformats.org/markup-compatibility/2006">
        <mc:Choice xmlns:a14="http://schemas.microsoft.com/office/drawing/2010/main" Requires="a14">
          <p:sp>
            <p:nvSpPr>
              <p:cNvPr id="35" name="文本框 34"/>
              <p:cNvSpPr txBox="1"/>
              <p:nvPr/>
            </p:nvSpPr>
            <p:spPr>
              <a:xfrm>
                <a:off x="9144000" y="3821483"/>
                <a:ext cx="2683994" cy="584775"/>
              </a:xfrm>
              <a:prstGeom prst="rect">
                <a:avLst/>
              </a:prstGeom>
              <a:solidFill>
                <a:schemeClr val="accent4">
                  <a:lumMod val="20000"/>
                  <a:lumOff val="80000"/>
                </a:schemeClr>
              </a:solidFill>
            </p:spPr>
            <p:txBody>
              <a:bodyPr wrap="square" rtlCol="0">
                <a:spAutoFit/>
              </a:bodyPr>
              <a:lstStyle/>
              <a:p>
                <a:r>
                  <a:rPr lang="zh-CN" altLang="en-US" sz="1600" b="1">
                    <a:solidFill>
                      <a:schemeClr val="accent2">
                        <a:lumMod val="50000"/>
                      </a:schemeClr>
                    </a:solidFill>
                  </a:rPr>
                  <a:t>虽然</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𝑭</m:t>
                    </m:r>
                    <m:d>
                      <m:dPr>
                        <m:ctrlPr>
                          <a:rPr lang="en-US" altLang="zh-CN" sz="1600" b="1" i="1" smtClean="0">
                            <a:solidFill>
                              <a:schemeClr val="accent2">
                                <a:lumMod val="50000"/>
                              </a:schemeClr>
                            </a:solidFill>
                            <a:latin typeface="Cambria Math" panose="02040503050406030204" pitchFamily="18" charset="0"/>
                          </a:rPr>
                        </m:ctrlPr>
                      </m:dPr>
                      <m:e>
                        <m:r>
                          <a:rPr lang="en-US" altLang="zh-CN" sz="1600" b="1" i="1" smtClean="0">
                            <a:solidFill>
                              <a:schemeClr val="accent2">
                                <a:lumMod val="50000"/>
                              </a:schemeClr>
                            </a:solidFill>
                            <a:latin typeface="Cambria Math" panose="02040503050406030204" pitchFamily="18" charset="0"/>
                          </a:rPr>
                          <m:t>𝒏</m:t>
                        </m:r>
                      </m:e>
                    </m:d>
                  </m:oMath>
                </a14:m>
                <a:r>
                  <a:rPr lang="zh-CN" altLang="en-US" sz="1600" b="1">
                    <a:solidFill>
                      <a:schemeClr val="accent2">
                        <a:lumMod val="50000"/>
                      </a:schemeClr>
                    </a:solidFill>
                  </a:rPr>
                  <a:t>中没有常数、</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𝒏</m:t>
                    </m:r>
                  </m:oMath>
                </a14:m>
                <a:r>
                  <a:rPr lang="zh-CN" altLang="en-US" sz="1600" b="1">
                    <a:solidFill>
                      <a:schemeClr val="accent2">
                        <a:lumMod val="50000"/>
                      </a:schemeClr>
                    </a:solidFill>
                  </a:rPr>
                  <a:t>的一次项，但</a:t>
                </a:r>
                <a14:m>
                  <m:oMath xmlns:m="http://schemas.openxmlformats.org/officeDocument/2006/math">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𝒑</m:t>
                        </m:r>
                      </m:e>
                      <m:sub>
                        <m:r>
                          <a:rPr lang="en-US" altLang="zh-CN" sz="1600" b="1" i="1" smtClean="0">
                            <a:solidFill>
                              <a:schemeClr val="accent2">
                                <a:lumMod val="50000"/>
                              </a:schemeClr>
                            </a:solidFill>
                            <a:latin typeface="Cambria Math" panose="02040503050406030204" pitchFamily="18" charset="0"/>
                          </a:rPr>
                          <m:t>𝟎</m:t>
                        </m:r>
                      </m:sub>
                    </m:sSub>
                    <m:r>
                      <a:rPr lang="en-US" altLang="zh-CN" sz="1600" b="1" i="1" smtClean="0">
                        <a:solidFill>
                          <a:schemeClr val="accent2">
                            <a:lumMod val="50000"/>
                          </a:schemeClr>
                        </a:solidFill>
                        <a:latin typeface="Cambria Math" panose="02040503050406030204" pitchFamily="18" charset="0"/>
                      </a:rPr>
                      <m:t>, </m:t>
                    </m:r>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𝒑</m:t>
                        </m:r>
                      </m:e>
                      <m:sub>
                        <m:r>
                          <a:rPr lang="en-US" altLang="zh-CN" sz="1600" b="1" i="1" smtClean="0">
                            <a:solidFill>
                              <a:schemeClr val="accent2">
                                <a:lumMod val="50000"/>
                              </a:schemeClr>
                            </a:solidFill>
                            <a:latin typeface="Cambria Math" panose="02040503050406030204" pitchFamily="18" charset="0"/>
                          </a:rPr>
                          <m:t>𝟏</m:t>
                        </m:r>
                      </m:sub>
                    </m:sSub>
                  </m:oMath>
                </a14:m>
                <a:r>
                  <a:rPr lang="zh-CN" altLang="en-US" sz="1600" b="1">
                    <a:solidFill>
                      <a:schemeClr val="accent2">
                        <a:lumMod val="50000"/>
                      </a:schemeClr>
                    </a:solidFill>
                  </a:rPr>
                  <a:t>不一定为</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𝟎</m:t>
                    </m:r>
                  </m:oMath>
                </a14:m>
                <a:endParaRPr lang="zh-CN" altLang="en-US" sz="1600" b="1">
                  <a:solidFill>
                    <a:schemeClr val="accent2">
                      <a:lumMod val="50000"/>
                    </a:schemeClr>
                  </a:solidFill>
                </a:endParaRPr>
              </a:p>
            </p:txBody>
          </p:sp>
        </mc:Choice>
        <mc:Fallback>
          <p:sp>
            <p:nvSpPr>
              <p:cNvPr id="35" name="文本框 34"/>
              <p:cNvSpPr txBox="1">
                <a:spLocks noRot="1" noChangeAspect="1" noMove="1" noResize="1" noEditPoints="1" noAdjustHandles="1" noChangeArrowheads="1" noChangeShapeType="1" noTextEdit="1"/>
              </p:cNvSpPr>
              <p:nvPr/>
            </p:nvSpPr>
            <p:spPr>
              <a:xfrm>
                <a:off x="9144000" y="3821483"/>
                <a:ext cx="2683994" cy="584775"/>
              </a:xfrm>
              <a:prstGeom prst="rect">
                <a:avLst/>
              </a:prstGeom>
              <a:blipFill rotWithShape="1">
                <a:blip r:embed="rId7"/>
                <a:stretch>
                  <a:fillRect t="-9" r="18" b="-3290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6" name="文本框 35"/>
              <p:cNvSpPr txBox="1"/>
              <p:nvPr/>
            </p:nvSpPr>
            <p:spPr>
              <a:xfrm>
                <a:off x="7263291" y="5109771"/>
                <a:ext cx="1104456" cy="338554"/>
              </a:xfrm>
              <a:prstGeom prst="rect">
                <a:avLst/>
              </a:prstGeom>
              <a:solidFill>
                <a:schemeClr val="accent4">
                  <a:lumMod val="20000"/>
                  <a:lumOff val="80000"/>
                </a:schemeClr>
              </a:solidFill>
            </p:spPr>
            <p:txBody>
              <a:bodyPr wrap="square" rtlCol="0">
                <a:spAutoFit/>
              </a:bodyPr>
              <a:lstStyle/>
              <a:p>
                <a:r>
                  <a:rPr lang="zh-CN" altLang="en-US" sz="1600" b="1">
                    <a:solidFill>
                      <a:schemeClr val="accent2">
                        <a:lumMod val="50000"/>
                      </a:schemeClr>
                    </a:solidFill>
                  </a:rPr>
                  <a:t>这里</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𝒔</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𝟏</m:t>
                    </m:r>
                  </m:oMath>
                </a14:m>
                <a:endParaRPr lang="zh-CN" altLang="en-US" sz="1600" b="1">
                  <a:solidFill>
                    <a:schemeClr val="accent2">
                      <a:lumMod val="50000"/>
                    </a:schemeClr>
                  </a:solidFill>
                </a:endParaRPr>
              </a:p>
            </p:txBody>
          </p:sp>
        </mc:Choice>
        <mc:Fallback>
          <p:sp>
            <p:nvSpPr>
              <p:cNvPr id="36" name="文本框 35"/>
              <p:cNvSpPr txBox="1">
                <a:spLocks noRot="1" noChangeAspect="1" noMove="1" noResize="1" noEditPoints="1" noAdjustHandles="1" noChangeArrowheads="1" noChangeShapeType="1" noTextEdit="1"/>
              </p:cNvSpPr>
              <p:nvPr/>
            </p:nvSpPr>
            <p:spPr>
              <a:xfrm>
                <a:off x="7263291" y="5109771"/>
                <a:ext cx="1104456" cy="338554"/>
              </a:xfrm>
              <a:prstGeom prst="rect">
                <a:avLst/>
              </a:prstGeom>
              <a:blipFill rotWithShape="1">
                <a:blip r:embed="rId8"/>
                <a:stretch>
                  <a:fillRect l="-15" t="-166" r="32" b="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 name="文本框 36"/>
              <p:cNvSpPr txBox="1"/>
              <p:nvPr/>
            </p:nvSpPr>
            <p:spPr>
              <a:xfrm>
                <a:off x="8615549" y="5295501"/>
                <a:ext cx="2539534" cy="338554"/>
              </a:xfrm>
              <a:prstGeom prst="rect">
                <a:avLst/>
              </a:prstGeom>
              <a:solidFill>
                <a:schemeClr val="accent4">
                  <a:lumMod val="20000"/>
                  <a:lumOff val="80000"/>
                </a:schemeClr>
              </a:solidFill>
            </p:spPr>
            <p:txBody>
              <a:bodyPr wrap="square" rtlCol="0">
                <a:spAutoFit/>
              </a:bodyPr>
              <a:lstStyle/>
              <a:p>
                <a:r>
                  <a:rPr lang="zh-CN" altLang="en-US" sz="1600" b="1">
                    <a:solidFill>
                      <a:schemeClr val="accent2">
                        <a:lumMod val="50000"/>
                      </a:schemeClr>
                    </a:solidFill>
                  </a:rPr>
                  <a:t>同样，必须有</a:t>
                </a:r>
                <a14:m>
                  <m:oMath xmlns:m="http://schemas.openxmlformats.org/officeDocument/2006/math">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𝒑</m:t>
                        </m:r>
                      </m:e>
                      <m:sub>
                        <m:r>
                          <a:rPr lang="en-US" altLang="zh-CN" sz="1600" b="1" i="1" smtClean="0">
                            <a:solidFill>
                              <a:schemeClr val="accent2">
                                <a:lumMod val="50000"/>
                              </a:schemeClr>
                            </a:solidFill>
                            <a:latin typeface="Cambria Math" panose="02040503050406030204" pitchFamily="18" charset="0"/>
                          </a:rPr>
                          <m:t>𝟎</m:t>
                        </m:r>
                      </m:sub>
                    </m:sSub>
                    <m:r>
                      <a:rPr lang="en-US" altLang="zh-CN" sz="1600" b="1" i="1" smtClean="0">
                        <a:solidFill>
                          <a:schemeClr val="accent2">
                            <a:lumMod val="50000"/>
                          </a:schemeClr>
                        </a:solidFill>
                        <a:latin typeface="Cambria Math" panose="02040503050406030204" pitchFamily="18" charset="0"/>
                      </a:rPr>
                      <m:t>, </m:t>
                    </m:r>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𝒑</m:t>
                        </m:r>
                      </m:e>
                      <m:sub>
                        <m:r>
                          <a:rPr lang="en-US" altLang="zh-CN" sz="1600" b="1" i="1" smtClean="0">
                            <a:solidFill>
                              <a:schemeClr val="accent2">
                                <a:lumMod val="50000"/>
                              </a:schemeClr>
                            </a:solidFill>
                            <a:latin typeface="Cambria Math" panose="02040503050406030204" pitchFamily="18" charset="0"/>
                          </a:rPr>
                          <m:t>𝟏</m:t>
                        </m:r>
                      </m:sub>
                    </m:sSub>
                    <m:r>
                      <a:rPr lang="en-US" altLang="zh-CN" sz="1600" b="1" i="1" smtClean="0">
                        <a:solidFill>
                          <a:schemeClr val="accent2">
                            <a:lumMod val="50000"/>
                          </a:schemeClr>
                        </a:solidFill>
                        <a:latin typeface="Cambria Math" panose="02040503050406030204" pitchFamily="18" charset="0"/>
                      </a:rPr>
                      <m:t>,</m:t>
                    </m:r>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𝒑</m:t>
                        </m:r>
                      </m:e>
                      <m:sub>
                        <m:r>
                          <a:rPr lang="en-US" altLang="zh-CN" sz="1600" b="1" i="1" smtClean="0">
                            <a:solidFill>
                              <a:schemeClr val="accent2">
                                <a:lumMod val="50000"/>
                              </a:schemeClr>
                            </a:solidFill>
                            <a:latin typeface="Cambria Math" panose="02040503050406030204" pitchFamily="18" charset="0"/>
                          </a:rPr>
                          <m:t>𝟐</m:t>
                        </m:r>
                      </m:sub>
                    </m:sSub>
                    <m:r>
                      <a:rPr lang="en-US" altLang="zh-CN" sz="1600" b="1" i="1" smtClean="0">
                        <a:solidFill>
                          <a:schemeClr val="accent2">
                            <a:lumMod val="50000"/>
                          </a:schemeClr>
                        </a:solidFill>
                        <a:latin typeface="Cambria Math" panose="02040503050406030204" pitchFamily="18" charset="0"/>
                      </a:rPr>
                      <m:t>,</m:t>
                    </m:r>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𝒑</m:t>
                        </m:r>
                      </m:e>
                      <m:sub>
                        <m:r>
                          <a:rPr lang="en-US" altLang="zh-CN" sz="1600" b="1" i="1" smtClean="0">
                            <a:solidFill>
                              <a:schemeClr val="accent2">
                                <a:lumMod val="50000"/>
                              </a:schemeClr>
                            </a:solidFill>
                            <a:latin typeface="Cambria Math" panose="02040503050406030204" pitchFamily="18" charset="0"/>
                          </a:rPr>
                          <m:t>𝟑</m:t>
                        </m:r>
                      </m:sub>
                    </m:sSub>
                  </m:oMath>
                </a14:m>
                <a:endParaRPr lang="zh-CN" altLang="en-US" sz="1600" b="1">
                  <a:solidFill>
                    <a:schemeClr val="accent2">
                      <a:lumMod val="50000"/>
                    </a:schemeClr>
                  </a:solidFill>
                </a:endParaRPr>
              </a:p>
            </p:txBody>
          </p:sp>
        </mc:Choice>
        <mc:Fallback>
          <p:sp>
            <p:nvSpPr>
              <p:cNvPr id="37" name="文本框 36"/>
              <p:cNvSpPr txBox="1">
                <a:spLocks noRot="1" noChangeAspect="1" noMove="1" noResize="1" noEditPoints="1" noAdjustHandles="1" noChangeArrowheads="1" noChangeShapeType="1" noTextEdit="1"/>
              </p:cNvSpPr>
              <p:nvPr/>
            </p:nvSpPr>
            <p:spPr>
              <a:xfrm>
                <a:off x="8615549" y="5295501"/>
                <a:ext cx="2539534" cy="338554"/>
              </a:xfrm>
              <a:prstGeom prst="rect">
                <a:avLst/>
              </a:prstGeom>
              <a:blipFill rotWithShape="1">
                <a:blip r:embed="rId9"/>
                <a:stretch>
                  <a:fillRect l="-20" t="-70" r="1" b="-57483"/>
                </a:stretch>
              </a:blipFill>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线性递推关系式求解</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线性非齐次递推关系式求解举例（一）</a:t>
            </a:r>
            <a:endParaRPr lang="zh-CN" altLang="en-US"/>
          </a:p>
        </p:txBody>
      </p:sp>
      <mc:AlternateContent xmlns:mc="http://schemas.openxmlformats.org/markup-compatibility/2006">
        <mc:Choice xmlns:a14="http://schemas.microsoft.com/office/drawing/2010/main" Requires="a14">
          <p:sp>
            <p:nvSpPr>
              <p:cNvPr id="14" name="文本框 13"/>
              <p:cNvSpPr txBox="1"/>
              <p:nvPr/>
            </p:nvSpPr>
            <p:spPr>
              <a:xfrm>
                <a:off x="624500" y="1216822"/>
                <a:ext cx="10137341" cy="470000"/>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求解线性非齐次递推关系式</a:t>
                </a:r>
                <a14:m>
                  <m:oMath xmlns:m="http://schemas.openxmlformats.org/officeDocument/2006/math">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𝒏</m:t>
                        </m:r>
                      </m:sub>
                    </m:sSub>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𝟐</m:t>
                    </m:r>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𝒏</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𝟏</m:t>
                        </m:r>
                      </m:sub>
                    </m:sSub>
                    <m:r>
                      <a:rPr lang="en-US" altLang="zh-CN" sz="2400" b="1" i="1">
                        <a:solidFill>
                          <a:srgbClr val="002060"/>
                        </a:solidFill>
                        <a:latin typeface="Cambria Math" panose="02040503050406030204" pitchFamily="18" charset="0"/>
                      </a:rPr>
                      <m:t>+</m:t>
                    </m:r>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𝒏</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𝟐</m:t>
                        </m:r>
                      </m:sub>
                    </m:sSub>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𝟐</m:t>
                    </m:r>
                    <m:r>
                      <a:rPr lang="en-US" altLang="zh-CN" sz="2400" b="1" i="1">
                        <a:solidFill>
                          <a:srgbClr val="002060"/>
                        </a:solidFill>
                        <a:latin typeface="Cambria Math" panose="02040503050406030204" pitchFamily="18" charset="0"/>
                      </a:rPr>
                      <m:t>⋅</m:t>
                    </m:r>
                    <m:sSup>
                      <m:sSupPr>
                        <m:ctrlPr>
                          <a:rPr lang="en-US" altLang="zh-CN" sz="2400" b="1" i="1">
                            <a:solidFill>
                              <a:srgbClr val="002060"/>
                            </a:solidFill>
                            <a:latin typeface="Cambria Math" panose="02040503050406030204" pitchFamily="18" charset="0"/>
                          </a:rPr>
                        </m:ctrlPr>
                      </m:sSupPr>
                      <m:e>
                        <m:r>
                          <a:rPr lang="en-US" altLang="zh-CN" sz="2400" b="1" i="1">
                            <a:solidFill>
                              <a:srgbClr val="002060"/>
                            </a:solidFill>
                            <a:latin typeface="Cambria Math" panose="02040503050406030204" pitchFamily="18" charset="0"/>
                          </a:rPr>
                          <m:t>𝟑</m:t>
                        </m:r>
                      </m:e>
                      <m:sup>
                        <m:r>
                          <a:rPr lang="en-US" altLang="zh-CN" sz="2400" b="1" i="1">
                            <a:solidFill>
                              <a:srgbClr val="002060"/>
                            </a:solidFill>
                            <a:latin typeface="Cambria Math" panose="02040503050406030204" pitchFamily="18" charset="0"/>
                          </a:rPr>
                          <m:t>𝒏</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𝟐</m:t>
                        </m:r>
                      </m:sup>
                    </m:sSup>
                  </m:oMath>
                </a14:m>
                <a:r>
                  <a:rPr lang="zh-CN" altLang="en-US" sz="2400" b="1">
                    <a:solidFill>
                      <a:srgbClr val="002060"/>
                    </a:solidFill>
                    <a:latin typeface="楷体" panose="02010609060101010101" pitchFamily="49" charset="-122"/>
                    <a:ea typeface="楷体" panose="02010609060101010101" pitchFamily="49" charset="-122"/>
                  </a:rPr>
                  <a:t>，</a:t>
                </a:r>
                <a14:m>
                  <m:oMath xmlns:m="http://schemas.openxmlformats.org/officeDocument/2006/math">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𝟎</m:t>
                        </m:r>
                      </m:sub>
                    </m:sSub>
                    <m:r>
                      <a:rPr lang="en-US" altLang="zh-CN" sz="2400" b="1" i="1">
                        <a:solidFill>
                          <a:srgbClr val="002060"/>
                        </a:solidFill>
                        <a:latin typeface="Cambria Math" panose="02040503050406030204" pitchFamily="18" charset="0"/>
                      </a:rPr>
                      <m:t>= </m:t>
                    </m:r>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𝟏</m:t>
                        </m:r>
                      </m:sub>
                    </m:sSub>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𝟎</m:t>
                    </m:r>
                  </m:oMath>
                </a14:m>
                <a:endParaRPr lang="zh-CN" altLang="en-US" sz="2400" b="1" i="1">
                  <a:solidFill>
                    <a:srgbClr val="002060"/>
                  </a:solidFill>
                  <a:latin typeface="Cambria Math" panose="02040503050406030204" pitchFamily="18" charset="0"/>
                </a:endParaRPr>
              </a:p>
            </p:txBody>
          </p:sp>
        </mc:Choice>
        <mc:Fallback>
          <p:sp>
            <p:nvSpPr>
              <p:cNvPr id="14" name="文本框 13"/>
              <p:cNvSpPr txBox="1">
                <a:spLocks noRot="1" noChangeAspect="1" noMove="1" noResize="1" noEditPoints="1" noAdjustHandles="1" noChangeArrowheads="1" noChangeShapeType="1" noTextEdit="1"/>
              </p:cNvSpPr>
              <p:nvPr/>
            </p:nvSpPr>
            <p:spPr>
              <a:xfrm>
                <a:off x="624500" y="1216822"/>
                <a:ext cx="10137341" cy="470000"/>
              </a:xfrm>
              <a:prstGeom prst="rect">
                <a:avLst/>
              </a:prstGeom>
              <a:blipFill rotWithShape="1">
                <a:blip r:embed="rId1"/>
                <a:stretch>
                  <a:fillRect l="-3" t="-34" r="5" b="5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1234400" y="1878248"/>
                <a:ext cx="9068541" cy="430118"/>
              </a:xfrm>
              <a:prstGeom prst="rect">
                <a:avLst/>
              </a:prstGeom>
              <a:solidFill>
                <a:schemeClr val="accent4">
                  <a:lumMod val="20000"/>
                  <a:lumOff val="80000"/>
                  <a:alpha val="50000"/>
                </a:schemeClr>
              </a:solidFill>
            </p:spPr>
            <p:txBody>
              <a:bodyPr wrap="square" rtlCol="0">
                <a:spAutoFit/>
              </a:bodyPr>
              <a:lstStyle/>
              <a:p>
                <a:r>
                  <a:rPr lang="zh-CN" altLang="en-US" sz="2000" b="1">
                    <a:solidFill>
                      <a:schemeClr val="accent2">
                        <a:lumMod val="50000"/>
                      </a:schemeClr>
                    </a:solidFill>
                  </a:rPr>
                  <a:t>伴随线性齐次递推关系式的特征方程是</a:t>
                </a:r>
                <a14:m>
                  <m:oMath xmlns:m="http://schemas.openxmlformats.org/officeDocument/2006/math">
                    <m:sSup>
                      <m:sSupPr>
                        <m:ctrlPr>
                          <a:rPr lang="en-US" altLang="zh-CN" sz="2000" b="1" i="1" smtClean="0">
                            <a:solidFill>
                              <a:schemeClr val="accent2">
                                <a:lumMod val="50000"/>
                              </a:schemeClr>
                            </a:solidFill>
                            <a:latin typeface="Cambria Math" panose="02040503050406030204" pitchFamily="18" charset="0"/>
                          </a:rPr>
                        </m:ctrlPr>
                      </m:sSupPr>
                      <m:e>
                        <m:r>
                          <a:rPr lang="en-US" altLang="zh-CN" sz="2000" b="1" i="1" smtClean="0">
                            <a:solidFill>
                              <a:schemeClr val="accent2">
                                <a:lumMod val="50000"/>
                              </a:schemeClr>
                            </a:solidFill>
                            <a:latin typeface="Cambria Math" panose="02040503050406030204" pitchFamily="18" charset="0"/>
                          </a:rPr>
                          <m:t>𝒙</m:t>
                        </m:r>
                      </m:e>
                      <m:sup>
                        <m:r>
                          <a:rPr lang="en-US" altLang="zh-CN" sz="2000" b="1" i="1" smtClean="0">
                            <a:solidFill>
                              <a:schemeClr val="accent2">
                                <a:lumMod val="50000"/>
                              </a:schemeClr>
                            </a:solidFill>
                            <a:latin typeface="Cambria Math" panose="02040503050406030204" pitchFamily="18" charset="0"/>
                          </a:rPr>
                          <m:t>𝟐</m:t>
                        </m:r>
                      </m:sup>
                    </m:sSup>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𝟐</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oMath>
                </a14:m>
                <a:r>
                  <a:rPr lang="zh-CN" altLang="en-US" sz="2000" b="1">
                    <a:solidFill>
                      <a:schemeClr val="accent2">
                        <a:lumMod val="50000"/>
                      </a:schemeClr>
                    </a:solidFill>
                  </a:rPr>
                  <a:t>，有两个根</a:t>
                </a:r>
                <a14:m>
                  <m:oMath xmlns:m="http://schemas.openxmlformats.org/officeDocument/2006/math">
                    <m:r>
                      <a:rPr lang="en-US" altLang="zh-CN" sz="2000" b="1" i="1" smtClean="0">
                        <a:solidFill>
                          <a:srgbClr val="C00000"/>
                        </a:solidFill>
                        <a:latin typeface="Cambria Math" panose="02040503050406030204" pitchFamily="18" charset="0"/>
                      </a:rPr>
                      <m:t>𝟏</m:t>
                    </m:r>
                    <m:r>
                      <a:rPr lang="en-US" altLang="zh-CN" sz="2000" b="1" i="1" smtClean="0">
                        <a:solidFill>
                          <a:srgbClr val="C00000"/>
                        </a:solidFill>
                        <a:latin typeface="Cambria Math" panose="02040503050406030204" pitchFamily="18" charset="0"/>
                      </a:rPr>
                      <m:t>+</m:t>
                    </m:r>
                    <m:rad>
                      <m:radPr>
                        <m:degHide m:val="on"/>
                        <m:ctrlPr>
                          <a:rPr lang="en-US" altLang="zh-CN" sz="2000" b="1" i="1" smtClean="0">
                            <a:solidFill>
                              <a:srgbClr val="C00000"/>
                            </a:solidFill>
                            <a:latin typeface="Cambria Math" panose="02040503050406030204" pitchFamily="18" charset="0"/>
                          </a:rPr>
                        </m:ctrlPr>
                      </m:radPr>
                      <m:deg/>
                      <m:e>
                        <m:r>
                          <a:rPr lang="en-US" altLang="zh-CN" sz="2000" b="1" i="1" smtClean="0">
                            <a:solidFill>
                              <a:srgbClr val="C00000"/>
                            </a:solidFill>
                            <a:latin typeface="Cambria Math" panose="02040503050406030204" pitchFamily="18" charset="0"/>
                          </a:rPr>
                          <m:t>𝟐</m:t>
                        </m:r>
                      </m:e>
                    </m:rad>
                  </m:oMath>
                </a14:m>
                <a:r>
                  <a:rPr lang="zh-CN" altLang="en-US" sz="2000" b="1">
                    <a:solidFill>
                      <a:schemeClr val="accent2">
                        <a:lumMod val="50000"/>
                      </a:schemeClr>
                    </a:solidFill>
                  </a:rPr>
                  <a:t>和</a:t>
                </a:r>
                <a14:m>
                  <m:oMath xmlns:m="http://schemas.openxmlformats.org/officeDocument/2006/math">
                    <m:r>
                      <a:rPr lang="en-US" altLang="zh-CN" sz="2000" b="1" i="1" smtClean="0">
                        <a:solidFill>
                          <a:srgbClr val="C00000"/>
                        </a:solidFill>
                        <a:latin typeface="Cambria Math" panose="02040503050406030204" pitchFamily="18" charset="0"/>
                      </a:rPr>
                      <m:t>𝟏</m:t>
                    </m:r>
                    <m:r>
                      <a:rPr lang="en-US" altLang="zh-CN" sz="2000" b="1" i="1" smtClean="0">
                        <a:solidFill>
                          <a:srgbClr val="C00000"/>
                        </a:solidFill>
                        <a:latin typeface="Cambria Math" panose="02040503050406030204" pitchFamily="18" charset="0"/>
                      </a:rPr>
                      <m:t>−</m:t>
                    </m:r>
                    <m:rad>
                      <m:radPr>
                        <m:degHide m:val="on"/>
                        <m:ctrlPr>
                          <a:rPr lang="en-US" altLang="zh-CN" sz="2000" b="1" i="1" smtClean="0">
                            <a:solidFill>
                              <a:srgbClr val="C00000"/>
                            </a:solidFill>
                            <a:latin typeface="Cambria Math" panose="02040503050406030204" pitchFamily="18" charset="0"/>
                          </a:rPr>
                        </m:ctrlPr>
                      </m:radPr>
                      <m:deg/>
                      <m:e>
                        <m:r>
                          <a:rPr lang="en-US" altLang="zh-CN" sz="2000" b="1" i="1" smtClean="0">
                            <a:solidFill>
                              <a:srgbClr val="C00000"/>
                            </a:solidFill>
                            <a:latin typeface="Cambria Math" panose="02040503050406030204" pitchFamily="18" charset="0"/>
                          </a:rPr>
                          <m:t>𝟐</m:t>
                        </m:r>
                      </m:e>
                    </m:rad>
                  </m:oMath>
                </a14:m>
                <a:endParaRPr lang="zh-CN" altLang="en-US" sz="2000" b="1">
                  <a:solidFill>
                    <a:schemeClr val="accent2">
                      <a:lumMod val="50000"/>
                    </a:schemeClr>
                  </a:solidFill>
                </a:endParaRPr>
              </a:p>
            </p:txBody>
          </p:sp>
        </mc:Choice>
        <mc:Fallback>
          <p:sp>
            <p:nvSpPr>
              <p:cNvPr id="15" name="文本框 14"/>
              <p:cNvSpPr txBox="1">
                <a:spLocks noRot="1" noChangeAspect="1" noMove="1" noResize="1" noEditPoints="1" noAdjustHandles="1" noChangeArrowheads="1" noChangeShapeType="1" noTextEdit="1"/>
              </p:cNvSpPr>
              <p:nvPr/>
            </p:nvSpPr>
            <p:spPr>
              <a:xfrm>
                <a:off x="1234400" y="1878248"/>
                <a:ext cx="9068541" cy="430118"/>
              </a:xfrm>
              <a:prstGeom prst="rect">
                <a:avLst/>
              </a:prstGeom>
              <a:blipFill rotWithShape="1">
                <a:blip r:embed="rId2"/>
                <a:stretch>
                  <a:fillRect l="-7" t="-129" r="1" b="33"/>
                </a:stretch>
              </a:blipFill>
            </p:spPr>
            <p:txBody>
              <a:bodyPr/>
              <a:lstStyle/>
              <a:p>
                <a:r>
                  <a:rPr lang="zh-CN" altLang="en-US">
                    <a:noFill/>
                  </a:rPr>
                  <a:t> </a:t>
                </a:r>
              </a:p>
            </p:txBody>
          </p:sp>
        </mc:Fallback>
      </mc:AlternateContent>
      <p:grpSp>
        <p:nvGrpSpPr>
          <p:cNvPr id="2" name="组合 1"/>
          <p:cNvGrpSpPr/>
          <p:nvPr/>
        </p:nvGrpSpPr>
        <p:grpSpPr>
          <a:xfrm>
            <a:off x="1234400" y="2507331"/>
            <a:ext cx="9699311" cy="498237"/>
            <a:chOff x="1234400" y="2507331"/>
            <a:chExt cx="9699311" cy="498237"/>
          </a:xfrm>
        </p:grpSpPr>
        <p:sp>
          <p:nvSpPr>
            <p:cNvPr id="43" name="矩形 42"/>
            <p:cNvSpPr/>
            <p:nvPr/>
          </p:nvSpPr>
          <p:spPr>
            <a:xfrm>
              <a:off x="1234400" y="2507331"/>
              <a:ext cx="9696932" cy="498237"/>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 name="组合 36"/>
            <p:cNvGrpSpPr/>
            <p:nvPr/>
          </p:nvGrpSpPr>
          <p:grpSpPr>
            <a:xfrm>
              <a:off x="1260668" y="2546288"/>
              <a:ext cx="9673043" cy="443514"/>
              <a:chOff x="1345806" y="2631715"/>
              <a:chExt cx="9673043" cy="443514"/>
            </a:xfrm>
          </p:grpSpPr>
          <mc:AlternateContent xmlns:mc="http://schemas.openxmlformats.org/markup-compatibility/2006">
            <mc:Choice xmlns:a14="http://schemas.microsoft.com/office/drawing/2010/main" Requires="a14">
              <p:sp>
                <p:nvSpPr>
                  <p:cNvPr id="19" name="矩形 18"/>
                  <p:cNvSpPr/>
                  <p:nvPr/>
                </p:nvSpPr>
                <p:spPr>
                  <a:xfrm>
                    <a:off x="1345806" y="2642738"/>
                    <a:ext cx="1822101" cy="375552"/>
                  </a:xfrm>
                  <a:prstGeom prst="rect">
                    <a:avLst/>
                  </a:prstGeom>
                  <a:solidFill>
                    <a:schemeClr val="accent4">
                      <a:lumMod val="20000"/>
                      <a:lumOff val="80000"/>
                    </a:schemeClr>
                  </a:solidFill>
                </p:spPr>
                <p:txBody>
                  <a:bodyPr wrap="none">
                    <a:spAutoFit/>
                  </a:bodyPr>
                  <a:lstStyle/>
                  <a:p>
                    <a14:m>
                      <m:oMathPara xmlns:m="http://schemas.openxmlformats.org/officeDocument/2006/math">
                        <m:oMathParaPr>
                          <m:jc m:val="centerGroup"/>
                        </m:oMathParaPr>
                        <m:oMath xmlns:m="http://schemas.openxmlformats.org/officeDocument/2006/math">
                          <m:r>
                            <a:rPr lang="en-US" altLang="zh-CN" b="1" i="1">
                              <a:solidFill>
                                <a:schemeClr val="accent2">
                                  <a:lumMod val="50000"/>
                                </a:schemeClr>
                              </a:solidFill>
                              <a:latin typeface="Cambria Math" panose="02040503050406030204" pitchFamily="18" charset="0"/>
                            </a:rPr>
                            <m:t>𝑭</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𝒏</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r>
                            <a:rPr lang="en-US" altLang="zh-CN" b="1" i="1">
                              <a:solidFill>
                                <a:schemeClr val="accent2">
                                  <a:lumMod val="50000"/>
                                </a:schemeClr>
                              </a:solidFill>
                              <a:latin typeface="Cambria Math" panose="02040503050406030204" pitchFamily="18" charset="0"/>
                            </a:rPr>
                            <m:t>⋅</m:t>
                          </m:r>
                          <m:sSup>
                            <m:sSupPr>
                              <m:ctrlPr>
                                <a:rPr lang="en-US" altLang="zh-CN" b="1" i="1">
                                  <a:solidFill>
                                    <a:schemeClr val="accent2">
                                      <a:lumMod val="50000"/>
                                    </a:schemeClr>
                                  </a:solidFill>
                                  <a:latin typeface="Cambria Math" panose="02040503050406030204" pitchFamily="18" charset="0"/>
                                </a:rPr>
                              </m:ctrlPr>
                            </m:sSupPr>
                            <m:e>
                              <m:r>
                                <a:rPr lang="en-US" altLang="zh-CN" b="1" i="1">
                                  <a:solidFill>
                                    <a:schemeClr val="accent2">
                                      <a:lumMod val="50000"/>
                                    </a:schemeClr>
                                  </a:solidFill>
                                  <a:latin typeface="Cambria Math" panose="02040503050406030204" pitchFamily="18" charset="0"/>
                                </a:rPr>
                                <m:t>𝟑</m:t>
                              </m:r>
                            </m:e>
                            <m:sup>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sup>
                          </m:sSup>
                        </m:oMath>
                      </m:oMathPara>
                    </a14:m>
                    <a:endParaRPr lang="zh-CN" altLang="en-US"/>
                  </a:p>
                </p:txBody>
              </p:sp>
            </mc:Choice>
            <mc:Fallback>
              <p:sp>
                <p:nvSpPr>
                  <p:cNvPr id="19" name="矩形 18"/>
                  <p:cNvSpPr>
                    <a:spLocks noRot="1" noChangeAspect="1" noMove="1" noResize="1" noEditPoints="1" noAdjustHandles="1" noChangeArrowheads="1" noChangeShapeType="1" noTextEdit="1"/>
                  </p:cNvSpPr>
                  <p:nvPr/>
                </p:nvSpPr>
                <p:spPr>
                  <a:xfrm>
                    <a:off x="1345806" y="2642738"/>
                    <a:ext cx="1822101" cy="375552"/>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矩形 19"/>
                  <p:cNvSpPr/>
                  <p:nvPr/>
                </p:nvSpPr>
                <p:spPr>
                  <a:xfrm>
                    <a:off x="3887279" y="2631715"/>
                    <a:ext cx="1460459" cy="410753"/>
                  </a:xfrm>
                  <a:prstGeom prst="rect">
                    <a:avLst/>
                  </a:prstGeom>
                  <a:solidFill>
                    <a:schemeClr val="accent4">
                      <a:lumMod val="20000"/>
                      <a:lumOff val="80000"/>
                    </a:schemeClr>
                  </a:solidFill>
                </p:spPr>
                <p:txBody>
                  <a:bodyPr wrap="none">
                    <a:spAutoFit/>
                  </a:bodyPr>
                  <a:lstStyle/>
                  <a:p>
                    <a:pPr>
                      <a:lnSpc>
                        <a:spcPts val="2800"/>
                      </a:lnSpc>
                    </a:pPr>
                    <a14:m>
                      <m:oMath xmlns:m="http://schemas.openxmlformats.org/officeDocument/2006/math">
                        <m:r>
                          <a:rPr lang="en-US" altLang="zh-CN" b="1" i="1" smtClean="0">
                            <a:solidFill>
                              <a:srgbClr val="002060"/>
                            </a:solidFill>
                            <a:latin typeface="Cambria Math" panose="02040503050406030204" pitchFamily="18" charset="0"/>
                          </a:rPr>
                          <m:t>𝒔</m:t>
                        </m:r>
                        <m: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𝟑</m:t>
                        </m:r>
                      </m:oMath>
                    </a14:m>
                    <a:r>
                      <a:rPr lang="zh-CN" altLang="en-US" b="1">
                        <a:solidFill>
                          <a:srgbClr val="002060"/>
                        </a:solidFill>
                        <a:latin typeface="楷体" panose="02010609060101010101" pitchFamily="49" charset="-122"/>
                        <a:ea typeface="楷体" panose="02010609060101010101" pitchFamily="49" charset="-122"/>
                      </a:rPr>
                      <a:t>不是根</a:t>
                    </a:r>
                    <a:endParaRPr lang="zh-CN" altLang="en-US" b="1">
                      <a:solidFill>
                        <a:srgbClr val="002060"/>
                      </a:solidFill>
                      <a:latin typeface="楷体" panose="02010609060101010101" pitchFamily="49" charset="-122"/>
                      <a:ea typeface="楷体" panose="02010609060101010101" pitchFamily="49" charset="-122"/>
                    </a:endParaRPr>
                  </a:p>
                </p:txBody>
              </p:sp>
            </mc:Choice>
            <mc:Fallback>
              <p:sp>
                <p:nvSpPr>
                  <p:cNvPr id="20" name="矩形 19"/>
                  <p:cNvSpPr>
                    <a:spLocks noRot="1" noChangeAspect="1" noMove="1" noResize="1" noEditPoints="1" noAdjustHandles="1" noChangeArrowheads="1" noChangeShapeType="1" noTextEdit="1"/>
                  </p:cNvSpPr>
                  <p:nvPr/>
                </p:nvSpPr>
                <p:spPr>
                  <a:xfrm>
                    <a:off x="3887279" y="2631715"/>
                    <a:ext cx="1460459" cy="410753"/>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矩形 20"/>
                  <p:cNvSpPr/>
                  <p:nvPr/>
                </p:nvSpPr>
                <p:spPr>
                  <a:xfrm>
                    <a:off x="6067110" y="2642738"/>
                    <a:ext cx="1478645" cy="432491"/>
                  </a:xfrm>
                  <a:prstGeom prst="rect">
                    <a:avLst/>
                  </a:prstGeom>
                  <a:solidFill>
                    <a:schemeClr val="accent4">
                      <a:lumMod val="20000"/>
                      <a:lumOff val="80000"/>
                    </a:schemeClr>
                  </a:solidFill>
                </p:spPr>
                <p:txBody>
                  <a:bodyPr wrap="none">
                    <a:spAutoFit/>
                  </a:bodyPr>
                  <a:lstStyle/>
                  <a:p>
                    <a14:m>
                      <m:oMathPara xmlns:m="http://schemas.openxmlformats.org/officeDocument/2006/math">
                        <m:oMathParaPr>
                          <m:jc m:val="centerGroup"/>
                        </m:oMathParaPr>
                        <m:oMath xmlns:m="http://schemas.openxmlformats.org/officeDocument/2006/math">
                          <m:sSubSup>
                            <m:sSubSupPr>
                              <m:ctrlPr>
                                <a:rPr lang="zh-CN" altLang="en-US" b="1" i="1" smtClean="0">
                                  <a:solidFill>
                                    <a:srgbClr val="C00000"/>
                                  </a:solidFill>
                                  <a:latin typeface="Cambria Math" panose="02040503050406030204" pitchFamily="18" charset="0"/>
                                </a:rPr>
                              </m:ctrlPr>
                            </m:sSubSupPr>
                            <m:e>
                              <m:r>
                                <a:rPr lang="zh-CN" altLang="en-US" b="1" i="1">
                                  <a:solidFill>
                                    <a:srgbClr val="C00000"/>
                                  </a:solidFill>
                                  <a:latin typeface="Cambria Math" panose="02040503050406030204" pitchFamily="18" charset="0"/>
                                </a:rPr>
                                <m:t>𝒂</m:t>
                              </m:r>
                            </m:e>
                            <m:sub>
                              <m:r>
                                <a:rPr lang="zh-CN" altLang="en-US" b="1" i="1">
                                  <a:solidFill>
                                    <a:srgbClr val="C00000"/>
                                  </a:solidFill>
                                  <a:latin typeface="Cambria Math" panose="02040503050406030204" pitchFamily="18" charset="0"/>
                                </a:rPr>
                                <m:t>𝒏</m:t>
                              </m:r>
                            </m:sub>
                            <m:sup>
                              <m:d>
                                <m:dPr>
                                  <m:ctrlPr>
                                    <a:rPr lang="zh-CN" altLang="en-US" b="1" i="1">
                                      <a:solidFill>
                                        <a:srgbClr val="C00000"/>
                                      </a:solidFill>
                                      <a:latin typeface="Cambria Math" panose="02040503050406030204" pitchFamily="18" charset="0"/>
                                    </a:rPr>
                                  </m:ctrlPr>
                                </m:dPr>
                                <m:e>
                                  <m:r>
                                    <a:rPr lang="zh-CN" altLang="en-US" b="1" i="1">
                                      <a:solidFill>
                                        <a:srgbClr val="C00000"/>
                                      </a:solidFill>
                                      <a:latin typeface="Cambria Math" panose="02040503050406030204" pitchFamily="18" charset="0"/>
                                    </a:rPr>
                                    <m:t>𝒑</m:t>
                                  </m:r>
                                </m:e>
                              </m:d>
                            </m:sup>
                          </m:sSubSup>
                          <m:r>
                            <a:rPr lang="zh-CN" altLang="en-US" b="1" i="1">
                              <a:solidFill>
                                <a:srgbClr val="C00000"/>
                              </a:solidFill>
                              <a:latin typeface="Cambria Math" panose="02040503050406030204" pitchFamily="18" charset="0"/>
                            </a:rPr>
                            <m:t>=</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𝒑</m:t>
                              </m:r>
                            </m:e>
                            <m:sub>
                              <m:r>
                                <a:rPr lang="en-US" altLang="zh-CN" b="1" i="1" smtClean="0">
                                  <a:solidFill>
                                    <a:srgbClr val="C00000"/>
                                  </a:solidFill>
                                  <a:latin typeface="Cambria Math" panose="02040503050406030204" pitchFamily="18" charset="0"/>
                                </a:rPr>
                                <m:t>𝟎</m:t>
                              </m:r>
                            </m:sub>
                          </m:sSub>
                          <m:sSup>
                            <m:sSupPr>
                              <m:ctrlPr>
                                <a:rPr lang="zh-CN" altLang="en-US"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𝟑</m:t>
                              </m:r>
                            </m:e>
                            <m:sup>
                              <m:r>
                                <a:rPr lang="zh-CN" altLang="en-US" b="1" i="1">
                                  <a:solidFill>
                                    <a:srgbClr val="C00000"/>
                                  </a:solidFill>
                                  <a:latin typeface="Cambria Math" panose="02040503050406030204" pitchFamily="18" charset="0"/>
                                </a:rPr>
                                <m:t>𝒏</m:t>
                              </m:r>
                            </m:sup>
                          </m:sSup>
                        </m:oMath>
                      </m:oMathPara>
                    </a14:m>
                    <a:endParaRPr lang="zh-CN" altLang="en-US"/>
                  </a:p>
                </p:txBody>
              </p:sp>
            </mc:Choice>
            <mc:Fallback>
              <p:sp>
                <p:nvSpPr>
                  <p:cNvPr id="21" name="矩形 20"/>
                  <p:cNvSpPr>
                    <a:spLocks noRot="1" noChangeAspect="1" noMove="1" noResize="1" noEditPoints="1" noAdjustHandles="1" noChangeArrowheads="1" noChangeShapeType="1" noTextEdit="1"/>
                  </p:cNvSpPr>
                  <p:nvPr/>
                </p:nvSpPr>
                <p:spPr>
                  <a:xfrm>
                    <a:off x="6067110" y="2642738"/>
                    <a:ext cx="1478645" cy="432491"/>
                  </a:xfrm>
                  <a:prstGeom prst="rect">
                    <a:avLst/>
                  </a:prstGeom>
                  <a:blipFill rotWithShape="1">
                    <a:blip r:embed="rId5"/>
                  </a:blipFill>
                </p:spPr>
                <p:txBody>
                  <a:bodyPr/>
                  <a:lstStyle/>
                  <a:p>
                    <a:r>
                      <a:rPr lang="zh-CN" altLang="en-US">
                        <a:noFill/>
                      </a:rPr>
                      <a:t> </a:t>
                    </a:r>
                  </a:p>
                </p:txBody>
              </p:sp>
            </mc:Fallback>
          </mc:AlternateContent>
          <p:sp>
            <p:nvSpPr>
              <p:cNvPr id="22" name="箭头: 右 21"/>
              <p:cNvSpPr/>
              <p:nvPr/>
            </p:nvSpPr>
            <p:spPr>
              <a:xfrm>
                <a:off x="3167907" y="2826812"/>
                <a:ext cx="719371"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p:cNvSpPr/>
              <p:nvPr/>
            </p:nvSpPr>
            <p:spPr>
              <a:xfrm>
                <a:off x="5347739" y="2826812"/>
                <a:ext cx="690864" cy="457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3" name="文本框 12"/>
                  <p:cNvSpPr txBox="1"/>
                  <p:nvPr/>
                </p:nvSpPr>
                <p:spPr>
                  <a:xfrm>
                    <a:off x="7775687" y="2642738"/>
                    <a:ext cx="3243162" cy="43249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将</a:t>
                    </a:r>
                    <a14:m>
                      <m:oMath xmlns:m="http://schemas.openxmlformats.org/officeDocument/2006/math">
                        <m:sSubSup>
                          <m:sSubSupPr>
                            <m:ctrlPr>
                              <a:rPr lang="zh-CN" altLang="en-US" b="1" i="1">
                                <a:solidFill>
                                  <a:schemeClr val="accent2">
                                    <a:lumMod val="50000"/>
                                  </a:schemeClr>
                                </a:solidFill>
                                <a:latin typeface="Cambria Math" panose="02040503050406030204" pitchFamily="18" charset="0"/>
                              </a:rPr>
                            </m:ctrlPr>
                          </m:sSubSupPr>
                          <m:e>
                            <m:r>
                              <a:rPr lang="zh-CN" altLang="en-US" b="1" i="1">
                                <a:solidFill>
                                  <a:schemeClr val="accent2">
                                    <a:lumMod val="50000"/>
                                  </a:schemeClr>
                                </a:solidFill>
                                <a:latin typeface="Cambria Math" panose="02040503050406030204" pitchFamily="18" charset="0"/>
                              </a:rPr>
                              <m:t>𝒂</m:t>
                            </m:r>
                          </m:e>
                          <m:sub>
                            <m:r>
                              <a:rPr lang="zh-CN" altLang="en-US" b="1" i="1">
                                <a:solidFill>
                                  <a:schemeClr val="accent2">
                                    <a:lumMod val="50000"/>
                                  </a:schemeClr>
                                </a:solidFill>
                                <a:latin typeface="Cambria Math" panose="02040503050406030204" pitchFamily="18" charset="0"/>
                              </a:rPr>
                              <m:t>𝒏</m:t>
                            </m:r>
                          </m:sub>
                          <m:sup>
                            <m:d>
                              <m:dPr>
                                <m:ctrlPr>
                                  <a:rPr lang="zh-CN" altLang="en-US" b="1" i="1">
                                    <a:solidFill>
                                      <a:schemeClr val="accent2">
                                        <a:lumMod val="50000"/>
                                      </a:schemeClr>
                                    </a:solidFill>
                                    <a:latin typeface="Cambria Math" panose="02040503050406030204" pitchFamily="18" charset="0"/>
                                  </a:rPr>
                                </m:ctrlPr>
                              </m:dPr>
                              <m:e>
                                <m:r>
                                  <a:rPr lang="zh-CN" altLang="en-US" b="1" i="1">
                                    <a:solidFill>
                                      <a:schemeClr val="accent2">
                                        <a:lumMod val="50000"/>
                                      </a:schemeClr>
                                    </a:solidFill>
                                    <a:latin typeface="Cambria Math" panose="02040503050406030204" pitchFamily="18" charset="0"/>
                                  </a:rPr>
                                  <m:t>𝒑</m:t>
                                </m:r>
                              </m:e>
                            </m:d>
                          </m:sup>
                        </m:sSubSup>
                        <m:r>
                          <a:rPr lang="zh-CN" altLang="en-US" b="1" i="1">
                            <a:solidFill>
                              <a:schemeClr val="accent2">
                                <a:lumMod val="50000"/>
                              </a:schemeClr>
                            </a:solidFill>
                            <a:latin typeface="Cambria Math" panose="02040503050406030204" pitchFamily="18" charset="0"/>
                          </a:rPr>
                          <m:t>=</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𝒑</m:t>
                            </m:r>
                          </m:e>
                          <m:sub>
                            <m:r>
                              <a:rPr lang="en-US" altLang="zh-CN" b="1" i="1">
                                <a:solidFill>
                                  <a:schemeClr val="accent2">
                                    <a:lumMod val="50000"/>
                                  </a:schemeClr>
                                </a:solidFill>
                                <a:latin typeface="Cambria Math" panose="02040503050406030204" pitchFamily="18" charset="0"/>
                              </a:rPr>
                              <m:t>𝟎</m:t>
                            </m:r>
                          </m:sub>
                        </m:sSub>
                        <m:sSup>
                          <m:sSupPr>
                            <m:ctrlPr>
                              <a:rPr lang="zh-CN" altLang="en-US" b="1" i="1">
                                <a:solidFill>
                                  <a:schemeClr val="accent2">
                                    <a:lumMod val="50000"/>
                                  </a:schemeClr>
                                </a:solidFill>
                                <a:latin typeface="Cambria Math" panose="02040503050406030204" pitchFamily="18" charset="0"/>
                              </a:rPr>
                            </m:ctrlPr>
                          </m:sSupPr>
                          <m:e>
                            <m:r>
                              <a:rPr lang="en-US" altLang="zh-CN" b="1" i="1">
                                <a:solidFill>
                                  <a:schemeClr val="accent2">
                                    <a:lumMod val="50000"/>
                                  </a:schemeClr>
                                </a:solidFill>
                                <a:latin typeface="Cambria Math" panose="02040503050406030204" pitchFamily="18" charset="0"/>
                              </a:rPr>
                              <m:t>𝟑</m:t>
                            </m:r>
                          </m:e>
                          <m:sup>
                            <m:r>
                              <a:rPr lang="zh-CN" altLang="en-US" b="1" i="1">
                                <a:solidFill>
                                  <a:schemeClr val="accent2">
                                    <a:lumMod val="50000"/>
                                  </a:schemeClr>
                                </a:solidFill>
                                <a:latin typeface="Cambria Math" panose="02040503050406030204" pitchFamily="18" charset="0"/>
                              </a:rPr>
                              <m:t>𝒏</m:t>
                            </m:r>
                          </m:sup>
                        </m:sSup>
                      </m:oMath>
                    </a14:m>
                    <a:r>
                      <a:rPr lang="zh-CN" altLang="en-US" b="1">
                        <a:solidFill>
                          <a:schemeClr val="accent2">
                            <a:lumMod val="50000"/>
                          </a:schemeClr>
                        </a:solidFill>
                      </a:rPr>
                      <a:t>代入递推关系式</a:t>
                    </a:r>
                    <a:endParaRPr lang="zh-CN" altLang="en-US" b="1">
                      <a:solidFill>
                        <a:schemeClr val="accent2">
                          <a:lumMod val="50000"/>
                        </a:schemeClr>
                      </a:solidFill>
                    </a:endParaRPr>
                  </a:p>
                </p:txBody>
              </p:sp>
            </mc:Choice>
            <mc:Fallback>
              <p:sp>
                <p:nvSpPr>
                  <p:cNvPr id="13" name="文本框 12"/>
                  <p:cNvSpPr txBox="1">
                    <a:spLocks noRot="1" noChangeAspect="1" noMove="1" noResize="1" noEditPoints="1" noAdjustHandles="1" noChangeArrowheads="1" noChangeShapeType="1" noTextEdit="1"/>
                  </p:cNvSpPr>
                  <p:nvPr/>
                </p:nvSpPr>
                <p:spPr>
                  <a:xfrm>
                    <a:off x="7775687" y="2642738"/>
                    <a:ext cx="3243162" cy="432491"/>
                  </a:xfrm>
                  <a:prstGeom prst="rect">
                    <a:avLst/>
                  </a:prstGeom>
                  <a:blipFill rotWithShape="1">
                    <a:blip r:embed="rId6"/>
                  </a:blipFill>
                </p:spPr>
                <p:txBody>
                  <a:bodyPr/>
                  <a:lstStyle/>
                  <a:p>
                    <a:r>
                      <a:rPr lang="zh-CN" altLang="en-US">
                        <a:noFill/>
                      </a:rPr>
                      <a:t> </a:t>
                    </a:r>
                  </a:p>
                </p:txBody>
              </p:sp>
            </mc:Fallback>
          </mc:AlternateContent>
        </p:grpSp>
      </p:grpSp>
      <p:grpSp>
        <p:nvGrpSpPr>
          <p:cNvPr id="46" name="组合 45"/>
          <p:cNvGrpSpPr/>
          <p:nvPr/>
        </p:nvGrpSpPr>
        <p:grpSpPr>
          <a:xfrm>
            <a:off x="1126910" y="3757737"/>
            <a:ext cx="9938177" cy="2392761"/>
            <a:chOff x="1258288" y="3671257"/>
            <a:chExt cx="9938177" cy="2392761"/>
          </a:xfrm>
        </p:grpSpPr>
        <p:sp>
          <p:nvSpPr>
            <p:cNvPr id="45" name="矩形 44"/>
            <p:cNvSpPr/>
            <p:nvPr/>
          </p:nvSpPr>
          <p:spPr>
            <a:xfrm>
              <a:off x="1258288" y="3671257"/>
              <a:ext cx="9938177" cy="2392761"/>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2" name="组合 41"/>
            <p:cNvGrpSpPr/>
            <p:nvPr/>
          </p:nvGrpSpPr>
          <p:grpSpPr>
            <a:xfrm>
              <a:off x="1325963" y="3726201"/>
              <a:ext cx="9795947" cy="2242448"/>
              <a:chOff x="1222902" y="3730131"/>
              <a:chExt cx="9795947" cy="2242448"/>
            </a:xfrm>
          </p:grpSpPr>
          <mc:AlternateContent xmlns:mc="http://schemas.openxmlformats.org/markup-compatibility/2006">
            <mc:Choice xmlns:a14="http://schemas.microsoft.com/office/drawing/2010/main" Requires="a14">
              <p:sp>
                <p:nvSpPr>
                  <p:cNvPr id="27" name="文本框 26"/>
                  <p:cNvSpPr txBox="1"/>
                  <p:nvPr/>
                </p:nvSpPr>
                <p:spPr>
                  <a:xfrm>
                    <a:off x="1230164" y="3810194"/>
                    <a:ext cx="4230635" cy="916918"/>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000" b="1">
                        <a:solidFill>
                          <a:schemeClr val="accent2">
                            <a:lumMod val="50000"/>
                          </a:schemeClr>
                        </a:solidFill>
                      </a:rPr>
                      <a:t>解</a:t>
                    </a:r>
                    <a14:m>
                      <m:oMath xmlns:m="http://schemas.openxmlformats.org/officeDocument/2006/math">
                        <m:r>
                          <m:rPr>
                            <m:lit/>
                          </m:rP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𝒏</m:t>
                            </m:r>
                          </m:sub>
                        </m:sSub>
                        <m:r>
                          <m:rPr>
                            <m:lit/>
                          </m:rPr>
                          <a:rPr lang="en-US" altLang="zh-CN" sz="2000" b="1" i="1" smtClean="0">
                            <a:solidFill>
                              <a:schemeClr val="accent2">
                                <a:lumMod val="50000"/>
                              </a:schemeClr>
                            </a:solidFill>
                            <a:latin typeface="Cambria Math" panose="02040503050406030204" pitchFamily="18" charset="0"/>
                          </a:rPr>
                          <m:t>}</m:t>
                        </m:r>
                      </m:oMath>
                    </a14:m>
                    <a:r>
                      <a:rPr lang="zh-CN" altLang="en-US" sz="2000" b="1">
                        <a:solidFill>
                          <a:schemeClr val="accent2">
                            <a:lumMod val="50000"/>
                          </a:schemeClr>
                        </a:solidFill>
                      </a:rPr>
                      <a:t>具有形式：</a:t>
                    </a:r>
                    <a:endParaRPr lang="en-US" altLang="zh-CN" sz="2000" b="1">
                      <a:solidFill>
                        <a:schemeClr val="accent2">
                          <a:lumMod val="50000"/>
                        </a:schemeClr>
                      </a:solidFill>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𝒏</m:t>
                              </m:r>
                            </m:sub>
                          </m:sSub>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𝟏</m:t>
                              </m:r>
                            </m:sub>
                          </m:sSub>
                          <m:sSup>
                            <m:sSupPr>
                              <m:ctrlPr>
                                <a:rPr lang="en-US" altLang="zh-CN" b="1" i="1" smtClean="0">
                                  <a:solidFill>
                                    <a:srgbClr val="C00000"/>
                                  </a:solidFill>
                                  <a:latin typeface="Cambria Math" panose="02040503050406030204" pitchFamily="18" charset="0"/>
                                </a:rPr>
                              </m:ctrlPr>
                            </m:sSupPr>
                            <m:e>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ad>
                                    <m:radPr>
                                      <m:degHide m:val="on"/>
                                      <m:ctrlPr>
                                        <a:rPr lang="en-US" altLang="zh-CN" b="1" i="1" smtClean="0">
                                          <a:solidFill>
                                            <a:srgbClr val="C00000"/>
                                          </a:solidFill>
                                          <a:latin typeface="Cambria Math" panose="02040503050406030204" pitchFamily="18" charset="0"/>
                                        </a:rPr>
                                      </m:ctrlPr>
                                    </m:radPr>
                                    <m:deg/>
                                    <m:e>
                                      <m:r>
                                        <a:rPr lang="en-US" altLang="zh-CN" b="1" i="1" smtClean="0">
                                          <a:solidFill>
                                            <a:srgbClr val="C00000"/>
                                          </a:solidFill>
                                          <a:latin typeface="Cambria Math" panose="02040503050406030204" pitchFamily="18" charset="0"/>
                                        </a:rPr>
                                        <m:t>𝟐</m:t>
                                      </m:r>
                                    </m:e>
                                  </m:rad>
                                </m:e>
                              </m:d>
                            </m:e>
                            <m:sup>
                              <m:r>
                                <a:rPr lang="en-US" altLang="zh-CN" b="1" i="1" smtClean="0">
                                  <a:solidFill>
                                    <a:srgbClr val="C00000"/>
                                  </a:solidFill>
                                  <a:latin typeface="Cambria Math" panose="02040503050406030204" pitchFamily="18" charset="0"/>
                                </a:rPr>
                                <m:t>𝒏</m:t>
                              </m:r>
                            </m:sup>
                          </m:sSup>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𝟐</m:t>
                              </m:r>
                            </m:sub>
                          </m:sSub>
                          <m:sSup>
                            <m:sSupPr>
                              <m:ctrlPr>
                                <a:rPr lang="en-US" altLang="zh-CN" b="1" i="1" smtClean="0">
                                  <a:solidFill>
                                    <a:srgbClr val="C00000"/>
                                  </a:solidFill>
                                  <a:latin typeface="Cambria Math" panose="02040503050406030204" pitchFamily="18" charset="0"/>
                                </a:rPr>
                              </m:ctrlPr>
                            </m:sSupPr>
                            <m:e>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ad>
                                    <m:radPr>
                                      <m:degHide m:val="on"/>
                                      <m:ctrlPr>
                                        <a:rPr lang="en-US" altLang="zh-CN" b="1" i="1" smtClean="0">
                                          <a:solidFill>
                                            <a:srgbClr val="C00000"/>
                                          </a:solidFill>
                                          <a:latin typeface="Cambria Math" panose="02040503050406030204" pitchFamily="18" charset="0"/>
                                        </a:rPr>
                                      </m:ctrlPr>
                                    </m:radPr>
                                    <m:deg/>
                                    <m:e>
                                      <m:r>
                                        <a:rPr lang="en-US" altLang="zh-CN" b="1" i="1" smtClean="0">
                                          <a:solidFill>
                                            <a:srgbClr val="C00000"/>
                                          </a:solidFill>
                                          <a:latin typeface="Cambria Math" panose="02040503050406030204" pitchFamily="18" charset="0"/>
                                        </a:rPr>
                                        <m:t>𝟐</m:t>
                                      </m:r>
                                    </m:e>
                                  </m:rad>
                                </m:e>
                              </m:d>
                            </m:e>
                            <m:sup>
                              <m:r>
                                <a:rPr lang="en-US" altLang="zh-CN" b="1" i="1" smtClean="0">
                                  <a:solidFill>
                                    <a:srgbClr val="C00000"/>
                                  </a:solidFill>
                                  <a:latin typeface="Cambria Math" panose="02040503050406030204" pitchFamily="18" charset="0"/>
                                </a:rPr>
                                <m:t>𝒏</m:t>
                              </m:r>
                            </m:sup>
                          </m:sSup>
                          <m:r>
                            <a:rPr lang="pt-BR" altLang="zh-CN" i="1" smtClean="0">
                              <a:solidFill>
                                <a:srgbClr val="0000FF"/>
                              </a:solidFill>
                              <a:latin typeface="Cambria Math" panose="02040503050406030204" pitchFamily="18" charset="0"/>
                            </a:rPr>
                            <m:t>+</m:t>
                          </m:r>
                          <m:sSup>
                            <m:sSupPr>
                              <m:ctrlPr>
                                <a:rPr lang="pt-BR" altLang="zh-CN" i="1">
                                  <a:solidFill>
                                    <a:srgbClr val="0000FF"/>
                                  </a:solidFill>
                                  <a:latin typeface="Cambria Math" panose="02040503050406030204" pitchFamily="18" charset="0"/>
                                </a:rPr>
                              </m:ctrlPr>
                            </m:sSupPr>
                            <m:e>
                              <m:r>
                                <a:rPr lang="pt-BR" altLang="zh-CN" i="1">
                                  <a:solidFill>
                                    <a:srgbClr val="0000FF"/>
                                  </a:solidFill>
                                  <a:latin typeface="Cambria Math" panose="02040503050406030204" pitchFamily="18" charset="0"/>
                                </a:rPr>
                                <m:t>3</m:t>
                              </m:r>
                            </m:e>
                            <m:sup>
                              <m:r>
                                <a:rPr lang="pt-BR" altLang="zh-CN" i="1">
                                  <a:solidFill>
                                    <a:srgbClr val="0000FF"/>
                                  </a:solidFill>
                                  <a:latin typeface="Cambria Math" panose="02040503050406030204" pitchFamily="18" charset="0"/>
                                </a:rPr>
                                <m:t>𝑛</m:t>
                              </m:r>
                            </m:sup>
                          </m:sSup>
                        </m:oMath>
                      </m:oMathPara>
                    </a14:m>
                    <a:endParaRPr lang="zh-CN" altLang="en-US" b="1">
                      <a:solidFill>
                        <a:schemeClr val="accent2">
                          <a:lumMod val="50000"/>
                        </a:schemeClr>
                      </a:solidFill>
                    </a:endParaRPr>
                  </a:p>
                </p:txBody>
              </p:sp>
            </mc:Choice>
            <mc:Fallback>
              <p:sp>
                <p:nvSpPr>
                  <p:cNvPr id="27" name="文本框 26"/>
                  <p:cNvSpPr txBox="1">
                    <a:spLocks noRot="1" noChangeAspect="1" noMove="1" noResize="1" noEditPoints="1" noAdjustHandles="1" noChangeArrowheads="1" noChangeShapeType="1" noTextEdit="1"/>
                  </p:cNvSpPr>
                  <p:nvPr/>
                </p:nvSpPr>
                <p:spPr>
                  <a:xfrm>
                    <a:off x="1230164" y="3810194"/>
                    <a:ext cx="4230635" cy="916918"/>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文本框 27"/>
                  <p:cNvSpPr txBox="1"/>
                  <p:nvPr/>
                </p:nvSpPr>
                <p:spPr>
                  <a:xfrm>
                    <a:off x="7210657" y="3862772"/>
                    <a:ext cx="3808192" cy="811761"/>
                  </a:xfrm>
                  <a:prstGeom prst="rect">
                    <a:avLst/>
                  </a:prstGeom>
                  <a:solidFill>
                    <a:schemeClr val="accent5">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eqArr>
                                <m:eqArrPr>
                                  <m:ctrlPr>
                                    <a:rPr lang="en-US" altLang="zh-CN" b="1" i="1" smtClean="0">
                                      <a:solidFill>
                                        <a:schemeClr val="accent2">
                                          <a:lumMod val="50000"/>
                                        </a:schemeClr>
                                      </a:solidFill>
                                      <a:latin typeface="Cambria Math" panose="02040503050406030204" pitchFamily="18" charset="0"/>
                                    </a:rPr>
                                  </m:ctrlPr>
                                </m:eqArrPr>
                                <m:e>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𝟐</m:t>
                                      </m:r>
                                    </m:sub>
                                  </m:sSub>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𝟎</m:t>
                                  </m:r>
                                </m:e>
                                <m:e>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𝟏</m:t>
                                      </m:r>
                                    </m:sub>
                                  </m:sSub>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𝟏</m:t>
                                      </m:r>
                                      <m:r>
                                        <a:rPr lang="en-US" altLang="zh-CN" b="1" i="1" smtClean="0">
                                          <a:solidFill>
                                            <a:schemeClr val="accent2">
                                              <a:lumMod val="50000"/>
                                            </a:schemeClr>
                                          </a:solidFill>
                                          <a:latin typeface="Cambria Math" panose="02040503050406030204" pitchFamily="18" charset="0"/>
                                        </a:rPr>
                                        <m:t>+</m:t>
                                      </m:r>
                                      <m:rad>
                                        <m:radPr>
                                          <m:degHide m:val="on"/>
                                          <m:ctrlPr>
                                            <a:rPr lang="en-US" altLang="zh-CN" b="1" i="1" smtClean="0">
                                              <a:solidFill>
                                                <a:schemeClr val="accent2">
                                                  <a:lumMod val="50000"/>
                                                </a:schemeClr>
                                              </a:solidFill>
                                              <a:latin typeface="Cambria Math" panose="02040503050406030204" pitchFamily="18" charset="0"/>
                                            </a:rPr>
                                          </m:ctrlPr>
                                        </m:radPr>
                                        <m:deg/>
                                        <m:e>
                                          <m:r>
                                            <a:rPr lang="en-US" altLang="zh-CN" b="1" i="1" smtClean="0">
                                              <a:solidFill>
                                                <a:schemeClr val="accent2">
                                                  <a:lumMod val="50000"/>
                                                </a:schemeClr>
                                              </a:solidFill>
                                              <a:latin typeface="Cambria Math" panose="02040503050406030204" pitchFamily="18" charset="0"/>
                                            </a:rPr>
                                            <m:t>𝟐</m:t>
                                          </m:r>
                                        </m:e>
                                      </m:rad>
                                    </m:e>
                                  </m:d>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𝟐</m:t>
                                      </m:r>
                                    </m:sub>
                                  </m:sSub>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𝟏</m:t>
                                      </m:r>
                                      <m:r>
                                        <a:rPr lang="en-US" altLang="zh-CN" b="1" i="1" smtClean="0">
                                          <a:solidFill>
                                            <a:schemeClr val="accent2">
                                              <a:lumMod val="50000"/>
                                            </a:schemeClr>
                                          </a:solidFill>
                                          <a:latin typeface="Cambria Math" panose="02040503050406030204" pitchFamily="18" charset="0"/>
                                        </a:rPr>
                                        <m:t>−</m:t>
                                      </m:r>
                                      <m:rad>
                                        <m:radPr>
                                          <m:degHide m:val="on"/>
                                          <m:ctrlPr>
                                            <a:rPr lang="en-US" altLang="zh-CN" b="1" i="1" smtClean="0">
                                              <a:solidFill>
                                                <a:schemeClr val="accent2">
                                                  <a:lumMod val="50000"/>
                                                </a:schemeClr>
                                              </a:solidFill>
                                              <a:latin typeface="Cambria Math" panose="02040503050406030204" pitchFamily="18" charset="0"/>
                                            </a:rPr>
                                          </m:ctrlPr>
                                        </m:radPr>
                                        <m:deg/>
                                        <m:e>
                                          <m:r>
                                            <a:rPr lang="en-US" altLang="zh-CN" b="1" i="1" smtClean="0">
                                              <a:solidFill>
                                                <a:schemeClr val="accent2">
                                                  <a:lumMod val="50000"/>
                                                </a:schemeClr>
                                              </a:solidFill>
                                              <a:latin typeface="Cambria Math" panose="02040503050406030204" pitchFamily="18" charset="0"/>
                                            </a:rPr>
                                            <m:t>𝟐</m:t>
                                          </m:r>
                                        </m:e>
                                      </m:rad>
                                    </m:e>
                                  </m:d>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𝟑</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𝟎</m:t>
                                  </m:r>
                                </m:e>
                              </m:eqArr>
                            </m:e>
                          </m:d>
                        </m:oMath>
                      </m:oMathPara>
                    </a14:m>
                    <a:endParaRPr lang="zh-CN" altLang="en-US" b="1">
                      <a:solidFill>
                        <a:schemeClr val="accent2">
                          <a:lumMod val="50000"/>
                        </a:schemeClr>
                      </a:solidFill>
                    </a:endParaRPr>
                  </a:p>
                </p:txBody>
              </p:sp>
            </mc:Choice>
            <mc:Fallback>
              <p:sp>
                <p:nvSpPr>
                  <p:cNvPr id="28" name="文本框 27"/>
                  <p:cNvSpPr txBox="1">
                    <a:spLocks noRot="1" noChangeAspect="1" noMove="1" noResize="1" noEditPoints="1" noAdjustHandles="1" noChangeArrowheads="1" noChangeShapeType="1" noTextEdit="1"/>
                  </p:cNvSpPr>
                  <p:nvPr/>
                </p:nvSpPr>
                <p:spPr>
                  <a:xfrm>
                    <a:off x="7210657" y="3862772"/>
                    <a:ext cx="3808192" cy="811761"/>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文本框 28"/>
                  <p:cNvSpPr txBox="1"/>
                  <p:nvPr/>
                </p:nvSpPr>
                <p:spPr>
                  <a:xfrm>
                    <a:off x="7517485" y="5266777"/>
                    <a:ext cx="3345123" cy="674159"/>
                  </a:xfrm>
                  <a:prstGeom prst="rect">
                    <a:avLst/>
                  </a:prstGeom>
                  <a:solidFill>
                    <a:schemeClr val="accent5">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m:t>
                          </m:r>
                          <m:f>
                            <m:fPr>
                              <m:ctrlPr>
                                <a:rPr lang="en-US" altLang="zh-CN" b="1" i="1" smtClean="0">
                                  <a:solidFill>
                                    <a:srgbClr val="C00000"/>
                                  </a:solidFill>
                                  <a:latin typeface="Cambria Math" panose="02040503050406030204" pitchFamily="18" charset="0"/>
                                </a:rPr>
                              </m:ctrlPr>
                            </m:fPr>
                            <m:num>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ad>
                                <m:radPr>
                                  <m:degHide m:val="on"/>
                                  <m:ctrlPr>
                                    <a:rPr lang="en-US" altLang="zh-CN" b="1" i="1" smtClean="0">
                                      <a:solidFill>
                                        <a:srgbClr val="C00000"/>
                                      </a:solidFill>
                                      <a:latin typeface="Cambria Math" panose="02040503050406030204" pitchFamily="18" charset="0"/>
                                    </a:rPr>
                                  </m:ctrlPr>
                                </m:radPr>
                                <m:deg/>
                                <m:e>
                                  <m:r>
                                    <a:rPr lang="en-US" altLang="zh-CN" b="1" i="1" smtClean="0">
                                      <a:solidFill>
                                        <a:srgbClr val="C00000"/>
                                      </a:solidFill>
                                      <a:latin typeface="Cambria Math" panose="02040503050406030204" pitchFamily="18" charset="0"/>
                                    </a:rPr>
                                    <m:t>𝟐</m:t>
                                  </m:r>
                                </m:e>
                              </m:rad>
                            </m:num>
                            <m:den>
                              <m:r>
                                <a:rPr lang="en-US" altLang="zh-CN" b="1" i="1" smtClean="0">
                                  <a:solidFill>
                                    <a:srgbClr val="C00000"/>
                                  </a:solidFill>
                                  <a:latin typeface="Cambria Math" panose="02040503050406030204" pitchFamily="18" charset="0"/>
                                </a:rPr>
                                <m:t>𝟐</m:t>
                              </m:r>
                            </m:den>
                          </m:f>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𝜷</m:t>
                              </m:r>
                            </m:e>
                            <m:sub>
                              <m:r>
                                <a:rPr lang="en-US" altLang="zh-CN" b="1" i="1" smtClean="0">
                                  <a:solidFill>
                                    <a:srgbClr val="C00000"/>
                                  </a:solidFill>
                                  <a:latin typeface="Cambria Math" panose="02040503050406030204" pitchFamily="18" charset="0"/>
                                </a:rPr>
                                <m:t>𝟐</m:t>
                              </m:r>
                            </m:sub>
                          </m:sSub>
                          <m:r>
                            <a:rPr lang="en-US" altLang="zh-CN" b="1" i="1" smtClean="0">
                              <a:solidFill>
                                <a:srgbClr val="C00000"/>
                              </a:solidFill>
                              <a:latin typeface="Cambria Math" panose="02040503050406030204" pitchFamily="18" charset="0"/>
                            </a:rPr>
                            <m:t>=</m:t>
                          </m:r>
                          <m:f>
                            <m:fPr>
                              <m:ctrlPr>
                                <a:rPr lang="en-US" altLang="zh-CN" b="1" i="1" smtClean="0">
                                  <a:solidFill>
                                    <a:srgbClr val="C00000"/>
                                  </a:solidFill>
                                  <a:latin typeface="Cambria Math" panose="02040503050406030204" pitchFamily="18" charset="0"/>
                                </a:rPr>
                              </m:ctrlPr>
                            </m:fPr>
                            <m:num>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ad>
                                <m:radPr>
                                  <m:degHide m:val="on"/>
                                  <m:ctrlPr>
                                    <a:rPr lang="en-US" altLang="zh-CN" b="1" i="1" smtClean="0">
                                      <a:solidFill>
                                        <a:srgbClr val="C00000"/>
                                      </a:solidFill>
                                      <a:latin typeface="Cambria Math" panose="02040503050406030204" pitchFamily="18" charset="0"/>
                                    </a:rPr>
                                  </m:ctrlPr>
                                </m:radPr>
                                <m:deg/>
                                <m:e>
                                  <m:r>
                                    <a:rPr lang="en-US" altLang="zh-CN" b="1" i="1" smtClean="0">
                                      <a:solidFill>
                                        <a:srgbClr val="C00000"/>
                                      </a:solidFill>
                                      <a:latin typeface="Cambria Math" panose="02040503050406030204" pitchFamily="18" charset="0"/>
                                    </a:rPr>
                                    <m:t>𝟐</m:t>
                                  </m:r>
                                </m:e>
                              </m:rad>
                            </m:num>
                            <m:den>
                              <m:r>
                                <a:rPr lang="en-US" altLang="zh-CN" b="1" i="1">
                                  <a:solidFill>
                                    <a:srgbClr val="C00000"/>
                                  </a:solidFill>
                                  <a:latin typeface="Cambria Math" panose="02040503050406030204" pitchFamily="18" charset="0"/>
                                </a:rPr>
                                <m:t>𝟐</m:t>
                              </m:r>
                            </m:den>
                          </m:f>
                        </m:oMath>
                      </m:oMathPara>
                    </a14:m>
                    <a:endParaRPr lang="zh-CN" altLang="en-US" b="1">
                      <a:solidFill>
                        <a:srgbClr val="C00000"/>
                      </a:solidFill>
                    </a:endParaRPr>
                  </a:p>
                </p:txBody>
              </p:sp>
            </mc:Choice>
            <mc:Fallback>
              <p:sp>
                <p:nvSpPr>
                  <p:cNvPr id="29" name="文本框 28"/>
                  <p:cNvSpPr txBox="1">
                    <a:spLocks noRot="1" noChangeAspect="1" noMove="1" noResize="1" noEditPoints="1" noAdjustHandles="1" noChangeArrowheads="1" noChangeShapeType="1" noTextEdit="1"/>
                  </p:cNvSpPr>
                  <p:nvPr/>
                </p:nvSpPr>
                <p:spPr>
                  <a:xfrm>
                    <a:off x="7517485" y="5266777"/>
                    <a:ext cx="3345123" cy="674159"/>
                  </a:xfrm>
                  <a:prstGeom prst="rect">
                    <a:avLst/>
                  </a:prstGeom>
                  <a:blipFill rotWithShape="1">
                    <a:blip r:embed="rId9"/>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文本框 29"/>
                  <p:cNvSpPr txBox="1"/>
                  <p:nvPr/>
                </p:nvSpPr>
                <p:spPr>
                  <a:xfrm>
                    <a:off x="1222902" y="5235133"/>
                    <a:ext cx="4414118" cy="737446"/>
                  </a:xfrm>
                  <a:prstGeom prst="rect">
                    <a:avLst/>
                  </a:prstGeom>
                  <a:solidFill>
                    <a:schemeClr val="accent2">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𝒏</m:t>
                              </m:r>
                            </m:sub>
                          </m:sSub>
                          <m:r>
                            <a:rPr lang="en-US" altLang="zh-CN" b="1" i="1" smtClean="0">
                              <a:solidFill>
                                <a:srgbClr val="C00000"/>
                              </a:solidFill>
                              <a:latin typeface="Cambria Math" panose="02040503050406030204" pitchFamily="18" charset="0"/>
                            </a:rPr>
                            <m:t>=</m:t>
                          </m:r>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𝟑</m:t>
                              </m:r>
                            </m:e>
                            <m:sup>
                              <m:r>
                                <a:rPr lang="en-US" altLang="zh-CN" b="1" i="1" smtClean="0">
                                  <a:solidFill>
                                    <a:srgbClr val="C00000"/>
                                  </a:solidFill>
                                  <a:latin typeface="Cambria Math" panose="02040503050406030204" pitchFamily="18" charset="0"/>
                                </a:rPr>
                                <m:t>𝒏</m:t>
                              </m:r>
                            </m:sup>
                          </m:sSup>
                          <m:r>
                            <a:rPr lang="en-US" altLang="zh-CN" b="1" i="1" smtClean="0">
                              <a:solidFill>
                                <a:srgbClr val="C00000"/>
                              </a:solidFill>
                              <a:latin typeface="Cambria Math" panose="02040503050406030204" pitchFamily="18" charset="0"/>
                            </a:rPr>
                            <m:t>−</m:t>
                          </m:r>
                          <m:f>
                            <m:fPr>
                              <m:ctrlPr>
                                <a:rPr lang="en-US" altLang="zh-CN" b="1" i="1" smtClean="0">
                                  <a:solidFill>
                                    <a:srgbClr val="C00000"/>
                                  </a:solidFill>
                                  <a:latin typeface="Cambria Math" panose="02040503050406030204" pitchFamily="18" charset="0"/>
                                </a:rPr>
                              </m:ctrlPr>
                            </m:fPr>
                            <m:num>
                              <m:sSup>
                                <m:sSupPr>
                                  <m:ctrlPr>
                                    <a:rPr lang="en-US" altLang="zh-CN" b="1" i="1" smtClean="0">
                                      <a:solidFill>
                                        <a:srgbClr val="C00000"/>
                                      </a:solidFill>
                                      <a:latin typeface="Cambria Math" panose="02040503050406030204" pitchFamily="18" charset="0"/>
                                    </a:rPr>
                                  </m:ctrlPr>
                                </m:sSupPr>
                                <m:e>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ad>
                                        <m:radPr>
                                          <m:degHide m:val="on"/>
                                          <m:ctrlPr>
                                            <a:rPr lang="en-US" altLang="zh-CN" b="1" i="1" smtClean="0">
                                              <a:solidFill>
                                                <a:srgbClr val="C00000"/>
                                              </a:solidFill>
                                              <a:latin typeface="Cambria Math" panose="02040503050406030204" pitchFamily="18" charset="0"/>
                                            </a:rPr>
                                          </m:ctrlPr>
                                        </m:radPr>
                                        <m:deg/>
                                        <m:e>
                                          <m:r>
                                            <a:rPr lang="en-US" altLang="zh-CN" b="1" i="1" smtClean="0">
                                              <a:solidFill>
                                                <a:srgbClr val="C00000"/>
                                              </a:solidFill>
                                              <a:latin typeface="Cambria Math" panose="02040503050406030204" pitchFamily="18" charset="0"/>
                                            </a:rPr>
                                            <m:t>𝟐</m:t>
                                          </m:r>
                                        </m:e>
                                      </m:rad>
                                    </m:e>
                                  </m:d>
                                </m:e>
                                <m:sup>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p>
                              </m:sSup>
                            </m:num>
                            <m:den>
                              <m:r>
                                <a:rPr lang="en-US" altLang="zh-CN" b="1" i="1" smtClean="0">
                                  <a:solidFill>
                                    <a:srgbClr val="C00000"/>
                                  </a:solidFill>
                                  <a:latin typeface="Cambria Math" panose="02040503050406030204" pitchFamily="18" charset="0"/>
                                </a:rPr>
                                <m:t>𝟐</m:t>
                              </m:r>
                            </m:den>
                          </m:f>
                          <m:r>
                            <a:rPr lang="en-US" altLang="zh-CN" b="1" i="1" smtClean="0">
                              <a:solidFill>
                                <a:srgbClr val="C00000"/>
                              </a:solidFill>
                              <a:latin typeface="Cambria Math" panose="02040503050406030204" pitchFamily="18" charset="0"/>
                            </a:rPr>
                            <m:t>−</m:t>
                          </m:r>
                          <m:f>
                            <m:fPr>
                              <m:ctrlPr>
                                <a:rPr lang="en-US" altLang="zh-CN" b="1" i="1" smtClean="0">
                                  <a:solidFill>
                                    <a:srgbClr val="C00000"/>
                                  </a:solidFill>
                                  <a:latin typeface="Cambria Math" panose="02040503050406030204" pitchFamily="18" charset="0"/>
                                </a:rPr>
                              </m:ctrlPr>
                            </m:fPr>
                            <m:num>
                              <m:sSup>
                                <m:sSupPr>
                                  <m:ctrlPr>
                                    <a:rPr lang="en-US" altLang="zh-CN" b="1" i="1" smtClean="0">
                                      <a:solidFill>
                                        <a:srgbClr val="C00000"/>
                                      </a:solidFill>
                                      <a:latin typeface="Cambria Math" panose="02040503050406030204" pitchFamily="18" charset="0"/>
                                    </a:rPr>
                                  </m:ctrlPr>
                                </m:sSupPr>
                                <m:e>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ad>
                                        <m:radPr>
                                          <m:degHide m:val="on"/>
                                          <m:ctrlPr>
                                            <a:rPr lang="en-US" altLang="zh-CN" b="1" i="1" smtClean="0">
                                              <a:solidFill>
                                                <a:srgbClr val="C00000"/>
                                              </a:solidFill>
                                              <a:latin typeface="Cambria Math" panose="02040503050406030204" pitchFamily="18" charset="0"/>
                                            </a:rPr>
                                          </m:ctrlPr>
                                        </m:radPr>
                                        <m:deg/>
                                        <m:e>
                                          <m:r>
                                            <a:rPr lang="en-US" altLang="zh-CN" b="1" i="1">
                                              <a:solidFill>
                                                <a:srgbClr val="C00000"/>
                                              </a:solidFill>
                                              <a:latin typeface="Cambria Math" panose="02040503050406030204" pitchFamily="18" charset="0"/>
                                            </a:rPr>
                                            <m:t>𝟐</m:t>
                                          </m:r>
                                        </m:e>
                                      </m:rad>
                                    </m:e>
                                  </m:d>
                                </m:e>
                                <m:sup>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p>
                              </m:sSup>
                            </m:num>
                            <m:den>
                              <m:r>
                                <a:rPr lang="en-US" altLang="zh-CN" b="1" i="1">
                                  <a:solidFill>
                                    <a:srgbClr val="C00000"/>
                                  </a:solidFill>
                                  <a:latin typeface="Cambria Math" panose="02040503050406030204" pitchFamily="18" charset="0"/>
                                </a:rPr>
                                <m:t>𝟐</m:t>
                              </m:r>
                            </m:den>
                          </m:f>
                        </m:oMath>
                      </m:oMathPara>
                    </a14:m>
                    <a:endParaRPr lang="zh-CN" altLang="en-US" b="1">
                      <a:solidFill>
                        <a:schemeClr val="accent2">
                          <a:lumMod val="50000"/>
                        </a:schemeClr>
                      </a:solidFill>
                    </a:endParaRPr>
                  </a:p>
                </p:txBody>
              </p:sp>
            </mc:Choice>
            <mc:Fallback>
              <p:sp>
                <p:nvSpPr>
                  <p:cNvPr id="30" name="文本框 29"/>
                  <p:cNvSpPr txBox="1">
                    <a:spLocks noRot="1" noChangeAspect="1" noMove="1" noResize="1" noEditPoints="1" noAdjustHandles="1" noChangeArrowheads="1" noChangeShapeType="1" noTextEdit="1"/>
                  </p:cNvSpPr>
                  <p:nvPr/>
                </p:nvSpPr>
                <p:spPr>
                  <a:xfrm>
                    <a:off x="1222902" y="5235133"/>
                    <a:ext cx="4414118" cy="737446"/>
                  </a:xfrm>
                  <a:prstGeom prst="rect">
                    <a:avLst/>
                  </a:prstGeom>
                  <a:blipFill rotWithShape="1">
                    <a:blip r:embed="rId10"/>
                  </a:blipFill>
                </p:spPr>
                <p:txBody>
                  <a:bodyPr/>
                  <a:lstStyle/>
                  <a:p>
                    <a:r>
                      <a:rPr lang="zh-CN" altLang="en-US">
                        <a:noFill/>
                      </a:rPr>
                      <a:t> </a:t>
                    </a:r>
                  </a:p>
                </p:txBody>
              </p:sp>
            </mc:Fallback>
          </mc:AlternateContent>
          <p:sp>
            <p:nvSpPr>
              <p:cNvPr id="31" name="箭头: 右 30"/>
              <p:cNvSpPr/>
              <p:nvPr/>
            </p:nvSpPr>
            <p:spPr>
              <a:xfrm>
                <a:off x="5460799" y="4284129"/>
                <a:ext cx="1749858" cy="667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箭头: 下 31"/>
              <p:cNvSpPr/>
              <p:nvPr/>
            </p:nvSpPr>
            <p:spPr>
              <a:xfrm>
                <a:off x="9167188" y="4697489"/>
                <a:ext cx="57841" cy="5692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箭头: 左 32"/>
              <p:cNvSpPr/>
              <p:nvPr/>
            </p:nvSpPr>
            <p:spPr>
              <a:xfrm>
                <a:off x="5652684" y="5569906"/>
                <a:ext cx="1849136" cy="6675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箭头: 下 33"/>
              <p:cNvSpPr/>
              <p:nvPr/>
            </p:nvSpPr>
            <p:spPr>
              <a:xfrm>
                <a:off x="3401041" y="4727112"/>
                <a:ext cx="57841" cy="53966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5" name="文本框 34"/>
                  <p:cNvSpPr txBox="1"/>
                  <p:nvPr/>
                </p:nvSpPr>
                <p:spPr>
                  <a:xfrm>
                    <a:off x="5665610" y="3730131"/>
                    <a:ext cx="1373791" cy="1107996"/>
                  </a:xfrm>
                  <a:prstGeom prst="rect">
                    <a:avLst/>
                  </a:prstGeom>
                  <a:solidFill>
                    <a:schemeClr val="accent4">
                      <a:lumMod val="20000"/>
                      <a:lumOff val="80000"/>
                    </a:schemeClr>
                  </a:solidFill>
                </p:spPr>
                <p:txBody>
                  <a:bodyPr wrap="square" lIns="0" tIns="0" rIns="0" bIns="0" rtlCol="0">
                    <a:spAutoFit/>
                  </a:bodyPr>
                  <a:lstStyle/>
                  <a:p>
                    <a:pPr algn="ctr"/>
                    <a:r>
                      <a:rPr lang="zh-CN" altLang="en-US" b="1">
                        <a:solidFill>
                          <a:schemeClr val="accent2">
                            <a:lumMod val="50000"/>
                          </a:schemeClr>
                        </a:solidFill>
                      </a:rPr>
                      <a:t>根据初值</a:t>
                    </a:r>
                    <a:endParaRPr lang="en-US" altLang="zh-CN" b="1">
                      <a:solidFill>
                        <a:schemeClr val="accent2">
                          <a:lumMod val="50000"/>
                        </a:schemeClr>
                      </a:solidFill>
                    </a:endParaRPr>
                  </a:p>
                  <a:p>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𝟎</m:t>
                              </m:r>
                            </m:sub>
                          </m:sSub>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𝟎</m:t>
                          </m:r>
                        </m:oMath>
                      </m:oMathPara>
                    </a14:m>
                    <a:endParaRPr lang="en-US" altLang="zh-CN" b="1" i="1">
                      <a:solidFill>
                        <a:schemeClr val="accent2">
                          <a:lumMod val="50000"/>
                        </a:schemeClr>
                      </a:solidFill>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𝟎</m:t>
                          </m:r>
                        </m:oMath>
                      </m:oMathPara>
                    </a14:m>
                    <a:endParaRPr lang="en-US" altLang="zh-CN" b="1">
                      <a:solidFill>
                        <a:schemeClr val="accent2">
                          <a:lumMod val="50000"/>
                        </a:schemeClr>
                      </a:solidFill>
                    </a:endParaRPr>
                  </a:p>
                  <a:p>
                    <a:r>
                      <a:rPr lang="zh-CN" altLang="en-US" b="1">
                        <a:solidFill>
                          <a:schemeClr val="accent2">
                            <a:lumMod val="50000"/>
                          </a:schemeClr>
                        </a:solidFill>
                      </a:rPr>
                      <a:t>列线性方程组</a:t>
                    </a:r>
                    <a:endParaRPr lang="zh-CN" altLang="en-US" b="1">
                      <a:solidFill>
                        <a:schemeClr val="accent2">
                          <a:lumMod val="50000"/>
                        </a:schemeClr>
                      </a:solidFill>
                    </a:endParaRPr>
                  </a:p>
                </p:txBody>
              </p:sp>
            </mc:Choice>
            <mc:Fallback>
              <p:sp>
                <p:nvSpPr>
                  <p:cNvPr id="35" name="文本框 34"/>
                  <p:cNvSpPr txBox="1">
                    <a:spLocks noRot="1" noChangeAspect="1" noMove="1" noResize="1" noEditPoints="1" noAdjustHandles="1" noChangeArrowheads="1" noChangeShapeType="1" noTextEdit="1"/>
                  </p:cNvSpPr>
                  <p:nvPr/>
                </p:nvSpPr>
                <p:spPr>
                  <a:xfrm>
                    <a:off x="5665610" y="3730131"/>
                    <a:ext cx="1373791" cy="1107996"/>
                  </a:xfrm>
                  <a:prstGeom prst="rect">
                    <a:avLst/>
                  </a:prstGeom>
                  <a:blipFill rotWithShape="1">
                    <a:blip r:embed="rId1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6" name="文本框 35"/>
                  <p:cNvSpPr txBox="1"/>
                  <p:nvPr/>
                </p:nvSpPr>
                <p:spPr>
                  <a:xfrm>
                    <a:off x="7595164" y="4787266"/>
                    <a:ext cx="3235486" cy="276999"/>
                  </a:xfrm>
                  <a:prstGeom prst="rect">
                    <a:avLst/>
                  </a:prstGeom>
                  <a:solidFill>
                    <a:schemeClr val="accent4">
                      <a:lumMod val="20000"/>
                      <a:lumOff val="80000"/>
                    </a:schemeClr>
                  </a:solidFill>
                </p:spPr>
                <p:txBody>
                  <a:bodyPr wrap="square" lIns="0" tIns="0" rIns="0" bIns="0" rtlCol="0">
                    <a:spAutoFit/>
                  </a:bodyPr>
                  <a:lstStyle/>
                  <a:p>
                    <a:r>
                      <a:rPr lang="zh-CN" altLang="en-US" b="1">
                        <a:solidFill>
                          <a:schemeClr val="accent2">
                            <a:lumMod val="50000"/>
                          </a:schemeClr>
                        </a:solidFill>
                      </a:rPr>
                      <a:t>求解线性方程组得到</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𝜷</m:t>
                            </m:r>
                          </m:e>
                          <m:sub>
                            <m:r>
                              <a:rPr lang="en-US" altLang="zh-CN" b="1" i="1" smtClean="0">
                                <a:solidFill>
                                  <a:schemeClr val="accent2">
                                    <a:lumMod val="50000"/>
                                  </a:schemeClr>
                                </a:solidFill>
                                <a:latin typeface="Cambria Math" panose="02040503050406030204" pitchFamily="18" charset="0"/>
                              </a:rPr>
                              <m:t>𝟐</m:t>
                            </m:r>
                          </m:sub>
                        </m:sSub>
                      </m:oMath>
                    </a14:m>
                    <a:r>
                      <a:rPr lang="zh-CN" altLang="en-US" b="1">
                        <a:solidFill>
                          <a:schemeClr val="accent2">
                            <a:lumMod val="50000"/>
                          </a:schemeClr>
                        </a:solidFill>
                      </a:rPr>
                      <a:t>的值</a:t>
                    </a:r>
                    <a:endParaRPr lang="zh-CN" altLang="en-US" b="1">
                      <a:solidFill>
                        <a:schemeClr val="accent2">
                          <a:lumMod val="50000"/>
                        </a:schemeClr>
                      </a:solidFill>
                    </a:endParaRPr>
                  </a:p>
                </p:txBody>
              </p:sp>
            </mc:Choice>
            <mc:Fallback>
              <p:sp>
                <p:nvSpPr>
                  <p:cNvPr id="36" name="文本框 35"/>
                  <p:cNvSpPr txBox="1">
                    <a:spLocks noRot="1" noChangeAspect="1" noMove="1" noResize="1" noEditPoints="1" noAdjustHandles="1" noChangeArrowheads="1" noChangeShapeType="1" noTextEdit="1"/>
                  </p:cNvSpPr>
                  <p:nvPr/>
                </p:nvSpPr>
                <p:spPr>
                  <a:xfrm>
                    <a:off x="7595164" y="4787266"/>
                    <a:ext cx="3235486" cy="276999"/>
                  </a:xfrm>
                  <a:prstGeom prst="rect">
                    <a:avLst/>
                  </a:prstGeom>
                  <a:blipFill rotWithShape="1">
                    <a:blip r:embed="rId12"/>
                  </a:blipFill>
                </p:spPr>
                <p:txBody>
                  <a:bodyPr/>
                  <a:lstStyle/>
                  <a:p>
                    <a:r>
                      <a:rPr lang="zh-CN" altLang="en-US">
                        <a:noFill/>
                      </a:rPr>
                      <a:t> </a:t>
                    </a:r>
                  </a:p>
                </p:txBody>
              </p:sp>
            </mc:Fallback>
          </mc:AlternateContent>
        </p:grpSp>
      </p:grpSp>
      <p:grpSp>
        <p:nvGrpSpPr>
          <p:cNvPr id="3" name="组合 2"/>
          <p:cNvGrpSpPr/>
          <p:nvPr/>
        </p:nvGrpSpPr>
        <p:grpSpPr>
          <a:xfrm>
            <a:off x="1333225" y="3154303"/>
            <a:ext cx="9527742" cy="454699"/>
            <a:chOff x="1333225" y="3154303"/>
            <a:chExt cx="9527742" cy="454699"/>
          </a:xfrm>
        </p:grpSpPr>
        <p:sp>
          <p:nvSpPr>
            <p:cNvPr id="44" name="矩形 43"/>
            <p:cNvSpPr/>
            <p:nvPr/>
          </p:nvSpPr>
          <p:spPr>
            <a:xfrm>
              <a:off x="1333225" y="3154303"/>
              <a:ext cx="9527742" cy="454699"/>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p:nvGrpSpPr>
          <p:grpSpPr>
            <a:xfrm>
              <a:off x="1383388" y="3205989"/>
              <a:ext cx="9425221" cy="381071"/>
              <a:chOff x="1214142" y="3205872"/>
              <a:chExt cx="9425221" cy="381071"/>
            </a:xfrm>
          </p:grpSpPr>
          <mc:AlternateContent xmlns:mc="http://schemas.openxmlformats.org/markup-compatibility/2006">
            <mc:Choice xmlns:a14="http://schemas.microsoft.com/office/drawing/2010/main" Requires="a14">
              <p:sp>
                <p:nvSpPr>
                  <p:cNvPr id="24" name="文本框 23"/>
                  <p:cNvSpPr txBox="1"/>
                  <p:nvPr/>
                </p:nvSpPr>
                <p:spPr>
                  <a:xfrm>
                    <a:off x="1214142" y="3205872"/>
                    <a:ext cx="4877080" cy="375552"/>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𝒑</m:t>
                              </m:r>
                            </m:e>
                            <m:sub>
                              <m:r>
                                <a:rPr lang="en-US" altLang="zh-CN" b="1" i="1" smtClean="0">
                                  <a:solidFill>
                                    <a:schemeClr val="accent2">
                                      <a:lumMod val="50000"/>
                                    </a:schemeClr>
                                  </a:solidFill>
                                  <a:latin typeface="Cambria Math" panose="02040503050406030204" pitchFamily="18" charset="0"/>
                                </a:rPr>
                                <m:t>𝟎</m:t>
                              </m:r>
                            </m:sub>
                          </m:sSub>
                          <m:r>
                            <a:rPr lang="en-US" altLang="zh-CN" b="1" i="1" smtClean="0">
                              <a:solidFill>
                                <a:schemeClr val="accent2">
                                  <a:lumMod val="50000"/>
                                </a:schemeClr>
                              </a:solidFill>
                              <a:latin typeface="Cambria Math" panose="02040503050406030204" pitchFamily="18" charset="0"/>
                            </a:rPr>
                            <m:t>⋅</m:t>
                          </m:r>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𝟑</m:t>
                              </m:r>
                            </m:e>
                            <m:sup>
                              <m:r>
                                <a:rPr lang="en-US" altLang="zh-CN" b="1" i="1" smtClean="0">
                                  <a:solidFill>
                                    <a:schemeClr val="accent2">
                                      <a:lumMod val="50000"/>
                                    </a:schemeClr>
                                  </a:solidFill>
                                  <a:latin typeface="Cambria Math" panose="02040503050406030204" pitchFamily="18" charset="0"/>
                                </a:rPr>
                                <m:t>𝒏</m:t>
                              </m:r>
                            </m:sup>
                          </m:sSup>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𝟐</m:t>
                          </m:r>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𝒑</m:t>
                              </m:r>
                            </m:e>
                            <m:sub>
                              <m:r>
                                <a:rPr lang="en-US" altLang="zh-CN" b="1" i="1" smtClean="0">
                                  <a:solidFill>
                                    <a:schemeClr val="accent2">
                                      <a:lumMod val="50000"/>
                                    </a:schemeClr>
                                  </a:solidFill>
                                  <a:latin typeface="Cambria Math" panose="02040503050406030204" pitchFamily="18" charset="0"/>
                                </a:rPr>
                                <m:t>𝟎</m:t>
                              </m:r>
                            </m:sub>
                          </m:sSub>
                          <m:r>
                            <a:rPr lang="en-US" altLang="zh-CN" b="1" i="1" smtClean="0">
                              <a:solidFill>
                                <a:schemeClr val="accent2">
                                  <a:lumMod val="50000"/>
                                </a:schemeClr>
                              </a:solidFill>
                              <a:latin typeface="Cambria Math" panose="02040503050406030204" pitchFamily="18" charset="0"/>
                            </a:rPr>
                            <m:t>⋅</m:t>
                          </m:r>
                          <m:sSup>
                            <m:sSupPr>
                              <m:ctrlPr>
                                <a:rPr lang="en-US" altLang="zh-CN" b="1" i="1" smtClean="0">
                                  <a:solidFill>
                                    <a:schemeClr val="accent2">
                                      <a:lumMod val="50000"/>
                                    </a:schemeClr>
                                  </a:solidFill>
                                  <a:latin typeface="Cambria Math" panose="02040503050406030204" pitchFamily="18" charset="0"/>
                                </a:rPr>
                              </m:ctrlPr>
                            </m:sSupPr>
                            <m:e>
                              <m:r>
                                <a:rPr lang="en-US" altLang="zh-CN" b="1" i="1">
                                  <a:solidFill>
                                    <a:schemeClr val="accent2">
                                      <a:lumMod val="50000"/>
                                    </a:schemeClr>
                                  </a:solidFill>
                                  <a:latin typeface="Cambria Math" panose="02040503050406030204" pitchFamily="18" charset="0"/>
                                </a:rPr>
                                <m:t>𝟑</m:t>
                              </m:r>
                            </m:e>
                            <m:sup>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sup>
                          </m:sSup>
                          <m:r>
                            <a:rPr lang="en-US" altLang="zh-CN" b="1" i="1">
                              <a:solidFill>
                                <a:schemeClr val="accent2">
                                  <a:lumMod val="50000"/>
                                </a:schemeClr>
                              </a:solidFill>
                              <a:latin typeface="Cambria Math" panose="02040503050406030204" pitchFamily="18" charset="0"/>
                            </a:rPr>
                            <m:t>+ </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𝒑</m:t>
                              </m:r>
                            </m:e>
                            <m:sub>
                              <m:r>
                                <a:rPr lang="en-US" altLang="zh-CN" b="1" i="1">
                                  <a:solidFill>
                                    <a:schemeClr val="accent2">
                                      <a:lumMod val="50000"/>
                                    </a:schemeClr>
                                  </a:solidFill>
                                  <a:latin typeface="Cambria Math" panose="02040503050406030204" pitchFamily="18" charset="0"/>
                                </a:rPr>
                                <m:t>𝟎</m:t>
                              </m:r>
                            </m:sub>
                          </m:sSub>
                          <m:r>
                            <a:rPr lang="en-US" altLang="zh-CN" b="1" i="1">
                              <a:solidFill>
                                <a:schemeClr val="accent2">
                                  <a:lumMod val="50000"/>
                                </a:schemeClr>
                              </a:solidFill>
                              <a:latin typeface="Cambria Math" panose="02040503050406030204" pitchFamily="18" charset="0"/>
                            </a:rPr>
                            <m:t>⋅</m:t>
                          </m:r>
                          <m:sSup>
                            <m:sSupPr>
                              <m:ctrlPr>
                                <a:rPr lang="en-US" altLang="zh-CN" b="1" i="1" smtClean="0">
                                  <a:solidFill>
                                    <a:schemeClr val="accent2">
                                      <a:lumMod val="50000"/>
                                    </a:schemeClr>
                                  </a:solidFill>
                                  <a:latin typeface="Cambria Math" panose="02040503050406030204" pitchFamily="18" charset="0"/>
                                </a:rPr>
                              </m:ctrlPr>
                            </m:sSupPr>
                            <m:e>
                              <m:r>
                                <a:rPr lang="en-US" altLang="zh-CN" b="1" i="1">
                                  <a:solidFill>
                                    <a:schemeClr val="accent2">
                                      <a:lumMod val="50000"/>
                                    </a:schemeClr>
                                  </a:solidFill>
                                  <a:latin typeface="Cambria Math" panose="02040503050406030204" pitchFamily="18" charset="0"/>
                                </a:rPr>
                                <m:t>𝟑</m:t>
                              </m:r>
                            </m:e>
                            <m:sup>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𝟐</m:t>
                              </m:r>
                            </m:sup>
                          </m:sSup>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𝟐</m:t>
                          </m:r>
                          <m:r>
                            <a:rPr lang="en-US" altLang="zh-CN" b="1" i="1">
                              <a:solidFill>
                                <a:schemeClr val="accent2">
                                  <a:lumMod val="50000"/>
                                </a:schemeClr>
                              </a:solidFill>
                              <a:latin typeface="Cambria Math" panose="02040503050406030204" pitchFamily="18" charset="0"/>
                            </a:rPr>
                            <m:t>⋅</m:t>
                          </m:r>
                          <m:sSup>
                            <m:sSupPr>
                              <m:ctrlPr>
                                <a:rPr lang="en-US" altLang="zh-CN" b="1" i="1" smtClean="0">
                                  <a:solidFill>
                                    <a:schemeClr val="accent2">
                                      <a:lumMod val="50000"/>
                                    </a:schemeClr>
                                  </a:solidFill>
                                  <a:latin typeface="Cambria Math" panose="02040503050406030204" pitchFamily="18" charset="0"/>
                                </a:rPr>
                              </m:ctrlPr>
                            </m:sSupPr>
                            <m:e>
                              <m:r>
                                <a:rPr lang="en-US" altLang="zh-CN" b="1" i="1">
                                  <a:solidFill>
                                    <a:schemeClr val="accent2">
                                      <a:lumMod val="50000"/>
                                    </a:schemeClr>
                                  </a:solidFill>
                                  <a:latin typeface="Cambria Math" panose="02040503050406030204" pitchFamily="18" charset="0"/>
                                </a:rPr>
                                <m:t>𝟑</m:t>
                              </m:r>
                            </m:e>
                            <m:sup>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𝟐</m:t>
                              </m:r>
                            </m:sup>
                          </m:sSup>
                        </m:oMath>
                      </m:oMathPara>
                    </a14:m>
                    <a:endParaRPr lang="zh-CN" altLang="en-US" b="1">
                      <a:solidFill>
                        <a:schemeClr val="accent2">
                          <a:lumMod val="50000"/>
                        </a:schemeClr>
                      </a:solidFill>
                    </a:endParaRPr>
                  </a:p>
                </p:txBody>
              </p:sp>
            </mc:Choice>
            <mc:Fallback>
              <p:sp>
                <p:nvSpPr>
                  <p:cNvPr id="24" name="文本框 23"/>
                  <p:cNvSpPr txBox="1">
                    <a:spLocks noRot="1" noChangeAspect="1" noMove="1" noResize="1" noEditPoints="1" noAdjustHandles="1" noChangeArrowheads="1" noChangeShapeType="1" noTextEdit="1"/>
                  </p:cNvSpPr>
                  <p:nvPr/>
                </p:nvSpPr>
                <p:spPr>
                  <a:xfrm>
                    <a:off x="1214142" y="3205872"/>
                    <a:ext cx="4877080" cy="375552"/>
                  </a:xfrm>
                  <a:prstGeom prst="rect">
                    <a:avLst/>
                  </a:prstGeom>
                  <a:blipFill rotWithShape="1">
                    <a:blip r:embed="rId1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文本框 24"/>
                  <p:cNvSpPr txBox="1"/>
                  <p:nvPr/>
                </p:nvSpPr>
                <p:spPr>
                  <a:xfrm>
                    <a:off x="9691620" y="3217611"/>
                    <a:ext cx="947743" cy="369332"/>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𝒑</m:t>
                              </m:r>
                            </m:e>
                            <m:sub>
                              <m:r>
                                <a:rPr lang="en-US" altLang="zh-CN" b="1" i="1" smtClean="0">
                                  <a:solidFill>
                                    <a:schemeClr val="accent2">
                                      <a:lumMod val="50000"/>
                                    </a:schemeClr>
                                  </a:solidFill>
                                  <a:latin typeface="Cambria Math" panose="02040503050406030204" pitchFamily="18" charset="0"/>
                                </a:rPr>
                                <m:t>𝟎</m:t>
                              </m:r>
                            </m:sub>
                          </m:sSub>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𝟏</m:t>
                          </m:r>
                        </m:oMath>
                      </m:oMathPara>
                    </a14:m>
                    <a:endParaRPr lang="zh-CN" altLang="en-US" b="1">
                      <a:solidFill>
                        <a:schemeClr val="accent2">
                          <a:lumMod val="50000"/>
                        </a:schemeClr>
                      </a:solidFill>
                    </a:endParaRPr>
                  </a:p>
                </p:txBody>
              </p:sp>
            </mc:Choice>
            <mc:Fallback>
              <p:sp>
                <p:nvSpPr>
                  <p:cNvPr id="25" name="文本框 24"/>
                  <p:cNvSpPr txBox="1">
                    <a:spLocks noRot="1" noChangeAspect="1" noMove="1" noResize="1" noEditPoints="1" noAdjustHandles="1" noChangeArrowheads="1" noChangeShapeType="1" noTextEdit="1"/>
                  </p:cNvSpPr>
                  <p:nvPr/>
                </p:nvSpPr>
                <p:spPr>
                  <a:xfrm>
                    <a:off x="9691620" y="3217611"/>
                    <a:ext cx="947743" cy="369332"/>
                  </a:xfrm>
                  <a:prstGeom prst="rect">
                    <a:avLst/>
                  </a:prstGeom>
                  <a:blipFill rotWithShape="1">
                    <a:blip r:embed="rId1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文本框 37"/>
                  <p:cNvSpPr txBox="1"/>
                  <p:nvPr/>
                </p:nvSpPr>
                <p:spPr>
                  <a:xfrm>
                    <a:off x="6701380" y="3216441"/>
                    <a:ext cx="2380081" cy="369332"/>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nn-NO" altLang="zh-CN" b="1" i="1" smtClean="0">
                              <a:solidFill>
                                <a:schemeClr val="accent2">
                                  <a:lumMod val="50000"/>
                                </a:schemeClr>
                              </a:solidFill>
                              <a:latin typeface="Cambria Math" panose="02040503050406030204" pitchFamily="18" charset="0"/>
                            </a:rPr>
                            <m:t>𝟗</m:t>
                          </m:r>
                          <m:sSub>
                            <m:sSubPr>
                              <m:ctrlPr>
                                <a:rPr lang="nn-NO" altLang="zh-CN" b="1" i="1" smtClean="0">
                                  <a:solidFill>
                                    <a:schemeClr val="accent2">
                                      <a:lumMod val="50000"/>
                                    </a:schemeClr>
                                  </a:solidFill>
                                  <a:latin typeface="Cambria Math" panose="02040503050406030204" pitchFamily="18" charset="0"/>
                                </a:rPr>
                              </m:ctrlPr>
                            </m:sSubPr>
                            <m:e>
                              <m:r>
                                <a:rPr lang="nn-NO" altLang="zh-CN" b="1" i="1" smtClean="0">
                                  <a:solidFill>
                                    <a:schemeClr val="accent2">
                                      <a:lumMod val="50000"/>
                                    </a:schemeClr>
                                  </a:solidFill>
                                  <a:latin typeface="Cambria Math" panose="02040503050406030204" pitchFamily="18" charset="0"/>
                                </a:rPr>
                                <m:t>𝒑</m:t>
                              </m:r>
                            </m:e>
                            <m:sub>
                              <m:r>
                                <a:rPr lang="nn-NO" altLang="zh-CN" b="1" i="1" smtClean="0">
                                  <a:solidFill>
                                    <a:schemeClr val="accent2">
                                      <a:lumMod val="50000"/>
                                    </a:schemeClr>
                                  </a:solidFill>
                                  <a:latin typeface="Cambria Math" panose="02040503050406030204" pitchFamily="18" charset="0"/>
                                </a:rPr>
                                <m:t>𝟎</m:t>
                              </m:r>
                            </m:sub>
                          </m:sSub>
                          <m:r>
                            <a:rPr lang="nn-NO" altLang="zh-CN" b="1" i="1" smtClean="0">
                              <a:solidFill>
                                <a:schemeClr val="accent2">
                                  <a:lumMod val="50000"/>
                                </a:schemeClr>
                              </a:solidFill>
                              <a:latin typeface="Cambria Math" panose="02040503050406030204" pitchFamily="18" charset="0"/>
                            </a:rPr>
                            <m:t>= </m:t>
                          </m:r>
                          <m:r>
                            <a:rPr lang="nn-NO" altLang="zh-CN" b="1" i="1" smtClean="0">
                              <a:solidFill>
                                <a:schemeClr val="accent2">
                                  <a:lumMod val="50000"/>
                                </a:schemeClr>
                              </a:solidFill>
                              <a:latin typeface="Cambria Math" panose="02040503050406030204" pitchFamily="18" charset="0"/>
                            </a:rPr>
                            <m:t>𝟔</m:t>
                          </m:r>
                          <m:sSub>
                            <m:sSubPr>
                              <m:ctrlPr>
                                <a:rPr lang="nn-NO" altLang="zh-CN" b="1" i="1" smtClean="0">
                                  <a:solidFill>
                                    <a:schemeClr val="accent2">
                                      <a:lumMod val="50000"/>
                                    </a:schemeClr>
                                  </a:solidFill>
                                  <a:latin typeface="Cambria Math" panose="02040503050406030204" pitchFamily="18" charset="0"/>
                                </a:rPr>
                              </m:ctrlPr>
                            </m:sSubPr>
                            <m:e>
                              <m:r>
                                <a:rPr lang="nn-NO" altLang="zh-CN" b="1" i="1" smtClean="0">
                                  <a:solidFill>
                                    <a:schemeClr val="accent2">
                                      <a:lumMod val="50000"/>
                                    </a:schemeClr>
                                  </a:solidFill>
                                  <a:latin typeface="Cambria Math" panose="02040503050406030204" pitchFamily="18" charset="0"/>
                                </a:rPr>
                                <m:t>𝒑</m:t>
                              </m:r>
                            </m:e>
                            <m:sub>
                              <m:r>
                                <a:rPr lang="nn-NO" altLang="zh-CN" b="1" i="1" smtClean="0">
                                  <a:solidFill>
                                    <a:schemeClr val="accent2">
                                      <a:lumMod val="50000"/>
                                    </a:schemeClr>
                                  </a:solidFill>
                                  <a:latin typeface="Cambria Math" panose="02040503050406030204" pitchFamily="18" charset="0"/>
                                </a:rPr>
                                <m:t>𝟎</m:t>
                              </m:r>
                            </m:sub>
                          </m:sSub>
                          <m:r>
                            <a:rPr lang="nn-NO" altLang="zh-CN" b="1" i="1" smtClean="0">
                              <a:solidFill>
                                <a:schemeClr val="accent2">
                                  <a:lumMod val="50000"/>
                                </a:schemeClr>
                              </a:solidFill>
                              <a:latin typeface="Cambria Math" panose="02040503050406030204" pitchFamily="18" charset="0"/>
                            </a:rPr>
                            <m:t>+ </m:t>
                          </m:r>
                          <m:sSub>
                            <m:sSubPr>
                              <m:ctrlPr>
                                <a:rPr lang="nn-NO" altLang="zh-CN" b="1" i="1" smtClean="0">
                                  <a:solidFill>
                                    <a:schemeClr val="accent2">
                                      <a:lumMod val="50000"/>
                                    </a:schemeClr>
                                  </a:solidFill>
                                  <a:latin typeface="Cambria Math" panose="02040503050406030204" pitchFamily="18" charset="0"/>
                                </a:rPr>
                              </m:ctrlPr>
                            </m:sSubPr>
                            <m:e>
                              <m:r>
                                <a:rPr lang="nn-NO" altLang="zh-CN" b="1" i="1" smtClean="0">
                                  <a:solidFill>
                                    <a:schemeClr val="accent2">
                                      <a:lumMod val="50000"/>
                                    </a:schemeClr>
                                  </a:solidFill>
                                  <a:latin typeface="Cambria Math" panose="02040503050406030204" pitchFamily="18" charset="0"/>
                                </a:rPr>
                                <m:t>𝒑</m:t>
                              </m:r>
                            </m:e>
                            <m:sub>
                              <m:r>
                                <a:rPr lang="nn-NO" altLang="zh-CN" b="1" i="1" smtClean="0">
                                  <a:solidFill>
                                    <a:schemeClr val="accent2">
                                      <a:lumMod val="50000"/>
                                    </a:schemeClr>
                                  </a:solidFill>
                                  <a:latin typeface="Cambria Math" panose="02040503050406030204" pitchFamily="18" charset="0"/>
                                </a:rPr>
                                <m:t>𝟎</m:t>
                              </m:r>
                            </m:sub>
                          </m:sSub>
                          <m:r>
                            <a:rPr lang="nn-NO" altLang="zh-CN" b="1" i="1" smtClean="0">
                              <a:solidFill>
                                <a:schemeClr val="accent2">
                                  <a:lumMod val="50000"/>
                                </a:schemeClr>
                              </a:solidFill>
                              <a:latin typeface="Cambria Math" panose="02040503050406030204" pitchFamily="18" charset="0"/>
                            </a:rPr>
                            <m:t>+ </m:t>
                          </m:r>
                          <m:r>
                            <a:rPr lang="nn-NO" altLang="zh-CN" b="1" i="1" smtClean="0">
                              <a:solidFill>
                                <a:schemeClr val="accent2">
                                  <a:lumMod val="50000"/>
                                </a:schemeClr>
                              </a:solidFill>
                              <a:latin typeface="Cambria Math" panose="02040503050406030204" pitchFamily="18" charset="0"/>
                            </a:rPr>
                            <m:t>𝟐</m:t>
                          </m:r>
                        </m:oMath>
                      </m:oMathPara>
                    </a14:m>
                    <a:endParaRPr lang="zh-CN" altLang="en-US" b="1">
                      <a:solidFill>
                        <a:schemeClr val="accent2">
                          <a:lumMod val="50000"/>
                        </a:schemeClr>
                      </a:solidFill>
                    </a:endParaRPr>
                  </a:p>
                </p:txBody>
              </p:sp>
            </mc:Choice>
            <mc:Fallback>
              <p:sp>
                <p:nvSpPr>
                  <p:cNvPr id="38" name="文本框 37"/>
                  <p:cNvSpPr txBox="1">
                    <a:spLocks noRot="1" noChangeAspect="1" noMove="1" noResize="1" noEditPoints="1" noAdjustHandles="1" noChangeArrowheads="1" noChangeShapeType="1" noTextEdit="1"/>
                  </p:cNvSpPr>
                  <p:nvPr/>
                </p:nvSpPr>
                <p:spPr>
                  <a:xfrm>
                    <a:off x="6701380" y="3216441"/>
                    <a:ext cx="2380081" cy="369332"/>
                  </a:xfrm>
                  <a:prstGeom prst="rect">
                    <a:avLst/>
                  </a:prstGeom>
                  <a:blipFill rotWithShape="1">
                    <a:blip r:embed="rId15"/>
                  </a:blipFill>
                </p:spPr>
                <p:txBody>
                  <a:bodyPr/>
                  <a:lstStyle/>
                  <a:p>
                    <a:r>
                      <a:rPr lang="zh-CN" altLang="en-US">
                        <a:noFill/>
                      </a:rPr>
                      <a:t> </a:t>
                    </a:r>
                  </a:p>
                </p:txBody>
              </p:sp>
            </mc:Fallback>
          </mc:AlternateContent>
          <p:sp>
            <p:nvSpPr>
              <p:cNvPr id="39" name="箭头: 右 38"/>
              <p:cNvSpPr/>
              <p:nvPr/>
            </p:nvSpPr>
            <p:spPr>
              <a:xfrm>
                <a:off x="6100780" y="3377360"/>
                <a:ext cx="569735"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箭头: 右 39"/>
              <p:cNvSpPr/>
              <p:nvPr/>
            </p:nvSpPr>
            <p:spPr>
              <a:xfrm>
                <a:off x="9081461" y="3380632"/>
                <a:ext cx="610158"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47" name="箭头: 下 46"/>
          <p:cNvSpPr/>
          <p:nvPr/>
        </p:nvSpPr>
        <p:spPr>
          <a:xfrm>
            <a:off x="6095998" y="2308366"/>
            <a:ext cx="100871" cy="1989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箭头: 下 47"/>
          <p:cNvSpPr/>
          <p:nvPr/>
        </p:nvSpPr>
        <p:spPr>
          <a:xfrm>
            <a:off x="6089420" y="3005568"/>
            <a:ext cx="107449" cy="1729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下 48"/>
          <p:cNvSpPr/>
          <p:nvPr/>
        </p:nvSpPr>
        <p:spPr>
          <a:xfrm>
            <a:off x="6102577" y="3609002"/>
            <a:ext cx="94292" cy="1645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4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线性递推关系式求解</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线性非齐次递推关系式求解举例（二）</a:t>
            </a:r>
            <a:endParaRPr lang="zh-CN" altLang="en-US"/>
          </a:p>
        </p:txBody>
      </p:sp>
      <mc:AlternateContent xmlns:mc="http://schemas.openxmlformats.org/markup-compatibility/2006">
        <mc:Choice xmlns:a14="http://schemas.microsoft.com/office/drawing/2010/main" Requires="a14">
          <p:sp>
            <p:nvSpPr>
              <p:cNvPr id="14" name="文本框 13"/>
              <p:cNvSpPr txBox="1"/>
              <p:nvPr/>
            </p:nvSpPr>
            <p:spPr>
              <a:xfrm>
                <a:off x="624500" y="1216822"/>
                <a:ext cx="10137341" cy="470000"/>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求解线性非齐次递推关系式</a:t>
                </a:r>
                <a14:m>
                  <m:oMath xmlns:m="http://schemas.openxmlformats.org/officeDocument/2006/math">
                    <m:sSub>
                      <m:sSubPr>
                        <m:ctrlPr>
                          <a:rPr lang="pt-BR" altLang="zh-CN" sz="2400" b="1" i="1" smtClean="0">
                            <a:solidFill>
                              <a:srgbClr val="002060"/>
                            </a:solidFill>
                            <a:latin typeface="Cambria Math" panose="02040503050406030204" pitchFamily="18" charset="0"/>
                          </a:rPr>
                        </m:ctrlPr>
                      </m:sSubPr>
                      <m:e>
                        <m:r>
                          <a:rPr lang="pt-BR" altLang="zh-CN" sz="2400" b="1" i="1">
                            <a:solidFill>
                              <a:srgbClr val="002060"/>
                            </a:solidFill>
                            <a:latin typeface="Cambria Math" panose="02040503050406030204" pitchFamily="18" charset="0"/>
                          </a:rPr>
                          <m:t>𝒂</m:t>
                        </m:r>
                      </m:e>
                      <m:sub>
                        <m:r>
                          <a:rPr lang="pt-BR" altLang="zh-CN" sz="2400" b="1" i="1">
                            <a:solidFill>
                              <a:srgbClr val="002060"/>
                            </a:solidFill>
                            <a:latin typeface="Cambria Math" panose="02040503050406030204" pitchFamily="18" charset="0"/>
                          </a:rPr>
                          <m:t>𝒏</m:t>
                        </m:r>
                      </m:sub>
                    </m:sSub>
                    <m:r>
                      <a:rPr lang="pt-BR" altLang="zh-CN" sz="2400" b="1" i="1">
                        <a:solidFill>
                          <a:srgbClr val="002060"/>
                        </a:solidFill>
                        <a:latin typeface="Cambria Math" panose="02040503050406030204" pitchFamily="18" charset="0"/>
                      </a:rPr>
                      <m:t>= </m:t>
                    </m:r>
                    <m:r>
                      <a:rPr lang="pt-BR" altLang="zh-CN" sz="2400" b="1" i="1">
                        <a:solidFill>
                          <a:srgbClr val="002060"/>
                        </a:solidFill>
                        <a:latin typeface="Cambria Math" panose="02040503050406030204" pitchFamily="18" charset="0"/>
                      </a:rPr>
                      <m:t>𝟐</m:t>
                    </m:r>
                    <m:sSub>
                      <m:sSubPr>
                        <m:ctrlPr>
                          <a:rPr lang="pt-BR" altLang="zh-CN" sz="2400" b="1" i="1">
                            <a:solidFill>
                              <a:srgbClr val="002060"/>
                            </a:solidFill>
                            <a:latin typeface="Cambria Math" panose="02040503050406030204" pitchFamily="18" charset="0"/>
                          </a:rPr>
                        </m:ctrlPr>
                      </m:sSubPr>
                      <m:e>
                        <m:r>
                          <a:rPr lang="pt-BR" altLang="zh-CN" sz="2400" b="1" i="1">
                            <a:solidFill>
                              <a:srgbClr val="002060"/>
                            </a:solidFill>
                            <a:latin typeface="Cambria Math" panose="02040503050406030204" pitchFamily="18" charset="0"/>
                          </a:rPr>
                          <m:t>𝒂</m:t>
                        </m:r>
                      </m:e>
                      <m:sub>
                        <m:r>
                          <a:rPr lang="pt-BR" altLang="zh-CN" sz="2400" b="1" i="1">
                            <a:solidFill>
                              <a:srgbClr val="002060"/>
                            </a:solidFill>
                            <a:latin typeface="Cambria Math" panose="02040503050406030204" pitchFamily="18" charset="0"/>
                          </a:rPr>
                          <m:t>𝒏</m:t>
                        </m:r>
                        <m:r>
                          <a:rPr lang="pt-BR" altLang="zh-CN" sz="2400" b="1" i="1">
                            <a:solidFill>
                              <a:srgbClr val="002060"/>
                            </a:solidFill>
                            <a:latin typeface="Cambria Math" panose="02040503050406030204" pitchFamily="18" charset="0"/>
                          </a:rPr>
                          <m:t>−</m:t>
                        </m:r>
                        <m:r>
                          <a:rPr lang="pt-BR" altLang="zh-CN" sz="2400" b="1" i="1">
                            <a:solidFill>
                              <a:srgbClr val="002060"/>
                            </a:solidFill>
                            <a:latin typeface="Cambria Math" panose="02040503050406030204" pitchFamily="18" charset="0"/>
                          </a:rPr>
                          <m:t>𝟏</m:t>
                        </m:r>
                      </m:sub>
                    </m:sSub>
                    <m:r>
                      <a:rPr lang="pt-BR" altLang="zh-CN" sz="2400" b="1" i="1">
                        <a:solidFill>
                          <a:srgbClr val="002060"/>
                        </a:solidFill>
                        <a:latin typeface="Cambria Math" panose="02040503050406030204" pitchFamily="18" charset="0"/>
                      </a:rPr>
                      <m:t>+</m:t>
                    </m:r>
                    <m:r>
                      <a:rPr lang="pt-BR" altLang="zh-CN" sz="2400" b="1" i="1">
                        <a:solidFill>
                          <a:srgbClr val="002060"/>
                        </a:solidFill>
                        <a:latin typeface="Cambria Math" panose="02040503050406030204" pitchFamily="18" charset="0"/>
                      </a:rPr>
                      <m:t>𝟐</m:t>
                    </m:r>
                    <m:sSup>
                      <m:sSupPr>
                        <m:ctrlPr>
                          <a:rPr lang="pt-BR" altLang="zh-CN" sz="2400" b="1" i="1">
                            <a:solidFill>
                              <a:srgbClr val="002060"/>
                            </a:solidFill>
                            <a:latin typeface="Cambria Math" panose="02040503050406030204" pitchFamily="18" charset="0"/>
                          </a:rPr>
                        </m:ctrlPr>
                      </m:sSupPr>
                      <m:e>
                        <m:r>
                          <a:rPr lang="pt-BR" altLang="zh-CN" sz="2400" b="1" i="1">
                            <a:solidFill>
                              <a:srgbClr val="002060"/>
                            </a:solidFill>
                            <a:latin typeface="Cambria Math" panose="02040503050406030204" pitchFamily="18" charset="0"/>
                          </a:rPr>
                          <m:t>𝒏</m:t>
                        </m:r>
                      </m:e>
                      <m:sup>
                        <m:r>
                          <a:rPr lang="pt-BR" altLang="zh-CN" sz="2400" b="1" i="1">
                            <a:solidFill>
                              <a:srgbClr val="002060"/>
                            </a:solidFill>
                            <a:latin typeface="Cambria Math" panose="02040503050406030204" pitchFamily="18" charset="0"/>
                          </a:rPr>
                          <m:t>𝟐</m:t>
                        </m:r>
                      </m:sup>
                    </m:sSup>
                  </m:oMath>
                </a14:m>
                <a:r>
                  <a:rPr lang="zh-CN" altLang="en-US" sz="2400" b="1">
                    <a:solidFill>
                      <a:srgbClr val="002060"/>
                    </a:solidFill>
                    <a:latin typeface="楷体" panose="02010609060101010101" pitchFamily="49" charset="-122"/>
                    <a:ea typeface="楷体" panose="02010609060101010101" pitchFamily="49" charset="-122"/>
                  </a:rPr>
                  <a:t>，</a:t>
                </a:r>
                <a14:m>
                  <m:oMath xmlns:m="http://schemas.openxmlformats.org/officeDocument/2006/math">
                    <m:sSub>
                      <m:sSubPr>
                        <m:ctrlPr>
                          <a:rPr lang="en-US" altLang="zh-CN" sz="2400" b="1" i="1">
                            <a:solidFill>
                              <a:srgbClr val="002060"/>
                            </a:solidFill>
                            <a:latin typeface="Cambria Math" panose="02040503050406030204" pitchFamily="18" charset="0"/>
                          </a:rPr>
                        </m:ctrlPr>
                      </m:sSubPr>
                      <m:e>
                        <m:r>
                          <a:rPr lang="en-US" altLang="zh-CN" sz="2400" b="1" i="1">
                            <a:solidFill>
                              <a:srgbClr val="002060"/>
                            </a:solidFill>
                            <a:latin typeface="Cambria Math" panose="02040503050406030204" pitchFamily="18" charset="0"/>
                          </a:rPr>
                          <m:t>𝒂</m:t>
                        </m:r>
                      </m:e>
                      <m:sub>
                        <m:r>
                          <a:rPr lang="en-US" altLang="zh-CN" sz="2400" b="1" i="1">
                            <a:solidFill>
                              <a:srgbClr val="002060"/>
                            </a:solidFill>
                            <a:latin typeface="Cambria Math" panose="02040503050406030204" pitchFamily="18" charset="0"/>
                          </a:rPr>
                          <m:t>𝟎</m:t>
                        </m:r>
                      </m:sub>
                    </m:sSub>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oMath>
                </a14:m>
                <a:endParaRPr lang="zh-CN" altLang="en-US" sz="2400" b="1" i="1">
                  <a:solidFill>
                    <a:srgbClr val="002060"/>
                  </a:solidFill>
                  <a:latin typeface="Cambria Math" panose="02040503050406030204" pitchFamily="18" charset="0"/>
                </a:endParaRPr>
              </a:p>
            </p:txBody>
          </p:sp>
        </mc:Choice>
        <mc:Fallback>
          <p:sp>
            <p:nvSpPr>
              <p:cNvPr id="14" name="文本框 13"/>
              <p:cNvSpPr txBox="1">
                <a:spLocks noRot="1" noChangeAspect="1" noMove="1" noResize="1" noEditPoints="1" noAdjustHandles="1" noChangeArrowheads="1" noChangeShapeType="1" noTextEdit="1"/>
              </p:cNvSpPr>
              <p:nvPr/>
            </p:nvSpPr>
            <p:spPr>
              <a:xfrm>
                <a:off x="624500" y="1216822"/>
                <a:ext cx="10137341" cy="470000"/>
              </a:xfrm>
              <a:prstGeom prst="rect">
                <a:avLst/>
              </a:prstGeom>
              <a:blipFill rotWithShape="1">
                <a:blip r:embed="rId1"/>
                <a:stretch>
                  <a:fillRect l="-3" t="-34" r="5" b="5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1332277" y="1879640"/>
                <a:ext cx="7703906" cy="400110"/>
              </a:xfrm>
              <a:prstGeom prst="rect">
                <a:avLst/>
              </a:prstGeom>
              <a:solidFill>
                <a:schemeClr val="accent4">
                  <a:lumMod val="20000"/>
                  <a:lumOff val="80000"/>
                  <a:alpha val="50000"/>
                </a:schemeClr>
              </a:solidFill>
            </p:spPr>
            <p:txBody>
              <a:bodyPr wrap="square" rtlCol="0">
                <a:spAutoFit/>
              </a:bodyPr>
              <a:lstStyle/>
              <a:p>
                <a:r>
                  <a:rPr lang="zh-CN" altLang="en-US" sz="2000" b="1">
                    <a:solidFill>
                      <a:schemeClr val="accent2">
                        <a:lumMod val="50000"/>
                      </a:schemeClr>
                    </a:solidFill>
                  </a:rPr>
                  <a:t>伴随线性齐次递推关系式是</a:t>
                </a:r>
                <a14:m>
                  <m:oMath xmlns:m="http://schemas.openxmlformats.org/officeDocument/2006/math">
                    <m:sSub>
                      <m:sSubPr>
                        <m:ctrlPr>
                          <a:rPr lang="pt-BR" altLang="zh-CN" sz="2000" b="1" i="1" smtClean="0">
                            <a:solidFill>
                              <a:schemeClr val="accent2">
                                <a:lumMod val="50000"/>
                              </a:schemeClr>
                            </a:solidFill>
                            <a:latin typeface="Cambria Math" panose="02040503050406030204" pitchFamily="18" charset="0"/>
                          </a:rPr>
                        </m:ctrlPr>
                      </m:sSubPr>
                      <m:e>
                        <m:r>
                          <a:rPr lang="pt-BR" altLang="zh-CN" sz="2000" b="1" i="1">
                            <a:solidFill>
                              <a:schemeClr val="accent2">
                                <a:lumMod val="50000"/>
                              </a:schemeClr>
                            </a:solidFill>
                            <a:latin typeface="Cambria Math" panose="02040503050406030204" pitchFamily="18" charset="0"/>
                          </a:rPr>
                          <m:t>𝒂</m:t>
                        </m:r>
                      </m:e>
                      <m:sub>
                        <m:r>
                          <a:rPr lang="pt-BR" altLang="zh-CN" sz="2000" b="1" i="1">
                            <a:solidFill>
                              <a:schemeClr val="accent2">
                                <a:lumMod val="50000"/>
                              </a:schemeClr>
                            </a:solidFill>
                            <a:latin typeface="Cambria Math" panose="02040503050406030204" pitchFamily="18" charset="0"/>
                          </a:rPr>
                          <m:t>𝒏</m:t>
                        </m:r>
                      </m:sub>
                    </m:sSub>
                    <m:r>
                      <a:rPr lang="pt-BR" altLang="zh-CN" sz="2000" b="1" i="1">
                        <a:solidFill>
                          <a:schemeClr val="accent2">
                            <a:lumMod val="50000"/>
                          </a:schemeClr>
                        </a:solidFill>
                        <a:latin typeface="Cambria Math" panose="02040503050406030204" pitchFamily="18" charset="0"/>
                      </a:rPr>
                      <m:t>= </m:t>
                    </m:r>
                    <m:r>
                      <a:rPr lang="pt-BR" altLang="zh-CN" sz="2000" b="1" i="1">
                        <a:solidFill>
                          <a:schemeClr val="accent2">
                            <a:lumMod val="50000"/>
                          </a:schemeClr>
                        </a:solidFill>
                        <a:latin typeface="Cambria Math" panose="02040503050406030204" pitchFamily="18" charset="0"/>
                      </a:rPr>
                      <m:t>𝟐</m:t>
                    </m:r>
                    <m:sSub>
                      <m:sSubPr>
                        <m:ctrlPr>
                          <a:rPr lang="pt-BR" altLang="zh-CN" sz="2000" b="1" i="1">
                            <a:solidFill>
                              <a:schemeClr val="accent2">
                                <a:lumMod val="50000"/>
                              </a:schemeClr>
                            </a:solidFill>
                            <a:latin typeface="Cambria Math" panose="02040503050406030204" pitchFamily="18" charset="0"/>
                          </a:rPr>
                        </m:ctrlPr>
                      </m:sSubPr>
                      <m:e>
                        <m:r>
                          <a:rPr lang="pt-BR" altLang="zh-CN" sz="2000" b="1" i="1">
                            <a:solidFill>
                              <a:schemeClr val="accent2">
                                <a:lumMod val="50000"/>
                              </a:schemeClr>
                            </a:solidFill>
                            <a:latin typeface="Cambria Math" panose="02040503050406030204" pitchFamily="18" charset="0"/>
                          </a:rPr>
                          <m:t>𝒂</m:t>
                        </m:r>
                      </m:e>
                      <m:sub>
                        <m:r>
                          <a:rPr lang="pt-BR" altLang="zh-CN" sz="2000" b="1" i="1">
                            <a:solidFill>
                              <a:schemeClr val="accent2">
                                <a:lumMod val="50000"/>
                              </a:schemeClr>
                            </a:solidFill>
                            <a:latin typeface="Cambria Math" panose="02040503050406030204" pitchFamily="18" charset="0"/>
                          </a:rPr>
                          <m:t>𝒏</m:t>
                        </m:r>
                        <m:r>
                          <a:rPr lang="pt-BR" altLang="zh-CN" sz="2000" b="1" i="1">
                            <a:solidFill>
                              <a:schemeClr val="accent2">
                                <a:lumMod val="50000"/>
                              </a:schemeClr>
                            </a:solidFill>
                            <a:latin typeface="Cambria Math" panose="02040503050406030204" pitchFamily="18" charset="0"/>
                          </a:rPr>
                          <m:t>−</m:t>
                        </m:r>
                        <m:r>
                          <a:rPr lang="pt-BR" altLang="zh-CN" sz="2000" b="1" i="1">
                            <a:solidFill>
                              <a:schemeClr val="accent2">
                                <a:lumMod val="50000"/>
                              </a:schemeClr>
                            </a:solidFill>
                            <a:latin typeface="Cambria Math" panose="02040503050406030204" pitchFamily="18" charset="0"/>
                          </a:rPr>
                          <m:t>𝟏</m:t>
                        </m:r>
                      </m:sub>
                    </m:sSub>
                  </m:oMath>
                </a14:m>
                <a:r>
                  <a:rPr lang="zh-CN" altLang="en-US" sz="2000" b="1">
                    <a:solidFill>
                      <a:schemeClr val="accent2">
                        <a:lumMod val="50000"/>
                      </a:schemeClr>
                    </a:solidFill>
                  </a:rPr>
                  <a:t>，特征方程是</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𝟐</m:t>
                    </m:r>
                  </m:oMath>
                </a14:m>
                <a:r>
                  <a:rPr lang="zh-CN" altLang="en-US" sz="2000" b="1">
                    <a:solidFill>
                      <a:schemeClr val="accent2">
                        <a:lumMod val="50000"/>
                      </a:schemeClr>
                    </a:solidFill>
                  </a:rPr>
                  <a:t>，根是</a:t>
                </a:r>
                <a14:m>
                  <m:oMath xmlns:m="http://schemas.openxmlformats.org/officeDocument/2006/math">
                    <m:r>
                      <a:rPr lang="en-US" altLang="zh-CN" sz="2000" b="1" i="1" smtClean="0">
                        <a:solidFill>
                          <a:srgbClr val="C00000"/>
                        </a:solidFill>
                        <a:latin typeface="Cambria Math" panose="02040503050406030204" pitchFamily="18" charset="0"/>
                      </a:rPr>
                      <m:t>𝟐</m:t>
                    </m:r>
                  </m:oMath>
                </a14:m>
                <a:endParaRPr lang="zh-CN" altLang="en-US" sz="2000" b="1">
                  <a:solidFill>
                    <a:schemeClr val="accent2">
                      <a:lumMod val="50000"/>
                    </a:schemeClr>
                  </a:solidFill>
                </a:endParaRPr>
              </a:p>
            </p:txBody>
          </p:sp>
        </mc:Choice>
        <mc:Fallback>
          <p:sp>
            <p:nvSpPr>
              <p:cNvPr id="15" name="文本框 14"/>
              <p:cNvSpPr txBox="1">
                <a:spLocks noRot="1" noChangeAspect="1" noMove="1" noResize="1" noEditPoints="1" noAdjustHandles="1" noChangeArrowheads="1" noChangeShapeType="1" noTextEdit="1"/>
              </p:cNvSpPr>
              <p:nvPr/>
            </p:nvSpPr>
            <p:spPr>
              <a:xfrm>
                <a:off x="1332277" y="1879640"/>
                <a:ext cx="7703906" cy="400110"/>
              </a:xfrm>
              <a:prstGeom prst="rect">
                <a:avLst/>
              </a:prstGeom>
              <a:blipFill rotWithShape="1">
                <a:blip r:embed="rId2"/>
                <a:stretch>
                  <a:fillRect l="-1" t="-10" r="2" b="25"/>
                </a:stretch>
              </a:blipFill>
            </p:spPr>
            <p:txBody>
              <a:bodyPr/>
              <a:lstStyle/>
              <a:p>
                <a:r>
                  <a:rPr lang="zh-CN" altLang="en-US">
                    <a:noFill/>
                  </a:rPr>
                  <a:t> </a:t>
                </a:r>
              </a:p>
            </p:txBody>
          </p:sp>
        </mc:Fallback>
      </mc:AlternateContent>
      <p:grpSp>
        <p:nvGrpSpPr>
          <p:cNvPr id="6" name="组合 5"/>
          <p:cNvGrpSpPr/>
          <p:nvPr/>
        </p:nvGrpSpPr>
        <p:grpSpPr>
          <a:xfrm>
            <a:off x="1332277" y="2604283"/>
            <a:ext cx="9527441" cy="498237"/>
            <a:chOff x="1217310" y="2511438"/>
            <a:chExt cx="9527441" cy="498237"/>
          </a:xfrm>
        </p:grpSpPr>
        <p:sp>
          <p:nvSpPr>
            <p:cNvPr id="43" name="矩形 42"/>
            <p:cNvSpPr/>
            <p:nvPr/>
          </p:nvSpPr>
          <p:spPr>
            <a:xfrm>
              <a:off x="1217310" y="2511438"/>
              <a:ext cx="9527441" cy="498237"/>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 name="组合 36"/>
            <p:cNvGrpSpPr/>
            <p:nvPr/>
          </p:nvGrpSpPr>
          <p:grpSpPr>
            <a:xfrm>
              <a:off x="1260668" y="2546288"/>
              <a:ext cx="9368054" cy="443514"/>
              <a:chOff x="1345806" y="2631715"/>
              <a:chExt cx="9313345" cy="443514"/>
            </a:xfrm>
          </p:grpSpPr>
          <mc:AlternateContent xmlns:mc="http://schemas.openxmlformats.org/markup-compatibility/2006">
            <mc:Choice xmlns:a14="http://schemas.microsoft.com/office/drawing/2010/main" Requires="a14">
              <p:sp>
                <p:nvSpPr>
                  <p:cNvPr id="19" name="矩形 18"/>
                  <p:cNvSpPr/>
                  <p:nvPr/>
                </p:nvSpPr>
                <p:spPr>
                  <a:xfrm>
                    <a:off x="1345806" y="2642738"/>
                    <a:ext cx="1602490" cy="375552"/>
                  </a:xfrm>
                  <a:prstGeom prst="rect">
                    <a:avLst/>
                  </a:prstGeom>
                  <a:solidFill>
                    <a:schemeClr val="accent4">
                      <a:lumMod val="20000"/>
                      <a:lumOff val="80000"/>
                    </a:schemeClr>
                  </a:solidFill>
                </p:spPr>
                <p:txBody>
                  <a:bodyPr wrap="none">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𝑭</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𝒏</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r>
                            <a:rPr lang="en-US" altLang="zh-CN" b="1" i="1">
                              <a:solidFill>
                                <a:schemeClr val="accent2">
                                  <a:lumMod val="50000"/>
                                </a:schemeClr>
                              </a:solidFill>
                              <a:latin typeface="Cambria Math" panose="02040503050406030204" pitchFamily="18" charset="0"/>
                            </a:rPr>
                            <m:t>⋅</m:t>
                          </m:r>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𝒏</m:t>
                              </m:r>
                            </m:e>
                            <m:sup>
                              <m:r>
                                <a:rPr lang="en-US" altLang="zh-CN" b="1" i="1" smtClean="0">
                                  <a:solidFill>
                                    <a:schemeClr val="accent2">
                                      <a:lumMod val="50000"/>
                                    </a:schemeClr>
                                  </a:solidFill>
                                  <a:latin typeface="Cambria Math" panose="02040503050406030204" pitchFamily="18" charset="0"/>
                                </a:rPr>
                                <m:t>𝟐</m:t>
                              </m:r>
                            </m:sup>
                          </m:sSup>
                        </m:oMath>
                      </m:oMathPara>
                    </a14:m>
                    <a:endParaRPr lang="zh-CN" altLang="en-US"/>
                  </a:p>
                </p:txBody>
              </p:sp>
            </mc:Choice>
            <mc:Fallback>
              <p:sp>
                <p:nvSpPr>
                  <p:cNvPr id="19" name="矩形 18"/>
                  <p:cNvSpPr>
                    <a:spLocks noRot="1" noChangeAspect="1" noMove="1" noResize="1" noEditPoints="1" noAdjustHandles="1" noChangeArrowheads="1" noChangeShapeType="1" noTextEdit="1"/>
                  </p:cNvSpPr>
                  <p:nvPr/>
                </p:nvSpPr>
                <p:spPr>
                  <a:xfrm>
                    <a:off x="1345806" y="2642738"/>
                    <a:ext cx="1602490" cy="375552"/>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矩形 19"/>
                  <p:cNvSpPr/>
                  <p:nvPr/>
                </p:nvSpPr>
                <p:spPr>
                  <a:xfrm>
                    <a:off x="3887279" y="2631715"/>
                    <a:ext cx="1460459" cy="410753"/>
                  </a:xfrm>
                  <a:prstGeom prst="rect">
                    <a:avLst/>
                  </a:prstGeom>
                  <a:solidFill>
                    <a:schemeClr val="accent4">
                      <a:lumMod val="20000"/>
                      <a:lumOff val="80000"/>
                    </a:schemeClr>
                  </a:solidFill>
                </p:spPr>
                <p:txBody>
                  <a:bodyPr wrap="none">
                    <a:spAutoFit/>
                  </a:bodyPr>
                  <a:lstStyle/>
                  <a:p>
                    <a:pPr>
                      <a:lnSpc>
                        <a:spcPts val="2800"/>
                      </a:lnSpc>
                    </a:pPr>
                    <a14:m>
                      <m:oMath xmlns:m="http://schemas.openxmlformats.org/officeDocument/2006/math">
                        <m:r>
                          <a:rPr lang="en-US" altLang="zh-CN" b="1" i="1" smtClean="0">
                            <a:solidFill>
                              <a:srgbClr val="0000FF"/>
                            </a:solidFill>
                            <a:latin typeface="Cambria Math" panose="02040503050406030204" pitchFamily="18" charset="0"/>
                          </a:rPr>
                          <m:t>𝒔</m:t>
                        </m:r>
                        <m:r>
                          <a:rPr lang="en-US" altLang="zh-CN" b="1" i="1">
                            <a:solidFill>
                              <a:srgbClr val="0000FF"/>
                            </a:solidFill>
                            <a:latin typeface="Cambria Math" panose="02040503050406030204" pitchFamily="18" charset="0"/>
                          </a:rPr>
                          <m:t>=</m:t>
                        </m:r>
                        <m:r>
                          <a:rPr lang="en-US" altLang="zh-CN" b="1" i="1" smtClean="0">
                            <a:solidFill>
                              <a:srgbClr val="0000FF"/>
                            </a:solidFill>
                            <a:latin typeface="Cambria Math" panose="02040503050406030204" pitchFamily="18" charset="0"/>
                          </a:rPr>
                          <m:t>𝟏</m:t>
                        </m:r>
                      </m:oMath>
                    </a14:m>
                    <a:r>
                      <a:rPr lang="zh-CN" altLang="en-US" b="1">
                        <a:solidFill>
                          <a:srgbClr val="002060"/>
                        </a:solidFill>
                        <a:latin typeface="楷体" panose="02010609060101010101" pitchFamily="49" charset="-122"/>
                        <a:ea typeface="楷体" panose="02010609060101010101" pitchFamily="49" charset="-122"/>
                      </a:rPr>
                      <a:t>不是根</a:t>
                    </a:r>
                    <a:endParaRPr lang="zh-CN" altLang="en-US" b="1">
                      <a:solidFill>
                        <a:srgbClr val="002060"/>
                      </a:solidFill>
                      <a:latin typeface="楷体" panose="02010609060101010101" pitchFamily="49" charset="-122"/>
                      <a:ea typeface="楷体" panose="02010609060101010101" pitchFamily="49" charset="-122"/>
                    </a:endParaRPr>
                  </a:p>
                </p:txBody>
              </p:sp>
            </mc:Choice>
            <mc:Fallback>
              <p:sp>
                <p:nvSpPr>
                  <p:cNvPr id="20" name="矩形 19"/>
                  <p:cNvSpPr>
                    <a:spLocks noRot="1" noChangeAspect="1" noMove="1" noResize="1" noEditPoints="1" noAdjustHandles="1" noChangeArrowheads="1" noChangeShapeType="1" noTextEdit="1"/>
                  </p:cNvSpPr>
                  <p:nvPr/>
                </p:nvSpPr>
                <p:spPr>
                  <a:xfrm>
                    <a:off x="3887279" y="2631715"/>
                    <a:ext cx="1460459" cy="410753"/>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矩形 20"/>
                  <p:cNvSpPr/>
                  <p:nvPr/>
                </p:nvSpPr>
                <p:spPr>
                  <a:xfrm>
                    <a:off x="6067110" y="2642738"/>
                    <a:ext cx="2573170" cy="432491"/>
                  </a:xfrm>
                  <a:prstGeom prst="rect">
                    <a:avLst/>
                  </a:prstGeom>
                  <a:solidFill>
                    <a:schemeClr val="accent4">
                      <a:lumMod val="20000"/>
                      <a:lumOff val="80000"/>
                    </a:schemeClr>
                  </a:solidFill>
                </p:spPr>
                <p:txBody>
                  <a:bodyPr wrap="square">
                    <a:spAutoFit/>
                  </a:bodyPr>
                  <a:lstStyle/>
                  <a:p>
                    <a14:m>
                      <m:oMathPara xmlns:m="http://schemas.openxmlformats.org/officeDocument/2006/math">
                        <m:oMathParaPr>
                          <m:jc m:val="centerGroup"/>
                        </m:oMathParaPr>
                        <m:oMath xmlns:m="http://schemas.openxmlformats.org/officeDocument/2006/math">
                          <m:sSubSup>
                            <m:sSubSupPr>
                              <m:ctrlPr>
                                <a:rPr lang="zh-CN" altLang="en-US" b="1" i="1" smtClean="0">
                                  <a:solidFill>
                                    <a:srgbClr val="C00000"/>
                                  </a:solidFill>
                                  <a:latin typeface="Cambria Math" panose="02040503050406030204" pitchFamily="18" charset="0"/>
                                </a:rPr>
                              </m:ctrlPr>
                            </m:sSubSupPr>
                            <m:e>
                              <m:r>
                                <a:rPr lang="zh-CN" altLang="en-US" b="1" i="1">
                                  <a:solidFill>
                                    <a:srgbClr val="C00000"/>
                                  </a:solidFill>
                                  <a:latin typeface="Cambria Math" panose="02040503050406030204" pitchFamily="18" charset="0"/>
                                </a:rPr>
                                <m:t>𝒂</m:t>
                              </m:r>
                            </m:e>
                            <m:sub>
                              <m:r>
                                <a:rPr lang="zh-CN" altLang="en-US" b="1" i="1">
                                  <a:solidFill>
                                    <a:srgbClr val="C00000"/>
                                  </a:solidFill>
                                  <a:latin typeface="Cambria Math" panose="02040503050406030204" pitchFamily="18" charset="0"/>
                                </a:rPr>
                                <m:t>𝒏</m:t>
                              </m:r>
                            </m:sub>
                            <m:sup>
                              <m:d>
                                <m:dPr>
                                  <m:ctrlPr>
                                    <a:rPr lang="zh-CN" altLang="en-US" b="1" i="1">
                                      <a:solidFill>
                                        <a:srgbClr val="C00000"/>
                                      </a:solidFill>
                                      <a:latin typeface="Cambria Math" panose="02040503050406030204" pitchFamily="18" charset="0"/>
                                    </a:rPr>
                                  </m:ctrlPr>
                                </m:dPr>
                                <m:e>
                                  <m:r>
                                    <a:rPr lang="zh-CN" altLang="en-US" b="1" i="1">
                                      <a:solidFill>
                                        <a:srgbClr val="C00000"/>
                                      </a:solidFill>
                                      <a:latin typeface="Cambria Math" panose="02040503050406030204" pitchFamily="18" charset="0"/>
                                    </a:rPr>
                                    <m:t>𝒑</m:t>
                                  </m:r>
                                </m:e>
                              </m:d>
                            </m:sup>
                          </m:sSubSup>
                          <m:r>
                            <a:rPr lang="zh-CN" altLang="en-US" b="1" i="1">
                              <a:solidFill>
                                <a:srgbClr val="C00000"/>
                              </a:solidFill>
                              <a:latin typeface="Cambria Math" panose="02040503050406030204" pitchFamily="18" charset="0"/>
                            </a:rPr>
                            <m:t>=</m:t>
                          </m:r>
                          <m:sSub>
                            <m:sSubPr>
                              <m:ctrlPr>
                                <a:rPr lang="pt-BR" altLang="zh-CN" b="1" i="1">
                                  <a:solidFill>
                                    <a:srgbClr val="C00000"/>
                                  </a:solidFill>
                                  <a:latin typeface="Cambria Math" panose="02040503050406030204" pitchFamily="18" charset="0"/>
                                </a:rPr>
                              </m:ctrlPr>
                            </m:sSubPr>
                            <m:e>
                              <m:r>
                                <a:rPr lang="pt-BR" altLang="zh-CN" b="1" i="1">
                                  <a:solidFill>
                                    <a:srgbClr val="C00000"/>
                                  </a:solidFill>
                                  <a:latin typeface="Cambria Math" panose="02040503050406030204" pitchFamily="18" charset="0"/>
                                </a:rPr>
                                <m:t>𝒑</m:t>
                              </m:r>
                            </m:e>
                            <m:sub>
                              <m:r>
                                <a:rPr lang="pt-BR" altLang="zh-CN" b="1" i="1">
                                  <a:solidFill>
                                    <a:srgbClr val="C00000"/>
                                  </a:solidFill>
                                  <a:latin typeface="Cambria Math" panose="02040503050406030204" pitchFamily="18" charset="0"/>
                                </a:rPr>
                                <m:t>𝟐</m:t>
                              </m:r>
                            </m:sub>
                          </m:sSub>
                          <m:sSup>
                            <m:sSupPr>
                              <m:ctrlPr>
                                <a:rPr lang="pt-BR" altLang="zh-CN" b="1" i="1">
                                  <a:solidFill>
                                    <a:srgbClr val="C00000"/>
                                  </a:solidFill>
                                  <a:latin typeface="Cambria Math" panose="02040503050406030204" pitchFamily="18" charset="0"/>
                                </a:rPr>
                              </m:ctrlPr>
                            </m:sSupPr>
                            <m:e>
                              <m:r>
                                <a:rPr lang="pt-BR" altLang="zh-CN" b="1" i="1">
                                  <a:solidFill>
                                    <a:srgbClr val="C00000"/>
                                  </a:solidFill>
                                  <a:latin typeface="Cambria Math" panose="02040503050406030204" pitchFamily="18" charset="0"/>
                                </a:rPr>
                                <m:t>𝒏</m:t>
                              </m:r>
                            </m:e>
                            <m:sup>
                              <m:r>
                                <a:rPr lang="pt-BR" altLang="zh-CN" b="1" i="1">
                                  <a:solidFill>
                                    <a:srgbClr val="C00000"/>
                                  </a:solidFill>
                                  <a:latin typeface="Cambria Math" panose="02040503050406030204" pitchFamily="18" charset="0"/>
                                </a:rPr>
                                <m:t>𝟐</m:t>
                              </m:r>
                            </m:sup>
                          </m:sSup>
                          <m:r>
                            <a:rPr lang="pt-BR" altLang="zh-CN" b="1" i="1">
                              <a:solidFill>
                                <a:srgbClr val="C00000"/>
                              </a:solidFill>
                              <a:latin typeface="Cambria Math" panose="02040503050406030204" pitchFamily="18" charset="0"/>
                            </a:rPr>
                            <m:t>+</m:t>
                          </m:r>
                          <m:sSub>
                            <m:sSubPr>
                              <m:ctrlPr>
                                <a:rPr lang="pt-BR" altLang="zh-CN" b="1" i="1">
                                  <a:solidFill>
                                    <a:srgbClr val="C00000"/>
                                  </a:solidFill>
                                  <a:latin typeface="Cambria Math" panose="02040503050406030204" pitchFamily="18" charset="0"/>
                                </a:rPr>
                              </m:ctrlPr>
                            </m:sSubPr>
                            <m:e>
                              <m:r>
                                <a:rPr lang="pt-BR" altLang="zh-CN" b="1" i="1">
                                  <a:solidFill>
                                    <a:srgbClr val="C00000"/>
                                  </a:solidFill>
                                  <a:latin typeface="Cambria Math" panose="02040503050406030204" pitchFamily="18" charset="0"/>
                                </a:rPr>
                                <m:t>𝒑</m:t>
                              </m:r>
                            </m:e>
                            <m:sub>
                              <m:r>
                                <a:rPr lang="pt-BR" altLang="zh-CN" b="1" i="1">
                                  <a:solidFill>
                                    <a:srgbClr val="C00000"/>
                                  </a:solidFill>
                                  <a:latin typeface="Cambria Math" panose="02040503050406030204" pitchFamily="18" charset="0"/>
                                </a:rPr>
                                <m:t>𝟏</m:t>
                              </m:r>
                            </m:sub>
                          </m:sSub>
                          <m:r>
                            <a:rPr lang="pt-BR" altLang="zh-CN" b="1" i="1">
                              <a:solidFill>
                                <a:srgbClr val="C00000"/>
                              </a:solidFill>
                              <a:latin typeface="Cambria Math" panose="02040503050406030204" pitchFamily="18" charset="0"/>
                            </a:rPr>
                            <m:t>𝒏</m:t>
                          </m:r>
                          <m:r>
                            <a:rPr lang="pt-BR" altLang="zh-CN" b="1" i="1">
                              <a:solidFill>
                                <a:srgbClr val="C00000"/>
                              </a:solidFill>
                              <a:latin typeface="Cambria Math" panose="02040503050406030204" pitchFamily="18" charset="0"/>
                            </a:rPr>
                            <m:t>+</m:t>
                          </m:r>
                          <m:sSub>
                            <m:sSubPr>
                              <m:ctrlPr>
                                <a:rPr lang="pt-BR" altLang="zh-CN" b="1" i="1">
                                  <a:solidFill>
                                    <a:srgbClr val="C00000"/>
                                  </a:solidFill>
                                  <a:latin typeface="Cambria Math" panose="02040503050406030204" pitchFamily="18" charset="0"/>
                                </a:rPr>
                              </m:ctrlPr>
                            </m:sSubPr>
                            <m:e>
                              <m:r>
                                <a:rPr lang="pt-BR" altLang="zh-CN" b="1" i="1">
                                  <a:solidFill>
                                    <a:srgbClr val="C00000"/>
                                  </a:solidFill>
                                  <a:latin typeface="Cambria Math" panose="02040503050406030204" pitchFamily="18" charset="0"/>
                                </a:rPr>
                                <m:t>𝒑</m:t>
                              </m:r>
                            </m:e>
                            <m:sub>
                              <m:r>
                                <a:rPr lang="pt-BR" altLang="zh-CN" b="1" i="1">
                                  <a:solidFill>
                                    <a:srgbClr val="C00000"/>
                                  </a:solidFill>
                                  <a:latin typeface="Cambria Math" panose="02040503050406030204" pitchFamily="18" charset="0"/>
                                </a:rPr>
                                <m:t>𝟎</m:t>
                              </m:r>
                            </m:sub>
                          </m:sSub>
                        </m:oMath>
                      </m:oMathPara>
                    </a14:m>
                  </a:p>
                </p:txBody>
              </p:sp>
            </mc:Choice>
            <mc:Fallback>
              <p:sp>
                <p:nvSpPr>
                  <p:cNvPr id="21" name="矩形 20"/>
                  <p:cNvSpPr>
                    <a:spLocks noRot="1" noChangeAspect="1" noMove="1" noResize="1" noEditPoints="1" noAdjustHandles="1" noChangeArrowheads="1" noChangeShapeType="1" noTextEdit="1"/>
                  </p:cNvSpPr>
                  <p:nvPr/>
                </p:nvSpPr>
                <p:spPr>
                  <a:xfrm>
                    <a:off x="6067110" y="2642738"/>
                    <a:ext cx="2573170" cy="432491"/>
                  </a:xfrm>
                  <a:prstGeom prst="rect">
                    <a:avLst/>
                  </a:prstGeom>
                  <a:blipFill rotWithShape="1">
                    <a:blip r:embed="rId5"/>
                  </a:blipFill>
                </p:spPr>
                <p:txBody>
                  <a:bodyPr/>
                  <a:lstStyle/>
                  <a:p>
                    <a:r>
                      <a:rPr lang="zh-CN" altLang="en-US">
                        <a:noFill/>
                      </a:rPr>
                      <a:t> </a:t>
                    </a:r>
                  </a:p>
                </p:txBody>
              </p:sp>
            </mc:Fallback>
          </mc:AlternateContent>
          <p:sp>
            <p:nvSpPr>
              <p:cNvPr id="22" name="箭头: 右 21"/>
              <p:cNvSpPr/>
              <p:nvPr/>
            </p:nvSpPr>
            <p:spPr>
              <a:xfrm>
                <a:off x="3167907" y="2826812"/>
                <a:ext cx="719371"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p:cNvSpPr/>
              <p:nvPr/>
            </p:nvSpPr>
            <p:spPr>
              <a:xfrm>
                <a:off x="5347739" y="2826812"/>
                <a:ext cx="690864" cy="457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8864311" y="2682262"/>
                <a:ext cx="1794840"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代入递推关系式</a:t>
                </a:r>
                <a:endParaRPr lang="zh-CN" altLang="en-US" b="1">
                  <a:solidFill>
                    <a:schemeClr val="accent2">
                      <a:lumMod val="50000"/>
                    </a:schemeClr>
                  </a:solidFill>
                </a:endParaRPr>
              </a:p>
            </p:txBody>
          </p:sp>
        </p:grpSp>
      </p:grpSp>
      <p:sp>
        <p:nvSpPr>
          <p:cNvPr id="47" name="箭头: 下 46"/>
          <p:cNvSpPr/>
          <p:nvPr/>
        </p:nvSpPr>
        <p:spPr>
          <a:xfrm>
            <a:off x="6074237" y="2307993"/>
            <a:ext cx="107449" cy="28539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箭头: 下 47"/>
          <p:cNvSpPr/>
          <p:nvPr/>
        </p:nvSpPr>
        <p:spPr>
          <a:xfrm>
            <a:off x="6074237" y="3108285"/>
            <a:ext cx="107449" cy="22609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0" name="组合 59"/>
          <p:cNvGrpSpPr/>
          <p:nvPr/>
        </p:nvGrpSpPr>
        <p:grpSpPr>
          <a:xfrm>
            <a:off x="1346453" y="5191372"/>
            <a:ext cx="9556440" cy="973606"/>
            <a:chOff x="1126911" y="3822060"/>
            <a:chExt cx="9556440" cy="973606"/>
          </a:xfrm>
        </p:grpSpPr>
        <p:grpSp>
          <p:nvGrpSpPr>
            <p:cNvPr id="61" name="组合 60"/>
            <p:cNvGrpSpPr/>
            <p:nvPr/>
          </p:nvGrpSpPr>
          <p:grpSpPr>
            <a:xfrm>
              <a:off x="1126911" y="3822060"/>
              <a:ext cx="9556440" cy="973606"/>
              <a:chOff x="1126911" y="3822060"/>
              <a:chExt cx="9556440" cy="973606"/>
            </a:xfrm>
          </p:grpSpPr>
          <p:sp>
            <p:nvSpPr>
              <p:cNvPr id="63" name="矩形 62"/>
              <p:cNvSpPr/>
              <p:nvPr/>
            </p:nvSpPr>
            <p:spPr>
              <a:xfrm>
                <a:off x="1126911" y="3822060"/>
                <a:ext cx="9556440" cy="973606"/>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4" name="组合 63"/>
              <p:cNvGrpSpPr/>
              <p:nvPr/>
            </p:nvGrpSpPr>
            <p:grpSpPr>
              <a:xfrm>
                <a:off x="1201847" y="3892744"/>
                <a:ext cx="9382953" cy="830997"/>
                <a:chOff x="1230164" y="3810194"/>
                <a:chExt cx="9382953" cy="830997"/>
              </a:xfrm>
            </p:grpSpPr>
            <mc:AlternateContent xmlns:mc="http://schemas.openxmlformats.org/markup-compatibility/2006">
              <mc:Choice xmlns:a14="http://schemas.microsoft.com/office/drawing/2010/main" Requires="a14">
                <p:sp>
                  <p:nvSpPr>
                    <p:cNvPr id="65" name="文本框 64"/>
                    <p:cNvSpPr txBox="1"/>
                    <p:nvPr/>
                  </p:nvSpPr>
                  <p:spPr>
                    <a:xfrm>
                      <a:off x="1230164" y="3810194"/>
                      <a:ext cx="3018915" cy="830997"/>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000" b="1">
                          <a:solidFill>
                            <a:schemeClr val="accent2">
                              <a:lumMod val="50000"/>
                            </a:schemeClr>
                          </a:solidFill>
                        </a:rPr>
                        <a:t>解</a:t>
                      </a:r>
                      <a14:m>
                        <m:oMath xmlns:m="http://schemas.openxmlformats.org/officeDocument/2006/math">
                          <m:r>
                            <m:rPr>
                              <m:lit/>
                            </m:rP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𝒂</m:t>
                              </m:r>
                            </m:e>
                            <m:sub>
                              <m:r>
                                <a:rPr lang="en-US" altLang="zh-CN" sz="2000" b="1" i="1" smtClean="0">
                                  <a:solidFill>
                                    <a:schemeClr val="accent2">
                                      <a:lumMod val="50000"/>
                                    </a:schemeClr>
                                  </a:solidFill>
                                  <a:latin typeface="Cambria Math" panose="02040503050406030204" pitchFamily="18" charset="0"/>
                                </a:rPr>
                                <m:t>𝒏</m:t>
                              </m:r>
                            </m:sub>
                          </m:sSub>
                          <m:r>
                            <m:rPr>
                              <m:lit/>
                            </m:rPr>
                            <a:rPr lang="en-US" altLang="zh-CN" sz="2000" b="1" i="1" smtClean="0">
                              <a:solidFill>
                                <a:schemeClr val="accent2">
                                  <a:lumMod val="50000"/>
                                </a:schemeClr>
                              </a:solidFill>
                              <a:latin typeface="Cambria Math" panose="02040503050406030204" pitchFamily="18" charset="0"/>
                            </a:rPr>
                            <m:t>}</m:t>
                          </m:r>
                        </m:oMath>
                      </a14:m>
                      <a:r>
                        <a:rPr lang="zh-CN" altLang="en-US" sz="2000" b="1">
                          <a:solidFill>
                            <a:schemeClr val="accent2">
                              <a:lumMod val="50000"/>
                            </a:schemeClr>
                          </a:solidFill>
                        </a:rPr>
                        <a:t>具有形式：</a:t>
                      </a:r>
                      <a:endParaRPr lang="en-US" altLang="zh-CN" sz="2000" b="1">
                        <a:solidFill>
                          <a:schemeClr val="accent2">
                            <a:lumMod val="50000"/>
                          </a:schemeClr>
                        </a:solidFill>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𝒏</m:t>
                                </m:r>
                              </m:sub>
                            </m:sSub>
                            <m:r>
                              <a:rPr lang="en-US" altLang="zh-CN" b="1" i="1">
                                <a:solidFill>
                                  <a:srgbClr val="C00000"/>
                                </a:solidFill>
                                <a:latin typeface="Cambria Math" panose="02040503050406030204" pitchFamily="18" charset="0"/>
                              </a:rPr>
                              <m:t>= </m:t>
                            </m:r>
                            <m:r>
                              <a:rPr lang="en-US" altLang="zh-CN" b="1" i="1">
                                <a:solidFill>
                                  <a:srgbClr val="C00000"/>
                                </a:solidFill>
                                <a:latin typeface="Cambria Math" panose="02040503050406030204" pitchFamily="18" charset="0"/>
                              </a:rPr>
                              <m:t>𝜷</m:t>
                            </m:r>
                            <m:sSup>
                              <m:sSupPr>
                                <m:ctrlPr>
                                  <a:rPr lang="en-US" altLang="zh-CN" b="1" i="1">
                                    <a:solidFill>
                                      <a:srgbClr val="C00000"/>
                                    </a:solidFill>
                                    <a:latin typeface="Cambria Math" panose="02040503050406030204" pitchFamily="18" charset="0"/>
                                  </a:rPr>
                                </m:ctrlPr>
                              </m:sSupPr>
                              <m:e>
                                <m:r>
                                  <a:rPr lang="en-US" altLang="zh-CN" b="1" i="1">
                                    <a:solidFill>
                                      <a:srgbClr val="C00000"/>
                                    </a:solidFill>
                                    <a:latin typeface="Cambria Math" panose="02040503050406030204" pitchFamily="18" charset="0"/>
                                  </a:rPr>
                                  <m:t>𝟐</m:t>
                                </m:r>
                              </m:e>
                              <m:sup>
                                <m:r>
                                  <a:rPr lang="en-US" altLang="zh-CN" b="1" i="1">
                                    <a:solidFill>
                                      <a:srgbClr val="C00000"/>
                                    </a:solidFill>
                                    <a:latin typeface="Cambria Math" panose="02040503050406030204" pitchFamily="18" charset="0"/>
                                  </a:rPr>
                                  <m:t>𝒏</m:t>
                                </m:r>
                              </m:sup>
                            </m:sSup>
                            <m:r>
                              <a:rPr lang="en-US" altLang="zh-CN" b="1" i="1" smtClean="0">
                                <a:solidFill>
                                  <a:srgbClr val="0000FF"/>
                                </a:solidFill>
                                <a:latin typeface="Cambria Math" panose="02040503050406030204" pitchFamily="18" charset="0"/>
                              </a:rPr>
                              <m:t>−</m:t>
                            </m:r>
                            <m:r>
                              <a:rPr lang="en-US" altLang="zh-CN" b="1" i="1" smtClean="0">
                                <a:solidFill>
                                  <a:srgbClr val="0000FF"/>
                                </a:solidFill>
                                <a:latin typeface="Cambria Math" panose="02040503050406030204" pitchFamily="18" charset="0"/>
                              </a:rPr>
                              <m:t>𝟐</m:t>
                            </m:r>
                            <m:sSup>
                              <m:sSupPr>
                                <m:ctrlPr>
                                  <a:rPr lang="en-US" altLang="zh-CN" b="1" i="1">
                                    <a:solidFill>
                                      <a:srgbClr val="0000FF"/>
                                    </a:solidFill>
                                    <a:latin typeface="Cambria Math" panose="02040503050406030204" pitchFamily="18" charset="0"/>
                                  </a:rPr>
                                </m:ctrlPr>
                              </m:sSupPr>
                              <m:e>
                                <m:r>
                                  <a:rPr lang="en-US" altLang="zh-CN" b="1" i="1">
                                    <a:solidFill>
                                      <a:srgbClr val="0000FF"/>
                                    </a:solidFill>
                                    <a:latin typeface="Cambria Math" panose="02040503050406030204" pitchFamily="18" charset="0"/>
                                  </a:rPr>
                                  <m:t>𝒏</m:t>
                                </m:r>
                              </m:e>
                              <m:sup>
                                <m:r>
                                  <a:rPr lang="en-US" altLang="zh-CN" b="1" i="1">
                                    <a:solidFill>
                                      <a:srgbClr val="0000FF"/>
                                    </a:solidFill>
                                    <a:latin typeface="Cambria Math" panose="02040503050406030204" pitchFamily="18" charset="0"/>
                                  </a:rPr>
                                  <m:t>𝟐</m:t>
                                </m:r>
                              </m:sup>
                            </m:sSup>
                            <m:r>
                              <a:rPr lang="en-US" altLang="zh-CN" b="1" i="1">
                                <a:solidFill>
                                  <a:srgbClr val="0000FF"/>
                                </a:solidFill>
                                <a:latin typeface="Cambria Math" panose="02040503050406030204" pitchFamily="18" charset="0"/>
                              </a:rPr>
                              <m:t>−</m:t>
                            </m:r>
                            <m:r>
                              <a:rPr lang="en-US" altLang="zh-CN" b="1" i="1">
                                <a:solidFill>
                                  <a:srgbClr val="0000FF"/>
                                </a:solidFill>
                                <a:latin typeface="Cambria Math" panose="02040503050406030204" pitchFamily="18" charset="0"/>
                              </a:rPr>
                              <m:t>𝟖</m:t>
                            </m:r>
                            <m:r>
                              <a:rPr lang="en-US" altLang="zh-CN" b="1" i="1">
                                <a:solidFill>
                                  <a:srgbClr val="0000FF"/>
                                </a:solidFill>
                                <a:latin typeface="Cambria Math" panose="02040503050406030204" pitchFamily="18" charset="0"/>
                              </a:rPr>
                              <m:t>𝒏</m:t>
                            </m:r>
                            <m:r>
                              <a:rPr lang="en-US" altLang="zh-CN" b="1" i="1">
                                <a:solidFill>
                                  <a:srgbClr val="0000FF"/>
                                </a:solidFill>
                                <a:latin typeface="Cambria Math" panose="02040503050406030204" pitchFamily="18" charset="0"/>
                              </a:rPr>
                              <m:t>−</m:t>
                            </m:r>
                            <m:r>
                              <a:rPr lang="en-US" altLang="zh-CN" b="1" i="1">
                                <a:solidFill>
                                  <a:srgbClr val="0000FF"/>
                                </a:solidFill>
                                <a:latin typeface="Cambria Math" panose="02040503050406030204" pitchFamily="18" charset="0"/>
                              </a:rPr>
                              <m:t>𝟏𝟐</m:t>
                            </m:r>
                          </m:oMath>
                        </m:oMathPara>
                      </a14:m>
                      <a:endParaRPr lang="zh-CN" altLang="en-US" b="1">
                        <a:solidFill>
                          <a:schemeClr val="accent2">
                            <a:lumMod val="50000"/>
                          </a:schemeClr>
                        </a:solidFill>
                      </a:endParaRPr>
                    </a:p>
                  </p:txBody>
                </p:sp>
              </mc:Choice>
              <mc:Fallback>
                <p:sp>
                  <p:nvSpPr>
                    <p:cNvPr id="65" name="文本框 64"/>
                    <p:cNvSpPr txBox="1">
                      <a:spLocks noRot="1" noChangeAspect="1" noMove="1" noResize="1" noEditPoints="1" noAdjustHandles="1" noChangeArrowheads="1" noChangeShapeType="1" noTextEdit="1"/>
                    </p:cNvSpPr>
                    <p:nvPr/>
                  </p:nvSpPr>
                  <p:spPr>
                    <a:xfrm>
                      <a:off x="1230164" y="3810194"/>
                      <a:ext cx="3018915" cy="830997"/>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6" name="文本框 65"/>
                    <p:cNvSpPr txBox="1"/>
                    <p:nvPr/>
                  </p:nvSpPr>
                  <p:spPr>
                    <a:xfrm>
                      <a:off x="5460798" y="4083985"/>
                      <a:ext cx="1040682" cy="369332"/>
                    </a:xfrm>
                    <a:prstGeom prst="rect">
                      <a:avLst/>
                    </a:prstGeom>
                    <a:solidFill>
                      <a:schemeClr val="accent5">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𝜷</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𝟏𝟑</m:t>
                            </m:r>
                          </m:oMath>
                        </m:oMathPara>
                      </a14:m>
                      <a:endParaRPr lang="zh-CN" altLang="en-US" b="1">
                        <a:solidFill>
                          <a:schemeClr val="accent2">
                            <a:lumMod val="50000"/>
                          </a:schemeClr>
                        </a:solidFill>
                      </a:endParaRPr>
                    </a:p>
                  </p:txBody>
                </p:sp>
              </mc:Choice>
              <mc:Fallback>
                <p:sp>
                  <p:nvSpPr>
                    <p:cNvPr id="66" name="文本框 65"/>
                    <p:cNvSpPr txBox="1">
                      <a:spLocks noRot="1" noChangeAspect="1" noMove="1" noResize="1" noEditPoints="1" noAdjustHandles="1" noChangeArrowheads="1" noChangeShapeType="1" noTextEdit="1"/>
                    </p:cNvSpPr>
                    <p:nvPr/>
                  </p:nvSpPr>
                  <p:spPr>
                    <a:xfrm>
                      <a:off x="5460798" y="4083985"/>
                      <a:ext cx="1040682" cy="369332"/>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7" name="文本框 66"/>
                    <p:cNvSpPr txBox="1"/>
                    <p:nvPr/>
                  </p:nvSpPr>
                  <p:spPr>
                    <a:xfrm>
                      <a:off x="7267994" y="4058297"/>
                      <a:ext cx="3345123" cy="375552"/>
                    </a:xfrm>
                    <a:prstGeom prst="rect">
                      <a:avLst/>
                    </a:prstGeom>
                    <a:solidFill>
                      <a:schemeClr val="accent2">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𝒏</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𝟏𝟑</m:t>
                            </m:r>
                            <m:r>
                              <a:rPr lang="en-US" altLang="zh-CN" b="1" i="1" smtClean="0">
                                <a:solidFill>
                                  <a:srgbClr val="C00000"/>
                                </a:solidFill>
                                <a:latin typeface="Cambria Math" panose="02040503050406030204" pitchFamily="18" charset="0"/>
                              </a:rPr>
                              <m:t>⋅</m:t>
                            </m:r>
                            <m:sSup>
                              <m:sSupPr>
                                <m:ctrlPr>
                                  <a:rPr lang="en-US" altLang="zh-CN" b="1" i="1">
                                    <a:solidFill>
                                      <a:srgbClr val="C00000"/>
                                    </a:solidFill>
                                    <a:latin typeface="Cambria Math" panose="02040503050406030204" pitchFamily="18" charset="0"/>
                                  </a:rPr>
                                </m:ctrlPr>
                              </m:sSupPr>
                              <m:e>
                                <m:r>
                                  <a:rPr lang="en-US" altLang="zh-CN" b="1" i="1">
                                    <a:solidFill>
                                      <a:srgbClr val="C00000"/>
                                    </a:solidFill>
                                    <a:latin typeface="Cambria Math" panose="02040503050406030204" pitchFamily="18" charset="0"/>
                                  </a:rPr>
                                  <m:t>𝟐</m:t>
                                </m:r>
                              </m:e>
                              <m:sup>
                                <m:r>
                                  <a:rPr lang="en-US" altLang="zh-CN" b="1" i="1">
                                    <a:solidFill>
                                      <a:srgbClr val="C00000"/>
                                    </a:solidFill>
                                    <a:latin typeface="Cambria Math" panose="02040503050406030204" pitchFamily="18" charset="0"/>
                                  </a:rPr>
                                  <m:t>𝒏</m:t>
                                </m:r>
                              </m:sup>
                            </m:sSup>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𝟐</m:t>
                            </m:r>
                            <m:sSup>
                              <m:sSupPr>
                                <m:ctrlPr>
                                  <a:rPr lang="en-US" altLang="zh-CN" b="1" i="1">
                                    <a:solidFill>
                                      <a:srgbClr val="C00000"/>
                                    </a:solidFill>
                                    <a:latin typeface="Cambria Math" panose="02040503050406030204" pitchFamily="18" charset="0"/>
                                  </a:rPr>
                                </m:ctrlPr>
                              </m:sSupPr>
                              <m:e>
                                <m:r>
                                  <a:rPr lang="en-US" altLang="zh-CN" b="1" i="1">
                                    <a:solidFill>
                                      <a:srgbClr val="C00000"/>
                                    </a:solidFill>
                                    <a:latin typeface="Cambria Math" panose="02040503050406030204" pitchFamily="18" charset="0"/>
                                  </a:rPr>
                                  <m:t>𝒏</m:t>
                                </m:r>
                              </m:e>
                              <m:sup>
                                <m:r>
                                  <a:rPr lang="en-US" altLang="zh-CN" b="1" i="1">
                                    <a:solidFill>
                                      <a:srgbClr val="C00000"/>
                                    </a:solidFill>
                                    <a:latin typeface="Cambria Math" panose="02040503050406030204" pitchFamily="18" charset="0"/>
                                  </a:rPr>
                                  <m:t>𝟐</m:t>
                                </m:r>
                              </m:sup>
                            </m:sSup>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𝟖</m:t>
                            </m:r>
                            <m:r>
                              <a:rPr lang="en-US" altLang="zh-CN" b="1" i="1">
                                <a:solidFill>
                                  <a:srgbClr val="C00000"/>
                                </a:solidFill>
                                <a:latin typeface="Cambria Math" panose="02040503050406030204" pitchFamily="18" charset="0"/>
                              </a:rPr>
                              <m:t>𝒏</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𝟏𝟐</m:t>
                            </m:r>
                          </m:oMath>
                        </m:oMathPara>
                      </a14:m>
                      <a:endParaRPr lang="zh-CN" altLang="en-US" b="1">
                        <a:solidFill>
                          <a:schemeClr val="accent2">
                            <a:lumMod val="50000"/>
                          </a:schemeClr>
                        </a:solidFill>
                      </a:endParaRPr>
                    </a:p>
                  </p:txBody>
                </p:sp>
              </mc:Choice>
              <mc:Fallback>
                <p:sp>
                  <p:nvSpPr>
                    <p:cNvPr id="67" name="文本框 66"/>
                    <p:cNvSpPr txBox="1">
                      <a:spLocks noRot="1" noChangeAspect="1" noMove="1" noResize="1" noEditPoints="1" noAdjustHandles="1" noChangeArrowheads="1" noChangeShapeType="1" noTextEdit="1"/>
                    </p:cNvSpPr>
                    <p:nvPr/>
                  </p:nvSpPr>
                  <p:spPr>
                    <a:xfrm>
                      <a:off x="7267994" y="4058297"/>
                      <a:ext cx="3345123" cy="375552"/>
                    </a:xfrm>
                    <a:prstGeom prst="rect">
                      <a:avLst/>
                    </a:prstGeom>
                    <a:blipFill rotWithShape="1">
                      <a:blip r:embed="rId8"/>
                    </a:blipFill>
                  </p:spPr>
                  <p:txBody>
                    <a:bodyPr/>
                    <a:lstStyle/>
                    <a:p>
                      <a:r>
                        <a:rPr lang="zh-CN" altLang="en-US">
                          <a:noFill/>
                        </a:rPr>
                        <a:t> </a:t>
                      </a:r>
                    </a:p>
                  </p:txBody>
                </p:sp>
              </mc:Fallback>
            </mc:AlternateContent>
            <p:sp>
              <p:nvSpPr>
                <p:cNvPr id="68" name="箭头: 右 67"/>
                <p:cNvSpPr/>
                <p:nvPr/>
              </p:nvSpPr>
              <p:spPr>
                <a:xfrm>
                  <a:off x="4249079" y="4235275"/>
                  <a:ext cx="1211720" cy="699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69" name="文本框 68"/>
                    <p:cNvSpPr txBox="1"/>
                    <p:nvPr/>
                  </p:nvSpPr>
                  <p:spPr>
                    <a:xfrm>
                      <a:off x="4420117" y="3991652"/>
                      <a:ext cx="855605" cy="553998"/>
                    </a:xfrm>
                    <a:prstGeom prst="rect">
                      <a:avLst/>
                    </a:prstGeom>
                    <a:solidFill>
                      <a:schemeClr val="accent4">
                        <a:lumMod val="20000"/>
                        <a:lumOff val="80000"/>
                      </a:schemeClr>
                    </a:solidFill>
                  </p:spPr>
                  <p:txBody>
                    <a:bodyPr wrap="square" lIns="0" tIns="0" rIns="0" bIns="0" rtlCol="0">
                      <a:spAutoFit/>
                    </a:bodyPr>
                    <a:lstStyle/>
                    <a:p>
                      <a:pPr algn="ctr"/>
                      <a:r>
                        <a:rPr lang="zh-CN" altLang="en-US" b="1">
                          <a:solidFill>
                            <a:schemeClr val="accent2">
                              <a:lumMod val="50000"/>
                            </a:schemeClr>
                          </a:solidFill>
                        </a:rPr>
                        <a:t>初值</a:t>
                      </a:r>
                      <a:endParaRPr lang="en-US" altLang="zh-CN" b="1">
                        <a:solidFill>
                          <a:schemeClr val="accent2">
                            <a:lumMod val="50000"/>
                          </a:schemeClr>
                        </a:solidFill>
                      </a:endParaRPr>
                    </a:p>
                    <a:p>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𝟎</m:t>
                                </m:r>
                              </m:sub>
                            </m:sSub>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oMath>
                        </m:oMathPara>
                      </a14:m>
                      <a:endParaRPr lang="en-US" altLang="zh-CN" b="1" i="1">
                        <a:solidFill>
                          <a:schemeClr val="accent2">
                            <a:lumMod val="50000"/>
                          </a:schemeClr>
                        </a:solidFill>
                        <a:latin typeface="Cambria Math" panose="02040503050406030204" pitchFamily="18" charset="0"/>
                      </a:endParaRPr>
                    </a:p>
                  </p:txBody>
                </p:sp>
              </mc:Choice>
              <mc:Fallback>
                <p:sp>
                  <p:nvSpPr>
                    <p:cNvPr id="69" name="文本框 68"/>
                    <p:cNvSpPr txBox="1">
                      <a:spLocks noRot="1" noChangeAspect="1" noMove="1" noResize="1" noEditPoints="1" noAdjustHandles="1" noChangeArrowheads="1" noChangeShapeType="1" noTextEdit="1"/>
                    </p:cNvSpPr>
                    <p:nvPr/>
                  </p:nvSpPr>
                  <p:spPr>
                    <a:xfrm>
                      <a:off x="4420117" y="3991652"/>
                      <a:ext cx="855605" cy="553998"/>
                    </a:xfrm>
                    <a:prstGeom prst="rect">
                      <a:avLst/>
                    </a:prstGeom>
                    <a:blipFill rotWithShape="1">
                      <a:blip r:embed="rId9"/>
                    </a:blipFill>
                  </p:spPr>
                  <p:txBody>
                    <a:bodyPr/>
                    <a:lstStyle/>
                    <a:p>
                      <a:r>
                        <a:rPr lang="zh-CN" altLang="en-US">
                          <a:noFill/>
                        </a:rPr>
                        <a:t> </a:t>
                      </a:r>
                    </a:p>
                  </p:txBody>
                </p:sp>
              </mc:Fallback>
            </mc:AlternateContent>
          </p:grpSp>
        </p:grpSp>
        <p:sp>
          <p:nvSpPr>
            <p:cNvPr id="62" name="箭头: 右 61"/>
            <p:cNvSpPr/>
            <p:nvPr/>
          </p:nvSpPr>
          <p:spPr>
            <a:xfrm>
              <a:off x="6473163" y="4317825"/>
              <a:ext cx="766514" cy="699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0" name="箭头: 下 69"/>
          <p:cNvSpPr/>
          <p:nvPr/>
        </p:nvSpPr>
        <p:spPr>
          <a:xfrm>
            <a:off x="6074237" y="4953658"/>
            <a:ext cx="107449" cy="25919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55246" y="3356183"/>
            <a:ext cx="9481504" cy="1603009"/>
            <a:chOff x="1355246" y="3356183"/>
            <a:chExt cx="9481504" cy="1603009"/>
          </a:xfrm>
        </p:grpSpPr>
        <p:grpSp>
          <p:nvGrpSpPr>
            <p:cNvPr id="4" name="组合 3"/>
            <p:cNvGrpSpPr/>
            <p:nvPr/>
          </p:nvGrpSpPr>
          <p:grpSpPr>
            <a:xfrm>
              <a:off x="1355246" y="3356183"/>
              <a:ext cx="9481504" cy="1603009"/>
              <a:chOff x="1147219" y="3141092"/>
              <a:chExt cx="9481504" cy="1603009"/>
            </a:xfrm>
          </p:grpSpPr>
          <p:sp>
            <p:nvSpPr>
              <p:cNvPr id="44" name="矩形 43"/>
              <p:cNvSpPr/>
              <p:nvPr/>
            </p:nvSpPr>
            <p:spPr>
              <a:xfrm>
                <a:off x="1147219" y="3141092"/>
                <a:ext cx="9481504" cy="1603009"/>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4" name="文本框 23"/>
                  <p:cNvSpPr txBox="1"/>
                  <p:nvPr/>
                </p:nvSpPr>
                <p:spPr>
                  <a:xfrm>
                    <a:off x="1234873" y="3210776"/>
                    <a:ext cx="4821979" cy="688202"/>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pt-BR" altLang="zh-CN" b="1" i="1" smtClean="0">
                                  <a:solidFill>
                                    <a:schemeClr val="accent2">
                                      <a:lumMod val="50000"/>
                                    </a:schemeClr>
                                  </a:solidFill>
                                  <a:latin typeface="Cambria Math" panose="02040503050406030204" pitchFamily="18" charset="0"/>
                                </a:rPr>
                              </m:ctrlPr>
                            </m:sSubPr>
                            <m:e>
                              <m:r>
                                <a:rPr lang="pt-BR" altLang="zh-CN" b="1" i="1" smtClean="0">
                                  <a:solidFill>
                                    <a:schemeClr val="accent2">
                                      <a:lumMod val="50000"/>
                                    </a:schemeClr>
                                  </a:solidFill>
                                  <a:latin typeface="Cambria Math" panose="02040503050406030204" pitchFamily="18" charset="0"/>
                                </a:rPr>
                                <m:t>𝒑</m:t>
                              </m:r>
                            </m:e>
                            <m:sub>
                              <m:r>
                                <a:rPr lang="pt-BR" altLang="zh-CN" b="1" i="1" smtClean="0">
                                  <a:solidFill>
                                    <a:schemeClr val="accent2">
                                      <a:lumMod val="50000"/>
                                    </a:schemeClr>
                                  </a:solidFill>
                                  <a:latin typeface="Cambria Math" panose="02040503050406030204" pitchFamily="18" charset="0"/>
                                </a:rPr>
                                <m:t>𝟐</m:t>
                              </m:r>
                            </m:sub>
                          </m:sSub>
                          <m:sSup>
                            <m:sSupPr>
                              <m:ctrlPr>
                                <a:rPr lang="pt-BR" altLang="zh-CN" b="1" i="1" smtClean="0">
                                  <a:solidFill>
                                    <a:schemeClr val="accent2">
                                      <a:lumMod val="50000"/>
                                    </a:schemeClr>
                                  </a:solidFill>
                                  <a:latin typeface="Cambria Math" panose="02040503050406030204" pitchFamily="18" charset="0"/>
                                </a:rPr>
                              </m:ctrlPr>
                            </m:sSupPr>
                            <m:e>
                              <m:r>
                                <a:rPr lang="pt-BR" altLang="zh-CN" b="1" i="1" smtClean="0">
                                  <a:solidFill>
                                    <a:schemeClr val="accent2">
                                      <a:lumMod val="50000"/>
                                    </a:schemeClr>
                                  </a:solidFill>
                                  <a:latin typeface="Cambria Math" panose="02040503050406030204" pitchFamily="18" charset="0"/>
                                </a:rPr>
                                <m:t>𝒏</m:t>
                              </m:r>
                            </m:e>
                            <m:sup>
                              <m:r>
                                <a:rPr lang="pt-BR" altLang="zh-CN" b="1" i="1" smtClean="0">
                                  <a:solidFill>
                                    <a:schemeClr val="accent2">
                                      <a:lumMod val="50000"/>
                                    </a:schemeClr>
                                  </a:solidFill>
                                  <a:latin typeface="Cambria Math" panose="02040503050406030204" pitchFamily="18" charset="0"/>
                                </a:rPr>
                                <m:t>𝟐</m:t>
                              </m:r>
                            </m:sup>
                          </m:sSup>
                          <m:r>
                            <a:rPr lang="pt-BR" altLang="zh-CN" b="1" i="1" smtClean="0">
                              <a:solidFill>
                                <a:schemeClr val="accent2">
                                  <a:lumMod val="50000"/>
                                </a:schemeClr>
                              </a:solidFill>
                              <a:latin typeface="Cambria Math" panose="02040503050406030204" pitchFamily="18" charset="0"/>
                            </a:rPr>
                            <m:t>+</m:t>
                          </m:r>
                          <m:sSub>
                            <m:sSubPr>
                              <m:ctrlPr>
                                <a:rPr lang="pt-BR" altLang="zh-CN" b="1" i="1" smtClean="0">
                                  <a:solidFill>
                                    <a:schemeClr val="accent2">
                                      <a:lumMod val="50000"/>
                                    </a:schemeClr>
                                  </a:solidFill>
                                  <a:latin typeface="Cambria Math" panose="02040503050406030204" pitchFamily="18" charset="0"/>
                                </a:rPr>
                              </m:ctrlPr>
                            </m:sSubPr>
                            <m:e>
                              <m:r>
                                <a:rPr lang="pt-BR" altLang="zh-CN" b="1" i="1" smtClean="0">
                                  <a:solidFill>
                                    <a:schemeClr val="accent2">
                                      <a:lumMod val="50000"/>
                                    </a:schemeClr>
                                  </a:solidFill>
                                  <a:latin typeface="Cambria Math" panose="02040503050406030204" pitchFamily="18" charset="0"/>
                                </a:rPr>
                                <m:t>𝒑</m:t>
                              </m:r>
                            </m:e>
                            <m:sub>
                              <m:r>
                                <a:rPr lang="pt-BR" altLang="zh-CN" b="1" i="1" smtClean="0">
                                  <a:solidFill>
                                    <a:schemeClr val="accent2">
                                      <a:lumMod val="50000"/>
                                    </a:schemeClr>
                                  </a:solidFill>
                                  <a:latin typeface="Cambria Math" panose="02040503050406030204" pitchFamily="18" charset="0"/>
                                </a:rPr>
                                <m:t>𝟏</m:t>
                              </m:r>
                            </m:sub>
                          </m:sSub>
                          <m:r>
                            <a:rPr lang="pt-BR" altLang="zh-CN" b="1" i="1" smtClean="0">
                              <a:solidFill>
                                <a:schemeClr val="accent2">
                                  <a:lumMod val="50000"/>
                                </a:schemeClr>
                              </a:solidFill>
                              <a:latin typeface="Cambria Math" panose="02040503050406030204" pitchFamily="18" charset="0"/>
                            </a:rPr>
                            <m:t>𝒏</m:t>
                          </m:r>
                          <m:r>
                            <a:rPr lang="pt-BR" altLang="zh-CN" b="1" i="1" smtClean="0">
                              <a:solidFill>
                                <a:schemeClr val="accent2">
                                  <a:lumMod val="50000"/>
                                </a:schemeClr>
                              </a:solidFill>
                              <a:latin typeface="Cambria Math" panose="02040503050406030204" pitchFamily="18" charset="0"/>
                            </a:rPr>
                            <m:t>+</m:t>
                          </m:r>
                          <m:sSub>
                            <m:sSubPr>
                              <m:ctrlPr>
                                <a:rPr lang="pt-BR" altLang="zh-CN" b="1" i="1" smtClean="0">
                                  <a:solidFill>
                                    <a:schemeClr val="accent2">
                                      <a:lumMod val="50000"/>
                                    </a:schemeClr>
                                  </a:solidFill>
                                  <a:latin typeface="Cambria Math" panose="02040503050406030204" pitchFamily="18" charset="0"/>
                                </a:rPr>
                              </m:ctrlPr>
                            </m:sSubPr>
                            <m:e>
                              <m:r>
                                <a:rPr lang="pt-BR" altLang="zh-CN" b="1" i="1" smtClean="0">
                                  <a:solidFill>
                                    <a:schemeClr val="accent2">
                                      <a:lumMod val="50000"/>
                                    </a:schemeClr>
                                  </a:solidFill>
                                  <a:latin typeface="Cambria Math" panose="02040503050406030204" pitchFamily="18" charset="0"/>
                                </a:rPr>
                                <m:t>𝒑</m:t>
                              </m:r>
                            </m:e>
                            <m:sub>
                              <m:r>
                                <a:rPr lang="pt-BR" altLang="zh-CN" b="1" i="1" smtClean="0">
                                  <a:solidFill>
                                    <a:schemeClr val="accent2">
                                      <a:lumMod val="50000"/>
                                    </a:schemeClr>
                                  </a:solidFill>
                                  <a:latin typeface="Cambria Math" panose="02040503050406030204" pitchFamily="18" charset="0"/>
                                </a:rPr>
                                <m:t>𝟎</m:t>
                              </m:r>
                            </m:sub>
                          </m:sSub>
                          <m:r>
                            <a:rPr lang="pt-BR" altLang="zh-CN" b="1" i="1" smtClean="0">
                              <a:solidFill>
                                <a:schemeClr val="accent2">
                                  <a:lumMod val="50000"/>
                                </a:schemeClr>
                              </a:solidFill>
                              <a:latin typeface="Cambria Math" panose="02040503050406030204" pitchFamily="18" charset="0"/>
                            </a:rPr>
                            <m:t>= </m:t>
                          </m:r>
                          <m:r>
                            <a:rPr lang="pt-BR" altLang="zh-CN" b="1" i="1" smtClean="0">
                              <a:solidFill>
                                <a:schemeClr val="accent2">
                                  <a:lumMod val="50000"/>
                                </a:schemeClr>
                              </a:solidFill>
                              <a:latin typeface="Cambria Math" panose="02040503050406030204" pitchFamily="18" charset="0"/>
                            </a:rPr>
                            <m:t>𝟐</m:t>
                          </m:r>
                          <m:d>
                            <m:dPr>
                              <m:ctrlPr>
                                <a:rPr lang="pt-BR" altLang="zh-CN" b="1" i="1" smtClean="0">
                                  <a:solidFill>
                                    <a:schemeClr val="accent2">
                                      <a:lumMod val="50000"/>
                                    </a:schemeClr>
                                  </a:solidFill>
                                  <a:latin typeface="Cambria Math" panose="02040503050406030204" pitchFamily="18" charset="0"/>
                                </a:rPr>
                              </m:ctrlPr>
                            </m:dPr>
                            <m:e>
                              <m:sSub>
                                <m:sSubPr>
                                  <m:ctrlPr>
                                    <a:rPr lang="pt-BR" altLang="zh-CN" b="1" i="1" smtClean="0">
                                      <a:solidFill>
                                        <a:schemeClr val="accent2">
                                          <a:lumMod val="50000"/>
                                        </a:schemeClr>
                                      </a:solidFill>
                                      <a:latin typeface="Cambria Math" panose="02040503050406030204" pitchFamily="18" charset="0"/>
                                    </a:rPr>
                                  </m:ctrlPr>
                                </m:sSubPr>
                                <m:e>
                                  <m:r>
                                    <a:rPr lang="pt-BR" altLang="zh-CN" b="1" i="1" smtClean="0">
                                      <a:solidFill>
                                        <a:schemeClr val="accent2">
                                          <a:lumMod val="50000"/>
                                        </a:schemeClr>
                                      </a:solidFill>
                                      <a:latin typeface="Cambria Math" panose="02040503050406030204" pitchFamily="18" charset="0"/>
                                    </a:rPr>
                                    <m:t>𝒑</m:t>
                                  </m:r>
                                </m:e>
                                <m:sub>
                                  <m:r>
                                    <a:rPr lang="pt-BR" altLang="zh-CN" b="1" i="1" smtClean="0">
                                      <a:solidFill>
                                        <a:schemeClr val="accent2">
                                          <a:lumMod val="50000"/>
                                        </a:schemeClr>
                                      </a:solidFill>
                                      <a:latin typeface="Cambria Math" panose="02040503050406030204" pitchFamily="18" charset="0"/>
                                    </a:rPr>
                                    <m:t>𝟐</m:t>
                                  </m:r>
                                </m:sub>
                              </m:sSub>
                              <m:sSup>
                                <m:sSupPr>
                                  <m:ctrlPr>
                                    <a:rPr lang="pt-BR" altLang="zh-CN" b="1" i="1" smtClean="0">
                                      <a:solidFill>
                                        <a:schemeClr val="accent2">
                                          <a:lumMod val="50000"/>
                                        </a:schemeClr>
                                      </a:solidFill>
                                      <a:latin typeface="Cambria Math" panose="02040503050406030204" pitchFamily="18" charset="0"/>
                                    </a:rPr>
                                  </m:ctrlPr>
                                </m:sSupPr>
                                <m:e>
                                  <m:d>
                                    <m:dPr>
                                      <m:ctrlPr>
                                        <a:rPr lang="pt-BR" altLang="zh-CN" b="1" i="1" smtClean="0">
                                          <a:solidFill>
                                            <a:schemeClr val="accent2">
                                              <a:lumMod val="50000"/>
                                            </a:schemeClr>
                                          </a:solidFill>
                                          <a:latin typeface="Cambria Math" panose="02040503050406030204" pitchFamily="18" charset="0"/>
                                        </a:rPr>
                                      </m:ctrlPr>
                                    </m:dPr>
                                    <m:e>
                                      <m:r>
                                        <a:rPr lang="pt-BR" altLang="zh-CN" b="1" i="1" smtClean="0">
                                          <a:solidFill>
                                            <a:schemeClr val="accent2">
                                              <a:lumMod val="50000"/>
                                            </a:schemeClr>
                                          </a:solidFill>
                                          <a:latin typeface="Cambria Math" panose="02040503050406030204" pitchFamily="18" charset="0"/>
                                        </a:rPr>
                                        <m:t>𝒏</m:t>
                                      </m:r>
                                      <m:r>
                                        <a:rPr lang="pt-BR" altLang="zh-CN" b="1" i="1" smtClean="0">
                                          <a:solidFill>
                                            <a:schemeClr val="accent2">
                                              <a:lumMod val="50000"/>
                                            </a:schemeClr>
                                          </a:solidFill>
                                          <a:latin typeface="Cambria Math" panose="02040503050406030204" pitchFamily="18" charset="0"/>
                                        </a:rPr>
                                        <m:t>−</m:t>
                                      </m:r>
                                      <m:r>
                                        <a:rPr lang="pt-BR" altLang="zh-CN" b="1" i="1" smtClean="0">
                                          <a:solidFill>
                                            <a:schemeClr val="accent2">
                                              <a:lumMod val="50000"/>
                                            </a:schemeClr>
                                          </a:solidFill>
                                          <a:latin typeface="Cambria Math" panose="02040503050406030204" pitchFamily="18" charset="0"/>
                                        </a:rPr>
                                        <m:t>𝟏</m:t>
                                      </m:r>
                                    </m:e>
                                  </m:d>
                                </m:e>
                                <m:sup>
                                  <m:r>
                                    <a:rPr lang="pt-BR" altLang="zh-CN" b="1" i="1" smtClean="0">
                                      <a:solidFill>
                                        <a:schemeClr val="accent2">
                                          <a:lumMod val="50000"/>
                                        </a:schemeClr>
                                      </a:solidFill>
                                      <a:latin typeface="Cambria Math" panose="02040503050406030204" pitchFamily="18" charset="0"/>
                                    </a:rPr>
                                    <m:t>𝟐</m:t>
                                  </m:r>
                                </m:sup>
                              </m:sSup>
                              <m:r>
                                <a:rPr lang="pt-BR" altLang="zh-CN" b="1" i="1" smtClean="0">
                                  <a:solidFill>
                                    <a:schemeClr val="accent2">
                                      <a:lumMod val="50000"/>
                                    </a:schemeClr>
                                  </a:solidFill>
                                  <a:latin typeface="Cambria Math" panose="02040503050406030204" pitchFamily="18" charset="0"/>
                                </a:rPr>
                                <m:t>+ </m:t>
                              </m:r>
                              <m:sSub>
                                <m:sSubPr>
                                  <m:ctrlPr>
                                    <a:rPr lang="pt-BR" altLang="zh-CN" b="1" i="1" smtClean="0">
                                      <a:solidFill>
                                        <a:schemeClr val="accent2">
                                          <a:lumMod val="50000"/>
                                        </a:schemeClr>
                                      </a:solidFill>
                                      <a:latin typeface="Cambria Math" panose="02040503050406030204" pitchFamily="18" charset="0"/>
                                    </a:rPr>
                                  </m:ctrlPr>
                                </m:sSubPr>
                                <m:e>
                                  <m:r>
                                    <a:rPr lang="pt-BR" altLang="zh-CN" b="1" i="1" smtClean="0">
                                      <a:solidFill>
                                        <a:schemeClr val="accent2">
                                          <a:lumMod val="50000"/>
                                        </a:schemeClr>
                                      </a:solidFill>
                                      <a:latin typeface="Cambria Math" panose="02040503050406030204" pitchFamily="18" charset="0"/>
                                    </a:rPr>
                                    <m:t>𝒑</m:t>
                                  </m:r>
                                </m:e>
                                <m:sub>
                                  <m:r>
                                    <a:rPr lang="pt-BR" altLang="zh-CN" b="1" i="1" smtClean="0">
                                      <a:solidFill>
                                        <a:schemeClr val="accent2">
                                          <a:lumMod val="50000"/>
                                        </a:schemeClr>
                                      </a:solidFill>
                                      <a:latin typeface="Cambria Math" panose="02040503050406030204" pitchFamily="18" charset="0"/>
                                    </a:rPr>
                                    <m:t>𝟏</m:t>
                                  </m:r>
                                </m:sub>
                              </m:sSub>
                              <m:d>
                                <m:dPr>
                                  <m:ctrlPr>
                                    <a:rPr lang="pt-BR" altLang="zh-CN" b="1" i="1" smtClean="0">
                                      <a:solidFill>
                                        <a:schemeClr val="accent2">
                                          <a:lumMod val="50000"/>
                                        </a:schemeClr>
                                      </a:solidFill>
                                      <a:latin typeface="Cambria Math" panose="02040503050406030204" pitchFamily="18" charset="0"/>
                                    </a:rPr>
                                  </m:ctrlPr>
                                </m:dPr>
                                <m:e>
                                  <m:r>
                                    <a:rPr lang="pt-BR" altLang="zh-CN" b="1" i="1" smtClean="0">
                                      <a:solidFill>
                                        <a:schemeClr val="accent2">
                                          <a:lumMod val="50000"/>
                                        </a:schemeClr>
                                      </a:solidFill>
                                      <a:latin typeface="Cambria Math" panose="02040503050406030204" pitchFamily="18" charset="0"/>
                                    </a:rPr>
                                    <m:t>𝒏</m:t>
                                  </m:r>
                                  <m:r>
                                    <a:rPr lang="pt-BR" altLang="zh-CN" b="1" i="1" smtClean="0">
                                      <a:solidFill>
                                        <a:schemeClr val="accent2">
                                          <a:lumMod val="50000"/>
                                        </a:schemeClr>
                                      </a:solidFill>
                                      <a:latin typeface="Cambria Math" panose="02040503050406030204" pitchFamily="18" charset="0"/>
                                    </a:rPr>
                                    <m:t>−</m:t>
                                  </m:r>
                                  <m:r>
                                    <a:rPr lang="pt-BR" altLang="zh-CN" b="1" i="1" smtClean="0">
                                      <a:solidFill>
                                        <a:schemeClr val="accent2">
                                          <a:lumMod val="50000"/>
                                        </a:schemeClr>
                                      </a:solidFill>
                                      <a:latin typeface="Cambria Math" panose="02040503050406030204" pitchFamily="18" charset="0"/>
                                    </a:rPr>
                                    <m:t>𝟏</m:t>
                                  </m:r>
                                </m:e>
                              </m:d>
                              <m:r>
                                <a:rPr lang="pt-BR" altLang="zh-CN" b="1" i="1" smtClean="0">
                                  <a:solidFill>
                                    <a:schemeClr val="accent2">
                                      <a:lumMod val="50000"/>
                                    </a:schemeClr>
                                  </a:solidFill>
                                  <a:latin typeface="Cambria Math" panose="02040503050406030204" pitchFamily="18" charset="0"/>
                                </a:rPr>
                                <m:t>+ </m:t>
                              </m:r>
                              <m:sSub>
                                <m:sSubPr>
                                  <m:ctrlPr>
                                    <a:rPr lang="pt-BR" altLang="zh-CN" b="1" i="1" smtClean="0">
                                      <a:solidFill>
                                        <a:schemeClr val="accent2">
                                          <a:lumMod val="50000"/>
                                        </a:schemeClr>
                                      </a:solidFill>
                                      <a:latin typeface="Cambria Math" panose="02040503050406030204" pitchFamily="18" charset="0"/>
                                    </a:rPr>
                                  </m:ctrlPr>
                                </m:sSubPr>
                                <m:e>
                                  <m:r>
                                    <a:rPr lang="pt-BR" altLang="zh-CN" b="1" i="1" smtClean="0">
                                      <a:solidFill>
                                        <a:schemeClr val="accent2">
                                          <a:lumMod val="50000"/>
                                        </a:schemeClr>
                                      </a:solidFill>
                                      <a:latin typeface="Cambria Math" panose="02040503050406030204" pitchFamily="18" charset="0"/>
                                    </a:rPr>
                                    <m:t>𝒑</m:t>
                                  </m:r>
                                </m:e>
                                <m:sub>
                                  <m:r>
                                    <a:rPr lang="pt-BR" altLang="zh-CN" b="1" i="1" smtClean="0">
                                      <a:solidFill>
                                        <a:schemeClr val="accent2">
                                          <a:lumMod val="50000"/>
                                        </a:schemeClr>
                                      </a:solidFill>
                                      <a:latin typeface="Cambria Math" panose="02040503050406030204" pitchFamily="18" charset="0"/>
                                    </a:rPr>
                                    <m:t>𝟎</m:t>
                                  </m:r>
                                </m:sub>
                              </m:sSub>
                            </m:e>
                          </m:d>
                          <m:r>
                            <a:rPr lang="pt-BR" altLang="zh-CN" b="1" i="1" smtClean="0">
                              <a:solidFill>
                                <a:schemeClr val="accent2">
                                  <a:lumMod val="50000"/>
                                </a:schemeClr>
                              </a:solidFill>
                              <a:latin typeface="Cambria Math" panose="02040503050406030204" pitchFamily="18" charset="0"/>
                            </a:rPr>
                            <m:t>+ </m:t>
                          </m:r>
                          <m:r>
                            <a:rPr lang="pt-BR" altLang="zh-CN" b="1" i="1" smtClean="0">
                              <a:solidFill>
                                <a:schemeClr val="accent2">
                                  <a:lumMod val="50000"/>
                                </a:schemeClr>
                              </a:solidFill>
                              <a:latin typeface="Cambria Math" panose="02040503050406030204" pitchFamily="18" charset="0"/>
                            </a:rPr>
                            <m:t>𝟐</m:t>
                          </m:r>
                          <m:sSup>
                            <m:sSupPr>
                              <m:ctrlPr>
                                <a:rPr lang="pt-BR" altLang="zh-CN" b="1" i="1" smtClean="0">
                                  <a:solidFill>
                                    <a:schemeClr val="accent2">
                                      <a:lumMod val="50000"/>
                                    </a:schemeClr>
                                  </a:solidFill>
                                  <a:latin typeface="Cambria Math" panose="02040503050406030204" pitchFamily="18" charset="0"/>
                                </a:rPr>
                              </m:ctrlPr>
                            </m:sSupPr>
                            <m:e>
                              <m:r>
                                <a:rPr lang="pt-BR" altLang="zh-CN" b="1" i="1" smtClean="0">
                                  <a:solidFill>
                                    <a:schemeClr val="accent2">
                                      <a:lumMod val="50000"/>
                                    </a:schemeClr>
                                  </a:solidFill>
                                  <a:latin typeface="Cambria Math" panose="02040503050406030204" pitchFamily="18" charset="0"/>
                                </a:rPr>
                                <m:t>𝒏</m:t>
                              </m:r>
                            </m:e>
                            <m:sup>
                              <m:r>
                                <a:rPr lang="pt-BR" altLang="zh-CN" b="1" i="1" smtClean="0">
                                  <a:solidFill>
                                    <a:schemeClr val="accent2">
                                      <a:lumMod val="50000"/>
                                    </a:schemeClr>
                                  </a:solidFill>
                                  <a:latin typeface="Cambria Math" panose="02040503050406030204" pitchFamily="18" charset="0"/>
                                </a:rPr>
                                <m:t>𝟐</m:t>
                              </m:r>
                            </m:sup>
                          </m:sSup>
                        </m:oMath>
                      </m:oMathPara>
                    </a14:m>
                    <a:endParaRPr lang="zh-CN" altLang="en-US" b="1">
                      <a:solidFill>
                        <a:schemeClr val="accent2">
                          <a:lumMod val="50000"/>
                        </a:schemeClr>
                      </a:solidFill>
                    </a:endParaRPr>
                  </a:p>
                </p:txBody>
              </p:sp>
            </mc:Choice>
            <mc:Fallback>
              <p:sp>
                <p:nvSpPr>
                  <p:cNvPr id="24" name="文本框 23"/>
                  <p:cNvSpPr txBox="1">
                    <a:spLocks noRot="1" noChangeAspect="1" noMove="1" noResize="1" noEditPoints="1" noAdjustHandles="1" noChangeArrowheads="1" noChangeShapeType="1" noTextEdit="1"/>
                  </p:cNvSpPr>
                  <p:nvPr/>
                </p:nvSpPr>
                <p:spPr>
                  <a:xfrm>
                    <a:off x="1234873" y="3210776"/>
                    <a:ext cx="4821979" cy="688202"/>
                  </a:xfrm>
                  <a:prstGeom prst="rect">
                    <a:avLst/>
                  </a:prstGeom>
                  <a:blipFill rotWithShape="1">
                    <a:blip r:embed="rId10"/>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文本框 24"/>
                  <p:cNvSpPr txBox="1"/>
                  <p:nvPr/>
                </p:nvSpPr>
                <p:spPr>
                  <a:xfrm>
                    <a:off x="7482499" y="3218545"/>
                    <a:ext cx="2940822" cy="652551"/>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ctrlPr>
                                <a:rPr lang="pt-BR" altLang="zh-CN" b="1" i="1" smtClean="0">
                                  <a:solidFill>
                                    <a:schemeClr val="accent2">
                                      <a:lumMod val="50000"/>
                                    </a:schemeClr>
                                  </a:solidFill>
                                  <a:latin typeface="Cambria Math" panose="02040503050406030204" pitchFamily="18" charset="0"/>
                                </a:rPr>
                              </m:ctrlPr>
                            </m:dPr>
                            <m:e>
                              <m:sSub>
                                <m:sSubPr>
                                  <m:ctrlPr>
                                    <a:rPr lang="pt-BR" altLang="zh-CN" b="1" i="1">
                                      <a:solidFill>
                                        <a:schemeClr val="accent2">
                                          <a:lumMod val="50000"/>
                                        </a:schemeClr>
                                      </a:solidFill>
                                      <a:latin typeface="Cambria Math" panose="02040503050406030204" pitchFamily="18" charset="0"/>
                                    </a:rPr>
                                  </m:ctrlPr>
                                </m:sSubPr>
                                <m:e>
                                  <m:r>
                                    <a:rPr lang="pt-BR" altLang="zh-CN" b="1" i="1">
                                      <a:solidFill>
                                        <a:schemeClr val="accent2">
                                          <a:lumMod val="50000"/>
                                        </a:schemeClr>
                                      </a:solidFill>
                                      <a:latin typeface="Cambria Math" panose="02040503050406030204" pitchFamily="18" charset="0"/>
                                    </a:rPr>
                                    <m:t>𝒑</m:t>
                                  </m:r>
                                </m:e>
                                <m:sub>
                                  <m:r>
                                    <a:rPr lang="pt-BR" altLang="zh-CN" b="1" i="1">
                                      <a:solidFill>
                                        <a:schemeClr val="accent2">
                                          <a:lumMod val="50000"/>
                                        </a:schemeClr>
                                      </a:solidFill>
                                      <a:latin typeface="Cambria Math" panose="02040503050406030204" pitchFamily="18" charset="0"/>
                                    </a:rPr>
                                    <m:t>𝟐</m:t>
                                  </m:r>
                                </m:sub>
                              </m:sSub>
                              <m:r>
                                <a:rPr lang="pt-BR" altLang="zh-CN" b="1" i="1">
                                  <a:solidFill>
                                    <a:schemeClr val="accent2">
                                      <a:lumMod val="50000"/>
                                    </a:schemeClr>
                                  </a:solidFill>
                                  <a:latin typeface="Cambria Math" panose="02040503050406030204" pitchFamily="18" charset="0"/>
                                </a:rPr>
                                <m:t>+</m:t>
                              </m:r>
                              <m:r>
                                <a:rPr lang="pt-BR" altLang="zh-CN" b="1" i="1">
                                  <a:solidFill>
                                    <a:schemeClr val="accent2">
                                      <a:lumMod val="50000"/>
                                    </a:schemeClr>
                                  </a:solidFill>
                                  <a:latin typeface="Cambria Math" panose="02040503050406030204" pitchFamily="18" charset="0"/>
                                </a:rPr>
                                <m:t>𝟐</m:t>
                              </m:r>
                            </m:e>
                          </m:d>
                          <m:sSup>
                            <m:sSupPr>
                              <m:ctrlPr>
                                <a:rPr lang="pt-BR" altLang="zh-CN" b="1" i="1">
                                  <a:solidFill>
                                    <a:schemeClr val="accent2">
                                      <a:lumMod val="50000"/>
                                    </a:schemeClr>
                                  </a:solidFill>
                                  <a:latin typeface="Cambria Math" panose="02040503050406030204" pitchFamily="18" charset="0"/>
                                </a:rPr>
                              </m:ctrlPr>
                            </m:sSupPr>
                            <m:e>
                              <m:r>
                                <a:rPr lang="pt-BR" altLang="zh-CN" b="1" i="1">
                                  <a:solidFill>
                                    <a:schemeClr val="accent2">
                                      <a:lumMod val="50000"/>
                                    </a:schemeClr>
                                  </a:solidFill>
                                  <a:latin typeface="Cambria Math" panose="02040503050406030204" pitchFamily="18" charset="0"/>
                                </a:rPr>
                                <m:t>𝒏</m:t>
                              </m:r>
                            </m:e>
                            <m:sup>
                              <m:r>
                                <a:rPr lang="pt-BR" altLang="zh-CN" b="1" i="1">
                                  <a:solidFill>
                                    <a:schemeClr val="accent2">
                                      <a:lumMod val="50000"/>
                                    </a:schemeClr>
                                  </a:solidFill>
                                  <a:latin typeface="Cambria Math" panose="02040503050406030204" pitchFamily="18" charset="0"/>
                                </a:rPr>
                                <m:t>𝟐</m:t>
                              </m:r>
                            </m:sup>
                          </m:sSup>
                          <m:r>
                            <a:rPr lang="pt-BR" altLang="zh-CN" b="1" i="1">
                              <a:solidFill>
                                <a:schemeClr val="accent2">
                                  <a:lumMod val="50000"/>
                                </a:schemeClr>
                              </a:solidFill>
                              <a:latin typeface="Cambria Math" panose="02040503050406030204" pitchFamily="18" charset="0"/>
                            </a:rPr>
                            <m:t>+ </m:t>
                          </m:r>
                          <m:d>
                            <m:dPr>
                              <m:ctrlPr>
                                <a:rPr lang="pt-BR" altLang="zh-CN" b="1" i="1">
                                  <a:solidFill>
                                    <a:schemeClr val="accent2">
                                      <a:lumMod val="50000"/>
                                    </a:schemeClr>
                                  </a:solidFill>
                                  <a:latin typeface="Cambria Math" panose="02040503050406030204" pitchFamily="18" charset="0"/>
                                </a:rPr>
                              </m:ctrlPr>
                            </m:dPr>
                            <m:e>
                              <m:sSub>
                                <m:sSubPr>
                                  <m:ctrlPr>
                                    <a:rPr lang="pt-BR" altLang="zh-CN" b="1" i="1">
                                      <a:solidFill>
                                        <a:schemeClr val="accent2">
                                          <a:lumMod val="50000"/>
                                        </a:schemeClr>
                                      </a:solidFill>
                                      <a:latin typeface="Cambria Math" panose="02040503050406030204" pitchFamily="18" charset="0"/>
                                    </a:rPr>
                                  </m:ctrlPr>
                                </m:sSubPr>
                                <m:e>
                                  <m:r>
                                    <a:rPr lang="pt-BR" altLang="zh-CN" b="1" i="1">
                                      <a:solidFill>
                                        <a:schemeClr val="accent2">
                                          <a:lumMod val="50000"/>
                                        </a:schemeClr>
                                      </a:solidFill>
                                      <a:latin typeface="Cambria Math" panose="02040503050406030204" pitchFamily="18" charset="0"/>
                                    </a:rPr>
                                    <m:t>𝒑</m:t>
                                  </m:r>
                                </m:e>
                                <m:sub>
                                  <m:r>
                                    <a:rPr lang="pt-BR" altLang="zh-CN" b="1" i="1">
                                      <a:solidFill>
                                        <a:schemeClr val="accent2">
                                          <a:lumMod val="50000"/>
                                        </a:schemeClr>
                                      </a:solidFill>
                                      <a:latin typeface="Cambria Math" panose="02040503050406030204" pitchFamily="18" charset="0"/>
                                    </a:rPr>
                                    <m:t>𝟏</m:t>
                                  </m:r>
                                </m:sub>
                              </m:sSub>
                              <m:r>
                                <a:rPr lang="pt-BR" altLang="zh-CN" b="1" i="1">
                                  <a:solidFill>
                                    <a:schemeClr val="accent2">
                                      <a:lumMod val="50000"/>
                                    </a:schemeClr>
                                  </a:solidFill>
                                  <a:latin typeface="Cambria Math" panose="02040503050406030204" pitchFamily="18" charset="0"/>
                                </a:rPr>
                                <m:t>−</m:t>
                              </m:r>
                              <m:r>
                                <a:rPr lang="pt-BR" altLang="zh-CN" b="1" i="1">
                                  <a:solidFill>
                                    <a:schemeClr val="accent2">
                                      <a:lumMod val="50000"/>
                                    </a:schemeClr>
                                  </a:solidFill>
                                  <a:latin typeface="Cambria Math" panose="02040503050406030204" pitchFamily="18" charset="0"/>
                                </a:rPr>
                                <m:t>𝟒</m:t>
                              </m:r>
                              <m:sSub>
                                <m:sSubPr>
                                  <m:ctrlPr>
                                    <a:rPr lang="pt-BR" altLang="zh-CN" b="1" i="1">
                                      <a:solidFill>
                                        <a:schemeClr val="accent2">
                                          <a:lumMod val="50000"/>
                                        </a:schemeClr>
                                      </a:solidFill>
                                      <a:latin typeface="Cambria Math" panose="02040503050406030204" pitchFamily="18" charset="0"/>
                                    </a:rPr>
                                  </m:ctrlPr>
                                </m:sSubPr>
                                <m:e>
                                  <m:r>
                                    <a:rPr lang="pt-BR" altLang="zh-CN" b="1" i="1">
                                      <a:solidFill>
                                        <a:schemeClr val="accent2">
                                          <a:lumMod val="50000"/>
                                        </a:schemeClr>
                                      </a:solidFill>
                                      <a:latin typeface="Cambria Math" panose="02040503050406030204" pitchFamily="18" charset="0"/>
                                    </a:rPr>
                                    <m:t>𝒑</m:t>
                                  </m:r>
                                </m:e>
                                <m:sub>
                                  <m:r>
                                    <a:rPr lang="pt-BR" altLang="zh-CN" b="1" i="1">
                                      <a:solidFill>
                                        <a:schemeClr val="accent2">
                                          <a:lumMod val="50000"/>
                                        </a:schemeClr>
                                      </a:solidFill>
                                      <a:latin typeface="Cambria Math" panose="02040503050406030204" pitchFamily="18" charset="0"/>
                                    </a:rPr>
                                    <m:t>𝟐</m:t>
                                  </m:r>
                                </m:sub>
                              </m:sSub>
                            </m:e>
                          </m:d>
                          <m:r>
                            <a:rPr lang="pt-BR" altLang="zh-CN" b="1" i="1">
                              <a:solidFill>
                                <a:schemeClr val="accent2">
                                  <a:lumMod val="50000"/>
                                </a:schemeClr>
                              </a:solidFill>
                              <a:latin typeface="Cambria Math" panose="02040503050406030204" pitchFamily="18" charset="0"/>
                            </a:rPr>
                            <m:t>𝒏</m:t>
                          </m:r>
                          <m:r>
                            <a:rPr lang="pt-BR" altLang="zh-CN" b="1" i="1">
                              <a:solidFill>
                                <a:schemeClr val="accent2">
                                  <a:lumMod val="50000"/>
                                </a:schemeClr>
                              </a:solidFill>
                              <a:latin typeface="Cambria Math" panose="02040503050406030204" pitchFamily="18" charset="0"/>
                            </a:rPr>
                            <m:t> + </m:t>
                          </m:r>
                          <m:d>
                            <m:dPr>
                              <m:ctrlPr>
                                <a:rPr lang="pt-BR" altLang="zh-CN" b="1" i="1">
                                  <a:solidFill>
                                    <a:schemeClr val="accent2">
                                      <a:lumMod val="50000"/>
                                    </a:schemeClr>
                                  </a:solidFill>
                                  <a:latin typeface="Cambria Math" panose="02040503050406030204" pitchFamily="18" charset="0"/>
                                </a:rPr>
                              </m:ctrlPr>
                            </m:dPr>
                            <m:e>
                              <m:r>
                                <a:rPr lang="pt-BR" altLang="zh-CN" b="1" i="1">
                                  <a:solidFill>
                                    <a:schemeClr val="accent2">
                                      <a:lumMod val="50000"/>
                                    </a:schemeClr>
                                  </a:solidFill>
                                  <a:latin typeface="Cambria Math" panose="02040503050406030204" pitchFamily="18" charset="0"/>
                                </a:rPr>
                                <m:t>𝟐</m:t>
                              </m:r>
                              <m:sSub>
                                <m:sSubPr>
                                  <m:ctrlPr>
                                    <a:rPr lang="pt-BR" altLang="zh-CN" b="1" i="1">
                                      <a:solidFill>
                                        <a:schemeClr val="accent2">
                                          <a:lumMod val="50000"/>
                                        </a:schemeClr>
                                      </a:solidFill>
                                      <a:latin typeface="Cambria Math" panose="02040503050406030204" pitchFamily="18" charset="0"/>
                                    </a:rPr>
                                  </m:ctrlPr>
                                </m:sSubPr>
                                <m:e>
                                  <m:r>
                                    <a:rPr lang="pt-BR" altLang="zh-CN" b="1" i="1">
                                      <a:solidFill>
                                        <a:schemeClr val="accent2">
                                          <a:lumMod val="50000"/>
                                        </a:schemeClr>
                                      </a:solidFill>
                                      <a:latin typeface="Cambria Math" panose="02040503050406030204" pitchFamily="18" charset="0"/>
                                    </a:rPr>
                                    <m:t>𝒑</m:t>
                                  </m:r>
                                </m:e>
                                <m:sub>
                                  <m:r>
                                    <a:rPr lang="pt-BR" altLang="zh-CN" b="1" i="1">
                                      <a:solidFill>
                                        <a:schemeClr val="accent2">
                                          <a:lumMod val="50000"/>
                                        </a:schemeClr>
                                      </a:solidFill>
                                      <a:latin typeface="Cambria Math" panose="02040503050406030204" pitchFamily="18" charset="0"/>
                                    </a:rPr>
                                    <m:t>𝟐</m:t>
                                  </m:r>
                                </m:sub>
                              </m:sSub>
                              <m:r>
                                <a:rPr lang="pt-BR" altLang="zh-CN" b="1" i="1">
                                  <a:solidFill>
                                    <a:schemeClr val="accent2">
                                      <a:lumMod val="50000"/>
                                    </a:schemeClr>
                                  </a:solidFill>
                                  <a:latin typeface="Cambria Math" panose="02040503050406030204" pitchFamily="18" charset="0"/>
                                </a:rPr>
                                <m:t>−</m:t>
                              </m:r>
                              <m:r>
                                <a:rPr lang="pt-BR" altLang="zh-CN" b="1" i="1">
                                  <a:solidFill>
                                    <a:schemeClr val="accent2">
                                      <a:lumMod val="50000"/>
                                    </a:schemeClr>
                                  </a:solidFill>
                                  <a:latin typeface="Cambria Math" panose="02040503050406030204" pitchFamily="18" charset="0"/>
                                </a:rPr>
                                <m:t>𝟐</m:t>
                              </m:r>
                              <m:sSub>
                                <m:sSubPr>
                                  <m:ctrlPr>
                                    <a:rPr lang="pt-BR" altLang="zh-CN" b="1" i="1">
                                      <a:solidFill>
                                        <a:schemeClr val="accent2">
                                          <a:lumMod val="50000"/>
                                        </a:schemeClr>
                                      </a:solidFill>
                                      <a:latin typeface="Cambria Math" panose="02040503050406030204" pitchFamily="18" charset="0"/>
                                    </a:rPr>
                                  </m:ctrlPr>
                                </m:sSubPr>
                                <m:e>
                                  <m:r>
                                    <a:rPr lang="pt-BR" altLang="zh-CN" b="1" i="1">
                                      <a:solidFill>
                                        <a:schemeClr val="accent2">
                                          <a:lumMod val="50000"/>
                                        </a:schemeClr>
                                      </a:solidFill>
                                      <a:latin typeface="Cambria Math" panose="02040503050406030204" pitchFamily="18" charset="0"/>
                                    </a:rPr>
                                    <m:t>𝒑</m:t>
                                  </m:r>
                                </m:e>
                                <m:sub>
                                  <m:r>
                                    <a:rPr lang="pt-BR" altLang="zh-CN" b="1" i="1">
                                      <a:solidFill>
                                        <a:schemeClr val="accent2">
                                          <a:lumMod val="50000"/>
                                        </a:schemeClr>
                                      </a:solidFill>
                                      <a:latin typeface="Cambria Math" panose="02040503050406030204" pitchFamily="18" charset="0"/>
                                    </a:rPr>
                                    <m:t>𝟏</m:t>
                                  </m:r>
                                </m:sub>
                              </m:sSub>
                              <m:r>
                                <a:rPr lang="pt-BR" altLang="zh-CN" b="1" i="1">
                                  <a:solidFill>
                                    <a:schemeClr val="accent2">
                                      <a:lumMod val="50000"/>
                                    </a:schemeClr>
                                  </a:solidFill>
                                  <a:latin typeface="Cambria Math" panose="02040503050406030204" pitchFamily="18" charset="0"/>
                                </a:rPr>
                                <m:t>+</m:t>
                              </m:r>
                              <m:sSub>
                                <m:sSubPr>
                                  <m:ctrlPr>
                                    <a:rPr lang="pt-BR" altLang="zh-CN" b="1" i="1">
                                      <a:solidFill>
                                        <a:schemeClr val="accent2">
                                          <a:lumMod val="50000"/>
                                        </a:schemeClr>
                                      </a:solidFill>
                                      <a:latin typeface="Cambria Math" panose="02040503050406030204" pitchFamily="18" charset="0"/>
                                    </a:rPr>
                                  </m:ctrlPr>
                                </m:sSubPr>
                                <m:e>
                                  <m:r>
                                    <a:rPr lang="pt-BR" altLang="zh-CN" b="1" i="1">
                                      <a:solidFill>
                                        <a:schemeClr val="accent2">
                                          <a:lumMod val="50000"/>
                                        </a:schemeClr>
                                      </a:solidFill>
                                      <a:latin typeface="Cambria Math" panose="02040503050406030204" pitchFamily="18" charset="0"/>
                                    </a:rPr>
                                    <m:t>𝒑</m:t>
                                  </m:r>
                                </m:e>
                                <m:sub>
                                  <m:r>
                                    <a:rPr lang="pt-BR" altLang="zh-CN" b="1" i="1">
                                      <a:solidFill>
                                        <a:schemeClr val="accent2">
                                          <a:lumMod val="50000"/>
                                        </a:schemeClr>
                                      </a:solidFill>
                                      <a:latin typeface="Cambria Math" panose="02040503050406030204" pitchFamily="18" charset="0"/>
                                    </a:rPr>
                                    <m:t>𝟎</m:t>
                                  </m:r>
                                </m:sub>
                              </m:sSub>
                            </m:e>
                          </m:d>
                          <m:r>
                            <a:rPr lang="pt-BR" altLang="zh-CN" b="1" i="1">
                              <a:solidFill>
                                <a:schemeClr val="accent2">
                                  <a:lumMod val="50000"/>
                                </a:schemeClr>
                              </a:solidFill>
                              <a:latin typeface="Cambria Math" panose="02040503050406030204" pitchFamily="18" charset="0"/>
                            </a:rPr>
                            <m:t>= </m:t>
                          </m:r>
                          <m:r>
                            <a:rPr lang="pt-BR" altLang="zh-CN" b="1" i="1">
                              <a:solidFill>
                                <a:schemeClr val="accent2">
                                  <a:lumMod val="50000"/>
                                </a:schemeClr>
                              </a:solidFill>
                              <a:latin typeface="Cambria Math" panose="02040503050406030204" pitchFamily="18" charset="0"/>
                            </a:rPr>
                            <m:t>𝟎</m:t>
                          </m:r>
                        </m:oMath>
                      </m:oMathPara>
                    </a14:m>
                    <a:endParaRPr lang="zh-CN" altLang="en-US" b="1">
                      <a:solidFill>
                        <a:schemeClr val="accent2">
                          <a:lumMod val="50000"/>
                        </a:schemeClr>
                      </a:solidFill>
                    </a:endParaRPr>
                  </a:p>
                </p:txBody>
              </p:sp>
            </mc:Choice>
            <mc:Fallback>
              <p:sp>
                <p:nvSpPr>
                  <p:cNvPr id="25" name="文本框 24"/>
                  <p:cNvSpPr txBox="1">
                    <a:spLocks noRot="1" noChangeAspect="1" noMove="1" noResize="1" noEditPoints="1" noAdjustHandles="1" noChangeArrowheads="1" noChangeShapeType="1" noTextEdit="1"/>
                  </p:cNvSpPr>
                  <p:nvPr/>
                </p:nvSpPr>
                <p:spPr>
                  <a:xfrm>
                    <a:off x="7482499" y="3218545"/>
                    <a:ext cx="2940822" cy="652551"/>
                  </a:xfrm>
                  <a:prstGeom prst="rect">
                    <a:avLst/>
                  </a:prstGeom>
                  <a:blipFill rotWithShape="1">
                    <a:blip r:embed="rId11"/>
                  </a:blipFill>
                </p:spPr>
                <p:txBody>
                  <a:bodyPr/>
                  <a:lstStyle/>
                  <a:p>
                    <a:r>
                      <a:rPr lang="zh-CN" altLang="en-US">
                        <a:noFill/>
                      </a:rPr>
                      <a:t> </a:t>
                    </a:r>
                  </a:p>
                </p:txBody>
              </p:sp>
            </mc:Fallback>
          </mc:AlternateContent>
          <p:sp>
            <p:nvSpPr>
              <p:cNvPr id="40" name="箭头: 右 39"/>
              <p:cNvSpPr/>
              <p:nvPr/>
            </p:nvSpPr>
            <p:spPr>
              <a:xfrm>
                <a:off x="6056851" y="3521960"/>
                <a:ext cx="1425647" cy="610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0" name="文本框 49"/>
                  <p:cNvSpPr txBox="1"/>
                  <p:nvPr/>
                </p:nvSpPr>
                <p:spPr>
                  <a:xfrm>
                    <a:off x="7361789" y="4009775"/>
                    <a:ext cx="3182242" cy="652551"/>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nn-NO" altLang="zh-CN" b="1" i="1" smtClean="0">
                                  <a:solidFill>
                                    <a:schemeClr val="accent2">
                                      <a:lumMod val="50000"/>
                                    </a:schemeClr>
                                  </a:solidFill>
                                  <a:latin typeface="Cambria Math" panose="02040503050406030204" pitchFamily="18" charset="0"/>
                                </a:rPr>
                              </m:ctrlPr>
                            </m:sSubPr>
                            <m:e>
                              <m:r>
                                <a:rPr lang="nn-NO" altLang="zh-CN" b="1" i="1">
                                  <a:solidFill>
                                    <a:schemeClr val="accent2">
                                      <a:lumMod val="50000"/>
                                    </a:schemeClr>
                                  </a:solidFill>
                                  <a:latin typeface="Cambria Math" panose="02040503050406030204" pitchFamily="18" charset="0"/>
                                </a:rPr>
                                <m:t>𝒑</m:t>
                              </m:r>
                            </m:e>
                            <m:sub>
                              <m:r>
                                <a:rPr lang="nn-NO" altLang="zh-CN" b="1" i="1">
                                  <a:solidFill>
                                    <a:schemeClr val="accent2">
                                      <a:lumMod val="50000"/>
                                    </a:schemeClr>
                                  </a:solidFill>
                                  <a:latin typeface="Cambria Math" panose="02040503050406030204" pitchFamily="18" charset="0"/>
                                </a:rPr>
                                <m:t>𝟐</m:t>
                              </m:r>
                            </m:sub>
                          </m:sSub>
                          <m:r>
                            <a:rPr lang="nn-NO" altLang="zh-CN" b="1" i="1">
                              <a:solidFill>
                                <a:schemeClr val="accent2">
                                  <a:lumMod val="50000"/>
                                </a:schemeClr>
                              </a:solidFill>
                              <a:latin typeface="Cambria Math" panose="02040503050406030204" pitchFamily="18" charset="0"/>
                            </a:rPr>
                            <m:t>+</m:t>
                          </m:r>
                          <m:r>
                            <a:rPr lang="nn-NO" altLang="zh-CN" b="1" i="1">
                              <a:solidFill>
                                <a:schemeClr val="accent2">
                                  <a:lumMod val="50000"/>
                                </a:schemeClr>
                              </a:solidFill>
                              <a:latin typeface="Cambria Math" panose="02040503050406030204" pitchFamily="18" charset="0"/>
                            </a:rPr>
                            <m:t>𝟐</m:t>
                          </m:r>
                          <m:r>
                            <a:rPr lang="nn-NO" altLang="zh-CN" b="1" i="1">
                              <a:solidFill>
                                <a:schemeClr val="accent2">
                                  <a:lumMod val="50000"/>
                                </a:schemeClr>
                              </a:solidFill>
                              <a:latin typeface="Cambria Math" panose="02040503050406030204" pitchFamily="18" charset="0"/>
                            </a:rPr>
                            <m:t> = </m:t>
                          </m:r>
                          <m:r>
                            <a:rPr lang="nn-NO" altLang="zh-CN" b="1" i="1">
                              <a:solidFill>
                                <a:schemeClr val="accent2">
                                  <a:lumMod val="50000"/>
                                </a:schemeClr>
                              </a:solidFill>
                              <a:latin typeface="Cambria Math" panose="02040503050406030204" pitchFamily="18" charset="0"/>
                            </a:rPr>
                            <m:t>𝟎</m:t>
                          </m:r>
                          <m:r>
                            <a:rPr lang="en-US" altLang="zh-CN" b="1" i="1" smtClean="0">
                              <a:solidFill>
                                <a:schemeClr val="accent2">
                                  <a:lumMod val="50000"/>
                                </a:schemeClr>
                              </a:solidFill>
                              <a:latin typeface="Cambria Math" panose="02040503050406030204" pitchFamily="18" charset="0"/>
                            </a:rPr>
                            <m:t>   </m:t>
                          </m:r>
                          <m:r>
                            <a:rPr lang="nn-NO" altLang="zh-CN" b="1" i="1">
                              <a:solidFill>
                                <a:schemeClr val="accent2">
                                  <a:lumMod val="50000"/>
                                </a:schemeClr>
                              </a:solidFill>
                              <a:latin typeface="Cambria Math" panose="02040503050406030204" pitchFamily="18" charset="0"/>
                            </a:rPr>
                            <m:t> </m:t>
                          </m:r>
                          <m:sSub>
                            <m:sSubPr>
                              <m:ctrlPr>
                                <a:rPr lang="nn-NO" altLang="zh-CN" b="1" i="1">
                                  <a:solidFill>
                                    <a:schemeClr val="accent2">
                                      <a:lumMod val="50000"/>
                                    </a:schemeClr>
                                  </a:solidFill>
                                  <a:latin typeface="Cambria Math" panose="02040503050406030204" pitchFamily="18" charset="0"/>
                                </a:rPr>
                              </m:ctrlPr>
                            </m:sSubPr>
                            <m:e>
                              <m:r>
                                <a:rPr lang="nn-NO" altLang="zh-CN" b="1" i="1">
                                  <a:solidFill>
                                    <a:schemeClr val="accent2">
                                      <a:lumMod val="50000"/>
                                    </a:schemeClr>
                                  </a:solidFill>
                                  <a:latin typeface="Cambria Math" panose="02040503050406030204" pitchFamily="18" charset="0"/>
                                </a:rPr>
                                <m:t>𝒑</m:t>
                              </m:r>
                            </m:e>
                            <m:sub>
                              <m:r>
                                <a:rPr lang="nn-NO" altLang="zh-CN" b="1" i="1">
                                  <a:solidFill>
                                    <a:schemeClr val="accent2">
                                      <a:lumMod val="50000"/>
                                    </a:schemeClr>
                                  </a:solidFill>
                                  <a:latin typeface="Cambria Math" panose="02040503050406030204" pitchFamily="18" charset="0"/>
                                </a:rPr>
                                <m:t>𝟏</m:t>
                              </m:r>
                            </m:sub>
                          </m:sSub>
                          <m:r>
                            <a:rPr lang="nn-NO" altLang="zh-CN" b="1" i="1">
                              <a:solidFill>
                                <a:schemeClr val="accent2">
                                  <a:lumMod val="50000"/>
                                </a:schemeClr>
                              </a:solidFill>
                              <a:latin typeface="Cambria Math" panose="02040503050406030204" pitchFamily="18" charset="0"/>
                            </a:rPr>
                            <m:t>−</m:t>
                          </m:r>
                          <m:r>
                            <a:rPr lang="nn-NO" altLang="zh-CN" b="1" i="1">
                              <a:solidFill>
                                <a:schemeClr val="accent2">
                                  <a:lumMod val="50000"/>
                                </a:schemeClr>
                              </a:solidFill>
                              <a:latin typeface="Cambria Math" panose="02040503050406030204" pitchFamily="18" charset="0"/>
                            </a:rPr>
                            <m:t>𝟒</m:t>
                          </m:r>
                          <m:sSub>
                            <m:sSubPr>
                              <m:ctrlPr>
                                <a:rPr lang="nn-NO" altLang="zh-CN" b="1" i="1">
                                  <a:solidFill>
                                    <a:schemeClr val="accent2">
                                      <a:lumMod val="50000"/>
                                    </a:schemeClr>
                                  </a:solidFill>
                                  <a:latin typeface="Cambria Math" panose="02040503050406030204" pitchFamily="18" charset="0"/>
                                </a:rPr>
                              </m:ctrlPr>
                            </m:sSubPr>
                            <m:e>
                              <m:r>
                                <a:rPr lang="nn-NO" altLang="zh-CN" b="1" i="1">
                                  <a:solidFill>
                                    <a:schemeClr val="accent2">
                                      <a:lumMod val="50000"/>
                                    </a:schemeClr>
                                  </a:solidFill>
                                  <a:latin typeface="Cambria Math" panose="02040503050406030204" pitchFamily="18" charset="0"/>
                                </a:rPr>
                                <m:t>𝒑</m:t>
                              </m:r>
                            </m:e>
                            <m:sub>
                              <m:r>
                                <a:rPr lang="nn-NO" altLang="zh-CN" b="1" i="1">
                                  <a:solidFill>
                                    <a:schemeClr val="accent2">
                                      <a:lumMod val="50000"/>
                                    </a:schemeClr>
                                  </a:solidFill>
                                  <a:latin typeface="Cambria Math" panose="02040503050406030204" pitchFamily="18" charset="0"/>
                                </a:rPr>
                                <m:t>𝟐</m:t>
                              </m:r>
                            </m:sub>
                          </m:sSub>
                          <m:r>
                            <a:rPr lang="nn-NO" altLang="zh-CN" b="1" i="1">
                              <a:solidFill>
                                <a:schemeClr val="accent2">
                                  <a:lumMod val="50000"/>
                                </a:schemeClr>
                              </a:solidFill>
                              <a:latin typeface="Cambria Math" panose="02040503050406030204" pitchFamily="18" charset="0"/>
                            </a:rPr>
                            <m:t>= </m:t>
                          </m:r>
                          <m:r>
                            <a:rPr lang="nn-NO" altLang="zh-CN" b="1" i="1">
                              <a:solidFill>
                                <a:schemeClr val="accent2">
                                  <a:lumMod val="50000"/>
                                </a:schemeClr>
                              </a:solidFill>
                              <a:latin typeface="Cambria Math" panose="02040503050406030204" pitchFamily="18" charset="0"/>
                            </a:rPr>
                            <m:t>𝟎</m:t>
                          </m:r>
                          <m:r>
                            <a:rPr lang="nn-NO" altLang="zh-CN" b="1" i="1">
                              <a:solidFill>
                                <a:schemeClr val="accent2">
                                  <a:lumMod val="50000"/>
                                </a:schemeClr>
                              </a:solidFill>
                              <a:latin typeface="Cambria Math" panose="02040503050406030204" pitchFamily="18" charset="0"/>
                            </a:rPr>
                            <m:t> </m:t>
                          </m:r>
                        </m:oMath>
                      </m:oMathPara>
                    </a14:m>
                    <a:endParaRPr lang="en-US" altLang="zh-CN" b="1" i="1">
                      <a:solidFill>
                        <a:schemeClr val="accent2">
                          <a:lumMod val="50000"/>
                        </a:schemeClr>
                      </a:solidFill>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nn-NO" altLang="zh-CN" b="1" i="1">
                              <a:solidFill>
                                <a:schemeClr val="accent2">
                                  <a:lumMod val="50000"/>
                                </a:schemeClr>
                              </a:solidFill>
                              <a:latin typeface="Cambria Math" panose="02040503050406030204" pitchFamily="18" charset="0"/>
                            </a:rPr>
                            <m:t>𝟐</m:t>
                          </m:r>
                          <m:sSub>
                            <m:sSubPr>
                              <m:ctrlPr>
                                <a:rPr lang="nn-NO" altLang="zh-CN" b="1" i="1">
                                  <a:solidFill>
                                    <a:schemeClr val="accent2">
                                      <a:lumMod val="50000"/>
                                    </a:schemeClr>
                                  </a:solidFill>
                                  <a:latin typeface="Cambria Math" panose="02040503050406030204" pitchFamily="18" charset="0"/>
                                </a:rPr>
                              </m:ctrlPr>
                            </m:sSubPr>
                            <m:e>
                              <m:r>
                                <a:rPr lang="nn-NO" altLang="zh-CN" b="1" i="1">
                                  <a:solidFill>
                                    <a:schemeClr val="accent2">
                                      <a:lumMod val="50000"/>
                                    </a:schemeClr>
                                  </a:solidFill>
                                  <a:latin typeface="Cambria Math" panose="02040503050406030204" pitchFamily="18" charset="0"/>
                                </a:rPr>
                                <m:t>𝒑</m:t>
                              </m:r>
                            </m:e>
                            <m:sub>
                              <m:r>
                                <a:rPr lang="nn-NO" altLang="zh-CN" b="1" i="1">
                                  <a:solidFill>
                                    <a:schemeClr val="accent2">
                                      <a:lumMod val="50000"/>
                                    </a:schemeClr>
                                  </a:solidFill>
                                  <a:latin typeface="Cambria Math" panose="02040503050406030204" pitchFamily="18" charset="0"/>
                                </a:rPr>
                                <m:t>𝟐</m:t>
                              </m:r>
                            </m:sub>
                          </m:sSub>
                          <m:r>
                            <a:rPr lang="nn-NO" altLang="zh-CN" b="1" i="1">
                              <a:solidFill>
                                <a:schemeClr val="accent2">
                                  <a:lumMod val="50000"/>
                                </a:schemeClr>
                              </a:solidFill>
                              <a:latin typeface="Cambria Math" panose="02040503050406030204" pitchFamily="18" charset="0"/>
                            </a:rPr>
                            <m:t>−</m:t>
                          </m:r>
                          <m:r>
                            <a:rPr lang="nn-NO" altLang="zh-CN" b="1" i="1">
                              <a:solidFill>
                                <a:schemeClr val="accent2">
                                  <a:lumMod val="50000"/>
                                </a:schemeClr>
                              </a:solidFill>
                              <a:latin typeface="Cambria Math" panose="02040503050406030204" pitchFamily="18" charset="0"/>
                            </a:rPr>
                            <m:t>𝟐</m:t>
                          </m:r>
                          <m:sSub>
                            <m:sSubPr>
                              <m:ctrlPr>
                                <a:rPr lang="nn-NO" altLang="zh-CN" b="1" i="1">
                                  <a:solidFill>
                                    <a:schemeClr val="accent2">
                                      <a:lumMod val="50000"/>
                                    </a:schemeClr>
                                  </a:solidFill>
                                  <a:latin typeface="Cambria Math" panose="02040503050406030204" pitchFamily="18" charset="0"/>
                                </a:rPr>
                              </m:ctrlPr>
                            </m:sSubPr>
                            <m:e>
                              <m:r>
                                <a:rPr lang="nn-NO" altLang="zh-CN" b="1" i="1">
                                  <a:solidFill>
                                    <a:schemeClr val="accent2">
                                      <a:lumMod val="50000"/>
                                    </a:schemeClr>
                                  </a:solidFill>
                                  <a:latin typeface="Cambria Math" panose="02040503050406030204" pitchFamily="18" charset="0"/>
                                </a:rPr>
                                <m:t>𝒑</m:t>
                              </m:r>
                            </m:e>
                            <m:sub>
                              <m:r>
                                <a:rPr lang="nn-NO" altLang="zh-CN" b="1" i="1">
                                  <a:solidFill>
                                    <a:schemeClr val="accent2">
                                      <a:lumMod val="50000"/>
                                    </a:schemeClr>
                                  </a:solidFill>
                                  <a:latin typeface="Cambria Math" panose="02040503050406030204" pitchFamily="18" charset="0"/>
                                </a:rPr>
                                <m:t>𝟏</m:t>
                              </m:r>
                            </m:sub>
                          </m:sSub>
                          <m:r>
                            <a:rPr lang="nn-NO" altLang="zh-CN" b="1" i="1">
                              <a:solidFill>
                                <a:schemeClr val="accent2">
                                  <a:lumMod val="50000"/>
                                </a:schemeClr>
                              </a:solidFill>
                              <a:latin typeface="Cambria Math" panose="02040503050406030204" pitchFamily="18" charset="0"/>
                            </a:rPr>
                            <m:t>+</m:t>
                          </m:r>
                          <m:sSub>
                            <m:sSubPr>
                              <m:ctrlPr>
                                <a:rPr lang="nn-NO" altLang="zh-CN" b="1" i="1">
                                  <a:solidFill>
                                    <a:schemeClr val="accent2">
                                      <a:lumMod val="50000"/>
                                    </a:schemeClr>
                                  </a:solidFill>
                                  <a:latin typeface="Cambria Math" panose="02040503050406030204" pitchFamily="18" charset="0"/>
                                </a:rPr>
                              </m:ctrlPr>
                            </m:sSubPr>
                            <m:e>
                              <m:r>
                                <a:rPr lang="nn-NO" altLang="zh-CN" b="1" i="1">
                                  <a:solidFill>
                                    <a:schemeClr val="accent2">
                                      <a:lumMod val="50000"/>
                                    </a:schemeClr>
                                  </a:solidFill>
                                  <a:latin typeface="Cambria Math" panose="02040503050406030204" pitchFamily="18" charset="0"/>
                                </a:rPr>
                                <m:t>𝒑</m:t>
                              </m:r>
                            </m:e>
                            <m:sub>
                              <m:r>
                                <a:rPr lang="nn-NO" altLang="zh-CN" b="1" i="1">
                                  <a:solidFill>
                                    <a:schemeClr val="accent2">
                                      <a:lumMod val="50000"/>
                                    </a:schemeClr>
                                  </a:solidFill>
                                  <a:latin typeface="Cambria Math" panose="02040503050406030204" pitchFamily="18" charset="0"/>
                                </a:rPr>
                                <m:t>𝟎</m:t>
                              </m:r>
                            </m:sub>
                          </m:sSub>
                          <m:r>
                            <a:rPr lang="nn-NO" altLang="zh-CN" b="1" i="1">
                              <a:solidFill>
                                <a:schemeClr val="accent2">
                                  <a:lumMod val="50000"/>
                                </a:schemeClr>
                              </a:solidFill>
                              <a:latin typeface="Cambria Math" panose="02040503050406030204" pitchFamily="18" charset="0"/>
                            </a:rPr>
                            <m:t>= </m:t>
                          </m:r>
                          <m:r>
                            <a:rPr lang="nn-NO" altLang="zh-CN" b="1" i="1">
                              <a:solidFill>
                                <a:schemeClr val="accent2">
                                  <a:lumMod val="50000"/>
                                </a:schemeClr>
                              </a:solidFill>
                              <a:latin typeface="Cambria Math" panose="02040503050406030204" pitchFamily="18" charset="0"/>
                            </a:rPr>
                            <m:t>𝟎</m:t>
                          </m:r>
                        </m:oMath>
                      </m:oMathPara>
                    </a14:m>
                    <a:endParaRPr lang="zh-CN" altLang="en-US" b="1">
                      <a:solidFill>
                        <a:schemeClr val="accent2">
                          <a:lumMod val="50000"/>
                        </a:schemeClr>
                      </a:solidFill>
                    </a:endParaRPr>
                  </a:p>
                </p:txBody>
              </p:sp>
            </mc:Choice>
            <mc:Fallback>
              <p:sp>
                <p:nvSpPr>
                  <p:cNvPr id="50" name="文本框 49"/>
                  <p:cNvSpPr txBox="1">
                    <a:spLocks noRot="1" noChangeAspect="1" noMove="1" noResize="1" noEditPoints="1" noAdjustHandles="1" noChangeArrowheads="1" noChangeShapeType="1" noTextEdit="1"/>
                  </p:cNvSpPr>
                  <p:nvPr/>
                </p:nvSpPr>
                <p:spPr>
                  <a:xfrm>
                    <a:off x="7361789" y="4009775"/>
                    <a:ext cx="3182242" cy="652551"/>
                  </a:xfrm>
                  <a:prstGeom prst="rect">
                    <a:avLst/>
                  </a:prstGeom>
                  <a:blipFill rotWithShape="1">
                    <a:blip r:embed="rId1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1" name="文本框 50"/>
                  <p:cNvSpPr txBox="1"/>
                  <p:nvPr/>
                </p:nvSpPr>
                <p:spPr>
                  <a:xfrm>
                    <a:off x="2103866" y="4146876"/>
                    <a:ext cx="3182242" cy="369332"/>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nn-NO" altLang="zh-CN" b="1" i="1" smtClean="0">
                                  <a:solidFill>
                                    <a:schemeClr val="accent2">
                                      <a:lumMod val="50000"/>
                                    </a:schemeClr>
                                  </a:solidFill>
                                  <a:latin typeface="Cambria Math" panose="02040503050406030204" pitchFamily="18" charset="0"/>
                                </a:rPr>
                              </m:ctrlPr>
                            </m:sSubPr>
                            <m:e>
                              <m:r>
                                <a:rPr lang="nn-NO" altLang="zh-CN" b="1" i="1">
                                  <a:solidFill>
                                    <a:schemeClr val="accent2">
                                      <a:lumMod val="50000"/>
                                    </a:schemeClr>
                                  </a:solidFill>
                                  <a:latin typeface="Cambria Math" panose="02040503050406030204" pitchFamily="18" charset="0"/>
                                </a:rPr>
                                <m:t>𝒑</m:t>
                              </m:r>
                            </m:e>
                            <m:sub>
                              <m:r>
                                <a:rPr lang="nn-NO" altLang="zh-CN" b="1" i="1">
                                  <a:solidFill>
                                    <a:schemeClr val="accent2">
                                      <a:lumMod val="50000"/>
                                    </a:schemeClr>
                                  </a:solidFill>
                                  <a:latin typeface="Cambria Math" panose="02040503050406030204" pitchFamily="18" charset="0"/>
                                </a:rPr>
                                <m:t>𝟐</m:t>
                              </m:r>
                            </m:sub>
                          </m:sSub>
                          <m:r>
                            <a:rPr lang="nn-NO" altLang="zh-CN" b="1" i="1">
                              <a:solidFill>
                                <a:schemeClr val="accent2">
                                  <a:lumMod val="50000"/>
                                </a:schemeClr>
                              </a:solidFill>
                              <a:latin typeface="Cambria Math" panose="02040503050406030204" pitchFamily="18" charset="0"/>
                            </a:rPr>
                            <m:t>= −</m:t>
                          </m:r>
                          <m:r>
                            <a:rPr lang="nn-NO" altLang="zh-CN" b="1" i="1">
                              <a:solidFill>
                                <a:schemeClr val="accent2">
                                  <a:lumMod val="50000"/>
                                </a:schemeClr>
                              </a:solidFill>
                              <a:latin typeface="Cambria Math" panose="02040503050406030204" pitchFamily="18" charset="0"/>
                            </a:rPr>
                            <m:t>𝟐</m:t>
                          </m:r>
                          <m:r>
                            <a:rPr lang="nn-NO" altLang="zh-CN" b="1" i="1">
                              <a:solidFill>
                                <a:schemeClr val="accent2">
                                  <a:lumMod val="50000"/>
                                </a:schemeClr>
                              </a:solidFill>
                              <a:latin typeface="Cambria Math" panose="02040503050406030204" pitchFamily="18" charset="0"/>
                            </a:rPr>
                            <m:t>, </m:t>
                          </m:r>
                          <m:sSub>
                            <m:sSubPr>
                              <m:ctrlPr>
                                <a:rPr lang="nn-NO" altLang="zh-CN" b="1" i="1">
                                  <a:solidFill>
                                    <a:schemeClr val="accent2">
                                      <a:lumMod val="50000"/>
                                    </a:schemeClr>
                                  </a:solidFill>
                                  <a:latin typeface="Cambria Math" panose="02040503050406030204" pitchFamily="18" charset="0"/>
                                </a:rPr>
                              </m:ctrlPr>
                            </m:sSubPr>
                            <m:e>
                              <m:r>
                                <a:rPr lang="nn-NO" altLang="zh-CN" b="1" i="1">
                                  <a:solidFill>
                                    <a:schemeClr val="accent2">
                                      <a:lumMod val="50000"/>
                                    </a:schemeClr>
                                  </a:solidFill>
                                  <a:latin typeface="Cambria Math" panose="02040503050406030204" pitchFamily="18" charset="0"/>
                                </a:rPr>
                                <m:t>𝒑</m:t>
                              </m:r>
                            </m:e>
                            <m:sub>
                              <m:r>
                                <a:rPr lang="nn-NO" altLang="zh-CN" b="1" i="1">
                                  <a:solidFill>
                                    <a:schemeClr val="accent2">
                                      <a:lumMod val="50000"/>
                                    </a:schemeClr>
                                  </a:solidFill>
                                  <a:latin typeface="Cambria Math" panose="02040503050406030204" pitchFamily="18" charset="0"/>
                                </a:rPr>
                                <m:t>𝟏</m:t>
                              </m:r>
                            </m:sub>
                          </m:sSub>
                          <m:r>
                            <a:rPr lang="nn-NO" altLang="zh-CN" b="1" i="1">
                              <a:solidFill>
                                <a:schemeClr val="accent2">
                                  <a:lumMod val="50000"/>
                                </a:schemeClr>
                              </a:solidFill>
                              <a:latin typeface="Cambria Math" panose="02040503050406030204" pitchFamily="18" charset="0"/>
                            </a:rPr>
                            <m:t>= −</m:t>
                          </m:r>
                          <m:r>
                            <a:rPr lang="nn-NO" altLang="zh-CN" b="1" i="1">
                              <a:solidFill>
                                <a:schemeClr val="accent2">
                                  <a:lumMod val="50000"/>
                                </a:schemeClr>
                              </a:solidFill>
                              <a:latin typeface="Cambria Math" panose="02040503050406030204" pitchFamily="18" charset="0"/>
                            </a:rPr>
                            <m:t>𝟖</m:t>
                          </m:r>
                          <m:r>
                            <a:rPr lang="nn-NO" altLang="zh-CN" b="1" i="1">
                              <a:solidFill>
                                <a:schemeClr val="accent2">
                                  <a:lumMod val="50000"/>
                                </a:schemeClr>
                              </a:solidFill>
                              <a:latin typeface="Cambria Math" panose="02040503050406030204" pitchFamily="18" charset="0"/>
                            </a:rPr>
                            <m:t>, </m:t>
                          </m:r>
                          <m:sSub>
                            <m:sSubPr>
                              <m:ctrlPr>
                                <a:rPr lang="nn-NO" altLang="zh-CN" b="1" i="1">
                                  <a:solidFill>
                                    <a:schemeClr val="accent2">
                                      <a:lumMod val="50000"/>
                                    </a:schemeClr>
                                  </a:solidFill>
                                  <a:latin typeface="Cambria Math" panose="02040503050406030204" pitchFamily="18" charset="0"/>
                                </a:rPr>
                              </m:ctrlPr>
                            </m:sSubPr>
                            <m:e>
                              <m:r>
                                <a:rPr lang="nn-NO" altLang="zh-CN" b="1" i="1">
                                  <a:solidFill>
                                    <a:schemeClr val="accent2">
                                      <a:lumMod val="50000"/>
                                    </a:schemeClr>
                                  </a:solidFill>
                                  <a:latin typeface="Cambria Math" panose="02040503050406030204" pitchFamily="18" charset="0"/>
                                </a:rPr>
                                <m:t>𝒑</m:t>
                              </m:r>
                            </m:e>
                            <m:sub>
                              <m:r>
                                <a:rPr lang="nn-NO" altLang="zh-CN" b="1" i="1">
                                  <a:solidFill>
                                    <a:schemeClr val="accent2">
                                      <a:lumMod val="50000"/>
                                    </a:schemeClr>
                                  </a:solidFill>
                                  <a:latin typeface="Cambria Math" panose="02040503050406030204" pitchFamily="18" charset="0"/>
                                </a:rPr>
                                <m:t>𝟎</m:t>
                              </m:r>
                            </m:sub>
                          </m:sSub>
                          <m:r>
                            <a:rPr lang="nn-NO" altLang="zh-CN" b="1" i="1">
                              <a:solidFill>
                                <a:schemeClr val="accent2">
                                  <a:lumMod val="50000"/>
                                </a:schemeClr>
                              </a:solidFill>
                              <a:latin typeface="Cambria Math" panose="02040503050406030204" pitchFamily="18" charset="0"/>
                            </a:rPr>
                            <m:t>=−</m:t>
                          </m:r>
                          <m:r>
                            <a:rPr lang="nn-NO" altLang="zh-CN" b="1" i="1">
                              <a:solidFill>
                                <a:schemeClr val="accent2">
                                  <a:lumMod val="50000"/>
                                </a:schemeClr>
                              </a:solidFill>
                              <a:latin typeface="Cambria Math" panose="02040503050406030204" pitchFamily="18" charset="0"/>
                            </a:rPr>
                            <m:t>𝟏𝟐</m:t>
                          </m:r>
                        </m:oMath>
                      </m:oMathPara>
                    </a14:m>
                    <a:endParaRPr lang="zh-CN" altLang="en-US" b="1">
                      <a:solidFill>
                        <a:schemeClr val="accent2">
                          <a:lumMod val="50000"/>
                        </a:schemeClr>
                      </a:solidFill>
                    </a:endParaRPr>
                  </a:p>
                </p:txBody>
              </p:sp>
            </mc:Choice>
            <mc:Fallback>
              <p:sp>
                <p:nvSpPr>
                  <p:cNvPr id="51" name="文本框 50"/>
                  <p:cNvSpPr txBox="1">
                    <a:spLocks noRot="1" noChangeAspect="1" noMove="1" noResize="1" noEditPoints="1" noAdjustHandles="1" noChangeArrowheads="1" noChangeShapeType="1" noTextEdit="1"/>
                  </p:cNvSpPr>
                  <p:nvPr/>
                </p:nvSpPr>
                <p:spPr>
                  <a:xfrm>
                    <a:off x="2103866" y="4146876"/>
                    <a:ext cx="3182242" cy="369332"/>
                  </a:xfrm>
                  <a:prstGeom prst="rect">
                    <a:avLst/>
                  </a:prstGeom>
                  <a:blipFill rotWithShape="1">
                    <a:blip r:embed="rId13"/>
                  </a:blipFill>
                </p:spPr>
                <p:txBody>
                  <a:bodyPr/>
                  <a:lstStyle/>
                  <a:p>
                    <a:r>
                      <a:rPr lang="zh-CN" altLang="en-US">
                        <a:noFill/>
                      </a:rPr>
                      <a:t> </a:t>
                    </a:r>
                  </a:p>
                </p:txBody>
              </p:sp>
            </mc:Fallback>
          </mc:AlternateContent>
          <p:sp>
            <p:nvSpPr>
              <p:cNvPr id="2" name="箭头: 下 1"/>
              <p:cNvSpPr/>
              <p:nvPr/>
            </p:nvSpPr>
            <p:spPr>
              <a:xfrm>
                <a:off x="8930050" y="3871096"/>
                <a:ext cx="45719" cy="13867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箭头: 左 2"/>
              <p:cNvSpPr/>
              <p:nvPr/>
            </p:nvSpPr>
            <p:spPr>
              <a:xfrm>
                <a:off x="5286108" y="4282843"/>
                <a:ext cx="2017740" cy="4571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p:cNvSpPr txBox="1"/>
            <p:nvPr/>
          </p:nvSpPr>
          <p:spPr>
            <a:xfrm>
              <a:off x="6629046" y="3621411"/>
              <a:ext cx="697312" cy="276999"/>
            </a:xfrm>
            <a:prstGeom prst="rect">
              <a:avLst/>
            </a:prstGeom>
            <a:solidFill>
              <a:schemeClr val="accent4">
                <a:lumMod val="20000"/>
                <a:lumOff val="80000"/>
              </a:schemeClr>
            </a:solidFill>
          </p:spPr>
          <p:txBody>
            <a:bodyPr wrap="square" lIns="0" tIns="0" rIns="0" bIns="0" rtlCol="0">
              <a:spAutoFit/>
            </a:bodyPr>
            <a:lstStyle/>
            <a:p>
              <a:pPr algn="ctr"/>
              <a:r>
                <a:rPr lang="zh-CN" altLang="en-US" b="1">
                  <a:solidFill>
                    <a:schemeClr val="accent2">
                      <a:lumMod val="50000"/>
                    </a:schemeClr>
                  </a:solidFill>
                </a:rPr>
                <a:t>整理</a:t>
              </a:r>
              <a:endParaRPr lang="zh-CN" altLang="en-US" b="1">
                <a:solidFill>
                  <a:schemeClr val="accent2">
                    <a:lumMod val="50000"/>
                  </a:schemeClr>
                </a:solidFill>
              </a:endParaRPr>
            </a:p>
          </p:txBody>
        </p:sp>
        <mc:AlternateContent xmlns:mc="http://schemas.openxmlformats.org/markup-compatibility/2006">
          <mc:Choice xmlns:a14="http://schemas.microsoft.com/office/drawing/2010/main" Requires="a14">
            <p:sp>
              <p:nvSpPr>
                <p:cNvPr id="71" name="文本框 70"/>
                <p:cNvSpPr txBox="1"/>
                <p:nvPr/>
              </p:nvSpPr>
              <p:spPr>
                <a:xfrm>
                  <a:off x="7461523" y="4059263"/>
                  <a:ext cx="1647584" cy="246221"/>
                </a:xfrm>
                <a:prstGeom prst="rect">
                  <a:avLst/>
                </a:prstGeom>
                <a:solidFill>
                  <a:schemeClr val="accent4">
                    <a:lumMod val="20000"/>
                    <a:lumOff val="80000"/>
                  </a:schemeClr>
                </a:solidFill>
              </p:spPr>
              <p:txBody>
                <a:bodyPr wrap="square" lIns="0" tIns="0" rIns="0" bIns="0" rtlCol="0">
                  <a:spAutoFit/>
                </a:bodyPr>
                <a:lstStyle/>
                <a:p>
                  <a:pPr algn="ctr"/>
                  <a:r>
                    <a:rPr lang="zh-CN" altLang="en-US" sz="1600" b="1">
                      <a:solidFill>
                        <a:schemeClr val="accent2">
                          <a:lumMod val="50000"/>
                        </a:schemeClr>
                      </a:solidFill>
                    </a:rPr>
                    <a:t>对所有</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𝒏</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𝟏</m:t>
                      </m:r>
                    </m:oMath>
                  </a14:m>
                  <a:r>
                    <a:rPr lang="zh-CN" altLang="en-US" sz="1600" b="1">
                      <a:solidFill>
                        <a:schemeClr val="accent2">
                          <a:lumMod val="50000"/>
                        </a:schemeClr>
                      </a:solidFill>
                    </a:rPr>
                    <a:t>成立</a:t>
                  </a:r>
                  <a:endParaRPr lang="zh-CN" altLang="en-US" sz="1600" b="1">
                    <a:solidFill>
                      <a:schemeClr val="accent2">
                        <a:lumMod val="50000"/>
                      </a:schemeClr>
                    </a:solidFill>
                  </a:endParaRPr>
                </a:p>
              </p:txBody>
            </p:sp>
          </mc:Choice>
          <mc:Fallback>
            <p:sp>
              <p:nvSpPr>
                <p:cNvPr id="71" name="文本框 70"/>
                <p:cNvSpPr txBox="1">
                  <a:spLocks noRot="1" noChangeAspect="1" noMove="1" noResize="1" noEditPoints="1" noAdjustHandles="1" noChangeArrowheads="1" noChangeShapeType="1" noTextEdit="1"/>
                </p:cNvSpPr>
                <p:nvPr/>
              </p:nvSpPr>
              <p:spPr>
                <a:xfrm>
                  <a:off x="7461523" y="4059263"/>
                  <a:ext cx="1647584" cy="246221"/>
                </a:xfrm>
                <a:prstGeom prst="rect">
                  <a:avLst/>
                </a:prstGeom>
                <a:blipFill rotWithShape="1">
                  <a:blip r:embed="rId14"/>
                </a:blipFill>
              </p:spPr>
              <p:txBody>
                <a:bodyPr/>
                <a:lstStyle/>
                <a:p>
                  <a:r>
                    <a:rPr lang="zh-CN" altLang="en-US">
                      <a:noFill/>
                    </a:rPr>
                    <a:t> </a:t>
                  </a:r>
                </a:p>
              </p:txBody>
            </p:sp>
          </mc:Fallback>
        </mc:AlternateContent>
        <p:sp>
          <p:nvSpPr>
            <p:cNvPr id="72" name="文本框 71"/>
            <p:cNvSpPr txBox="1"/>
            <p:nvPr/>
          </p:nvSpPr>
          <p:spPr>
            <a:xfrm>
              <a:off x="5960501" y="4365922"/>
              <a:ext cx="1091562" cy="276999"/>
            </a:xfrm>
            <a:prstGeom prst="rect">
              <a:avLst/>
            </a:prstGeom>
            <a:solidFill>
              <a:schemeClr val="accent4">
                <a:lumMod val="20000"/>
                <a:lumOff val="80000"/>
              </a:schemeClr>
            </a:solidFill>
          </p:spPr>
          <p:txBody>
            <a:bodyPr wrap="square" lIns="0" tIns="0" rIns="0" bIns="0" rtlCol="0">
              <a:spAutoFit/>
            </a:bodyPr>
            <a:lstStyle/>
            <a:p>
              <a:pPr algn="ctr"/>
              <a:r>
                <a:rPr lang="zh-CN" altLang="en-US" b="1">
                  <a:solidFill>
                    <a:schemeClr val="accent2">
                      <a:lumMod val="50000"/>
                    </a:schemeClr>
                  </a:solidFill>
                </a:rPr>
                <a:t>解方程组</a:t>
              </a:r>
              <a:endParaRPr lang="zh-CN" altLang="en-US" b="1">
                <a:solidFill>
                  <a:schemeClr val="accent2">
                    <a:lumMod val="50000"/>
                  </a:schemeClr>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7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endParaRPr lang="zh-CN" altLang="en-US"/>
          </a:p>
        </p:txBody>
      </p:sp>
      <p:sp>
        <p:nvSpPr>
          <p:cNvPr id="2" name="文本框 1"/>
          <p:cNvSpPr txBox="1"/>
          <p:nvPr/>
        </p:nvSpPr>
        <p:spPr>
          <a:xfrm>
            <a:off x="1107232" y="1448010"/>
            <a:ext cx="5299788" cy="3547125"/>
          </a:xfrm>
          <a:prstGeom prst="rect">
            <a:avLst/>
          </a:prstGeom>
          <a:noFill/>
        </p:spPr>
        <p:txBody>
          <a:bodyPr wrap="square" rtlCol="0">
            <a:spAutoFit/>
          </a:bodyPr>
          <a:lstStyle/>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计数问题的递推关系式建模</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线性递推关系式求解</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分治算法与递推关系式</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分治算法与递推关系式</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分治算法</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792697" y="1102718"/>
                <a:ext cx="10606603" cy="2308324"/>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400" b="1">
                    <a:solidFill>
                      <a:schemeClr val="accent2">
                        <a:lumMod val="50000"/>
                      </a:schemeClr>
                    </a:solidFill>
                  </a:rPr>
                  <a:t>分治</a:t>
                </a:r>
                <a:r>
                  <a:rPr lang="en-US" altLang="zh-CN" sz="2400" b="1">
                    <a:solidFill>
                      <a:schemeClr val="accent2">
                        <a:lumMod val="50000"/>
                      </a:schemeClr>
                    </a:solidFill>
                  </a:rPr>
                  <a:t>(divide and conquer)</a:t>
                </a:r>
                <a:r>
                  <a:rPr lang="zh-CN" altLang="en-US" sz="2400" b="1">
                    <a:solidFill>
                      <a:schemeClr val="accent2">
                        <a:lumMod val="50000"/>
                      </a:schemeClr>
                    </a:solidFill>
                  </a:rPr>
                  <a:t>是设计递归算法的一种重要思路</a:t>
                </a:r>
                <a:endParaRPr lang="zh-CN" altLang="en-US" sz="2400" b="1">
                  <a:solidFill>
                    <a:schemeClr val="accent2">
                      <a:lumMod val="50000"/>
                    </a:schemeClr>
                  </a:solidFill>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规模为</a:t>
                </a:r>
                <a14:m>
                  <m:oMath xmlns:m="http://schemas.openxmlformats.org/officeDocument/2006/math">
                    <m:r>
                      <a:rPr lang="en-US" altLang="zh-CN" sz="2000" b="1" i="1" smtClean="0">
                        <a:solidFill>
                          <a:srgbClr val="002060"/>
                        </a:solidFill>
                        <a:latin typeface="Cambria Math" panose="02040503050406030204" pitchFamily="18" charset="0"/>
                      </a:rPr>
                      <m:t>𝒏</m:t>
                    </m:r>
                  </m:oMath>
                </a14:m>
                <a:r>
                  <a:rPr lang="zh-CN" altLang="en-US" sz="2000" b="1">
                    <a:solidFill>
                      <a:srgbClr val="002060"/>
                    </a:solidFill>
                    <a:latin typeface="楷体" panose="02010609060101010101" pitchFamily="49" charset="-122"/>
                    <a:ea typeface="楷体" panose="02010609060101010101" pitchFamily="49" charset="-122"/>
                  </a:rPr>
                  <a:t>的问题</a:t>
                </a:r>
                <a:r>
                  <a:rPr lang="zh-CN" altLang="en-US" sz="2000" b="1">
                    <a:solidFill>
                      <a:srgbClr val="C00000"/>
                    </a:solidFill>
                    <a:latin typeface="+mn-ea"/>
                  </a:rPr>
                  <a:t>分解</a:t>
                </a:r>
                <a:r>
                  <a:rPr lang="en-US" altLang="zh-CN" sz="2000" b="1">
                    <a:solidFill>
                      <a:srgbClr val="002060"/>
                    </a:solidFill>
                    <a:latin typeface="+mn-ea"/>
                  </a:rPr>
                  <a:t>(divide)</a:t>
                </a:r>
                <a:r>
                  <a:rPr lang="zh-CN" altLang="en-US" sz="2000" b="1">
                    <a:solidFill>
                      <a:srgbClr val="002060"/>
                    </a:solidFill>
                    <a:latin typeface="楷体" panose="02010609060101010101" pitchFamily="49" charset="-122"/>
                    <a:ea typeface="楷体" panose="02010609060101010101" pitchFamily="49" charset="-122"/>
                  </a:rPr>
                  <a:t>为</a:t>
                </a:r>
                <a14:m>
                  <m:oMath xmlns:m="http://schemas.openxmlformats.org/officeDocument/2006/math">
                    <m:r>
                      <a:rPr lang="en-US" altLang="zh-CN" sz="2000" b="1" i="1" smtClean="0">
                        <a:solidFill>
                          <a:srgbClr val="C00000"/>
                        </a:solidFill>
                        <a:latin typeface="Cambria Math" panose="02040503050406030204" pitchFamily="18" charset="0"/>
                      </a:rPr>
                      <m:t>𝒂</m:t>
                    </m:r>
                  </m:oMath>
                </a14:m>
                <a:r>
                  <a:rPr lang="zh-CN" altLang="en-US" sz="2000" b="1">
                    <a:solidFill>
                      <a:srgbClr val="002060"/>
                    </a:solidFill>
                    <a:latin typeface="楷体" panose="02010609060101010101" pitchFamily="49" charset="-122"/>
                    <a:ea typeface="楷体" panose="02010609060101010101" pitchFamily="49" charset="-122"/>
                  </a:rPr>
                  <a:t>个与原问题相同但规模减小，例如规模大致为</a:t>
                </a:r>
                <a14:m>
                  <m:oMath xmlns:m="http://schemas.openxmlformats.org/officeDocument/2006/math">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𝒃</m:t>
                    </m:r>
                  </m:oMath>
                </a14:m>
                <a:r>
                  <a:rPr lang="zh-CN" altLang="en-US" sz="2000" b="1">
                    <a:solidFill>
                      <a:srgbClr val="002060"/>
                    </a:solidFill>
                    <a:latin typeface="楷体" panose="02010609060101010101" pitchFamily="49" charset="-122"/>
                    <a:ea typeface="楷体" panose="02010609060101010101" pitchFamily="49" charset="-122"/>
                  </a:rPr>
                  <a:t>的小问题</a:t>
                </a:r>
                <a:endParaRPr lang="zh-CN" altLang="en-US" sz="2000" b="1">
                  <a:solidFill>
                    <a:srgbClr val="002060"/>
                  </a:solidFill>
                  <a:latin typeface="楷体" panose="02010609060101010101" pitchFamily="49" charset="-122"/>
                  <a:ea typeface="楷体" panose="02010609060101010101" pitchFamily="49" charset="-122"/>
                </a:endParaRP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求解每个小问题时</a:t>
                </a:r>
                <a:r>
                  <a:rPr lang="zh-CN" altLang="en-US" sz="2000" b="1">
                    <a:solidFill>
                      <a:srgbClr val="C00000"/>
                    </a:solidFill>
                  </a:rPr>
                  <a:t>递归</a:t>
                </a:r>
                <a:r>
                  <a:rPr lang="zh-CN" altLang="en-US" sz="2000" b="1">
                    <a:solidFill>
                      <a:schemeClr val="accent6">
                        <a:lumMod val="50000"/>
                      </a:schemeClr>
                    </a:solidFill>
                  </a:rPr>
                  <a:t>地运用相同的方法，即继续将问题进行分解</a:t>
                </a:r>
                <a:endParaRPr lang="zh-CN" altLang="en-US" sz="2000" b="1">
                  <a:solidFill>
                    <a:schemeClr val="accent6">
                      <a:lumMod val="50000"/>
                    </a:schemeClr>
                  </a:solidFill>
                </a:endParaRPr>
              </a:p>
              <a:p>
                <a:pPr marL="800100" lvl="1" indent="-342900">
                  <a:spcBef>
                    <a:spcPts val="600"/>
                  </a:spcBef>
                  <a:spcAft>
                    <a:spcPts val="600"/>
                  </a:spcAft>
                  <a:buFont typeface="Arial" panose="020B0604020202020204" pitchFamily="34" charset="0"/>
                  <a:buChar char="•"/>
                </a:pPr>
                <a:r>
                  <a:rPr lang="zh-CN" altLang="en-US" sz="2000" b="1">
                    <a:solidFill>
                      <a:srgbClr val="C00000"/>
                    </a:solidFill>
                  </a:rPr>
                  <a:t>递归终止</a:t>
                </a:r>
                <a:r>
                  <a:rPr lang="zh-CN" altLang="en-US" sz="2000" b="1">
                    <a:solidFill>
                      <a:schemeClr val="accent6">
                        <a:lumMod val="50000"/>
                      </a:schemeClr>
                    </a:solidFill>
                  </a:rPr>
                  <a:t>：直到问题的规模缩减到特别小，以致于可以直接求解</a:t>
                </a:r>
                <a:endParaRPr lang="en-US" altLang="zh-CN" sz="2000" b="1">
                  <a:solidFill>
                    <a:schemeClr val="accent6">
                      <a:lumMod val="50000"/>
                    </a:schemeClr>
                  </a:solidFill>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在求解每个小问题后，将小问题的解</a:t>
                </a:r>
                <a:r>
                  <a:rPr lang="zh-CN" altLang="en-US" sz="2000" b="1">
                    <a:solidFill>
                      <a:srgbClr val="C00000"/>
                    </a:solidFill>
                    <a:latin typeface="+mn-ea"/>
                  </a:rPr>
                  <a:t>治理</a:t>
                </a:r>
                <a:r>
                  <a:rPr lang="en-US" altLang="zh-CN" sz="2000" b="1">
                    <a:solidFill>
                      <a:srgbClr val="002060"/>
                    </a:solidFill>
                    <a:latin typeface="+mn-ea"/>
                  </a:rPr>
                  <a:t>(conquer)</a:t>
                </a:r>
                <a:r>
                  <a:rPr lang="zh-CN" altLang="en-US" sz="2000" b="1">
                    <a:solidFill>
                      <a:srgbClr val="002060"/>
                    </a:solidFill>
                    <a:latin typeface="楷体" panose="02010609060101010101" pitchFamily="49" charset="-122"/>
                    <a:ea typeface="楷体" panose="02010609060101010101" pitchFamily="49" charset="-122"/>
                  </a:rPr>
                  <a:t>为原来问题的解</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792697" y="1102718"/>
                <a:ext cx="10606603" cy="2308324"/>
              </a:xfrm>
              <a:prstGeom prst="rect">
                <a:avLst/>
              </a:prstGeom>
              <a:blipFill rotWithShape="1">
                <a:blip r:embed="rId1"/>
                <a:stretch>
                  <a:fillRect l="-2" t="-16" r="4" b="20"/>
                </a:stretch>
              </a:blipFill>
            </p:spPr>
            <p:txBody>
              <a:bodyPr/>
              <a:lstStyle/>
              <a:p>
                <a:r>
                  <a:rPr lang="zh-CN" altLang="en-US">
                    <a:noFill/>
                  </a:rPr>
                  <a:t> </a:t>
                </a:r>
              </a:p>
            </p:txBody>
          </p:sp>
        </mc:Fallback>
      </mc:AlternateContent>
      <p:grpSp>
        <p:nvGrpSpPr>
          <p:cNvPr id="160" name="组合 159"/>
          <p:cNvGrpSpPr/>
          <p:nvPr/>
        </p:nvGrpSpPr>
        <p:grpSpPr>
          <a:xfrm>
            <a:off x="420578" y="3551244"/>
            <a:ext cx="11350840" cy="2764035"/>
            <a:chOff x="457418" y="3623607"/>
            <a:chExt cx="11350840" cy="2764035"/>
          </a:xfrm>
        </p:grpSpPr>
        <p:sp>
          <p:nvSpPr>
            <p:cNvPr id="159" name="矩形 158"/>
            <p:cNvSpPr/>
            <p:nvPr/>
          </p:nvSpPr>
          <p:spPr>
            <a:xfrm>
              <a:off x="457418" y="3623607"/>
              <a:ext cx="11275332" cy="2764035"/>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8" name="组合 147"/>
            <p:cNvGrpSpPr/>
            <p:nvPr/>
          </p:nvGrpSpPr>
          <p:grpSpPr>
            <a:xfrm>
              <a:off x="528007" y="3689552"/>
              <a:ext cx="11135981" cy="2625025"/>
              <a:chOff x="563002" y="3647175"/>
              <a:chExt cx="11135981" cy="2625025"/>
            </a:xfrm>
          </p:grpSpPr>
          <p:sp>
            <p:nvSpPr>
              <p:cNvPr id="3" name="文本框 2"/>
              <p:cNvSpPr txBox="1"/>
              <p:nvPr/>
            </p:nvSpPr>
            <p:spPr>
              <a:xfrm>
                <a:off x="4406444" y="3647175"/>
                <a:ext cx="1348576" cy="369332"/>
              </a:xfrm>
              <a:prstGeom prst="rect">
                <a:avLst/>
              </a:prstGeom>
              <a:solidFill>
                <a:schemeClr val="accent2">
                  <a:lumMod val="20000"/>
                  <a:lumOff val="80000"/>
                </a:schemeClr>
              </a:solidFill>
            </p:spPr>
            <p:txBody>
              <a:bodyPr wrap="square" rtlCol="0">
                <a:spAutoFit/>
              </a:bodyPr>
              <a:lstStyle/>
              <a:p>
                <a:r>
                  <a:rPr lang="zh-CN" altLang="en-US" b="1">
                    <a:solidFill>
                      <a:schemeClr val="accent4">
                        <a:lumMod val="50000"/>
                      </a:schemeClr>
                    </a:solidFill>
                  </a:rPr>
                  <a:t>最初的问题</a:t>
                </a:r>
                <a:endParaRPr lang="zh-CN" altLang="en-US" b="1">
                  <a:solidFill>
                    <a:schemeClr val="accent4">
                      <a:lumMod val="50000"/>
                    </a:schemeClr>
                  </a:solidFill>
                </a:endParaRPr>
              </a:p>
            </p:txBody>
          </p:sp>
          <p:sp>
            <p:nvSpPr>
              <p:cNvPr id="4" name="文本框 3"/>
              <p:cNvSpPr txBox="1"/>
              <p:nvPr/>
            </p:nvSpPr>
            <p:spPr>
              <a:xfrm>
                <a:off x="2692054" y="4316613"/>
                <a:ext cx="915112" cy="369332"/>
              </a:xfrm>
              <a:prstGeom prst="rect">
                <a:avLst/>
              </a:prstGeom>
              <a:solidFill>
                <a:schemeClr val="accent6">
                  <a:lumMod val="20000"/>
                  <a:lumOff val="80000"/>
                </a:schemeClr>
              </a:solidFill>
            </p:spPr>
            <p:txBody>
              <a:bodyPr wrap="square" rtlCol="0">
                <a:spAutoFit/>
              </a:bodyPr>
              <a:lstStyle/>
              <a:p>
                <a:r>
                  <a:rPr lang="zh-CN" altLang="en-US" b="1">
                    <a:solidFill>
                      <a:schemeClr val="accent6">
                        <a:lumMod val="50000"/>
                      </a:schemeClr>
                    </a:solidFill>
                  </a:rPr>
                  <a:t>小问题</a:t>
                </a:r>
                <a:endParaRPr lang="zh-CN" altLang="en-US" b="1">
                  <a:solidFill>
                    <a:schemeClr val="accent6">
                      <a:lumMod val="50000"/>
                    </a:schemeClr>
                  </a:solidFill>
                </a:endParaRPr>
              </a:p>
            </p:txBody>
          </p:sp>
          <p:sp>
            <p:nvSpPr>
              <p:cNvPr id="6" name="文本框 5"/>
              <p:cNvSpPr txBox="1"/>
              <p:nvPr/>
            </p:nvSpPr>
            <p:spPr>
              <a:xfrm>
                <a:off x="5843829" y="3647175"/>
                <a:ext cx="1578820" cy="369332"/>
              </a:xfrm>
              <a:prstGeom prst="rect">
                <a:avLst/>
              </a:prstGeom>
              <a:solidFill>
                <a:schemeClr val="accent2">
                  <a:lumMod val="20000"/>
                  <a:lumOff val="80000"/>
                </a:schemeClr>
              </a:solidFill>
            </p:spPr>
            <p:txBody>
              <a:bodyPr wrap="square" rtlCol="0">
                <a:spAutoFit/>
              </a:bodyPr>
              <a:lstStyle/>
              <a:p>
                <a:r>
                  <a:rPr lang="zh-CN" altLang="en-US" b="1">
                    <a:solidFill>
                      <a:schemeClr val="accent4">
                        <a:lumMod val="50000"/>
                      </a:schemeClr>
                    </a:solidFill>
                  </a:rPr>
                  <a:t>最初问题的解</a:t>
                </a:r>
                <a:endParaRPr lang="zh-CN" altLang="en-US" b="1">
                  <a:solidFill>
                    <a:schemeClr val="accent4">
                      <a:lumMod val="50000"/>
                    </a:schemeClr>
                  </a:solidFill>
                </a:endParaRPr>
              </a:p>
            </p:txBody>
          </p:sp>
          <p:sp>
            <p:nvSpPr>
              <p:cNvPr id="11" name="文本框 10"/>
              <p:cNvSpPr txBox="1"/>
              <p:nvPr/>
            </p:nvSpPr>
            <p:spPr>
              <a:xfrm>
                <a:off x="3697071" y="4316613"/>
                <a:ext cx="1418745" cy="369332"/>
              </a:xfrm>
              <a:prstGeom prst="rect">
                <a:avLst/>
              </a:prstGeom>
              <a:solidFill>
                <a:schemeClr val="accent6">
                  <a:lumMod val="20000"/>
                  <a:lumOff val="80000"/>
                </a:schemeClr>
              </a:solidFill>
            </p:spPr>
            <p:txBody>
              <a:bodyPr wrap="square" rtlCol="0">
                <a:spAutoFit/>
              </a:bodyPr>
              <a:lstStyle/>
              <a:p>
                <a:r>
                  <a:rPr lang="zh-CN" altLang="en-US" b="1">
                    <a:solidFill>
                      <a:schemeClr val="accent6">
                        <a:lumMod val="50000"/>
                      </a:schemeClr>
                    </a:solidFill>
                  </a:rPr>
                  <a:t>小问题的解</a:t>
                </a:r>
                <a:endParaRPr lang="zh-CN" altLang="en-US" b="1">
                  <a:solidFill>
                    <a:schemeClr val="accent6">
                      <a:lumMod val="50000"/>
                    </a:schemeClr>
                  </a:solidFill>
                </a:endParaRPr>
              </a:p>
            </p:txBody>
          </p:sp>
          <p:sp>
            <p:nvSpPr>
              <p:cNvPr id="13" name="文本框 12"/>
              <p:cNvSpPr txBox="1"/>
              <p:nvPr/>
            </p:nvSpPr>
            <p:spPr>
              <a:xfrm>
                <a:off x="7681428" y="4322606"/>
                <a:ext cx="915112" cy="369332"/>
              </a:xfrm>
              <a:prstGeom prst="rect">
                <a:avLst/>
              </a:prstGeom>
              <a:solidFill>
                <a:schemeClr val="accent6">
                  <a:lumMod val="20000"/>
                  <a:lumOff val="80000"/>
                </a:schemeClr>
              </a:solidFill>
            </p:spPr>
            <p:txBody>
              <a:bodyPr wrap="square" rtlCol="0">
                <a:spAutoFit/>
              </a:bodyPr>
              <a:lstStyle/>
              <a:p>
                <a:r>
                  <a:rPr lang="zh-CN" altLang="en-US" b="1">
                    <a:solidFill>
                      <a:schemeClr val="accent6">
                        <a:lumMod val="50000"/>
                      </a:schemeClr>
                    </a:solidFill>
                  </a:rPr>
                  <a:t>小问题</a:t>
                </a:r>
                <a:endParaRPr lang="zh-CN" altLang="en-US" b="1">
                  <a:solidFill>
                    <a:schemeClr val="accent6">
                      <a:lumMod val="50000"/>
                    </a:schemeClr>
                  </a:solidFill>
                </a:endParaRPr>
              </a:p>
            </p:txBody>
          </p:sp>
          <p:sp>
            <p:nvSpPr>
              <p:cNvPr id="14" name="文本框 13"/>
              <p:cNvSpPr txBox="1"/>
              <p:nvPr/>
            </p:nvSpPr>
            <p:spPr>
              <a:xfrm>
                <a:off x="8796432" y="4322606"/>
                <a:ext cx="1418745" cy="369332"/>
              </a:xfrm>
              <a:prstGeom prst="rect">
                <a:avLst/>
              </a:prstGeom>
              <a:solidFill>
                <a:schemeClr val="accent6">
                  <a:lumMod val="20000"/>
                  <a:lumOff val="80000"/>
                </a:schemeClr>
              </a:solidFill>
            </p:spPr>
            <p:txBody>
              <a:bodyPr wrap="square" rtlCol="0">
                <a:spAutoFit/>
              </a:bodyPr>
              <a:lstStyle/>
              <a:p>
                <a:r>
                  <a:rPr lang="zh-CN" altLang="en-US" b="1">
                    <a:solidFill>
                      <a:schemeClr val="accent6">
                        <a:lumMod val="50000"/>
                      </a:schemeClr>
                    </a:solidFill>
                  </a:rPr>
                  <a:t>小问题的解</a:t>
                </a:r>
                <a:endParaRPr lang="zh-CN" altLang="en-US" b="1">
                  <a:solidFill>
                    <a:schemeClr val="accent6">
                      <a:lumMod val="50000"/>
                    </a:schemeClr>
                  </a:solidFill>
                </a:endParaRPr>
              </a:p>
            </p:txBody>
          </p:sp>
          <p:sp>
            <p:nvSpPr>
              <p:cNvPr id="15" name="文本框 14"/>
              <p:cNvSpPr txBox="1"/>
              <p:nvPr/>
            </p:nvSpPr>
            <p:spPr>
              <a:xfrm>
                <a:off x="563002" y="5882255"/>
                <a:ext cx="1344501"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特别小问题</a:t>
                </a:r>
                <a:endParaRPr lang="zh-CN" altLang="en-US" b="1">
                  <a:solidFill>
                    <a:schemeClr val="accent2">
                      <a:lumMod val="50000"/>
                    </a:schemeClr>
                  </a:solidFill>
                </a:endParaRPr>
              </a:p>
            </p:txBody>
          </p:sp>
          <p:sp>
            <p:nvSpPr>
              <p:cNvPr id="16" name="文本框 15"/>
              <p:cNvSpPr txBox="1"/>
              <p:nvPr/>
            </p:nvSpPr>
            <p:spPr>
              <a:xfrm>
                <a:off x="2142179" y="5891450"/>
                <a:ext cx="1783099"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特别小问题的解</a:t>
                </a:r>
                <a:endParaRPr lang="zh-CN" altLang="en-US" b="1">
                  <a:solidFill>
                    <a:schemeClr val="accent2">
                      <a:lumMod val="50000"/>
                    </a:schemeClr>
                  </a:solidFill>
                </a:endParaRPr>
              </a:p>
            </p:txBody>
          </p:sp>
          <p:sp>
            <p:nvSpPr>
              <p:cNvPr id="18" name="文本框 17"/>
              <p:cNvSpPr txBox="1"/>
              <p:nvPr/>
            </p:nvSpPr>
            <p:spPr>
              <a:xfrm>
                <a:off x="1187405" y="4900926"/>
                <a:ext cx="915112" cy="369332"/>
              </a:xfrm>
              <a:prstGeom prst="rect">
                <a:avLst/>
              </a:prstGeom>
              <a:solidFill>
                <a:schemeClr val="accent6">
                  <a:lumMod val="20000"/>
                  <a:lumOff val="80000"/>
                </a:schemeClr>
              </a:solidFill>
            </p:spPr>
            <p:txBody>
              <a:bodyPr wrap="square" rtlCol="0">
                <a:spAutoFit/>
              </a:bodyPr>
              <a:lstStyle/>
              <a:p>
                <a:r>
                  <a:rPr lang="zh-CN" altLang="en-US" b="1">
                    <a:solidFill>
                      <a:schemeClr val="accent6">
                        <a:lumMod val="50000"/>
                      </a:schemeClr>
                    </a:solidFill>
                  </a:rPr>
                  <a:t>小问题</a:t>
                </a:r>
                <a:endParaRPr lang="zh-CN" altLang="en-US" b="1">
                  <a:solidFill>
                    <a:schemeClr val="accent6">
                      <a:lumMod val="50000"/>
                    </a:schemeClr>
                  </a:solidFill>
                </a:endParaRPr>
              </a:p>
            </p:txBody>
          </p:sp>
          <p:sp>
            <p:nvSpPr>
              <p:cNvPr id="19" name="文本框 18"/>
              <p:cNvSpPr txBox="1"/>
              <p:nvPr/>
            </p:nvSpPr>
            <p:spPr>
              <a:xfrm>
                <a:off x="2192422" y="4900926"/>
                <a:ext cx="1418745" cy="369332"/>
              </a:xfrm>
              <a:prstGeom prst="rect">
                <a:avLst/>
              </a:prstGeom>
              <a:solidFill>
                <a:schemeClr val="accent6">
                  <a:lumMod val="20000"/>
                  <a:lumOff val="80000"/>
                </a:schemeClr>
              </a:solidFill>
            </p:spPr>
            <p:txBody>
              <a:bodyPr wrap="square" rtlCol="0">
                <a:spAutoFit/>
              </a:bodyPr>
              <a:lstStyle/>
              <a:p>
                <a:r>
                  <a:rPr lang="zh-CN" altLang="en-US" b="1">
                    <a:solidFill>
                      <a:schemeClr val="accent6">
                        <a:lumMod val="50000"/>
                      </a:schemeClr>
                    </a:solidFill>
                  </a:rPr>
                  <a:t>小问题的解</a:t>
                </a:r>
                <a:endParaRPr lang="zh-CN" altLang="en-US" b="1">
                  <a:solidFill>
                    <a:schemeClr val="accent6">
                      <a:lumMod val="50000"/>
                    </a:schemeClr>
                  </a:solidFill>
                </a:endParaRPr>
              </a:p>
            </p:txBody>
          </p:sp>
          <p:sp>
            <p:nvSpPr>
              <p:cNvPr id="20" name="文本框 19"/>
              <p:cNvSpPr txBox="1"/>
              <p:nvPr/>
            </p:nvSpPr>
            <p:spPr>
              <a:xfrm>
                <a:off x="4381610" y="4900570"/>
                <a:ext cx="915112" cy="369332"/>
              </a:xfrm>
              <a:prstGeom prst="rect">
                <a:avLst/>
              </a:prstGeom>
              <a:solidFill>
                <a:schemeClr val="accent6">
                  <a:lumMod val="20000"/>
                  <a:lumOff val="80000"/>
                </a:schemeClr>
              </a:solidFill>
            </p:spPr>
            <p:txBody>
              <a:bodyPr wrap="square" rtlCol="0">
                <a:spAutoFit/>
              </a:bodyPr>
              <a:lstStyle/>
              <a:p>
                <a:r>
                  <a:rPr lang="zh-CN" altLang="en-US" b="1">
                    <a:solidFill>
                      <a:schemeClr val="accent6">
                        <a:lumMod val="50000"/>
                      </a:schemeClr>
                    </a:solidFill>
                  </a:rPr>
                  <a:t>小问题</a:t>
                </a:r>
                <a:endParaRPr lang="zh-CN" altLang="en-US" b="1">
                  <a:solidFill>
                    <a:schemeClr val="accent6">
                      <a:lumMod val="50000"/>
                    </a:schemeClr>
                  </a:solidFill>
                </a:endParaRPr>
              </a:p>
            </p:txBody>
          </p:sp>
          <p:sp>
            <p:nvSpPr>
              <p:cNvPr id="21" name="文本框 20"/>
              <p:cNvSpPr txBox="1"/>
              <p:nvPr/>
            </p:nvSpPr>
            <p:spPr>
              <a:xfrm>
                <a:off x="5386627" y="4900570"/>
                <a:ext cx="1418745" cy="369332"/>
              </a:xfrm>
              <a:prstGeom prst="rect">
                <a:avLst/>
              </a:prstGeom>
              <a:solidFill>
                <a:schemeClr val="accent6">
                  <a:lumMod val="20000"/>
                  <a:lumOff val="80000"/>
                </a:schemeClr>
              </a:solidFill>
            </p:spPr>
            <p:txBody>
              <a:bodyPr wrap="square" rtlCol="0">
                <a:spAutoFit/>
              </a:bodyPr>
              <a:lstStyle/>
              <a:p>
                <a:r>
                  <a:rPr lang="zh-CN" altLang="en-US" b="1">
                    <a:solidFill>
                      <a:schemeClr val="accent6">
                        <a:lumMod val="50000"/>
                      </a:schemeClr>
                    </a:solidFill>
                  </a:rPr>
                  <a:t>小问题的解</a:t>
                </a:r>
                <a:endParaRPr lang="zh-CN" altLang="en-US" b="1">
                  <a:solidFill>
                    <a:schemeClr val="accent6">
                      <a:lumMod val="50000"/>
                    </a:schemeClr>
                  </a:solidFill>
                </a:endParaRPr>
              </a:p>
            </p:txBody>
          </p:sp>
          <p:sp>
            <p:nvSpPr>
              <p:cNvPr id="22" name="文本框 21"/>
              <p:cNvSpPr txBox="1"/>
              <p:nvPr/>
            </p:nvSpPr>
            <p:spPr>
              <a:xfrm>
                <a:off x="4590090" y="5882255"/>
                <a:ext cx="1348625"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特别小问题</a:t>
                </a:r>
                <a:endParaRPr lang="zh-CN" altLang="en-US" b="1">
                  <a:solidFill>
                    <a:schemeClr val="accent2">
                      <a:lumMod val="50000"/>
                    </a:schemeClr>
                  </a:solidFill>
                </a:endParaRPr>
              </a:p>
            </p:txBody>
          </p:sp>
          <p:sp>
            <p:nvSpPr>
              <p:cNvPr id="23" name="文本框 22"/>
              <p:cNvSpPr txBox="1"/>
              <p:nvPr/>
            </p:nvSpPr>
            <p:spPr>
              <a:xfrm>
                <a:off x="6133295" y="5893673"/>
                <a:ext cx="1783099"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特别小问题的解</a:t>
                </a:r>
                <a:endParaRPr lang="zh-CN" altLang="en-US" b="1">
                  <a:solidFill>
                    <a:schemeClr val="accent2">
                      <a:lumMod val="50000"/>
                    </a:schemeClr>
                  </a:solidFill>
                </a:endParaRPr>
              </a:p>
            </p:txBody>
          </p:sp>
          <p:sp>
            <p:nvSpPr>
              <p:cNvPr id="24" name="文本框 23"/>
              <p:cNvSpPr txBox="1"/>
              <p:nvPr/>
            </p:nvSpPr>
            <p:spPr>
              <a:xfrm>
                <a:off x="8345184" y="5891450"/>
                <a:ext cx="1344501"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特别小问题</a:t>
                </a:r>
                <a:endParaRPr lang="zh-CN" altLang="en-US" b="1">
                  <a:solidFill>
                    <a:schemeClr val="accent2">
                      <a:lumMod val="50000"/>
                    </a:schemeClr>
                  </a:solidFill>
                </a:endParaRPr>
              </a:p>
            </p:txBody>
          </p:sp>
          <p:sp>
            <p:nvSpPr>
              <p:cNvPr id="25" name="文本框 24"/>
              <p:cNvSpPr txBox="1"/>
              <p:nvPr/>
            </p:nvSpPr>
            <p:spPr>
              <a:xfrm>
                <a:off x="9915884" y="5902868"/>
                <a:ext cx="1783099"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特别小问题的解</a:t>
                </a:r>
                <a:endParaRPr lang="zh-CN" altLang="en-US" b="1">
                  <a:solidFill>
                    <a:schemeClr val="accent2">
                      <a:lumMod val="50000"/>
                    </a:schemeClr>
                  </a:solidFill>
                </a:endParaRPr>
              </a:p>
            </p:txBody>
          </p:sp>
          <mc:AlternateContent xmlns:mc="http://schemas.openxmlformats.org/markup-compatibility/2006">
            <mc:Choice xmlns:a14="http://schemas.microsoft.com/office/drawing/2010/main" Requires="a14">
              <p:sp>
                <p:nvSpPr>
                  <p:cNvPr id="27" name="文本框 26"/>
                  <p:cNvSpPr txBox="1"/>
                  <p:nvPr/>
                </p:nvSpPr>
                <p:spPr>
                  <a:xfrm>
                    <a:off x="3815482" y="4935569"/>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27" name="文本框 26"/>
                  <p:cNvSpPr txBox="1">
                    <a:spLocks noRot="1" noChangeAspect="1" noMove="1" noResize="1" noEditPoints="1" noAdjustHandles="1" noChangeArrowheads="1" noChangeShapeType="1" noTextEdit="1"/>
                  </p:cNvSpPr>
                  <p:nvPr/>
                </p:nvSpPr>
                <p:spPr>
                  <a:xfrm>
                    <a:off x="3815482" y="4935569"/>
                    <a:ext cx="355235" cy="276999"/>
                  </a:xfrm>
                  <a:prstGeom prst="rect">
                    <a:avLst/>
                  </a:prstGeom>
                  <a:blipFill rotWithShape="1">
                    <a:blip r:embed="rId2"/>
                  </a:blipFill>
                </p:spPr>
                <p:txBody>
                  <a:bodyPr/>
                  <a:lstStyle/>
                  <a:p>
                    <a:r>
                      <a:rPr lang="zh-CN" altLang="en-US">
                        <a:noFill/>
                      </a:rPr>
                      <a:t> </a:t>
                    </a:r>
                  </a:p>
                </p:txBody>
              </p:sp>
            </mc:Fallback>
          </mc:AlternateContent>
          <p:sp>
            <p:nvSpPr>
              <p:cNvPr id="29" name="文本框 28"/>
              <p:cNvSpPr txBox="1"/>
              <p:nvPr/>
            </p:nvSpPr>
            <p:spPr>
              <a:xfrm>
                <a:off x="8594261" y="4890481"/>
                <a:ext cx="915112" cy="369332"/>
              </a:xfrm>
              <a:prstGeom prst="rect">
                <a:avLst/>
              </a:prstGeom>
              <a:solidFill>
                <a:schemeClr val="accent6">
                  <a:lumMod val="20000"/>
                  <a:lumOff val="80000"/>
                </a:schemeClr>
              </a:solidFill>
            </p:spPr>
            <p:txBody>
              <a:bodyPr wrap="square" rtlCol="0">
                <a:spAutoFit/>
              </a:bodyPr>
              <a:lstStyle/>
              <a:p>
                <a:r>
                  <a:rPr lang="zh-CN" altLang="en-US" b="1">
                    <a:solidFill>
                      <a:schemeClr val="accent6">
                        <a:lumMod val="50000"/>
                      </a:schemeClr>
                    </a:solidFill>
                  </a:rPr>
                  <a:t>小问题</a:t>
                </a:r>
                <a:endParaRPr lang="zh-CN" altLang="en-US" b="1">
                  <a:solidFill>
                    <a:schemeClr val="accent6">
                      <a:lumMod val="50000"/>
                    </a:schemeClr>
                  </a:solidFill>
                </a:endParaRPr>
              </a:p>
            </p:txBody>
          </p:sp>
          <p:sp>
            <p:nvSpPr>
              <p:cNvPr id="30" name="文本框 29"/>
              <p:cNvSpPr txBox="1"/>
              <p:nvPr/>
            </p:nvSpPr>
            <p:spPr>
              <a:xfrm>
                <a:off x="9599278" y="4890481"/>
                <a:ext cx="1418745" cy="369332"/>
              </a:xfrm>
              <a:prstGeom prst="rect">
                <a:avLst/>
              </a:prstGeom>
              <a:solidFill>
                <a:schemeClr val="accent6">
                  <a:lumMod val="20000"/>
                  <a:lumOff val="80000"/>
                </a:schemeClr>
              </a:solidFill>
            </p:spPr>
            <p:txBody>
              <a:bodyPr wrap="square" rtlCol="0">
                <a:spAutoFit/>
              </a:bodyPr>
              <a:lstStyle/>
              <a:p>
                <a:r>
                  <a:rPr lang="zh-CN" altLang="en-US" b="1">
                    <a:solidFill>
                      <a:schemeClr val="accent6">
                        <a:lumMod val="50000"/>
                      </a:schemeClr>
                    </a:solidFill>
                  </a:rPr>
                  <a:t>小问题的解</a:t>
                </a:r>
                <a:endParaRPr lang="zh-CN" altLang="en-US" b="1">
                  <a:solidFill>
                    <a:schemeClr val="accent6">
                      <a:lumMod val="50000"/>
                    </a:schemeClr>
                  </a:solidFill>
                </a:endParaRPr>
              </a:p>
            </p:txBody>
          </p:sp>
          <p:cxnSp>
            <p:nvCxnSpPr>
              <p:cNvPr id="32" name="直接箭头连接符 31"/>
              <p:cNvCxnSpPr>
                <a:stCxn id="3" idx="2"/>
                <a:endCxn id="4" idx="0"/>
              </p:cNvCxnSpPr>
              <p:nvPr/>
            </p:nvCxnSpPr>
            <p:spPr>
              <a:xfrm flipH="1">
                <a:off x="3149610" y="4016507"/>
                <a:ext cx="1931122" cy="300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3" idx="2"/>
              </p:cNvCxnSpPr>
              <p:nvPr/>
            </p:nvCxnSpPr>
            <p:spPr>
              <a:xfrm>
                <a:off x="5080732" y="4016507"/>
                <a:ext cx="305895" cy="417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3" idx="2"/>
              </p:cNvCxnSpPr>
              <p:nvPr/>
            </p:nvCxnSpPr>
            <p:spPr>
              <a:xfrm>
                <a:off x="5080732" y="4016507"/>
                <a:ext cx="1585427" cy="387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stCxn id="3" idx="2"/>
                <a:endCxn id="13" idx="0"/>
              </p:cNvCxnSpPr>
              <p:nvPr/>
            </p:nvCxnSpPr>
            <p:spPr>
              <a:xfrm>
                <a:off x="5080732" y="4016507"/>
                <a:ext cx="3058252" cy="3060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4" idx="2"/>
                <a:endCxn id="18" idx="0"/>
              </p:cNvCxnSpPr>
              <p:nvPr/>
            </p:nvCxnSpPr>
            <p:spPr>
              <a:xfrm flipH="1">
                <a:off x="1644961" y="4685945"/>
                <a:ext cx="1504649" cy="214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4" idx="2"/>
                <a:endCxn id="27" idx="0"/>
              </p:cNvCxnSpPr>
              <p:nvPr/>
            </p:nvCxnSpPr>
            <p:spPr>
              <a:xfrm>
                <a:off x="3149610" y="4685945"/>
                <a:ext cx="843490" cy="2496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4" idx="2"/>
                <a:endCxn id="20" idx="0"/>
              </p:cNvCxnSpPr>
              <p:nvPr/>
            </p:nvCxnSpPr>
            <p:spPr>
              <a:xfrm>
                <a:off x="3149610" y="4685945"/>
                <a:ext cx="1689556" cy="214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a:stCxn id="18" idx="2"/>
              </p:cNvCxnSpPr>
              <p:nvPr/>
            </p:nvCxnSpPr>
            <p:spPr>
              <a:xfrm flipH="1">
                <a:off x="1555056" y="5270258"/>
                <a:ext cx="89905" cy="1503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endCxn id="15" idx="0"/>
              </p:cNvCxnSpPr>
              <p:nvPr/>
            </p:nvCxnSpPr>
            <p:spPr>
              <a:xfrm flipH="1">
                <a:off x="1235253" y="5691361"/>
                <a:ext cx="172530" cy="1908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18" idx="2"/>
              </p:cNvCxnSpPr>
              <p:nvPr/>
            </p:nvCxnSpPr>
            <p:spPr>
              <a:xfrm>
                <a:off x="1644961" y="5270258"/>
                <a:ext cx="1782394" cy="2095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a:stCxn id="20" idx="2"/>
              </p:cNvCxnSpPr>
              <p:nvPr/>
            </p:nvCxnSpPr>
            <p:spPr>
              <a:xfrm flipH="1">
                <a:off x="4236501" y="5269902"/>
                <a:ext cx="602665" cy="2426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stCxn id="20" idx="2"/>
              </p:cNvCxnSpPr>
              <p:nvPr/>
            </p:nvCxnSpPr>
            <p:spPr>
              <a:xfrm>
                <a:off x="4839166" y="5269902"/>
                <a:ext cx="241566" cy="2717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endCxn id="22" idx="0"/>
              </p:cNvCxnSpPr>
              <p:nvPr/>
            </p:nvCxnSpPr>
            <p:spPr>
              <a:xfrm>
                <a:off x="5203350" y="5736619"/>
                <a:ext cx="61053" cy="1456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1" name="文本框 60"/>
                  <p:cNvSpPr txBox="1"/>
                  <p:nvPr/>
                </p:nvSpPr>
                <p:spPr>
                  <a:xfrm>
                    <a:off x="1283531" y="5440609"/>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61" name="文本框 60"/>
                  <p:cNvSpPr txBox="1">
                    <a:spLocks noRot="1" noChangeAspect="1" noMove="1" noResize="1" noEditPoints="1" noAdjustHandles="1" noChangeArrowheads="1" noChangeShapeType="1" noTextEdit="1"/>
                  </p:cNvSpPr>
                  <p:nvPr/>
                </p:nvSpPr>
                <p:spPr>
                  <a:xfrm>
                    <a:off x="1283531" y="5440609"/>
                    <a:ext cx="355235" cy="276999"/>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2" name="文本框 61"/>
                  <p:cNvSpPr txBox="1"/>
                  <p:nvPr/>
                </p:nvSpPr>
                <p:spPr>
                  <a:xfrm>
                    <a:off x="2051813" y="5468112"/>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62" name="文本框 61"/>
                  <p:cNvSpPr txBox="1">
                    <a:spLocks noRot="1" noChangeAspect="1" noMove="1" noResize="1" noEditPoints="1" noAdjustHandles="1" noChangeArrowheads="1" noChangeShapeType="1" noTextEdit="1"/>
                  </p:cNvSpPr>
                  <p:nvPr/>
                </p:nvSpPr>
                <p:spPr>
                  <a:xfrm>
                    <a:off x="2051813" y="5468112"/>
                    <a:ext cx="355235" cy="276999"/>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3" name="文本框 62"/>
                  <p:cNvSpPr txBox="1"/>
                  <p:nvPr/>
                </p:nvSpPr>
                <p:spPr>
                  <a:xfrm>
                    <a:off x="3249737" y="5490432"/>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63" name="文本框 62"/>
                  <p:cNvSpPr txBox="1">
                    <a:spLocks noRot="1" noChangeAspect="1" noMove="1" noResize="1" noEditPoints="1" noAdjustHandles="1" noChangeArrowheads="1" noChangeShapeType="1" noTextEdit="1"/>
                  </p:cNvSpPr>
                  <p:nvPr/>
                </p:nvSpPr>
                <p:spPr>
                  <a:xfrm>
                    <a:off x="3249737" y="5490432"/>
                    <a:ext cx="355235" cy="276999"/>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4" name="文本框 63"/>
                  <p:cNvSpPr txBox="1"/>
                  <p:nvPr/>
                </p:nvSpPr>
                <p:spPr>
                  <a:xfrm>
                    <a:off x="4026375" y="5475352"/>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64" name="文本框 63"/>
                  <p:cNvSpPr txBox="1">
                    <a:spLocks noRot="1" noChangeAspect="1" noMove="1" noResize="1" noEditPoints="1" noAdjustHandles="1" noChangeArrowheads="1" noChangeShapeType="1" noTextEdit="1"/>
                  </p:cNvSpPr>
                  <p:nvPr/>
                </p:nvSpPr>
                <p:spPr>
                  <a:xfrm>
                    <a:off x="4026375" y="5475352"/>
                    <a:ext cx="355235" cy="276999"/>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5" name="文本框 64"/>
                  <p:cNvSpPr txBox="1"/>
                  <p:nvPr/>
                </p:nvSpPr>
                <p:spPr>
                  <a:xfrm>
                    <a:off x="4938198" y="5475352"/>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65" name="文本框 64"/>
                  <p:cNvSpPr txBox="1">
                    <a:spLocks noRot="1" noChangeAspect="1" noMove="1" noResize="1" noEditPoints="1" noAdjustHandles="1" noChangeArrowheads="1" noChangeShapeType="1" noTextEdit="1"/>
                  </p:cNvSpPr>
                  <p:nvPr/>
                </p:nvSpPr>
                <p:spPr>
                  <a:xfrm>
                    <a:off x="4938198" y="5475352"/>
                    <a:ext cx="355235" cy="276999"/>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6" name="文本框 65"/>
                  <p:cNvSpPr txBox="1"/>
                  <p:nvPr/>
                </p:nvSpPr>
                <p:spPr>
                  <a:xfrm>
                    <a:off x="5598781" y="4362779"/>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66" name="文本框 65"/>
                  <p:cNvSpPr txBox="1">
                    <a:spLocks noRot="1" noChangeAspect="1" noMove="1" noResize="1" noEditPoints="1" noAdjustHandles="1" noChangeArrowheads="1" noChangeShapeType="1" noTextEdit="1"/>
                  </p:cNvSpPr>
                  <p:nvPr/>
                </p:nvSpPr>
                <p:spPr>
                  <a:xfrm>
                    <a:off x="5598781" y="4362779"/>
                    <a:ext cx="355235" cy="276999"/>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7" name="文本框 66"/>
                  <p:cNvSpPr txBox="1"/>
                  <p:nvPr/>
                </p:nvSpPr>
                <p:spPr>
                  <a:xfrm>
                    <a:off x="6490187" y="4357533"/>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67" name="文本框 66"/>
                  <p:cNvSpPr txBox="1">
                    <a:spLocks noRot="1" noChangeAspect="1" noMove="1" noResize="1" noEditPoints="1" noAdjustHandles="1" noChangeArrowheads="1" noChangeShapeType="1" noTextEdit="1"/>
                  </p:cNvSpPr>
                  <p:nvPr/>
                </p:nvSpPr>
                <p:spPr>
                  <a:xfrm>
                    <a:off x="6490187" y="4357533"/>
                    <a:ext cx="355235" cy="276999"/>
                  </a:xfrm>
                  <a:prstGeom prst="rect">
                    <a:avLst/>
                  </a:prstGeom>
                  <a:blipFill rotWithShape="1">
                    <a:blip r:embed="rId2"/>
                  </a:blipFill>
                </p:spPr>
                <p:txBody>
                  <a:bodyPr/>
                  <a:lstStyle/>
                  <a:p>
                    <a:r>
                      <a:rPr lang="zh-CN" altLang="en-US">
                        <a:noFill/>
                      </a:rPr>
                      <a:t> </a:t>
                    </a:r>
                  </a:p>
                </p:txBody>
              </p:sp>
            </mc:Fallback>
          </mc:AlternateContent>
          <p:cxnSp>
            <p:nvCxnSpPr>
              <p:cNvPr id="69" name="直接箭头连接符 68"/>
              <p:cNvCxnSpPr>
                <a:stCxn id="13" idx="2"/>
                <a:endCxn id="74" idx="0"/>
              </p:cNvCxnSpPr>
              <p:nvPr/>
            </p:nvCxnSpPr>
            <p:spPr>
              <a:xfrm flipH="1">
                <a:off x="7290639" y="4691938"/>
                <a:ext cx="848345" cy="2717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stCxn id="13" idx="2"/>
                <a:endCxn id="29" idx="0"/>
              </p:cNvCxnSpPr>
              <p:nvPr/>
            </p:nvCxnSpPr>
            <p:spPr>
              <a:xfrm>
                <a:off x="8138984" y="4691938"/>
                <a:ext cx="912833" cy="1985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4" name="文本框 73"/>
                  <p:cNvSpPr txBox="1"/>
                  <p:nvPr/>
                </p:nvSpPr>
                <p:spPr>
                  <a:xfrm>
                    <a:off x="7113021" y="4963649"/>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74" name="文本框 73"/>
                  <p:cNvSpPr txBox="1">
                    <a:spLocks noRot="1" noChangeAspect="1" noMove="1" noResize="1" noEditPoints="1" noAdjustHandles="1" noChangeArrowheads="1" noChangeShapeType="1" noTextEdit="1"/>
                  </p:cNvSpPr>
                  <p:nvPr/>
                </p:nvSpPr>
                <p:spPr>
                  <a:xfrm>
                    <a:off x="7113021" y="4963649"/>
                    <a:ext cx="355235" cy="276999"/>
                  </a:xfrm>
                  <a:prstGeom prst="rect">
                    <a:avLst/>
                  </a:prstGeom>
                  <a:blipFill rotWithShape="1">
                    <a:blip r:embed="rId2"/>
                  </a:blipFill>
                </p:spPr>
                <p:txBody>
                  <a:bodyPr/>
                  <a:lstStyle/>
                  <a:p>
                    <a:r>
                      <a:rPr lang="zh-CN" altLang="en-US">
                        <a:noFill/>
                      </a:rPr>
                      <a:t> </a:t>
                    </a:r>
                  </a:p>
                </p:txBody>
              </p:sp>
            </mc:Fallback>
          </mc:AlternateContent>
          <p:cxnSp>
            <p:nvCxnSpPr>
              <p:cNvPr id="76" name="直接箭头连接符 75"/>
              <p:cNvCxnSpPr>
                <a:stCxn id="13" idx="2"/>
              </p:cNvCxnSpPr>
              <p:nvPr/>
            </p:nvCxnSpPr>
            <p:spPr>
              <a:xfrm>
                <a:off x="8138984" y="4691938"/>
                <a:ext cx="0" cy="2544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8" name="文本框 77"/>
                  <p:cNvSpPr txBox="1"/>
                  <p:nvPr/>
                </p:nvSpPr>
                <p:spPr>
                  <a:xfrm>
                    <a:off x="7931377" y="4957704"/>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78" name="文本框 77"/>
                  <p:cNvSpPr txBox="1">
                    <a:spLocks noRot="1" noChangeAspect="1" noMove="1" noResize="1" noEditPoints="1" noAdjustHandles="1" noChangeArrowheads="1" noChangeShapeType="1" noTextEdit="1"/>
                  </p:cNvSpPr>
                  <p:nvPr/>
                </p:nvSpPr>
                <p:spPr>
                  <a:xfrm>
                    <a:off x="7931377" y="4957704"/>
                    <a:ext cx="355235" cy="276999"/>
                  </a:xfrm>
                  <a:prstGeom prst="rect">
                    <a:avLst/>
                  </a:prstGeom>
                  <a:blipFill rotWithShape="1">
                    <a:blip r:embed="rId2"/>
                  </a:blipFill>
                </p:spPr>
                <p:txBody>
                  <a:bodyPr/>
                  <a:lstStyle/>
                  <a:p>
                    <a:r>
                      <a:rPr lang="zh-CN" altLang="en-US">
                        <a:noFill/>
                      </a:rPr>
                      <a:t> </a:t>
                    </a:r>
                  </a:p>
                </p:txBody>
              </p:sp>
            </mc:Fallback>
          </mc:AlternateContent>
          <p:cxnSp>
            <p:nvCxnSpPr>
              <p:cNvPr id="80" name="直接箭头连接符 79"/>
              <p:cNvCxnSpPr>
                <a:stCxn id="29" idx="2"/>
                <a:endCxn id="81" idx="0"/>
              </p:cNvCxnSpPr>
              <p:nvPr/>
            </p:nvCxnSpPr>
            <p:spPr>
              <a:xfrm flipH="1">
                <a:off x="8297770" y="5259813"/>
                <a:ext cx="754047" cy="1504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1" name="文本框 80"/>
                  <p:cNvSpPr txBox="1"/>
                  <p:nvPr/>
                </p:nvSpPr>
                <p:spPr>
                  <a:xfrm>
                    <a:off x="8120152" y="5410265"/>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81" name="文本框 80"/>
                  <p:cNvSpPr txBox="1">
                    <a:spLocks noRot="1" noChangeAspect="1" noMove="1" noResize="1" noEditPoints="1" noAdjustHandles="1" noChangeArrowheads="1" noChangeShapeType="1" noTextEdit="1"/>
                  </p:cNvSpPr>
                  <p:nvPr/>
                </p:nvSpPr>
                <p:spPr>
                  <a:xfrm>
                    <a:off x="8120152" y="5410265"/>
                    <a:ext cx="355235" cy="276999"/>
                  </a:xfrm>
                  <a:prstGeom prst="rect">
                    <a:avLst/>
                  </a:prstGeom>
                  <a:blipFill rotWithShape="1">
                    <a:blip r:embed="rId2"/>
                  </a:blipFill>
                </p:spPr>
                <p:txBody>
                  <a:bodyPr/>
                  <a:lstStyle/>
                  <a:p>
                    <a:r>
                      <a:rPr lang="zh-CN" altLang="en-US">
                        <a:noFill/>
                      </a:rPr>
                      <a:t> </a:t>
                    </a:r>
                  </a:p>
                </p:txBody>
              </p:sp>
            </mc:Fallback>
          </mc:AlternateContent>
          <p:cxnSp>
            <p:nvCxnSpPr>
              <p:cNvPr id="84" name="直接箭头连接符 83"/>
              <p:cNvCxnSpPr>
                <a:stCxn id="29" idx="2"/>
              </p:cNvCxnSpPr>
              <p:nvPr/>
            </p:nvCxnSpPr>
            <p:spPr>
              <a:xfrm>
                <a:off x="9051817" y="5259813"/>
                <a:ext cx="0" cy="2155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5" name="文本框 84"/>
                  <p:cNvSpPr txBox="1"/>
                  <p:nvPr/>
                </p:nvSpPr>
                <p:spPr>
                  <a:xfrm>
                    <a:off x="8874199" y="5416481"/>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85" name="文本框 84"/>
                  <p:cNvSpPr txBox="1">
                    <a:spLocks noRot="1" noChangeAspect="1" noMove="1" noResize="1" noEditPoints="1" noAdjustHandles="1" noChangeArrowheads="1" noChangeShapeType="1" noTextEdit="1"/>
                  </p:cNvSpPr>
                  <p:nvPr/>
                </p:nvSpPr>
                <p:spPr>
                  <a:xfrm>
                    <a:off x="8874199" y="5416481"/>
                    <a:ext cx="355235" cy="276999"/>
                  </a:xfrm>
                  <a:prstGeom prst="rect">
                    <a:avLst/>
                  </a:prstGeom>
                  <a:blipFill rotWithShape="1">
                    <a:blip r:embed="rId2"/>
                  </a:blipFill>
                </p:spPr>
                <p:txBody>
                  <a:bodyPr/>
                  <a:lstStyle/>
                  <a:p>
                    <a:r>
                      <a:rPr lang="zh-CN" altLang="en-US">
                        <a:noFill/>
                      </a:rPr>
                      <a:t> </a:t>
                    </a:r>
                  </a:p>
                </p:txBody>
              </p:sp>
            </mc:Fallback>
          </mc:AlternateContent>
          <p:cxnSp>
            <p:nvCxnSpPr>
              <p:cNvPr id="87" name="直接箭头连接符 86"/>
              <p:cNvCxnSpPr>
                <a:stCxn id="85" idx="2"/>
                <a:endCxn id="24" idx="0"/>
              </p:cNvCxnSpPr>
              <p:nvPr/>
            </p:nvCxnSpPr>
            <p:spPr>
              <a:xfrm flipH="1">
                <a:off x="9017435" y="5693480"/>
                <a:ext cx="34382" cy="1979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a:stCxn id="29" idx="2"/>
              </p:cNvCxnSpPr>
              <p:nvPr/>
            </p:nvCxnSpPr>
            <p:spPr>
              <a:xfrm>
                <a:off x="9051817" y="5259813"/>
                <a:ext cx="1013161" cy="156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1" name="文本框 90"/>
                  <p:cNvSpPr txBox="1"/>
                  <p:nvPr/>
                </p:nvSpPr>
                <p:spPr>
                  <a:xfrm>
                    <a:off x="9834251" y="5416481"/>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91" name="文本框 90"/>
                  <p:cNvSpPr txBox="1">
                    <a:spLocks noRot="1" noChangeAspect="1" noMove="1" noResize="1" noEditPoints="1" noAdjustHandles="1" noChangeArrowheads="1" noChangeShapeType="1" noTextEdit="1"/>
                  </p:cNvSpPr>
                  <p:nvPr/>
                </p:nvSpPr>
                <p:spPr>
                  <a:xfrm>
                    <a:off x="9834251" y="5416481"/>
                    <a:ext cx="355235" cy="276999"/>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2" name="文本框 91"/>
                  <p:cNvSpPr txBox="1"/>
                  <p:nvPr/>
                </p:nvSpPr>
                <p:spPr>
                  <a:xfrm>
                    <a:off x="4053017" y="5934303"/>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92" name="文本框 91"/>
                  <p:cNvSpPr txBox="1">
                    <a:spLocks noRot="1" noChangeAspect="1" noMove="1" noResize="1" noEditPoints="1" noAdjustHandles="1" noChangeArrowheads="1" noChangeShapeType="1" noTextEdit="1"/>
                  </p:cNvSpPr>
                  <p:nvPr/>
                </p:nvSpPr>
                <p:spPr>
                  <a:xfrm>
                    <a:off x="4053017" y="5934303"/>
                    <a:ext cx="355235" cy="276999"/>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3" name="文本框 92"/>
                  <p:cNvSpPr txBox="1"/>
                  <p:nvPr/>
                </p:nvSpPr>
                <p:spPr>
                  <a:xfrm>
                    <a:off x="7953171" y="5938362"/>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93" name="文本框 92"/>
                  <p:cNvSpPr txBox="1">
                    <a:spLocks noRot="1" noChangeAspect="1" noMove="1" noResize="1" noEditPoints="1" noAdjustHandles="1" noChangeArrowheads="1" noChangeShapeType="1" noTextEdit="1"/>
                  </p:cNvSpPr>
                  <p:nvPr/>
                </p:nvSpPr>
                <p:spPr>
                  <a:xfrm>
                    <a:off x="7953171" y="5938362"/>
                    <a:ext cx="355235" cy="276999"/>
                  </a:xfrm>
                  <a:prstGeom prst="rect">
                    <a:avLst/>
                  </a:prstGeom>
                  <a:blipFill rotWithShape="1">
                    <a:blip r:embed="rId2"/>
                  </a:blipFill>
                </p:spPr>
                <p:txBody>
                  <a:bodyPr/>
                  <a:lstStyle/>
                  <a:p>
                    <a:r>
                      <a:rPr lang="zh-CN" altLang="en-US">
                        <a:noFill/>
                      </a:rPr>
                      <a:t> </a:t>
                    </a:r>
                  </a:p>
                </p:txBody>
              </p:sp>
            </mc:Fallback>
          </mc:AlternateContent>
          <p:sp>
            <p:nvSpPr>
              <p:cNvPr id="94" name="箭头: 右 93"/>
              <p:cNvSpPr/>
              <p:nvPr/>
            </p:nvSpPr>
            <p:spPr>
              <a:xfrm>
                <a:off x="1907503" y="6027083"/>
                <a:ext cx="250600" cy="45719"/>
              </a:xfrm>
              <a:prstGeom prst="rightArrow">
                <a:avLst/>
              </a:prstGeom>
              <a:solidFill>
                <a:schemeClr val="accent2">
                  <a:lumMod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50000"/>
                    </a:schemeClr>
                  </a:solidFill>
                </a:endParaRPr>
              </a:p>
            </p:txBody>
          </p:sp>
          <p:sp>
            <p:nvSpPr>
              <p:cNvPr id="95" name="箭头: 右 94"/>
              <p:cNvSpPr/>
              <p:nvPr/>
            </p:nvSpPr>
            <p:spPr>
              <a:xfrm>
                <a:off x="5938715" y="6041207"/>
                <a:ext cx="222075" cy="45719"/>
              </a:xfrm>
              <a:prstGeom prst="rightArrow">
                <a:avLst/>
              </a:prstGeom>
              <a:solidFill>
                <a:schemeClr val="accent2">
                  <a:lumMod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50000"/>
                    </a:schemeClr>
                  </a:solidFill>
                </a:endParaRPr>
              </a:p>
            </p:txBody>
          </p:sp>
          <p:sp>
            <p:nvSpPr>
              <p:cNvPr id="96" name="箭头: 右 95"/>
              <p:cNvSpPr/>
              <p:nvPr/>
            </p:nvSpPr>
            <p:spPr>
              <a:xfrm>
                <a:off x="9689685" y="6072802"/>
                <a:ext cx="226199" cy="45719"/>
              </a:xfrm>
              <a:prstGeom prst="rightArrow">
                <a:avLst/>
              </a:prstGeom>
              <a:solidFill>
                <a:schemeClr val="accent2">
                  <a:lumMod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50000"/>
                    </a:schemeClr>
                  </a:solidFill>
                </a:endParaRPr>
              </a:p>
            </p:txBody>
          </p:sp>
          <p:cxnSp>
            <p:nvCxnSpPr>
              <p:cNvPr id="98" name="直接箭头连接符 97"/>
              <p:cNvCxnSpPr>
                <a:stCxn id="16" idx="0"/>
              </p:cNvCxnSpPr>
              <p:nvPr/>
            </p:nvCxnSpPr>
            <p:spPr>
              <a:xfrm flipV="1">
                <a:off x="3033729" y="5687264"/>
                <a:ext cx="5500" cy="20418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p:nvPr/>
            </p:nvCxnSpPr>
            <p:spPr>
              <a:xfrm flipV="1">
                <a:off x="3030440" y="5259648"/>
                <a:ext cx="8789" cy="21570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1" name="文本框 100"/>
                  <p:cNvSpPr txBox="1"/>
                  <p:nvPr/>
                </p:nvSpPr>
                <p:spPr>
                  <a:xfrm>
                    <a:off x="2881389" y="5475352"/>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101" name="文本框 100"/>
                  <p:cNvSpPr txBox="1">
                    <a:spLocks noRot="1" noChangeAspect="1" noMove="1" noResize="1" noEditPoints="1" noAdjustHandles="1" noChangeArrowheads="1" noChangeShapeType="1" noTextEdit="1"/>
                  </p:cNvSpPr>
                  <p:nvPr/>
                </p:nvSpPr>
                <p:spPr>
                  <a:xfrm>
                    <a:off x="2881389" y="5475352"/>
                    <a:ext cx="355235" cy="276999"/>
                  </a:xfrm>
                  <a:prstGeom prst="rect">
                    <a:avLst/>
                  </a:prstGeom>
                  <a:blipFill rotWithShape="1">
                    <a:blip r:embed="rId2"/>
                  </a:blipFill>
                </p:spPr>
                <p:txBody>
                  <a:bodyPr/>
                  <a:lstStyle/>
                  <a:p>
                    <a:r>
                      <a:rPr lang="zh-CN" altLang="en-US">
                        <a:noFill/>
                      </a:rPr>
                      <a:t> </a:t>
                    </a:r>
                  </a:p>
                </p:txBody>
              </p:sp>
            </mc:Fallback>
          </mc:AlternateContent>
          <p:cxnSp>
            <p:nvCxnSpPr>
              <p:cNvPr id="103" name="直接箭头连接符 102"/>
              <p:cNvCxnSpPr>
                <a:stCxn id="19" idx="0"/>
                <a:endCxn id="11" idx="2"/>
              </p:cNvCxnSpPr>
              <p:nvPr/>
            </p:nvCxnSpPr>
            <p:spPr>
              <a:xfrm flipV="1">
                <a:off x="2901795" y="4685945"/>
                <a:ext cx="1504649" cy="21498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直接箭头连接符 104"/>
              <p:cNvCxnSpPr>
                <a:endCxn id="11" idx="2"/>
              </p:cNvCxnSpPr>
              <p:nvPr/>
            </p:nvCxnSpPr>
            <p:spPr>
              <a:xfrm flipV="1">
                <a:off x="4196703" y="4685945"/>
                <a:ext cx="209741" cy="25121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a:stCxn id="21" idx="0"/>
                <a:endCxn id="11" idx="2"/>
              </p:cNvCxnSpPr>
              <p:nvPr/>
            </p:nvCxnSpPr>
            <p:spPr>
              <a:xfrm flipH="1" flipV="1">
                <a:off x="4406444" y="4685945"/>
                <a:ext cx="1689556" cy="21462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a:stCxn id="23" idx="0"/>
              </p:cNvCxnSpPr>
              <p:nvPr/>
            </p:nvCxnSpPr>
            <p:spPr>
              <a:xfrm flipH="1" flipV="1">
                <a:off x="6709985" y="5717608"/>
                <a:ext cx="314860" cy="17606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0" name="文本框 109"/>
                  <p:cNvSpPr txBox="1"/>
                  <p:nvPr/>
                </p:nvSpPr>
                <p:spPr>
                  <a:xfrm>
                    <a:off x="6229308" y="5494880"/>
                    <a:ext cx="390686"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110" name="文本框 109"/>
                  <p:cNvSpPr txBox="1">
                    <a:spLocks noRot="1" noChangeAspect="1" noMove="1" noResize="1" noEditPoints="1" noAdjustHandles="1" noChangeArrowheads="1" noChangeShapeType="1" noTextEdit="1"/>
                  </p:cNvSpPr>
                  <p:nvPr/>
                </p:nvSpPr>
                <p:spPr>
                  <a:xfrm>
                    <a:off x="6229308" y="5494880"/>
                    <a:ext cx="390686" cy="276999"/>
                  </a:xfrm>
                  <a:prstGeom prst="rect">
                    <a:avLst/>
                  </a:prstGeom>
                  <a:blipFill rotWithShape="1">
                    <a:blip r:embed="rId3"/>
                  </a:blipFill>
                </p:spPr>
                <p:txBody>
                  <a:bodyPr/>
                  <a:lstStyle/>
                  <a:p>
                    <a:r>
                      <a:rPr lang="zh-CN" altLang="en-US">
                        <a:noFill/>
                      </a:rPr>
                      <a:t> </a:t>
                    </a:r>
                  </a:p>
                </p:txBody>
              </p:sp>
            </mc:Fallback>
          </mc:AlternateContent>
          <p:cxnSp>
            <p:nvCxnSpPr>
              <p:cNvPr id="112" name="直接箭头连接符 111"/>
              <p:cNvCxnSpPr>
                <a:stCxn id="110" idx="0"/>
                <a:endCxn id="21" idx="2"/>
              </p:cNvCxnSpPr>
              <p:nvPr/>
            </p:nvCxnSpPr>
            <p:spPr>
              <a:xfrm flipH="1" flipV="1">
                <a:off x="6096000" y="5269902"/>
                <a:ext cx="328651" cy="22497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直接箭头连接符 117"/>
              <p:cNvCxnSpPr>
                <a:endCxn id="14" idx="2"/>
              </p:cNvCxnSpPr>
              <p:nvPr/>
            </p:nvCxnSpPr>
            <p:spPr>
              <a:xfrm flipV="1">
                <a:off x="8269382" y="4691938"/>
                <a:ext cx="1236423" cy="26576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9" name="文本框 118"/>
                  <p:cNvSpPr txBox="1"/>
                  <p:nvPr/>
                </p:nvSpPr>
                <p:spPr>
                  <a:xfrm>
                    <a:off x="10504637" y="5426265"/>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119" name="文本框 118"/>
                  <p:cNvSpPr txBox="1">
                    <a:spLocks noRot="1" noChangeAspect="1" noMove="1" noResize="1" noEditPoints="1" noAdjustHandles="1" noChangeArrowheads="1" noChangeShapeType="1" noTextEdit="1"/>
                  </p:cNvSpPr>
                  <p:nvPr/>
                </p:nvSpPr>
                <p:spPr>
                  <a:xfrm>
                    <a:off x="10504637" y="5426265"/>
                    <a:ext cx="355235" cy="276999"/>
                  </a:xfrm>
                  <a:prstGeom prst="rect">
                    <a:avLst/>
                  </a:prstGeom>
                  <a:blipFill rotWithShape="1">
                    <a:blip r:embed="rId2"/>
                  </a:blipFill>
                </p:spPr>
                <p:txBody>
                  <a:bodyPr/>
                  <a:lstStyle/>
                  <a:p>
                    <a:r>
                      <a:rPr lang="zh-CN" altLang="en-US">
                        <a:noFill/>
                      </a:rPr>
                      <a:t> </a:t>
                    </a:r>
                  </a:p>
                </p:txBody>
              </p:sp>
            </mc:Fallback>
          </mc:AlternateContent>
          <p:cxnSp>
            <p:nvCxnSpPr>
              <p:cNvPr id="121" name="直接箭头连接符 120"/>
              <p:cNvCxnSpPr>
                <a:stCxn id="25" idx="0"/>
                <a:endCxn id="119" idx="2"/>
              </p:cNvCxnSpPr>
              <p:nvPr/>
            </p:nvCxnSpPr>
            <p:spPr>
              <a:xfrm flipH="1" flipV="1">
                <a:off x="10682255" y="5703264"/>
                <a:ext cx="125179" cy="19960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直接箭头连接符 124"/>
              <p:cNvCxnSpPr>
                <a:stCxn id="119" idx="1"/>
                <a:endCxn id="30" idx="2"/>
              </p:cNvCxnSpPr>
              <p:nvPr/>
            </p:nvCxnSpPr>
            <p:spPr>
              <a:xfrm flipH="1" flipV="1">
                <a:off x="10308651" y="5259813"/>
                <a:ext cx="195986" cy="30495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直接箭头连接符 126"/>
              <p:cNvCxnSpPr>
                <a:stCxn id="30" idx="0"/>
                <a:endCxn id="14" idx="2"/>
              </p:cNvCxnSpPr>
              <p:nvPr/>
            </p:nvCxnSpPr>
            <p:spPr>
              <a:xfrm flipH="1" flipV="1">
                <a:off x="9505805" y="4691938"/>
                <a:ext cx="802846" cy="19854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直接箭头连接符 128"/>
              <p:cNvCxnSpPr>
                <a:stCxn id="11" idx="0"/>
                <a:endCxn id="6" idx="2"/>
              </p:cNvCxnSpPr>
              <p:nvPr/>
            </p:nvCxnSpPr>
            <p:spPr>
              <a:xfrm flipV="1">
                <a:off x="4406444" y="4016507"/>
                <a:ext cx="2226795" cy="30010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直接箭头连接符 130"/>
              <p:cNvCxnSpPr>
                <a:endCxn id="6" idx="2"/>
              </p:cNvCxnSpPr>
              <p:nvPr/>
            </p:nvCxnSpPr>
            <p:spPr>
              <a:xfrm flipV="1">
                <a:off x="6133295" y="4016507"/>
                <a:ext cx="499944" cy="43600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直接箭头连接符 132"/>
              <p:cNvCxnSpPr>
                <a:stCxn id="14" idx="0"/>
                <a:endCxn id="6" idx="2"/>
              </p:cNvCxnSpPr>
              <p:nvPr/>
            </p:nvCxnSpPr>
            <p:spPr>
              <a:xfrm flipH="1" flipV="1">
                <a:off x="6633239" y="4016507"/>
                <a:ext cx="2872566" cy="30609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4" name="文本框 133"/>
                  <p:cNvSpPr txBox="1"/>
                  <p:nvPr/>
                </p:nvSpPr>
                <p:spPr>
                  <a:xfrm>
                    <a:off x="7503810" y="4969448"/>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134" name="文本框 133"/>
                  <p:cNvSpPr txBox="1">
                    <a:spLocks noRot="1" noChangeAspect="1" noMove="1" noResize="1" noEditPoints="1" noAdjustHandles="1" noChangeArrowheads="1" noChangeShapeType="1" noTextEdit="1"/>
                  </p:cNvSpPr>
                  <p:nvPr/>
                </p:nvSpPr>
                <p:spPr>
                  <a:xfrm>
                    <a:off x="7503810" y="4969448"/>
                    <a:ext cx="355235" cy="276999"/>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5" name="文本框 134"/>
                  <p:cNvSpPr txBox="1"/>
                  <p:nvPr/>
                </p:nvSpPr>
                <p:spPr>
                  <a:xfrm>
                    <a:off x="6007724" y="4361585"/>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135" name="文本框 134"/>
                  <p:cNvSpPr txBox="1">
                    <a:spLocks noRot="1" noChangeAspect="1" noMove="1" noResize="1" noEditPoints="1" noAdjustHandles="1" noChangeArrowheads="1" noChangeShapeType="1" noTextEdit="1"/>
                  </p:cNvSpPr>
                  <p:nvPr/>
                </p:nvSpPr>
                <p:spPr>
                  <a:xfrm>
                    <a:off x="6007724" y="4361585"/>
                    <a:ext cx="355235" cy="276999"/>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7" name="文本框 136"/>
                  <p:cNvSpPr txBox="1"/>
                  <p:nvPr/>
                </p:nvSpPr>
                <p:spPr>
                  <a:xfrm>
                    <a:off x="6996176" y="4348754"/>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137" name="文本框 136"/>
                  <p:cNvSpPr txBox="1">
                    <a:spLocks noRot="1" noChangeAspect="1" noMove="1" noResize="1" noEditPoints="1" noAdjustHandles="1" noChangeArrowheads="1" noChangeShapeType="1" noTextEdit="1"/>
                  </p:cNvSpPr>
                  <p:nvPr/>
                </p:nvSpPr>
                <p:spPr>
                  <a:xfrm>
                    <a:off x="6996176" y="4348754"/>
                    <a:ext cx="355235" cy="276999"/>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8" name="文本框 137"/>
                  <p:cNvSpPr txBox="1"/>
                  <p:nvPr/>
                </p:nvSpPr>
                <p:spPr>
                  <a:xfrm>
                    <a:off x="4467394" y="5472044"/>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138" name="文本框 137"/>
                  <p:cNvSpPr txBox="1">
                    <a:spLocks noRot="1" noChangeAspect="1" noMove="1" noResize="1" noEditPoints="1" noAdjustHandles="1" noChangeArrowheads="1" noChangeShapeType="1" noTextEdit="1"/>
                  </p:cNvSpPr>
                  <p:nvPr/>
                </p:nvSpPr>
                <p:spPr>
                  <a:xfrm>
                    <a:off x="4467394" y="5472044"/>
                    <a:ext cx="355235" cy="276999"/>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9" name="文本框 138"/>
                  <p:cNvSpPr txBox="1"/>
                  <p:nvPr/>
                </p:nvSpPr>
                <p:spPr>
                  <a:xfrm>
                    <a:off x="5545422" y="5478559"/>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139" name="文本框 138"/>
                  <p:cNvSpPr txBox="1">
                    <a:spLocks noRot="1" noChangeAspect="1" noMove="1" noResize="1" noEditPoints="1" noAdjustHandles="1" noChangeArrowheads="1" noChangeShapeType="1" noTextEdit="1"/>
                  </p:cNvSpPr>
                  <p:nvPr/>
                </p:nvSpPr>
                <p:spPr>
                  <a:xfrm>
                    <a:off x="5545422" y="5478559"/>
                    <a:ext cx="355235" cy="276999"/>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0" name="文本框 139"/>
                  <p:cNvSpPr txBox="1"/>
                  <p:nvPr/>
                </p:nvSpPr>
                <p:spPr>
                  <a:xfrm>
                    <a:off x="3604972" y="5486409"/>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140" name="文本框 139"/>
                  <p:cNvSpPr txBox="1">
                    <a:spLocks noRot="1" noChangeAspect="1" noMove="1" noResize="1" noEditPoints="1" noAdjustHandles="1" noChangeArrowheads="1" noChangeShapeType="1" noTextEdit="1"/>
                  </p:cNvSpPr>
                  <p:nvPr/>
                </p:nvSpPr>
                <p:spPr>
                  <a:xfrm>
                    <a:off x="3604972" y="5486409"/>
                    <a:ext cx="355235" cy="276999"/>
                  </a:xfrm>
                  <a:prstGeom prst="rect">
                    <a:avLst/>
                  </a:prstGeom>
                  <a:blipFill rotWithShape="1">
                    <a:blip r:embed="rId2"/>
                  </a:blipFill>
                </p:spPr>
                <p:txBody>
                  <a:bodyPr/>
                  <a:lstStyle/>
                  <a:p>
                    <a:r>
                      <a:rPr lang="zh-CN" altLang="en-US">
                        <a:noFill/>
                      </a:rPr>
                      <a:t> </a:t>
                    </a:r>
                  </a:p>
                </p:txBody>
              </p:sp>
            </mc:Fallback>
          </mc:AlternateContent>
          <p:cxnSp>
            <p:nvCxnSpPr>
              <p:cNvPr id="142" name="直接箭头连接符 141"/>
              <p:cNvCxnSpPr>
                <a:stCxn id="140" idx="0"/>
              </p:cNvCxnSpPr>
              <p:nvPr/>
            </p:nvCxnSpPr>
            <p:spPr>
              <a:xfrm flipH="1" flipV="1">
                <a:off x="3061017" y="5289923"/>
                <a:ext cx="721573" cy="19648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接箭头连接符 143"/>
              <p:cNvCxnSpPr>
                <a:stCxn id="138" idx="3"/>
                <a:endCxn id="21" idx="2"/>
              </p:cNvCxnSpPr>
              <p:nvPr/>
            </p:nvCxnSpPr>
            <p:spPr>
              <a:xfrm flipV="1">
                <a:off x="4822629" y="5269902"/>
                <a:ext cx="1273371" cy="34064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45" name="文本框 144"/>
                  <p:cNvSpPr txBox="1"/>
                  <p:nvPr/>
                </p:nvSpPr>
                <p:spPr>
                  <a:xfrm>
                    <a:off x="9315814" y="5413120"/>
                    <a:ext cx="35523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145" name="文本框 144"/>
                  <p:cNvSpPr txBox="1">
                    <a:spLocks noRot="1" noChangeAspect="1" noMove="1" noResize="1" noEditPoints="1" noAdjustHandles="1" noChangeArrowheads="1" noChangeShapeType="1" noTextEdit="1"/>
                  </p:cNvSpPr>
                  <p:nvPr/>
                </p:nvSpPr>
                <p:spPr>
                  <a:xfrm>
                    <a:off x="9315814" y="5413120"/>
                    <a:ext cx="355235" cy="276999"/>
                  </a:xfrm>
                  <a:prstGeom prst="rect">
                    <a:avLst/>
                  </a:prstGeom>
                  <a:blipFill rotWithShape="1">
                    <a:blip r:embed="rId2"/>
                  </a:blipFill>
                </p:spPr>
                <p:txBody>
                  <a:bodyPr/>
                  <a:lstStyle/>
                  <a:p>
                    <a:r>
                      <a:rPr lang="zh-CN" altLang="en-US">
                        <a:noFill/>
                      </a:rPr>
                      <a:t> </a:t>
                    </a:r>
                  </a:p>
                </p:txBody>
              </p:sp>
            </mc:Fallback>
          </mc:AlternateContent>
          <p:cxnSp>
            <p:nvCxnSpPr>
              <p:cNvPr id="147" name="直接箭头连接符 146"/>
              <p:cNvCxnSpPr>
                <a:stCxn id="145" idx="0"/>
                <a:endCxn id="30" idx="2"/>
              </p:cNvCxnSpPr>
              <p:nvPr/>
            </p:nvCxnSpPr>
            <p:spPr>
              <a:xfrm flipV="1">
                <a:off x="9493432" y="5259813"/>
                <a:ext cx="815219" cy="15330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50" name="直接箭头连接符 149"/>
            <p:cNvCxnSpPr/>
            <p:nvPr/>
          </p:nvCxnSpPr>
          <p:spPr>
            <a:xfrm>
              <a:off x="10179885" y="3771662"/>
              <a:ext cx="7824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2" name="文本框 151"/>
            <p:cNvSpPr txBox="1"/>
            <p:nvPr/>
          </p:nvSpPr>
          <p:spPr>
            <a:xfrm>
              <a:off x="11065850" y="3623608"/>
              <a:ext cx="666900" cy="276999"/>
            </a:xfrm>
            <a:prstGeom prst="rect">
              <a:avLst/>
            </a:prstGeom>
            <a:noFill/>
          </p:spPr>
          <p:txBody>
            <a:bodyPr wrap="square" tIns="0" bIns="0" rtlCol="0">
              <a:spAutoFit/>
            </a:bodyPr>
            <a:lstStyle/>
            <a:p>
              <a:r>
                <a:rPr lang="zh-CN" altLang="en-US" b="1">
                  <a:solidFill>
                    <a:srgbClr val="002060"/>
                  </a:solidFill>
                </a:rPr>
                <a:t>分解</a:t>
              </a:r>
              <a:endParaRPr lang="zh-CN" altLang="en-US" b="1">
                <a:solidFill>
                  <a:srgbClr val="002060"/>
                </a:solidFill>
              </a:endParaRPr>
            </a:p>
          </p:txBody>
        </p:sp>
        <p:cxnSp>
          <p:nvCxnSpPr>
            <p:cNvPr id="154" name="直接箭头连接符 153"/>
            <p:cNvCxnSpPr/>
            <p:nvPr/>
          </p:nvCxnSpPr>
          <p:spPr>
            <a:xfrm>
              <a:off x="10179885" y="4054535"/>
              <a:ext cx="782436"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5" name="文本框 154"/>
            <p:cNvSpPr txBox="1"/>
            <p:nvPr/>
          </p:nvSpPr>
          <p:spPr>
            <a:xfrm>
              <a:off x="11067682" y="3919458"/>
              <a:ext cx="666900" cy="276999"/>
            </a:xfrm>
            <a:prstGeom prst="rect">
              <a:avLst/>
            </a:prstGeom>
            <a:noFill/>
          </p:spPr>
          <p:txBody>
            <a:bodyPr wrap="square" tIns="0" bIns="0" rtlCol="0">
              <a:spAutoFit/>
            </a:bodyPr>
            <a:lstStyle/>
            <a:p>
              <a:r>
                <a:rPr lang="zh-CN" altLang="en-US" b="1">
                  <a:solidFill>
                    <a:srgbClr val="C00000"/>
                  </a:solidFill>
                </a:rPr>
                <a:t>治理</a:t>
              </a:r>
              <a:endParaRPr lang="zh-CN" altLang="en-US" b="1">
                <a:solidFill>
                  <a:srgbClr val="C00000"/>
                </a:solidFill>
              </a:endParaRPr>
            </a:p>
          </p:txBody>
        </p:sp>
        <p:sp>
          <p:nvSpPr>
            <p:cNvPr id="156" name="箭头: 右 155"/>
            <p:cNvSpPr/>
            <p:nvPr/>
          </p:nvSpPr>
          <p:spPr>
            <a:xfrm>
              <a:off x="10179885" y="4313271"/>
              <a:ext cx="389800" cy="45719"/>
            </a:xfrm>
            <a:prstGeom prst="rightArrow">
              <a:avLst/>
            </a:prstGeom>
            <a:solidFill>
              <a:schemeClr val="accent2">
                <a:lumMod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文本框 156"/>
            <p:cNvSpPr txBox="1"/>
            <p:nvPr/>
          </p:nvSpPr>
          <p:spPr>
            <a:xfrm>
              <a:off x="10647259" y="4162817"/>
              <a:ext cx="1160999" cy="369332"/>
            </a:xfrm>
            <a:prstGeom prst="rect">
              <a:avLst/>
            </a:prstGeom>
            <a:noFill/>
          </p:spPr>
          <p:txBody>
            <a:bodyPr wrap="square" rtlCol="0">
              <a:spAutoFit/>
            </a:bodyPr>
            <a:lstStyle/>
            <a:p>
              <a:r>
                <a:rPr lang="zh-CN" altLang="en-US" b="1">
                  <a:solidFill>
                    <a:schemeClr val="accent2">
                      <a:lumMod val="50000"/>
                    </a:schemeClr>
                  </a:solidFill>
                </a:rPr>
                <a:t>直接求解</a:t>
              </a:r>
              <a:endParaRPr lang="zh-CN" altLang="en-US" b="1">
                <a:solidFill>
                  <a:schemeClr val="accent2">
                    <a:lumMod val="50000"/>
                  </a:schemeClr>
                </a:solidFill>
              </a:endParaRPr>
            </a:p>
          </p:txBody>
        </p:sp>
        <p:sp>
          <p:nvSpPr>
            <p:cNvPr id="158" name="文本框 157"/>
            <p:cNvSpPr txBox="1"/>
            <p:nvPr/>
          </p:nvSpPr>
          <p:spPr>
            <a:xfrm>
              <a:off x="792697" y="3676364"/>
              <a:ext cx="2862417"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分治算法求解过程示意图</a:t>
              </a:r>
              <a:endParaRPr lang="zh-CN" altLang="en-US" b="1">
                <a:solidFill>
                  <a:schemeClr val="accent2">
                    <a:lumMod val="50000"/>
                  </a:schemeClr>
                </a:solidFil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分治算法与递推关系式</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分治算法举例</a:t>
            </a:r>
            <a:endParaRPr lang="zh-CN" altLang="en-US"/>
          </a:p>
        </p:txBody>
      </p:sp>
      <mc:AlternateContent xmlns:mc="http://schemas.openxmlformats.org/markup-compatibility/2006">
        <mc:Choice xmlns:a14="http://schemas.microsoft.com/office/drawing/2010/main" Requires="a14">
          <p:sp>
            <p:nvSpPr>
              <p:cNvPr id="2" name="矩形 1"/>
              <p:cNvSpPr/>
              <p:nvPr/>
            </p:nvSpPr>
            <p:spPr>
              <a:xfrm>
                <a:off x="828879" y="1436206"/>
                <a:ext cx="10534240" cy="4157870"/>
              </a:xfrm>
              <a:prstGeom prst="rect">
                <a:avLst/>
              </a:prstGeom>
              <a:solidFill>
                <a:schemeClr val="accent5">
                  <a:lumMod val="20000"/>
                  <a:lumOff val="80000"/>
                  <a:alpha val="50000"/>
                </a:schemeClr>
              </a:solidFill>
            </p:spPr>
            <p:txBody>
              <a:bodyPr wrap="square">
                <a:spAutoFit/>
              </a:bodyPr>
              <a:lstStyle/>
              <a:p>
                <a:pPr algn="ctr">
                  <a:spcBef>
                    <a:spcPts val="600"/>
                  </a:spcBef>
                  <a:spcAft>
                    <a:spcPts val="1200"/>
                  </a:spcAft>
                </a:pPr>
                <a:r>
                  <a:rPr lang="zh-CN" altLang="en-US" sz="2800" b="1">
                    <a:solidFill>
                      <a:srgbClr val="C00000"/>
                    </a:solidFill>
                  </a:rPr>
                  <a:t>归并排序</a:t>
                </a:r>
                <a:r>
                  <a:rPr lang="en-US" altLang="zh-CN" sz="2800" b="1">
                    <a:solidFill>
                      <a:srgbClr val="C00000"/>
                    </a:solidFill>
                  </a:rPr>
                  <a:t>(merge sort)</a:t>
                </a:r>
                <a:endParaRPr lang="en-US" altLang="zh-CN" sz="2800" b="1">
                  <a:solidFill>
                    <a:srgbClr val="C00000"/>
                  </a:solidFill>
                </a:endParaRPr>
              </a:p>
              <a:p>
                <a:pPr marL="285750" indent="-285750">
                  <a:spcBef>
                    <a:spcPts val="600"/>
                  </a:spcBef>
                  <a:spcAft>
                    <a:spcPts val="12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输入是一组整数</a:t>
                </a:r>
                <a14:m>
                  <m:oMath xmlns:m="http://schemas.openxmlformats.org/officeDocument/2006/math">
                    <m:sSub>
                      <m:sSubPr>
                        <m:ctrlPr>
                          <a:rPr lang="en-US" altLang="zh-CN" sz="2400" b="1" i="1" smtClean="0">
                            <a:solidFill>
                              <a:srgbClr val="002060"/>
                            </a:solidFill>
                            <a:latin typeface="Cambria Math" panose="02040503050406030204" pitchFamily="18" charset="0"/>
                          </a:rPr>
                        </m:ctrlPr>
                      </m:sSubPr>
                      <m:e>
                        <m:r>
                          <a:rPr lang="en-US" altLang="zh-CN" sz="2400" b="1" i="1" smtClean="0">
                            <a:solidFill>
                              <a:srgbClr val="002060"/>
                            </a:solidFill>
                            <a:latin typeface="Cambria Math" panose="02040503050406030204" pitchFamily="18" charset="0"/>
                          </a:rPr>
                          <m:t>𝒂</m:t>
                        </m:r>
                      </m:e>
                      <m:sub>
                        <m:r>
                          <a:rPr lang="en-US" altLang="zh-CN" sz="2400" b="1" i="1" smtClean="0">
                            <a:solidFill>
                              <a:srgbClr val="002060"/>
                            </a:solidFill>
                            <a:latin typeface="Cambria Math" panose="02040503050406030204" pitchFamily="18" charset="0"/>
                          </a:rPr>
                          <m:t>𝟏</m:t>
                        </m:r>
                      </m:sub>
                    </m:sSub>
                    <m:r>
                      <a:rPr lang="en-US" altLang="zh-CN" sz="2400" b="1" i="1" smtClean="0">
                        <a:solidFill>
                          <a:srgbClr val="002060"/>
                        </a:solidFill>
                        <a:latin typeface="Cambria Math" panose="02040503050406030204" pitchFamily="18" charset="0"/>
                      </a:rPr>
                      <m:t>, </m:t>
                    </m:r>
                    <m:sSub>
                      <m:sSubPr>
                        <m:ctrlPr>
                          <a:rPr lang="en-US" altLang="zh-CN" sz="2400" b="1" i="1" smtClean="0">
                            <a:solidFill>
                              <a:srgbClr val="002060"/>
                            </a:solidFill>
                            <a:latin typeface="Cambria Math" panose="02040503050406030204" pitchFamily="18" charset="0"/>
                          </a:rPr>
                        </m:ctrlPr>
                      </m:sSubPr>
                      <m:e>
                        <m:r>
                          <a:rPr lang="en-US" altLang="zh-CN" sz="2400" b="1" i="1" smtClean="0">
                            <a:solidFill>
                              <a:srgbClr val="002060"/>
                            </a:solidFill>
                            <a:latin typeface="Cambria Math" panose="02040503050406030204" pitchFamily="18" charset="0"/>
                          </a:rPr>
                          <m:t>𝒂</m:t>
                        </m:r>
                      </m:e>
                      <m:sub>
                        <m:r>
                          <a:rPr lang="en-US" altLang="zh-CN" sz="2400" b="1" i="1" smtClean="0">
                            <a:solidFill>
                              <a:srgbClr val="002060"/>
                            </a:solidFill>
                            <a:latin typeface="Cambria Math" panose="02040503050406030204" pitchFamily="18" charset="0"/>
                          </a:rPr>
                          <m:t>𝟐</m:t>
                        </m:r>
                      </m:sub>
                    </m:sSub>
                    <m:r>
                      <a:rPr lang="en-US" altLang="zh-CN" sz="2400" b="1" i="1" smtClean="0">
                        <a:solidFill>
                          <a:srgbClr val="002060"/>
                        </a:solidFill>
                        <a:latin typeface="Cambria Math" panose="02040503050406030204" pitchFamily="18" charset="0"/>
                      </a:rPr>
                      <m:t>,⋯, </m:t>
                    </m:r>
                    <m:sSub>
                      <m:sSubPr>
                        <m:ctrlPr>
                          <a:rPr lang="en-US" altLang="zh-CN" sz="2400" b="1" i="1" smtClean="0">
                            <a:solidFill>
                              <a:srgbClr val="002060"/>
                            </a:solidFill>
                            <a:latin typeface="Cambria Math" panose="02040503050406030204" pitchFamily="18" charset="0"/>
                          </a:rPr>
                        </m:ctrlPr>
                      </m:sSubPr>
                      <m:e>
                        <m:r>
                          <a:rPr lang="en-US" altLang="zh-CN" sz="2400" b="1" i="1" smtClean="0">
                            <a:solidFill>
                              <a:srgbClr val="002060"/>
                            </a:solidFill>
                            <a:latin typeface="Cambria Math" panose="02040503050406030204" pitchFamily="18" charset="0"/>
                          </a:rPr>
                          <m:t>𝒂</m:t>
                        </m:r>
                      </m:e>
                      <m:sub>
                        <m:r>
                          <a:rPr lang="en-US" altLang="zh-CN" sz="2400" b="1" i="1" smtClean="0">
                            <a:solidFill>
                              <a:srgbClr val="002060"/>
                            </a:solidFill>
                            <a:latin typeface="Cambria Math" panose="02040503050406030204" pitchFamily="18" charset="0"/>
                          </a:rPr>
                          <m:t>𝒏</m:t>
                        </m:r>
                      </m:sub>
                    </m:sSub>
                  </m:oMath>
                </a14:m>
                <a:r>
                  <a:rPr lang="zh-CN" altLang="en-US" sz="2400" b="1">
                    <a:solidFill>
                      <a:srgbClr val="002060"/>
                    </a:solidFill>
                    <a:latin typeface="楷体" panose="02010609060101010101" pitchFamily="49" charset="-122"/>
                    <a:ea typeface="楷体" panose="02010609060101010101" pitchFamily="49" charset="-122"/>
                  </a:rPr>
                  <a:t>，输出是从小到大的排列</a:t>
                </a:r>
                <a14:m>
                  <m:oMath xmlns:m="http://schemas.openxmlformats.org/officeDocument/2006/math">
                    <m:sSub>
                      <m:sSubPr>
                        <m:ctrlPr>
                          <a:rPr lang="en-US" altLang="zh-CN" sz="2400" b="1" i="1" smtClean="0">
                            <a:solidFill>
                              <a:srgbClr val="002060"/>
                            </a:solidFill>
                            <a:latin typeface="Cambria Math" panose="02040503050406030204" pitchFamily="18" charset="0"/>
                          </a:rPr>
                        </m:ctrlPr>
                      </m:sSubPr>
                      <m:e>
                        <m:r>
                          <a:rPr lang="en-US" altLang="zh-CN" sz="2400" b="1" i="1" smtClean="0">
                            <a:solidFill>
                              <a:srgbClr val="002060"/>
                            </a:solidFill>
                            <a:latin typeface="Cambria Math" panose="02040503050406030204" pitchFamily="18" charset="0"/>
                          </a:rPr>
                          <m:t>𝒂</m:t>
                        </m:r>
                      </m:e>
                      <m:sub>
                        <m:sSub>
                          <m:sSubPr>
                            <m:ctrlPr>
                              <a:rPr lang="en-US" altLang="zh-CN" sz="2400" b="1" i="1" smtClean="0">
                                <a:solidFill>
                                  <a:srgbClr val="002060"/>
                                </a:solidFill>
                                <a:latin typeface="Cambria Math" panose="02040503050406030204" pitchFamily="18" charset="0"/>
                              </a:rPr>
                            </m:ctrlPr>
                          </m:sSubPr>
                          <m:e>
                            <m:r>
                              <a:rPr lang="en-US" altLang="zh-CN" sz="2400" b="1" i="1" smtClean="0">
                                <a:solidFill>
                                  <a:srgbClr val="002060"/>
                                </a:solidFill>
                                <a:latin typeface="Cambria Math" panose="02040503050406030204" pitchFamily="18" charset="0"/>
                              </a:rPr>
                              <m:t>𝒔</m:t>
                            </m:r>
                          </m:e>
                          <m:sub>
                            <m:r>
                              <a:rPr lang="en-US" altLang="zh-CN" sz="2400" b="1" i="1" smtClean="0">
                                <a:solidFill>
                                  <a:srgbClr val="002060"/>
                                </a:solidFill>
                                <a:latin typeface="Cambria Math" panose="02040503050406030204" pitchFamily="18" charset="0"/>
                              </a:rPr>
                              <m:t>𝟏</m:t>
                            </m:r>
                          </m:sub>
                        </m:sSub>
                      </m:sub>
                    </m:sSub>
                    <m:r>
                      <a:rPr lang="en-US" altLang="zh-CN" sz="2400" b="1" i="1" smtClean="0">
                        <a:solidFill>
                          <a:srgbClr val="002060"/>
                        </a:solidFill>
                        <a:latin typeface="Cambria Math" panose="02040503050406030204" pitchFamily="18" charset="0"/>
                      </a:rPr>
                      <m:t>≤</m:t>
                    </m:r>
                    <m:sSub>
                      <m:sSubPr>
                        <m:ctrlPr>
                          <a:rPr lang="en-US" altLang="zh-CN" sz="2400" b="1" i="1" smtClean="0">
                            <a:solidFill>
                              <a:srgbClr val="002060"/>
                            </a:solidFill>
                            <a:latin typeface="Cambria Math" panose="02040503050406030204" pitchFamily="18" charset="0"/>
                          </a:rPr>
                        </m:ctrlPr>
                      </m:sSubPr>
                      <m:e>
                        <m:r>
                          <a:rPr lang="en-US" altLang="zh-CN" sz="2400" b="1" i="1" smtClean="0">
                            <a:solidFill>
                              <a:srgbClr val="002060"/>
                            </a:solidFill>
                            <a:latin typeface="Cambria Math" panose="02040503050406030204" pitchFamily="18" charset="0"/>
                          </a:rPr>
                          <m:t>𝒂</m:t>
                        </m:r>
                      </m:e>
                      <m:sub>
                        <m:sSub>
                          <m:sSubPr>
                            <m:ctrlPr>
                              <a:rPr lang="en-US" altLang="zh-CN" sz="2400" b="1" i="1">
                                <a:solidFill>
                                  <a:srgbClr val="002060"/>
                                </a:solidFill>
                                <a:latin typeface="Cambria Math" panose="02040503050406030204" pitchFamily="18" charset="0"/>
                              </a:rPr>
                            </m:ctrlPr>
                          </m:sSubPr>
                          <m:e>
                            <m:r>
                              <a:rPr lang="en-US" altLang="zh-CN" sz="2400" b="1" i="1" smtClean="0">
                                <a:solidFill>
                                  <a:srgbClr val="002060"/>
                                </a:solidFill>
                                <a:latin typeface="Cambria Math" panose="02040503050406030204" pitchFamily="18" charset="0"/>
                              </a:rPr>
                              <m:t>𝒔</m:t>
                            </m:r>
                          </m:e>
                          <m:sub>
                            <m:r>
                              <a:rPr lang="en-US" altLang="zh-CN" sz="2400" b="1" i="1" smtClean="0">
                                <a:solidFill>
                                  <a:srgbClr val="002060"/>
                                </a:solidFill>
                                <a:latin typeface="Cambria Math" panose="02040503050406030204" pitchFamily="18" charset="0"/>
                              </a:rPr>
                              <m:t>𝟐</m:t>
                            </m:r>
                          </m:sub>
                        </m:sSub>
                      </m:sub>
                    </m:sSub>
                    <m:r>
                      <a:rPr lang="en-US" altLang="zh-CN" sz="2400" b="1" i="1" smtClean="0">
                        <a:solidFill>
                          <a:srgbClr val="002060"/>
                        </a:solidFill>
                        <a:latin typeface="Cambria Math" panose="02040503050406030204" pitchFamily="18" charset="0"/>
                      </a:rPr>
                      <m:t>≤⋯≤</m:t>
                    </m:r>
                    <m:sSub>
                      <m:sSubPr>
                        <m:ctrlPr>
                          <a:rPr lang="en-US" altLang="zh-CN" sz="2400" b="1" i="1">
                            <a:solidFill>
                              <a:srgbClr val="002060"/>
                            </a:solidFill>
                            <a:latin typeface="Cambria Math" panose="02040503050406030204" pitchFamily="18" charset="0"/>
                          </a:rPr>
                        </m:ctrlPr>
                      </m:sSubPr>
                      <m:e>
                        <m:r>
                          <a:rPr lang="en-US" altLang="zh-CN" sz="2400" b="1" i="1" smtClean="0">
                            <a:solidFill>
                              <a:srgbClr val="002060"/>
                            </a:solidFill>
                            <a:latin typeface="Cambria Math" panose="02040503050406030204" pitchFamily="18" charset="0"/>
                          </a:rPr>
                          <m:t>𝒂</m:t>
                        </m:r>
                      </m:e>
                      <m:sub>
                        <m:sSub>
                          <m:sSubPr>
                            <m:ctrlPr>
                              <a:rPr lang="en-US" altLang="zh-CN" sz="2400" b="1" i="1">
                                <a:solidFill>
                                  <a:srgbClr val="002060"/>
                                </a:solidFill>
                                <a:latin typeface="Cambria Math" panose="02040503050406030204" pitchFamily="18" charset="0"/>
                              </a:rPr>
                            </m:ctrlPr>
                          </m:sSubPr>
                          <m:e>
                            <m:r>
                              <a:rPr lang="en-US" altLang="zh-CN" sz="2400" b="1" i="1" smtClean="0">
                                <a:solidFill>
                                  <a:srgbClr val="002060"/>
                                </a:solidFill>
                                <a:latin typeface="Cambria Math" panose="02040503050406030204" pitchFamily="18" charset="0"/>
                              </a:rPr>
                              <m:t>𝒔</m:t>
                            </m:r>
                          </m:e>
                          <m:sub>
                            <m:r>
                              <a:rPr lang="en-US" altLang="zh-CN" sz="2400" b="1" i="1" smtClean="0">
                                <a:solidFill>
                                  <a:srgbClr val="002060"/>
                                </a:solidFill>
                                <a:latin typeface="Cambria Math" panose="02040503050406030204" pitchFamily="18" charset="0"/>
                              </a:rPr>
                              <m:t>𝒏</m:t>
                            </m:r>
                          </m:sub>
                        </m:sSub>
                      </m:sub>
                    </m:sSub>
                  </m:oMath>
                </a14:m>
                <a:endParaRPr lang="en-US" altLang="zh-CN" sz="2400" b="1">
                  <a:latin typeface="楷体" panose="02010609060101010101" pitchFamily="49" charset="-122"/>
                  <a:ea typeface="楷体" panose="02010609060101010101" pitchFamily="49" charset="-122"/>
                </a:endParaRPr>
              </a:p>
              <a:p>
                <a:pPr marL="285750" indent="-285750">
                  <a:spcBef>
                    <a:spcPts val="600"/>
                  </a:spcBef>
                  <a:spcAft>
                    <a:spcPts val="1200"/>
                  </a:spcAft>
                  <a:buFont typeface="Arial" panose="020B0604020202020204" pitchFamily="34" charset="0"/>
                  <a:buChar char="•"/>
                </a:pPr>
                <a:r>
                  <a:rPr lang="zh-CN" altLang="en-US" sz="2400" b="1">
                    <a:solidFill>
                      <a:srgbClr val="C00000"/>
                    </a:solidFill>
                  </a:rPr>
                  <a:t>分解</a:t>
                </a:r>
                <a:r>
                  <a:rPr lang="zh-CN" altLang="en-US" sz="2400" b="1">
                    <a:solidFill>
                      <a:schemeClr val="accent6">
                        <a:lumMod val="50000"/>
                      </a:schemeClr>
                    </a:solidFill>
                  </a:rPr>
                  <a:t>阶段：归并排序将这一组数据分成</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𝟐</m:t>
                    </m:r>
                  </m:oMath>
                </a14:m>
                <a:r>
                  <a:rPr lang="zh-CN" altLang="en-US" sz="2400" b="1">
                    <a:solidFill>
                      <a:schemeClr val="accent6">
                        <a:lumMod val="50000"/>
                      </a:schemeClr>
                    </a:solidFill>
                  </a:rPr>
                  <a:t>组数据，每组大致有</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𝒏</m:t>
                    </m:r>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𝟐</m:t>
                    </m:r>
                  </m:oMath>
                </a14:m>
                <a:r>
                  <a:rPr lang="zh-CN" altLang="en-US" sz="2400" b="1">
                    <a:solidFill>
                      <a:schemeClr val="accent6">
                        <a:lumMod val="50000"/>
                      </a:schemeClr>
                    </a:solidFill>
                  </a:rPr>
                  <a:t>个</a:t>
                </a:r>
                <a:endParaRPr lang="zh-CN" altLang="en-US" sz="2400" b="1">
                  <a:solidFill>
                    <a:schemeClr val="accent6">
                      <a:lumMod val="50000"/>
                    </a:schemeClr>
                  </a:solidFill>
                </a:endParaRPr>
              </a:p>
              <a:p>
                <a:pPr marL="742950" lvl="1" indent="-285750">
                  <a:spcBef>
                    <a:spcPts val="600"/>
                  </a:spcBef>
                  <a:spcAft>
                    <a:spcPts val="12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对这两组数据分别</a:t>
                </a:r>
                <a:r>
                  <a:rPr lang="zh-CN" altLang="en-US" sz="2400" b="1">
                    <a:solidFill>
                      <a:srgbClr val="C00000"/>
                    </a:solidFill>
                  </a:rPr>
                  <a:t>递归</a:t>
                </a:r>
                <a:r>
                  <a:rPr lang="zh-CN" altLang="en-US" sz="2400" b="1">
                    <a:solidFill>
                      <a:schemeClr val="accent2">
                        <a:lumMod val="50000"/>
                      </a:schemeClr>
                    </a:solidFill>
                    <a:latin typeface="楷体" panose="02010609060101010101" pitchFamily="49" charset="-122"/>
                    <a:ea typeface="楷体" panose="02010609060101010101" pitchFamily="49" charset="-122"/>
                  </a:rPr>
                  <a:t>地再使用归并排序算法</a:t>
                </a:r>
                <a:endParaRPr lang="zh-CN" altLang="en-US" sz="2400" b="1">
                  <a:solidFill>
                    <a:schemeClr val="accent2">
                      <a:lumMod val="50000"/>
                    </a:schemeClr>
                  </a:solidFill>
                  <a:latin typeface="楷体" panose="02010609060101010101" pitchFamily="49" charset="-122"/>
                  <a:ea typeface="楷体" panose="02010609060101010101" pitchFamily="49" charset="-122"/>
                </a:endParaRPr>
              </a:p>
              <a:p>
                <a:pPr marL="742950" lvl="1" indent="-285750">
                  <a:spcBef>
                    <a:spcPts val="600"/>
                  </a:spcBef>
                  <a:spcAft>
                    <a:spcPts val="12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直到每组数据只有两个，甚至一个，这时很容易直接将它们排序</a:t>
                </a:r>
                <a:endParaRPr lang="zh-CN" altLang="en-US" sz="2400" b="1">
                  <a:solidFill>
                    <a:schemeClr val="accent2">
                      <a:lumMod val="50000"/>
                    </a:schemeClr>
                  </a:solidFill>
                  <a:latin typeface="楷体" panose="02010609060101010101" pitchFamily="49" charset="-122"/>
                  <a:ea typeface="楷体" panose="02010609060101010101" pitchFamily="49" charset="-122"/>
                </a:endParaRPr>
              </a:p>
              <a:p>
                <a:pPr marL="285750" indent="-285750">
                  <a:spcBef>
                    <a:spcPts val="600"/>
                  </a:spcBef>
                  <a:spcAft>
                    <a:spcPts val="1200"/>
                  </a:spcAft>
                  <a:buFont typeface="Arial" panose="020B0604020202020204" pitchFamily="34" charset="0"/>
                  <a:buChar char="•"/>
                </a:pPr>
                <a:r>
                  <a:rPr lang="zh-CN" altLang="en-US" sz="2400" b="1">
                    <a:solidFill>
                      <a:srgbClr val="C00000"/>
                    </a:solidFill>
                  </a:rPr>
                  <a:t>治理</a:t>
                </a:r>
                <a:r>
                  <a:rPr lang="zh-CN" altLang="en-US" sz="2400" b="1">
                    <a:solidFill>
                      <a:schemeClr val="accent6">
                        <a:lumMod val="50000"/>
                      </a:schemeClr>
                    </a:solidFill>
                  </a:rPr>
                  <a:t>阶段：对分别大致有</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𝒏</m:t>
                    </m:r>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𝟐</m:t>
                    </m:r>
                  </m:oMath>
                </a14:m>
                <a:r>
                  <a:rPr lang="zh-CN" altLang="en-US" sz="2400" b="1">
                    <a:solidFill>
                      <a:schemeClr val="accent6">
                        <a:lumMod val="50000"/>
                      </a:schemeClr>
                    </a:solidFill>
                  </a:rPr>
                  <a:t>个的两组已经排序好数据进行</a:t>
                </a:r>
                <a:r>
                  <a:rPr lang="zh-CN" altLang="en-US" sz="2400" b="1">
                    <a:solidFill>
                      <a:srgbClr val="C00000"/>
                    </a:solidFill>
                  </a:rPr>
                  <a:t>归并</a:t>
                </a:r>
                <a:endParaRPr lang="zh-CN" altLang="en-US" sz="2400" b="1">
                  <a:solidFill>
                    <a:srgbClr val="C00000"/>
                  </a:solidFill>
                </a:endParaRPr>
              </a:p>
              <a:p>
                <a:pPr marL="742950" lvl="1" indent="-285750">
                  <a:spcBef>
                    <a:spcPts val="600"/>
                  </a:spcBef>
                  <a:spcAft>
                    <a:spcPts val="12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这时只需要进行</a:t>
                </a:r>
                <a14:m>
                  <m:oMath xmlns:m="http://schemas.openxmlformats.org/officeDocument/2006/math">
                    <m:r>
                      <a:rPr lang="en-US" altLang="zh-CN" sz="2400" b="1">
                        <a:solidFill>
                          <a:schemeClr val="accent2">
                            <a:lumMod val="50000"/>
                          </a:schemeClr>
                        </a:solidFill>
                        <a:latin typeface="Cambria Math" panose="02040503050406030204" pitchFamily="18" charset="0"/>
                        <a:ea typeface="楷体" panose="02010609060101010101" pitchFamily="49" charset="-122"/>
                      </a:rPr>
                      <m:t>𝑶</m:t>
                    </m:r>
                    <m:r>
                      <a:rPr lang="en-US" altLang="zh-CN" sz="2400" b="1">
                        <a:solidFill>
                          <a:schemeClr val="accent2">
                            <a:lumMod val="50000"/>
                          </a:schemeClr>
                        </a:solidFill>
                        <a:latin typeface="Cambria Math" panose="02040503050406030204" pitchFamily="18" charset="0"/>
                        <a:ea typeface="楷体" panose="02010609060101010101" pitchFamily="49" charset="-122"/>
                      </a:rPr>
                      <m:t>(</m:t>
                    </m:r>
                    <m:r>
                      <a:rPr lang="en-US" altLang="zh-CN" sz="2400" b="1">
                        <a:solidFill>
                          <a:schemeClr val="accent2">
                            <a:lumMod val="50000"/>
                          </a:schemeClr>
                        </a:solidFill>
                        <a:latin typeface="Cambria Math" panose="02040503050406030204" pitchFamily="18" charset="0"/>
                        <a:ea typeface="楷体" panose="02010609060101010101" pitchFamily="49" charset="-122"/>
                      </a:rPr>
                      <m:t>𝒏</m:t>
                    </m:r>
                    <m:r>
                      <a:rPr lang="en-US" altLang="zh-CN" sz="2400" b="1">
                        <a:solidFill>
                          <a:schemeClr val="accent2">
                            <a:lumMod val="50000"/>
                          </a:schemeClr>
                        </a:solidFill>
                        <a:latin typeface="Cambria Math" panose="02040503050406030204" pitchFamily="18" charset="0"/>
                        <a:ea typeface="楷体" panose="02010609060101010101" pitchFamily="49" charset="-122"/>
                      </a:rPr>
                      <m:t>)</m:t>
                    </m:r>
                  </m:oMath>
                </a14:m>
                <a:r>
                  <a:rPr lang="zh-CN" altLang="en-US" sz="2400" b="1">
                    <a:solidFill>
                      <a:schemeClr val="accent2">
                        <a:lumMod val="50000"/>
                      </a:schemeClr>
                    </a:solidFill>
                    <a:latin typeface="楷体" panose="02010609060101010101" pitchFamily="49" charset="-122"/>
                    <a:ea typeface="楷体" panose="02010609060101010101" pitchFamily="49" charset="-122"/>
                  </a:rPr>
                  <a:t>次比较，但通常需要</a:t>
                </a:r>
                <a14:m>
                  <m:oMath xmlns:m="http://schemas.openxmlformats.org/officeDocument/2006/math">
                    <m:r>
                      <a:rPr lang="en-US" altLang="zh-CN" sz="2400" b="1">
                        <a:solidFill>
                          <a:schemeClr val="accent2">
                            <a:lumMod val="50000"/>
                          </a:schemeClr>
                        </a:solidFill>
                        <a:latin typeface="Cambria Math" panose="02040503050406030204" pitchFamily="18" charset="0"/>
                        <a:ea typeface="楷体" panose="02010609060101010101" pitchFamily="49" charset="-122"/>
                      </a:rPr>
                      <m:t>𝑶</m:t>
                    </m:r>
                    <m:r>
                      <a:rPr lang="en-US" altLang="zh-CN" sz="2400" b="1">
                        <a:solidFill>
                          <a:schemeClr val="accent2">
                            <a:lumMod val="50000"/>
                          </a:schemeClr>
                        </a:solidFill>
                        <a:latin typeface="Cambria Math" panose="02040503050406030204" pitchFamily="18" charset="0"/>
                        <a:ea typeface="楷体" panose="02010609060101010101" pitchFamily="49" charset="-122"/>
                      </a:rPr>
                      <m:t>(</m:t>
                    </m:r>
                    <m:r>
                      <a:rPr lang="en-US" altLang="zh-CN" sz="2400" b="1">
                        <a:solidFill>
                          <a:schemeClr val="accent2">
                            <a:lumMod val="50000"/>
                          </a:schemeClr>
                        </a:solidFill>
                        <a:latin typeface="Cambria Math" panose="02040503050406030204" pitchFamily="18" charset="0"/>
                        <a:ea typeface="楷体" panose="02010609060101010101" pitchFamily="49" charset="-122"/>
                      </a:rPr>
                      <m:t>𝒏</m:t>
                    </m:r>
                    <m:r>
                      <a:rPr lang="en-US" altLang="zh-CN" sz="2400" b="1">
                        <a:solidFill>
                          <a:schemeClr val="accent2">
                            <a:lumMod val="50000"/>
                          </a:schemeClr>
                        </a:solidFill>
                        <a:latin typeface="Cambria Math" panose="02040503050406030204" pitchFamily="18" charset="0"/>
                        <a:ea typeface="楷体" panose="02010609060101010101" pitchFamily="49" charset="-122"/>
                      </a:rPr>
                      <m:t>)</m:t>
                    </m:r>
                  </m:oMath>
                </a14:m>
                <a:r>
                  <a:rPr lang="zh-CN" altLang="en-US" sz="2400" b="1">
                    <a:solidFill>
                      <a:schemeClr val="accent2">
                        <a:lumMod val="50000"/>
                      </a:schemeClr>
                    </a:solidFill>
                    <a:latin typeface="楷体" panose="02010609060101010101" pitchFamily="49" charset="-122"/>
                    <a:ea typeface="楷体" panose="02010609060101010101" pitchFamily="49" charset="-122"/>
                  </a:rPr>
                  <a:t>的额外存储空间</a:t>
                </a:r>
                <a:endParaRPr lang="zh-CN" altLang="en-US" sz="2400"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2" name="矩形 1"/>
              <p:cNvSpPr>
                <a:spLocks noRot="1" noChangeAspect="1" noMove="1" noResize="1" noEditPoints="1" noAdjustHandles="1" noChangeArrowheads="1" noChangeShapeType="1" noTextEdit="1"/>
              </p:cNvSpPr>
              <p:nvPr/>
            </p:nvSpPr>
            <p:spPr>
              <a:xfrm>
                <a:off x="828879" y="1436206"/>
                <a:ext cx="10534240" cy="4157870"/>
              </a:xfrm>
              <a:prstGeom prst="rect">
                <a:avLst/>
              </a:prstGeom>
              <a:blipFill rotWithShape="1">
                <a:blip r:embed="rId1"/>
                <a:stretch>
                  <a:fillRect l="-2" t="-11" r="4" b="9"/>
                </a:stretch>
              </a:blipFill>
            </p:spPr>
            <p:txBody>
              <a:bodyPr/>
              <a:lstStyle/>
              <a:p>
                <a:r>
                  <a:rPr lang="zh-CN"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281047" y="1205708"/>
            <a:ext cx="9629904" cy="5023820"/>
          </a:xfrm>
          <a:prstGeom prst="rect">
            <a:avLst/>
          </a:prstGeom>
        </p:spPr>
      </p:pic>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分治算法与递推关系式</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分治算法举例</a:t>
            </a:r>
            <a:r>
              <a:rPr lang="en-US" altLang="zh-CN"/>
              <a:t>-</a:t>
            </a:r>
            <a:r>
              <a:rPr lang="zh-CN" altLang="en-US"/>
              <a:t>归并排序</a:t>
            </a:r>
            <a:endParaRPr lang="zh-CN" altLang="en-US"/>
          </a:p>
        </p:txBody>
      </p:sp>
      <p:sp>
        <p:nvSpPr>
          <p:cNvPr id="23" name="左大括号 22"/>
          <p:cNvSpPr/>
          <p:nvPr/>
        </p:nvSpPr>
        <p:spPr>
          <a:xfrm>
            <a:off x="1331931" y="2657993"/>
            <a:ext cx="122798" cy="717019"/>
          </a:xfrm>
          <a:prstGeom prst="leftBrace">
            <a:avLst>
              <a:gd name="adj1" fmla="val 41499"/>
              <a:gd name="adj2" fmla="val 50000"/>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左大括号 23"/>
          <p:cNvSpPr/>
          <p:nvPr/>
        </p:nvSpPr>
        <p:spPr>
          <a:xfrm>
            <a:off x="1275789" y="3587055"/>
            <a:ext cx="178940" cy="2399299"/>
          </a:xfrm>
          <a:prstGeom prst="leftBrace">
            <a:avLst>
              <a:gd name="adj1" fmla="val 41499"/>
              <a:gd name="adj2" fmla="val 50000"/>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文本框 11"/>
          <p:cNvSpPr txBox="1"/>
          <p:nvPr/>
        </p:nvSpPr>
        <p:spPr>
          <a:xfrm>
            <a:off x="195635" y="2653294"/>
            <a:ext cx="1141553" cy="64633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分解：递归调用</a:t>
            </a:r>
            <a:endParaRPr lang="zh-CN" altLang="en-US" b="1">
              <a:solidFill>
                <a:schemeClr val="accent2">
                  <a:lumMod val="50000"/>
                </a:schemeClr>
              </a:solidFill>
            </a:endParaRPr>
          </a:p>
        </p:txBody>
      </p:sp>
      <p:cxnSp>
        <p:nvCxnSpPr>
          <p:cNvPr id="4" name="直接连接符 3"/>
          <p:cNvCxnSpPr/>
          <p:nvPr/>
        </p:nvCxnSpPr>
        <p:spPr>
          <a:xfrm>
            <a:off x="3243160" y="3085277"/>
            <a:ext cx="81572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3487658" y="3388980"/>
            <a:ext cx="81572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244177" y="4315441"/>
            <a:ext cx="749939" cy="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146354" y="4331617"/>
            <a:ext cx="749939" cy="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572793" y="5546702"/>
            <a:ext cx="749939" cy="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000390" y="5842731"/>
            <a:ext cx="749939" cy="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162558" y="4325039"/>
            <a:ext cx="1141553" cy="923330"/>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治理：归并已排序数据</a:t>
            </a:r>
            <a:endParaRPr lang="zh-CN" altLang="en-US" b="1">
              <a:solidFill>
                <a:schemeClr val="accent2">
                  <a:lumMod val="50000"/>
                </a:schemeClr>
              </a:solidFill>
            </a:endParaRPr>
          </a:p>
        </p:txBody>
      </p:sp>
      <mc:AlternateContent xmlns:mc="http://schemas.openxmlformats.org/markup-compatibility/2006">
        <mc:Choice xmlns:a14="http://schemas.microsoft.com/office/drawing/2010/main" Requires="a14">
          <p:sp>
            <p:nvSpPr>
              <p:cNvPr id="25" name="文本框 24"/>
              <p:cNvSpPr txBox="1"/>
              <p:nvPr/>
            </p:nvSpPr>
            <p:spPr>
              <a:xfrm>
                <a:off x="7718075" y="4363896"/>
                <a:ext cx="4135141" cy="1768946"/>
              </a:xfrm>
              <a:prstGeom prst="rect">
                <a:avLst/>
              </a:prstGeom>
              <a:solidFill>
                <a:schemeClr val="accent4">
                  <a:lumMod val="20000"/>
                  <a:lumOff val="80000"/>
                </a:schemeClr>
              </a:solidFill>
            </p:spPr>
            <p:txBody>
              <a:bodyPr wrap="square" rtlCol="0">
                <a:spAutoFit/>
              </a:bodyPr>
              <a:lstStyle/>
              <a:p>
                <a:pPr>
                  <a:lnSpc>
                    <a:spcPts val="2400"/>
                  </a:lnSpc>
                  <a:spcBef>
                    <a:spcPts val="600"/>
                  </a:spcBef>
                </a:pPr>
                <a:r>
                  <a:rPr lang="zh-CN" altLang="en-US" b="1">
                    <a:solidFill>
                      <a:srgbClr val="002060"/>
                    </a:solidFill>
                    <a:latin typeface="楷体" panose="02010609060101010101" pitchFamily="49" charset="-122"/>
                    <a:ea typeface="楷体" panose="02010609060101010101" pitchFamily="49" charset="-122"/>
                  </a:rPr>
                  <a:t>设整个算法该赋值的执行次数是</a:t>
                </a:r>
                <a14:m>
                  <m:oMath xmlns:m="http://schemas.openxmlformats.org/officeDocument/2006/math">
                    <m:r>
                      <a:rPr lang="en-US" altLang="zh-CN" b="1" i="1" smtClean="0">
                        <a:solidFill>
                          <a:srgbClr val="002060"/>
                        </a:solidFill>
                        <a:latin typeface="Cambria Math" panose="02040503050406030204" pitchFamily="18" charset="0"/>
                      </a:rPr>
                      <m:t>𝒇</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𝒏</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，则有递推关系式：</a:t>
                </a:r>
                <a14:m>
                  <m:oMath xmlns:m="http://schemas.openxmlformats.org/officeDocument/2006/math">
                    <m:r>
                      <a:rPr lang="en-US" altLang="zh-CN" b="1" i="1" smtClean="0">
                        <a:solidFill>
                          <a:srgbClr val="C00000"/>
                        </a:solidFill>
                        <a:latin typeface="Cambria Math" panose="02040503050406030204" pitchFamily="18" charset="0"/>
                      </a:rPr>
                      <m:t>𝒇</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𝒏</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𝟐</m:t>
                    </m:r>
                    <m:r>
                      <a:rPr lang="en-US" altLang="zh-CN" b="1" i="1" smtClean="0">
                        <a:solidFill>
                          <a:srgbClr val="C00000"/>
                        </a:solidFill>
                        <a:latin typeface="Cambria Math" panose="02040503050406030204" pitchFamily="18" charset="0"/>
                      </a:rPr>
                      <m:t>𝒇</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𝟐</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𝒏</m:t>
                    </m:r>
                  </m:oMath>
                </a14:m>
                <a:endParaRPr lang="en-US" altLang="zh-CN" b="1">
                  <a:solidFill>
                    <a:srgbClr val="002060"/>
                  </a:solidFill>
                  <a:latin typeface="楷体" panose="02010609060101010101" pitchFamily="49" charset="-122"/>
                  <a:ea typeface="楷体" panose="02010609060101010101" pitchFamily="49" charset="-122"/>
                </a:endParaRPr>
              </a:p>
              <a:p>
                <a:pPr marL="285750" indent="-285750">
                  <a:lnSpc>
                    <a:spcPts val="2400"/>
                  </a:lnSpc>
                  <a:spcBef>
                    <a:spcPts val="600"/>
                  </a:spcBef>
                  <a:buFont typeface="Arial" panose="020B0604020202020204" pitchFamily="34" charset="0"/>
                  <a:buChar char="•"/>
                </a:pPr>
                <a:r>
                  <a:rPr lang="zh-CN" altLang="en-US" b="1">
                    <a:solidFill>
                      <a:schemeClr val="accent2">
                        <a:lumMod val="50000"/>
                      </a:schemeClr>
                    </a:solidFill>
                  </a:rPr>
                  <a:t>这里</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𝟐</m:t>
                    </m:r>
                    <m:r>
                      <a:rPr lang="en-US" altLang="zh-CN" b="1" i="1" smtClean="0">
                        <a:solidFill>
                          <a:schemeClr val="accent2">
                            <a:lumMod val="50000"/>
                          </a:schemeClr>
                        </a:solidFill>
                        <a:latin typeface="Cambria Math" panose="02040503050406030204" pitchFamily="18" charset="0"/>
                      </a:rPr>
                      <m:t>𝒇</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𝟐</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是两次大致以</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𝟐</m:t>
                    </m:r>
                  </m:oMath>
                </a14:m>
                <a:r>
                  <a:rPr lang="zh-CN" altLang="en-US" b="1">
                    <a:solidFill>
                      <a:schemeClr val="accent2">
                        <a:lumMod val="50000"/>
                      </a:schemeClr>
                    </a:solidFill>
                  </a:rPr>
                  <a:t>个数据递归调用的算法中执行的次数</a:t>
                </a:r>
                <a:endParaRPr lang="zh-CN" altLang="en-US" b="1">
                  <a:solidFill>
                    <a:schemeClr val="accent2">
                      <a:lumMod val="50000"/>
                    </a:schemeClr>
                  </a:solidFill>
                </a:endParaRPr>
              </a:p>
              <a:p>
                <a:pPr marL="285750" indent="-285750">
                  <a:lnSpc>
                    <a:spcPts val="2400"/>
                  </a:lnSpc>
                  <a:spcBef>
                    <a:spcPts val="600"/>
                  </a:spcBef>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𝒏</m:t>
                    </m:r>
                  </m:oMath>
                </a14:m>
                <a:r>
                  <a:rPr lang="zh-CN" altLang="en-US" b="1">
                    <a:solidFill>
                      <a:schemeClr val="accent2">
                        <a:lumMod val="50000"/>
                      </a:schemeClr>
                    </a:solidFill>
                  </a:rPr>
                  <a:t>是归并阶段执行的次数</a:t>
                </a:r>
                <a:endParaRPr lang="zh-CN" altLang="en-US" b="1">
                  <a:solidFill>
                    <a:schemeClr val="accent2">
                      <a:lumMod val="50000"/>
                    </a:schemeClr>
                  </a:solidFill>
                </a:endParaRPr>
              </a:p>
            </p:txBody>
          </p:sp>
        </mc:Choice>
        <mc:Fallback>
          <p:sp>
            <p:nvSpPr>
              <p:cNvPr id="25" name="文本框 24"/>
              <p:cNvSpPr txBox="1">
                <a:spLocks noRot="1" noChangeAspect="1" noMove="1" noResize="1" noEditPoints="1" noAdjustHandles="1" noChangeArrowheads="1" noChangeShapeType="1" noTextEdit="1"/>
              </p:cNvSpPr>
              <p:nvPr/>
            </p:nvSpPr>
            <p:spPr>
              <a:xfrm>
                <a:off x="7718075" y="4363896"/>
                <a:ext cx="4135141" cy="1768946"/>
              </a:xfrm>
              <a:prstGeom prst="rect">
                <a:avLst/>
              </a:prstGeom>
              <a:blipFill rotWithShape="1">
                <a:blip r:embed="rId2"/>
                <a:stretch>
                  <a:fillRect l="-7" t="-10" r="7" b="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文本框 25"/>
              <p:cNvSpPr txBox="1"/>
              <p:nvPr/>
            </p:nvSpPr>
            <p:spPr>
              <a:xfrm>
                <a:off x="8026168" y="1904365"/>
                <a:ext cx="3518956" cy="707886"/>
              </a:xfrm>
              <a:prstGeom prst="rect">
                <a:avLst/>
              </a:prstGeom>
              <a:solidFill>
                <a:schemeClr val="accent4">
                  <a:lumMod val="20000"/>
                  <a:lumOff val="80000"/>
                </a:schemeClr>
              </a:solidFill>
            </p:spPr>
            <p:txBody>
              <a:bodyPr wrap="square" rtlCol="0">
                <a:spAutoFit/>
              </a:bodyPr>
              <a:lstStyle/>
              <a:p>
                <a:pPr>
                  <a:lnSpc>
                    <a:spcPts val="2400"/>
                  </a:lnSpc>
                </a:pPr>
                <a:r>
                  <a:rPr lang="zh-CN" altLang="en-US" b="1">
                    <a:solidFill>
                      <a:schemeClr val="accent2">
                        <a:lumMod val="50000"/>
                      </a:schemeClr>
                    </a:solidFill>
                  </a:rPr>
                  <a:t>数据归并阶段，执行次数最多的基本操作是对</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𝒔</m:t>
                            </m:r>
                          </m:e>
                          <m:sub>
                            <m:r>
                              <a:rPr lang="en-US" altLang="zh-CN" b="1" i="1" smtClean="0">
                                <a:solidFill>
                                  <a:schemeClr val="accent2">
                                    <a:lumMod val="50000"/>
                                  </a:schemeClr>
                                </a:solidFill>
                                <a:latin typeface="Cambria Math" panose="02040503050406030204" pitchFamily="18" charset="0"/>
                              </a:rPr>
                              <m:t>𝒌</m:t>
                            </m:r>
                          </m:sub>
                        </m:sSub>
                      </m:sub>
                    </m:sSub>
                  </m:oMath>
                </a14:m>
                <a:r>
                  <a:rPr lang="zh-CN" altLang="en-US" b="1">
                    <a:solidFill>
                      <a:schemeClr val="accent2">
                        <a:lumMod val="50000"/>
                      </a:schemeClr>
                    </a:solidFill>
                  </a:rPr>
                  <a:t>赋值，</a:t>
                </a:r>
                <a:r>
                  <a:rPr lang="zh-CN" altLang="en-US" b="1">
                    <a:solidFill>
                      <a:srgbClr val="C00000"/>
                    </a:solidFill>
                  </a:rPr>
                  <a:t>总共</a:t>
                </a:r>
                <a14:m>
                  <m:oMath xmlns:m="http://schemas.openxmlformats.org/officeDocument/2006/math">
                    <m:r>
                      <a:rPr lang="en-US" altLang="zh-CN" b="1" i="1" smtClean="0">
                        <a:solidFill>
                          <a:srgbClr val="C00000"/>
                        </a:solidFill>
                        <a:latin typeface="Cambria Math" panose="02040503050406030204" pitchFamily="18" charset="0"/>
                      </a:rPr>
                      <m:t>𝒏</m:t>
                    </m:r>
                  </m:oMath>
                </a14:m>
                <a:r>
                  <a:rPr lang="zh-CN" altLang="en-US" b="1">
                    <a:solidFill>
                      <a:srgbClr val="C00000"/>
                    </a:solidFill>
                  </a:rPr>
                  <a:t>次</a:t>
                </a:r>
                <a:endParaRPr lang="zh-CN" altLang="en-US" b="1">
                  <a:solidFill>
                    <a:schemeClr val="accent2">
                      <a:lumMod val="50000"/>
                    </a:schemeClr>
                  </a:solidFill>
                </a:endParaRPr>
              </a:p>
            </p:txBody>
          </p:sp>
        </mc:Choice>
        <mc:Fallback>
          <p:sp>
            <p:nvSpPr>
              <p:cNvPr id="26" name="文本框 25"/>
              <p:cNvSpPr txBox="1">
                <a:spLocks noRot="1" noChangeAspect="1" noMove="1" noResize="1" noEditPoints="1" noAdjustHandles="1" noChangeArrowheads="1" noChangeShapeType="1" noTextEdit="1"/>
              </p:cNvSpPr>
              <p:nvPr/>
            </p:nvSpPr>
            <p:spPr>
              <a:xfrm>
                <a:off x="8026168" y="1904365"/>
                <a:ext cx="3518956" cy="707886"/>
              </a:xfrm>
              <a:prstGeom prst="rect">
                <a:avLst/>
              </a:prstGeom>
              <a:blipFill rotWithShape="1">
                <a:blip r:embed="rId3"/>
                <a:stretch>
                  <a:fillRect l="-11" r="5" b="70"/>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12" grpId="0" animBg="1"/>
      <p:bldP spid="15" grpId="0" animBg="1"/>
      <p:bldP spid="25" grpId="0" animBg="1"/>
      <p:bldP spid="2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分治算法与递推关系式</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分治算法效率分析的递推关系式</a:t>
            </a:r>
            <a:endParaRPr lang="zh-CN" altLang="en-US"/>
          </a:p>
        </p:txBody>
      </p:sp>
      <mc:AlternateContent xmlns:mc="http://schemas.openxmlformats.org/markup-compatibility/2006">
        <mc:Choice xmlns:a14="http://schemas.microsoft.com/office/drawing/2010/main" Requires="a14">
          <p:sp>
            <p:nvSpPr>
              <p:cNvPr id="2" name="矩形 1"/>
              <p:cNvSpPr/>
              <p:nvPr/>
            </p:nvSpPr>
            <p:spPr>
              <a:xfrm>
                <a:off x="1348299" y="1274886"/>
                <a:ext cx="9495399" cy="2846933"/>
              </a:xfrm>
              <a:prstGeom prst="rect">
                <a:avLst/>
              </a:prstGeom>
              <a:solidFill>
                <a:schemeClr val="accent5">
                  <a:lumMod val="20000"/>
                  <a:lumOff val="80000"/>
                  <a:alpha val="50000"/>
                </a:schemeClr>
              </a:solidFill>
            </p:spPr>
            <p:txBody>
              <a:bodyPr wrap="square">
                <a:spAutoFit/>
              </a:bodyPr>
              <a:lstStyle/>
              <a:p>
                <a:pPr algn="ctr">
                  <a:spcBef>
                    <a:spcPts val="600"/>
                  </a:spcBef>
                  <a:spcAft>
                    <a:spcPts val="1200"/>
                  </a:spcAft>
                </a:pPr>
                <a:r>
                  <a:rPr lang="zh-CN" altLang="en-US" sz="2400" b="1">
                    <a:solidFill>
                      <a:schemeClr val="accent2">
                        <a:lumMod val="50000"/>
                      </a:schemeClr>
                    </a:solidFill>
                  </a:rPr>
                  <a:t>分治算法效率分析的递推关系式</a:t>
                </a:r>
                <a:endParaRPr lang="en-US" altLang="zh-CN" sz="2400" b="1">
                  <a:solidFill>
                    <a:schemeClr val="accent2">
                      <a:lumMod val="50000"/>
                    </a:schemeClr>
                  </a:solidFill>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若分治算法将规模为</a:t>
                </a:r>
                <a14:m>
                  <m:oMath xmlns:m="http://schemas.openxmlformats.org/officeDocument/2006/math">
                    <m:r>
                      <a:rPr lang="en-US" altLang="zh-CN" sz="2000" b="1" i="1" smtClean="0">
                        <a:solidFill>
                          <a:srgbClr val="002060"/>
                        </a:solidFill>
                        <a:latin typeface="Cambria Math" panose="02040503050406030204" pitchFamily="18" charset="0"/>
                      </a:rPr>
                      <m:t>𝒏</m:t>
                    </m:r>
                  </m:oMath>
                </a14:m>
                <a:r>
                  <a:rPr lang="zh-CN" altLang="en-US" sz="2000" b="1">
                    <a:solidFill>
                      <a:srgbClr val="002060"/>
                    </a:solidFill>
                    <a:latin typeface="楷体" panose="02010609060101010101" pitchFamily="49" charset="-122"/>
                    <a:ea typeface="楷体" panose="02010609060101010101" pitchFamily="49" charset="-122"/>
                  </a:rPr>
                  <a:t>的问题分解为</a:t>
                </a:r>
                <a14:m>
                  <m:oMath xmlns:m="http://schemas.openxmlformats.org/officeDocument/2006/math">
                    <m:r>
                      <a:rPr lang="en-US" altLang="zh-CN" sz="2000" b="1" i="1" smtClean="0">
                        <a:solidFill>
                          <a:srgbClr val="002060"/>
                        </a:solidFill>
                        <a:latin typeface="Cambria Math" panose="02040503050406030204" pitchFamily="18" charset="0"/>
                      </a:rPr>
                      <m:t>𝒂</m:t>
                    </m:r>
                  </m:oMath>
                </a14:m>
                <a:r>
                  <a:rPr lang="zh-CN" altLang="en-US" sz="2000" b="1">
                    <a:solidFill>
                      <a:srgbClr val="002060"/>
                    </a:solidFill>
                    <a:latin typeface="楷体" panose="02010609060101010101" pitchFamily="49" charset="-122"/>
                    <a:ea typeface="楷体" panose="02010609060101010101" pitchFamily="49" charset="-122"/>
                  </a:rPr>
                  <a:t>个与原问题相同但规模大致为</a:t>
                </a:r>
                <a14:m>
                  <m:oMath xmlns:m="http://schemas.openxmlformats.org/officeDocument/2006/math">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𝒃</m:t>
                    </m:r>
                  </m:oMath>
                </a14:m>
                <a:r>
                  <a:rPr lang="zh-CN" altLang="en-US" sz="2000" b="1">
                    <a:solidFill>
                      <a:srgbClr val="002060"/>
                    </a:solidFill>
                    <a:latin typeface="楷体" panose="02010609060101010101" pitchFamily="49" charset="-122"/>
                    <a:ea typeface="楷体" panose="02010609060101010101" pitchFamily="49" charset="-122"/>
                  </a:rPr>
                  <a:t>的小问题</a:t>
                </a:r>
                <a:endParaRPr lang="zh-CN" altLang="en-US" sz="2000" b="1">
                  <a:solidFill>
                    <a:srgbClr val="002060"/>
                  </a:solidFill>
                  <a:latin typeface="楷体" panose="02010609060101010101" pitchFamily="49" charset="-122"/>
                  <a:ea typeface="楷体" panose="02010609060101010101" pitchFamily="49" charset="-122"/>
                </a:endParaRP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并在治理阶段花费</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𝒈</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m:t>
                    </m:r>
                  </m:oMath>
                </a14:m>
                <a:r>
                  <a:rPr lang="zh-CN" altLang="en-US" sz="2000" b="1">
                    <a:solidFill>
                      <a:schemeClr val="accent6">
                        <a:lumMod val="50000"/>
                      </a:schemeClr>
                    </a:solidFill>
                  </a:rPr>
                  <a:t>的时间从小问题的解得到原来规模为</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oMath>
                </a14:m>
                <a:r>
                  <a:rPr lang="zh-CN" altLang="en-US" sz="2000" b="1">
                    <a:solidFill>
                      <a:schemeClr val="accent6">
                        <a:lumMod val="50000"/>
                      </a:schemeClr>
                    </a:solidFill>
                  </a:rPr>
                  <a:t>的问题的解</a:t>
                </a:r>
                <a:endParaRPr lang="zh-CN" altLang="en-US" sz="2000" b="1">
                  <a:solidFill>
                    <a:schemeClr val="accent6">
                      <a:lumMod val="50000"/>
                    </a:schemeClr>
                  </a:solidFill>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则分析整个算法的时间效率可用递推关系式</a:t>
                </a:r>
                <a14:m>
                  <m:oMath xmlns:m="http://schemas.openxmlformats.org/officeDocument/2006/math">
                    <m:r>
                      <a:rPr lang="en-US" altLang="zh-CN" sz="2000" b="1" smtClean="0">
                        <a:solidFill>
                          <a:srgbClr val="C00000"/>
                        </a:solidFill>
                        <a:latin typeface="Cambria Math" panose="02040503050406030204" pitchFamily="18" charset="0"/>
                        <a:ea typeface="楷体" panose="02010609060101010101" pitchFamily="49" charset="-122"/>
                      </a:rPr>
                      <m:t>𝒇</m:t>
                    </m:r>
                    <m:r>
                      <a:rPr lang="en-US" altLang="zh-CN" sz="2000" b="1" smtClean="0">
                        <a:solidFill>
                          <a:srgbClr val="C00000"/>
                        </a:solidFill>
                        <a:latin typeface="Cambria Math" panose="02040503050406030204" pitchFamily="18" charset="0"/>
                        <a:ea typeface="楷体" panose="02010609060101010101" pitchFamily="49" charset="-122"/>
                      </a:rPr>
                      <m:t>(</m:t>
                    </m:r>
                    <m:r>
                      <a:rPr lang="en-US" altLang="zh-CN" sz="2000" b="1" smtClean="0">
                        <a:solidFill>
                          <a:srgbClr val="C00000"/>
                        </a:solidFill>
                        <a:latin typeface="Cambria Math" panose="02040503050406030204" pitchFamily="18" charset="0"/>
                        <a:ea typeface="楷体" panose="02010609060101010101" pitchFamily="49" charset="-122"/>
                      </a:rPr>
                      <m:t>𝒏</m:t>
                    </m:r>
                    <m:r>
                      <a:rPr lang="en-US" altLang="zh-CN" sz="2000" b="1" smtClean="0">
                        <a:solidFill>
                          <a:srgbClr val="C00000"/>
                        </a:solidFill>
                        <a:latin typeface="Cambria Math" panose="02040503050406030204" pitchFamily="18" charset="0"/>
                        <a:ea typeface="楷体" panose="02010609060101010101" pitchFamily="49" charset="-122"/>
                      </a:rPr>
                      <m:t>) = </m:t>
                    </m:r>
                    <m:r>
                      <a:rPr lang="en-US" altLang="zh-CN" sz="2000" b="1" smtClean="0">
                        <a:solidFill>
                          <a:srgbClr val="C00000"/>
                        </a:solidFill>
                        <a:latin typeface="Cambria Math" panose="02040503050406030204" pitchFamily="18" charset="0"/>
                        <a:ea typeface="楷体" panose="02010609060101010101" pitchFamily="49" charset="-122"/>
                      </a:rPr>
                      <m:t>𝒂𝒇</m:t>
                    </m:r>
                    <m:r>
                      <a:rPr lang="en-US" altLang="zh-CN" sz="2000" b="1" smtClean="0">
                        <a:solidFill>
                          <a:srgbClr val="C00000"/>
                        </a:solidFill>
                        <a:latin typeface="Cambria Math" panose="02040503050406030204" pitchFamily="18" charset="0"/>
                        <a:ea typeface="楷体" panose="02010609060101010101" pitchFamily="49" charset="-122"/>
                      </a:rPr>
                      <m:t>(</m:t>
                    </m:r>
                    <m:r>
                      <a:rPr lang="en-US" altLang="zh-CN" sz="2000" b="1" smtClean="0">
                        <a:solidFill>
                          <a:srgbClr val="C00000"/>
                        </a:solidFill>
                        <a:latin typeface="Cambria Math" panose="02040503050406030204" pitchFamily="18" charset="0"/>
                        <a:ea typeface="楷体" panose="02010609060101010101" pitchFamily="49" charset="-122"/>
                      </a:rPr>
                      <m:t>𝒏</m:t>
                    </m:r>
                    <m:r>
                      <a:rPr lang="en-US" altLang="zh-CN" sz="2000" b="1" smtClean="0">
                        <a:solidFill>
                          <a:srgbClr val="C00000"/>
                        </a:solidFill>
                        <a:latin typeface="Cambria Math" panose="02040503050406030204" pitchFamily="18" charset="0"/>
                        <a:ea typeface="楷体" panose="02010609060101010101" pitchFamily="49" charset="-122"/>
                      </a:rPr>
                      <m:t>/</m:t>
                    </m:r>
                    <m:r>
                      <a:rPr lang="en-US" altLang="zh-CN" sz="2000" b="1" smtClean="0">
                        <a:solidFill>
                          <a:srgbClr val="C00000"/>
                        </a:solidFill>
                        <a:latin typeface="Cambria Math" panose="02040503050406030204" pitchFamily="18" charset="0"/>
                        <a:ea typeface="楷体" panose="02010609060101010101" pitchFamily="49" charset="-122"/>
                      </a:rPr>
                      <m:t>𝒃</m:t>
                    </m:r>
                    <m:r>
                      <a:rPr lang="en-US" altLang="zh-CN" sz="2000" b="1" smtClean="0">
                        <a:solidFill>
                          <a:srgbClr val="C00000"/>
                        </a:solidFill>
                        <a:latin typeface="Cambria Math" panose="02040503050406030204" pitchFamily="18" charset="0"/>
                        <a:ea typeface="楷体" panose="02010609060101010101" pitchFamily="49" charset="-122"/>
                      </a:rPr>
                      <m:t>) + </m:t>
                    </m:r>
                    <m:r>
                      <a:rPr lang="en-US" altLang="zh-CN" sz="2000" b="1" smtClean="0">
                        <a:solidFill>
                          <a:srgbClr val="C00000"/>
                        </a:solidFill>
                        <a:latin typeface="Cambria Math" panose="02040503050406030204" pitchFamily="18" charset="0"/>
                        <a:ea typeface="楷体" panose="02010609060101010101" pitchFamily="49" charset="-122"/>
                      </a:rPr>
                      <m:t>𝒈</m:t>
                    </m:r>
                    <m:r>
                      <a:rPr lang="en-US" altLang="zh-CN" sz="2000" b="1" smtClean="0">
                        <a:solidFill>
                          <a:srgbClr val="C00000"/>
                        </a:solidFill>
                        <a:latin typeface="Cambria Math" panose="02040503050406030204" pitchFamily="18" charset="0"/>
                        <a:ea typeface="楷体" panose="02010609060101010101" pitchFamily="49" charset="-122"/>
                      </a:rPr>
                      <m:t>(</m:t>
                    </m:r>
                    <m:r>
                      <a:rPr lang="en-US" altLang="zh-CN" sz="2000" b="1" smtClean="0">
                        <a:solidFill>
                          <a:srgbClr val="C00000"/>
                        </a:solidFill>
                        <a:latin typeface="Cambria Math" panose="02040503050406030204" pitchFamily="18" charset="0"/>
                        <a:ea typeface="楷体" panose="02010609060101010101" pitchFamily="49" charset="-122"/>
                      </a:rPr>
                      <m:t>𝒏</m:t>
                    </m:r>
                    <m:r>
                      <a:rPr lang="en-US" altLang="zh-CN" sz="2000" b="1" smtClean="0">
                        <a:solidFill>
                          <a:srgbClr val="C00000"/>
                        </a:solidFill>
                        <a:latin typeface="Cambria Math" panose="02040503050406030204" pitchFamily="18" charset="0"/>
                        <a:ea typeface="楷体" panose="02010609060101010101" pitchFamily="49" charset="-122"/>
                      </a:rPr>
                      <m:t>)</m:t>
                    </m:r>
                  </m:oMath>
                </a14:m>
                <a:endParaRPr lang="en-US" altLang="zh-CN" sz="2000" b="1">
                  <a:solidFill>
                    <a:srgbClr val="002060"/>
                  </a:solidFill>
                  <a:latin typeface="楷体" panose="02010609060101010101" pitchFamily="49" charset="-122"/>
                  <a:ea typeface="楷体" panose="02010609060101010101" pitchFamily="49" charset="-122"/>
                </a:endParaRP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这里</a:t>
                </a:r>
                <a14:m>
                  <m:oMath xmlns:m="http://schemas.openxmlformats.org/officeDocument/2006/math">
                    <m:r>
                      <a:rPr lang="en-US" altLang="zh-CN" sz="2000" b="1">
                        <a:solidFill>
                          <a:schemeClr val="accent6">
                            <a:lumMod val="50000"/>
                          </a:schemeClr>
                        </a:solidFill>
                        <a:latin typeface="Cambria Math" panose="02040503050406030204" pitchFamily="18" charset="0"/>
                      </a:rPr>
                      <m:t>𝒂</m:t>
                    </m:r>
                    <m:r>
                      <a:rPr lang="en-US" altLang="zh-CN" sz="2000" b="1">
                        <a:solidFill>
                          <a:schemeClr val="accent6">
                            <a:lumMod val="50000"/>
                          </a:schemeClr>
                        </a:solidFill>
                        <a:latin typeface="Cambria Math" panose="02040503050406030204" pitchFamily="18" charset="0"/>
                      </a:rPr>
                      <m:t>×</m:t>
                    </m:r>
                    <m:d>
                      <m:dPr>
                        <m:ctrlPr>
                          <a:rPr lang="en-US" altLang="zh-CN" sz="2000" b="1" i="1">
                            <a:solidFill>
                              <a:schemeClr val="accent6">
                                <a:lumMod val="50000"/>
                              </a:schemeClr>
                            </a:solidFill>
                            <a:latin typeface="Cambria Math" panose="02040503050406030204" pitchFamily="18" charset="0"/>
                          </a:rPr>
                        </m:ctrlPr>
                      </m:dPr>
                      <m:e>
                        <m:r>
                          <a:rPr lang="en-US" altLang="zh-CN" sz="2000" b="1">
                            <a:solidFill>
                              <a:schemeClr val="accent6">
                                <a:lumMod val="50000"/>
                              </a:schemeClr>
                            </a:solidFill>
                            <a:latin typeface="Cambria Math" panose="02040503050406030204" pitchFamily="18" charset="0"/>
                          </a:rPr>
                          <m:t>𝒏</m:t>
                        </m:r>
                        <m:r>
                          <a:rPr lang="en-US" altLang="zh-CN" sz="2000" b="1">
                            <a:solidFill>
                              <a:schemeClr val="accent6">
                                <a:lumMod val="50000"/>
                              </a:schemeClr>
                            </a:solidFill>
                            <a:latin typeface="Cambria Math" panose="02040503050406030204" pitchFamily="18" charset="0"/>
                          </a:rPr>
                          <m:t>/</m:t>
                        </m:r>
                        <m:r>
                          <a:rPr lang="en-US" altLang="zh-CN" sz="2000" b="1">
                            <a:solidFill>
                              <a:schemeClr val="accent6">
                                <a:lumMod val="50000"/>
                              </a:schemeClr>
                            </a:solidFill>
                            <a:latin typeface="Cambria Math" panose="02040503050406030204" pitchFamily="18" charset="0"/>
                          </a:rPr>
                          <m:t>𝒃</m:t>
                        </m:r>
                      </m:e>
                    </m:d>
                  </m:oMath>
                </a14:m>
                <a:r>
                  <a:rPr lang="zh-CN" altLang="en-US" sz="2000" b="1">
                    <a:solidFill>
                      <a:schemeClr val="accent6">
                        <a:lumMod val="50000"/>
                      </a:schemeClr>
                    </a:solidFill>
                  </a:rPr>
                  <a:t>不一定等于</a:t>
                </a:r>
                <a14:m>
                  <m:oMath xmlns:m="http://schemas.openxmlformats.org/officeDocument/2006/math">
                    <m:r>
                      <a:rPr lang="en-US" altLang="zh-CN" sz="2000" b="1">
                        <a:solidFill>
                          <a:schemeClr val="accent6">
                            <a:lumMod val="50000"/>
                          </a:schemeClr>
                        </a:solidFill>
                        <a:latin typeface="Cambria Math" panose="02040503050406030204" pitchFamily="18" charset="0"/>
                      </a:rPr>
                      <m:t>𝒏</m:t>
                    </m:r>
                  </m:oMath>
                </a14:m>
                <a:endParaRPr lang="en-US" altLang="zh-CN" sz="2000" b="1">
                  <a:solidFill>
                    <a:schemeClr val="accent6">
                      <a:lumMod val="50000"/>
                    </a:schemeClr>
                  </a:solidFill>
                </a:endParaRPr>
              </a:p>
              <a:p>
                <a:pPr marL="1257300" lvl="2"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原来的输入数据并不一定都要在某个小问题中进行处理</a:t>
                </a:r>
                <a:endParaRPr lang="zh-CN" altLang="en-US" sz="2000"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2" name="矩形 1"/>
              <p:cNvSpPr>
                <a:spLocks noRot="1" noChangeAspect="1" noMove="1" noResize="1" noEditPoints="1" noAdjustHandles="1" noChangeArrowheads="1" noChangeShapeType="1" noTextEdit="1"/>
              </p:cNvSpPr>
              <p:nvPr/>
            </p:nvSpPr>
            <p:spPr>
              <a:xfrm>
                <a:off x="1348299" y="1274886"/>
                <a:ext cx="9495399" cy="2846933"/>
              </a:xfrm>
              <a:prstGeom prst="rect">
                <a:avLst/>
              </a:prstGeom>
              <a:blipFill rotWithShape="1">
                <a:blip r:embed="rId1"/>
                <a:stretch>
                  <a:fillRect l="-2" t="-15" r="5" b="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矩形 2"/>
              <p:cNvSpPr/>
              <p:nvPr/>
            </p:nvSpPr>
            <p:spPr>
              <a:xfrm>
                <a:off x="855533" y="4518405"/>
                <a:ext cx="10480930" cy="1461939"/>
              </a:xfrm>
              <a:prstGeom prst="rect">
                <a:avLst/>
              </a:prstGeom>
              <a:solidFill>
                <a:schemeClr val="accent6">
                  <a:lumMod val="20000"/>
                  <a:lumOff val="80000"/>
                  <a:alpha val="50000"/>
                </a:schemeClr>
              </a:solidFill>
            </p:spPr>
            <p:txBody>
              <a:bodyPr wrap="square">
                <a:spAutoFit/>
              </a:bodyPr>
              <a:lstStyle/>
              <a:p>
                <a:pPr algn="ctr">
                  <a:spcBef>
                    <a:spcPts val="600"/>
                  </a:spcBef>
                  <a:spcAft>
                    <a:spcPts val="1200"/>
                  </a:spcAft>
                </a:pPr>
                <a:r>
                  <a:rPr lang="zh-CN" altLang="en-US" sz="2400" b="1">
                    <a:solidFill>
                      <a:schemeClr val="accent2">
                        <a:lumMod val="50000"/>
                      </a:schemeClr>
                    </a:solidFill>
                  </a:rPr>
                  <a:t>二分查找算法效率分析的递推关系式</a:t>
                </a:r>
                <a:endParaRPr lang="zh-CN" altLang="en-US" sz="2400" b="1">
                  <a:solidFill>
                    <a:schemeClr val="accent2">
                      <a:lumMod val="50000"/>
                    </a:schemeClr>
                  </a:solidFill>
                </a:endParaRP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算法在与中间数据比较后，只需对被中间数据分成前后两段数据中的一段再查找即可</a:t>
                </a:r>
                <a:endParaRPr lang="zh-CN" altLang="en-US" sz="20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因此算法效率分析的递推式关系是</a:t>
                </a:r>
                <a14:m>
                  <m:oMath xmlns:m="http://schemas.openxmlformats.org/officeDocument/2006/math">
                    <m:r>
                      <a:rPr lang="zh-CN" altLang="en-US" sz="2000" b="1" smtClean="0">
                        <a:solidFill>
                          <a:srgbClr val="C00000"/>
                        </a:solidFill>
                        <a:latin typeface="Cambria Math" panose="02040503050406030204" pitchFamily="18" charset="0"/>
                      </a:rPr>
                      <m:t>𝒇</m:t>
                    </m:r>
                    <m:r>
                      <a:rPr lang="zh-CN" altLang="en-US" sz="2000" b="1" smtClean="0">
                        <a:solidFill>
                          <a:srgbClr val="C00000"/>
                        </a:solidFill>
                        <a:latin typeface="Cambria Math" panose="02040503050406030204" pitchFamily="18" charset="0"/>
                      </a:rPr>
                      <m:t>(</m:t>
                    </m:r>
                    <m:r>
                      <a:rPr lang="zh-CN" altLang="en-US" sz="2000" b="1" smtClean="0">
                        <a:solidFill>
                          <a:srgbClr val="C00000"/>
                        </a:solidFill>
                        <a:latin typeface="Cambria Math" panose="02040503050406030204" pitchFamily="18" charset="0"/>
                      </a:rPr>
                      <m:t>𝒏</m:t>
                    </m:r>
                    <m:r>
                      <a:rPr lang="zh-CN" altLang="en-US" sz="2000" b="1" smtClean="0">
                        <a:solidFill>
                          <a:srgbClr val="C00000"/>
                        </a:solidFill>
                        <a:latin typeface="Cambria Math" panose="02040503050406030204" pitchFamily="18" charset="0"/>
                      </a:rPr>
                      <m:t>)=</m:t>
                    </m:r>
                    <m:r>
                      <a:rPr lang="zh-CN" altLang="en-US" sz="2000" b="1" smtClean="0">
                        <a:solidFill>
                          <a:srgbClr val="C00000"/>
                        </a:solidFill>
                        <a:latin typeface="Cambria Math" panose="02040503050406030204" pitchFamily="18" charset="0"/>
                      </a:rPr>
                      <m:t>𝒇</m:t>
                    </m:r>
                    <m:r>
                      <a:rPr lang="zh-CN" altLang="en-US" sz="2000" b="1" smtClean="0">
                        <a:solidFill>
                          <a:srgbClr val="C00000"/>
                        </a:solidFill>
                        <a:latin typeface="Cambria Math" panose="02040503050406030204" pitchFamily="18" charset="0"/>
                      </a:rPr>
                      <m:t>(</m:t>
                    </m:r>
                    <m:r>
                      <a:rPr lang="zh-CN" altLang="en-US" sz="2000" b="1" smtClean="0">
                        <a:solidFill>
                          <a:srgbClr val="C00000"/>
                        </a:solidFill>
                        <a:latin typeface="Cambria Math" panose="02040503050406030204" pitchFamily="18" charset="0"/>
                      </a:rPr>
                      <m:t>𝒏</m:t>
                    </m:r>
                    <m:r>
                      <a:rPr lang="zh-CN" altLang="en-US" sz="2000" b="1" smtClean="0">
                        <a:solidFill>
                          <a:srgbClr val="C00000"/>
                        </a:solidFill>
                        <a:latin typeface="Cambria Math" panose="02040503050406030204" pitchFamily="18" charset="0"/>
                      </a:rPr>
                      <m:t>/</m:t>
                    </m:r>
                    <m:r>
                      <a:rPr lang="zh-CN" altLang="en-US" sz="2000" b="1" smtClean="0">
                        <a:solidFill>
                          <a:srgbClr val="C00000"/>
                        </a:solidFill>
                        <a:latin typeface="Cambria Math" panose="02040503050406030204" pitchFamily="18" charset="0"/>
                      </a:rPr>
                      <m:t>𝟐</m:t>
                    </m:r>
                    <m:r>
                      <a:rPr lang="zh-CN" altLang="en-US" sz="2000" b="1" smtClean="0">
                        <a:solidFill>
                          <a:srgbClr val="C00000"/>
                        </a:solidFill>
                        <a:latin typeface="Cambria Math" panose="02040503050406030204" pitchFamily="18" charset="0"/>
                      </a:rPr>
                      <m:t>)+</m:t>
                    </m:r>
                    <m:r>
                      <a:rPr lang="zh-CN" altLang="en-US" sz="2000" b="1">
                        <a:solidFill>
                          <a:srgbClr val="C00000"/>
                        </a:solidFill>
                        <a:latin typeface="Cambria Math" panose="02040503050406030204" pitchFamily="18" charset="0"/>
                      </a:rPr>
                      <m:t>𝑪</m:t>
                    </m:r>
                  </m:oMath>
                </a14:m>
                <a:r>
                  <a:rPr lang="zh-CN" altLang="en-US" sz="2000" b="1">
                    <a:solidFill>
                      <a:schemeClr val="accent6">
                        <a:lumMod val="50000"/>
                      </a:schemeClr>
                    </a:solidFill>
                  </a:rPr>
                  <a:t>，二分查找治理阶段只需常数时间</a:t>
                </a:r>
                <a14:m>
                  <m:oMath xmlns:m="http://schemas.openxmlformats.org/officeDocument/2006/math">
                    <m:r>
                      <a:rPr lang="zh-CN" altLang="en-US" sz="2000" b="1">
                        <a:solidFill>
                          <a:schemeClr val="accent6">
                            <a:lumMod val="50000"/>
                          </a:schemeClr>
                        </a:solidFill>
                        <a:latin typeface="Cambria Math" panose="02040503050406030204" pitchFamily="18" charset="0"/>
                      </a:rPr>
                      <m:t>𝑪</m:t>
                    </m:r>
                  </m:oMath>
                </a14:m>
                <a:endParaRPr lang="zh-CN" altLang="en-US" sz="2000" b="1">
                  <a:solidFill>
                    <a:schemeClr val="accent6">
                      <a:lumMod val="50000"/>
                    </a:schemeClr>
                  </a:solidFill>
                </a:endParaRPr>
              </a:p>
            </p:txBody>
          </p:sp>
        </mc:Choice>
        <mc:Fallback>
          <p:sp>
            <p:nvSpPr>
              <p:cNvPr id="3" name="矩形 2"/>
              <p:cNvSpPr>
                <a:spLocks noRot="1" noChangeAspect="1" noMove="1" noResize="1" noEditPoints="1" noAdjustHandles="1" noChangeArrowheads="1" noChangeShapeType="1" noTextEdit="1"/>
              </p:cNvSpPr>
              <p:nvPr/>
            </p:nvSpPr>
            <p:spPr>
              <a:xfrm>
                <a:off x="855533" y="4518405"/>
                <a:ext cx="10480930" cy="1461939"/>
              </a:xfrm>
              <a:prstGeom prst="rect">
                <a:avLst/>
              </a:prstGeom>
              <a:blipFill rotWithShape="1">
                <a:blip r:embed="rId2"/>
                <a:stretch>
                  <a:fillRect l="-2" t="-26" r="4" b="38"/>
                </a:stretch>
              </a:blipFill>
            </p:spPr>
            <p:txBody>
              <a:bodyPr/>
              <a:lstStyle/>
              <a:p>
                <a:r>
                  <a:rPr lang="zh-CN"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分治算法与递推关系式</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主定理</a:t>
            </a:r>
            <a:r>
              <a:rPr lang="en-US" altLang="zh-CN"/>
              <a:t>(Master Theorem)</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2026508" y="1217006"/>
                <a:ext cx="8137504" cy="873444"/>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对于分治算法效率分析中常用到的递推关系式</a:t>
                </a:r>
                <a14:m>
                  <m:oMath xmlns:m="http://schemas.openxmlformats.org/officeDocument/2006/math">
                    <m:r>
                      <a:rPr lang="en-US" altLang="zh-CN" sz="2000" b="1" i="1" smtClean="0">
                        <a:solidFill>
                          <a:srgbClr val="002060"/>
                        </a:solidFill>
                        <a:latin typeface="Cambria Math" panose="02040503050406030204" pitchFamily="18" charset="0"/>
                      </a:rPr>
                      <m:t>𝒇</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𝒂𝒇</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𝒃</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𝒈</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m:t>
                    </m:r>
                  </m:oMath>
                </a14:m>
                <a:endParaRPr lang="en-US" altLang="zh-CN" sz="2000" b="1">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r>
                  <a:rPr lang="zh-CN" altLang="en-US" sz="2000" b="1">
                    <a:solidFill>
                      <a:schemeClr val="accent2">
                        <a:lumMod val="50000"/>
                      </a:schemeClr>
                    </a:solidFill>
                  </a:rPr>
                  <a:t>当</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𝒈</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oMath>
                </a14:m>
                <a:r>
                  <a:rPr lang="zh-CN" altLang="en-US" sz="2000" b="1">
                    <a:solidFill>
                      <a:schemeClr val="accent2">
                        <a:lumMod val="50000"/>
                      </a:schemeClr>
                    </a:solidFill>
                  </a:rPr>
                  <a:t>是</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𝑶</m:t>
                    </m:r>
                    <m:r>
                      <a:rPr lang="en-US" altLang="zh-CN" sz="2000" b="1" i="1" smtClean="0">
                        <a:solidFill>
                          <a:schemeClr val="accent2">
                            <a:lumMod val="50000"/>
                          </a:schemeClr>
                        </a:solidFill>
                        <a:latin typeface="Cambria Math" panose="02040503050406030204" pitchFamily="18" charset="0"/>
                      </a:rPr>
                      <m:t>(</m:t>
                    </m:r>
                    <m:sSup>
                      <m:sSupPr>
                        <m:ctrlPr>
                          <a:rPr lang="en-US" altLang="zh-CN" sz="2000" b="1" i="1" smtClean="0">
                            <a:solidFill>
                              <a:schemeClr val="accent2">
                                <a:lumMod val="50000"/>
                              </a:schemeClr>
                            </a:solidFill>
                            <a:latin typeface="Cambria Math" panose="02040503050406030204" pitchFamily="18" charset="0"/>
                          </a:rPr>
                        </m:ctrlPr>
                      </m:sSupPr>
                      <m:e>
                        <m:r>
                          <a:rPr lang="en-US" altLang="zh-CN" sz="2000" b="1" i="1" smtClean="0">
                            <a:solidFill>
                              <a:schemeClr val="accent2">
                                <a:lumMod val="50000"/>
                              </a:schemeClr>
                            </a:solidFill>
                            <a:latin typeface="Cambria Math" panose="02040503050406030204" pitchFamily="18" charset="0"/>
                          </a:rPr>
                          <m:t>𝒏</m:t>
                        </m:r>
                      </m:e>
                      <m:sup>
                        <m:r>
                          <a:rPr lang="en-US" altLang="zh-CN" sz="2000" b="1" i="1" smtClean="0">
                            <a:solidFill>
                              <a:schemeClr val="accent2">
                                <a:lumMod val="50000"/>
                              </a:schemeClr>
                            </a:solidFill>
                            <a:latin typeface="Cambria Math" panose="02040503050406030204" pitchFamily="18" charset="0"/>
                          </a:rPr>
                          <m:t>𝒅</m:t>
                        </m:r>
                      </m:sup>
                    </m:sSup>
                    <m:r>
                      <a:rPr lang="en-US" altLang="zh-CN" sz="2000" b="1" i="1" smtClean="0">
                        <a:solidFill>
                          <a:schemeClr val="accent2">
                            <a:lumMod val="50000"/>
                          </a:schemeClr>
                        </a:solidFill>
                        <a:latin typeface="Cambria Math" panose="02040503050406030204" pitchFamily="18" charset="0"/>
                      </a:rPr>
                      <m:t>)</m:t>
                    </m:r>
                  </m:oMath>
                </a14:m>
                <a:r>
                  <a:rPr lang="zh-CN" altLang="en-US" sz="2000" b="1">
                    <a:solidFill>
                      <a:schemeClr val="accent2">
                        <a:lumMod val="50000"/>
                      </a:schemeClr>
                    </a:solidFill>
                  </a:rPr>
                  <a:t>时可用</a:t>
                </a:r>
                <a:r>
                  <a:rPr lang="zh-CN" altLang="en-US" sz="2000" b="1">
                    <a:solidFill>
                      <a:srgbClr val="C00000"/>
                    </a:solidFill>
                  </a:rPr>
                  <a:t>主定理</a:t>
                </a:r>
                <a:r>
                  <a:rPr lang="zh-CN" altLang="en-US" sz="2000" b="1">
                    <a:solidFill>
                      <a:schemeClr val="accent2">
                        <a:lumMod val="50000"/>
                      </a:schemeClr>
                    </a:solidFill>
                  </a:rPr>
                  <a:t>估计</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𝒇</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oMath>
                </a14:m>
                <a:r>
                  <a:rPr lang="zh-CN" altLang="en-US" sz="2000" b="1">
                    <a:solidFill>
                      <a:schemeClr val="accent2">
                        <a:lumMod val="50000"/>
                      </a:schemeClr>
                    </a:solidFill>
                  </a:rPr>
                  <a:t>的增长情况</a:t>
                </a:r>
                <a:endParaRPr lang="zh-CN" altLang="en-US" sz="2000" b="1">
                  <a:solidFill>
                    <a:schemeClr val="accent2">
                      <a:lumMod val="50000"/>
                    </a:schemeClr>
                  </a:solidFill>
                </a:endParaRPr>
              </a:p>
            </p:txBody>
          </p:sp>
        </mc:Choice>
        <mc:Fallback>
          <p:sp>
            <p:nvSpPr>
              <p:cNvPr id="2" name="文本框 1"/>
              <p:cNvSpPr txBox="1">
                <a:spLocks noRot="1" noChangeAspect="1" noMove="1" noResize="1" noEditPoints="1" noAdjustHandles="1" noChangeArrowheads="1" noChangeShapeType="1" noTextEdit="1"/>
              </p:cNvSpPr>
              <p:nvPr/>
            </p:nvSpPr>
            <p:spPr>
              <a:xfrm>
                <a:off x="2026508" y="1217006"/>
                <a:ext cx="8137504" cy="873444"/>
              </a:xfrm>
              <a:prstGeom prst="rect">
                <a:avLst/>
              </a:prstGeom>
              <a:blipFill rotWithShape="1">
                <a:blip r:embed="rId1"/>
                <a:stretch>
                  <a:fillRect l="-3" t="-40" r="2" b="3"/>
                </a:stretch>
              </a:blipFill>
            </p:spPr>
            <p:txBody>
              <a:bodyPr/>
              <a:lstStyle/>
              <a:p>
                <a:r>
                  <a:rPr lang="zh-CN" altLang="en-US">
                    <a:noFill/>
                  </a:rPr>
                  <a:t> </a:t>
                </a:r>
              </a:p>
            </p:txBody>
          </p:sp>
        </mc:Fallback>
      </mc:AlternateContent>
      <p:grpSp>
        <p:nvGrpSpPr>
          <p:cNvPr id="12" name="组合 11"/>
          <p:cNvGrpSpPr/>
          <p:nvPr/>
        </p:nvGrpSpPr>
        <p:grpSpPr>
          <a:xfrm>
            <a:off x="717047" y="2541385"/>
            <a:ext cx="5078539" cy="3099609"/>
            <a:chOff x="717047" y="2541385"/>
            <a:chExt cx="5078539" cy="3099609"/>
          </a:xfrm>
        </p:grpSpPr>
        <mc:AlternateContent xmlns:mc="http://schemas.openxmlformats.org/markup-compatibility/2006">
          <mc:Choice xmlns:a14="http://schemas.microsoft.com/office/drawing/2010/main" Requires="a14">
            <p:sp>
              <p:nvSpPr>
                <p:cNvPr id="3" name="文本框 2"/>
                <p:cNvSpPr txBox="1"/>
                <p:nvPr/>
              </p:nvSpPr>
              <p:spPr>
                <a:xfrm>
                  <a:off x="717047" y="2541385"/>
                  <a:ext cx="5078539" cy="1775230"/>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主定理</a:t>
                  </a:r>
                  <a:endParaRPr lang="en-US" altLang="zh-CN" sz="2400" b="1">
                    <a:solidFill>
                      <a:srgbClr val="C00000"/>
                    </a:solidFill>
                  </a:endParaRP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设实值函数</a:t>
                  </a:r>
                  <a14:m>
                    <m:oMath xmlns:m="http://schemas.openxmlformats.org/officeDocument/2006/math">
                      <m:r>
                        <a:rPr lang="en-US" altLang="zh-CN" sz="2000" b="1" i="1" smtClean="0">
                          <a:solidFill>
                            <a:srgbClr val="002060"/>
                          </a:solidFill>
                          <a:latin typeface="Cambria Math" panose="02040503050406030204" pitchFamily="18" charset="0"/>
                        </a:rPr>
                        <m:t>𝒇</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是递增函数，且满足递推式</a:t>
                  </a:r>
                  <a:endParaRPr lang="en-US" altLang="zh-CN" sz="2000" b="1">
                    <a:solidFill>
                      <a:srgbClr val="002060"/>
                    </a:solidFill>
                    <a:latin typeface="楷体" panose="02010609060101010101" pitchFamily="49" charset="-122"/>
                    <a:ea typeface="楷体" panose="02010609060101010101" pitchFamily="49"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𝒇</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 = </m:t>
                        </m:r>
                        <m:r>
                          <a:rPr lang="en-US" altLang="zh-CN" sz="2000" b="1" i="1" smtClean="0">
                            <a:solidFill>
                              <a:srgbClr val="002060"/>
                            </a:solidFill>
                            <a:latin typeface="Cambria Math" panose="02040503050406030204" pitchFamily="18" charset="0"/>
                          </a:rPr>
                          <m:t>𝒂𝒇</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𝒃</m:t>
                        </m:r>
                        <m:r>
                          <a:rPr lang="en-US" altLang="zh-CN" sz="2000" b="1" i="1" smtClean="0">
                            <a:solidFill>
                              <a:srgbClr val="002060"/>
                            </a:solidFill>
                            <a:latin typeface="Cambria Math" panose="02040503050406030204" pitchFamily="18" charset="0"/>
                          </a:rPr>
                          <m:t>) + </m:t>
                        </m:r>
                        <m:r>
                          <a:rPr lang="en-US" altLang="zh-CN" sz="2000" b="1" i="1" smtClean="0">
                            <a:solidFill>
                              <a:srgbClr val="002060"/>
                            </a:solidFill>
                            <a:latin typeface="Cambria Math" panose="02040503050406030204" pitchFamily="18" charset="0"/>
                          </a:rPr>
                          <m:t>𝑪</m:t>
                        </m:r>
                        <m:sSup>
                          <m:sSupPr>
                            <m:ctrlPr>
                              <a:rPr lang="en-US" altLang="zh-CN" sz="2000" b="1" i="1">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𝒏</m:t>
                            </m:r>
                          </m:e>
                          <m:sup>
                            <m:r>
                              <a:rPr lang="en-US" altLang="zh-CN" sz="2000" b="1" i="1" smtClean="0">
                                <a:solidFill>
                                  <a:srgbClr val="002060"/>
                                </a:solidFill>
                                <a:latin typeface="Cambria Math" panose="02040503050406030204" pitchFamily="18" charset="0"/>
                              </a:rPr>
                              <m:t>𝒅</m:t>
                            </m:r>
                          </m:sup>
                        </m:sSup>
                      </m:oMath>
                    </m:oMathPara>
                  </a14:m>
                  <a:endParaRPr lang="en-US" altLang="zh-CN" sz="2000" b="1">
                    <a:solidFill>
                      <a:srgbClr val="002060"/>
                    </a:solidFill>
                    <a:latin typeface="楷体" panose="02010609060101010101" pitchFamily="49" charset="-122"/>
                    <a:ea typeface="楷体" panose="02010609060101010101" pitchFamily="49" charset="-122"/>
                  </a:endParaRP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整数</a:t>
                  </a:r>
                  <a14:m>
                    <m:oMath xmlns:m="http://schemas.openxmlformats.org/officeDocument/2006/math">
                      <m:r>
                        <a:rPr lang="en-US" altLang="zh-CN" sz="2000" b="1" i="1" smtClean="0">
                          <a:solidFill>
                            <a:srgbClr val="002060"/>
                          </a:solidFill>
                          <a:latin typeface="Cambria Math" panose="02040503050406030204" pitchFamily="18" charset="0"/>
                        </a:rPr>
                        <m:t>𝒂</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𝒃</m:t>
                      </m:r>
                      <m:r>
                        <a:rPr lang="en-US" altLang="zh-CN" sz="2000" b="1" i="1" smtClean="0">
                          <a:solidFill>
                            <a:srgbClr val="002060"/>
                          </a:solidFill>
                          <a:latin typeface="Cambria Math" panose="02040503050406030204" pitchFamily="18" charset="0"/>
                        </a:rPr>
                        <m:t> &gt; </m:t>
                      </m:r>
                      <m:r>
                        <a:rPr lang="en-US" altLang="zh-CN" sz="2000" b="1" i="1" smtClean="0">
                          <a:solidFill>
                            <a:srgbClr val="002060"/>
                          </a:solidFill>
                          <a:latin typeface="Cambria Math" panose="02040503050406030204" pitchFamily="18" charset="0"/>
                        </a:rPr>
                        <m:t>𝟏</m:t>
                      </m:r>
                    </m:oMath>
                  </a14:m>
                  <a:r>
                    <a:rPr lang="zh-CN" altLang="en-US" sz="2000" b="1">
                      <a:solidFill>
                        <a:srgbClr val="002060"/>
                      </a:solidFill>
                      <a:latin typeface="楷体" panose="02010609060101010101" pitchFamily="49" charset="-122"/>
                      <a:ea typeface="楷体" panose="02010609060101010101" pitchFamily="49" charset="-122"/>
                    </a:rPr>
                    <a:t>，实数</a:t>
                  </a:r>
                  <a14:m>
                    <m:oMath xmlns:m="http://schemas.openxmlformats.org/officeDocument/2006/math">
                      <m:r>
                        <a:rPr lang="en-US" altLang="zh-CN" sz="2000" b="1" i="1" smtClean="0">
                          <a:solidFill>
                            <a:srgbClr val="002060"/>
                          </a:solidFill>
                          <a:latin typeface="Cambria Math" panose="02040503050406030204" pitchFamily="18" charset="0"/>
                        </a:rPr>
                        <m:t>𝒄</m:t>
                      </m:r>
                      <m:r>
                        <a:rPr lang="en-US" altLang="zh-CN" sz="2000" b="1" i="1" smtClean="0">
                          <a:solidFill>
                            <a:srgbClr val="002060"/>
                          </a:solidFill>
                          <a:latin typeface="Cambria Math" panose="02040503050406030204" pitchFamily="18" charset="0"/>
                        </a:rPr>
                        <m:t> &gt; </m:t>
                      </m:r>
                      <m:r>
                        <a:rPr lang="en-US" altLang="zh-CN" sz="2000" b="1" i="1" smtClean="0">
                          <a:solidFill>
                            <a:srgbClr val="002060"/>
                          </a:solidFill>
                          <a:latin typeface="Cambria Math" panose="02040503050406030204" pitchFamily="18" charset="0"/>
                        </a:rPr>
                        <m:t>𝟎</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𝒅</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𝟎</m:t>
                      </m:r>
                    </m:oMath>
                  </a14:m>
                  <a:r>
                    <a:rPr lang="zh-CN" altLang="en-US" sz="2000" b="1">
                      <a:solidFill>
                        <a:srgbClr val="002060"/>
                      </a:solidFill>
                      <a:latin typeface="楷体" panose="02010609060101010101" pitchFamily="49" charset="-122"/>
                      <a:ea typeface="楷体" panose="02010609060101010101" pitchFamily="49" charset="-122"/>
                    </a:rPr>
                    <a:t>，则</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717047" y="2541385"/>
                  <a:ext cx="5078539" cy="1775230"/>
                </a:xfrm>
                <a:prstGeom prst="rect">
                  <a:avLst/>
                </a:prstGeom>
                <a:blipFill rotWithShape="1">
                  <a:blip r:embed="rId2"/>
                </a:blipFill>
              </p:spPr>
              <p:txBody>
                <a:bodyPr/>
                <a:lstStyle/>
                <a:p>
                  <a:r>
                    <a:rPr lang="zh-CN" altLang="en-US">
                      <a:noFill/>
                    </a:rPr>
                    <a:t> </a:t>
                  </a:r>
                </a:p>
              </p:txBody>
            </p:sp>
          </mc:Fallback>
        </mc:AlternateContent>
        <p:pic>
          <p:nvPicPr>
            <p:cNvPr id="6" name="图片 5"/>
            <p:cNvPicPr>
              <a:picLocks noChangeAspect="1"/>
            </p:cNvPicPr>
            <p:nvPr/>
          </p:nvPicPr>
          <p:blipFill>
            <a:blip r:embed="rId3"/>
            <a:stretch>
              <a:fillRect/>
            </a:stretch>
          </p:blipFill>
          <p:spPr>
            <a:xfrm>
              <a:off x="1358631" y="4406673"/>
              <a:ext cx="3795370" cy="1234321"/>
            </a:xfrm>
            <a:prstGeom prst="rect">
              <a:avLst/>
            </a:prstGeom>
          </p:spPr>
        </p:pic>
      </p:grpSp>
      <mc:AlternateContent xmlns:mc="http://schemas.openxmlformats.org/markup-compatibility/2006">
        <mc:Choice xmlns:a14="http://schemas.microsoft.com/office/drawing/2010/main" Requires="a14">
          <p:sp>
            <p:nvSpPr>
              <p:cNvPr id="11" name="文本框 10"/>
              <p:cNvSpPr txBox="1"/>
              <p:nvPr/>
            </p:nvSpPr>
            <p:spPr>
              <a:xfrm>
                <a:off x="6396414" y="2517984"/>
                <a:ext cx="5078539" cy="3123740"/>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主定理结果的简单理解</a:t>
                </a:r>
                <a:endParaRPr lang="zh-CN" altLang="en-US" sz="2000" b="1">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14:m>
                  <m:oMath xmlns:m="http://schemas.openxmlformats.org/officeDocument/2006/math">
                    <m:r>
                      <a:rPr lang="en-US" altLang="zh-CN" b="1" i="1" smtClean="0">
                        <a:solidFill>
                          <a:srgbClr val="C00000"/>
                        </a:solidFill>
                        <a:latin typeface="Cambria Math" panose="02040503050406030204" pitchFamily="18" charset="0"/>
                      </a:rPr>
                      <m:t>𝒂</m:t>
                    </m:r>
                    <m:r>
                      <a:rPr lang="en-US" altLang="zh-CN" b="1" i="1" smtClean="0">
                        <a:solidFill>
                          <a:srgbClr val="C00000"/>
                        </a:solidFill>
                        <a:latin typeface="Cambria Math" panose="02040503050406030204" pitchFamily="18" charset="0"/>
                      </a:rPr>
                      <m:t>&lt;</m:t>
                    </m:r>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𝒃</m:t>
                        </m:r>
                      </m:e>
                      <m:sup>
                        <m:r>
                          <a:rPr lang="en-US" altLang="zh-CN" b="1" i="1" smtClean="0">
                            <a:solidFill>
                              <a:srgbClr val="C00000"/>
                            </a:solidFill>
                            <a:latin typeface="Cambria Math" panose="02040503050406030204" pitchFamily="18" charset="0"/>
                          </a:rPr>
                          <m:t>𝒅</m:t>
                        </m:r>
                      </m:sup>
                    </m:sSup>
                  </m:oMath>
                </a14:m>
                <a:r>
                  <a:rPr lang="zh-CN" altLang="en-US" b="1">
                    <a:solidFill>
                      <a:schemeClr val="accent6">
                        <a:lumMod val="50000"/>
                      </a:schemeClr>
                    </a:solidFill>
                  </a:rPr>
                  <a:t>：算法执行时间主要花在治理阶段</a:t>
                </a:r>
                <a:endParaRPr lang="en-US" altLang="zh-CN" b="1">
                  <a:solidFill>
                    <a:schemeClr val="accent6">
                      <a:lumMod val="50000"/>
                    </a:schemeClr>
                  </a:solidFill>
                </a:endParaRPr>
              </a:p>
              <a:p>
                <a:pPr marL="742950" lvl="1" indent="-285750">
                  <a:spcBef>
                    <a:spcPts val="600"/>
                  </a:spcBef>
                  <a:spcAft>
                    <a:spcPts val="600"/>
                  </a:spcAft>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𝒇</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latin typeface="楷体" panose="02010609060101010101" pitchFamily="49" charset="-122"/>
                    <a:ea typeface="楷体" panose="02010609060101010101" pitchFamily="49" charset="-122"/>
                  </a:rPr>
                  <a:t>是</a:t>
                </a:r>
                <a14:m>
                  <m:oMath xmlns:m="http://schemas.openxmlformats.org/officeDocument/2006/math">
                    <m:r>
                      <a:rPr lang="en-US" altLang="zh-CN" b="1" i="1">
                        <a:solidFill>
                          <a:srgbClr val="C00000"/>
                        </a:solidFill>
                        <a:latin typeface="Cambria Math" panose="02040503050406030204" pitchFamily="18" charset="0"/>
                      </a:rPr>
                      <m:t>𝑶</m:t>
                    </m:r>
                    <m:d>
                      <m:dPr>
                        <m:ctrlPr>
                          <a:rPr lang="en-US" altLang="zh-CN" b="1" i="1">
                            <a:solidFill>
                              <a:srgbClr val="C00000"/>
                            </a:solidFill>
                            <a:latin typeface="Cambria Math" panose="02040503050406030204" pitchFamily="18" charset="0"/>
                          </a:rPr>
                        </m:ctrlPr>
                      </m:dPr>
                      <m:e>
                        <m:sSup>
                          <m:sSupPr>
                            <m:ctrlPr>
                              <a:rPr lang="en-US" altLang="zh-CN" b="1" i="1">
                                <a:solidFill>
                                  <a:srgbClr val="C00000"/>
                                </a:solidFill>
                                <a:latin typeface="Cambria Math" panose="02040503050406030204" pitchFamily="18" charset="0"/>
                              </a:rPr>
                            </m:ctrlPr>
                          </m:sSupPr>
                          <m:e>
                            <m:r>
                              <a:rPr lang="en-US" altLang="zh-CN" b="1" i="1">
                                <a:solidFill>
                                  <a:srgbClr val="C00000"/>
                                </a:solidFill>
                                <a:latin typeface="Cambria Math" panose="02040503050406030204" pitchFamily="18" charset="0"/>
                              </a:rPr>
                              <m:t>𝒏</m:t>
                            </m:r>
                          </m:e>
                          <m:sup>
                            <m:r>
                              <a:rPr lang="en-US" altLang="zh-CN" b="1" i="1">
                                <a:solidFill>
                                  <a:srgbClr val="C00000"/>
                                </a:solidFill>
                                <a:latin typeface="Cambria Math" panose="02040503050406030204" pitchFamily="18" charset="0"/>
                              </a:rPr>
                              <m:t>𝒅</m:t>
                            </m:r>
                          </m:sup>
                        </m:sSup>
                      </m:e>
                    </m:d>
                  </m:oMath>
                </a14:m>
                <a:endParaRPr lang="en-US" altLang="zh-CN" b="1" i="1">
                  <a:solidFill>
                    <a:srgbClr val="C00000"/>
                  </a:solidFill>
                  <a:latin typeface="Cambria Math" panose="02040503050406030204" pitchFamily="18" charset="0"/>
                </a:endParaRPr>
              </a:p>
              <a:p>
                <a:pPr marL="285750" indent="-285750">
                  <a:spcBef>
                    <a:spcPts val="600"/>
                  </a:spcBef>
                  <a:spcAft>
                    <a:spcPts val="600"/>
                  </a:spcAft>
                  <a:buFont typeface="Arial" panose="020B0604020202020204" pitchFamily="34" charset="0"/>
                  <a:buChar char="•"/>
                </a:pPr>
                <a14:m>
                  <m:oMath xmlns:m="http://schemas.openxmlformats.org/officeDocument/2006/math">
                    <m:r>
                      <a:rPr lang="en-US" altLang="zh-CN" b="1" i="1">
                        <a:solidFill>
                          <a:srgbClr val="C00000"/>
                        </a:solidFill>
                        <a:latin typeface="Cambria Math" panose="02040503050406030204" pitchFamily="18" charset="0"/>
                      </a:rPr>
                      <m:t>𝒂</m:t>
                    </m:r>
                    <m:r>
                      <a:rPr lang="en-US" altLang="zh-CN" b="1" i="1">
                        <a:solidFill>
                          <a:srgbClr val="C00000"/>
                        </a:solidFill>
                        <a:latin typeface="Cambria Math" panose="02040503050406030204" pitchFamily="18" charset="0"/>
                      </a:rPr>
                      <m:t>=</m:t>
                    </m:r>
                    <m:sSup>
                      <m:sSupPr>
                        <m:ctrlPr>
                          <a:rPr lang="en-US" altLang="zh-CN" b="1" i="1">
                            <a:solidFill>
                              <a:srgbClr val="C00000"/>
                            </a:solidFill>
                            <a:latin typeface="Cambria Math" panose="02040503050406030204" pitchFamily="18" charset="0"/>
                          </a:rPr>
                        </m:ctrlPr>
                      </m:sSupPr>
                      <m:e>
                        <m:r>
                          <a:rPr lang="en-US" altLang="zh-CN" b="1" i="1">
                            <a:solidFill>
                              <a:srgbClr val="C00000"/>
                            </a:solidFill>
                            <a:latin typeface="Cambria Math" panose="02040503050406030204" pitchFamily="18" charset="0"/>
                          </a:rPr>
                          <m:t>𝒃</m:t>
                        </m:r>
                      </m:e>
                      <m:sup>
                        <m:r>
                          <a:rPr lang="en-US" altLang="zh-CN" b="1" i="1">
                            <a:solidFill>
                              <a:srgbClr val="C00000"/>
                            </a:solidFill>
                            <a:latin typeface="Cambria Math" panose="02040503050406030204" pitchFamily="18" charset="0"/>
                          </a:rPr>
                          <m:t>𝒅</m:t>
                        </m:r>
                      </m:sup>
                    </m:sSup>
                  </m:oMath>
                </a14:m>
                <a:r>
                  <a:rPr lang="zh-CN" altLang="en-US" b="1">
                    <a:solidFill>
                      <a:schemeClr val="accent6">
                        <a:lumMod val="50000"/>
                      </a:schemeClr>
                    </a:solidFill>
                  </a:rPr>
                  <a:t>：小问题个数适中，治理时间也不长</a:t>
                </a:r>
                <a:endParaRPr lang="en-US" altLang="zh-CN" b="1">
                  <a:solidFill>
                    <a:schemeClr val="accent6">
                      <a:lumMod val="50000"/>
                    </a:schemeClr>
                  </a:solidFill>
                </a:endParaRPr>
              </a:p>
              <a:p>
                <a:pPr marL="742950" lvl="1" indent="-285750">
                  <a:spcBef>
                    <a:spcPts val="600"/>
                  </a:spcBef>
                  <a:spcAft>
                    <a:spcPts val="600"/>
                  </a:spcAft>
                  <a:buFont typeface="Arial" panose="020B0604020202020204" pitchFamily="34" charset="0"/>
                  <a:buChar char="•"/>
                </a:pPr>
                <a14:m>
                  <m:oMath xmlns:m="http://schemas.openxmlformats.org/officeDocument/2006/math">
                    <m:r>
                      <a:rPr lang="en-US" altLang="zh-CN" b="1">
                        <a:solidFill>
                          <a:schemeClr val="accent2">
                            <a:lumMod val="50000"/>
                          </a:schemeClr>
                        </a:solidFill>
                        <a:latin typeface="Cambria Math" panose="02040503050406030204" pitchFamily="18" charset="0"/>
                        <a:ea typeface="楷体" panose="02010609060101010101" pitchFamily="49" charset="-122"/>
                      </a:rPr>
                      <m:t>𝒇</m:t>
                    </m:r>
                    <m:r>
                      <a:rPr lang="en-US" altLang="zh-CN" b="1">
                        <a:solidFill>
                          <a:schemeClr val="accent2">
                            <a:lumMod val="50000"/>
                          </a:schemeClr>
                        </a:solidFill>
                        <a:latin typeface="Cambria Math" panose="02040503050406030204" pitchFamily="18" charset="0"/>
                        <a:ea typeface="楷体" panose="02010609060101010101" pitchFamily="49" charset="-122"/>
                      </a:rPr>
                      <m:t>(</m:t>
                    </m:r>
                    <m:r>
                      <a:rPr lang="en-US" altLang="zh-CN" b="1">
                        <a:solidFill>
                          <a:schemeClr val="accent2">
                            <a:lumMod val="50000"/>
                          </a:schemeClr>
                        </a:solidFill>
                        <a:latin typeface="Cambria Math" panose="02040503050406030204" pitchFamily="18" charset="0"/>
                        <a:ea typeface="楷体" panose="02010609060101010101" pitchFamily="49" charset="-122"/>
                      </a:rPr>
                      <m:t>𝒏</m:t>
                    </m:r>
                    <m:r>
                      <a:rPr lang="en-US" altLang="zh-CN" b="1">
                        <a:solidFill>
                          <a:schemeClr val="accent2">
                            <a:lumMod val="50000"/>
                          </a:schemeClr>
                        </a:solidFill>
                        <a:latin typeface="Cambria Math" panose="02040503050406030204" pitchFamily="18" charset="0"/>
                        <a:ea typeface="楷体" panose="02010609060101010101" pitchFamily="49" charset="-122"/>
                      </a:rPr>
                      <m:t>)</m:t>
                    </m:r>
                  </m:oMath>
                </a14:m>
                <a:r>
                  <a:rPr lang="zh-CN" altLang="en-US" b="1">
                    <a:solidFill>
                      <a:schemeClr val="accent2">
                        <a:lumMod val="50000"/>
                      </a:schemeClr>
                    </a:solidFill>
                    <a:latin typeface="楷体" panose="02010609060101010101" pitchFamily="49" charset="-122"/>
                    <a:ea typeface="楷体" panose="02010609060101010101" pitchFamily="49" charset="-122"/>
                  </a:rPr>
                  <a:t>是</a:t>
                </a:r>
                <a14:m>
                  <m:oMath xmlns:m="http://schemas.openxmlformats.org/officeDocument/2006/math">
                    <m:r>
                      <a:rPr lang="en-US" altLang="zh-CN" b="1" i="1">
                        <a:solidFill>
                          <a:srgbClr val="C00000"/>
                        </a:solidFill>
                        <a:latin typeface="Cambria Math" panose="02040503050406030204" pitchFamily="18" charset="0"/>
                      </a:rPr>
                      <m:t>𝑶</m:t>
                    </m:r>
                    <m:d>
                      <m:dPr>
                        <m:ctrlPr>
                          <a:rPr lang="en-US" altLang="zh-CN" b="1" i="1">
                            <a:solidFill>
                              <a:srgbClr val="C00000"/>
                            </a:solidFill>
                            <a:latin typeface="Cambria Math" panose="02040503050406030204" pitchFamily="18" charset="0"/>
                          </a:rPr>
                        </m:ctrlPr>
                      </m:dPr>
                      <m:e>
                        <m:sSup>
                          <m:sSupPr>
                            <m:ctrlPr>
                              <a:rPr lang="en-US" altLang="zh-CN" b="1" i="1">
                                <a:solidFill>
                                  <a:srgbClr val="C00000"/>
                                </a:solidFill>
                                <a:latin typeface="Cambria Math" panose="02040503050406030204" pitchFamily="18" charset="0"/>
                              </a:rPr>
                            </m:ctrlPr>
                          </m:sSupPr>
                          <m:e>
                            <m:r>
                              <a:rPr lang="en-US" altLang="zh-CN" b="1" i="1">
                                <a:solidFill>
                                  <a:srgbClr val="C00000"/>
                                </a:solidFill>
                                <a:latin typeface="Cambria Math" panose="02040503050406030204" pitchFamily="18" charset="0"/>
                              </a:rPr>
                              <m:t>𝒏</m:t>
                            </m:r>
                          </m:e>
                          <m:sup>
                            <m:r>
                              <a:rPr lang="en-US" altLang="zh-CN" b="1" i="1">
                                <a:solidFill>
                                  <a:srgbClr val="C00000"/>
                                </a:solidFill>
                                <a:latin typeface="Cambria Math" panose="02040503050406030204" pitchFamily="18" charset="0"/>
                              </a:rPr>
                              <m:t>𝒅</m:t>
                            </m:r>
                          </m:sup>
                        </m:sSup>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𝐥𝐨𝐠</m:t>
                            </m:r>
                          </m:e>
                          <m:sub>
                            <m:r>
                              <a:rPr lang="en-US" altLang="zh-CN" b="1" i="1">
                                <a:solidFill>
                                  <a:srgbClr val="C00000"/>
                                </a:solidFill>
                                <a:latin typeface="Cambria Math" panose="02040503050406030204" pitchFamily="18" charset="0"/>
                              </a:rPr>
                              <m:t>𝒃</m:t>
                            </m:r>
                          </m:sub>
                        </m:sSub>
                        <m:r>
                          <a:rPr lang="en-US" altLang="zh-CN" b="1" i="1">
                            <a:solidFill>
                              <a:srgbClr val="C00000"/>
                            </a:solidFill>
                            <a:latin typeface="Cambria Math" panose="02040503050406030204" pitchFamily="18" charset="0"/>
                          </a:rPr>
                          <m:t>𝒏</m:t>
                        </m:r>
                      </m:e>
                    </m:d>
                  </m:oMath>
                </a14:m>
                <a:endParaRPr lang="en-US" altLang="zh-CN" b="1" i="1">
                  <a:solidFill>
                    <a:srgbClr val="C00000"/>
                  </a:solidFill>
                  <a:latin typeface="Cambria Math" panose="02040503050406030204" pitchFamily="18" charset="0"/>
                </a:endParaRPr>
              </a:p>
              <a:p>
                <a:pPr marL="285750" indent="-285750">
                  <a:spcBef>
                    <a:spcPts val="600"/>
                  </a:spcBef>
                  <a:spcAft>
                    <a:spcPts val="600"/>
                  </a:spcAft>
                  <a:buFont typeface="Arial" panose="020B0604020202020204" pitchFamily="34" charset="0"/>
                  <a:buChar char="•"/>
                </a:pPr>
                <a14:m>
                  <m:oMath xmlns:m="http://schemas.openxmlformats.org/officeDocument/2006/math">
                    <m:r>
                      <a:rPr lang="en-US" altLang="zh-CN" b="1" i="1">
                        <a:solidFill>
                          <a:srgbClr val="C00000"/>
                        </a:solidFill>
                        <a:latin typeface="Cambria Math" panose="02040503050406030204" pitchFamily="18" charset="0"/>
                      </a:rPr>
                      <m:t>𝒂</m:t>
                    </m:r>
                    <m:r>
                      <a:rPr lang="en-US" altLang="zh-CN" b="1" i="1">
                        <a:solidFill>
                          <a:srgbClr val="C00000"/>
                        </a:solidFill>
                        <a:latin typeface="Cambria Math" panose="02040503050406030204" pitchFamily="18" charset="0"/>
                      </a:rPr>
                      <m:t>&gt;</m:t>
                    </m:r>
                    <m:sSup>
                      <m:sSupPr>
                        <m:ctrlPr>
                          <a:rPr lang="en-US" altLang="zh-CN" b="1" i="1">
                            <a:solidFill>
                              <a:srgbClr val="C00000"/>
                            </a:solidFill>
                            <a:latin typeface="Cambria Math" panose="02040503050406030204" pitchFamily="18" charset="0"/>
                          </a:rPr>
                        </m:ctrlPr>
                      </m:sSupPr>
                      <m:e>
                        <m:r>
                          <a:rPr lang="en-US" altLang="zh-CN" b="1" i="1">
                            <a:solidFill>
                              <a:srgbClr val="C00000"/>
                            </a:solidFill>
                            <a:latin typeface="Cambria Math" panose="02040503050406030204" pitchFamily="18" charset="0"/>
                          </a:rPr>
                          <m:t>𝒃</m:t>
                        </m:r>
                      </m:e>
                      <m:sup>
                        <m:r>
                          <a:rPr lang="en-US" altLang="zh-CN" b="1" i="1">
                            <a:solidFill>
                              <a:srgbClr val="C00000"/>
                            </a:solidFill>
                            <a:latin typeface="Cambria Math" panose="02040503050406030204" pitchFamily="18" charset="0"/>
                          </a:rPr>
                          <m:t>𝒅</m:t>
                        </m:r>
                      </m:sup>
                    </m:sSup>
                  </m:oMath>
                </a14:m>
                <a:r>
                  <a:rPr lang="zh-CN" altLang="en-US" b="1">
                    <a:solidFill>
                      <a:schemeClr val="accent6">
                        <a:lumMod val="50000"/>
                      </a:schemeClr>
                    </a:solidFill>
                  </a:rPr>
                  <a:t>：小问题比较多，治理阶段时间相对少</a:t>
                </a:r>
                <a:endParaRPr lang="en-US" altLang="zh-CN" b="1">
                  <a:solidFill>
                    <a:schemeClr val="accent6">
                      <a:lumMod val="50000"/>
                    </a:schemeClr>
                  </a:solidFill>
                </a:endParaRPr>
              </a:p>
              <a:p>
                <a:pPr marL="742950" lvl="1" indent="-285750">
                  <a:spcBef>
                    <a:spcPts val="600"/>
                  </a:spcBef>
                  <a:spcAft>
                    <a:spcPts val="600"/>
                  </a:spcAft>
                  <a:buFont typeface="Arial" panose="020B0604020202020204" pitchFamily="34" charset="0"/>
                  <a:buChar char="•"/>
                </a:pPr>
                <a14:m>
                  <m:oMath xmlns:m="http://schemas.openxmlformats.org/officeDocument/2006/math">
                    <m:r>
                      <a:rPr lang="en-US" altLang="zh-CN" b="1">
                        <a:solidFill>
                          <a:schemeClr val="accent2">
                            <a:lumMod val="50000"/>
                          </a:schemeClr>
                        </a:solidFill>
                        <a:latin typeface="Cambria Math" panose="02040503050406030204" pitchFamily="18" charset="0"/>
                        <a:ea typeface="楷体" panose="02010609060101010101" pitchFamily="49" charset="-122"/>
                      </a:rPr>
                      <m:t>𝒇</m:t>
                    </m:r>
                    <m:r>
                      <a:rPr lang="en-US" altLang="zh-CN" b="1">
                        <a:solidFill>
                          <a:schemeClr val="accent2">
                            <a:lumMod val="50000"/>
                          </a:schemeClr>
                        </a:solidFill>
                        <a:latin typeface="Cambria Math" panose="02040503050406030204" pitchFamily="18" charset="0"/>
                        <a:ea typeface="楷体" panose="02010609060101010101" pitchFamily="49" charset="-122"/>
                      </a:rPr>
                      <m:t>(</m:t>
                    </m:r>
                    <m:r>
                      <a:rPr lang="en-US" altLang="zh-CN" b="1">
                        <a:solidFill>
                          <a:schemeClr val="accent2">
                            <a:lumMod val="50000"/>
                          </a:schemeClr>
                        </a:solidFill>
                        <a:latin typeface="Cambria Math" panose="02040503050406030204" pitchFamily="18" charset="0"/>
                        <a:ea typeface="楷体" panose="02010609060101010101" pitchFamily="49" charset="-122"/>
                      </a:rPr>
                      <m:t>𝒏</m:t>
                    </m:r>
                    <m:r>
                      <a:rPr lang="en-US" altLang="zh-CN" b="1">
                        <a:solidFill>
                          <a:schemeClr val="accent2">
                            <a:lumMod val="50000"/>
                          </a:schemeClr>
                        </a:solidFill>
                        <a:latin typeface="Cambria Math" panose="02040503050406030204" pitchFamily="18" charset="0"/>
                        <a:ea typeface="楷体" panose="02010609060101010101" pitchFamily="49" charset="-122"/>
                      </a:rPr>
                      <m:t>)</m:t>
                    </m:r>
                  </m:oMath>
                </a14:m>
                <a:r>
                  <a:rPr lang="zh-CN" altLang="en-US" b="1">
                    <a:solidFill>
                      <a:schemeClr val="accent2">
                        <a:lumMod val="50000"/>
                      </a:schemeClr>
                    </a:solidFill>
                    <a:latin typeface="楷体" panose="02010609060101010101" pitchFamily="49" charset="-122"/>
                    <a:ea typeface="楷体" panose="02010609060101010101" pitchFamily="49" charset="-122"/>
                  </a:rPr>
                  <a:t>是</a:t>
                </a:r>
                <a14:m>
                  <m:oMath xmlns:m="http://schemas.openxmlformats.org/officeDocument/2006/math">
                    <m:r>
                      <a:rPr lang="en-US" altLang="zh-CN" b="1" i="1">
                        <a:solidFill>
                          <a:srgbClr val="C00000"/>
                        </a:solidFill>
                        <a:latin typeface="Cambria Math" panose="02040503050406030204" pitchFamily="18" charset="0"/>
                      </a:rPr>
                      <m:t>𝑶</m:t>
                    </m:r>
                    <m:d>
                      <m:dPr>
                        <m:ctrlPr>
                          <a:rPr lang="en-US" altLang="zh-CN" b="1" i="1">
                            <a:solidFill>
                              <a:srgbClr val="C00000"/>
                            </a:solidFill>
                            <a:latin typeface="Cambria Math" panose="02040503050406030204" pitchFamily="18" charset="0"/>
                          </a:rPr>
                        </m:ctrlPr>
                      </m:dPr>
                      <m:e>
                        <m:sSup>
                          <m:sSupPr>
                            <m:ctrlPr>
                              <a:rPr lang="en-US" altLang="zh-CN" b="1" i="1">
                                <a:solidFill>
                                  <a:srgbClr val="C00000"/>
                                </a:solidFill>
                                <a:latin typeface="Cambria Math" panose="02040503050406030204" pitchFamily="18" charset="0"/>
                              </a:rPr>
                            </m:ctrlPr>
                          </m:sSupPr>
                          <m:e>
                            <m:r>
                              <a:rPr lang="en-US" altLang="zh-CN" b="1" i="1">
                                <a:solidFill>
                                  <a:srgbClr val="C00000"/>
                                </a:solidFill>
                                <a:latin typeface="Cambria Math" panose="02040503050406030204" pitchFamily="18" charset="0"/>
                              </a:rPr>
                              <m:t>𝒏</m:t>
                            </m:r>
                          </m:e>
                          <m:sup>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𝐥𝐨𝐠</m:t>
                                </m:r>
                              </m:e>
                              <m:sub>
                                <m:r>
                                  <a:rPr lang="en-US" altLang="zh-CN" b="1" i="1">
                                    <a:solidFill>
                                      <a:srgbClr val="C00000"/>
                                    </a:solidFill>
                                    <a:latin typeface="Cambria Math" panose="02040503050406030204" pitchFamily="18" charset="0"/>
                                  </a:rPr>
                                  <m:t>𝒃</m:t>
                                </m:r>
                              </m:sub>
                            </m:sSub>
                            <m:r>
                              <a:rPr lang="en-US" altLang="zh-CN" b="1" i="1">
                                <a:solidFill>
                                  <a:srgbClr val="C00000"/>
                                </a:solidFill>
                                <a:latin typeface="Cambria Math" panose="02040503050406030204" pitchFamily="18" charset="0"/>
                              </a:rPr>
                              <m:t>𝒂</m:t>
                            </m:r>
                          </m:sup>
                        </m:sSup>
                      </m:e>
                    </m:d>
                  </m:oMath>
                </a14:m>
                <a:endParaRPr lang="en-US" altLang="zh-CN" b="1" i="1">
                  <a:solidFill>
                    <a:srgbClr val="C00000"/>
                  </a:solidFill>
                  <a:latin typeface="Cambria Math" panose="02040503050406030204" pitchFamily="18"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6396414" y="2517984"/>
                <a:ext cx="5078539" cy="3123740"/>
              </a:xfrm>
              <a:prstGeom prst="rect">
                <a:avLst/>
              </a:prstGeom>
              <a:blipFill rotWithShape="1">
                <a:blip r:embed="rId4"/>
                <a:stretch>
                  <a:fillRect l="-1" t="-7" r="10" b="12"/>
                </a:stretch>
              </a:blipFill>
            </p:spPr>
            <p:txBody>
              <a:bodyPr/>
              <a:lstStyle/>
              <a:p>
                <a:r>
                  <a:rPr lang="zh-CN" altLang="en-US">
                    <a:noFill/>
                  </a:rPr>
                  <a:t> </a:t>
                </a:r>
              </a:p>
            </p:txBody>
          </p:sp>
        </mc:Fallback>
      </mc:AlternateContent>
      <p:sp>
        <p:nvSpPr>
          <p:cNvPr id="13" name="文本框 12"/>
          <p:cNvSpPr txBox="1"/>
          <p:nvPr/>
        </p:nvSpPr>
        <p:spPr>
          <a:xfrm>
            <a:off x="6396414" y="5712814"/>
            <a:ext cx="4618048" cy="369332"/>
          </a:xfrm>
          <a:prstGeom prst="rect">
            <a:avLst/>
          </a:prstGeom>
          <a:solidFill>
            <a:schemeClr val="accent2">
              <a:lumMod val="20000"/>
              <a:lumOff val="80000"/>
            </a:schemeClr>
          </a:solidFill>
        </p:spPr>
        <p:txBody>
          <a:bodyPr wrap="square" rtlCol="0">
            <a:spAutoFit/>
          </a:bodyPr>
          <a:lstStyle/>
          <a:p>
            <a:r>
              <a:rPr lang="zh-CN" altLang="en-US" b="1">
                <a:solidFill>
                  <a:schemeClr val="accent2">
                    <a:lumMod val="50000"/>
                  </a:schemeClr>
                </a:solidFill>
              </a:rPr>
              <a:t>分解出的小问题越多，算法效率相对会越低</a:t>
            </a:r>
            <a:endParaRPr lang="zh-CN" altLang="en-US" b="1">
              <a:solidFill>
                <a:schemeClr val="accent2">
                  <a:lumMod val="50000"/>
                </a:schemeClr>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分治算法与递推关系式</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主定理运用练习</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1111752" y="1460409"/>
                <a:ext cx="7604651" cy="1815882"/>
              </a:xfrm>
              <a:prstGeom prst="rect">
                <a:avLst/>
              </a:prstGeom>
              <a:solidFill>
                <a:schemeClr val="accent6">
                  <a:lumMod val="20000"/>
                  <a:lumOff val="80000"/>
                  <a:alpha val="50000"/>
                </a:schemeClr>
              </a:solidFill>
            </p:spPr>
            <p:txBody>
              <a:bodyPr wrap="square" rtlCol="0">
                <a:spAutoFit/>
              </a:bodyPr>
              <a:lstStyle/>
              <a:p>
                <a:pPr>
                  <a:spcBef>
                    <a:spcPts val="1200"/>
                  </a:spcBef>
                  <a:spcAft>
                    <a:spcPts val="1200"/>
                  </a:spcAft>
                </a:pPr>
                <a:r>
                  <a:rPr lang="zh-CN" altLang="en-US" sz="2400" b="1">
                    <a:solidFill>
                      <a:srgbClr val="002060"/>
                    </a:solidFill>
                    <a:latin typeface="楷体" panose="02010609060101010101" pitchFamily="49" charset="-122"/>
                    <a:ea typeface="楷体" panose="02010609060101010101" pitchFamily="49" charset="-122"/>
                  </a:rPr>
                  <a:t>对于归并排序算法的递推关系式</a:t>
                </a:r>
                <a14:m>
                  <m:oMath xmlns:m="http://schemas.openxmlformats.org/officeDocument/2006/math">
                    <m:r>
                      <a:rPr lang="en-US" altLang="zh-CN" sz="2400" b="1" i="1" smtClean="0">
                        <a:solidFill>
                          <a:srgbClr val="002060"/>
                        </a:solidFill>
                        <a:latin typeface="Cambria Math" panose="02040503050406030204" pitchFamily="18" charset="0"/>
                      </a:rPr>
                      <m:t>𝒇</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𝒏</m:t>
                    </m:r>
                    <m:r>
                      <a:rPr lang="en-US" altLang="zh-CN" sz="2400" b="1" i="1" smtClean="0">
                        <a:solidFill>
                          <a:srgbClr val="002060"/>
                        </a:solidFill>
                        <a:latin typeface="Cambria Math" panose="02040503050406030204" pitchFamily="18" charset="0"/>
                      </a:rPr>
                      <m:t>) = </m:t>
                    </m:r>
                    <m:r>
                      <a:rPr lang="en-US" altLang="zh-CN" sz="2400" b="1" i="1" smtClean="0">
                        <a:solidFill>
                          <a:srgbClr val="002060"/>
                        </a:solidFill>
                        <a:latin typeface="Cambria Math" panose="02040503050406030204" pitchFamily="18" charset="0"/>
                      </a:rPr>
                      <m:t>𝟐</m:t>
                    </m:r>
                    <m:r>
                      <a:rPr lang="en-US" altLang="zh-CN" sz="2400" b="1" i="1" smtClean="0">
                        <a:solidFill>
                          <a:srgbClr val="002060"/>
                        </a:solidFill>
                        <a:latin typeface="Cambria Math" panose="02040503050406030204" pitchFamily="18" charset="0"/>
                      </a:rPr>
                      <m:t>𝒇</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𝒏</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𝟐</m:t>
                    </m:r>
                    <m:r>
                      <a:rPr lang="en-US" altLang="zh-CN" sz="2400" b="1" i="1" smtClean="0">
                        <a:solidFill>
                          <a:srgbClr val="002060"/>
                        </a:solidFill>
                        <a:latin typeface="Cambria Math" panose="02040503050406030204" pitchFamily="18" charset="0"/>
                      </a:rPr>
                      <m:t>) + </m:t>
                    </m:r>
                    <m:r>
                      <a:rPr lang="en-US" altLang="zh-CN" sz="2400" b="1" i="1" smtClean="0">
                        <a:solidFill>
                          <a:srgbClr val="002060"/>
                        </a:solidFill>
                        <a:latin typeface="Cambria Math" panose="02040503050406030204" pitchFamily="18" charset="0"/>
                      </a:rPr>
                      <m:t>𝒏</m:t>
                    </m:r>
                  </m:oMath>
                </a14:m>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1200"/>
                  </a:spcBef>
                  <a:spcAft>
                    <a:spcPts val="1200"/>
                  </a:spcAft>
                  <a:buFont typeface="Arial" panose="020B0604020202020204" pitchFamily="34" charset="0"/>
                  <a:buChar char="•"/>
                </a:pPr>
                <a:r>
                  <a:rPr lang="zh-CN" altLang="en-US" sz="2400" b="1">
                    <a:solidFill>
                      <a:schemeClr val="tx2">
                        <a:lumMod val="50000"/>
                      </a:schemeClr>
                    </a:solidFill>
                  </a:rPr>
                  <a:t>这时有</a:t>
                </a:r>
                <a14:m>
                  <m:oMath xmlns:m="http://schemas.openxmlformats.org/officeDocument/2006/math">
                    <m:r>
                      <a:rPr lang="en-US" altLang="zh-CN" sz="2400" b="1" i="1" smtClean="0">
                        <a:solidFill>
                          <a:schemeClr val="tx2">
                            <a:lumMod val="50000"/>
                          </a:schemeClr>
                        </a:solidFill>
                        <a:latin typeface="Cambria Math" panose="02040503050406030204" pitchFamily="18" charset="0"/>
                      </a:rPr>
                      <m:t>𝒂</m:t>
                    </m:r>
                    <m:r>
                      <a:rPr lang="en-US" altLang="zh-CN" sz="2400" b="1" i="1" smtClean="0">
                        <a:solidFill>
                          <a:schemeClr val="tx2">
                            <a:lumMod val="50000"/>
                          </a:schemeClr>
                        </a:solidFill>
                        <a:latin typeface="Cambria Math" panose="02040503050406030204" pitchFamily="18" charset="0"/>
                      </a:rPr>
                      <m:t>=</m:t>
                    </m:r>
                    <m:r>
                      <a:rPr lang="en-US" altLang="zh-CN" sz="2400" b="1" i="1" smtClean="0">
                        <a:solidFill>
                          <a:schemeClr val="tx2">
                            <a:lumMod val="50000"/>
                          </a:schemeClr>
                        </a:solidFill>
                        <a:latin typeface="Cambria Math" panose="02040503050406030204" pitchFamily="18" charset="0"/>
                      </a:rPr>
                      <m:t>𝟐</m:t>
                    </m:r>
                    <m:r>
                      <a:rPr lang="en-US" altLang="zh-CN" sz="2400" b="1" i="1" smtClean="0">
                        <a:solidFill>
                          <a:schemeClr val="tx2">
                            <a:lumMod val="50000"/>
                          </a:schemeClr>
                        </a:solidFill>
                        <a:latin typeface="Cambria Math" panose="02040503050406030204" pitchFamily="18" charset="0"/>
                      </a:rPr>
                      <m:t>, </m:t>
                    </m:r>
                    <m:r>
                      <a:rPr lang="en-US" altLang="zh-CN" sz="2400" b="1" i="1" smtClean="0">
                        <a:solidFill>
                          <a:schemeClr val="tx2">
                            <a:lumMod val="50000"/>
                          </a:schemeClr>
                        </a:solidFill>
                        <a:latin typeface="Cambria Math" panose="02040503050406030204" pitchFamily="18" charset="0"/>
                      </a:rPr>
                      <m:t>𝒃</m:t>
                    </m:r>
                    <m:r>
                      <a:rPr lang="en-US" altLang="zh-CN" sz="2400" b="1" i="1" smtClean="0">
                        <a:solidFill>
                          <a:schemeClr val="tx2">
                            <a:lumMod val="50000"/>
                          </a:schemeClr>
                        </a:solidFill>
                        <a:latin typeface="Cambria Math" panose="02040503050406030204" pitchFamily="18" charset="0"/>
                      </a:rPr>
                      <m:t>=</m:t>
                    </m:r>
                    <m:r>
                      <a:rPr lang="en-US" altLang="zh-CN" sz="2400" b="1" i="1" smtClean="0">
                        <a:solidFill>
                          <a:schemeClr val="tx2">
                            <a:lumMod val="50000"/>
                          </a:schemeClr>
                        </a:solidFill>
                        <a:latin typeface="Cambria Math" panose="02040503050406030204" pitchFamily="18" charset="0"/>
                      </a:rPr>
                      <m:t>𝟐</m:t>
                    </m:r>
                    <m:r>
                      <a:rPr lang="en-US" altLang="zh-CN" sz="2400" b="1" i="1" smtClean="0">
                        <a:solidFill>
                          <a:schemeClr val="tx2">
                            <a:lumMod val="50000"/>
                          </a:schemeClr>
                        </a:solidFill>
                        <a:latin typeface="Cambria Math" panose="02040503050406030204" pitchFamily="18" charset="0"/>
                      </a:rPr>
                      <m:t>, </m:t>
                    </m:r>
                    <m:r>
                      <a:rPr lang="en-US" altLang="zh-CN" sz="2400" b="1" i="1" smtClean="0">
                        <a:solidFill>
                          <a:schemeClr val="tx2">
                            <a:lumMod val="50000"/>
                          </a:schemeClr>
                        </a:solidFill>
                        <a:latin typeface="Cambria Math" panose="02040503050406030204" pitchFamily="18" charset="0"/>
                      </a:rPr>
                      <m:t>𝒅</m:t>
                    </m:r>
                    <m:r>
                      <a:rPr lang="en-US" altLang="zh-CN" sz="2400" b="1" i="1" smtClean="0">
                        <a:solidFill>
                          <a:schemeClr val="tx2">
                            <a:lumMod val="50000"/>
                          </a:schemeClr>
                        </a:solidFill>
                        <a:latin typeface="Cambria Math" panose="02040503050406030204" pitchFamily="18" charset="0"/>
                      </a:rPr>
                      <m:t>=</m:t>
                    </m:r>
                    <m:r>
                      <a:rPr lang="en-US" altLang="zh-CN" sz="2400" b="1" i="1" smtClean="0">
                        <a:solidFill>
                          <a:schemeClr val="tx2">
                            <a:lumMod val="50000"/>
                          </a:schemeClr>
                        </a:solidFill>
                        <a:latin typeface="Cambria Math" panose="02040503050406030204" pitchFamily="18" charset="0"/>
                      </a:rPr>
                      <m:t>𝟏</m:t>
                    </m:r>
                  </m:oMath>
                </a14:m>
                <a:r>
                  <a:rPr lang="zh-CN" altLang="en-US" sz="2400" b="1">
                    <a:solidFill>
                      <a:schemeClr val="tx2">
                        <a:lumMod val="50000"/>
                      </a:schemeClr>
                    </a:solidFill>
                  </a:rPr>
                  <a:t>，因此有 </a:t>
                </a:r>
                <a14:m>
                  <m:oMath xmlns:m="http://schemas.openxmlformats.org/officeDocument/2006/math">
                    <m:r>
                      <a:rPr lang="en-US" altLang="zh-CN" sz="2400" b="1" i="1" smtClean="0">
                        <a:solidFill>
                          <a:srgbClr val="C00000"/>
                        </a:solidFill>
                        <a:latin typeface="Cambria Math" panose="02040503050406030204" pitchFamily="18" charset="0"/>
                      </a:rPr>
                      <m:t>𝒂</m:t>
                    </m:r>
                    <m:r>
                      <a:rPr lang="en-US" altLang="zh-CN" sz="2400" b="1" i="1" smtClean="0">
                        <a:solidFill>
                          <a:srgbClr val="C00000"/>
                        </a:solidFill>
                        <a:latin typeface="Cambria Math" panose="02040503050406030204" pitchFamily="18" charset="0"/>
                      </a:rPr>
                      <m:t>=</m:t>
                    </m:r>
                    <m:sSup>
                      <m:sSupPr>
                        <m:ctrlPr>
                          <a:rPr lang="en-US" altLang="zh-CN" sz="2400" b="1" i="1" smtClean="0">
                            <a:solidFill>
                              <a:srgbClr val="C00000"/>
                            </a:solidFill>
                            <a:latin typeface="Cambria Math" panose="02040503050406030204" pitchFamily="18" charset="0"/>
                          </a:rPr>
                        </m:ctrlPr>
                      </m:sSupPr>
                      <m:e>
                        <m:r>
                          <a:rPr lang="en-US" altLang="zh-CN" sz="2400" b="1" i="1" smtClean="0">
                            <a:solidFill>
                              <a:srgbClr val="C00000"/>
                            </a:solidFill>
                            <a:latin typeface="Cambria Math" panose="02040503050406030204" pitchFamily="18" charset="0"/>
                          </a:rPr>
                          <m:t>𝒃</m:t>
                        </m:r>
                      </m:e>
                      <m:sup>
                        <m:r>
                          <a:rPr lang="en-US" altLang="zh-CN" sz="2400" b="1" i="1">
                            <a:solidFill>
                              <a:srgbClr val="C00000"/>
                            </a:solidFill>
                            <a:latin typeface="Cambria Math" panose="02040503050406030204" pitchFamily="18" charset="0"/>
                          </a:rPr>
                          <m:t>𝒅</m:t>
                        </m:r>
                      </m:sup>
                    </m:sSup>
                  </m:oMath>
                </a14:m>
                <a:r>
                  <a:rPr lang="en-US" altLang="zh-CN" sz="2400" b="1">
                    <a:solidFill>
                      <a:schemeClr val="tx2">
                        <a:lumMod val="50000"/>
                      </a:schemeClr>
                    </a:solidFill>
                  </a:rPr>
                  <a:t> </a:t>
                </a:r>
                <a:endParaRPr lang="en-US" altLang="zh-CN" sz="2400" b="1">
                  <a:solidFill>
                    <a:schemeClr val="tx2">
                      <a:lumMod val="50000"/>
                    </a:schemeClr>
                  </a:solidFill>
                </a:endParaRPr>
              </a:p>
              <a:p>
                <a:pPr marL="342900" indent="-342900">
                  <a:spcBef>
                    <a:spcPts val="1200"/>
                  </a:spcBef>
                  <a:spcAft>
                    <a:spcPts val="1200"/>
                  </a:spcAft>
                  <a:buFont typeface="Arial" panose="020B0604020202020204" pitchFamily="34" charset="0"/>
                  <a:buChar char="•"/>
                </a:pPr>
                <a:r>
                  <a:rPr lang="zh-CN" altLang="en-US" sz="2400" b="1">
                    <a:solidFill>
                      <a:schemeClr val="tx2">
                        <a:lumMod val="50000"/>
                      </a:schemeClr>
                    </a:solidFill>
                  </a:rPr>
                  <a:t>从而归并排序算法的时间复杂度是 </a:t>
                </a:r>
                <a14:m>
                  <m:oMath xmlns:m="http://schemas.openxmlformats.org/officeDocument/2006/math">
                    <m:r>
                      <a:rPr lang="en-US" altLang="zh-CN" sz="2400" b="1" i="1" smtClean="0">
                        <a:solidFill>
                          <a:srgbClr val="C00000"/>
                        </a:solidFill>
                        <a:latin typeface="Cambria Math" panose="02040503050406030204" pitchFamily="18" charset="0"/>
                      </a:rPr>
                      <m:t>𝑶</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𝒏</m:t>
                    </m:r>
                    <m:r>
                      <a:rPr lang="en-US" altLang="zh-CN" sz="2400" b="1" i="0" smtClean="0">
                        <a:solidFill>
                          <a:srgbClr val="C00000"/>
                        </a:solidFill>
                        <a:latin typeface="Cambria Math" panose="02040503050406030204" pitchFamily="18" charset="0"/>
                      </a:rPr>
                      <m:t>𝐥𝐨𝐠</m:t>
                    </m:r>
                    <m:r>
                      <a:rPr lang="en-US" altLang="zh-CN" sz="2400" b="1" i="1" smtClean="0">
                        <a:solidFill>
                          <a:srgbClr val="C00000"/>
                        </a:solidFill>
                        <a:latin typeface="Cambria Math" panose="02040503050406030204" pitchFamily="18" charset="0"/>
                      </a:rPr>
                      <m:t> </m:t>
                    </m:r>
                    <m:r>
                      <a:rPr lang="en-US" altLang="zh-CN" sz="2400" b="1" i="1" smtClean="0">
                        <a:solidFill>
                          <a:srgbClr val="C00000"/>
                        </a:solidFill>
                        <a:latin typeface="Cambria Math" panose="02040503050406030204" pitchFamily="18" charset="0"/>
                      </a:rPr>
                      <m:t>𝒏</m:t>
                    </m:r>
                    <m:r>
                      <a:rPr lang="en-US" altLang="zh-CN" sz="2400" b="1" i="1">
                        <a:solidFill>
                          <a:srgbClr val="C00000"/>
                        </a:solidFill>
                        <a:latin typeface="Cambria Math" panose="02040503050406030204" pitchFamily="18" charset="0"/>
                      </a:rPr>
                      <m:t>)</m:t>
                    </m:r>
                  </m:oMath>
                </a14:m>
                <a:r>
                  <a:rPr lang="en-US" altLang="zh-CN" sz="2400" b="1">
                    <a:solidFill>
                      <a:schemeClr val="tx2">
                        <a:lumMod val="50000"/>
                      </a:schemeClr>
                    </a:solidFill>
                  </a:rPr>
                  <a:t> </a:t>
                </a:r>
                <a:endParaRPr lang="en-US" altLang="zh-CN" sz="2400" b="1">
                  <a:solidFill>
                    <a:schemeClr val="tx2">
                      <a:lumMod val="50000"/>
                    </a:schemeClr>
                  </a:solidFill>
                </a:endParaRPr>
              </a:p>
            </p:txBody>
          </p:sp>
        </mc:Choice>
        <mc:Fallback>
          <p:sp>
            <p:nvSpPr>
              <p:cNvPr id="2" name="文本框 1"/>
              <p:cNvSpPr txBox="1">
                <a:spLocks noRot="1" noChangeAspect="1" noMove="1" noResize="1" noEditPoints="1" noAdjustHandles="1" noChangeArrowheads="1" noChangeShapeType="1" noTextEdit="1"/>
              </p:cNvSpPr>
              <p:nvPr/>
            </p:nvSpPr>
            <p:spPr>
              <a:xfrm>
                <a:off x="1111752" y="1460409"/>
                <a:ext cx="7604651" cy="1815882"/>
              </a:xfrm>
              <a:prstGeom prst="rect">
                <a:avLst/>
              </a:prstGeom>
              <a:blipFill rotWithShape="1">
                <a:blip r:embed="rId1"/>
                <a:stretch>
                  <a:fillRect l="-7" t="-30" r="5" b="1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矩形 2"/>
              <p:cNvSpPr/>
              <p:nvPr/>
            </p:nvSpPr>
            <p:spPr>
              <a:xfrm>
                <a:off x="1111752" y="3881529"/>
                <a:ext cx="7604651" cy="1815882"/>
              </a:xfrm>
              <a:prstGeom prst="rect">
                <a:avLst/>
              </a:prstGeom>
              <a:solidFill>
                <a:schemeClr val="accent6">
                  <a:lumMod val="20000"/>
                  <a:lumOff val="80000"/>
                  <a:alpha val="50000"/>
                </a:schemeClr>
              </a:solidFill>
            </p:spPr>
            <p:txBody>
              <a:bodyPr wrap="square">
                <a:spAutoFit/>
              </a:bodyPr>
              <a:lstStyle/>
              <a:p>
                <a:pPr>
                  <a:spcBef>
                    <a:spcPts val="1200"/>
                  </a:spcBef>
                  <a:spcAft>
                    <a:spcPts val="1200"/>
                  </a:spcAft>
                </a:pPr>
                <a:r>
                  <a:rPr lang="zh-CN" altLang="en-US" sz="2400" b="1">
                    <a:solidFill>
                      <a:srgbClr val="002060"/>
                    </a:solidFill>
                    <a:latin typeface="楷体" panose="02010609060101010101" pitchFamily="49" charset="-122"/>
                    <a:ea typeface="楷体" panose="02010609060101010101" pitchFamily="49" charset="-122"/>
                  </a:rPr>
                  <a:t>对于二分查找算法的递推关系式</a:t>
                </a:r>
                <a14:m>
                  <m:oMath xmlns:m="http://schemas.openxmlformats.org/officeDocument/2006/math">
                    <m:r>
                      <a:rPr lang="zh-CN" altLang="en-US" sz="2400" b="1">
                        <a:solidFill>
                          <a:srgbClr val="002060"/>
                        </a:solidFill>
                        <a:latin typeface="Cambria Math" panose="02040503050406030204" pitchFamily="18" charset="0"/>
                        <a:ea typeface="楷体" panose="02010609060101010101" pitchFamily="49" charset="-122"/>
                      </a:rPr>
                      <m:t>𝒇</m:t>
                    </m:r>
                    <m:r>
                      <a:rPr lang="zh-CN" altLang="en-US" sz="2400" b="1">
                        <a:solidFill>
                          <a:srgbClr val="002060"/>
                        </a:solidFill>
                        <a:latin typeface="Cambria Math" panose="02040503050406030204" pitchFamily="18" charset="0"/>
                        <a:ea typeface="楷体" panose="02010609060101010101" pitchFamily="49" charset="-122"/>
                      </a:rPr>
                      <m:t>(</m:t>
                    </m:r>
                    <m:r>
                      <a:rPr lang="zh-CN" altLang="en-US" sz="2400" b="1">
                        <a:solidFill>
                          <a:srgbClr val="002060"/>
                        </a:solidFill>
                        <a:latin typeface="Cambria Math" panose="02040503050406030204" pitchFamily="18" charset="0"/>
                        <a:ea typeface="楷体" panose="02010609060101010101" pitchFamily="49" charset="-122"/>
                      </a:rPr>
                      <m:t>𝒏</m:t>
                    </m:r>
                    <m:r>
                      <a:rPr lang="zh-CN" altLang="en-US" sz="2400" b="1">
                        <a:solidFill>
                          <a:srgbClr val="002060"/>
                        </a:solidFill>
                        <a:latin typeface="Cambria Math" panose="02040503050406030204" pitchFamily="18" charset="0"/>
                        <a:ea typeface="楷体" panose="02010609060101010101" pitchFamily="49" charset="-122"/>
                      </a:rPr>
                      <m:t>) = </m:t>
                    </m:r>
                    <m:r>
                      <a:rPr lang="zh-CN" altLang="en-US" sz="2400" b="1">
                        <a:solidFill>
                          <a:srgbClr val="002060"/>
                        </a:solidFill>
                        <a:latin typeface="Cambria Math" panose="02040503050406030204" pitchFamily="18" charset="0"/>
                        <a:ea typeface="楷体" panose="02010609060101010101" pitchFamily="49" charset="-122"/>
                      </a:rPr>
                      <m:t>𝒇</m:t>
                    </m:r>
                    <m:r>
                      <a:rPr lang="zh-CN" altLang="en-US" sz="2400" b="1">
                        <a:solidFill>
                          <a:srgbClr val="002060"/>
                        </a:solidFill>
                        <a:latin typeface="Cambria Math" panose="02040503050406030204" pitchFamily="18" charset="0"/>
                        <a:ea typeface="楷体" panose="02010609060101010101" pitchFamily="49" charset="-122"/>
                      </a:rPr>
                      <m:t>(</m:t>
                    </m:r>
                    <m:r>
                      <a:rPr lang="zh-CN" altLang="en-US" sz="2400" b="1">
                        <a:solidFill>
                          <a:srgbClr val="002060"/>
                        </a:solidFill>
                        <a:latin typeface="Cambria Math" panose="02040503050406030204" pitchFamily="18" charset="0"/>
                        <a:ea typeface="楷体" panose="02010609060101010101" pitchFamily="49" charset="-122"/>
                      </a:rPr>
                      <m:t>𝒏</m:t>
                    </m:r>
                    <m:r>
                      <a:rPr lang="zh-CN" altLang="en-US" sz="2400" b="1">
                        <a:solidFill>
                          <a:srgbClr val="002060"/>
                        </a:solidFill>
                        <a:latin typeface="Cambria Math" panose="02040503050406030204" pitchFamily="18" charset="0"/>
                        <a:ea typeface="楷体" panose="02010609060101010101" pitchFamily="49" charset="-122"/>
                      </a:rPr>
                      <m:t>/</m:t>
                    </m:r>
                    <m:r>
                      <a:rPr lang="zh-CN" altLang="en-US" sz="2400" b="1">
                        <a:solidFill>
                          <a:srgbClr val="002060"/>
                        </a:solidFill>
                        <a:latin typeface="Cambria Math" panose="02040503050406030204" pitchFamily="18" charset="0"/>
                        <a:ea typeface="楷体" panose="02010609060101010101" pitchFamily="49" charset="-122"/>
                      </a:rPr>
                      <m:t>𝟐</m:t>
                    </m:r>
                    <m:r>
                      <a:rPr lang="zh-CN" altLang="en-US" sz="2400" b="1">
                        <a:solidFill>
                          <a:srgbClr val="002060"/>
                        </a:solidFill>
                        <a:latin typeface="Cambria Math" panose="02040503050406030204" pitchFamily="18" charset="0"/>
                        <a:ea typeface="楷体" panose="02010609060101010101" pitchFamily="49" charset="-122"/>
                      </a:rPr>
                      <m:t>) + </m:t>
                    </m:r>
                    <m:r>
                      <a:rPr lang="zh-CN" altLang="en-US" sz="2400" b="1">
                        <a:solidFill>
                          <a:srgbClr val="002060"/>
                        </a:solidFill>
                        <a:latin typeface="Cambria Math" panose="02040503050406030204" pitchFamily="18" charset="0"/>
                        <a:ea typeface="楷体" panose="02010609060101010101" pitchFamily="49" charset="-122"/>
                      </a:rPr>
                      <m:t>𝑪</m:t>
                    </m:r>
                  </m:oMath>
                </a14:m>
                <a:endParaRPr lang="zh-CN" altLang="en-US" sz="2400" b="1">
                  <a:solidFill>
                    <a:srgbClr val="002060"/>
                  </a:solidFill>
                  <a:latin typeface="楷体" panose="02010609060101010101" pitchFamily="49" charset="-122"/>
                  <a:ea typeface="楷体" panose="02010609060101010101" pitchFamily="49" charset="-122"/>
                </a:endParaRPr>
              </a:p>
              <a:p>
                <a:pPr marL="342900" indent="-342900">
                  <a:spcBef>
                    <a:spcPts val="1200"/>
                  </a:spcBef>
                  <a:spcAft>
                    <a:spcPts val="1200"/>
                  </a:spcAft>
                  <a:buFont typeface="Arial" panose="020B0604020202020204" pitchFamily="34" charset="0"/>
                  <a:buChar char="•"/>
                </a:pPr>
                <a:r>
                  <a:rPr lang="zh-CN" altLang="en-US" sz="2400" b="1">
                    <a:solidFill>
                      <a:schemeClr val="tx2">
                        <a:lumMod val="50000"/>
                      </a:schemeClr>
                    </a:solidFill>
                  </a:rPr>
                  <a:t>这时有</a:t>
                </a:r>
                <a14:m>
                  <m:oMath xmlns:m="http://schemas.openxmlformats.org/officeDocument/2006/math">
                    <m:r>
                      <a:rPr lang="zh-CN" altLang="en-US" sz="2400" b="1" i="1" smtClean="0">
                        <a:solidFill>
                          <a:schemeClr val="tx2">
                            <a:lumMod val="50000"/>
                          </a:schemeClr>
                        </a:solidFill>
                        <a:latin typeface="Cambria Math" panose="02040503050406030204" pitchFamily="18" charset="0"/>
                      </a:rPr>
                      <m:t>𝒂</m:t>
                    </m:r>
                    <m:r>
                      <a:rPr lang="zh-CN" altLang="en-US" sz="2400" b="1" i="1" smtClean="0">
                        <a:solidFill>
                          <a:schemeClr val="tx2">
                            <a:lumMod val="50000"/>
                          </a:schemeClr>
                        </a:solidFill>
                        <a:latin typeface="Cambria Math" panose="02040503050406030204" pitchFamily="18" charset="0"/>
                      </a:rPr>
                      <m:t> = </m:t>
                    </m:r>
                    <m:r>
                      <a:rPr lang="zh-CN" altLang="en-US" sz="2400" b="1" i="1">
                        <a:solidFill>
                          <a:schemeClr val="tx2">
                            <a:lumMod val="50000"/>
                          </a:schemeClr>
                        </a:solidFill>
                        <a:latin typeface="Cambria Math" panose="02040503050406030204" pitchFamily="18" charset="0"/>
                      </a:rPr>
                      <m:t>𝟏</m:t>
                    </m:r>
                    <m:r>
                      <a:rPr lang="zh-CN" altLang="en-US" sz="2400" b="1" i="1">
                        <a:solidFill>
                          <a:schemeClr val="tx2">
                            <a:lumMod val="50000"/>
                          </a:schemeClr>
                        </a:solidFill>
                        <a:latin typeface="Cambria Math" panose="02040503050406030204" pitchFamily="18" charset="0"/>
                      </a:rPr>
                      <m:t>, </m:t>
                    </m:r>
                    <m:r>
                      <a:rPr lang="zh-CN" altLang="en-US" sz="2400" b="1" i="1">
                        <a:solidFill>
                          <a:schemeClr val="tx2">
                            <a:lumMod val="50000"/>
                          </a:schemeClr>
                        </a:solidFill>
                        <a:latin typeface="Cambria Math" panose="02040503050406030204" pitchFamily="18" charset="0"/>
                      </a:rPr>
                      <m:t>𝒃</m:t>
                    </m:r>
                    <m:r>
                      <a:rPr lang="zh-CN" altLang="en-US" sz="2400" b="1" i="1">
                        <a:solidFill>
                          <a:schemeClr val="tx2">
                            <a:lumMod val="50000"/>
                          </a:schemeClr>
                        </a:solidFill>
                        <a:latin typeface="Cambria Math" panose="02040503050406030204" pitchFamily="18" charset="0"/>
                      </a:rPr>
                      <m:t> = </m:t>
                    </m:r>
                    <m:r>
                      <a:rPr lang="zh-CN" altLang="en-US" sz="2400" b="1" i="1">
                        <a:solidFill>
                          <a:schemeClr val="tx2">
                            <a:lumMod val="50000"/>
                          </a:schemeClr>
                        </a:solidFill>
                        <a:latin typeface="Cambria Math" panose="02040503050406030204" pitchFamily="18" charset="0"/>
                      </a:rPr>
                      <m:t>𝟐</m:t>
                    </m:r>
                    <m:r>
                      <a:rPr lang="zh-CN" altLang="en-US" sz="2400" b="1" i="1">
                        <a:solidFill>
                          <a:schemeClr val="tx2">
                            <a:lumMod val="50000"/>
                          </a:schemeClr>
                        </a:solidFill>
                        <a:latin typeface="Cambria Math" panose="02040503050406030204" pitchFamily="18" charset="0"/>
                      </a:rPr>
                      <m:t>, </m:t>
                    </m:r>
                    <m:r>
                      <a:rPr lang="zh-CN" altLang="en-US" sz="2400" b="1" i="1">
                        <a:solidFill>
                          <a:schemeClr val="tx2">
                            <a:lumMod val="50000"/>
                          </a:schemeClr>
                        </a:solidFill>
                        <a:latin typeface="Cambria Math" panose="02040503050406030204" pitchFamily="18" charset="0"/>
                      </a:rPr>
                      <m:t>𝒅</m:t>
                    </m:r>
                    <m:r>
                      <a:rPr lang="zh-CN" altLang="en-US" sz="2400" b="1" i="1">
                        <a:solidFill>
                          <a:schemeClr val="tx2">
                            <a:lumMod val="50000"/>
                          </a:schemeClr>
                        </a:solidFill>
                        <a:latin typeface="Cambria Math" panose="02040503050406030204" pitchFamily="18" charset="0"/>
                      </a:rPr>
                      <m:t> = </m:t>
                    </m:r>
                    <m:r>
                      <a:rPr lang="zh-CN" altLang="en-US" sz="2400" b="1" i="1">
                        <a:solidFill>
                          <a:schemeClr val="tx2">
                            <a:lumMod val="50000"/>
                          </a:schemeClr>
                        </a:solidFill>
                        <a:latin typeface="Cambria Math" panose="02040503050406030204" pitchFamily="18" charset="0"/>
                      </a:rPr>
                      <m:t>𝟎</m:t>
                    </m:r>
                  </m:oMath>
                </a14:m>
                <a:r>
                  <a:rPr lang="zh-CN" altLang="en-US" sz="2400" b="1">
                    <a:solidFill>
                      <a:schemeClr val="tx2">
                        <a:lumMod val="50000"/>
                      </a:schemeClr>
                    </a:solidFill>
                  </a:rPr>
                  <a:t>，因此有 </a:t>
                </a:r>
                <a14:m>
                  <m:oMath xmlns:m="http://schemas.openxmlformats.org/officeDocument/2006/math">
                    <m:r>
                      <a:rPr lang="zh-CN" altLang="en-US" sz="2400" b="1" i="1" smtClean="0">
                        <a:solidFill>
                          <a:srgbClr val="C00000"/>
                        </a:solidFill>
                        <a:latin typeface="Cambria Math" panose="02040503050406030204" pitchFamily="18" charset="0"/>
                      </a:rPr>
                      <m:t>𝒂</m:t>
                    </m:r>
                    <m:r>
                      <a:rPr lang="zh-CN" altLang="en-US" sz="2400" b="1" i="1" smtClean="0">
                        <a:solidFill>
                          <a:srgbClr val="C00000"/>
                        </a:solidFill>
                        <a:latin typeface="Cambria Math" panose="02040503050406030204" pitchFamily="18" charset="0"/>
                      </a:rPr>
                      <m:t> = </m:t>
                    </m:r>
                    <m:sSup>
                      <m:sSupPr>
                        <m:ctrlPr>
                          <a:rPr lang="zh-CN" altLang="en-US" sz="2400" b="1" i="1" smtClean="0">
                            <a:solidFill>
                              <a:srgbClr val="C00000"/>
                            </a:solidFill>
                            <a:latin typeface="Cambria Math" panose="02040503050406030204" pitchFamily="18" charset="0"/>
                          </a:rPr>
                        </m:ctrlPr>
                      </m:sSupPr>
                      <m:e>
                        <m:r>
                          <a:rPr lang="zh-CN" altLang="en-US" sz="2400" b="1" i="1" smtClean="0">
                            <a:solidFill>
                              <a:srgbClr val="C00000"/>
                            </a:solidFill>
                            <a:latin typeface="Cambria Math" panose="02040503050406030204" pitchFamily="18" charset="0"/>
                          </a:rPr>
                          <m:t>𝒃</m:t>
                        </m:r>
                      </m:e>
                      <m:sup>
                        <m:r>
                          <a:rPr lang="zh-CN" altLang="en-US" sz="2400" b="1" i="1" smtClean="0">
                            <a:solidFill>
                              <a:srgbClr val="C00000"/>
                            </a:solidFill>
                            <a:latin typeface="Cambria Math" panose="02040503050406030204" pitchFamily="18" charset="0"/>
                          </a:rPr>
                          <m:t>𝒅</m:t>
                        </m:r>
                      </m:sup>
                    </m:sSup>
                  </m:oMath>
                </a14:m>
                <a:r>
                  <a:rPr lang="zh-CN" altLang="en-US" sz="2400" b="1">
                    <a:solidFill>
                      <a:schemeClr val="tx2">
                        <a:lumMod val="50000"/>
                      </a:schemeClr>
                    </a:solidFill>
                  </a:rPr>
                  <a:t> </a:t>
                </a:r>
                <a:endParaRPr lang="zh-CN" altLang="en-US" sz="2400" b="1">
                  <a:solidFill>
                    <a:schemeClr val="tx2">
                      <a:lumMod val="50000"/>
                    </a:schemeClr>
                  </a:solidFill>
                </a:endParaRPr>
              </a:p>
              <a:p>
                <a:pPr marL="342900" indent="-342900">
                  <a:spcBef>
                    <a:spcPts val="1200"/>
                  </a:spcBef>
                  <a:spcAft>
                    <a:spcPts val="1200"/>
                  </a:spcAft>
                  <a:buFont typeface="Arial" panose="020B0604020202020204" pitchFamily="34" charset="0"/>
                  <a:buChar char="•"/>
                </a:pPr>
                <a:r>
                  <a:rPr lang="zh-CN" altLang="en-US" sz="2400" b="1">
                    <a:solidFill>
                      <a:schemeClr val="tx2">
                        <a:lumMod val="50000"/>
                      </a:schemeClr>
                    </a:solidFill>
                  </a:rPr>
                  <a:t>因此二分查找算法的时间复杂度是 </a:t>
                </a:r>
                <a14:m>
                  <m:oMath xmlns:m="http://schemas.openxmlformats.org/officeDocument/2006/math">
                    <m:r>
                      <a:rPr lang="zh-CN" altLang="en-US" sz="2400" b="1" i="1" smtClean="0">
                        <a:solidFill>
                          <a:srgbClr val="C00000"/>
                        </a:solidFill>
                        <a:latin typeface="Cambria Math" panose="02040503050406030204" pitchFamily="18" charset="0"/>
                      </a:rPr>
                      <m:t>𝑶</m:t>
                    </m:r>
                    <m:d>
                      <m:dPr>
                        <m:ctrlPr>
                          <a:rPr lang="zh-CN" altLang="en-US" sz="2400" b="1" i="1" smtClean="0">
                            <a:solidFill>
                              <a:srgbClr val="C00000"/>
                            </a:solidFill>
                            <a:latin typeface="Cambria Math" panose="02040503050406030204" pitchFamily="18" charset="0"/>
                          </a:rPr>
                        </m:ctrlPr>
                      </m:dPr>
                      <m:e>
                        <m:r>
                          <a:rPr lang="zh-CN" altLang="en-US" sz="2400" b="1" i="0" smtClean="0">
                            <a:solidFill>
                              <a:srgbClr val="C00000"/>
                            </a:solidFill>
                            <a:latin typeface="Cambria Math" panose="02040503050406030204" pitchFamily="18" charset="0"/>
                          </a:rPr>
                          <m:t>𝐥𝐨𝐠</m:t>
                        </m:r>
                        <m:r>
                          <a:rPr lang="zh-CN" altLang="en-US" sz="2400" b="1" i="1" smtClean="0">
                            <a:solidFill>
                              <a:srgbClr val="C00000"/>
                            </a:solidFill>
                            <a:latin typeface="Cambria Math" panose="02040503050406030204" pitchFamily="18" charset="0"/>
                          </a:rPr>
                          <m:t> </m:t>
                        </m:r>
                        <m:r>
                          <a:rPr lang="zh-CN" altLang="en-US" sz="2400" b="1" i="1" smtClean="0">
                            <a:solidFill>
                              <a:srgbClr val="C00000"/>
                            </a:solidFill>
                            <a:latin typeface="Cambria Math" panose="02040503050406030204" pitchFamily="18" charset="0"/>
                          </a:rPr>
                          <m:t>𝒏</m:t>
                        </m:r>
                      </m:e>
                    </m:d>
                  </m:oMath>
                </a14:m>
                <a:endParaRPr lang="zh-CN" altLang="en-US" sz="2400" b="1"/>
              </a:p>
            </p:txBody>
          </p:sp>
        </mc:Choice>
        <mc:Fallback>
          <p:sp>
            <p:nvSpPr>
              <p:cNvPr id="3" name="矩形 2"/>
              <p:cNvSpPr>
                <a:spLocks noRot="1" noChangeAspect="1" noMove="1" noResize="1" noEditPoints="1" noAdjustHandles="1" noChangeArrowheads="1" noChangeShapeType="1" noTextEdit="1"/>
              </p:cNvSpPr>
              <p:nvPr/>
            </p:nvSpPr>
            <p:spPr>
              <a:xfrm>
                <a:off x="1111752" y="3881529"/>
                <a:ext cx="7604651" cy="1815882"/>
              </a:xfrm>
              <a:prstGeom prst="rect">
                <a:avLst/>
              </a:prstGeom>
              <a:blipFill rotWithShape="1">
                <a:blip r:embed="rId2"/>
                <a:stretch>
                  <a:fillRect l="-7" t="-23" r="5" b="11"/>
                </a:stretch>
              </a:blipFill>
            </p:spPr>
            <p:txBody>
              <a:bodyPr/>
              <a:lstStyle/>
              <a:p>
                <a:r>
                  <a:rPr lang="zh-CN" altLang="en-US">
                    <a:noFill/>
                  </a:rPr>
                  <a:t> </a:t>
                </a:r>
              </a:p>
            </p:txBody>
          </p:sp>
        </mc:Fallback>
      </mc:AlternateContent>
      <p:cxnSp>
        <p:nvCxnSpPr>
          <p:cNvPr id="6" name="直接连接符 5"/>
          <p:cNvCxnSpPr/>
          <p:nvPr/>
        </p:nvCxnSpPr>
        <p:spPr>
          <a:xfrm>
            <a:off x="6216604" y="2527754"/>
            <a:ext cx="1045969"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216603" y="3249979"/>
            <a:ext cx="1322263"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650779" y="4961766"/>
            <a:ext cx="1138067"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6216604" y="5652500"/>
            <a:ext cx="1170959"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6216603" y="2127414"/>
            <a:ext cx="1045969" cy="369332"/>
          </a:xfrm>
          <a:prstGeom prst="rect">
            <a:avLst/>
          </a:prstGeom>
          <a:solidFill>
            <a:srgbClr val="F0F7EC"/>
          </a:solidFill>
        </p:spPr>
        <p:txBody>
          <a:bodyPr wrap="square" tIns="0" bIns="0" rtlCol="0">
            <a:spAutoFit/>
          </a:bodyPr>
          <a:lstStyle/>
          <a:p>
            <a:pPr algn="ctr"/>
            <a:r>
              <a:rPr lang="en-US" altLang="zh-CN" sz="2400" b="1">
                <a:solidFill>
                  <a:srgbClr val="C00000"/>
                </a:solidFill>
              </a:rPr>
              <a:t>(1)</a:t>
            </a:r>
            <a:endParaRPr lang="zh-CN" altLang="en-US" sz="2400" b="1">
              <a:solidFill>
                <a:srgbClr val="C00000"/>
              </a:solidFill>
            </a:endParaRPr>
          </a:p>
        </p:txBody>
      </p:sp>
      <p:sp>
        <p:nvSpPr>
          <p:cNvPr id="16" name="文本框 15"/>
          <p:cNvSpPr txBox="1"/>
          <p:nvPr/>
        </p:nvSpPr>
        <p:spPr>
          <a:xfrm>
            <a:off x="6193578" y="2842053"/>
            <a:ext cx="1368312" cy="369332"/>
          </a:xfrm>
          <a:prstGeom prst="rect">
            <a:avLst/>
          </a:prstGeom>
          <a:solidFill>
            <a:srgbClr val="F0F7EC"/>
          </a:solidFill>
        </p:spPr>
        <p:txBody>
          <a:bodyPr wrap="square" tIns="0" bIns="0" rtlCol="0">
            <a:spAutoFit/>
          </a:bodyPr>
          <a:lstStyle/>
          <a:p>
            <a:pPr algn="ctr"/>
            <a:r>
              <a:rPr lang="en-US" altLang="zh-CN" sz="2400" b="1">
                <a:solidFill>
                  <a:srgbClr val="C00000"/>
                </a:solidFill>
              </a:rPr>
              <a:t>(2)</a:t>
            </a:r>
            <a:endParaRPr lang="zh-CN" altLang="en-US" sz="2400" b="1">
              <a:solidFill>
                <a:srgbClr val="C00000"/>
              </a:solidFill>
            </a:endParaRPr>
          </a:p>
        </p:txBody>
      </p:sp>
      <p:sp>
        <p:nvSpPr>
          <p:cNvPr id="19" name="文本框 18"/>
          <p:cNvSpPr txBox="1"/>
          <p:nvPr/>
        </p:nvSpPr>
        <p:spPr>
          <a:xfrm>
            <a:off x="6696827" y="4582349"/>
            <a:ext cx="1092019" cy="369332"/>
          </a:xfrm>
          <a:prstGeom prst="rect">
            <a:avLst/>
          </a:prstGeom>
          <a:solidFill>
            <a:srgbClr val="F0F7EC"/>
          </a:solidFill>
        </p:spPr>
        <p:txBody>
          <a:bodyPr wrap="square" tIns="0" bIns="0" rtlCol="0">
            <a:spAutoFit/>
          </a:bodyPr>
          <a:lstStyle/>
          <a:p>
            <a:pPr algn="ctr"/>
            <a:r>
              <a:rPr lang="en-US" altLang="zh-CN" sz="2400" b="1">
                <a:solidFill>
                  <a:srgbClr val="C00000"/>
                </a:solidFill>
              </a:rPr>
              <a:t>(3)</a:t>
            </a:r>
            <a:endParaRPr lang="zh-CN" altLang="en-US" sz="2400" b="1">
              <a:solidFill>
                <a:srgbClr val="C00000"/>
              </a:solidFill>
            </a:endParaRPr>
          </a:p>
        </p:txBody>
      </p:sp>
      <p:sp>
        <p:nvSpPr>
          <p:cNvPr id="20" name="文本框 19"/>
          <p:cNvSpPr txBox="1"/>
          <p:nvPr/>
        </p:nvSpPr>
        <p:spPr>
          <a:xfrm>
            <a:off x="6213313" y="5273082"/>
            <a:ext cx="1170959" cy="369332"/>
          </a:xfrm>
          <a:prstGeom prst="rect">
            <a:avLst/>
          </a:prstGeom>
          <a:solidFill>
            <a:srgbClr val="F0F7EC"/>
          </a:solidFill>
        </p:spPr>
        <p:txBody>
          <a:bodyPr wrap="square" tIns="0" bIns="0" rtlCol="0">
            <a:spAutoFit/>
          </a:bodyPr>
          <a:lstStyle/>
          <a:p>
            <a:pPr algn="ctr"/>
            <a:r>
              <a:rPr lang="en-US" altLang="zh-CN" sz="2400" b="1">
                <a:solidFill>
                  <a:srgbClr val="C00000"/>
                </a:solidFill>
              </a:rPr>
              <a:t>(4)</a:t>
            </a:r>
            <a:endParaRPr lang="zh-CN" altLang="en-US" sz="2400" b="1">
              <a:solidFill>
                <a:srgbClr val="C0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分治算法与递推关系式</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主定理运用练习</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1111752" y="1460409"/>
                <a:ext cx="7604651" cy="1815882"/>
              </a:xfrm>
              <a:prstGeom prst="rect">
                <a:avLst/>
              </a:prstGeom>
              <a:solidFill>
                <a:schemeClr val="accent6">
                  <a:lumMod val="20000"/>
                  <a:lumOff val="80000"/>
                  <a:alpha val="50000"/>
                </a:schemeClr>
              </a:solidFill>
            </p:spPr>
            <p:txBody>
              <a:bodyPr wrap="square" rtlCol="0">
                <a:spAutoFit/>
              </a:bodyPr>
              <a:lstStyle/>
              <a:p>
                <a:pPr>
                  <a:spcBef>
                    <a:spcPts val="1200"/>
                  </a:spcBef>
                  <a:spcAft>
                    <a:spcPts val="1200"/>
                  </a:spcAft>
                </a:pPr>
                <a:r>
                  <a:rPr lang="zh-CN" altLang="en-US" sz="2400" b="1">
                    <a:solidFill>
                      <a:srgbClr val="002060"/>
                    </a:solidFill>
                    <a:latin typeface="楷体" panose="02010609060101010101" pitchFamily="49" charset="-122"/>
                    <a:ea typeface="楷体" panose="02010609060101010101" pitchFamily="49" charset="-122"/>
                  </a:rPr>
                  <a:t>对于归并排序算法的递推关系式</a:t>
                </a:r>
                <a14:m>
                  <m:oMath xmlns:m="http://schemas.openxmlformats.org/officeDocument/2006/math">
                    <m:r>
                      <a:rPr lang="en-US" altLang="zh-CN" sz="2400" b="1" i="1" smtClean="0">
                        <a:solidFill>
                          <a:srgbClr val="002060"/>
                        </a:solidFill>
                        <a:latin typeface="Cambria Math" panose="02040503050406030204" pitchFamily="18" charset="0"/>
                      </a:rPr>
                      <m:t>𝒇</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𝒏</m:t>
                    </m:r>
                    <m:r>
                      <a:rPr lang="en-US" altLang="zh-CN" sz="2400" b="1" i="1" smtClean="0">
                        <a:solidFill>
                          <a:srgbClr val="002060"/>
                        </a:solidFill>
                        <a:latin typeface="Cambria Math" panose="02040503050406030204" pitchFamily="18" charset="0"/>
                      </a:rPr>
                      <m:t>) = </m:t>
                    </m:r>
                    <m:r>
                      <a:rPr lang="en-US" altLang="zh-CN" sz="2400" b="1" i="1" smtClean="0">
                        <a:solidFill>
                          <a:srgbClr val="002060"/>
                        </a:solidFill>
                        <a:latin typeface="Cambria Math" panose="02040503050406030204" pitchFamily="18" charset="0"/>
                      </a:rPr>
                      <m:t>𝟐</m:t>
                    </m:r>
                    <m:r>
                      <a:rPr lang="en-US" altLang="zh-CN" sz="2400" b="1" i="1" smtClean="0">
                        <a:solidFill>
                          <a:srgbClr val="002060"/>
                        </a:solidFill>
                        <a:latin typeface="Cambria Math" panose="02040503050406030204" pitchFamily="18" charset="0"/>
                      </a:rPr>
                      <m:t>𝒇</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𝒏</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𝟐</m:t>
                    </m:r>
                    <m:r>
                      <a:rPr lang="en-US" altLang="zh-CN" sz="2400" b="1" i="1" smtClean="0">
                        <a:solidFill>
                          <a:srgbClr val="002060"/>
                        </a:solidFill>
                        <a:latin typeface="Cambria Math" panose="02040503050406030204" pitchFamily="18" charset="0"/>
                      </a:rPr>
                      <m:t>) + </m:t>
                    </m:r>
                    <m:r>
                      <a:rPr lang="en-US" altLang="zh-CN" sz="2400" b="1" i="1" smtClean="0">
                        <a:solidFill>
                          <a:srgbClr val="002060"/>
                        </a:solidFill>
                        <a:latin typeface="Cambria Math" panose="02040503050406030204" pitchFamily="18" charset="0"/>
                      </a:rPr>
                      <m:t>𝒏</m:t>
                    </m:r>
                  </m:oMath>
                </a14:m>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1200"/>
                  </a:spcBef>
                  <a:spcAft>
                    <a:spcPts val="1200"/>
                  </a:spcAft>
                  <a:buFont typeface="Arial" panose="020B0604020202020204" pitchFamily="34" charset="0"/>
                  <a:buChar char="•"/>
                </a:pPr>
                <a:r>
                  <a:rPr lang="zh-CN" altLang="en-US" sz="2400" b="1">
                    <a:solidFill>
                      <a:schemeClr val="tx2">
                        <a:lumMod val="50000"/>
                      </a:schemeClr>
                    </a:solidFill>
                  </a:rPr>
                  <a:t>这时有</a:t>
                </a:r>
                <a14:m>
                  <m:oMath xmlns:m="http://schemas.openxmlformats.org/officeDocument/2006/math">
                    <m:r>
                      <a:rPr lang="en-US" altLang="zh-CN" sz="2400" b="1" i="1" smtClean="0">
                        <a:solidFill>
                          <a:schemeClr val="tx2">
                            <a:lumMod val="50000"/>
                          </a:schemeClr>
                        </a:solidFill>
                        <a:latin typeface="Cambria Math" panose="02040503050406030204" pitchFamily="18" charset="0"/>
                      </a:rPr>
                      <m:t>𝒂</m:t>
                    </m:r>
                    <m:r>
                      <a:rPr lang="en-US" altLang="zh-CN" sz="2400" b="1" i="1" smtClean="0">
                        <a:solidFill>
                          <a:schemeClr val="tx2">
                            <a:lumMod val="50000"/>
                          </a:schemeClr>
                        </a:solidFill>
                        <a:latin typeface="Cambria Math" panose="02040503050406030204" pitchFamily="18" charset="0"/>
                      </a:rPr>
                      <m:t>=</m:t>
                    </m:r>
                    <m:r>
                      <a:rPr lang="en-US" altLang="zh-CN" sz="2400" b="1" i="1" smtClean="0">
                        <a:solidFill>
                          <a:schemeClr val="tx2">
                            <a:lumMod val="50000"/>
                          </a:schemeClr>
                        </a:solidFill>
                        <a:latin typeface="Cambria Math" panose="02040503050406030204" pitchFamily="18" charset="0"/>
                      </a:rPr>
                      <m:t>𝟐</m:t>
                    </m:r>
                    <m:r>
                      <a:rPr lang="en-US" altLang="zh-CN" sz="2400" b="1" i="1" smtClean="0">
                        <a:solidFill>
                          <a:schemeClr val="tx2">
                            <a:lumMod val="50000"/>
                          </a:schemeClr>
                        </a:solidFill>
                        <a:latin typeface="Cambria Math" panose="02040503050406030204" pitchFamily="18" charset="0"/>
                      </a:rPr>
                      <m:t>, </m:t>
                    </m:r>
                    <m:r>
                      <a:rPr lang="en-US" altLang="zh-CN" sz="2400" b="1" i="1" smtClean="0">
                        <a:solidFill>
                          <a:schemeClr val="tx2">
                            <a:lumMod val="50000"/>
                          </a:schemeClr>
                        </a:solidFill>
                        <a:latin typeface="Cambria Math" panose="02040503050406030204" pitchFamily="18" charset="0"/>
                      </a:rPr>
                      <m:t>𝒃</m:t>
                    </m:r>
                    <m:r>
                      <a:rPr lang="en-US" altLang="zh-CN" sz="2400" b="1" i="1" smtClean="0">
                        <a:solidFill>
                          <a:schemeClr val="tx2">
                            <a:lumMod val="50000"/>
                          </a:schemeClr>
                        </a:solidFill>
                        <a:latin typeface="Cambria Math" panose="02040503050406030204" pitchFamily="18" charset="0"/>
                      </a:rPr>
                      <m:t>=</m:t>
                    </m:r>
                    <m:r>
                      <a:rPr lang="en-US" altLang="zh-CN" sz="2400" b="1" i="1" smtClean="0">
                        <a:solidFill>
                          <a:schemeClr val="tx2">
                            <a:lumMod val="50000"/>
                          </a:schemeClr>
                        </a:solidFill>
                        <a:latin typeface="Cambria Math" panose="02040503050406030204" pitchFamily="18" charset="0"/>
                      </a:rPr>
                      <m:t>𝟐</m:t>
                    </m:r>
                    <m:r>
                      <a:rPr lang="en-US" altLang="zh-CN" sz="2400" b="1" i="1" smtClean="0">
                        <a:solidFill>
                          <a:schemeClr val="tx2">
                            <a:lumMod val="50000"/>
                          </a:schemeClr>
                        </a:solidFill>
                        <a:latin typeface="Cambria Math" panose="02040503050406030204" pitchFamily="18" charset="0"/>
                      </a:rPr>
                      <m:t>, </m:t>
                    </m:r>
                    <m:r>
                      <a:rPr lang="en-US" altLang="zh-CN" sz="2400" b="1" i="1" smtClean="0">
                        <a:solidFill>
                          <a:schemeClr val="tx2">
                            <a:lumMod val="50000"/>
                          </a:schemeClr>
                        </a:solidFill>
                        <a:latin typeface="Cambria Math" panose="02040503050406030204" pitchFamily="18" charset="0"/>
                      </a:rPr>
                      <m:t>𝒅</m:t>
                    </m:r>
                    <m:r>
                      <a:rPr lang="en-US" altLang="zh-CN" sz="2400" b="1" i="1" smtClean="0">
                        <a:solidFill>
                          <a:schemeClr val="tx2">
                            <a:lumMod val="50000"/>
                          </a:schemeClr>
                        </a:solidFill>
                        <a:latin typeface="Cambria Math" panose="02040503050406030204" pitchFamily="18" charset="0"/>
                      </a:rPr>
                      <m:t>=</m:t>
                    </m:r>
                    <m:r>
                      <a:rPr lang="en-US" altLang="zh-CN" sz="2400" b="1" i="1" smtClean="0">
                        <a:solidFill>
                          <a:schemeClr val="tx2">
                            <a:lumMod val="50000"/>
                          </a:schemeClr>
                        </a:solidFill>
                        <a:latin typeface="Cambria Math" panose="02040503050406030204" pitchFamily="18" charset="0"/>
                      </a:rPr>
                      <m:t>𝟏</m:t>
                    </m:r>
                  </m:oMath>
                </a14:m>
                <a:r>
                  <a:rPr lang="zh-CN" altLang="en-US" sz="2400" b="1">
                    <a:solidFill>
                      <a:schemeClr val="tx2">
                        <a:lumMod val="50000"/>
                      </a:schemeClr>
                    </a:solidFill>
                  </a:rPr>
                  <a:t>，因此有 </a:t>
                </a:r>
                <a14:m>
                  <m:oMath xmlns:m="http://schemas.openxmlformats.org/officeDocument/2006/math">
                    <m:r>
                      <a:rPr lang="en-US" altLang="zh-CN" sz="2400" b="1" i="1" smtClean="0">
                        <a:solidFill>
                          <a:srgbClr val="C00000"/>
                        </a:solidFill>
                        <a:latin typeface="Cambria Math" panose="02040503050406030204" pitchFamily="18" charset="0"/>
                      </a:rPr>
                      <m:t>𝒂</m:t>
                    </m:r>
                    <m:r>
                      <a:rPr lang="en-US" altLang="zh-CN" sz="2400" b="1" i="1" smtClean="0">
                        <a:solidFill>
                          <a:srgbClr val="C00000"/>
                        </a:solidFill>
                        <a:latin typeface="Cambria Math" panose="02040503050406030204" pitchFamily="18" charset="0"/>
                      </a:rPr>
                      <m:t>=</m:t>
                    </m:r>
                    <m:sSup>
                      <m:sSupPr>
                        <m:ctrlPr>
                          <a:rPr lang="en-US" altLang="zh-CN" sz="2400" b="1" i="1" smtClean="0">
                            <a:solidFill>
                              <a:srgbClr val="C00000"/>
                            </a:solidFill>
                            <a:latin typeface="Cambria Math" panose="02040503050406030204" pitchFamily="18" charset="0"/>
                          </a:rPr>
                        </m:ctrlPr>
                      </m:sSupPr>
                      <m:e>
                        <m:r>
                          <a:rPr lang="en-US" altLang="zh-CN" sz="2400" b="1" i="1" smtClean="0">
                            <a:solidFill>
                              <a:srgbClr val="C00000"/>
                            </a:solidFill>
                            <a:latin typeface="Cambria Math" panose="02040503050406030204" pitchFamily="18" charset="0"/>
                          </a:rPr>
                          <m:t>𝒃</m:t>
                        </m:r>
                      </m:e>
                      <m:sup>
                        <m:r>
                          <a:rPr lang="en-US" altLang="zh-CN" sz="2400" b="1" i="1">
                            <a:solidFill>
                              <a:srgbClr val="C00000"/>
                            </a:solidFill>
                            <a:latin typeface="Cambria Math" panose="02040503050406030204" pitchFamily="18" charset="0"/>
                          </a:rPr>
                          <m:t>𝒅</m:t>
                        </m:r>
                      </m:sup>
                    </m:sSup>
                  </m:oMath>
                </a14:m>
                <a:r>
                  <a:rPr lang="en-US" altLang="zh-CN" sz="2400" b="1">
                    <a:solidFill>
                      <a:schemeClr val="tx2">
                        <a:lumMod val="50000"/>
                      </a:schemeClr>
                    </a:solidFill>
                  </a:rPr>
                  <a:t> </a:t>
                </a:r>
                <a:endParaRPr lang="en-US" altLang="zh-CN" sz="2400" b="1">
                  <a:solidFill>
                    <a:schemeClr val="tx2">
                      <a:lumMod val="50000"/>
                    </a:schemeClr>
                  </a:solidFill>
                </a:endParaRPr>
              </a:p>
              <a:p>
                <a:pPr marL="342900" indent="-342900">
                  <a:spcBef>
                    <a:spcPts val="1200"/>
                  </a:spcBef>
                  <a:spcAft>
                    <a:spcPts val="1200"/>
                  </a:spcAft>
                  <a:buFont typeface="Arial" panose="020B0604020202020204" pitchFamily="34" charset="0"/>
                  <a:buChar char="•"/>
                </a:pPr>
                <a:r>
                  <a:rPr lang="zh-CN" altLang="en-US" sz="2400" b="1">
                    <a:solidFill>
                      <a:schemeClr val="tx2">
                        <a:lumMod val="50000"/>
                      </a:schemeClr>
                    </a:solidFill>
                  </a:rPr>
                  <a:t>从而归并排序算法的时间复杂度是 </a:t>
                </a:r>
                <a14:m>
                  <m:oMath xmlns:m="http://schemas.openxmlformats.org/officeDocument/2006/math">
                    <m:r>
                      <a:rPr lang="en-US" altLang="zh-CN" sz="2400" b="1" i="1" smtClean="0">
                        <a:solidFill>
                          <a:srgbClr val="C00000"/>
                        </a:solidFill>
                        <a:latin typeface="Cambria Math" panose="02040503050406030204" pitchFamily="18" charset="0"/>
                      </a:rPr>
                      <m:t>𝑶</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𝒏</m:t>
                    </m:r>
                    <m:r>
                      <a:rPr lang="en-US" altLang="zh-CN" sz="2400" b="1" i="0" smtClean="0">
                        <a:solidFill>
                          <a:srgbClr val="C00000"/>
                        </a:solidFill>
                        <a:latin typeface="Cambria Math" panose="02040503050406030204" pitchFamily="18" charset="0"/>
                      </a:rPr>
                      <m:t>𝐥𝐨𝐠</m:t>
                    </m:r>
                    <m:r>
                      <a:rPr lang="en-US" altLang="zh-CN" sz="2400" b="1" i="1" smtClean="0">
                        <a:solidFill>
                          <a:srgbClr val="C00000"/>
                        </a:solidFill>
                        <a:latin typeface="Cambria Math" panose="02040503050406030204" pitchFamily="18" charset="0"/>
                      </a:rPr>
                      <m:t> </m:t>
                    </m:r>
                    <m:r>
                      <a:rPr lang="en-US" altLang="zh-CN" sz="2400" b="1" i="1" smtClean="0">
                        <a:solidFill>
                          <a:srgbClr val="C00000"/>
                        </a:solidFill>
                        <a:latin typeface="Cambria Math" panose="02040503050406030204" pitchFamily="18" charset="0"/>
                      </a:rPr>
                      <m:t>𝒏</m:t>
                    </m:r>
                    <m:r>
                      <a:rPr lang="en-US" altLang="zh-CN" sz="2400" b="1" i="1">
                        <a:solidFill>
                          <a:srgbClr val="C00000"/>
                        </a:solidFill>
                        <a:latin typeface="Cambria Math" panose="02040503050406030204" pitchFamily="18" charset="0"/>
                      </a:rPr>
                      <m:t>)</m:t>
                    </m:r>
                  </m:oMath>
                </a14:m>
                <a:r>
                  <a:rPr lang="en-US" altLang="zh-CN" sz="2400" b="1">
                    <a:solidFill>
                      <a:schemeClr val="tx2">
                        <a:lumMod val="50000"/>
                      </a:schemeClr>
                    </a:solidFill>
                  </a:rPr>
                  <a:t> </a:t>
                </a:r>
                <a:endParaRPr lang="en-US" altLang="zh-CN" sz="2400" b="1">
                  <a:solidFill>
                    <a:schemeClr val="tx2">
                      <a:lumMod val="50000"/>
                    </a:schemeClr>
                  </a:solidFill>
                </a:endParaRPr>
              </a:p>
            </p:txBody>
          </p:sp>
        </mc:Choice>
        <mc:Fallback>
          <p:sp>
            <p:nvSpPr>
              <p:cNvPr id="2" name="文本框 1"/>
              <p:cNvSpPr txBox="1">
                <a:spLocks noRot="1" noChangeAspect="1" noMove="1" noResize="1" noEditPoints="1" noAdjustHandles="1" noChangeArrowheads="1" noChangeShapeType="1" noTextEdit="1"/>
              </p:cNvSpPr>
              <p:nvPr/>
            </p:nvSpPr>
            <p:spPr>
              <a:xfrm>
                <a:off x="1111752" y="1460409"/>
                <a:ext cx="7604651" cy="1815882"/>
              </a:xfrm>
              <a:prstGeom prst="rect">
                <a:avLst/>
              </a:prstGeom>
              <a:blipFill rotWithShape="1">
                <a:blip r:embed="rId1"/>
                <a:stretch>
                  <a:fillRect l="-7" t="-30" r="5" b="1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矩形 2"/>
              <p:cNvSpPr/>
              <p:nvPr/>
            </p:nvSpPr>
            <p:spPr>
              <a:xfrm>
                <a:off x="1111752" y="3881529"/>
                <a:ext cx="7604651" cy="1815882"/>
              </a:xfrm>
              <a:prstGeom prst="rect">
                <a:avLst/>
              </a:prstGeom>
              <a:solidFill>
                <a:schemeClr val="accent6">
                  <a:lumMod val="20000"/>
                  <a:lumOff val="80000"/>
                  <a:alpha val="50000"/>
                </a:schemeClr>
              </a:solidFill>
            </p:spPr>
            <p:txBody>
              <a:bodyPr wrap="square">
                <a:spAutoFit/>
              </a:bodyPr>
              <a:lstStyle/>
              <a:p>
                <a:pPr>
                  <a:spcBef>
                    <a:spcPts val="1200"/>
                  </a:spcBef>
                  <a:spcAft>
                    <a:spcPts val="1200"/>
                  </a:spcAft>
                </a:pPr>
                <a:r>
                  <a:rPr lang="zh-CN" altLang="en-US" sz="2400" b="1">
                    <a:solidFill>
                      <a:srgbClr val="002060"/>
                    </a:solidFill>
                    <a:latin typeface="楷体" panose="02010609060101010101" pitchFamily="49" charset="-122"/>
                    <a:ea typeface="楷体" panose="02010609060101010101" pitchFamily="49" charset="-122"/>
                  </a:rPr>
                  <a:t>对于二分查找算法的递推关系式</a:t>
                </a:r>
                <a14:m>
                  <m:oMath xmlns:m="http://schemas.openxmlformats.org/officeDocument/2006/math">
                    <m:r>
                      <a:rPr lang="zh-CN" altLang="en-US" sz="2400" b="1">
                        <a:solidFill>
                          <a:srgbClr val="002060"/>
                        </a:solidFill>
                        <a:latin typeface="Cambria Math" panose="02040503050406030204" pitchFamily="18" charset="0"/>
                        <a:ea typeface="楷体" panose="02010609060101010101" pitchFamily="49" charset="-122"/>
                      </a:rPr>
                      <m:t>𝒇</m:t>
                    </m:r>
                    <m:r>
                      <a:rPr lang="zh-CN" altLang="en-US" sz="2400" b="1">
                        <a:solidFill>
                          <a:srgbClr val="002060"/>
                        </a:solidFill>
                        <a:latin typeface="Cambria Math" panose="02040503050406030204" pitchFamily="18" charset="0"/>
                        <a:ea typeface="楷体" panose="02010609060101010101" pitchFamily="49" charset="-122"/>
                      </a:rPr>
                      <m:t>(</m:t>
                    </m:r>
                    <m:r>
                      <a:rPr lang="zh-CN" altLang="en-US" sz="2400" b="1">
                        <a:solidFill>
                          <a:srgbClr val="002060"/>
                        </a:solidFill>
                        <a:latin typeface="Cambria Math" panose="02040503050406030204" pitchFamily="18" charset="0"/>
                        <a:ea typeface="楷体" panose="02010609060101010101" pitchFamily="49" charset="-122"/>
                      </a:rPr>
                      <m:t>𝒏</m:t>
                    </m:r>
                    <m:r>
                      <a:rPr lang="zh-CN" altLang="en-US" sz="2400" b="1">
                        <a:solidFill>
                          <a:srgbClr val="002060"/>
                        </a:solidFill>
                        <a:latin typeface="Cambria Math" panose="02040503050406030204" pitchFamily="18" charset="0"/>
                        <a:ea typeface="楷体" panose="02010609060101010101" pitchFamily="49" charset="-122"/>
                      </a:rPr>
                      <m:t>) = </m:t>
                    </m:r>
                    <m:r>
                      <a:rPr lang="zh-CN" altLang="en-US" sz="2400" b="1">
                        <a:solidFill>
                          <a:srgbClr val="002060"/>
                        </a:solidFill>
                        <a:latin typeface="Cambria Math" panose="02040503050406030204" pitchFamily="18" charset="0"/>
                        <a:ea typeface="楷体" panose="02010609060101010101" pitchFamily="49" charset="-122"/>
                      </a:rPr>
                      <m:t>𝒇</m:t>
                    </m:r>
                    <m:r>
                      <a:rPr lang="zh-CN" altLang="en-US" sz="2400" b="1">
                        <a:solidFill>
                          <a:srgbClr val="002060"/>
                        </a:solidFill>
                        <a:latin typeface="Cambria Math" panose="02040503050406030204" pitchFamily="18" charset="0"/>
                        <a:ea typeface="楷体" panose="02010609060101010101" pitchFamily="49" charset="-122"/>
                      </a:rPr>
                      <m:t>(</m:t>
                    </m:r>
                    <m:r>
                      <a:rPr lang="zh-CN" altLang="en-US" sz="2400" b="1">
                        <a:solidFill>
                          <a:srgbClr val="002060"/>
                        </a:solidFill>
                        <a:latin typeface="Cambria Math" panose="02040503050406030204" pitchFamily="18" charset="0"/>
                        <a:ea typeface="楷体" panose="02010609060101010101" pitchFamily="49" charset="-122"/>
                      </a:rPr>
                      <m:t>𝒏</m:t>
                    </m:r>
                    <m:r>
                      <a:rPr lang="zh-CN" altLang="en-US" sz="2400" b="1">
                        <a:solidFill>
                          <a:srgbClr val="002060"/>
                        </a:solidFill>
                        <a:latin typeface="Cambria Math" panose="02040503050406030204" pitchFamily="18" charset="0"/>
                        <a:ea typeface="楷体" panose="02010609060101010101" pitchFamily="49" charset="-122"/>
                      </a:rPr>
                      <m:t>/</m:t>
                    </m:r>
                    <m:r>
                      <a:rPr lang="zh-CN" altLang="en-US" sz="2400" b="1">
                        <a:solidFill>
                          <a:srgbClr val="002060"/>
                        </a:solidFill>
                        <a:latin typeface="Cambria Math" panose="02040503050406030204" pitchFamily="18" charset="0"/>
                        <a:ea typeface="楷体" panose="02010609060101010101" pitchFamily="49" charset="-122"/>
                      </a:rPr>
                      <m:t>𝟐</m:t>
                    </m:r>
                    <m:r>
                      <a:rPr lang="zh-CN" altLang="en-US" sz="2400" b="1">
                        <a:solidFill>
                          <a:srgbClr val="002060"/>
                        </a:solidFill>
                        <a:latin typeface="Cambria Math" panose="02040503050406030204" pitchFamily="18" charset="0"/>
                        <a:ea typeface="楷体" panose="02010609060101010101" pitchFamily="49" charset="-122"/>
                      </a:rPr>
                      <m:t>) + </m:t>
                    </m:r>
                    <m:r>
                      <a:rPr lang="zh-CN" altLang="en-US" sz="2400" b="1">
                        <a:solidFill>
                          <a:srgbClr val="002060"/>
                        </a:solidFill>
                        <a:latin typeface="Cambria Math" panose="02040503050406030204" pitchFamily="18" charset="0"/>
                        <a:ea typeface="楷体" panose="02010609060101010101" pitchFamily="49" charset="-122"/>
                      </a:rPr>
                      <m:t>𝑪</m:t>
                    </m:r>
                  </m:oMath>
                </a14:m>
                <a:endParaRPr lang="zh-CN" altLang="en-US" sz="2400" b="1">
                  <a:solidFill>
                    <a:srgbClr val="002060"/>
                  </a:solidFill>
                  <a:latin typeface="楷体" panose="02010609060101010101" pitchFamily="49" charset="-122"/>
                  <a:ea typeface="楷体" panose="02010609060101010101" pitchFamily="49" charset="-122"/>
                </a:endParaRPr>
              </a:p>
              <a:p>
                <a:pPr marL="342900" indent="-342900">
                  <a:spcBef>
                    <a:spcPts val="1200"/>
                  </a:spcBef>
                  <a:spcAft>
                    <a:spcPts val="1200"/>
                  </a:spcAft>
                  <a:buFont typeface="Arial" panose="020B0604020202020204" pitchFamily="34" charset="0"/>
                  <a:buChar char="•"/>
                </a:pPr>
                <a:r>
                  <a:rPr lang="zh-CN" altLang="en-US" sz="2400" b="1">
                    <a:solidFill>
                      <a:schemeClr val="tx2">
                        <a:lumMod val="50000"/>
                      </a:schemeClr>
                    </a:solidFill>
                  </a:rPr>
                  <a:t>这时有</a:t>
                </a:r>
                <a14:m>
                  <m:oMath xmlns:m="http://schemas.openxmlformats.org/officeDocument/2006/math">
                    <m:r>
                      <a:rPr lang="zh-CN" altLang="en-US" sz="2400" b="1" i="1" smtClean="0">
                        <a:solidFill>
                          <a:schemeClr val="tx2">
                            <a:lumMod val="50000"/>
                          </a:schemeClr>
                        </a:solidFill>
                        <a:latin typeface="Cambria Math" panose="02040503050406030204" pitchFamily="18" charset="0"/>
                      </a:rPr>
                      <m:t>𝒂</m:t>
                    </m:r>
                    <m:r>
                      <a:rPr lang="zh-CN" altLang="en-US" sz="2400" b="1" i="1" smtClean="0">
                        <a:solidFill>
                          <a:schemeClr val="tx2">
                            <a:lumMod val="50000"/>
                          </a:schemeClr>
                        </a:solidFill>
                        <a:latin typeface="Cambria Math" panose="02040503050406030204" pitchFamily="18" charset="0"/>
                      </a:rPr>
                      <m:t> = </m:t>
                    </m:r>
                    <m:r>
                      <a:rPr lang="zh-CN" altLang="en-US" sz="2400" b="1" i="1">
                        <a:solidFill>
                          <a:schemeClr val="tx2">
                            <a:lumMod val="50000"/>
                          </a:schemeClr>
                        </a:solidFill>
                        <a:latin typeface="Cambria Math" panose="02040503050406030204" pitchFamily="18" charset="0"/>
                      </a:rPr>
                      <m:t>𝟏</m:t>
                    </m:r>
                    <m:r>
                      <a:rPr lang="zh-CN" altLang="en-US" sz="2400" b="1" i="1">
                        <a:solidFill>
                          <a:schemeClr val="tx2">
                            <a:lumMod val="50000"/>
                          </a:schemeClr>
                        </a:solidFill>
                        <a:latin typeface="Cambria Math" panose="02040503050406030204" pitchFamily="18" charset="0"/>
                      </a:rPr>
                      <m:t>, </m:t>
                    </m:r>
                    <m:r>
                      <a:rPr lang="zh-CN" altLang="en-US" sz="2400" b="1" i="1">
                        <a:solidFill>
                          <a:schemeClr val="tx2">
                            <a:lumMod val="50000"/>
                          </a:schemeClr>
                        </a:solidFill>
                        <a:latin typeface="Cambria Math" panose="02040503050406030204" pitchFamily="18" charset="0"/>
                      </a:rPr>
                      <m:t>𝒃</m:t>
                    </m:r>
                    <m:r>
                      <a:rPr lang="zh-CN" altLang="en-US" sz="2400" b="1" i="1">
                        <a:solidFill>
                          <a:schemeClr val="tx2">
                            <a:lumMod val="50000"/>
                          </a:schemeClr>
                        </a:solidFill>
                        <a:latin typeface="Cambria Math" panose="02040503050406030204" pitchFamily="18" charset="0"/>
                      </a:rPr>
                      <m:t> = </m:t>
                    </m:r>
                    <m:r>
                      <a:rPr lang="zh-CN" altLang="en-US" sz="2400" b="1" i="1">
                        <a:solidFill>
                          <a:schemeClr val="tx2">
                            <a:lumMod val="50000"/>
                          </a:schemeClr>
                        </a:solidFill>
                        <a:latin typeface="Cambria Math" panose="02040503050406030204" pitchFamily="18" charset="0"/>
                      </a:rPr>
                      <m:t>𝟐</m:t>
                    </m:r>
                    <m:r>
                      <a:rPr lang="zh-CN" altLang="en-US" sz="2400" b="1" i="1">
                        <a:solidFill>
                          <a:schemeClr val="tx2">
                            <a:lumMod val="50000"/>
                          </a:schemeClr>
                        </a:solidFill>
                        <a:latin typeface="Cambria Math" panose="02040503050406030204" pitchFamily="18" charset="0"/>
                      </a:rPr>
                      <m:t>, </m:t>
                    </m:r>
                    <m:r>
                      <a:rPr lang="zh-CN" altLang="en-US" sz="2400" b="1" i="1">
                        <a:solidFill>
                          <a:schemeClr val="tx2">
                            <a:lumMod val="50000"/>
                          </a:schemeClr>
                        </a:solidFill>
                        <a:latin typeface="Cambria Math" panose="02040503050406030204" pitchFamily="18" charset="0"/>
                      </a:rPr>
                      <m:t>𝒅</m:t>
                    </m:r>
                    <m:r>
                      <a:rPr lang="zh-CN" altLang="en-US" sz="2400" b="1" i="1">
                        <a:solidFill>
                          <a:schemeClr val="tx2">
                            <a:lumMod val="50000"/>
                          </a:schemeClr>
                        </a:solidFill>
                        <a:latin typeface="Cambria Math" panose="02040503050406030204" pitchFamily="18" charset="0"/>
                      </a:rPr>
                      <m:t> = </m:t>
                    </m:r>
                    <m:r>
                      <a:rPr lang="zh-CN" altLang="en-US" sz="2400" b="1" i="1">
                        <a:solidFill>
                          <a:schemeClr val="tx2">
                            <a:lumMod val="50000"/>
                          </a:schemeClr>
                        </a:solidFill>
                        <a:latin typeface="Cambria Math" panose="02040503050406030204" pitchFamily="18" charset="0"/>
                      </a:rPr>
                      <m:t>𝟎</m:t>
                    </m:r>
                  </m:oMath>
                </a14:m>
                <a:r>
                  <a:rPr lang="zh-CN" altLang="en-US" sz="2400" b="1">
                    <a:solidFill>
                      <a:schemeClr val="tx2">
                        <a:lumMod val="50000"/>
                      </a:schemeClr>
                    </a:solidFill>
                  </a:rPr>
                  <a:t>，因此有 </a:t>
                </a:r>
                <a14:m>
                  <m:oMath xmlns:m="http://schemas.openxmlformats.org/officeDocument/2006/math">
                    <m:r>
                      <a:rPr lang="zh-CN" altLang="en-US" sz="2400" b="1" i="1" smtClean="0">
                        <a:solidFill>
                          <a:srgbClr val="C00000"/>
                        </a:solidFill>
                        <a:latin typeface="Cambria Math" panose="02040503050406030204" pitchFamily="18" charset="0"/>
                      </a:rPr>
                      <m:t>𝒂</m:t>
                    </m:r>
                    <m:r>
                      <a:rPr lang="zh-CN" altLang="en-US" sz="2400" b="1" i="1" smtClean="0">
                        <a:solidFill>
                          <a:srgbClr val="C00000"/>
                        </a:solidFill>
                        <a:latin typeface="Cambria Math" panose="02040503050406030204" pitchFamily="18" charset="0"/>
                      </a:rPr>
                      <m:t> = </m:t>
                    </m:r>
                    <m:sSup>
                      <m:sSupPr>
                        <m:ctrlPr>
                          <a:rPr lang="zh-CN" altLang="en-US" sz="2400" b="1" i="1" smtClean="0">
                            <a:solidFill>
                              <a:srgbClr val="C00000"/>
                            </a:solidFill>
                            <a:latin typeface="Cambria Math" panose="02040503050406030204" pitchFamily="18" charset="0"/>
                          </a:rPr>
                        </m:ctrlPr>
                      </m:sSupPr>
                      <m:e>
                        <m:r>
                          <a:rPr lang="zh-CN" altLang="en-US" sz="2400" b="1" i="1" smtClean="0">
                            <a:solidFill>
                              <a:srgbClr val="C00000"/>
                            </a:solidFill>
                            <a:latin typeface="Cambria Math" panose="02040503050406030204" pitchFamily="18" charset="0"/>
                          </a:rPr>
                          <m:t>𝒃</m:t>
                        </m:r>
                      </m:e>
                      <m:sup>
                        <m:r>
                          <a:rPr lang="zh-CN" altLang="en-US" sz="2400" b="1" i="1" smtClean="0">
                            <a:solidFill>
                              <a:srgbClr val="C00000"/>
                            </a:solidFill>
                            <a:latin typeface="Cambria Math" panose="02040503050406030204" pitchFamily="18" charset="0"/>
                          </a:rPr>
                          <m:t>𝒅</m:t>
                        </m:r>
                      </m:sup>
                    </m:sSup>
                  </m:oMath>
                </a14:m>
                <a:r>
                  <a:rPr lang="zh-CN" altLang="en-US" sz="2400" b="1">
                    <a:solidFill>
                      <a:schemeClr val="tx2">
                        <a:lumMod val="50000"/>
                      </a:schemeClr>
                    </a:solidFill>
                  </a:rPr>
                  <a:t> </a:t>
                </a:r>
                <a:endParaRPr lang="zh-CN" altLang="en-US" sz="2400" b="1">
                  <a:solidFill>
                    <a:schemeClr val="tx2">
                      <a:lumMod val="50000"/>
                    </a:schemeClr>
                  </a:solidFill>
                </a:endParaRPr>
              </a:p>
              <a:p>
                <a:pPr marL="342900" indent="-342900">
                  <a:spcBef>
                    <a:spcPts val="1200"/>
                  </a:spcBef>
                  <a:spcAft>
                    <a:spcPts val="1200"/>
                  </a:spcAft>
                  <a:buFont typeface="Arial" panose="020B0604020202020204" pitchFamily="34" charset="0"/>
                  <a:buChar char="•"/>
                </a:pPr>
                <a:r>
                  <a:rPr lang="zh-CN" altLang="en-US" sz="2400" b="1">
                    <a:solidFill>
                      <a:schemeClr val="tx2">
                        <a:lumMod val="50000"/>
                      </a:schemeClr>
                    </a:solidFill>
                  </a:rPr>
                  <a:t>因此二分查找算法的时间复杂度是 </a:t>
                </a:r>
                <a14:m>
                  <m:oMath xmlns:m="http://schemas.openxmlformats.org/officeDocument/2006/math">
                    <m:r>
                      <a:rPr lang="zh-CN" altLang="en-US" sz="2400" b="1" i="1" smtClean="0">
                        <a:solidFill>
                          <a:srgbClr val="C00000"/>
                        </a:solidFill>
                        <a:latin typeface="Cambria Math" panose="02040503050406030204" pitchFamily="18" charset="0"/>
                      </a:rPr>
                      <m:t>𝑶</m:t>
                    </m:r>
                    <m:d>
                      <m:dPr>
                        <m:ctrlPr>
                          <a:rPr lang="zh-CN" altLang="en-US" sz="2400" b="1" i="1" smtClean="0">
                            <a:solidFill>
                              <a:srgbClr val="C00000"/>
                            </a:solidFill>
                            <a:latin typeface="Cambria Math" panose="02040503050406030204" pitchFamily="18" charset="0"/>
                          </a:rPr>
                        </m:ctrlPr>
                      </m:dPr>
                      <m:e>
                        <m:r>
                          <a:rPr lang="zh-CN" altLang="en-US" sz="2400" b="1" i="0" smtClean="0">
                            <a:solidFill>
                              <a:srgbClr val="C00000"/>
                            </a:solidFill>
                            <a:latin typeface="Cambria Math" panose="02040503050406030204" pitchFamily="18" charset="0"/>
                          </a:rPr>
                          <m:t>𝐥𝐨𝐠</m:t>
                        </m:r>
                        <m:r>
                          <a:rPr lang="zh-CN" altLang="en-US" sz="2400" b="1" i="1" smtClean="0">
                            <a:solidFill>
                              <a:srgbClr val="C00000"/>
                            </a:solidFill>
                            <a:latin typeface="Cambria Math" panose="02040503050406030204" pitchFamily="18" charset="0"/>
                          </a:rPr>
                          <m:t> </m:t>
                        </m:r>
                        <m:r>
                          <a:rPr lang="zh-CN" altLang="en-US" sz="2400" b="1" i="1" smtClean="0">
                            <a:solidFill>
                              <a:srgbClr val="C00000"/>
                            </a:solidFill>
                            <a:latin typeface="Cambria Math" panose="02040503050406030204" pitchFamily="18" charset="0"/>
                          </a:rPr>
                          <m:t>𝒏</m:t>
                        </m:r>
                      </m:e>
                    </m:d>
                  </m:oMath>
                </a14:m>
                <a:endParaRPr lang="zh-CN" altLang="en-US" sz="2400" b="1"/>
              </a:p>
            </p:txBody>
          </p:sp>
        </mc:Choice>
        <mc:Fallback>
          <p:sp>
            <p:nvSpPr>
              <p:cNvPr id="3" name="矩形 2"/>
              <p:cNvSpPr>
                <a:spLocks noRot="1" noChangeAspect="1" noMove="1" noResize="1" noEditPoints="1" noAdjustHandles="1" noChangeArrowheads="1" noChangeShapeType="1" noTextEdit="1"/>
              </p:cNvSpPr>
              <p:nvPr/>
            </p:nvSpPr>
            <p:spPr>
              <a:xfrm>
                <a:off x="1111752" y="3881529"/>
                <a:ext cx="7604651" cy="1815882"/>
              </a:xfrm>
              <a:prstGeom prst="rect">
                <a:avLst/>
              </a:prstGeom>
              <a:blipFill rotWithShape="1">
                <a:blip r:embed="rId2"/>
                <a:stretch>
                  <a:fillRect l="-7" t="-23" r="5" b="11"/>
                </a:stretch>
              </a:blipFill>
            </p:spPr>
            <p:txBody>
              <a:bodyPr/>
              <a:lstStyle/>
              <a:p>
                <a:r>
                  <a:rPr lang="zh-CN" altLang="en-US">
                    <a:noFill/>
                  </a:rPr>
                  <a:t> </a:t>
                </a:r>
              </a:p>
            </p:txBody>
          </p:sp>
        </mc:Fallback>
      </mc:AlternateContent>
      <p:pic>
        <p:nvPicPr>
          <p:cNvPr id="11" name="图片 10"/>
          <p:cNvPicPr>
            <a:picLocks noChangeAspect="1"/>
          </p:cNvPicPr>
          <p:nvPr/>
        </p:nvPicPr>
        <p:blipFill>
          <a:blip r:embed="rId3"/>
          <a:stretch>
            <a:fillRect/>
          </a:stretch>
        </p:blipFill>
        <p:spPr>
          <a:xfrm>
            <a:off x="7864686" y="2720757"/>
            <a:ext cx="3795370" cy="1234321"/>
          </a:xfrm>
          <a:prstGeom prst="rect">
            <a:avLst/>
          </a:prstGeom>
        </p:spPr>
      </p:pic>
      <p:cxnSp>
        <p:nvCxnSpPr>
          <p:cNvPr id="6" name="直接连接符 5"/>
          <p:cNvCxnSpPr/>
          <p:nvPr/>
        </p:nvCxnSpPr>
        <p:spPr>
          <a:xfrm>
            <a:off x="6216604" y="2527754"/>
            <a:ext cx="1045969"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216603" y="3249979"/>
            <a:ext cx="1322263"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650779" y="4961766"/>
            <a:ext cx="1138067"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6216604" y="5652500"/>
            <a:ext cx="1170959"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分治算法与递推关系式</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分治算法举例</a:t>
            </a:r>
            <a:r>
              <a:rPr lang="en-US" altLang="zh-CN"/>
              <a:t>-</a:t>
            </a:r>
            <a:r>
              <a:rPr lang="zh-CN" altLang="en-US"/>
              <a:t>大整数快速乘法</a:t>
            </a:r>
            <a:endParaRPr lang="zh-CN" altLang="en-US"/>
          </a:p>
        </p:txBody>
      </p:sp>
      <mc:AlternateContent xmlns:mc="http://schemas.openxmlformats.org/markup-compatibility/2006">
        <mc:Choice xmlns:a14="http://schemas.microsoft.com/office/drawing/2010/main" Requires="a14">
          <p:sp>
            <p:nvSpPr>
              <p:cNvPr id="2" name="矩形 1"/>
              <p:cNvSpPr/>
              <p:nvPr/>
            </p:nvSpPr>
            <p:spPr>
              <a:xfrm>
                <a:off x="763097" y="1588045"/>
                <a:ext cx="8056370" cy="824456"/>
              </a:xfrm>
              <a:prstGeom prst="rect">
                <a:avLst/>
              </a:prstGeom>
              <a:solidFill>
                <a:schemeClr val="accent5">
                  <a:lumMod val="20000"/>
                  <a:lumOff val="80000"/>
                  <a:alpha val="25000"/>
                </a:schemeClr>
              </a:solidFill>
            </p:spPr>
            <p:txBody>
              <a:bodyPr wrap="square">
                <a:spAutoFit/>
              </a:bodyPr>
              <a:lstStyle/>
              <a:p>
                <a:pPr>
                  <a:spcBef>
                    <a:spcPts val="600"/>
                  </a:spcBef>
                </a:pPr>
                <a:r>
                  <a:rPr lang="zh-CN" altLang="en-US" sz="2000" b="1">
                    <a:solidFill>
                      <a:srgbClr val="0000FF"/>
                    </a:solidFill>
                  </a:rPr>
                  <a:t>普通算法</a:t>
                </a:r>
                <a:r>
                  <a:rPr lang="zh-CN" altLang="en-US" sz="2000" b="1">
                    <a:solidFill>
                      <a:schemeClr val="accent6">
                        <a:lumMod val="50000"/>
                      </a:schemeClr>
                    </a:solidFill>
                  </a:rPr>
                  <a:t>用</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𝒂</m:t>
                    </m:r>
                  </m:oMath>
                </a14:m>
                <a:r>
                  <a:rPr lang="zh-CN" altLang="en-US" sz="2000" b="1">
                    <a:solidFill>
                      <a:schemeClr val="accent6">
                        <a:lumMod val="50000"/>
                      </a:schemeClr>
                    </a:solidFill>
                  </a:rPr>
                  <a:t>的每一位与</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𝒃</m:t>
                    </m:r>
                  </m:oMath>
                </a14:m>
                <a:r>
                  <a:rPr lang="zh-CN" altLang="en-US" sz="2000" b="1">
                    <a:solidFill>
                      <a:schemeClr val="accent6">
                        <a:lumMod val="50000"/>
                      </a:schemeClr>
                    </a:solidFill>
                  </a:rPr>
                  <a:t>的每一位相乘，然后再相加</a:t>
                </a:r>
                <a:endParaRPr lang="zh-CN" altLang="en-US" sz="2000" b="1">
                  <a:solidFill>
                    <a:schemeClr val="accent6">
                      <a:lumMod val="50000"/>
                    </a:schemeClr>
                  </a:solidFill>
                </a:endParaRPr>
              </a:p>
              <a:p>
                <a:pPr marL="285750" indent="-285750">
                  <a:spcBef>
                    <a:spcPts val="600"/>
                  </a:spcBef>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若两个整数</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𝒂</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𝒃</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用二进制位表示各有</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𝒏</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位，算法时间复杂度是</a:t>
                </a:r>
                <a14:m>
                  <m:oMath xmlns:m="http://schemas.openxmlformats.org/officeDocument/2006/math">
                    <m:r>
                      <a:rPr lang="en-US" altLang="zh-CN" sz="2000" b="1" i="1" smtClean="0">
                        <a:solidFill>
                          <a:srgbClr val="C00000"/>
                        </a:solidFill>
                        <a:latin typeface="Cambria Math" panose="02040503050406030204" pitchFamily="18" charset="0"/>
                      </a:rPr>
                      <m:t>𝑶</m:t>
                    </m:r>
                    <m:d>
                      <m:dPr>
                        <m:ctrlPr>
                          <a:rPr lang="en-US" altLang="zh-CN" sz="2000" b="1" i="1" smtClean="0">
                            <a:solidFill>
                              <a:srgbClr val="C00000"/>
                            </a:solidFill>
                            <a:latin typeface="Cambria Math" panose="02040503050406030204" pitchFamily="18" charset="0"/>
                          </a:rPr>
                        </m:ctrlPr>
                      </m:dPr>
                      <m:e>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𝒏</m:t>
                            </m:r>
                          </m:e>
                          <m:sup>
                            <m:r>
                              <a:rPr lang="en-US" altLang="zh-CN" sz="2000" b="1" i="1" smtClean="0">
                                <a:solidFill>
                                  <a:srgbClr val="C00000"/>
                                </a:solidFill>
                                <a:latin typeface="Cambria Math" panose="02040503050406030204" pitchFamily="18" charset="0"/>
                              </a:rPr>
                              <m:t>𝟐</m:t>
                            </m:r>
                          </m:sup>
                        </m:sSup>
                      </m:e>
                    </m:d>
                  </m:oMath>
                </a14:m>
                <a:endParaRPr lang="en-US" altLang="zh-CN" sz="2000" b="1">
                  <a:latin typeface="楷体" panose="02010609060101010101" pitchFamily="49" charset="-122"/>
                  <a:ea typeface="楷体" panose="02010609060101010101" pitchFamily="49" charset="-122"/>
                </a:endParaRPr>
              </a:p>
            </p:txBody>
          </p:sp>
        </mc:Choice>
        <mc:Fallback>
          <p:sp>
            <p:nvSpPr>
              <p:cNvPr id="2" name="矩形 1"/>
              <p:cNvSpPr>
                <a:spLocks noRot="1" noChangeAspect="1" noMove="1" noResize="1" noEditPoints="1" noAdjustHandles="1" noChangeArrowheads="1" noChangeShapeType="1" noTextEdit="1"/>
              </p:cNvSpPr>
              <p:nvPr/>
            </p:nvSpPr>
            <p:spPr>
              <a:xfrm>
                <a:off x="763097" y="1588045"/>
                <a:ext cx="8056370" cy="824456"/>
              </a:xfrm>
              <a:prstGeom prst="rect">
                <a:avLst/>
              </a:prstGeom>
              <a:blipFill rotWithShape="1">
                <a:blip r:embed="rId1"/>
                <a:stretch>
                  <a:fillRect l="-6" t="-66" r="7" b="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763097" y="984696"/>
                <a:ext cx="3735446" cy="461665"/>
              </a:xfrm>
              <a:prstGeom prst="rect">
                <a:avLst/>
              </a:prstGeom>
              <a:solidFill>
                <a:schemeClr val="accent4">
                  <a:lumMod val="20000"/>
                  <a:lumOff val="80000"/>
                </a:schemeClr>
              </a:solidFill>
            </p:spPr>
            <p:txBody>
              <a:bodyPr wrap="square" rtlCol="0">
                <a:spAutoFit/>
              </a:bodyPr>
              <a:lstStyle/>
              <a:p>
                <a:r>
                  <a:rPr lang="zh-CN" altLang="en-US" sz="2400" b="1">
                    <a:solidFill>
                      <a:schemeClr val="accent2">
                        <a:lumMod val="50000"/>
                      </a:schemeClr>
                    </a:solidFill>
                    <a:latin typeface="+mn-ea"/>
                  </a:rPr>
                  <a:t>计算两个整数</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𝒂</m:t>
                    </m:r>
                  </m:oMath>
                </a14:m>
                <a:r>
                  <a:rPr lang="zh-CN" altLang="en-US" sz="2400" b="1">
                    <a:solidFill>
                      <a:schemeClr val="accent2">
                        <a:lumMod val="50000"/>
                      </a:schemeClr>
                    </a:solidFill>
                    <a:latin typeface="+mn-ea"/>
                  </a:rPr>
                  <a:t>和</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𝒃</m:t>
                    </m:r>
                  </m:oMath>
                </a14:m>
                <a:r>
                  <a:rPr lang="zh-CN" altLang="en-US" sz="2400" b="1">
                    <a:solidFill>
                      <a:schemeClr val="accent2">
                        <a:lumMod val="50000"/>
                      </a:schemeClr>
                    </a:solidFill>
                    <a:latin typeface="+mn-ea"/>
                  </a:rPr>
                  <a:t>的乘积</a:t>
                </a:r>
                <a:endParaRPr lang="zh-CN" altLang="en-US" sz="2400" b="1">
                  <a:solidFill>
                    <a:schemeClr val="accent2">
                      <a:lumMod val="50000"/>
                    </a:schemeClr>
                  </a:solidFill>
                  <a:latin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763097" y="984696"/>
                <a:ext cx="3735446" cy="461665"/>
              </a:xfrm>
              <a:prstGeom prst="rect">
                <a:avLst/>
              </a:prstGeom>
              <a:blipFill rotWithShape="1">
                <a:blip r:embed="rId2"/>
                <a:stretch>
                  <a:fillRect l="-12" t="-97" r="5" b="10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763097" y="2567993"/>
                <a:ext cx="6696828" cy="2620974"/>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C00000"/>
                    </a:solidFill>
                    <a:latin typeface="+mn-ea"/>
                  </a:rPr>
                  <a:t>快速算法</a:t>
                </a:r>
                <a:r>
                  <a:rPr lang="zh-CN" altLang="en-US" sz="2000" b="1">
                    <a:solidFill>
                      <a:srgbClr val="002060"/>
                    </a:solidFill>
                    <a:latin typeface="楷体" panose="02010609060101010101" pitchFamily="49" charset="-122"/>
                    <a:ea typeface="楷体" panose="02010609060101010101" pitchFamily="49" charset="-122"/>
                  </a:rPr>
                  <a:t>：对于大整数，设</a:t>
                </a:r>
                <a14:m>
                  <m:oMath xmlns:m="http://schemas.openxmlformats.org/officeDocument/2006/math">
                    <m:r>
                      <a:rPr lang="en-US" altLang="zh-CN" sz="2000" b="1" i="1" smtClean="0">
                        <a:solidFill>
                          <a:srgbClr val="002060"/>
                        </a:solidFill>
                        <a:latin typeface="Cambria Math" panose="02040503050406030204" pitchFamily="18" charset="0"/>
                      </a:rPr>
                      <m:t>𝒂</m:t>
                    </m:r>
                  </m:oMath>
                </a14:m>
                <a:r>
                  <a:rPr lang="zh-CN" altLang="en-US" sz="2000"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i="1" smtClean="0">
                        <a:solidFill>
                          <a:srgbClr val="002060"/>
                        </a:solidFill>
                        <a:latin typeface="Cambria Math" panose="02040503050406030204" pitchFamily="18" charset="0"/>
                      </a:rPr>
                      <m:t>𝒃</m:t>
                    </m:r>
                  </m:oMath>
                </a14:m>
                <a:r>
                  <a:rPr lang="zh-CN" altLang="en-US" sz="2000" b="1">
                    <a:solidFill>
                      <a:srgbClr val="002060"/>
                    </a:solidFill>
                    <a:latin typeface="楷体" panose="02010609060101010101" pitchFamily="49" charset="-122"/>
                    <a:ea typeface="楷体" panose="02010609060101010101" pitchFamily="49" charset="-122"/>
                  </a:rPr>
                  <a:t>用二进制位表示各有</a:t>
                </a:r>
                <a14:m>
                  <m:oMath xmlns:m="http://schemas.openxmlformats.org/officeDocument/2006/math">
                    <m:r>
                      <a:rPr lang="en-US" altLang="zh-CN" sz="2000" b="1" i="1" smtClean="0">
                        <a:solidFill>
                          <a:srgbClr val="002060"/>
                        </a:solidFill>
                        <a:latin typeface="Cambria Math" panose="02040503050406030204" pitchFamily="18" charset="0"/>
                      </a:rPr>
                      <m:t>𝟐</m:t>
                    </m:r>
                    <m:r>
                      <a:rPr lang="en-US" altLang="zh-CN" sz="2000" b="1" i="1" smtClean="0">
                        <a:solidFill>
                          <a:srgbClr val="002060"/>
                        </a:solidFill>
                        <a:latin typeface="Cambria Math" panose="02040503050406030204" pitchFamily="18" charset="0"/>
                      </a:rPr>
                      <m:t>𝒏</m:t>
                    </m:r>
                  </m:oMath>
                </a14:m>
                <a:r>
                  <a:rPr lang="zh-CN" altLang="en-US" sz="2000" b="1">
                    <a:solidFill>
                      <a:srgbClr val="002060"/>
                    </a:solidFill>
                    <a:latin typeface="楷体" panose="02010609060101010101" pitchFamily="49" charset="-122"/>
                    <a:ea typeface="楷体" panose="02010609060101010101" pitchFamily="49" charset="-122"/>
                  </a:rPr>
                  <a:t>位</a:t>
                </a:r>
                <a:endParaRPr lang="zh-CN" altLang="en-US" sz="2000" b="1">
                  <a:solidFill>
                    <a:srgbClr val="002060"/>
                  </a:solidFill>
                  <a:latin typeface="楷体" panose="02010609060101010101" pitchFamily="49" charset="-122"/>
                  <a:ea typeface="楷体" panose="02010609060101010101" pitchFamily="49" charset="-122"/>
                </a:endParaRPr>
              </a:p>
              <a:p>
                <a:pPr algn="ctr">
                  <a:spcBef>
                    <a:spcPts val="600"/>
                  </a:spcBef>
                </a:pPr>
                <a14:m>
                  <m:oMath xmlns:m="http://schemas.openxmlformats.org/officeDocument/2006/math">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d>
                          <m:dPr>
                            <m:ctrlPr>
                              <a:rPr lang="en-US" altLang="zh-CN" b="1" i="1" smtClean="0">
                                <a:solidFill>
                                  <a:schemeClr val="accent2">
                                    <a:lumMod val="50000"/>
                                  </a:schemeClr>
                                </a:solidFill>
                                <a:latin typeface="Cambria Math" panose="02040503050406030204" pitchFamily="18" charset="0"/>
                              </a:rPr>
                            </m:ctrlPr>
                          </m:dPr>
                          <m:e>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𝟐</m:t>
                                </m:r>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Sub>
                            <m:sSub>
                              <m:sSubPr>
                                <m:ctrlPr>
                                  <a:rPr lang="en-US" altLang="zh-CN" b="1" i="1">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𝟐</m:t>
                                </m:r>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sub>
                            </m:sSub>
                            <m:r>
                              <a:rPr lang="en-US" altLang="zh-CN" b="1" i="1" smtClean="0">
                                <a:solidFill>
                                  <a:schemeClr val="accent2">
                                    <a:lumMod val="50000"/>
                                  </a:schemeClr>
                                </a:solidFill>
                                <a:latin typeface="Cambria Math" panose="02040503050406030204" pitchFamily="18" charset="0"/>
                              </a:rPr>
                              <m:t>⋯</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𝟏</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𝟎</m:t>
                                </m:r>
                              </m:sub>
                            </m:sSub>
                          </m:e>
                        </m:d>
                      </m:e>
                      <m:sub>
                        <m:r>
                          <a:rPr lang="en-US" altLang="zh-CN" b="1" i="1" smtClean="0">
                            <a:solidFill>
                              <a:schemeClr val="accent2">
                                <a:lumMod val="50000"/>
                              </a:schemeClr>
                            </a:solidFill>
                            <a:latin typeface="Cambria Math" panose="02040503050406030204" pitchFamily="18" charset="0"/>
                          </a:rPr>
                          <m:t>𝟐</m:t>
                        </m:r>
                      </m:sub>
                    </m:sSub>
                  </m:oMath>
                </a14:m>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𝒃</m:t>
                    </m:r>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d>
                          <m:dPr>
                            <m:ctrlPr>
                              <a:rPr lang="en-US" altLang="zh-CN" b="1" i="1" smtClean="0">
                                <a:solidFill>
                                  <a:schemeClr val="accent2">
                                    <a:lumMod val="50000"/>
                                  </a:schemeClr>
                                </a:solidFill>
                                <a:latin typeface="Cambria Math" panose="02040503050406030204" pitchFamily="18" charset="0"/>
                              </a:rPr>
                            </m:ctrlPr>
                          </m:dPr>
                          <m:e>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𝒃</m:t>
                                </m:r>
                              </m:e>
                              <m:sub>
                                <m:r>
                                  <a:rPr lang="en-US" altLang="zh-CN" b="1" i="1">
                                    <a:solidFill>
                                      <a:schemeClr val="accent2">
                                        <a:lumMod val="50000"/>
                                      </a:schemeClr>
                                    </a:solidFill>
                                    <a:latin typeface="Cambria Math" panose="02040503050406030204" pitchFamily="18" charset="0"/>
                                  </a:rPr>
                                  <m:t>𝟐</m:t>
                                </m:r>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Sub>
                            <m:sSub>
                              <m:sSubPr>
                                <m:ctrlPr>
                                  <a:rPr lang="en-US" altLang="zh-CN" b="1" i="1">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𝒃</m:t>
                                </m:r>
                              </m:e>
                              <m:sub>
                                <m:r>
                                  <a:rPr lang="en-US" altLang="zh-CN" b="1" i="1">
                                    <a:solidFill>
                                      <a:schemeClr val="accent2">
                                        <a:lumMod val="50000"/>
                                      </a:schemeClr>
                                    </a:solidFill>
                                    <a:latin typeface="Cambria Math" panose="02040503050406030204" pitchFamily="18" charset="0"/>
                                  </a:rPr>
                                  <m:t>𝟐</m:t>
                                </m:r>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sub>
                            </m:sSub>
                            <m:r>
                              <a:rPr lang="en-US" altLang="zh-CN" b="1" i="1" smtClean="0">
                                <a:solidFill>
                                  <a:schemeClr val="accent2">
                                    <a:lumMod val="50000"/>
                                  </a:schemeClr>
                                </a:solidFill>
                                <a:latin typeface="Cambria Math" panose="02040503050406030204" pitchFamily="18" charset="0"/>
                              </a:rPr>
                              <m:t>⋯</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𝒃</m:t>
                                </m:r>
                              </m:e>
                              <m:sub>
                                <m:r>
                                  <a:rPr lang="en-US" altLang="zh-CN" b="1" i="1" smtClean="0">
                                    <a:solidFill>
                                      <a:schemeClr val="accent2">
                                        <a:lumMod val="50000"/>
                                      </a:schemeClr>
                                    </a:solidFill>
                                    <a:latin typeface="Cambria Math" panose="02040503050406030204" pitchFamily="18" charset="0"/>
                                  </a:rPr>
                                  <m:t>𝟏</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𝒃</m:t>
                                </m:r>
                              </m:e>
                              <m:sub>
                                <m:r>
                                  <a:rPr lang="en-US" altLang="zh-CN" b="1" i="1">
                                    <a:solidFill>
                                      <a:schemeClr val="accent2">
                                        <a:lumMod val="50000"/>
                                      </a:schemeClr>
                                    </a:solidFill>
                                    <a:latin typeface="Cambria Math" panose="02040503050406030204" pitchFamily="18" charset="0"/>
                                  </a:rPr>
                                  <m:t>𝟎</m:t>
                                </m:r>
                              </m:sub>
                            </m:sSub>
                          </m:e>
                        </m:d>
                      </m:e>
                      <m:sub>
                        <m:r>
                          <a:rPr lang="en-US" altLang="zh-CN" b="1" i="1">
                            <a:solidFill>
                              <a:schemeClr val="accent2">
                                <a:lumMod val="50000"/>
                              </a:schemeClr>
                            </a:solidFill>
                            <a:latin typeface="Cambria Math" panose="02040503050406030204" pitchFamily="18" charset="0"/>
                          </a:rPr>
                          <m:t>𝟐</m:t>
                        </m:r>
                      </m:sub>
                    </m:sSub>
                  </m:oMath>
                </a14:m>
                <a:endParaRPr lang="en-US" altLang="zh-CN" b="1"/>
              </a:p>
              <a:p>
                <a:pPr>
                  <a:spcBef>
                    <a:spcPts val="600"/>
                  </a:spcBef>
                </a:pPr>
                <a:r>
                  <a:rPr lang="zh-CN" altLang="en-US" sz="2000" b="1">
                    <a:solidFill>
                      <a:srgbClr val="002060"/>
                    </a:solidFill>
                    <a:latin typeface="楷体" panose="02010609060101010101" pitchFamily="49" charset="-122"/>
                    <a:ea typeface="楷体" panose="02010609060101010101" pitchFamily="49" charset="-122"/>
                  </a:rPr>
                  <a:t>则：</a:t>
                </a:r>
                <a:endParaRPr lang="en-US" altLang="zh-CN" sz="2000" b="1">
                  <a:solidFill>
                    <a:srgbClr val="002060"/>
                  </a:solidFill>
                  <a:latin typeface="楷体" panose="02010609060101010101" pitchFamily="49" charset="-122"/>
                  <a:ea typeface="楷体" panose="02010609060101010101" pitchFamily="49" charset="-122"/>
                </a:endParaRPr>
              </a:p>
              <a:p>
                <a:pPr>
                  <a:spcBef>
                    <a:spcPts val="600"/>
                  </a:spcBef>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𝒂𝒃</m:t>
                      </m:r>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sSup>
                            <m:sSupPr>
                              <m:ctrlPr>
                                <a:rPr lang="en-US" altLang="zh-CN" b="1" i="1" smtClean="0">
                                  <a:solidFill>
                                    <a:schemeClr val="accent2">
                                      <a:lumMod val="50000"/>
                                    </a:schemeClr>
                                  </a:solidFill>
                                  <a:latin typeface="Cambria Math" panose="02040503050406030204" pitchFamily="18" charset="0"/>
                                </a:rPr>
                              </m:ctrlPr>
                            </m:sSupPr>
                            <m:e>
                              <m:r>
                                <a:rPr lang="en-US" altLang="zh-CN" b="1" i="1">
                                  <a:solidFill>
                                    <a:schemeClr val="accent2">
                                      <a:lumMod val="50000"/>
                                    </a:schemeClr>
                                  </a:solidFill>
                                  <a:latin typeface="Cambria Math" panose="02040503050406030204" pitchFamily="18" charset="0"/>
                                </a:rPr>
                                <m:t>𝟐</m:t>
                              </m:r>
                            </m:e>
                            <m:sup>
                              <m:r>
                                <a:rPr lang="en-US" altLang="zh-CN" b="1" i="1">
                                  <a:solidFill>
                                    <a:schemeClr val="accent2">
                                      <a:lumMod val="50000"/>
                                    </a:schemeClr>
                                  </a:solidFill>
                                  <a:latin typeface="Cambria Math" panose="02040503050406030204" pitchFamily="18" charset="0"/>
                                </a:rPr>
                                <m:t>𝟐</m:t>
                              </m:r>
                              <m:r>
                                <a:rPr lang="en-US" altLang="zh-CN" b="1" i="1">
                                  <a:solidFill>
                                    <a:schemeClr val="accent2">
                                      <a:lumMod val="50000"/>
                                    </a:schemeClr>
                                  </a:solidFill>
                                  <a:latin typeface="Cambria Math" panose="02040503050406030204" pitchFamily="18" charset="0"/>
                                </a:rPr>
                                <m:t>𝒏</m:t>
                              </m:r>
                            </m:sup>
                          </m:sSup>
                          <m:r>
                            <a:rPr lang="en-US" altLang="zh-CN" b="1" i="1">
                              <a:solidFill>
                                <a:schemeClr val="accent2">
                                  <a:lumMod val="50000"/>
                                </a:schemeClr>
                              </a:solidFill>
                              <a:latin typeface="Cambria Math" panose="02040503050406030204" pitchFamily="18" charset="0"/>
                            </a:rPr>
                            <m:t>+ </m:t>
                          </m:r>
                          <m:sSup>
                            <m:sSupPr>
                              <m:ctrlPr>
                                <a:rPr lang="en-US" altLang="zh-CN" b="1" i="1">
                                  <a:solidFill>
                                    <a:schemeClr val="accent2">
                                      <a:lumMod val="50000"/>
                                    </a:schemeClr>
                                  </a:solidFill>
                                  <a:latin typeface="Cambria Math" panose="02040503050406030204" pitchFamily="18" charset="0"/>
                                </a:rPr>
                              </m:ctrlPr>
                            </m:sSupPr>
                            <m:e>
                              <m:r>
                                <a:rPr lang="en-US" altLang="zh-CN" b="1" i="1">
                                  <a:solidFill>
                                    <a:schemeClr val="accent2">
                                      <a:lumMod val="50000"/>
                                    </a:schemeClr>
                                  </a:solidFill>
                                  <a:latin typeface="Cambria Math" panose="02040503050406030204" pitchFamily="18" charset="0"/>
                                </a:rPr>
                                <m:t>𝟐</m:t>
                              </m:r>
                            </m:e>
                            <m:sup>
                              <m:r>
                                <a:rPr lang="en-US" altLang="zh-CN" b="1" i="1">
                                  <a:solidFill>
                                    <a:schemeClr val="accent2">
                                      <a:lumMod val="50000"/>
                                    </a:schemeClr>
                                  </a:solidFill>
                                  <a:latin typeface="Cambria Math" panose="02040503050406030204" pitchFamily="18" charset="0"/>
                                </a:rPr>
                                <m:t>𝒏</m:t>
                              </m:r>
                            </m:sup>
                          </m:sSup>
                        </m:e>
                      </m:d>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𝑨</m:t>
                          </m:r>
                        </m:e>
                        <m:sub>
                          <m:r>
                            <a:rPr lang="en-US" altLang="zh-CN" b="1" i="1" smtClean="0">
                              <a:solidFill>
                                <a:srgbClr val="C00000"/>
                              </a:solidFill>
                              <a:latin typeface="Cambria Math" panose="02040503050406030204" pitchFamily="18" charset="0"/>
                            </a:rPr>
                            <m:t>𝟏</m:t>
                          </m:r>
                        </m:sub>
                      </m:sSub>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𝑩</m:t>
                          </m:r>
                        </m:e>
                        <m:sub>
                          <m:r>
                            <a:rPr lang="en-US" altLang="zh-CN" b="1" i="1">
                              <a:solidFill>
                                <a:srgbClr val="C00000"/>
                              </a:solidFill>
                              <a:latin typeface="Cambria Math" panose="02040503050406030204" pitchFamily="18" charset="0"/>
                            </a:rPr>
                            <m:t>𝟏</m:t>
                          </m:r>
                        </m:sub>
                      </m:sSub>
                      <m:r>
                        <a:rPr lang="en-US" altLang="zh-CN" b="1" i="1">
                          <a:solidFill>
                            <a:schemeClr val="accent2">
                              <a:lumMod val="50000"/>
                            </a:schemeClr>
                          </a:solidFill>
                          <a:latin typeface="Cambria Math" panose="02040503050406030204" pitchFamily="18" charset="0"/>
                        </a:rPr>
                        <m:t>+</m:t>
                      </m:r>
                      <m:sSup>
                        <m:sSupPr>
                          <m:ctrlPr>
                            <a:rPr lang="en-US" altLang="zh-CN" b="1" i="1">
                              <a:solidFill>
                                <a:schemeClr val="accent2">
                                  <a:lumMod val="50000"/>
                                </a:schemeClr>
                              </a:solidFill>
                              <a:latin typeface="Cambria Math" panose="02040503050406030204" pitchFamily="18" charset="0"/>
                            </a:rPr>
                          </m:ctrlPr>
                        </m:sSupPr>
                        <m:e>
                          <m:r>
                            <a:rPr lang="en-US" altLang="zh-CN" b="1" i="1">
                              <a:solidFill>
                                <a:schemeClr val="accent2">
                                  <a:lumMod val="50000"/>
                                </a:schemeClr>
                              </a:solidFill>
                              <a:latin typeface="Cambria Math" panose="02040503050406030204" pitchFamily="18" charset="0"/>
                            </a:rPr>
                            <m:t>𝟐</m:t>
                          </m:r>
                        </m:e>
                        <m:sup>
                          <m:r>
                            <a:rPr lang="en-US" altLang="zh-CN" b="1" i="1" smtClean="0">
                              <a:solidFill>
                                <a:schemeClr val="accent2">
                                  <a:lumMod val="50000"/>
                                </a:schemeClr>
                              </a:solidFill>
                              <a:latin typeface="Cambria Math" panose="02040503050406030204" pitchFamily="18" charset="0"/>
                            </a:rPr>
                            <m:t>𝒏</m:t>
                          </m:r>
                        </m:sup>
                      </m:sSup>
                      <m:d>
                        <m:dPr>
                          <m:ctrlPr>
                            <a:rPr lang="en-US" altLang="zh-CN" b="1" i="1" smtClean="0">
                              <a:solidFill>
                                <a:srgbClr val="C00000"/>
                              </a:solidFill>
                              <a:latin typeface="Cambria Math" panose="02040503050406030204" pitchFamily="18" charset="0"/>
                            </a:rPr>
                          </m:ctrlPr>
                        </m:dPr>
                        <m:e>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𝑨</m:t>
                              </m:r>
                            </m:e>
                            <m:sub>
                              <m:r>
                                <a:rPr lang="en-US" altLang="zh-CN" b="1" i="1">
                                  <a:solidFill>
                                    <a:srgbClr val="C00000"/>
                                  </a:solidFill>
                                  <a:latin typeface="Cambria Math" panose="02040503050406030204" pitchFamily="18" charset="0"/>
                                </a:rPr>
                                <m:t>𝟏</m:t>
                              </m:r>
                            </m:sub>
                          </m:sSub>
                          <m:r>
                            <a:rPr lang="en-US" altLang="zh-CN" b="1" i="1">
                              <a:solidFill>
                                <a:srgbClr val="C00000"/>
                              </a:solidFill>
                              <a:latin typeface="Cambria Math" panose="02040503050406030204" pitchFamily="18" charset="0"/>
                            </a:rPr>
                            <m:t>− </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𝑨</m:t>
                              </m:r>
                            </m:e>
                            <m:sub>
                              <m:r>
                                <a:rPr lang="en-US" altLang="zh-CN" b="1" i="1">
                                  <a:solidFill>
                                    <a:srgbClr val="C00000"/>
                                  </a:solidFill>
                                  <a:latin typeface="Cambria Math" panose="02040503050406030204" pitchFamily="18" charset="0"/>
                                </a:rPr>
                                <m:t>𝟎</m:t>
                              </m:r>
                            </m:sub>
                          </m:sSub>
                        </m:e>
                      </m:d>
                      <m:d>
                        <m:dPr>
                          <m:ctrlPr>
                            <a:rPr lang="en-US" altLang="zh-CN" b="1" i="1" smtClean="0">
                              <a:solidFill>
                                <a:srgbClr val="C00000"/>
                              </a:solidFill>
                              <a:latin typeface="Cambria Math" panose="02040503050406030204" pitchFamily="18" charset="0"/>
                            </a:rPr>
                          </m:ctrlPr>
                        </m:dPr>
                        <m:e>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𝑩</m:t>
                              </m:r>
                            </m:e>
                            <m:sub>
                              <m:r>
                                <a:rPr lang="en-US" altLang="zh-CN" b="1" i="1">
                                  <a:solidFill>
                                    <a:srgbClr val="C00000"/>
                                  </a:solidFill>
                                  <a:latin typeface="Cambria Math" panose="02040503050406030204" pitchFamily="18" charset="0"/>
                                </a:rPr>
                                <m:t>𝟎</m:t>
                              </m:r>
                            </m:sub>
                          </m:sSub>
                          <m:r>
                            <a:rPr lang="en-US" altLang="zh-CN" b="1" i="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𝑩</m:t>
                              </m:r>
                            </m:e>
                            <m:sub>
                              <m:r>
                                <a:rPr lang="en-US" altLang="zh-CN" b="1" i="1">
                                  <a:solidFill>
                                    <a:srgbClr val="C00000"/>
                                  </a:solidFill>
                                  <a:latin typeface="Cambria Math" panose="02040503050406030204" pitchFamily="18" charset="0"/>
                                </a:rPr>
                                <m:t>𝟏</m:t>
                              </m:r>
                            </m:sub>
                          </m:sSub>
                        </m:e>
                      </m:d>
                      <m:r>
                        <a:rPr lang="en-US" altLang="zh-CN" b="1" i="1">
                          <a:solidFill>
                            <a:schemeClr val="accent2">
                              <a:lumMod val="50000"/>
                            </a:schemeClr>
                          </a:solidFill>
                          <a:latin typeface="Cambria Math" panose="02040503050406030204" pitchFamily="18" charset="0"/>
                        </a:rPr>
                        <m:t>+</m:t>
                      </m:r>
                      <m:d>
                        <m:dPr>
                          <m:ctrlPr>
                            <a:rPr lang="en-US" altLang="zh-CN" b="1" i="1">
                              <a:solidFill>
                                <a:schemeClr val="accent2">
                                  <a:lumMod val="50000"/>
                                </a:schemeClr>
                              </a:solidFill>
                              <a:latin typeface="Cambria Math" panose="02040503050406030204" pitchFamily="18" charset="0"/>
                            </a:rPr>
                          </m:ctrlPr>
                        </m:dPr>
                        <m:e>
                          <m:sSup>
                            <m:sSupPr>
                              <m:ctrlPr>
                                <a:rPr lang="en-US" altLang="zh-CN" b="1" i="1">
                                  <a:solidFill>
                                    <a:schemeClr val="accent2">
                                      <a:lumMod val="50000"/>
                                    </a:schemeClr>
                                  </a:solidFill>
                                  <a:latin typeface="Cambria Math" panose="02040503050406030204" pitchFamily="18" charset="0"/>
                                </a:rPr>
                              </m:ctrlPr>
                            </m:sSupPr>
                            <m:e>
                              <m:r>
                                <a:rPr lang="en-US" altLang="zh-CN" b="1" i="1">
                                  <a:solidFill>
                                    <a:schemeClr val="accent2">
                                      <a:lumMod val="50000"/>
                                    </a:schemeClr>
                                  </a:solidFill>
                                  <a:latin typeface="Cambria Math" panose="02040503050406030204" pitchFamily="18" charset="0"/>
                                </a:rPr>
                                <m:t>𝟐</m:t>
                              </m:r>
                            </m:e>
                            <m:sup>
                              <m:r>
                                <a:rPr lang="en-US" altLang="zh-CN" b="1" i="1">
                                  <a:solidFill>
                                    <a:schemeClr val="accent2">
                                      <a:lumMod val="50000"/>
                                    </a:schemeClr>
                                  </a:solidFill>
                                  <a:latin typeface="Cambria Math" panose="02040503050406030204" pitchFamily="18" charset="0"/>
                                </a:rPr>
                                <m:t>𝒏</m:t>
                              </m:r>
                            </m:sup>
                          </m:sSup>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e>
                      </m:d>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𝑨</m:t>
                          </m:r>
                        </m:e>
                        <m:sub>
                          <m:r>
                            <a:rPr lang="en-US" altLang="zh-CN" b="1" i="1" smtClean="0">
                              <a:solidFill>
                                <a:srgbClr val="C00000"/>
                              </a:solidFill>
                              <a:latin typeface="Cambria Math" panose="02040503050406030204" pitchFamily="18" charset="0"/>
                            </a:rPr>
                            <m:t>𝟎</m:t>
                          </m:r>
                        </m:sub>
                      </m:sSub>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𝑩</m:t>
                          </m:r>
                        </m:e>
                        <m:sub>
                          <m:r>
                            <a:rPr lang="en-US" altLang="zh-CN" b="1" i="1">
                              <a:solidFill>
                                <a:srgbClr val="C00000"/>
                              </a:solidFill>
                              <a:latin typeface="Cambria Math" panose="02040503050406030204" pitchFamily="18" charset="0"/>
                            </a:rPr>
                            <m:t>𝟎</m:t>
                          </m:r>
                        </m:sub>
                      </m:sSub>
                    </m:oMath>
                  </m:oMathPara>
                </a14:m>
                <a:endParaRPr lang="en-US" altLang="zh-CN" b="1"/>
              </a:p>
              <a:p>
                <a:pPr>
                  <a:spcBef>
                    <a:spcPts val="600"/>
                  </a:spcBef>
                </a:pPr>
                <a:r>
                  <a:rPr lang="zh-CN" altLang="en-US" sz="2000" b="1">
                    <a:solidFill>
                      <a:srgbClr val="002060"/>
                    </a:solidFill>
                    <a:latin typeface="楷体" panose="02010609060101010101" pitchFamily="49" charset="-122"/>
                    <a:ea typeface="楷体" panose="02010609060101010101" pitchFamily="49" charset="-122"/>
                  </a:rPr>
                  <a:t>这里：</a:t>
                </a:r>
                <a:endParaRPr lang="en-US" altLang="zh-CN" sz="2000" b="1">
                  <a:solidFill>
                    <a:srgbClr val="002060"/>
                  </a:solidFill>
                  <a:latin typeface="楷体" panose="02010609060101010101" pitchFamily="49" charset="-122"/>
                  <a:ea typeface="楷体" panose="02010609060101010101" pitchFamily="49" charset="-122"/>
                </a:endParaRPr>
              </a:p>
              <a:p>
                <a:pPr algn="ctr">
                  <a:spcBef>
                    <a:spcPts val="600"/>
                  </a:spcBef>
                </a:pP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𝑨</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d>
                          <m:dPr>
                            <m:ctrlPr>
                              <a:rPr lang="en-US" altLang="zh-CN" b="1" i="1" smtClean="0">
                                <a:solidFill>
                                  <a:schemeClr val="accent2">
                                    <a:lumMod val="50000"/>
                                  </a:schemeClr>
                                </a:solidFill>
                                <a:latin typeface="Cambria Math" panose="02040503050406030204" pitchFamily="18" charset="0"/>
                              </a:rPr>
                            </m:ctrlPr>
                          </m:dPr>
                          <m:e>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𝟐</m:t>
                                </m:r>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𝟐</m:t>
                                </m:r>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𝟐</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𝒏</m:t>
                                </m:r>
                              </m:sub>
                            </m:sSub>
                          </m:e>
                        </m:d>
                      </m:e>
                      <m:sub>
                        <m:r>
                          <a:rPr lang="en-US" altLang="zh-CN" b="1" i="1" smtClean="0">
                            <a:solidFill>
                              <a:schemeClr val="accent2">
                                <a:lumMod val="50000"/>
                              </a:schemeClr>
                            </a:solidFill>
                            <a:latin typeface="Cambria Math" panose="02040503050406030204" pitchFamily="18" charset="0"/>
                          </a:rPr>
                          <m:t>𝟐</m:t>
                        </m:r>
                      </m:sub>
                    </m:sSub>
                  </m:oMath>
                </a14:m>
                <a:r>
                  <a:rPr lang="en-US" altLang="zh-CN" b="1">
                    <a:solidFill>
                      <a:schemeClr val="accent2">
                        <a:lumMod val="50000"/>
                      </a:schemeClr>
                    </a:solidFill>
                  </a:rPr>
                  <a:t>    </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𝑨</m:t>
                        </m:r>
                      </m:e>
                      <m:sub>
                        <m:r>
                          <a:rPr lang="en-US" altLang="zh-CN" b="1" i="1" smtClean="0">
                            <a:solidFill>
                              <a:schemeClr val="accent2">
                                <a:lumMod val="50000"/>
                              </a:schemeClr>
                            </a:solidFill>
                            <a:latin typeface="Cambria Math" panose="02040503050406030204" pitchFamily="18" charset="0"/>
                          </a:rPr>
                          <m:t>𝟎</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d>
                          <m:dPr>
                            <m:ctrlPr>
                              <a:rPr lang="en-US" altLang="zh-CN" b="1" i="1" smtClean="0">
                                <a:solidFill>
                                  <a:schemeClr val="accent2">
                                    <a:lumMod val="50000"/>
                                  </a:schemeClr>
                                </a:solidFill>
                                <a:latin typeface="Cambria Math" panose="02040503050406030204" pitchFamily="18" charset="0"/>
                              </a:rPr>
                            </m:ctrlPr>
                          </m:dPr>
                          <m:e>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Sub>
                            <m:r>
                              <a:rPr lang="en-US" altLang="zh-CN" b="1" i="1">
                                <a:solidFill>
                                  <a:schemeClr val="accent2">
                                    <a:lumMod val="50000"/>
                                  </a:schemeClr>
                                </a:solidFill>
                                <a:latin typeface="Cambria Math" panose="02040503050406030204" pitchFamily="18" charset="0"/>
                              </a:rPr>
                              <m:t>⋯</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𝒂</m:t>
                                </m:r>
                              </m:e>
                              <m:sub>
                                <m:r>
                                  <a:rPr lang="en-US" altLang="zh-CN" b="1" i="1" smtClean="0">
                                    <a:solidFill>
                                      <a:schemeClr val="accent2">
                                        <a:lumMod val="50000"/>
                                      </a:schemeClr>
                                    </a:solidFill>
                                    <a:latin typeface="Cambria Math" panose="02040503050406030204" pitchFamily="18" charset="0"/>
                                  </a:rPr>
                                  <m:t>𝟏</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𝒂</m:t>
                                </m:r>
                              </m:e>
                              <m:sub>
                                <m:r>
                                  <a:rPr lang="en-US" altLang="zh-CN" b="1" i="1">
                                    <a:solidFill>
                                      <a:schemeClr val="accent2">
                                        <a:lumMod val="50000"/>
                                      </a:schemeClr>
                                    </a:solidFill>
                                    <a:latin typeface="Cambria Math" panose="02040503050406030204" pitchFamily="18" charset="0"/>
                                  </a:rPr>
                                  <m:t>𝟎</m:t>
                                </m:r>
                              </m:sub>
                            </m:sSub>
                          </m:e>
                        </m:d>
                      </m:e>
                      <m:sub>
                        <m:r>
                          <a:rPr lang="en-US" altLang="zh-CN" b="1" i="1">
                            <a:solidFill>
                              <a:schemeClr val="accent2">
                                <a:lumMod val="50000"/>
                              </a:schemeClr>
                            </a:solidFill>
                            <a:latin typeface="Cambria Math" panose="02040503050406030204" pitchFamily="18" charset="0"/>
                          </a:rPr>
                          <m:t>𝟐</m:t>
                        </m:r>
                      </m:sub>
                    </m:sSub>
                  </m:oMath>
                </a14:m>
                <a:endParaRPr lang="en-US" altLang="zh-CN" b="1">
                  <a:solidFill>
                    <a:schemeClr val="accent2">
                      <a:lumMod val="50000"/>
                    </a:schemeClr>
                  </a:solidFill>
                </a:endParaRPr>
              </a:p>
              <a:p>
                <a:pPr algn="ctr">
                  <a:spcBef>
                    <a:spcPts val="600"/>
                  </a:spcBef>
                </a:pP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𝑩</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d>
                          <m:dPr>
                            <m:ctrlPr>
                              <a:rPr lang="en-US" altLang="zh-CN" b="1" i="1" smtClean="0">
                                <a:solidFill>
                                  <a:schemeClr val="accent2">
                                    <a:lumMod val="50000"/>
                                  </a:schemeClr>
                                </a:solidFill>
                                <a:latin typeface="Cambria Math" panose="02040503050406030204" pitchFamily="18" charset="0"/>
                              </a:rPr>
                            </m:ctrlPr>
                          </m:dPr>
                          <m:e>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𝒃</m:t>
                                </m:r>
                              </m:e>
                              <m:sub>
                                <m:r>
                                  <a:rPr lang="en-US" altLang="zh-CN" b="1" i="1">
                                    <a:solidFill>
                                      <a:schemeClr val="accent2">
                                        <a:lumMod val="50000"/>
                                      </a:schemeClr>
                                    </a:solidFill>
                                    <a:latin typeface="Cambria Math" panose="02040503050406030204" pitchFamily="18" charset="0"/>
                                  </a:rPr>
                                  <m:t>𝟐</m:t>
                                </m:r>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Sub>
                            <m:sSub>
                              <m:sSubPr>
                                <m:ctrlPr>
                                  <a:rPr lang="en-US" altLang="zh-CN" b="1" i="1">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𝒃</m:t>
                                </m:r>
                              </m:e>
                              <m:sub>
                                <m:r>
                                  <a:rPr lang="en-US" altLang="zh-CN" b="1" i="1">
                                    <a:solidFill>
                                      <a:schemeClr val="accent2">
                                        <a:lumMod val="50000"/>
                                      </a:schemeClr>
                                    </a:solidFill>
                                    <a:latin typeface="Cambria Math" panose="02040503050406030204" pitchFamily="18" charset="0"/>
                                  </a:rPr>
                                  <m:t>𝟐</m:t>
                                </m:r>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𝟐</m:t>
                                </m:r>
                              </m:sub>
                            </m:sSub>
                            <m:r>
                              <a:rPr lang="en-US" altLang="zh-CN" b="1" i="1" smtClean="0">
                                <a:solidFill>
                                  <a:schemeClr val="accent2">
                                    <a:lumMod val="50000"/>
                                  </a:schemeClr>
                                </a:solidFill>
                                <a:latin typeface="Cambria Math" panose="02040503050406030204" pitchFamily="18" charset="0"/>
                              </a:rPr>
                              <m:t>⋯</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𝒃</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Sub>
                            <m:sSub>
                              <m:sSubPr>
                                <m:ctrlPr>
                                  <a:rPr lang="en-US" altLang="zh-CN" b="1" i="1">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𝒃</m:t>
                                </m:r>
                              </m:e>
                              <m:sub>
                                <m:r>
                                  <a:rPr lang="en-US" altLang="zh-CN" b="1" i="1">
                                    <a:solidFill>
                                      <a:schemeClr val="accent2">
                                        <a:lumMod val="50000"/>
                                      </a:schemeClr>
                                    </a:solidFill>
                                    <a:latin typeface="Cambria Math" panose="02040503050406030204" pitchFamily="18" charset="0"/>
                                  </a:rPr>
                                  <m:t>𝒏</m:t>
                                </m:r>
                              </m:sub>
                            </m:sSub>
                          </m:e>
                        </m:d>
                      </m:e>
                      <m:sub>
                        <m:r>
                          <a:rPr lang="en-US" altLang="zh-CN" b="1" i="1" smtClean="0">
                            <a:solidFill>
                              <a:schemeClr val="accent2">
                                <a:lumMod val="50000"/>
                              </a:schemeClr>
                            </a:solidFill>
                            <a:latin typeface="Cambria Math" panose="02040503050406030204" pitchFamily="18" charset="0"/>
                          </a:rPr>
                          <m:t>𝟐</m:t>
                        </m:r>
                      </m:sub>
                    </m:sSub>
                  </m:oMath>
                </a14:m>
                <a:r>
                  <a:rPr lang="en-US" altLang="zh-CN" b="1">
                    <a:solidFill>
                      <a:schemeClr val="accent2">
                        <a:lumMod val="50000"/>
                      </a:schemeClr>
                    </a:solidFill>
                  </a:rPr>
                  <a:t>     </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𝑩</m:t>
                        </m:r>
                      </m:e>
                      <m:sub>
                        <m:r>
                          <a:rPr lang="en-US" altLang="zh-CN" b="1" i="1" smtClean="0">
                            <a:solidFill>
                              <a:schemeClr val="accent2">
                                <a:lumMod val="50000"/>
                              </a:schemeClr>
                            </a:solidFill>
                            <a:latin typeface="Cambria Math" panose="02040503050406030204" pitchFamily="18" charset="0"/>
                          </a:rPr>
                          <m:t>𝟎</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d>
                          <m:dPr>
                            <m:ctrlPr>
                              <a:rPr lang="en-US" altLang="zh-CN" b="1" i="1" smtClean="0">
                                <a:solidFill>
                                  <a:schemeClr val="accent2">
                                    <a:lumMod val="50000"/>
                                  </a:schemeClr>
                                </a:solidFill>
                                <a:latin typeface="Cambria Math" panose="02040503050406030204" pitchFamily="18" charset="0"/>
                              </a:rPr>
                            </m:ctrlPr>
                          </m:dPr>
                          <m:e>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𝒃</m:t>
                                </m:r>
                              </m:e>
                              <m:sub>
                                <m:r>
                                  <a:rPr lang="en-US" altLang="zh-CN" b="1" i="1">
                                    <a:solidFill>
                                      <a:schemeClr val="accent2">
                                        <a:lumMod val="50000"/>
                                      </a:schemeClr>
                                    </a:solidFill>
                                    <a:latin typeface="Cambria Math" panose="02040503050406030204" pitchFamily="18" charset="0"/>
                                  </a:rPr>
                                  <m:t>𝒏</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Sub>
                            <m:r>
                              <a:rPr lang="en-US" altLang="zh-CN" b="1" i="1">
                                <a:solidFill>
                                  <a:schemeClr val="accent2">
                                    <a:lumMod val="50000"/>
                                  </a:schemeClr>
                                </a:solidFill>
                                <a:latin typeface="Cambria Math" panose="02040503050406030204" pitchFamily="18" charset="0"/>
                              </a:rPr>
                              <m:t>⋯</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𝒃</m:t>
                                </m:r>
                              </m:e>
                              <m:sub>
                                <m:r>
                                  <a:rPr lang="en-US" altLang="zh-CN" b="1" i="1" smtClean="0">
                                    <a:solidFill>
                                      <a:schemeClr val="accent2">
                                        <a:lumMod val="50000"/>
                                      </a:schemeClr>
                                    </a:solidFill>
                                    <a:latin typeface="Cambria Math" panose="02040503050406030204" pitchFamily="18" charset="0"/>
                                  </a:rPr>
                                  <m:t>𝟏</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𝒃</m:t>
                                </m:r>
                              </m:e>
                              <m:sub>
                                <m:r>
                                  <a:rPr lang="en-US" altLang="zh-CN" b="1" i="1">
                                    <a:solidFill>
                                      <a:schemeClr val="accent2">
                                        <a:lumMod val="50000"/>
                                      </a:schemeClr>
                                    </a:solidFill>
                                    <a:latin typeface="Cambria Math" panose="02040503050406030204" pitchFamily="18" charset="0"/>
                                  </a:rPr>
                                  <m:t>𝟎</m:t>
                                </m:r>
                              </m:sub>
                            </m:sSub>
                          </m:e>
                        </m:d>
                      </m:e>
                      <m:sub>
                        <m:r>
                          <a:rPr lang="en-US" altLang="zh-CN" b="1" i="1" smtClean="0">
                            <a:solidFill>
                              <a:schemeClr val="accent2">
                                <a:lumMod val="50000"/>
                              </a:schemeClr>
                            </a:solidFill>
                            <a:latin typeface="Cambria Math" panose="02040503050406030204" pitchFamily="18" charset="0"/>
                          </a:rPr>
                          <m:t>𝟐</m:t>
                        </m:r>
                      </m:sub>
                    </m:sSub>
                  </m:oMath>
                </a14:m>
                <a:endParaRPr lang="en-US" altLang="zh-CN" b="1"/>
              </a:p>
            </p:txBody>
          </p:sp>
        </mc:Choice>
        <mc:Fallback>
          <p:sp>
            <p:nvSpPr>
              <p:cNvPr id="4" name="文本框 3"/>
              <p:cNvSpPr txBox="1">
                <a:spLocks noRot="1" noChangeAspect="1" noMove="1" noResize="1" noEditPoints="1" noAdjustHandles="1" noChangeArrowheads="1" noChangeShapeType="1" noTextEdit="1"/>
              </p:cNvSpPr>
              <p:nvPr/>
            </p:nvSpPr>
            <p:spPr>
              <a:xfrm>
                <a:off x="763097" y="2567993"/>
                <a:ext cx="6696828" cy="2620974"/>
              </a:xfrm>
              <a:prstGeom prst="rect">
                <a:avLst/>
              </a:prstGeom>
              <a:blipFill rotWithShape="1">
                <a:blip r:embed="rId3"/>
                <a:stretch>
                  <a:fillRect l="-7" t="-2" r="9" b="1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763097" y="5394330"/>
                <a:ext cx="6999435" cy="736612"/>
              </a:xfrm>
              <a:prstGeom prst="rect">
                <a:avLst/>
              </a:prstGeom>
              <a:solidFill>
                <a:schemeClr val="accent2">
                  <a:lumMod val="20000"/>
                  <a:lumOff val="80000"/>
                </a:schemeClr>
              </a:solidFill>
            </p:spPr>
            <p:txBody>
              <a:bodyPr wrap="square" rtlCol="0">
                <a:spAutoFit/>
              </a:bodyPr>
              <a:lstStyle/>
              <a:p>
                <a:pPr>
                  <a:lnSpc>
                    <a:spcPts val="2600"/>
                  </a:lnSpc>
                </a:pPr>
                <a:r>
                  <a:rPr lang="zh-CN" altLang="en-US" b="1">
                    <a:solidFill>
                      <a:schemeClr val="accent2">
                        <a:lumMod val="50000"/>
                      </a:schemeClr>
                    </a:solidFill>
                  </a:rPr>
                  <a:t>乘</a:t>
                </a:r>
                <a14:m>
                  <m:oMath xmlns:m="http://schemas.openxmlformats.org/officeDocument/2006/math">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𝟐</m:t>
                        </m:r>
                      </m:e>
                      <m:sup>
                        <m:r>
                          <a:rPr lang="en-US" altLang="zh-CN" b="1" i="1" smtClean="0">
                            <a:solidFill>
                              <a:schemeClr val="accent2">
                                <a:lumMod val="50000"/>
                              </a:schemeClr>
                            </a:solidFill>
                            <a:latin typeface="Cambria Math" panose="02040503050406030204" pitchFamily="18" charset="0"/>
                          </a:rPr>
                          <m:t>𝟐</m:t>
                        </m:r>
                        <m:r>
                          <a:rPr lang="en-US" altLang="zh-CN" b="1" i="1" smtClean="0">
                            <a:solidFill>
                              <a:schemeClr val="accent2">
                                <a:lumMod val="50000"/>
                              </a:schemeClr>
                            </a:solidFill>
                            <a:latin typeface="Cambria Math" panose="02040503050406030204" pitchFamily="18" charset="0"/>
                          </a:rPr>
                          <m:t>𝒏</m:t>
                        </m:r>
                      </m:sup>
                    </m:sSup>
                  </m:oMath>
                </a14:m>
                <a:r>
                  <a:rPr lang="en-US" altLang="zh-CN" b="1">
                    <a:solidFill>
                      <a:schemeClr val="accent2">
                        <a:lumMod val="50000"/>
                      </a:schemeClr>
                    </a:solidFill>
                  </a:rPr>
                  <a:t>, </a:t>
                </a:r>
                <a14:m>
                  <m:oMath xmlns:m="http://schemas.openxmlformats.org/officeDocument/2006/math">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𝟐</m:t>
                        </m:r>
                      </m:e>
                      <m:sup>
                        <m:r>
                          <a:rPr lang="en-US" altLang="zh-CN" b="1" i="1" smtClean="0">
                            <a:solidFill>
                              <a:schemeClr val="accent2">
                                <a:lumMod val="50000"/>
                              </a:schemeClr>
                            </a:solidFill>
                            <a:latin typeface="Cambria Math" panose="02040503050406030204" pitchFamily="18" charset="0"/>
                          </a:rPr>
                          <m:t>𝒏</m:t>
                        </m:r>
                      </m:sup>
                    </m:sSup>
                  </m:oMath>
                </a14:m>
                <a:r>
                  <a:rPr lang="zh-CN" altLang="en-US" b="1">
                    <a:solidFill>
                      <a:schemeClr val="accent2">
                        <a:lumMod val="50000"/>
                      </a:schemeClr>
                    </a:solidFill>
                  </a:rPr>
                  <a:t>等只需移位操作，要做的乘法是</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𝑨</m:t>
                        </m:r>
                      </m:e>
                      <m:sub>
                        <m:r>
                          <a:rPr lang="en-US" altLang="zh-CN" b="1" i="1" smtClean="0">
                            <a:solidFill>
                              <a:schemeClr val="accent2">
                                <a:lumMod val="50000"/>
                              </a:schemeClr>
                            </a:solidFill>
                            <a:latin typeface="Cambria Math" panose="02040503050406030204" pitchFamily="18" charset="0"/>
                          </a:rPr>
                          <m:t>𝟏</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𝑩</m:t>
                        </m:r>
                      </m:e>
                      <m:sub>
                        <m:r>
                          <a:rPr lang="en-US" altLang="zh-CN" b="1" i="1">
                            <a:solidFill>
                              <a:schemeClr val="accent2">
                                <a:lumMod val="50000"/>
                              </a:schemeClr>
                            </a:solidFill>
                            <a:latin typeface="Cambria Math" panose="02040503050406030204" pitchFamily="18" charset="0"/>
                          </a:rPr>
                          <m:t>𝟏</m:t>
                        </m:r>
                      </m:sub>
                    </m:sSub>
                  </m:oMath>
                </a14:m>
                <a:r>
                  <a:rPr lang="en-US" altLang="zh-CN" b="1">
                    <a:solidFill>
                      <a:schemeClr val="accent2">
                        <a:lumMod val="50000"/>
                      </a:schemeClr>
                    </a:solidFill>
                  </a:rPr>
                  <a:t>, </a:t>
                </a:r>
                <a14:m>
                  <m:oMath xmlns:m="http://schemas.openxmlformats.org/officeDocument/2006/math">
                    <m:d>
                      <m:dPr>
                        <m:ctrlPr>
                          <a:rPr lang="en-US" altLang="zh-CN" b="1" i="1" smtClean="0">
                            <a:solidFill>
                              <a:schemeClr val="accent2">
                                <a:lumMod val="50000"/>
                              </a:schemeClr>
                            </a:solidFill>
                            <a:latin typeface="Cambria Math" panose="02040503050406030204" pitchFamily="18" charset="0"/>
                          </a:rPr>
                        </m:ctrlPr>
                      </m:dPr>
                      <m:e>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𝑨</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𝑨</m:t>
                            </m:r>
                          </m:e>
                          <m:sub>
                            <m:r>
                              <a:rPr lang="en-US" altLang="zh-CN" b="1" i="1">
                                <a:solidFill>
                                  <a:schemeClr val="accent2">
                                    <a:lumMod val="50000"/>
                                  </a:schemeClr>
                                </a:solidFill>
                                <a:latin typeface="Cambria Math" panose="02040503050406030204" pitchFamily="18" charset="0"/>
                              </a:rPr>
                              <m:t>𝟎</m:t>
                            </m:r>
                          </m:sub>
                        </m:sSub>
                      </m:e>
                    </m:d>
                    <m:d>
                      <m:dPr>
                        <m:ctrlPr>
                          <a:rPr lang="en-US" altLang="zh-CN" b="1" i="1" smtClean="0">
                            <a:solidFill>
                              <a:schemeClr val="accent2">
                                <a:lumMod val="50000"/>
                              </a:schemeClr>
                            </a:solidFill>
                            <a:latin typeface="Cambria Math" panose="02040503050406030204" pitchFamily="18" charset="0"/>
                          </a:rPr>
                        </m:ctrlPr>
                      </m:dPr>
                      <m:e>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𝑩</m:t>
                            </m:r>
                          </m:e>
                          <m:sub>
                            <m:r>
                              <a:rPr lang="en-US" altLang="zh-CN" b="1" i="1">
                                <a:solidFill>
                                  <a:schemeClr val="accent2">
                                    <a:lumMod val="50000"/>
                                  </a:schemeClr>
                                </a:solidFill>
                                <a:latin typeface="Cambria Math" panose="02040503050406030204" pitchFamily="18" charset="0"/>
                              </a:rPr>
                              <m:t>𝟎</m:t>
                            </m:r>
                          </m:sub>
                        </m:sSub>
                        <m:r>
                          <a:rPr lang="en-US" altLang="zh-CN" b="1" i="1">
                            <a:solidFill>
                              <a:schemeClr val="accent2">
                                <a:lumMod val="50000"/>
                              </a:schemeClr>
                            </a:solidFill>
                            <a:latin typeface="Cambria Math" panose="02040503050406030204" pitchFamily="18" charset="0"/>
                          </a:rPr>
                          <m:t>−</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𝑩</m:t>
                            </m:r>
                          </m:e>
                          <m:sub>
                            <m:r>
                              <a:rPr lang="en-US" altLang="zh-CN" b="1" i="1">
                                <a:solidFill>
                                  <a:schemeClr val="accent2">
                                    <a:lumMod val="50000"/>
                                  </a:schemeClr>
                                </a:solidFill>
                                <a:latin typeface="Cambria Math" panose="02040503050406030204" pitchFamily="18" charset="0"/>
                              </a:rPr>
                              <m:t>𝟏</m:t>
                            </m:r>
                          </m:sub>
                        </m:sSub>
                      </m:e>
                    </m:d>
                  </m:oMath>
                </a14:m>
                <a:r>
                  <a:rPr lang="zh-CN" altLang="en-US" b="1">
                    <a:solidFill>
                      <a:schemeClr val="accent2">
                        <a:lumMod val="50000"/>
                      </a:schemeClr>
                    </a:solidFill>
                  </a:rPr>
                  <a:t>和</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𝑨</m:t>
                        </m:r>
                      </m:e>
                      <m:sub>
                        <m:r>
                          <a:rPr lang="en-US" altLang="zh-CN" b="1" i="1" smtClean="0">
                            <a:solidFill>
                              <a:schemeClr val="accent2">
                                <a:lumMod val="50000"/>
                              </a:schemeClr>
                            </a:solidFill>
                            <a:latin typeface="Cambria Math" panose="02040503050406030204" pitchFamily="18" charset="0"/>
                          </a:rPr>
                          <m:t>𝟎</m:t>
                        </m:r>
                      </m:sub>
                    </m:sSub>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𝑩</m:t>
                        </m:r>
                      </m:e>
                      <m:sub>
                        <m:r>
                          <a:rPr lang="en-US" altLang="zh-CN" b="1" i="1">
                            <a:solidFill>
                              <a:schemeClr val="accent2">
                                <a:lumMod val="50000"/>
                              </a:schemeClr>
                            </a:solidFill>
                            <a:latin typeface="Cambria Math" panose="02040503050406030204" pitchFamily="18" charset="0"/>
                          </a:rPr>
                          <m:t>𝟎</m:t>
                        </m:r>
                      </m:sub>
                    </m:sSub>
                  </m:oMath>
                </a14:m>
                <a:r>
                  <a:rPr lang="zh-CN" altLang="en-US" b="1">
                    <a:solidFill>
                      <a:schemeClr val="accent2">
                        <a:lumMod val="50000"/>
                      </a:schemeClr>
                    </a:solidFill>
                  </a:rPr>
                  <a:t>，这三个乘法可以递归调用上述过程</a:t>
                </a:r>
                <a:endParaRPr lang="zh-CN" altLang="en-US" b="1">
                  <a:solidFill>
                    <a:schemeClr val="accent2">
                      <a:lumMod val="50000"/>
                    </a:schemeClr>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763097" y="5394330"/>
                <a:ext cx="6999435" cy="736612"/>
              </a:xfrm>
              <a:prstGeom prst="rect">
                <a:avLst/>
              </a:prstGeom>
              <a:blipFill rotWithShape="1">
                <a:blip r:embed="rId4"/>
                <a:stretch>
                  <a:fillRect l="-7" t="-1" r="4" b="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7795424" y="2567993"/>
                <a:ext cx="3615937" cy="2364237"/>
              </a:xfrm>
              <a:prstGeom prst="rect">
                <a:avLst/>
              </a:prstGeom>
              <a:solidFill>
                <a:schemeClr val="accent4">
                  <a:lumMod val="20000"/>
                  <a:lumOff val="80000"/>
                  <a:alpha val="50000"/>
                </a:schemeClr>
              </a:solidFill>
            </p:spPr>
            <p:txBody>
              <a:bodyPr wrap="square" rtlCol="0">
                <a:spAutoFit/>
              </a:bodyPr>
              <a:lstStyle/>
              <a:p>
                <a:pPr>
                  <a:spcBef>
                    <a:spcPts val="600"/>
                  </a:spcBef>
                  <a:spcAft>
                    <a:spcPts val="600"/>
                  </a:spcAft>
                </a:pPr>
                <a:r>
                  <a:rPr lang="zh-CN" altLang="en-US" b="1">
                    <a:solidFill>
                      <a:srgbClr val="002060"/>
                    </a:solidFill>
                    <a:latin typeface="楷体" panose="02010609060101010101" pitchFamily="49" charset="-122"/>
                    <a:ea typeface="楷体" panose="02010609060101010101" pitchFamily="49" charset="-122"/>
                  </a:rPr>
                  <a:t>算法时间复杂度满足递推关系式：</a:t>
                </a:r>
                <a:endParaRPr lang="en-US" altLang="zh-CN" b="1">
                  <a:solidFill>
                    <a:srgbClr val="002060"/>
                  </a:solidFill>
                  <a:latin typeface="楷体" panose="02010609060101010101" pitchFamily="49" charset="-122"/>
                  <a:ea typeface="楷体" panose="02010609060101010101" pitchFamily="49"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𝒇</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 = </m:t>
                      </m:r>
                      <m:r>
                        <a:rPr lang="en-US" altLang="zh-CN" b="1" i="1" smtClean="0">
                          <a:solidFill>
                            <a:schemeClr val="accent2">
                              <a:lumMod val="50000"/>
                            </a:schemeClr>
                          </a:solidFill>
                          <a:latin typeface="Cambria Math" panose="02040503050406030204" pitchFamily="18" charset="0"/>
                        </a:rPr>
                        <m:t>𝟑</m:t>
                      </m:r>
                      <m:r>
                        <a:rPr lang="en-US" altLang="zh-CN" b="1" i="1" smtClean="0">
                          <a:solidFill>
                            <a:schemeClr val="accent2">
                              <a:lumMod val="50000"/>
                            </a:schemeClr>
                          </a:solidFill>
                          <a:latin typeface="Cambria Math" panose="02040503050406030204" pitchFamily="18" charset="0"/>
                        </a:rPr>
                        <m:t>𝒇</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𝟐</m:t>
                      </m:r>
                      <m:r>
                        <a:rPr lang="en-US" altLang="zh-CN" b="1" i="1" smtClean="0">
                          <a:solidFill>
                            <a:schemeClr val="accent2">
                              <a:lumMod val="50000"/>
                            </a:schemeClr>
                          </a:solidFill>
                          <a:latin typeface="Cambria Math" panose="02040503050406030204" pitchFamily="18" charset="0"/>
                        </a:rPr>
                        <m:t>) + </m:t>
                      </m:r>
                      <m:r>
                        <a:rPr lang="en-US" altLang="zh-CN" b="1" i="1" smtClean="0">
                          <a:solidFill>
                            <a:schemeClr val="accent2">
                              <a:lumMod val="50000"/>
                            </a:schemeClr>
                          </a:solidFill>
                          <a:latin typeface="Cambria Math" panose="02040503050406030204" pitchFamily="18" charset="0"/>
                        </a:rPr>
                        <m:t>𝑪𝒏</m:t>
                      </m:r>
                    </m:oMath>
                  </m:oMathPara>
                </a14:m>
                <a:endParaRPr lang="en-US" altLang="zh-CN" b="1">
                  <a:solidFill>
                    <a:schemeClr val="accent2">
                      <a:lumMod val="50000"/>
                    </a:schemeClr>
                  </a:solidFill>
                </a:endParaRPr>
              </a:p>
              <a:p>
                <a:pPr marL="285750" indent="-285750">
                  <a:spcBef>
                    <a:spcPts val="600"/>
                  </a:spcBef>
                  <a:spcAft>
                    <a:spcPts val="600"/>
                  </a:spcAft>
                  <a:buFont typeface="Arial" panose="020B0604020202020204" pitchFamily="34" charset="0"/>
                  <a:buChar char="•"/>
                </a:pPr>
                <a14:m>
                  <m:oMath xmlns:m="http://schemas.openxmlformats.org/officeDocument/2006/math">
                    <m:r>
                      <a:rPr lang="en-US" altLang="zh-CN" b="1" i="1" smtClean="0">
                        <a:solidFill>
                          <a:schemeClr val="accent6">
                            <a:lumMod val="50000"/>
                          </a:schemeClr>
                        </a:solidFill>
                        <a:latin typeface="Cambria Math" panose="02040503050406030204" pitchFamily="18" charset="0"/>
                      </a:rPr>
                      <m:t>𝑪𝒏</m:t>
                    </m:r>
                  </m:oMath>
                </a14:m>
                <a:r>
                  <a:rPr lang="zh-CN" altLang="en-US" b="1">
                    <a:solidFill>
                      <a:schemeClr val="accent6">
                        <a:lumMod val="50000"/>
                      </a:schemeClr>
                    </a:solidFill>
                  </a:rPr>
                  <a:t>包括</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𝒏</m:t>
                    </m:r>
                  </m:oMath>
                </a14:m>
                <a:r>
                  <a:rPr lang="zh-CN" altLang="en-US" b="1">
                    <a:solidFill>
                      <a:schemeClr val="accent6">
                        <a:lumMod val="50000"/>
                      </a:schemeClr>
                    </a:solidFill>
                  </a:rPr>
                  <a:t>位二进制移位与相加</a:t>
                </a:r>
                <a:endParaRPr lang="zh-CN" altLang="en-US" b="1">
                  <a:solidFill>
                    <a:schemeClr val="accent6">
                      <a:lumMod val="50000"/>
                    </a:schemeClr>
                  </a:solidFill>
                </a:endParaRPr>
              </a:p>
              <a:p>
                <a:pPr marL="285750" indent="-285750">
                  <a:spcBef>
                    <a:spcPts val="600"/>
                  </a:spcBef>
                  <a:spcAft>
                    <a:spcPts val="600"/>
                  </a:spcAft>
                  <a:buFont typeface="Arial" panose="020B0604020202020204" pitchFamily="34" charset="0"/>
                  <a:buChar char="•"/>
                </a:pPr>
                <a:r>
                  <a:rPr lang="zh-CN" altLang="en-US" b="1">
                    <a:solidFill>
                      <a:schemeClr val="accent6">
                        <a:lumMod val="50000"/>
                      </a:schemeClr>
                    </a:solidFill>
                  </a:rPr>
                  <a:t>根据主定理，</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𝒂</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𝟑</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𝒃</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𝟐</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𝒅</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𝟏</m:t>
                    </m:r>
                    <m:r>
                      <a:rPr lang="zh-CN" altLang="en-US"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𝒂</m:t>
                    </m:r>
                    <m:r>
                      <a:rPr lang="en-US" altLang="zh-CN" b="1" i="1" smtClean="0">
                        <a:solidFill>
                          <a:schemeClr val="accent6">
                            <a:lumMod val="50000"/>
                          </a:schemeClr>
                        </a:solidFill>
                        <a:latin typeface="Cambria Math" panose="02040503050406030204" pitchFamily="18" charset="0"/>
                      </a:rPr>
                      <m:t>&gt;</m:t>
                    </m:r>
                    <m:sSup>
                      <m:sSupPr>
                        <m:ctrlPr>
                          <a:rPr lang="en-US" altLang="zh-CN" b="1" i="1" smtClean="0">
                            <a:solidFill>
                              <a:schemeClr val="accent6">
                                <a:lumMod val="50000"/>
                              </a:schemeClr>
                            </a:solidFill>
                            <a:latin typeface="Cambria Math" panose="02040503050406030204" pitchFamily="18" charset="0"/>
                          </a:rPr>
                        </m:ctrlPr>
                      </m:sSupPr>
                      <m:e>
                        <m:r>
                          <a:rPr lang="en-US" altLang="zh-CN" b="1" i="1" smtClean="0">
                            <a:solidFill>
                              <a:schemeClr val="accent6">
                                <a:lumMod val="50000"/>
                              </a:schemeClr>
                            </a:solidFill>
                            <a:latin typeface="Cambria Math" panose="02040503050406030204" pitchFamily="18" charset="0"/>
                          </a:rPr>
                          <m:t>𝒃</m:t>
                        </m:r>
                      </m:e>
                      <m:sup>
                        <m:r>
                          <a:rPr lang="en-US" altLang="zh-CN" b="1" i="1" smtClean="0">
                            <a:solidFill>
                              <a:schemeClr val="accent6">
                                <a:lumMod val="50000"/>
                              </a:schemeClr>
                            </a:solidFill>
                            <a:latin typeface="Cambria Math" panose="02040503050406030204" pitchFamily="18" charset="0"/>
                          </a:rPr>
                          <m:t>𝒅</m:t>
                        </m:r>
                      </m:sup>
                    </m:sSup>
                  </m:oMath>
                </a14:m>
                <a:r>
                  <a:rPr lang="zh-CN" altLang="en-US" b="1">
                    <a:solidFill>
                      <a:schemeClr val="accent6">
                        <a:lumMod val="50000"/>
                      </a:schemeClr>
                    </a:solidFill>
                  </a:rPr>
                  <a:t>，</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𝒇</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𝒏</m:t>
                    </m:r>
                    <m:r>
                      <a:rPr lang="en-US" altLang="zh-CN" b="1" i="1" smtClean="0">
                        <a:solidFill>
                          <a:schemeClr val="accent6">
                            <a:lumMod val="50000"/>
                          </a:schemeClr>
                        </a:solidFill>
                        <a:latin typeface="Cambria Math" panose="02040503050406030204" pitchFamily="18" charset="0"/>
                      </a:rPr>
                      <m:t>)</m:t>
                    </m:r>
                  </m:oMath>
                </a14:m>
                <a:r>
                  <a:rPr lang="zh-CN" altLang="en-US" b="1" i="0">
                    <a:solidFill>
                      <a:schemeClr val="accent6">
                        <a:lumMod val="50000"/>
                      </a:schemeClr>
                    </a:solidFill>
                    <a:latin typeface="+mj-lt"/>
                  </a:rPr>
                  <a:t>是</a:t>
                </a:r>
                <a14:m>
                  <m:oMath xmlns:m="http://schemas.openxmlformats.org/officeDocument/2006/math">
                    <m:r>
                      <a:rPr lang="en-US" altLang="zh-CN" b="1" i="1" smtClean="0">
                        <a:solidFill>
                          <a:srgbClr val="C00000"/>
                        </a:solidFill>
                        <a:latin typeface="Cambria Math" panose="02040503050406030204" pitchFamily="18" charset="0"/>
                      </a:rPr>
                      <m:t>𝑶</m:t>
                    </m:r>
                    <m:d>
                      <m:dPr>
                        <m:ctrlPr>
                          <a:rPr lang="en-US" altLang="zh-CN" b="1" i="1" smtClean="0">
                            <a:solidFill>
                              <a:srgbClr val="C00000"/>
                            </a:solidFill>
                            <a:latin typeface="Cambria Math" panose="02040503050406030204" pitchFamily="18" charset="0"/>
                          </a:rPr>
                        </m:ctrlPr>
                      </m:dPr>
                      <m:e>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𝒏</m:t>
                            </m:r>
                          </m:e>
                          <m:sup>
                            <m:sSub>
                              <m:sSubPr>
                                <m:ctrlPr>
                                  <a:rPr lang="en-US" altLang="zh-CN" b="1" i="1" smtClean="0">
                                    <a:solidFill>
                                      <a:srgbClr val="C00000"/>
                                    </a:solidFill>
                                    <a:latin typeface="Cambria Math" panose="02040503050406030204" pitchFamily="18" charset="0"/>
                                  </a:rPr>
                                </m:ctrlPr>
                              </m:sSubPr>
                              <m:e>
                                <m:r>
                                  <a:rPr lang="en-US" altLang="zh-CN" b="1" i="0" smtClean="0">
                                    <a:solidFill>
                                      <a:srgbClr val="C00000"/>
                                    </a:solidFill>
                                    <a:latin typeface="Cambria Math" panose="02040503050406030204" pitchFamily="18" charset="0"/>
                                  </a:rPr>
                                  <m:t>𝐥𝐨𝐠</m:t>
                                </m:r>
                              </m:e>
                              <m:sub>
                                <m:r>
                                  <a:rPr lang="en-US" altLang="zh-CN" b="1" i="1" smtClean="0">
                                    <a:solidFill>
                                      <a:srgbClr val="C00000"/>
                                    </a:solidFill>
                                    <a:latin typeface="Cambria Math" panose="02040503050406030204" pitchFamily="18" charset="0"/>
                                  </a:rPr>
                                  <m:t>𝟐</m:t>
                                </m:r>
                              </m:sub>
                            </m:sSub>
                            <m:r>
                              <a:rPr lang="en-US" altLang="zh-CN" b="1" i="1" smtClean="0">
                                <a:solidFill>
                                  <a:srgbClr val="C00000"/>
                                </a:solidFill>
                                <a:latin typeface="Cambria Math" panose="02040503050406030204" pitchFamily="18" charset="0"/>
                              </a:rPr>
                              <m:t>𝟑</m:t>
                            </m:r>
                          </m:sup>
                        </m:sSup>
                      </m:e>
                    </m:d>
                  </m:oMath>
                </a14:m>
                <a:endParaRPr lang="en-US" altLang="zh-CN" b="1"/>
              </a:p>
              <a:p>
                <a:pPr marL="742950" lvl="1" indent="-285750">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比普通算法的</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𝑶</m:t>
                    </m:r>
                    <m:d>
                      <m:dPr>
                        <m:ctrlPr>
                          <a:rPr lang="en-US" altLang="zh-CN" b="1" i="1" smtClean="0">
                            <a:solidFill>
                              <a:schemeClr val="accent2">
                                <a:lumMod val="50000"/>
                              </a:schemeClr>
                            </a:solidFill>
                            <a:latin typeface="Cambria Math" panose="02040503050406030204" pitchFamily="18" charset="0"/>
                          </a:rPr>
                        </m:ctrlPr>
                      </m:dPr>
                      <m:e>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𝒏</m:t>
                            </m:r>
                          </m:e>
                          <m:sup>
                            <m:r>
                              <a:rPr lang="en-US" altLang="zh-CN" b="1" i="1" smtClean="0">
                                <a:solidFill>
                                  <a:schemeClr val="accent2">
                                    <a:lumMod val="50000"/>
                                  </a:schemeClr>
                                </a:solidFill>
                                <a:latin typeface="Cambria Math" panose="02040503050406030204" pitchFamily="18" charset="0"/>
                              </a:rPr>
                              <m:t>𝟐</m:t>
                            </m:r>
                          </m:sup>
                        </m:sSup>
                      </m:e>
                    </m:d>
                  </m:oMath>
                </a14:m>
                <a:r>
                  <a:rPr lang="zh-CN" altLang="en-US" b="1">
                    <a:solidFill>
                      <a:schemeClr val="accent2">
                        <a:lumMod val="50000"/>
                      </a:schemeClr>
                    </a:solidFill>
                    <a:latin typeface="楷体" panose="02010609060101010101" pitchFamily="49" charset="-122"/>
                    <a:ea typeface="楷体" panose="02010609060101010101" pitchFamily="49" charset="-122"/>
                  </a:rPr>
                  <a:t>要好</a:t>
                </a:r>
                <a:endParaRPr lang="zh-CN" altLang="en-US"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11" name="文本框 10"/>
              <p:cNvSpPr txBox="1">
                <a:spLocks noRot="1" noChangeAspect="1" noMove="1" noResize="1" noEditPoints="1" noAdjustHandles="1" noChangeArrowheads="1" noChangeShapeType="1" noTextEdit="1"/>
              </p:cNvSpPr>
              <p:nvPr/>
            </p:nvSpPr>
            <p:spPr>
              <a:xfrm>
                <a:off x="7795424" y="2567993"/>
                <a:ext cx="3615937" cy="2364237"/>
              </a:xfrm>
              <a:prstGeom prst="rect">
                <a:avLst/>
              </a:prstGeom>
              <a:blipFill rotWithShape="1">
                <a:blip r:embed="rId5"/>
                <a:stretch>
                  <a:fillRect l="-5" t="-2" r="11" b="8"/>
                </a:stretch>
              </a:blipFill>
            </p:spPr>
            <p:txBody>
              <a:bodyPr/>
              <a:lstStyle/>
              <a:p>
                <a:r>
                  <a:rPr lang="zh-CN" altLang="en-US">
                    <a:noFill/>
                  </a:rPr>
                  <a:t> </a:t>
                </a:r>
              </a:p>
            </p:txBody>
          </p:sp>
        </mc:Fallback>
      </mc:AlternateContent>
      <p:sp>
        <p:nvSpPr>
          <p:cNvPr id="12" name="文本框 11"/>
          <p:cNvSpPr txBox="1"/>
          <p:nvPr/>
        </p:nvSpPr>
        <p:spPr>
          <a:xfrm>
            <a:off x="8346915" y="5207612"/>
            <a:ext cx="2512954" cy="923330"/>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但该算法复杂，在整数位数较小时，执行速度不一定比普通算法更快</a:t>
            </a:r>
            <a:endParaRPr lang="zh-CN" altLang="en-US" b="1">
              <a:solidFill>
                <a:schemeClr val="accent2">
                  <a:lumMod val="50000"/>
                </a:schemeClr>
              </a:solidFill>
            </a:endParaRPr>
          </a:p>
        </p:txBody>
      </p:sp>
      <p:sp>
        <p:nvSpPr>
          <p:cNvPr id="13" name="箭头: 右 12"/>
          <p:cNvSpPr/>
          <p:nvPr/>
        </p:nvSpPr>
        <p:spPr>
          <a:xfrm>
            <a:off x="7459925" y="3704679"/>
            <a:ext cx="302607" cy="916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9124950" y="1123315"/>
            <a:ext cx="1734820" cy="706755"/>
          </a:xfrm>
          <a:prstGeom prst="rect">
            <a:avLst/>
          </a:prstGeom>
          <a:noFill/>
        </p:spPr>
        <p:txBody>
          <a:bodyPr wrap="square" rtlCol="0">
            <a:spAutoFit/>
          </a:bodyPr>
          <a:p>
            <a:r>
              <a:rPr lang="zh-CN" altLang="en-US" sz="4000">
                <a:solidFill>
                  <a:srgbClr val="FF0000"/>
                </a:solidFill>
              </a:rPr>
              <a:t>不讲</a:t>
            </a:r>
            <a:endParaRPr lang="zh-CN" altLang="en-US" sz="40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11" grpId="0" animBg="1"/>
      <p:bldP spid="12" grpId="0" animBg="1"/>
      <p:bldP spid="1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分治算法与递推关系式</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分治与平衡</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1244415" y="1331090"/>
                <a:ext cx="9703166" cy="1785104"/>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分治算法的设计常常要注意分解得到的小问题规模的</a:t>
                </a:r>
                <a:r>
                  <a:rPr lang="zh-CN" altLang="en-US" sz="2000" b="1">
                    <a:solidFill>
                      <a:srgbClr val="C00000"/>
                    </a:solidFill>
                    <a:latin typeface="+mn-ea"/>
                  </a:rPr>
                  <a:t>平衡</a:t>
                </a:r>
                <a:r>
                  <a:rPr lang="en-US" altLang="zh-CN" sz="2000" b="1">
                    <a:solidFill>
                      <a:srgbClr val="002060"/>
                    </a:solidFill>
                    <a:latin typeface="+mn-ea"/>
                  </a:rPr>
                  <a:t>(balance)</a:t>
                </a:r>
                <a:endParaRPr lang="en-US" altLang="zh-CN" sz="2000" b="1">
                  <a:solidFill>
                    <a:srgbClr val="002060"/>
                  </a:solidFill>
                  <a:latin typeface="+mn-ea"/>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通常假定将规模为</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oMath>
                </a14:m>
                <a:r>
                  <a:rPr lang="zh-CN" altLang="en-US" sz="2000" b="1">
                    <a:solidFill>
                      <a:schemeClr val="accent6">
                        <a:lumMod val="50000"/>
                      </a:schemeClr>
                    </a:solidFill>
                  </a:rPr>
                  <a:t>的问题分解为</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𝒂</m:t>
                    </m:r>
                  </m:oMath>
                </a14:m>
                <a:r>
                  <a:rPr lang="zh-CN" altLang="en-US" sz="2000" b="1">
                    <a:solidFill>
                      <a:schemeClr val="accent6">
                        <a:lumMod val="50000"/>
                      </a:schemeClr>
                    </a:solidFill>
                  </a:rPr>
                  <a:t>个规模大致都为</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𝒃</m:t>
                    </m:r>
                  </m:oMath>
                </a14:m>
                <a:r>
                  <a:rPr lang="zh-CN" altLang="en-US" sz="2000" b="1">
                    <a:solidFill>
                      <a:schemeClr val="accent6">
                        <a:lumMod val="50000"/>
                      </a:schemeClr>
                    </a:solidFill>
                  </a:rPr>
                  <a:t>的小问题</a:t>
                </a:r>
                <a:endParaRPr lang="zh-CN" altLang="en-US" sz="2000" b="1">
                  <a:solidFill>
                    <a:schemeClr val="accent6">
                      <a:lumMod val="50000"/>
                    </a:schemeClr>
                  </a:solidFill>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每个小问题的</a:t>
                </a:r>
                <a:r>
                  <a:rPr lang="zh-CN" altLang="en-US" sz="2000" b="1">
                    <a:solidFill>
                      <a:srgbClr val="C00000"/>
                    </a:solidFill>
                  </a:rPr>
                  <a:t>规模要相当</a:t>
                </a:r>
                <a:r>
                  <a:rPr lang="zh-CN" altLang="en-US" sz="2000" b="1">
                    <a:solidFill>
                      <a:schemeClr val="accent6">
                        <a:lumMod val="50000"/>
                      </a:schemeClr>
                    </a:solidFill>
                  </a:rPr>
                  <a:t>，不能有的小问题规模很小，而另外一些小问题规模很大</a:t>
                </a:r>
                <a:endParaRPr lang="zh-CN" altLang="en-US" sz="2000" b="1">
                  <a:solidFill>
                    <a:schemeClr val="accent6">
                      <a:lumMod val="50000"/>
                    </a:schemeClr>
                  </a:solidFill>
                </a:endParaRP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小问题规模不平衡时，算法的效率会大为降低</a:t>
                </a:r>
                <a:endParaRPr lang="zh-CN" altLang="en-US" sz="2000"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1244415" y="1331090"/>
                <a:ext cx="9703166" cy="1785104"/>
              </a:xfrm>
              <a:prstGeom prst="rect">
                <a:avLst/>
              </a:prstGeom>
              <a:blipFill rotWithShape="1">
                <a:blip r:embed="rId1"/>
                <a:stretch>
                  <a:fillRect l="-5" t="-7" r="2" b="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1743950" y="3307071"/>
                <a:ext cx="8704095" cy="2769989"/>
              </a:xfrm>
              <a:prstGeom prst="rect">
                <a:avLst/>
              </a:prstGeom>
              <a:solidFill>
                <a:schemeClr val="accent6">
                  <a:lumMod val="20000"/>
                  <a:lumOff val="80000"/>
                  <a:alpha val="50000"/>
                </a:schemeClr>
              </a:solidFill>
            </p:spPr>
            <p:txBody>
              <a:bodyPr wrap="square" rtlCol="0">
                <a:spAutoFit/>
              </a:bodyPr>
              <a:lstStyle/>
              <a:p>
                <a:pPr algn="ctr">
                  <a:spcBef>
                    <a:spcPts val="600"/>
                  </a:spcBef>
                  <a:spcAft>
                    <a:spcPts val="600"/>
                  </a:spcAft>
                </a:pPr>
                <a:r>
                  <a:rPr lang="zh-CN" altLang="en-US" sz="2400" b="1">
                    <a:solidFill>
                      <a:schemeClr val="accent2">
                        <a:lumMod val="50000"/>
                      </a:schemeClr>
                    </a:solidFill>
                  </a:rPr>
                  <a:t>归并排序的分治与平衡</a:t>
                </a:r>
                <a:endParaRPr lang="zh-CN" altLang="en-US" sz="2400" b="1">
                  <a:solidFill>
                    <a:schemeClr val="accent2">
                      <a:lumMod val="50000"/>
                    </a:schemeClr>
                  </a:solidFill>
                </a:endParaRPr>
              </a:p>
              <a:p>
                <a:pPr>
                  <a:lnSpc>
                    <a:spcPts val="30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归并排序如果不将</a:t>
                </a:r>
                <a14:m>
                  <m:oMath xmlns:m="http://schemas.openxmlformats.org/officeDocument/2006/math">
                    <m:r>
                      <a:rPr lang="en-US" altLang="zh-CN" sz="2000" b="1" i="1" smtClean="0">
                        <a:solidFill>
                          <a:srgbClr val="002060"/>
                        </a:solidFill>
                        <a:latin typeface="Cambria Math" panose="02040503050406030204" pitchFamily="18" charset="0"/>
                      </a:rPr>
                      <m:t>𝒏</m:t>
                    </m:r>
                  </m:oMath>
                </a14:m>
                <a:r>
                  <a:rPr lang="zh-CN" altLang="en-US" sz="2000" b="1">
                    <a:solidFill>
                      <a:srgbClr val="002060"/>
                    </a:solidFill>
                    <a:latin typeface="楷体" panose="02010609060101010101" pitchFamily="49" charset="-122"/>
                    <a:ea typeface="楷体" panose="02010609060101010101" pitchFamily="49" charset="-122"/>
                  </a:rPr>
                  <a:t>个数据分为大致为</a:t>
                </a:r>
                <a14:m>
                  <m:oMath xmlns:m="http://schemas.openxmlformats.org/officeDocument/2006/math">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𝟐</m:t>
                    </m:r>
                  </m:oMath>
                </a14:m>
                <a:r>
                  <a:rPr lang="zh-CN" altLang="en-US" sz="2000" b="1">
                    <a:solidFill>
                      <a:srgbClr val="002060"/>
                    </a:solidFill>
                    <a:latin typeface="楷体" panose="02010609060101010101" pitchFamily="49" charset="-122"/>
                    <a:ea typeface="楷体" panose="02010609060101010101" pitchFamily="49" charset="-122"/>
                  </a:rPr>
                  <a:t>个的两组，而是一组只有</a:t>
                </a:r>
                <a14:m>
                  <m:oMath xmlns:m="http://schemas.openxmlformats.org/officeDocument/2006/math">
                    <m:r>
                      <a:rPr lang="en-US" altLang="zh-CN" sz="2000" b="1" i="1" smtClean="0">
                        <a:solidFill>
                          <a:srgbClr val="002060"/>
                        </a:solidFill>
                        <a:latin typeface="Cambria Math" panose="02040503050406030204" pitchFamily="18" charset="0"/>
                      </a:rPr>
                      <m:t>𝟏</m:t>
                    </m:r>
                  </m:oMath>
                </a14:m>
                <a:r>
                  <a:rPr lang="zh-CN" altLang="en-US" sz="2000" b="1">
                    <a:solidFill>
                      <a:srgbClr val="002060"/>
                    </a:solidFill>
                    <a:latin typeface="楷体" panose="02010609060101010101" pitchFamily="49" charset="-122"/>
                    <a:ea typeface="楷体" panose="02010609060101010101" pitchFamily="49" charset="-122"/>
                  </a:rPr>
                  <a:t>个，另一组有</a:t>
                </a:r>
                <a14:m>
                  <m:oMath xmlns:m="http://schemas.openxmlformats.org/officeDocument/2006/math">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oMath>
                </a14:m>
                <a:r>
                  <a:rPr lang="zh-CN" altLang="en-US" sz="2000" b="1">
                    <a:solidFill>
                      <a:srgbClr val="002060"/>
                    </a:solidFill>
                    <a:latin typeface="楷体" panose="02010609060101010101" pitchFamily="49" charset="-122"/>
                    <a:ea typeface="楷体" panose="02010609060101010101" pitchFamily="49" charset="-122"/>
                  </a:rPr>
                  <a:t>个数据的</a:t>
                </a:r>
                <a:r>
                  <a:rPr lang="zh-CN" altLang="en-US" sz="2000" b="1">
                    <a:solidFill>
                      <a:srgbClr val="0000FF"/>
                    </a:solidFill>
                    <a:latin typeface="楷体" panose="02010609060101010101" pitchFamily="49" charset="-122"/>
                    <a:ea typeface="楷体" panose="02010609060101010101" pitchFamily="49" charset="-122"/>
                  </a:rPr>
                  <a:t>极端情况</a:t>
                </a:r>
                <a:r>
                  <a:rPr lang="zh-CN" altLang="en-US" sz="2000" b="1">
                    <a:solidFill>
                      <a:srgbClr val="002060"/>
                    </a:solidFill>
                    <a:latin typeface="楷体" panose="02010609060101010101" pitchFamily="49" charset="-122"/>
                    <a:ea typeface="楷体" panose="02010609060101010101" pitchFamily="49" charset="-122"/>
                  </a:rPr>
                  <a:t>，然后递归调用对</a:t>
                </a:r>
                <a14:m>
                  <m:oMath xmlns:m="http://schemas.openxmlformats.org/officeDocument/2006/math">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oMath>
                </a14:m>
                <a:r>
                  <a:rPr lang="zh-CN" altLang="en-US" sz="2000" b="1">
                    <a:solidFill>
                      <a:srgbClr val="002060"/>
                    </a:solidFill>
                    <a:latin typeface="楷体" panose="02010609060101010101" pitchFamily="49" charset="-122"/>
                    <a:ea typeface="楷体" panose="02010609060101010101" pitchFamily="49" charset="-122"/>
                  </a:rPr>
                  <a:t>个数据再进行排序</a:t>
                </a:r>
                <a:endParaRPr lang="zh-CN" altLang="en-US" sz="20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这时算法复杂度满足的递推关系式是</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𝒇</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𝒇</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𝑶</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oMath>
                </a14:m>
                <a:endParaRPr lang="en-US" altLang="zh-CN" sz="2000" b="1">
                  <a:solidFill>
                    <a:schemeClr val="accent6">
                      <a:lumMod val="50000"/>
                    </a:schemeClr>
                  </a:solidFill>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这里</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𝑶</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m:t>
                    </m:r>
                  </m:oMath>
                </a14:m>
                <a:r>
                  <a:rPr lang="zh-CN" altLang="en-US" sz="2000" b="1">
                    <a:solidFill>
                      <a:schemeClr val="accent6">
                        <a:lumMod val="50000"/>
                      </a:schemeClr>
                    </a:solidFill>
                  </a:rPr>
                  <a:t>是将一组的</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𝟏</m:t>
                    </m:r>
                  </m:oMath>
                </a14:m>
                <a:r>
                  <a:rPr lang="zh-CN" altLang="en-US" sz="2000" b="1">
                    <a:solidFill>
                      <a:schemeClr val="accent6">
                        <a:lumMod val="50000"/>
                      </a:schemeClr>
                    </a:solidFill>
                  </a:rPr>
                  <a:t>个数据归并到另一组已经排好序数据的时间复杂度</a:t>
                </a:r>
                <a:endParaRPr lang="zh-CN" altLang="en-US" sz="2000" b="1">
                  <a:solidFill>
                    <a:schemeClr val="accent6">
                      <a:lumMod val="50000"/>
                    </a:schemeClr>
                  </a:solidFill>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这时</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𝒇</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m:t>
                    </m:r>
                  </m:oMath>
                </a14:m>
                <a:r>
                  <a:rPr lang="zh-CN" altLang="en-US" sz="2000" b="1">
                    <a:solidFill>
                      <a:schemeClr val="accent6">
                        <a:lumMod val="50000"/>
                      </a:schemeClr>
                    </a:solidFill>
                  </a:rPr>
                  <a:t>是</a:t>
                </a:r>
                <a14:m>
                  <m:oMath xmlns:m="http://schemas.openxmlformats.org/officeDocument/2006/math">
                    <m:r>
                      <a:rPr lang="en-US" altLang="zh-CN" sz="2000" b="1" i="1" smtClean="0">
                        <a:solidFill>
                          <a:srgbClr val="C00000"/>
                        </a:solidFill>
                        <a:latin typeface="Cambria Math" panose="02040503050406030204" pitchFamily="18" charset="0"/>
                      </a:rPr>
                      <m:t>𝑶</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𝟐</m:t>
                    </m:r>
                    <m:r>
                      <a:rPr lang="en-US" altLang="zh-CN" sz="2000" b="1" i="1" smtClean="0">
                        <a:solidFill>
                          <a:srgbClr val="C00000"/>
                        </a:solidFill>
                        <a:latin typeface="Cambria Math" panose="02040503050406030204" pitchFamily="18" charset="0"/>
                      </a:rPr>
                      <m:t>)</m:t>
                    </m:r>
                  </m:oMath>
                </a14:m>
                <a:r>
                  <a:rPr lang="zh-CN" altLang="en-US" sz="2000" b="1">
                    <a:solidFill>
                      <a:schemeClr val="accent6">
                        <a:lumMod val="50000"/>
                      </a:schemeClr>
                    </a:solidFill>
                  </a:rPr>
                  <a:t>，比两组数据规模平衡时的</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𝑶</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𝒏</m:t>
                        </m:r>
                        <m:r>
                          <a:rPr lang="en-US" altLang="zh-CN" sz="2000" b="1" i="0" smtClean="0">
                            <a:solidFill>
                              <a:schemeClr val="accent2">
                                <a:lumMod val="50000"/>
                              </a:schemeClr>
                            </a:solidFill>
                            <a:latin typeface="Cambria Math" panose="02040503050406030204" pitchFamily="18" charset="0"/>
                          </a:rPr>
                          <m:t>𝐥𝐨𝐠</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𝒏</m:t>
                        </m:r>
                      </m:e>
                    </m:d>
                  </m:oMath>
                </a14:m>
                <a:r>
                  <a:rPr lang="zh-CN" altLang="en-US" sz="2000" b="1">
                    <a:solidFill>
                      <a:schemeClr val="accent6">
                        <a:lumMod val="50000"/>
                      </a:schemeClr>
                    </a:solidFill>
                  </a:rPr>
                  <a:t>效率要低</a:t>
                </a:r>
                <a:endParaRPr lang="zh-CN" altLang="en-US" sz="2000" b="1">
                  <a:solidFill>
                    <a:schemeClr val="accent6">
                      <a:lumMod val="50000"/>
                    </a:schemeClr>
                  </a:solidFill>
                </a:endParaRPr>
              </a:p>
            </p:txBody>
          </p:sp>
        </mc:Choice>
        <mc:Fallback>
          <p:sp>
            <p:nvSpPr>
              <p:cNvPr id="3" name="文本框 2"/>
              <p:cNvSpPr txBox="1">
                <a:spLocks noRot="1" noChangeAspect="1" noMove="1" noResize="1" noEditPoints="1" noAdjustHandles="1" noChangeArrowheads="1" noChangeShapeType="1" noTextEdit="1"/>
              </p:cNvSpPr>
              <p:nvPr/>
            </p:nvSpPr>
            <p:spPr>
              <a:xfrm>
                <a:off x="1743950" y="3307071"/>
                <a:ext cx="8704095" cy="2769989"/>
              </a:xfrm>
              <a:prstGeom prst="rect">
                <a:avLst/>
              </a:prstGeom>
              <a:blipFill rotWithShape="1">
                <a:blip r:embed="rId2"/>
                <a:stretch>
                  <a:fillRect l="-3" t="-23" r="4" b="4"/>
                </a:stretch>
              </a:blipFill>
            </p:spPr>
            <p:txBody>
              <a:bodyPr/>
              <a:lstStyle/>
              <a:p>
                <a:r>
                  <a:rPr lang="zh-CN"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总结</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总结</a:t>
            </a:r>
            <a:endParaRPr lang="zh-CN" altLang="en-US"/>
          </a:p>
        </p:txBody>
      </p:sp>
      <p:sp>
        <p:nvSpPr>
          <p:cNvPr id="2" name="文本框 1"/>
          <p:cNvSpPr txBox="1"/>
          <p:nvPr/>
        </p:nvSpPr>
        <p:spPr>
          <a:xfrm>
            <a:off x="1342859" y="1354931"/>
            <a:ext cx="9506277" cy="2893100"/>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002060"/>
                </a:solidFill>
              </a:rPr>
              <a:t>递推关系式是求解计数问题的另一种有效方法</a:t>
            </a:r>
            <a:endParaRPr lang="zh-CN" altLang="en-US" sz="2400" b="1">
              <a:solidFill>
                <a:srgbClr val="002060"/>
              </a:solidFill>
            </a:endParaRP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使用递推关系式对计数问题进行建模</a:t>
            </a:r>
            <a:endParaRPr lang="zh-CN" altLang="en-US" sz="2400" b="1">
              <a:solidFill>
                <a:schemeClr val="accent6">
                  <a:lumMod val="50000"/>
                </a:schemeClr>
              </a:solidFill>
              <a:latin typeface="楷体" panose="02010609060101010101" pitchFamily="49" charset="-122"/>
              <a:ea typeface="楷体" panose="02010609060101010101" pitchFamily="49" charset="-122"/>
            </a:endParaRP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mn-ea"/>
              </a:rPr>
              <a:t>字符串的计数问题进行建模和在分析算法复杂度时运用递推关系式建模</a:t>
            </a:r>
            <a:endParaRPr lang="zh-CN" altLang="en-US" sz="2000" b="1">
              <a:solidFill>
                <a:schemeClr val="accent6">
                  <a:lumMod val="50000"/>
                </a:schemeClr>
              </a:solidFill>
              <a:latin typeface="+mn-ea"/>
            </a:endParaRP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mn-ea"/>
              </a:rPr>
              <a:t>求解线性递推关系式的定理</a:t>
            </a:r>
            <a:endParaRPr lang="zh-CN" altLang="en-US" sz="2000" b="1">
              <a:solidFill>
                <a:schemeClr val="accent6">
                  <a:lumMod val="50000"/>
                </a:schemeClr>
              </a:solidFill>
              <a:latin typeface="+mn-ea"/>
            </a:endParaRP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设计递归算法的分治策略</a:t>
            </a:r>
            <a:endParaRPr lang="zh-CN" altLang="en-US" sz="2400" b="1">
              <a:solidFill>
                <a:schemeClr val="accent6">
                  <a:lumMod val="50000"/>
                </a:schemeClr>
              </a:solidFill>
              <a:latin typeface="楷体" panose="02010609060101010101" pitchFamily="49" charset="-122"/>
              <a:ea typeface="楷体" panose="02010609060101010101" pitchFamily="49" charset="-122"/>
            </a:endParaRP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等线" panose="02010600030101010101" pitchFamily="2" charset="-122"/>
                <a:ea typeface="等线" panose="02010600030101010101" pitchFamily="2" charset="-122"/>
              </a:rPr>
              <a:t>分治算法效率分析时的递推关系式，利用递推关系式估算算法效率的主定理</a:t>
            </a:r>
            <a:endParaRPr lang="zh-CN" altLang="en-US" sz="2000" b="1">
              <a:solidFill>
                <a:schemeClr val="accent6">
                  <a:lumMod val="50000"/>
                </a:schemeClr>
              </a:solidFill>
              <a:latin typeface="等线" panose="02010600030101010101" pitchFamily="2" charset="-122"/>
              <a:ea typeface="等线" panose="02010600030101010101" pitchFamily="2" charset="-122"/>
            </a:endParaRPr>
          </a:p>
        </p:txBody>
      </p:sp>
      <p:sp>
        <p:nvSpPr>
          <p:cNvPr id="4" name="文本框 3"/>
          <p:cNvSpPr txBox="1"/>
          <p:nvPr/>
        </p:nvSpPr>
        <p:spPr>
          <a:xfrm>
            <a:off x="1200282" y="4553560"/>
            <a:ext cx="9791429" cy="1446550"/>
          </a:xfrm>
          <a:prstGeom prst="rect">
            <a:avLst/>
          </a:prstGeom>
          <a:solidFill>
            <a:schemeClr val="accent2">
              <a:lumMod val="20000"/>
              <a:lumOff val="80000"/>
            </a:schemeClr>
          </a:solidFill>
        </p:spPr>
        <p:txBody>
          <a:bodyPr wrap="square" rtlCol="0">
            <a:spAutoFit/>
          </a:bodyPr>
          <a:lstStyle/>
          <a:p>
            <a:pPr algn="ctr">
              <a:spcAft>
                <a:spcPts val="600"/>
              </a:spcAft>
            </a:pPr>
            <a:r>
              <a:rPr lang="zh-CN" altLang="en-US" sz="2400" b="1">
                <a:solidFill>
                  <a:srgbClr val="C00000"/>
                </a:solidFill>
              </a:rPr>
              <a:t>学习这一部分的目标</a:t>
            </a:r>
            <a:endParaRPr lang="zh-CN" altLang="en-US" sz="2400" b="1">
              <a:solidFill>
                <a:srgbClr val="C00000"/>
              </a:solidFill>
            </a:endParaRP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能使用递推关系式对简单计数问题和递归算法的效率分析进行建模</a:t>
            </a:r>
            <a:endParaRPr lang="zh-CN" altLang="en-US" sz="2400" b="1">
              <a:solidFill>
                <a:schemeClr val="accent2">
                  <a:lumMod val="50000"/>
                </a:schemeClr>
              </a:solidFill>
              <a:latin typeface="楷体" panose="02010609060101010101" pitchFamily="49" charset="-122"/>
              <a:ea typeface="楷体" panose="02010609060101010101" pitchFamily="49" charset="-122"/>
            </a:endParaRP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mn-ea"/>
              </a:rPr>
              <a:t>与字符串个数相关且对某些子串的结构进行约束的计数问题进行建模</a:t>
            </a:r>
            <a:endParaRPr lang="zh-CN" altLang="en-US" sz="2000" b="1">
              <a:solidFill>
                <a:schemeClr val="accent2">
                  <a:lumMod val="50000"/>
                </a:schemeClr>
              </a:solidFill>
              <a:latin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作业</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作业</a:t>
            </a:r>
            <a:endParaRPr lang="zh-CN" altLang="en-US"/>
          </a:p>
        </p:txBody>
      </p:sp>
      <p:sp>
        <p:nvSpPr>
          <p:cNvPr id="2" name="文本框 1"/>
          <p:cNvSpPr txBox="1"/>
          <p:nvPr/>
        </p:nvSpPr>
        <p:spPr>
          <a:xfrm>
            <a:off x="869706" y="2846527"/>
            <a:ext cx="7574305" cy="1384995"/>
          </a:xfrm>
          <a:prstGeom prst="rect">
            <a:avLst/>
          </a:prstGeom>
          <a:solidFill>
            <a:schemeClr val="accent4">
              <a:lumMod val="20000"/>
              <a:lumOff val="80000"/>
            </a:schemeClr>
          </a:solidFill>
        </p:spPr>
        <p:txBody>
          <a:bodyPr wrap="square" rtlCol="0">
            <a:spAutoFit/>
          </a:bodyPr>
          <a:lstStyle/>
          <a:p>
            <a:pPr>
              <a:spcBef>
                <a:spcPts val="1200"/>
              </a:spcBef>
              <a:spcAft>
                <a:spcPts val="1200"/>
              </a:spcAft>
            </a:pP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教材练习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8.59</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8.61</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和练习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8.66</a:t>
            </a:r>
            <a:endPar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endParaRPr>
          </a:p>
          <a:p>
            <a:pPr>
              <a:spcBef>
                <a:spcPts val="1200"/>
              </a:spcBef>
              <a:spcAft>
                <a:spcPts val="1200"/>
              </a:spcAft>
            </a:pP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选做：在线平台组合计数部分客观题</a:t>
            </a:r>
            <a:endPar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第二十八讲  递推关系式求解</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文本框 1"/>
          <p:cNvSpPr txBox="1"/>
          <p:nvPr/>
        </p:nvSpPr>
        <p:spPr>
          <a:xfrm>
            <a:off x="1921252" y="2001283"/>
            <a:ext cx="8571678" cy="2383794"/>
          </a:xfrm>
          <a:prstGeom prst="rect">
            <a:avLst/>
          </a:prstGeom>
          <a:noFill/>
        </p:spPr>
        <p:txBody>
          <a:bodyPr wrap="square" rtlCol="0">
            <a:spAutoFit/>
          </a:bodyPr>
          <a:lstStyle/>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谢谢大家！</a:t>
            </a:r>
            <a:endParaRPr lang="en-US" altLang="zh-CN" sz="4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有什么问题和建议请及时反馈给老师！</a:t>
            </a:r>
            <a:endParaRPr lang="zh-CN" altLang="en-US" sz="4000">
              <a:solidFill>
                <a:srgbClr val="C00000"/>
              </a:solidFill>
              <a:latin typeface="华文新魏" panose="02010800040101010101" pitchFamily="2" charset="-122"/>
              <a:ea typeface="华文新魏" panose="02010800040101010101" pitchFamily="2" charset="-122"/>
            </a:endParaRPr>
          </a:p>
        </p:txBody>
      </p:sp>
    </p:spTree>
  </p:cSld>
  <p:clrMapOvr>
    <a:masterClrMapping/>
  </p:clrMapOvr>
</p:sld>
</file>

<file path=ppt/tags/tag1.xml><?xml version="1.0" encoding="utf-8"?>
<p:tagLst xmlns:p="http://schemas.openxmlformats.org/presentationml/2006/main">
  <p:tag name="commondata" val="eyJoZGlkIjoiM2U4OGRhNmIyZDU4NjBkZGRhNTk5ZGMxZjVlYTc4Zm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13456</Words>
  <Application>WPS 演示</Application>
  <PresentationFormat>宽屏</PresentationFormat>
  <Paragraphs>941</Paragraphs>
  <Slides>33</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33</vt:i4>
      </vt:variant>
    </vt:vector>
  </HeadingPairs>
  <TitlesOfParts>
    <vt:vector size="46" baseType="lpstr">
      <vt:lpstr>Arial</vt:lpstr>
      <vt:lpstr>宋体</vt:lpstr>
      <vt:lpstr>Wingdings</vt:lpstr>
      <vt:lpstr>楷体</vt:lpstr>
      <vt:lpstr>仿宋</vt:lpstr>
      <vt:lpstr>等线</vt:lpstr>
      <vt:lpstr>Cambria Math</vt:lpstr>
      <vt:lpstr>微软雅黑</vt:lpstr>
      <vt:lpstr>Arial Unicode MS</vt:lpstr>
      <vt:lpstr>等线 Light</vt:lpstr>
      <vt:lpstr>Calibri</vt:lpstr>
      <vt:lpstr>华文新魏</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李绿周</cp:lastModifiedBy>
  <cp:revision>117</cp:revision>
  <dcterms:created xsi:type="dcterms:W3CDTF">2022-01-01T06:39:00Z</dcterms:created>
  <dcterms:modified xsi:type="dcterms:W3CDTF">2024-12-16T15:35:50Z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104259F5BC9B4428BB839FA27E109CB1_12</vt:lpwstr>
  </property>
  <property fmtid="{D5CDD505-2E9C-101B-9397-08002B2CF9AE}" pid="3" name="KSOProductBuildVer">
    <vt:lpwstr>2052-12.1.0.16120</vt:lpwstr>
  </property>
</Properties>
</file>