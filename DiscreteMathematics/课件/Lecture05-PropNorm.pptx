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259" r:id="rId4"/>
    <p:sldId id="257" r:id="rId5"/>
    <p:sldId id="261" r:id="rId6"/>
    <p:sldId id="282" r:id="rId7"/>
    <p:sldId id="283" r:id="rId8"/>
    <p:sldId id="302" r:id="rId9"/>
    <p:sldId id="281" r:id="rId10"/>
    <p:sldId id="285" r:id="rId11"/>
    <p:sldId id="286" r:id="rId12"/>
    <p:sldId id="287" r:id="rId13"/>
    <p:sldId id="284" r:id="rId14"/>
    <p:sldId id="288" r:id="rId15"/>
    <p:sldId id="290" r:id="rId16"/>
    <p:sldId id="291" r:id="rId17"/>
    <p:sldId id="292" r:id="rId18"/>
    <p:sldId id="293" r:id="rId19"/>
    <p:sldId id="294" r:id="rId20"/>
    <p:sldId id="289" r:id="rId21"/>
    <p:sldId id="295" r:id="rId22"/>
    <p:sldId id="300" r:id="rId23"/>
    <p:sldId id="297" r:id="rId24"/>
    <p:sldId id="296" r:id="rId25"/>
    <p:sldId id="298" r:id="rId26"/>
    <p:sldId id="260" r:id="rId27"/>
    <p:sldId id="299" r:id="rId28"/>
    <p:sldId id="301" r:id="rId29"/>
    <p:sldId id="272" r:id="rId30"/>
    <p:sldId id="280" r:id="rId31"/>
    <p:sldId id="262"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image" Target="../media/image56.png"/><Relationship Id="rId16"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2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image" Target="../media/image76.png"/><Relationship Id="rId5" Type="http://schemas.openxmlformats.org/officeDocument/2006/relationships/image" Target="../media/image80.png"/><Relationship Id="rId10" Type="http://schemas.openxmlformats.org/officeDocument/2006/relationships/image" Target="../media/image79.png"/><Relationship Id="rId9" Type="http://schemas.openxmlformats.org/officeDocument/2006/relationships/image" Target="../media/image84.png"/></Relationships>
</file>

<file path=ppt/slides/_rels/slide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790.png"/><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第五讲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命题逻辑公式的范式</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9</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1" name="文本框 10">
            <a:extLst>
              <a:ext uri="{FF2B5EF4-FFF2-40B4-BE49-F238E27FC236}">
                <a16:creationId xmlns:a16="http://schemas.microsoft.com/office/drawing/2014/main" id="{7C1BD06F-B915-44D8-B0C4-25959DB0E912}"/>
              </a:ext>
            </a:extLst>
          </p:cNvPr>
          <p:cNvSpPr txBox="1"/>
          <p:nvPr/>
        </p:nvSpPr>
        <p:spPr>
          <a:xfrm>
            <a:off x="1072985" y="1794133"/>
            <a:ext cx="10046023" cy="1610826"/>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能判断一个公式是否是析取范式、合取范式、主析取范式、主合取范式</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能用等值演算法、构造真值表法求与一个公式逻辑等值的范式和主范式</a:t>
            </a:r>
          </a:p>
        </p:txBody>
      </p:sp>
      <p:sp>
        <p:nvSpPr>
          <p:cNvPr id="12" name="文本框 11">
            <a:extLst>
              <a:ext uri="{FF2B5EF4-FFF2-40B4-BE49-F238E27FC236}">
                <a16:creationId xmlns:a16="http://schemas.microsoft.com/office/drawing/2014/main" id="{0C0BC16D-945D-432F-A5B1-1052043F539E}"/>
              </a:ext>
            </a:extLst>
          </p:cNvPr>
          <p:cNvSpPr txBox="1"/>
          <p:nvPr/>
        </p:nvSpPr>
        <p:spPr>
          <a:xfrm>
            <a:off x="1072986" y="4183164"/>
            <a:ext cx="10046023" cy="1143903"/>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如何得到与一个公式逻辑等值的范式和主范式？</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2885680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1012" y="1547536"/>
            <a:ext cx="4733731" cy="2746906"/>
          </a:xfrm>
          <a:prstGeom prst="rect">
            <a:avLst/>
          </a:prstGeom>
          <a:noFill/>
        </p:spPr>
        <p:txBody>
          <a:bodyPr wrap="square" rtlCol="0">
            <a:spAutoFit/>
          </a:bodyPr>
          <a:lstStyle/>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析取范式与合取范式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主析取范式与主合取范式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范式的定义</a:t>
            </a:r>
          </a:p>
        </p:txBody>
      </p:sp>
      <p:sp>
        <p:nvSpPr>
          <p:cNvPr id="11" name="矩形: 圆角 10">
            <a:extLst>
              <a:ext uri="{FF2B5EF4-FFF2-40B4-BE49-F238E27FC236}">
                <a16:creationId xmlns:a16="http://schemas.microsoft.com/office/drawing/2014/main" id="{C85A9F36-0455-49E7-BA13-865E38997CEE}"/>
              </a:ext>
            </a:extLst>
          </p:cNvPr>
          <p:cNvSpPr/>
          <p:nvPr/>
        </p:nvSpPr>
        <p:spPr>
          <a:xfrm>
            <a:off x="256713" y="1129113"/>
            <a:ext cx="575325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什么是析取范式</a:t>
            </a:r>
            <a:r>
              <a:rPr lang="en-US" altLang="zh-CN" sz="2400">
                <a:solidFill>
                  <a:schemeClr val="accent2">
                    <a:lumMod val="50000"/>
                  </a:schemeClr>
                </a:solidFill>
                <a:latin typeface="Arial" panose="020B0604020202020204" pitchFamily="34" charset="0"/>
                <a:cs typeface="Arial" panose="020B0604020202020204" pitchFamily="34" charset="0"/>
              </a:rPr>
              <a:t>(disjunctive norm form)</a:t>
            </a:r>
            <a:r>
              <a:rPr lang="zh-CN" altLang="en-US" sz="2400" b="1">
                <a:solidFill>
                  <a:schemeClr val="accent2">
                    <a:lumMod val="50000"/>
                  </a:schemeClr>
                </a:solidFill>
              </a:rPr>
              <a:t>？</a:t>
            </a:r>
            <a:endParaRPr lang="zh-CN" altLang="en-US" sz="2400" b="1" dirty="0">
              <a:solidFill>
                <a:schemeClr val="accent2">
                  <a:lumMod val="50000"/>
                </a:schemeClr>
              </a:solidFill>
            </a:endParaRPr>
          </a:p>
        </p:txBody>
      </p:sp>
      <p:sp>
        <p:nvSpPr>
          <p:cNvPr id="2" name="文本框 1">
            <a:extLst>
              <a:ext uri="{FF2B5EF4-FFF2-40B4-BE49-F238E27FC236}">
                <a16:creationId xmlns:a16="http://schemas.microsoft.com/office/drawing/2014/main" id="{0C85239A-A899-46D6-9212-0C02A27E25D1}"/>
              </a:ext>
            </a:extLst>
          </p:cNvPr>
          <p:cNvSpPr txBox="1"/>
          <p:nvPr/>
        </p:nvSpPr>
        <p:spPr>
          <a:xfrm>
            <a:off x="262231" y="1780558"/>
            <a:ext cx="5753613" cy="846386"/>
          </a:xfrm>
          <a:prstGeom prst="rect">
            <a:avLst/>
          </a:prstGeom>
          <a:solidFill>
            <a:schemeClr val="accent2">
              <a:lumMod val="20000"/>
              <a:lumOff val="80000"/>
            </a:schemeClr>
          </a:solidFill>
        </p:spPr>
        <p:txBody>
          <a:bodyPr wrap="square" rtlCol="0">
            <a:spAutoFit/>
          </a:bodyPr>
          <a:lstStyle/>
          <a:p>
            <a:pPr>
              <a:spcBef>
                <a:spcPts val="600"/>
              </a:spcBef>
            </a:pPr>
            <a:r>
              <a:rPr lang="zh-CN" altLang="en-US" sz="2400" b="1">
                <a:solidFill>
                  <a:srgbClr val="C00000"/>
                </a:solidFill>
                <a:latin typeface="黑体" panose="02010609060101010101" pitchFamily="49" charset="-122"/>
                <a:ea typeface="黑体" panose="02010609060101010101" pitchFamily="49" charset="-122"/>
              </a:rPr>
              <a:t>析取范式</a:t>
            </a:r>
            <a:r>
              <a:rPr lang="zh-CN" altLang="en-US" sz="2400" b="1">
                <a:solidFill>
                  <a:srgbClr val="002060"/>
                </a:solidFill>
                <a:latin typeface="楷体" panose="02010609060101010101" pitchFamily="49" charset="-122"/>
                <a:ea typeface="楷体" panose="02010609060101010101" pitchFamily="49" charset="-122"/>
              </a:rPr>
              <a:t>是一个或多个</a:t>
            </a:r>
            <a:r>
              <a:rPr lang="zh-CN" altLang="en-US" sz="2400" b="1">
                <a:solidFill>
                  <a:srgbClr val="C00000"/>
                </a:solidFill>
                <a:latin typeface="楷体" panose="02010609060101010101" pitchFamily="49" charset="-122"/>
                <a:ea typeface="楷体" panose="02010609060101010101" pitchFamily="49" charset="-122"/>
              </a:rPr>
              <a:t>简单合取式</a:t>
            </a:r>
            <a:r>
              <a:rPr lang="zh-CN" altLang="en-US" sz="2400" b="1">
                <a:solidFill>
                  <a:srgbClr val="002060"/>
                </a:solidFill>
                <a:latin typeface="楷体" panose="02010609060101010101" pitchFamily="49" charset="-122"/>
                <a:ea typeface="楷体" panose="02010609060101010101" pitchFamily="49" charset="-122"/>
              </a:rPr>
              <a:t>的析取</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简单合取式</a:t>
            </a:r>
            <a:r>
              <a:rPr lang="zh-CN" altLang="en-US" sz="2000" b="1">
                <a:solidFill>
                  <a:schemeClr val="accent6">
                    <a:lumMod val="50000"/>
                  </a:schemeClr>
                </a:solidFill>
                <a:latin typeface="宋体" panose="02010600030101010101" pitchFamily="2" charset="-122"/>
                <a:ea typeface="宋体" panose="02010600030101010101" pitchFamily="2" charset="-122"/>
              </a:rPr>
              <a:t>是一个或多个</a:t>
            </a:r>
            <a:r>
              <a:rPr lang="zh-CN" altLang="en-US" sz="2000" b="1">
                <a:solidFill>
                  <a:srgbClr val="C00000"/>
                </a:solidFill>
                <a:latin typeface="宋体" panose="02010600030101010101" pitchFamily="2" charset="-122"/>
                <a:ea typeface="宋体" panose="02010600030101010101" pitchFamily="2" charset="-122"/>
              </a:rPr>
              <a:t>文字</a:t>
            </a:r>
            <a:r>
              <a:rPr lang="zh-CN" altLang="en-US" sz="2000" b="1">
                <a:solidFill>
                  <a:schemeClr val="accent6">
                    <a:lumMod val="50000"/>
                  </a:schemeClr>
                </a:solidFill>
                <a:latin typeface="宋体" panose="02010600030101010101" pitchFamily="2" charset="-122"/>
                <a:ea typeface="宋体" panose="02010600030101010101" pitchFamily="2" charset="-122"/>
              </a:rPr>
              <a:t>的合取</a:t>
            </a:r>
          </a:p>
        </p:txBody>
      </p:sp>
      <p:sp>
        <p:nvSpPr>
          <p:cNvPr id="3" name="文本框 2">
            <a:extLst>
              <a:ext uri="{FF2B5EF4-FFF2-40B4-BE49-F238E27FC236}">
                <a16:creationId xmlns:a16="http://schemas.microsoft.com/office/drawing/2014/main" id="{A6535F52-FCDE-4168-B51E-2C2DE434C5B8}"/>
              </a:ext>
            </a:extLst>
          </p:cNvPr>
          <p:cNvSpPr txBox="1"/>
          <p:nvPr/>
        </p:nvSpPr>
        <p:spPr>
          <a:xfrm>
            <a:off x="597343" y="2734745"/>
            <a:ext cx="4821269" cy="400110"/>
          </a:xfrm>
          <a:prstGeom prst="rect">
            <a:avLst/>
          </a:prstGeom>
          <a:solidFill>
            <a:schemeClr val="accent2">
              <a:lumMod val="20000"/>
              <a:lumOff val="80000"/>
            </a:schemeClr>
          </a:solidFill>
        </p:spPr>
        <p:txBody>
          <a:bodyPr wrap="square" rtlCol="0">
            <a:spAutoFit/>
          </a:bodyPr>
          <a:lstStyle/>
          <a:p>
            <a:r>
              <a:rPr lang="zh-CN" altLang="en-US" sz="2000" b="1">
                <a:solidFill>
                  <a:srgbClr val="C00000"/>
                </a:solidFill>
                <a:latin typeface="黑体" panose="02010609060101010101" pitchFamily="49" charset="-122"/>
                <a:ea typeface="黑体" panose="02010609060101010101" pitchFamily="49" charset="-122"/>
              </a:rPr>
              <a:t>文字</a:t>
            </a:r>
            <a:r>
              <a:rPr lang="en-US" altLang="zh-CN" sz="2000">
                <a:solidFill>
                  <a:srgbClr val="C00000"/>
                </a:solidFill>
                <a:latin typeface="Arial" panose="020B0604020202020204" pitchFamily="34" charset="0"/>
                <a:ea typeface="黑体" panose="02010609060101010101" pitchFamily="49" charset="-122"/>
                <a:cs typeface="Arial" panose="020B0604020202020204" pitchFamily="34" charset="0"/>
              </a:rPr>
              <a:t>(literal)</a:t>
            </a:r>
            <a:r>
              <a:rPr lang="zh-CN" altLang="en-US" sz="2000" b="1">
                <a:solidFill>
                  <a:schemeClr val="accent6">
                    <a:lumMod val="50000"/>
                  </a:schemeClr>
                </a:solidFill>
                <a:latin typeface="宋体" panose="02010600030101010101" pitchFamily="2" charset="-122"/>
                <a:ea typeface="宋体" panose="02010600030101010101" pitchFamily="2" charset="-122"/>
              </a:rPr>
              <a:t>是命题变量或命题变量的否定</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4E2B367-443F-4B6F-AC77-642B267CC2FE}"/>
                  </a:ext>
                </a:extLst>
              </p:cNvPr>
              <p:cNvSpPr txBox="1"/>
              <p:nvPr/>
            </p:nvSpPr>
            <p:spPr>
              <a:xfrm>
                <a:off x="420457" y="3397608"/>
                <a:ext cx="5425775" cy="1461939"/>
              </a:xfrm>
              <a:prstGeom prst="rect">
                <a:avLst/>
              </a:prstGeom>
              <a:solidFill>
                <a:schemeClr val="accent6">
                  <a:lumMod val="20000"/>
                  <a:lumOff val="80000"/>
                  <a:alpha val="50000"/>
                </a:schemeClr>
              </a:solidFill>
            </p:spPr>
            <p:txBody>
              <a:bodyPr wrap="square" rtlCol="0">
                <a:spAutoFit/>
              </a:bodyPr>
              <a:lstStyle/>
              <a:p>
                <a:pPr algn="ctr">
                  <a:spcBef>
                    <a:spcPts val="600"/>
                  </a:spcBef>
                </a:pPr>
                <a:r>
                  <a:rPr lang="zh-CN" altLang="en-US" sz="2000" b="1">
                    <a:solidFill>
                      <a:srgbClr val="002060"/>
                    </a:solidFill>
                  </a:rPr>
                  <a:t>析取范式举例</a:t>
                </a:r>
                <a:endParaRPr lang="en-US" altLang="zh-CN" sz="2000" b="1">
                  <a:solidFill>
                    <a:srgbClr val="002060"/>
                  </a:solidFill>
                </a:endParaRPr>
              </a:p>
              <a:p>
                <a:pPr>
                  <a:spcBef>
                    <a:spcPts val="600"/>
                  </a:spcBef>
                </a:pPr>
                <a:r>
                  <a:rPr lang="zh-CN" altLang="en-US" b="1">
                    <a:latin typeface="楷体" panose="02010609060101010101" pitchFamily="49" charset="-122"/>
                    <a:ea typeface="楷体" panose="02010609060101010101" pitchFamily="49" charset="-122"/>
                  </a:rPr>
                  <a:t>单个文字既是简单合取式也是析取范式：</a:t>
                </a:r>
                <a14:m>
                  <m:oMath xmlns:m="http://schemas.openxmlformats.org/officeDocument/2006/math">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  ⋯</m:t>
                    </m:r>
                  </m:oMath>
                </a14:m>
                <a:endParaRPr lang="en-US" altLang="zh-CN" b="1">
                  <a:latin typeface="楷体" panose="02010609060101010101" pitchFamily="49" charset="-122"/>
                  <a:ea typeface="楷体" panose="02010609060101010101" pitchFamily="49" charset="-122"/>
                </a:endParaRPr>
              </a:p>
              <a:p>
                <a:pPr>
                  <a:spcBef>
                    <a:spcPts val="600"/>
                  </a:spcBef>
                </a:pPr>
                <a:r>
                  <a:rPr lang="zh-CN" altLang="en-US" b="1">
                    <a:latin typeface="楷体" panose="02010609060101010101" pitchFamily="49" charset="-122"/>
                    <a:ea typeface="楷体" panose="02010609060101010101" pitchFamily="49" charset="-122"/>
                  </a:rPr>
                  <a:t>单个简单合取式是析取范式：</a:t>
                </a:r>
                <a14:m>
                  <m:oMath xmlns:m="http://schemas.openxmlformats.org/officeDocument/2006/math">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r>
                      <a:rPr lang="en-US" altLang="zh-CN" b="1" i="1" smtClean="0">
                        <a:latin typeface="Cambria Math" panose="02040503050406030204" pitchFamily="18" charset="0"/>
                        <a:ea typeface="楷体" panose="02010609060101010101" pitchFamily="49" charset="-122"/>
                      </a:rPr>
                      <m:t>,  ⋯</m:t>
                    </m:r>
                  </m:oMath>
                </a14:m>
                <a:endParaRPr lang="en-US" altLang="zh-CN" b="1">
                  <a:latin typeface="楷体" panose="02010609060101010101" pitchFamily="49" charset="-122"/>
                  <a:ea typeface="楷体" panose="02010609060101010101" pitchFamily="49" charset="-122"/>
                </a:endParaRPr>
              </a:p>
              <a:p>
                <a:pPr>
                  <a:spcBef>
                    <a:spcPts val="600"/>
                  </a:spcBef>
                </a:pPr>
                <a:r>
                  <a:rPr lang="zh-CN" altLang="en-US" b="1">
                    <a:latin typeface="楷体" panose="02010609060101010101" pitchFamily="49" charset="-122"/>
                    <a:ea typeface="楷体" panose="02010609060101010101" pitchFamily="49" charset="-122"/>
                  </a:rPr>
                  <a:t>多个简单合取式的析取范式：</a:t>
                </a:r>
                <a14:m>
                  <m:oMath xmlns:m="http://schemas.openxmlformats.org/officeDocument/2006/math">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d>
                      <m:dPr>
                        <m:ctrlPr>
                          <a:rPr lang="en-US" altLang="zh-CN" b="1" i="1" smtClean="0">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e>
                    </m:d>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oMath>
                </a14:m>
                <a:endParaRPr lang="zh-CN" altLang="en-US" b="1">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84E2B367-443F-4B6F-AC77-642B267CC2FE}"/>
                  </a:ext>
                </a:extLst>
              </p:cNvPr>
              <p:cNvSpPr txBox="1">
                <a:spLocks noRot="1" noChangeAspect="1" noMove="1" noResize="1" noEditPoints="1" noAdjustHandles="1" noChangeArrowheads="1" noChangeShapeType="1" noTextEdit="1"/>
              </p:cNvSpPr>
              <p:nvPr/>
            </p:nvSpPr>
            <p:spPr>
              <a:xfrm>
                <a:off x="420457" y="3397608"/>
                <a:ext cx="5425775" cy="1461939"/>
              </a:xfrm>
              <a:prstGeom prst="rect">
                <a:avLst/>
              </a:prstGeom>
              <a:blipFill>
                <a:blip r:embed="rId2"/>
                <a:stretch>
                  <a:fillRect l="-1011" t="-2083" b="-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B2BFBA0-FBE6-42B2-9179-298D1897C1B8}"/>
                  </a:ext>
                </a:extLst>
              </p:cNvPr>
              <p:cNvSpPr txBox="1"/>
              <p:nvPr/>
            </p:nvSpPr>
            <p:spPr>
              <a:xfrm>
                <a:off x="420456" y="5006917"/>
                <a:ext cx="5425775" cy="777713"/>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下面公式</a:t>
                </a:r>
                <a:r>
                  <a:rPr lang="zh-CN" altLang="en-US" sz="2000" b="1">
                    <a:solidFill>
                      <a:srgbClr val="C00000"/>
                    </a:solidFill>
                    <a:latin typeface="楷体" panose="02010609060101010101" pitchFamily="49" charset="-122"/>
                    <a:ea typeface="楷体" panose="02010609060101010101" pitchFamily="49" charset="-122"/>
                  </a:rPr>
                  <a:t>不是</a:t>
                </a:r>
                <a:r>
                  <a:rPr lang="zh-CN" altLang="en-US" sz="2000" b="1">
                    <a:solidFill>
                      <a:srgbClr val="002060"/>
                    </a:solidFill>
                    <a:latin typeface="楷体" panose="02010609060101010101" pitchFamily="49" charset="-122"/>
                    <a:ea typeface="楷体" panose="02010609060101010101" pitchFamily="49" charset="-122"/>
                  </a:rPr>
                  <a:t>析取范式</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e>
                      </m:d>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d>
                        <m:dPr>
                          <m:ctrlPr>
                            <a:rPr lang="en-US" altLang="zh-CN" b="1" i="1" smtClean="0">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e>
                      </m:d>
                      <m:r>
                        <a:rPr lang="en-US" altLang="zh-CN" b="1" i="1" smtClean="0">
                          <a:latin typeface="Cambria Math" panose="02040503050406030204" pitchFamily="18" charset="0"/>
                          <a:ea typeface="楷体" panose="02010609060101010101" pitchFamily="49" charset="-122"/>
                        </a:rPr>
                        <m:t>, </m:t>
                      </m:r>
                      <m:d>
                        <m:dPr>
                          <m:ctrlPr>
                            <a:rPr lang="en-US" altLang="zh-CN" b="1" i="1" smtClean="0">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𝒑</m:t>
                          </m:r>
                        </m:e>
                      </m:d>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r>
                        <a:rPr lang="en-US" altLang="zh-CN" b="1" i="1" smtClean="0">
                          <a:latin typeface="Cambria Math" panose="02040503050406030204" pitchFamily="18" charset="0"/>
                          <a:ea typeface="楷体" panose="02010609060101010101" pitchFamily="49" charset="-122"/>
                        </a:rPr>
                        <m:t>), ⋯</m:t>
                      </m:r>
                    </m:oMath>
                  </m:oMathPara>
                </a14:m>
                <a:endParaRPr lang="en-US" altLang="zh-CN" b="1">
                  <a:latin typeface="楷体" panose="02010609060101010101" pitchFamily="49" charset="-122"/>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5B2BFBA0-FBE6-42B2-9179-298D1897C1B8}"/>
                  </a:ext>
                </a:extLst>
              </p:cNvPr>
              <p:cNvSpPr txBox="1">
                <a:spLocks noRot="1" noChangeAspect="1" noMove="1" noResize="1" noEditPoints="1" noAdjustHandles="1" noChangeArrowheads="1" noChangeShapeType="1" noTextEdit="1"/>
              </p:cNvSpPr>
              <p:nvPr/>
            </p:nvSpPr>
            <p:spPr>
              <a:xfrm>
                <a:off x="420456" y="5006917"/>
                <a:ext cx="5425775" cy="777713"/>
              </a:xfrm>
              <a:prstGeom prst="rect">
                <a:avLst/>
              </a:prstGeom>
              <a:blipFill>
                <a:blip r:embed="rId3"/>
                <a:stretch>
                  <a:fillRect t="-3906" b="-6250"/>
                </a:stretch>
              </a:blipFill>
            </p:spPr>
            <p:txBody>
              <a:bodyPr/>
              <a:lstStyle/>
              <a:p>
                <a:r>
                  <a:rPr lang="zh-CN" altLang="en-US">
                    <a:noFill/>
                  </a:rPr>
                  <a:t> </a:t>
                </a:r>
              </a:p>
            </p:txBody>
          </p:sp>
        </mc:Fallback>
      </mc:AlternateContent>
      <p:sp>
        <p:nvSpPr>
          <p:cNvPr id="12" name="矩形: 圆角 11">
            <a:extLst>
              <a:ext uri="{FF2B5EF4-FFF2-40B4-BE49-F238E27FC236}">
                <a16:creationId xmlns:a16="http://schemas.microsoft.com/office/drawing/2014/main" id="{9B8BDD76-522D-4854-85B0-2733F1FC6206}"/>
              </a:ext>
            </a:extLst>
          </p:cNvPr>
          <p:cNvSpPr/>
          <p:nvPr/>
        </p:nvSpPr>
        <p:spPr>
          <a:xfrm>
            <a:off x="6176156" y="1129113"/>
            <a:ext cx="575361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什么是合取范式</a:t>
            </a:r>
            <a:r>
              <a:rPr lang="en-US" altLang="zh-CN" sz="2400">
                <a:solidFill>
                  <a:schemeClr val="accent2">
                    <a:lumMod val="50000"/>
                  </a:schemeClr>
                </a:solidFill>
                <a:latin typeface="Arial" panose="020B0604020202020204" pitchFamily="34" charset="0"/>
                <a:cs typeface="Arial" panose="020B0604020202020204" pitchFamily="34" charset="0"/>
              </a:rPr>
              <a:t>(conjunctive norm form) </a:t>
            </a:r>
            <a:r>
              <a:rPr lang="zh-CN" altLang="en-US" sz="2400" b="1">
                <a:solidFill>
                  <a:schemeClr val="accent2">
                    <a:lumMod val="50000"/>
                  </a:schemeClr>
                </a:solidFill>
              </a:rPr>
              <a:t>？</a:t>
            </a:r>
            <a:endParaRPr lang="zh-CN" altLang="en-US" sz="2400" b="1" dirty="0">
              <a:solidFill>
                <a:schemeClr val="accent2">
                  <a:lumMod val="50000"/>
                </a:schemeClr>
              </a:solidFill>
            </a:endParaRPr>
          </a:p>
        </p:txBody>
      </p:sp>
      <p:sp>
        <p:nvSpPr>
          <p:cNvPr id="13" name="文本框 12">
            <a:extLst>
              <a:ext uri="{FF2B5EF4-FFF2-40B4-BE49-F238E27FC236}">
                <a16:creationId xmlns:a16="http://schemas.microsoft.com/office/drawing/2014/main" id="{03A7F59E-73B4-47B2-83B0-2B97E416112F}"/>
              </a:ext>
            </a:extLst>
          </p:cNvPr>
          <p:cNvSpPr txBox="1"/>
          <p:nvPr/>
        </p:nvSpPr>
        <p:spPr>
          <a:xfrm>
            <a:off x="6176156" y="1780942"/>
            <a:ext cx="5753613" cy="846386"/>
          </a:xfrm>
          <a:prstGeom prst="rect">
            <a:avLst/>
          </a:prstGeom>
          <a:solidFill>
            <a:schemeClr val="accent2">
              <a:lumMod val="20000"/>
              <a:lumOff val="80000"/>
            </a:schemeClr>
          </a:solidFill>
        </p:spPr>
        <p:txBody>
          <a:bodyPr wrap="square" rtlCol="0">
            <a:spAutoFit/>
          </a:bodyPr>
          <a:lstStyle/>
          <a:p>
            <a:pPr>
              <a:spcBef>
                <a:spcPts val="600"/>
              </a:spcBef>
            </a:pPr>
            <a:r>
              <a:rPr lang="zh-CN" altLang="en-US" sz="2400" b="1">
                <a:solidFill>
                  <a:srgbClr val="C00000"/>
                </a:solidFill>
                <a:latin typeface="黑体" panose="02010609060101010101" pitchFamily="49" charset="-122"/>
                <a:ea typeface="黑体" panose="02010609060101010101" pitchFamily="49" charset="-122"/>
              </a:rPr>
              <a:t>合取范式</a:t>
            </a:r>
            <a:r>
              <a:rPr lang="zh-CN" altLang="en-US" sz="2400" b="1">
                <a:solidFill>
                  <a:srgbClr val="002060"/>
                </a:solidFill>
                <a:latin typeface="楷体" panose="02010609060101010101" pitchFamily="49" charset="-122"/>
                <a:ea typeface="楷体" panose="02010609060101010101" pitchFamily="49" charset="-122"/>
              </a:rPr>
              <a:t>是一个或多个</a:t>
            </a:r>
            <a:r>
              <a:rPr lang="zh-CN" altLang="en-US" sz="2400" b="1">
                <a:solidFill>
                  <a:srgbClr val="C00000"/>
                </a:solidFill>
                <a:latin typeface="楷体" panose="02010609060101010101" pitchFamily="49" charset="-122"/>
                <a:ea typeface="楷体" panose="02010609060101010101" pitchFamily="49" charset="-122"/>
              </a:rPr>
              <a:t>简单析取式</a:t>
            </a:r>
            <a:r>
              <a:rPr lang="zh-CN" altLang="en-US" sz="2400" b="1">
                <a:solidFill>
                  <a:srgbClr val="002060"/>
                </a:solidFill>
                <a:latin typeface="楷体" panose="02010609060101010101" pitchFamily="49" charset="-122"/>
                <a:ea typeface="楷体" panose="02010609060101010101" pitchFamily="49" charset="-122"/>
              </a:rPr>
              <a:t>的合取</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简单析取式</a:t>
            </a:r>
            <a:r>
              <a:rPr lang="zh-CN" altLang="en-US" sz="2000" b="1">
                <a:solidFill>
                  <a:schemeClr val="accent6">
                    <a:lumMod val="50000"/>
                  </a:schemeClr>
                </a:solidFill>
                <a:latin typeface="宋体" panose="02010600030101010101" pitchFamily="2" charset="-122"/>
                <a:ea typeface="宋体" panose="02010600030101010101" pitchFamily="2" charset="-122"/>
              </a:rPr>
              <a:t>是一个或多个</a:t>
            </a:r>
            <a:r>
              <a:rPr lang="zh-CN" altLang="en-US" sz="2000" b="1">
                <a:solidFill>
                  <a:srgbClr val="C00000"/>
                </a:solidFill>
                <a:latin typeface="宋体" panose="02010600030101010101" pitchFamily="2" charset="-122"/>
                <a:ea typeface="宋体" panose="02010600030101010101" pitchFamily="2" charset="-122"/>
              </a:rPr>
              <a:t>文字</a:t>
            </a:r>
            <a:r>
              <a:rPr lang="zh-CN" altLang="en-US" sz="2000" b="1">
                <a:solidFill>
                  <a:schemeClr val="accent6">
                    <a:lumMod val="50000"/>
                  </a:schemeClr>
                </a:solidFill>
                <a:latin typeface="宋体" panose="02010600030101010101" pitchFamily="2" charset="-122"/>
                <a:ea typeface="宋体" panose="02010600030101010101" pitchFamily="2" charset="-122"/>
              </a:rPr>
              <a:t>的析取</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6CE8B53-2068-47A4-85F2-6034772F2ACF}"/>
                  </a:ext>
                </a:extLst>
              </p:cNvPr>
              <p:cNvSpPr txBox="1"/>
              <p:nvPr/>
            </p:nvSpPr>
            <p:spPr>
              <a:xfrm>
                <a:off x="7226432" y="2735129"/>
                <a:ext cx="3824101" cy="400110"/>
              </a:xfrm>
              <a:prstGeom prst="rect">
                <a:avLst/>
              </a:prstGeom>
              <a:solidFill>
                <a:schemeClr val="accent6">
                  <a:lumMod val="20000"/>
                  <a:lumOff val="80000"/>
                  <a:alpha val="49000"/>
                </a:schemeClr>
              </a:solidFill>
            </p:spPr>
            <p:txBody>
              <a:bodyPr wrap="square" rtlCol="0">
                <a:spAutoFit/>
              </a:bodyPr>
              <a:lstStyle/>
              <a:p>
                <a:r>
                  <a:rPr lang="zh-CN" altLang="en-US" sz="2000" b="1">
                    <a:solidFill>
                      <a:srgbClr val="002060"/>
                    </a:solidFill>
                  </a:rPr>
                  <a:t>文字举例：</a:t>
                </a:r>
                <a14:m>
                  <m:oMath xmlns:m="http://schemas.openxmlformats.org/officeDocument/2006/math">
                    <m:r>
                      <a:rPr lang="en-US" altLang="zh-CN" sz="2000" b="1" i="1" smtClean="0">
                        <a:latin typeface="Cambria Math" panose="02040503050406030204" pitchFamily="18" charset="0"/>
                      </a:rPr>
                      <m:t>𝒑</m:t>
                    </m:r>
                    <m:r>
                      <a:rPr lang="en-US" altLang="zh-CN" sz="2000" b="1" i="1" smtClean="0">
                        <a:latin typeface="Cambria Math" panose="02040503050406030204" pitchFamily="18" charset="0"/>
                      </a:rPr>
                      <m:t>, ¬</m:t>
                    </m:r>
                    <m:r>
                      <a:rPr lang="en-US" altLang="zh-CN" sz="2000" b="1" i="1" smtClean="0">
                        <a:latin typeface="Cambria Math" panose="02040503050406030204" pitchFamily="18" charset="0"/>
                      </a:rPr>
                      <m:t>𝒑</m:t>
                    </m:r>
                    <m:r>
                      <a:rPr lang="en-US" altLang="zh-CN" sz="2000" b="1" i="1" smtClean="0">
                        <a:latin typeface="Cambria Math" panose="02040503050406030204" pitchFamily="18" charset="0"/>
                      </a:rPr>
                      <m:t>, </m:t>
                    </m:r>
                    <m:r>
                      <a:rPr lang="en-US" altLang="zh-CN" sz="2000" b="1" i="1" smtClean="0">
                        <a:latin typeface="Cambria Math" panose="02040503050406030204" pitchFamily="18" charset="0"/>
                      </a:rPr>
                      <m:t>𝒒</m:t>
                    </m:r>
                    <m:r>
                      <a:rPr lang="en-US" altLang="zh-CN" sz="2000" b="1" i="1" smtClean="0">
                        <a:latin typeface="Cambria Math" panose="02040503050406030204" pitchFamily="18" charset="0"/>
                      </a:rPr>
                      <m:t>, ¬</m:t>
                    </m:r>
                    <m:r>
                      <a:rPr lang="en-US" altLang="zh-CN" sz="2000" b="1" i="1" smtClean="0">
                        <a:latin typeface="Cambria Math" panose="02040503050406030204" pitchFamily="18" charset="0"/>
                      </a:rPr>
                      <m:t>𝒒</m:t>
                    </m:r>
                    <m:r>
                      <a:rPr lang="en-US" altLang="zh-CN" sz="2000" b="1" i="1" smtClean="0">
                        <a:latin typeface="Cambria Math" panose="02040503050406030204" pitchFamily="18" charset="0"/>
                      </a:rPr>
                      <m:t>, </m:t>
                    </m:r>
                    <m:r>
                      <a:rPr lang="en-US" altLang="zh-CN" sz="2000" b="1" i="1" smtClean="0">
                        <a:latin typeface="Cambria Math" panose="02040503050406030204" pitchFamily="18" charset="0"/>
                      </a:rPr>
                      <m:t>𝒓</m:t>
                    </m:r>
                    <m:r>
                      <a:rPr lang="en-US" altLang="zh-CN" sz="2000" b="1" i="1" smtClean="0">
                        <a:latin typeface="Cambria Math" panose="02040503050406030204" pitchFamily="18" charset="0"/>
                      </a:rPr>
                      <m:t>, ¬</m:t>
                    </m:r>
                    <m:r>
                      <a:rPr lang="en-US" altLang="zh-CN" sz="2000" b="1" i="1" smtClean="0">
                        <a:latin typeface="Cambria Math" panose="02040503050406030204" pitchFamily="18" charset="0"/>
                      </a:rPr>
                      <m:t>𝒓</m:t>
                    </m:r>
                    <m:r>
                      <a:rPr lang="en-US" altLang="zh-CN" sz="2000" b="1" i="1" smtClean="0">
                        <a:latin typeface="Cambria Math" panose="02040503050406030204" pitchFamily="18" charset="0"/>
                      </a:rPr>
                      <m:t>, ⋯</m:t>
                    </m:r>
                  </m:oMath>
                </a14:m>
                <a:endParaRPr lang="zh-CN" altLang="en-US" sz="2000" b="1"/>
              </a:p>
            </p:txBody>
          </p:sp>
        </mc:Choice>
        <mc:Fallback xmlns="">
          <p:sp>
            <p:nvSpPr>
              <p:cNvPr id="4" name="文本框 3">
                <a:extLst>
                  <a:ext uri="{FF2B5EF4-FFF2-40B4-BE49-F238E27FC236}">
                    <a16:creationId xmlns:a16="http://schemas.microsoft.com/office/drawing/2014/main" id="{56CE8B53-2068-47A4-85F2-6034772F2ACF}"/>
                  </a:ext>
                </a:extLst>
              </p:cNvPr>
              <p:cNvSpPr txBox="1">
                <a:spLocks noRot="1" noChangeAspect="1" noMove="1" noResize="1" noEditPoints="1" noAdjustHandles="1" noChangeArrowheads="1" noChangeShapeType="1" noTextEdit="1"/>
              </p:cNvSpPr>
              <p:nvPr/>
            </p:nvSpPr>
            <p:spPr>
              <a:xfrm>
                <a:off x="7226432" y="2735129"/>
                <a:ext cx="3824101" cy="400110"/>
              </a:xfrm>
              <a:prstGeom prst="rect">
                <a:avLst/>
              </a:prstGeom>
              <a:blipFill>
                <a:blip r:embed="rId4"/>
                <a:stretch>
                  <a:fillRect l="-1592" t="-9231"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D189DE3-14E5-4A84-9800-6FAA79B77427}"/>
                  </a:ext>
                </a:extLst>
              </p:cNvPr>
              <p:cNvSpPr txBox="1"/>
              <p:nvPr/>
            </p:nvSpPr>
            <p:spPr>
              <a:xfrm>
                <a:off x="6397993" y="3397992"/>
                <a:ext cx="5309937" cy="1461939"/>
              </a:xfrm>
              <a:prstGeom prst="rect">
                <a:avLst/>
              </a:prstGeom>
              <a:solidFill>
                <a:schemeClr val="accent6">
                  <a:lumMod val="20000"/>
                  <a:lumOff val="80000"/>
                  <a:alpha val="50000"/>
                </a:schemeClr>
              </a:solidFill>
            </p:spPr>
            <p:txBody>
              <a:bodyPr wrap="square" rtlCol="0">
                <a:spAutoFit/>
              </a:bodyPr>
              <a:lstStyle/>
              <a:p>
                <a:pPr algn="ctr">
                  <a:spcBef>
                    <a:spcPts val="600"/>
                  </a:spcBef>
                </a:pPr>
                <a:r>
                  <a:rPr lang="zh-CN" altLang="en-US" sz="2000" b="1">
                    <a:solidFill>
                      <a:srgbClr val="002060"/>
                    </a:solidFill>
                  </a:rPr>
                  <a:t>合取范式举例</a:t>
                </a:r>
                <a:endParaRPr lang="en-US" altLang="zh-CN" sz="2000" b="1">
                  <a:solidFill>
                    <a:srgbClr val="002060"/>
                  </a:solidFill>
                </a:endParaRPr>
              </a:p>
              <a:p>
                <a:pPr>
                  <a:spcBef>
                    <a:spcPts val="600"/>
                  </a:spcBef>
                </a:pPr>
                <a:r>
                  <a:rPr lang="zh-CN" altLang="en-US" b="1">
                    <a:latin typeface="楷体" panose="02010609060101010101" pitchFamily="49" charset="-122"/>
                    <a:ea typeface="楷体" panose="02010609060101010101" pitchFamily="49" charset="-122"/>
                  </a:rPr>
                  <a:t>单个文字既是简单析取式也是合取范式：</a:t>
                </a:r>
                <a14:m>
                  <m:oMath xmlns:m="http://schemas.openxmlformats.org/officeDocument/2006/math">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  ⋯</m:t>
                    </m:r>
                  </m:oMath>
                </a14:m>
                <a:endParaRPr lang="en-US" altLang="zh-CN" b="1">
                  <a:latin typeface="楷体" panose="02010609060101010101" pitchFamily="49" charset="-122"/>
                  <a:ea typeface="楷体" panose="02010609060101010101" pitchFamily="49" charset="-122"/>
                </a:endParaRPr>
              </a:p>
              <a:p>
                <a:pPr>
                  <a:spcBef>
                    <a:spcPts val="600"/>
                  </a:spcBef>
                </a:pPr>
                <a:r>
                  <a:rPr lang="zh-CN" altLang="en-US" b="1">
                    <a:latin typeface="楷体" panose="02010609060101010101" pitchFamily="49" charset="-122"/>
                    <a:ea typeface="楷体" panose="02010609060101010101" pitchFamily="49" charset="-122"/>
                  </a:rPr>
                  <a:t>单个简单析取式是合取范式：</a:t>
                </a:r>
                <a14:m>
                  <m:oMath xmlns:m="http://schemas.openxmlformats.org/officeDocument/2006/math">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r>
                      <a:rPr lang="en-US" altLang="zh-CN" b="1" i="1" smtClean="0">
                        <a:latin typeface="Cambria Math" panose="02040503050406030204" pitchFamily="18" charset="0"/>
                        <a:ea typeface="楷体" panose="02010609060101010101" pitchFamily="49" charset="-122"/>
                      </a:rPr>
                      <m:t>,  ⋯</m:t>
                    </m:r>
                  </m:oMath>
                </a14:m>
                <a:endParaRPr lang="en-US" altLang="zh-CN" b="1">
                  <a:latin typeface="楷体" panose="02010609060101010101" pitchFamily="49" charset="-122"/>
                  <a:ea typeface="楷体" panose="02010609060101010101" pitchFamily="49" charset="-122"/>
                </a:endParaRPr>
              </a:p>
              <a:p>
                <a:pPr>
                  <a:spcBef>
                    <a:spcPts val="600"/>
                  </a:spcBef>
                </a:pPr>
                <a:r>
                  <a:rPr lang="zh-CN" altLang="en-US" b="1">
                    <a:latin typeface="楷体" panose="02010609060101010101" pitchFamily="49" charset="-122"/>
                    <a:ea typeface="楷体" panose="02010609060101010101" pitchFamily="49" charset="-122"/>
                  </a:rPr>
                  <a:t>多个简单合取式的析取范式：</a:t>
                </a:r>
                <a14:m>
                  <m:oMath xmlns:m="http://schemas.openxmlformats.org/officeDocument/2006/math">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d>
                      <m:dPr>
                        <m:ctrlPr>
                          <a:rPr lang="en-US" altLang="zh-CN" b="1" i="1" smtClean="0">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e>
                    </m:d>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oMath>
                </a14:m>
                <a:endParaRPr lang="zh-CN" altLang="en-US" b="1">
                  <a:latin typeface="楷体" panose="02010609060101010101" pitchFamily="49" charset="-122"/>
                  <a:ea typeface="楷体" panose="02010609060101010101" pitchFamily="49" charset="-122"/>
                </a:endParaRPr>
              </a:p>
            </p:txBody>
          </p:sp>
        </mc:Choice>
        <mc:Fallback xmlns="">
          <p:sp>
            <p:nvSpPr>
              <p:cNvPr id="16" name="文本框 15">
                <a:extLst>
                  <a:ext uri="{FF2B5EF4-FFF2-40B4-BE49-F238E27FC236}">
                    <a16:creationId xmlns:a16="http://schemas.microsoft.com/office/drawing/2014/main" id="{DD189DE3-14E5-4A84-9800-6FAA79B77427}"/>
                  </a:ext>
                </a:extLst>
              </p:cNvPr>
              <p:cNvSpPr txBox="1">
                <a:spLocks noRot="1" noChangeAspect="1" noMove="1" noResize="1" noEditPoints="1" noAdjustHandles="1" noChangeArrowheads="1" noChangeShapeType="1" noTextEdit="1"/>
              </p:cNvSpPr>
              <p:nvPr/>
            </p:nvSpPr>
            <p:spPr>
              <a:xfrm>
                <a:off x="6397993" y="3397992"/>
                <a:ext cx="5309937" cy="1461939"/>
              </a:xfrm>
              <a:prstGeom prst="rect">
                <a:avLst/>
              </a:prstGeom>
              <a:blipFill>
                <a:blip r:embed="rId5"/>
                <a:stretch>
                  <a:fillRect l="-1033" t="-2083" b="-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6F72C79-3D25-44B6-A43C-9A5BAE0B2C05}"/>
                  </a:ext>
                </a:extLst>
              </p:cNvPr>
              <p:cNvSpPr txBox="1"/>
              <p:nvPr/>
            </p:nvSpPr>
            <p:spPr>
              <a:xfrm>
                <a:off x="6397992" y="5002650"/>
                <a:ext cx="5309937" cy="777713"/>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下面公式</a:t>
                </a:r>
                <a:r>
                  <a:rPr lang="zh-CN" altLang="en-US" sz="2000" b="1">
                    <a:solidFill>
                      <a:srgbClr val="C00000"/>
                    </a:solidFill>
                    <a:latin typeface="楷体" panose="02010609060101010101" pitchFamily="49" charset="-122"/>
                    <a:ea typeface="楷体" panose="02010609060101010101" pitchFamily="49" charset="-122"/>
                  </a:rPr>
                  <a:t>不是</a:t>
                </a:r>
                <a:r>
                  <a:rPr lang="zh-CN" altLang="en-US" sz="2000" b="1">
                    <a:solidFill>
                      <a:srgbClr val="002060"/>
                    </a:solidFill>
                    <a:latin typeface="楷体" panose="02010609060101010101" pitchFamily="49" charset="-122"/>
                    <a:ea typeface="楷体" panose="02010609060101010101" pitchFamily="49" charset="-122"/>
                  </a:rPr>
                  <a:t>合取范式</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e>
                      </m:d>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 </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d>
                        <m:dPr>
                          <m:ctrlPr>
                            <a:rPr lang="en-US" altLang="zh-CN" b="1" i="1" smtClean="0">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e>
                      </m:d>
                      <m:r>
                        <a:rPr lang="en-US" altLang="zh-CN" b="1" i="1" smtClean="0">
                          <a:latin typeface="Cambria Math" panose="02040503050406030204" pitchFamily="18" charset="0"/>
                          <a:ea typeface="楷体" panose="02010609060101010101" pitchFamily="49" charset="-122"/>
                        </a:rPr>
                        <m:t>, </m:t>
                      </m:r>
                      <m:d>
                        <m:dPr>
                          <m:ctrlPr>
                            <a:rPr lang="en-US" altLang="zh-CN" b="1" i="1" smtClean="0">
                              <a:latin typeface="Cambria Math" panose="02040503050406030204" pitchFamily="18" charset="0"/>
                              <a:ea typeface="楷体" panose="02010609060101010101" pitchFamily="49" charset="-122"/>
                            </a:rPr>
                          </m:ctrlPr>
                        </m:dPr>
                        <m:e>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𝒒</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𝒑</m:t>
                          </m:r>
                        </m:e>
                      </m:d>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𝒑</m:t>
                      </m:r>
                      <m:r>
                        <a:rPr lang="en-US" altLang="zh-CN" b="1" i="1" smtClean="0">
                          <a:latin typeface="Cambria Math" panose="02040503050406030204" pitchFamily="18" charset="0"/>
                          <a:ea typeface="楷体" panose="02010609060101010101" pitchFamily="49" charset="-122"/>
                        </a:rPr>
                        <m:t>∧</m:t>
                      </m:r>
                      <m:r>
                        <a:rPr lang="en-US" altLang="zh-CN" b="1" i="1" smtClean="0">
                          <a:latin typeface="Cambria Math" panose="02040503050406030204" pitchFamily="18" charset="0"/>
                          <a:ea typeface="楷体" panose="02010609060101010101" pitchFamily="49" charset="-122"/>
                        </a:rPr>
                        <m:t>𝒓</m:t>
                      </m:r>
                      <m:r>
                        <a:rPr lang="en-US" altLang="zh-CN" b="1" i="1" smtClean="0">
                          <a:latin typeface="Cambria Math" panose="02040503050406030204" pitchFamily="18" charset="0"/>
                          <a:ea typeface="楷体" panose="02010609060101010101" pitchFamily="49" charset="-122"/>
                        </a:rPr>
                        <m:t>), ⋯</m:t>
                      </m:r>
                    </m:oMath>
                  </m:oMathPara>
                </a14:m>
                <a:endParaRPr lang="en-US" altLang="zh-CN" b="1">
                  <a:latin typeface="楷体" panose="02010609060101010101" pitchFamily="49" charset="-122"/>
                  <a:ea typeface="楷体" panose="02010609060101010101" pitchFamily="49" charset="-122"/>
                </a:endParaRPr>
              </a:p>
            </p:txBody>
          </p:sp>
        </mc:Choice>
        <mc:Fallback xmlns="">
          <p:sp>
            <p:nvSpPr>
              <p:cNvPr id="18" name="文本框 17">
                <a:extLst>
                  <a:ext uri="{FF2B5EF4-FFF2-40B4-BE49-F238E27FC236}">
                    <a16:creationId xmlns:a16="http://schemas.microsoft.com/office/drawing/2014/main" id="{46F72C79-3D25-44B6-A43C-9A5BAE0B2C05}"/>
                  </a:ext>
                </a:extLst>
              </p:cNvPr>
              <p:cNvSpPr txBox="1">
                <a:spLocks noRot="1" noChangeAspect="1" noMove="1" noResize="1" noEditPoints="1" noAdjustHandles="1" noChangeArrowheads="1" noChangeShapeType="1" noTextEdit="1"/>
              </p:cNvSpPr>
              <p:nvPr/>
            </p:nvSpPr>
            <p:spPr>
              <a:xfrm>
                <a:off x="6397992" y="5002650"/>
                <a:ext cx="5309937" cy="777713"/>
              </a:xfrm>
              <a:prstGeom prst="rect">
                <a:avLst/>
              </a:prstGeom>
              <a:blipFill>
                <a:blip r:embed="rId6"/>
                <a:stretch>
                  <a:fillRect t="-4724" b="-6299"/>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D48DECF9-CE7C-44EB-B408-85EE837CB8DC}"/>
              </a:ext>
            </a:extLst>
          </p:cNvPr>
          <p:cNvSpPr txBox="1"/>
          <p:nvPr/>
        </p:nvSpPr>
        <p:spPr>
          <a:xfrm>
            <a:off x="2783766" y="5879352"/>
            <a:ext cx="6624466" cy="369332"/>
          </a:xfrm>
          <a:prstGeom prst="rect">
            <a:avLst/>
          </a:prstGeom>
          <a:solidFill>
            <a:schemeClr val="accent4">
              <a:lumMod val="20000"/>
              <a:lumOff val="80000"/>
            </a:schemeClr>
          </a:solidFill>
        </p:spPr>
        <p:txBody>
          <a:bodyPr wrap="square" rtlCol="0">
            <a:spAutoFit/>
          </a:bodyPr>
          <a:lstStyle/>
          <a:p>
            <a:r>
              <a:rPr lang="zh-CN" altLang="en-US" b="1">
                <a:solidFill>
                  <a:srgbClr val="C00000"/>
                </a:solidFill>
              </a:rPr>
              <a:t>范式中只出现与、或、非运算，且否定只出现在命题变量的前面</a:t>
            </a:r>
          </a:p>
        </p:txBody>
      </p:sp>
    </p:spTree>
    <p:extLst>
      <p:ext uri="{BB962C8B-B14F-4D97-AF65-F5344CB8AC3E}">
        <p14:creationId xmlns:p14="http://schemas.microsoft.com/office/powerpoint/2010/main" val="42527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5" grpId="0" animBg="1"/>
      <p:bldP spid="12" grpId="0" animBg="1"/>
      <p:bldP spid="13" grpId="0" animBg="1"/>
      <p:bldP spid="4" grpId="0" animBg="1"/>
      <p:bldP spid="16" grpId="0" animBg="1"/>
      <p:bldP spid="18"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范式判断练习</a:t>
            </a:r>
          </a:p>
        </p:txBody>
      </p:sp>
      <p:pic>
        <p:nvPicPr>
          <p:cNvPr id="2" name="图片 1">
            <a:extLst>
              <a:ext uri="{FF2B5EF4-FFF2-40B4-BE49-F238E27FC236}">
                <a16:creationId xmlns:a16="http://schemas.microsoft.com/office/drawing/2014/main" id="{49D7E65D-E27D-4673-B0DB-7C7FEC69B142}"/>
              </a:ext>
            </a:extLst>
          </p:cNvPr>
          <p:cNvPicPr>
            <a:picLocks noChangeAspect="1"/>
          </p:cNvPicPr>
          <p:nvPr/>
        </p:nvPicPr>
        <p:blipFill>
          <a:blip r:embed="rId2"/>
          <a:stretch>
            <a:fillRect/>
          </a:stretch>
        </p:blipFill>
        <p:spPr>
          <a:xfrm>
            <a:off x="388127" y="1559538"/>
            <a:ext cx="11534158" cy="4048782"/>
          </a:xfrm>
          <a:prstGeom prst="rect">
            <a:avLst/>
          </a:prstGeom>
        </p:spPr>
      </p:pic>
    </p:spTree>
    <p:extLst>
      <p:ext uri="{BB962C8B-B14F-4D97-AF65-F5344CB8AC3E}">
        <p14:creationId xmlns:p14="http://schemas.microsoft.com/office/powerpoint/2010/main" val="201177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范式判断练习</a:t>
            </a:r>
          </a:p>
        </p:txBody>
      </p:sp>
      <p:pic>
        <p:nvPicPr>
          <p:cNvPr id="2" name="图片 1">
            <a:extLst>
              <a:ext uri="{FF2B5EF4-FFF2-40B4-BE49-F238E27FC236}">
                <a16:creationId xmlns:a16="http://schemas.microsoft.com/office/drawing/2014/main" id="{49D7E65D-E27D-4673-B0DB-7C7FEC69B142}"/>
              </a:ext>
            </a:extLst>
          </p:cNvPr>
          <p:cNvPicPr>
            <a:picLocks noChangeAspect="1"/>
          </p:cNvPicPr>
          <p:nvPr/>
        </p:nvPicPr>
        <p:blipFill>
          <a:blip r:embed="rId2"/>
          <a:stretch>
            <a:fillRect/>
          </a:stretch>
        </p:blipFill>
        <p:spPr>
          <a:xfrm>
            <a:off x="388127" y="1559538"/>
            <a:ext cx="11534158" cy="4048782"/>
          </a:xfrm>
          <a:prstGeom prst="rect">
            <a:avLst/>
          </a:prstGeom>
        </p:spPr>
      </p:pic>
      <p:sp>
        <p:nvSpPr>
          <p:cNvPr id="11" name="文本框 10">
            <a:extLst>
              <a:ext uri="{FF2B5EF4-FFF2-40B4-BE49-F238E27FC236}">
                <a16:creationId xmlns:a16="http://schemas.microsoft.com/office/drawing/2014/main" id="{0FD8B793-05FA-41A3-89AC-1E0F85B1E42E}"/>
              </a:ext>
            </a:extLst>
          </p:cNvPr>
          <p:cNvSpPr txBox="1"/>
          <p:nvPr/>
        </p:nvSpPr>
        <p:spPr>
          <a:xfrm>
            <a:off x="2207181" y="2731515"/>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C9779590-ED30-4EE6-8791-F9C88B585F87}"/>
              </a:ext>
            </a:extLst>
          </p:cNvPr>
          <p:cNvSpPr txBox="1"/>
          <p:nvPr/>
        </p:nvSpPr>
        <p:spPr>
          <a:xfrm>
            <a:off x="4053017" y="2731514"/>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F7EFE56E-7BA2-4B2B-99EE-1D64B8EF416F}"/>
              </a:ext>
            </a:extLst>
          </p:cNvPr>
          <p:cNvSpPr txBox="1"/>
          <p:nvPr/>
        </p:nvSpPr>
        <p:spPr>
          <a:xfrm>
            <a:off x="2222531" y="3265667"/>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3BF23050-A3D7-4A61-B450-ABFBE4AC1AAC}"/>
              </a:ext>
            </a:extLst>
          </p:cNvPr>
          <p:cNvSpPr txBox="1"/>
          <p:nvPr/>
        </p:nvSpPr>
        <p:spPr>
          <a:xfrm>
            <a:off x="4053017" y="5056784"/>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15CE077E-7239-48BD-8D2F-E5739B71574B}"/>
              </a:ext>
            </a:extLst>
          </p:cNvPr>
          <p:cNvSpPr txBox="1"/>
          <p:nvPr/>
        </p:nvSpPr>
        <p:spPr>
          <a:xfrm>
            <a:off x="7825150" y="3265666"/>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4ADCF121-2375-4E06-AEA1-86DABE4872F0}"/>
              </a:ext>
            </a:extLst>
          </p:cNvPr>
          <p:cNvSpPr txBox="1"/>
          <p:nvPr/>
        </p:nvSpPr>
        <p:spPr>
          <a:xfrm>
            <a:off x="2207181" y="4505248"/>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AFA22143-EED4-4CBD-81AC-07F6A4B41621}"/>
              </a:ext>
            </a:extLst>
          </p:cNvPr>
          <p:cNvSpPr txBox="1"/>
          <p:nvPr/>
        </p:nvSpPr>
        <p:spPr>
          <a:xfrm>
            <a:off x="4053017" y="4505248"/>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2DECA542-F0B6-42C7-8E63-99D671D702C6}"/>
              </a:ext>
            </a:extLst>
          </p:cNvPr>
          <p:cNvSpPr txBox="1"/>
          <p:nvPr/>
        </p:nvSpPr>
        <p:spPr>
          <a:xfrm>
            <a:off x="2207181" y="5039400"/>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9051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公式等值的范式</a:t>
            </a:r>
          </a:p>
        </p:txBody>
      </p:sp>
      <p:sp>
        <p:nvSpPr>
          <p:cNvPr id="11" name="矩形: 圆角 10">
            <a:extLst>
              <a:ext uri="{FF2B5EF4-FFF2-40B4-BE49-F238E27FC236}">
                <a16:creationId xmlns:a16="http://schemas.microsoft.com/office/drawing/2014/main" id="{9CC34D40-A5D9-44EB-9AA5-A52606951F1A}"/>
              </a:ext>
            </a:extLst>
          </p:cNvPr>
          <p:cNvSpPr/>
          <p:nvPr/>
        </p:nvSpPr>
        <p:spPr>
          <a:xfrm>
            <a:off x="1166077" y="1514443"/>
            <a:ext cx="476261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为什么研究命题逻辑公式的范式？</a:t>
            </a:r>
            <a:endParaRPr lang="zh-CN" altLang="en-US" sz="2400" b="1" dirty="0">
              <a:solidFill>
                <a:schemeClr val="accent2">
                  <a:lumMod val="50000"/>
                </a:schemeClr>
              </a:solidFill>
            </a:endParaRPr>
          </a:p>
        </p:txBody>
      </p:sp>
      <p:sp>
        <p:nvSpPr>
          <p:cNvPr id="2" name="文本框 1">
            <a:extLst>
              <a:ext uri="{FF2B5EF4-FFF2-40B4-BE49-F238E27FC236}">
                <a16:creationId xmlns:a16="http://schemas.microsoft.com/office/drawing/2014/main" id="{D9B2DC15-2D55-4709-836F-FD9B1AE9A1DE}"/>
              </a:ext>
            </a:extLst>
          </p:cNvPr>
          <p:cNvSpPr txBox="1"/>
          <p:nvPr/>
        </p:nvSpPr>
        <p:spPr>
          <a:xfrm>
            <a:off x="1166077" y="2706544"/>
            <a:ext cx="9604924" cy="2456763"/>
          </a:xfrm>
          <a:prstGeom prst="rect">
            <a:avLst/>
          </a:prstGeom>
          <a:solidFill>
            <a:schemeClr val="accent5">
              <a:lumMod val="20000"/>
              <a:lumOff val="80000"/>
              <a:alpha val="25000"/>
            </a:schemeClr>
          </a:solidFill>
        </p:spPr>
        <p:txBody>
          <a:bodyPr wrap="square" rtlCol="0">
            <a:spAutoFit/>
          </a:bodyPr>
          <a:lstStyle/>
          <a:p>
            <a:pPr marL="342900"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每个命题逻辑公式都有与它逻辑等值的析取范式，也有与它逻辑等值的合取范式</a:t>
            </a:r>
            <a:endParaRPr lang="en-US" altLang="zh-CN" sz="2000" b="1">
              <a:solidFill>
                <a:srgbClr val="002060"/>
              </a:solidFill>
              <a:latin typeface="楷体" panose="02010609060101010101" pitchFamily="49" charset="-122"/>
              <a:ea typeface="楷体" panose="02010609060101010101" pitchFamily="49" charset="-122"/>
            </a:endParaRPr>
          </a:p>
          <a:p>
            <a:pPr marL="800100" lvl="1"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使用等值演算可求与一个公式逻辑等值的范式</a:t>
            </a:r>
            <a:endParaRPr lang="en-US" altLang="zh-CN" sz="2000" b="1">
              <a:solidFill>
                <a:schemeClr val="accent6">
                  <a:lumMod val="50000"/>
                </a:schemeClr>
              </a:solidFill>
              <a:latin typeface="宋体" panose="02010600030101010101" pitchFamily="2" charset="-122"/>
              <a:ea typeface="宋体" panose="02010600030101010101" pitchFamily="2" charset="-122"/>
            </a:endParaRPr>
          </a:p>
          <a:p>
            <a:pPr marL="342900"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范式是一种相对标准的形式，更容易判断和比较</a:t>
            </a:r>
            <a:endParaRPr lang="en-US" altLang="zh-CN" sz="2000" b="1">
              <a:solidFill>
                <a:srgbClr val="002060"/>
              </a:solidFill>
              <a:latin typeface="楷体" panose="02010609060101010101" pitchFamily="49" charset="-122"/>
              <a:ea typeface="楷体" panose="02010609060101010101" pitchFamily="49" charset="-122"/>
            </a:endParaRPr>
          </a:p>
          <a:p>
            <a:pPr marL="800100" lvl="1"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范式只含与、或、非运算，且否定只出现在命题变量的前面</a:t>
            </a:r>
            <a:endParaRPr lang="en-US" altLang="zh-CN" sz="2000" b="1">
              <a:solidFill>
                <a:schemeClr val="accent6">
                  <a:lumMod val="50000"/>
                </a:schemeClr>
              </a:solidFill>
              <a:latin typeface="宋体" panose="02010600030101010101" pitchFamily="2" charset="-122"/>
              <a:ea typeface="宋体" panose="02010600030101010101" pitchFamily="2" charset="-122"/>
            </a:endParaRPr>
          </a:p>
          <a:p>
            <a:pPr marL="800100" lvl="1"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等值演算的常见思路是将公式变换为逻辑等值的范式，然后再进行比较</a:t>
            </a:r>
          </a:p>
        </p:txBody>
      </p:sp>
    </p:spTree>
    <p:extLst>
      <p:ext uri="{BB962C8B-B14F-4D97-AF65-F5344CB8AC3E}">
        <p14:creationId xmlns:p14="http://schemas.microsoft.com/office/powerpoint/2010/main" val="292208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公式等值的范式</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25823DF-8D37-4CB1-88F1-35A47C361610}"/>
                  </a:ext>
                </a:extLst>
              </p:cNvPr>
              <p:cNvSpPr txBox="1"/>
              <p:nvPr/>
            </p:nvSpPr>
            <p:spPr>
              <a:xfrm>
                <a:off x="1001320" y="1473355"/>
                <a:ext cx="10189358" cy="1846659"/>
              </a:xfrm>
              <a:prstGeom prst="rect">
                <a:avLst/>
              </a:prstGeom>
              <a:solidFill>
                <a:schemeClr val="accent4">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求与公式逻辑等值的析取范式</a:t>
                </a:r>
                <a:endParaRPr lang="en-US" altLang="zh-CN" sz="2400" b="1">
                  <a:solidFill>
                    <a:srgbClr val="C00000"/>
                  </a:solidFill>
                </a:endParaRPr>
              </a:p>
              <a:p>
                <a:pPr marL="285750" indent="-285750">
                  <a:lnSpc>
                    <a:spcPts val="24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先通过</a:t>
                </a:r>
                <a:r>
                  <a:rPr lang="zh-CN" altLang="en-US" sz="2000" b="1">
                    <a:solidFill>
                      <a:srgbClr val="C00000"/>
                    </a:solidFill>
                    <a:latin typeface="黑体" panose="02010609060101010101" pitchFamily="49" charset="-122"/>
                    <a:ea typeface="黑体" panose="02010609060101010101" pitchFamily="49" charset="-122"/>
                  </a:rPr>
                  <a:t>蕴涵等值式</a:t>
                </a:r>
                <a:r>
                  <a:rPr lang="zh-CN" altLang="en-US" sz="2000" b="1">
                    <a:solidFill>
                      <a:srgbClr val="002060"/>
                    </a:solidFill>
                    <a:latin typeface="楷体" panose="02010609060101010101" pitchFamily="49" charset="-122"/>
                    <a:ea typeface="楷体" panose="02010609060101010101" pitchFamily="49" charset="-122"/>
                  </a:rPr>
                  <a:t>和</a:t>
                </a:r>
                <a:r>
                  <a:rPr lang="zh-CN" altLang="en-US" sz="2000" b="1">
                    <a:solidFill>
                      <a:srgbClr val="C00000"/>
                    </a:solidFill>
                    <a:latin typeface="黑体" panose="02010609060101010101" pitchFamily="49" charset="-122"/>
                    <a:ea typeface="黑体" panose="02010609060101010101" pitchFamily="49" charset="-122"/>
                  </a:rPr>
                  <a:t>双蕴涵等值式</a:t>
                </a:r>
                <a:r>
                  <a:rPr lang="zh-CN" altLang="en-US" sz="2000" b="1">
                    <a:solidFill>
                      <a:srgbClr val="002060"/>
                    </a:solidFill>
                    <a:latin typeface="楷体" panose="02010609060101010101" pitchFamily="49" charset="-122"/>
                    <a:ea typeface="楷体" panose="02010609060101010101" pitchFamily="49" charset="-122"/>
                  </a:rPr>
                  <a:t>转换为不含</a:t>
                </a:r>
                <a14:m>
                  <m:oMath xmlns:m="http://schemas.openxmlformats.org/officeDocument/2006/math">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和</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的公式</a:t>
                </a:r>
              </a:p>
              <a:p>
                <a:pPr marL="285750" indent="-285750">
                  <a:lnSpc>
                    <a:spcPts val="24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然后用</a:t>
                </a:r>
                <a:r>
                  <a:rPr lang="zh-CN" altLang="en-US" sz="2000" b="1">
                    <a:solidFill>
                      <a:srgbClr val="C00000"/>
                    </a:solidFill>
                    <a:latin typeface="黑体" panose="02010609060101010101" pitchFamily="49" charset="-122"/>
                    <a:ea typeface="黑体" panose="02010609060101010101" pitchFamily="49" charset="-122"/>
                  </a:rPr>
                  <a:t>德摩尔根律</a:t>
                </a:r>
                <a:r>
                  <a:rPr lang="zh-CN" altLang="en-US" sz="2000" b="1">
                    <a:solidFill>
                      <a:srgbClr val="002060"/>
                    </a:solidFill>
                    <a:latin typeface="楷体" panose="02010609060101010101" pitchFamily="49" charset="-122"/>
                    <a:ea typeface="楷体" panose="02010609060101010101" pitchFamily="49" charset="-122"/>
                  </a:rPr>
                  <a:t>将所有否定运算符移到命题变量的前面</a:t>
                </a:r>
              </a:p>
              <a:p>
                <a:pPr marL="285750" indent="-285750">
                  <a:lnSpc>
                    <a:spcPts val="24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最后用</a:t>
                </a:r>
                <a:r>
                  <a:rPr lang="zh-CN" altLang="en-US" sz="2000" b="1">
                    <a:solidFill>
                      <a:srgbClr val="C00000"/>
                    </a:solidFill>
                    <a:latin typeface="黑体" panose="02010609060101010101" pitchFamily="49" charset="-122"/>
                    <a:ea typeface="黑体" panose="02010609060101010101" pitchFamily="49" charset="-122"/>
                  </a:rPr>
                  <a:t>分配律</a:t>
                </a:r>
                <a:r>
                  <a:rPr lang="zh-CN" altLang="en-US" sz="2000" b="1">
                    <a:solidFill>
                      <a:srgbClr val="002060"/>
                    </a:solidFill>
                    <a:latin typeface="楷体" panose="02010609060101010101" pitchFamily="49" charset="-122"/>
                    <a:ea typeface="楷体" panose="02010609060101010101" pitchFamily="49" charset="-122"/>
                  </a:rPr>
                  <a:t>将合取运算符放到括号里的文字间，析取运算符放到括号外的合取式之间</a:t>
                </a:r>
              </a:p>
            </p:txBody>
          </p:sp>
        </mc:Choice>
        <mc:Fallback xmlns="">
          <p:sp>
            <p:nvSpPr>
              <p:cNvPr id="3" name="文本框 2">
                <a:extLst>
                  <a:ext uri="{FF2B5EF4-FFF2-40B4-BE49-F238E27FC236}">
                    <a16:creationId xmlns:a16="http://schemas.microsoft.com/office/drawing/2014/main" id="{825823DF-8D37-4CB1-88F1-35A47C361610}"/>
                  </a:ext>
                </a:extLst>
              </p:cNvPr>
              <p:cNvSpPr txBox="1">
                <a:spLocks noRot="1" noChangeAspect="1" noMove="1" noResize="1" noEditPoints="1" noAdjustHandles="1" noChangeArrowheads="1" noChangeShapeType="1" noTextEdit="1"/>
              </p:cNvSpPr>
              <p:nvPr/>
            </p:nvSpPr>
            <p:spPr>
              <a:xfrm>
                <a:off x="1001320" y="1473355"/>
                <a:ext cx="10189358" cy="1846659"/>
              </a:xfrm>
              <a:prstGeom prst="rect">
                <a:avLst/>
              </a:prstGeom>
              <a:blipFill>
                <a:blip r:embed="rId2"/>
                <a:stretch>
                  <a:fillRect l="-538" t="-2310" r="-538" b="-4950"/>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C7271639-34DA-42DC-8C49-C691172120A2}"/>
              </a:ext>
            </a:extLst>
          </p:cNvPr>
          <p:cNvSpPr txBox="1"/>
          <p:nvPr/>
        </p:nvSpPr>
        <p:spPr>
          <a:xfrm>
            <a:off x="1001320" y="3548173"/>
            <a:ext cx="8113023" cy="923330"/>
          </a:xfrm>
          <a:prstGeom prst="rect">
            <a:avLst/>
          </a:prstGeom>
          <a:solidFill>
            <a:schemeClr val="accent4">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求与公式逻辑等值的合取范式</a:t>
            </a:r>
            <a:endParaRPr lang="en-US" altLang="zh-CN" sz="2400" b="1">
              <a:solidFill>
                <a:srgbClr val="C00000"/>
              </a:solidFill>
            </a:endParaRPr>
          </a:p>
          <a:p>
            <a:pPr marL="285750" indent="-285750">
              <a:lnSpc>
                <a:spcPts val="24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也是先消除与、或、非之外的运算符</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然后使用德摩尔根律和分配律</a:t>
            </a:r>
          </a:p>
        </p:txBody>
      </p:sp>
      <p:grpSp>
        <p:nvGrpSpPr>
          <p:cNvPr id="35" name="组合 34">
            <a:extLst>
              <a:ext uri="{FF2B5EF4-FFF2-40B4-BE49-F238E27FC236}">
                <a16:creationId xmlns:a16="http://schemas.microsoft.com/office/drawing/2014/main" id="{E94B6BA7-356C-483C-A275-DE3494B50A8F}"/>
              </a:ext>
            </a:extLst>
          </p:cNvPr>
          <p:cNvGrpSpPr/>
          <p:nvPr/>
        </p:nvGrpSpPr>
        <p:grpSpPr>
          <a:xfrm>
            <a:off x="510923" y="4826005"/>
            <a:ext cx="11170152" cy="1131528"/>
            <a:chOff x="499960" y="5308783"/>
            <a:chExt cx="11170152" cy="1131528"/>
          </a:xfrm>
        </p:grpSpPr>
        <p:sp>
          <p:nvSpPr>
            <p:cNvPr id="34" name="矩形: 圆角 33">
              <a:extLst>
                <a:ext uri="{FF2B5EF4-FFF2-40B4-BE49-F238E27FC236}">
                  <a16:creationId xmlns:a16="http://schemas.microsoft.com/office/drawing/2014/main" id="{F16E0960-E948-4282-8FE9-E2010C0F90CB}"/>
                </a:ext>
              </a:extLst>
            </p:cNvPr>
            <p:cNvSpPr/>
            <p:nvPr/>
          </p:nvSpPr>
          <p:spPr>
            <a:xfrm>
              <a:off x="499960" y="5308783"/>
              <a:ext cx="11170152" cy="113152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A7AEC0C7-C6FE-44AA-88E9-ED6ECAC18A5D}"/>
                </a:ext>
              </a:extLst>
            </p:cNvPr>
            <p:cNvGrpSpPr/>
            <p:nvPr/>
          </p:nvGrpSpPr>
          <p:grpSpPr>
            <a:xfrm>
              <a:off x="592213" y="5418436"/>
              <a:ext cx="11007573" cy="938915"/>
              <a:chOff x="592213" y="5439765"/>
              <a:chExt cx="11007573" cy="938915"/>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99CDE84-2337-45D9-A042-FDBB07618E48}"/>
                      </a:ext>
                    </a:extLst>
                  </p:cNvPr>
                  <p:cNvSpPr txBox="1"/>
                  <p:nvPr/>
                </p:nvSpPr>
                <p:spPr>
                  <a:xfrm>
                    <a:off x="592213" y="5439765"/>
                    <a:ext cx="1473410" cy="369332"/>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i="1" smtClean="0">
                                  <a:solidFill>
                                    <a:srgbClr val="002060"/>
                                  </a:solidFill>
                                  <a:latin typeface="Cambria Math" panose="02040503050406030204" pitchFamily="18" charset="0"/>
                                </a:rPr>
                              </m:ctrlPr>
                            </m:dPr>
                            <m:e>
                              <m:r>
                                <a:rPr lang="en-US" altLang="zh-CN" i="1" smtClean="0">
                                  <a:solidFill>
                                    <a:srgbClr val="002060"/>
                                  </a:solidFill>
                                  <a:latin typeface="Cambria Math" panose="02040503050406030204" pitchFamily="18" charset="0"/>
                                </a:rPr>
                                <m:t>𝑝</m:t>
                              </m:r>
                              <m:r>
                                <a:rPr lang="en-US" altLang="zh-CN"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𝑞</m:t>
                              </m:r>
                            </m:e>
                          </m:d>
                          <m:r>
                            <a:rPr lang="en-US" altLang="zh-CN" i="1" smtClean="0">
                              <a:solidFill>
                                <a:srgbClr val="002060"/>
                              </a:solidFill>
                              <a:latin typeface="Cambria Math" panose="02040503050406030204" pitchFamily="18" charset="0"/>
                            </a:rPr>
                            <m:t>→</m:t>
                          </m:r>
                          <m:r>
                            <a:rPr lang="en-US" altLang="zh-CN" i="1">
                              <a:solidFill>
                                <a:srgbClr val="002060"/>
                              </a:solidFill>
                              <a:latin typeface="Cambria Math" panose="02040503050406030204" pitchFamily="18" charset="0"/>
                            </a:rPr>
                            <m:t>𝑟</m:t>
                          </m:r>
                        </m:oMath>
                      </m:oMathPara>
                    </a14:m>
                    <a:endParaRPr lang="zh-CN" altLang="en-US">
                      <a:solidFill>
                        <a:srgbClr val="002060"/>
                      </a:solidFill>
                    </a:endParaRPr>
                  </a:p>
                </p:txBody>
              </p:sp>
            </mc:Choice>
            <mc:Fallback xmlns="">
              <p:sp>
                <p:nvSpPr>
                  <p:cNvPr id="4" name="文本框 3">
                    <a:extLst>
                      <a:ext uri="{FF2B5EF4-FFF2-40B4-BE49-F238E27FC236}">
                        <a16:creationId xmlns:a16="http://schemas.microsoft.com/office/drawing/2014/main" id="{099CDE84-2337-45D9-A042-FDBB07618E48}"/>
                      </a:ext>
                    </a:extLst>
                  </p:cNvPr>
                  <p:cNvSpPr txBox="1">
                    <a:spLocks noRot="1" noChangeAspect="1" noMove="1" noResize="1" noEditPoints="1" noAdjustHandles="1" noChangeArrowheads="1" noChangeShapeType="1" noTextEdit="1"/>
                  </p:cNvSpPr>
                  <p:nvPr/>
                </p:nvSpPr>
                <p:spPr>
                  <a:xfrm>
                    <a:off x="592213" y="5439765"/>
                    <a:ext cx="1473410" cy="369332"/>
                  </a:xfrm>
                  <a:prstGeom prst="rect">
                    <a:avLst/>
                  </a:prstGeom>
                  <a:blipFill>
                    <a:blip r:embed="rId3"/>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DE0310B-97FA-4009-9C14-0B6D9E459E9E}"/>
                      </a:ext>
                    </a:extLst>
                  </p:cNvPr>
                  <p:cNvSpPr txBox="1"/>
                  <p:nvPr/>
                </p:nvSpPr>
                <p:spPr>
                  <a:xfrm>
                    <a:off x="2727675" y="5452123"/>
                    <a:ext cx="1551968" cy="369332"/>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i="1" smtClean="0">
                                  <a:solidFill>
                                    <a:srgbClr val="002060"/>
                                  </a:solidFill>
                                  <a:latin typeface="Cambria Math" panose="02040503050406030204" pitchFamily="18" charset="0"/>
                                </a:rPr>
                              </m:ctrlPr>
                            </m:dPr>
                            <m:e>
                              <m:r>
                                <a:rPr lang="en-US" altLang="zh-CN" b="0"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𝑝</m:t>
                              </m:r>
                              <m:r>
                                <a:rPr lang="en-US" altLang="zh-CN" b="0"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𝑞</m:t>
                              </m:r>
                            </m:e>
                          </m:d>
                          <m:r>
                            <a:rPr lang="en-US" altLang="zh-CN" i="1" smtClean="0">
                              <a:solidFill>
                                <a:srgbClr val="002060"/>
                              </a:solidFill>
                              <a:latin typeface="Cambria Math" panose="02040503050406030204" pitchFamily="18" charset="0"/>
                            </a:rPr>
                            <m:t>→</m:t>
                          </m:r>
                          <m:r>
                            <a:rPr lang="en-US" altLang="zh-CN" i="1">
                              <a:solidFill>
                                <a:srgbClr val="002060"/>
                              </a:solidFill>
                              <a:latin typeface="Cambria Math" panose="02040503050406030204" pitchFamily="18" charset="0"/>
                            </a:rPr>
                            <m:t>𝑟</m:t>
                          </m:r>
                        </m:oMath>
                      </m:oMathPara>
                    </a14:m>
                    <a:endParaRPr lang="zh-CN" altLang="en-US">
                      <a:solidFill>
                        <a:srgbClr val="002060"/>
                      </a:solidFill>
                    </a:endParaRPr>
                  </a:p>
                </p:txBody>
              </p:sp>
            </mc:Choice>
            <mc:Fallback xmlns="">
              <p:sp>
                <p:nvSpPr>
                  <p:cNvPr id="13" name="文本框 12">
                    <a:extLst>
                      <a:ext uri="{FF2B5EF4-FFF2-40B4-BE49-F238E27FC236}">
                        <a16:creationId xmlns:a16="http://schemas.microsoft.com/office/drawing/2014/main" id="{6DE0310B-97FA-4009-9C14-0B6D9E459E9E}"/>
                      </a:ext>
                    </a:extLst>
                  </p:cNvPr>
                  <p:cNvSpPr txBox="1">
                    <a:spLocks noRot="1" noChangeAspect="1" noMove="1" noResize="1" noEditPoints="1" noAdjustHandles="1" noChangeArrowheads="1" noChangeShapeType="1" noTextEdit="1"/>
                  </p:cNvSpPr>
                  <p:nvPr/>
                </p:nvSpPr>
                <p:spPr>
                  <a:xfrm>
                    <a:off x="2727675" y="5452123"/>
                    <a:ext cx="1551968" cy="369332"/>
                  </a:xfrm>
                  <a:prstGeom prst="rect">
                    <a:avLst/>
                  </a:prstGeom>
                  <a:blipFill>
                    <a:blip r:embed="rId4"/>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2E0BAD2-324E-4E73-AA47-15DB24294CF5}"/>
                      </a:ext>
                    </a:extLst>
                  </p:cNvPr>
                  <p:cNvSpPr txBox="1"/>
                  <p:nvPr/>
                </p:nvSpPr>
                <p:spPr>
                  <a:xfrm>
                    <a:off x="5061765" y="5452123"/>
                    <a:ext cx="1607555" cy="369332"/>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2060"/>
                              </a:solidFill>
                              <a:latin typeface="Cambria Math" panose="02040503050406030204" pitchFamily="18" charset="0"/>
                            </a:rPr>
                            <m:t>¬</m:t>
                          </m:r>
                          <m:d>
                            <m:dPr>
                              <m:ctrlPr>
                                <a:rPr lang="en-US" altLang="zh-CN" i="1" smtClean="0">
                                  <a:solidFill>
                                    <a:srgbClr val="002060"/>
                                  </a:solidFill>
                                  <a:latin typeface="Cambria Math" panose="02040503050406030204" pitchFamily="18" charset="0"/>
                                </a:rPr>
                              </m:ctrlPr>
                            </m:dPr>
                            <m:e>
                              <m:r>
                                <a:rPr lang="en-US" altLang="zh-CN" b="0"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𝑝</m:t>
                              </m:r>
                              <m:r>
                                <a:rPr lang="en-US" altLang="zh-CN" b="0"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𝑞</m:t>
                              </m:r>
                            </m:e>
                          </m:d>
                          <m:r>
                            <a:rPr lang="en-US" altLang="zh-CN" b="0" i="1" smtClean="0">
                              <a:solidFill>
                                <a:srgbClr val="002060"/>
                              </a:solidFill>
                              <a:latin typeface="Cambria Math" panose="02040503050406030204" pitchFamily="18" charset="0"/>
                            </a:rPr>
                            <m:t>∨</m:t>
                          </m:r>
                          <m:r>
                            <a:rPr lang="en-US" altLang="zh-CN" i="1">
                              <a:solidFill>
                                <a:srgbClr val="002060"/>
                              </a:solidFill>
                              <a:latin typeface="Cambria Math" panose="02040503050406030204" pitchFamily="18" charset="0"/>
                            </a:rPr>
                            <m:t>𝑟</m:t>
                          </m:r>
                        </m:oMath>
                      </m:oMathPara>
                    </a14:m>
                    <a:endParaRPr lang="zh-CN" altLang="en-US">
                      <a:solidFill>
                        <a:srgbClr val="002060"/>
                      </a:solidFill>
                    </a:endParaRPr>
                  </a:p>
                </p:txBody>
              </p:sp>
            </mc:Choice>
            <mc:Fallback xmlns="">
              <p:sp>
                <p:nvSpPr>
                  <p:cNvPr id="14" name="文本框 13">
                    <a:extLst>
                      <a:ext uri="{FF2B5EF4-FFF2-40B4-BE49-F238E27FC236}">
                        <a16:creationId xmlns:a16="http://schemas.microsoft.com/office/drawing/2014/main" id="{42E0BAD2-324E-4E73-AA47-15DB24294CF5}"/>
                      </a:ext>
                    </a:extLst>
                  </p:cNvPr>
                  <p:cNvSpPr txBox="1">
                    <a:spLocks noRot="1" noChangeAspect="1" noMove="1" noResize="1" noEditPoints="1" noAdjustHandles="1" noChangeArrowheads="1" noChangeShapeType="1" noTextEdit="1"/>
                  </p:cNvSpPr>
                  <p:nvPr/>
                </p:nvSpPr>
                <p:spPr>
                  <a:xfrm>
                    <a:off x="5061765" y="5452123"/>
                    <a:ext cx="1607555" cy="369332"/>
                  </a:xfrm>
                  <a:prstGeom prst="rect">
                    <a:avLst/>
                  </a:prstGeom>
                  <a:blipFill>
                    <a:blip r:embed="rId5"/>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4C0DA7C-5AB0-43BD-B3E9-0B1F91FA59B6}"/>
                      </a:ext>
                    </a:extLst>
                  </p:cNvPr>
                  <p:cNvSpPr txBox="1"/>
                  <p:nvPr/>
                </p:nvSpPr>
                <p:spPr>
                  <a:xfrm>
                    <a:off x="7451442" y="5459384"/>
                    <a:ext cx="1607555" cy="369332"/>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i="1" smtClean="0">
                                  <a:solidFill>
                                    <a:srgbClr val="002060"/>
                                  </a:solidFill>
                                  <a:latin typeface="Cambria Math" panose="02040503050406030204" pitchFamily="18" charset="0"/>
                                </a:rPr>
                              </m:ctrlPr>
                            </m:dPr>
                            <m:e>
                              <m:r>
                                <a:rPr lang="en-US" altLang="zh-CN" i="1" smtClean="0">
                                  <a:solidFill>
                                    <a:srgbClr val="002060"/>
                                  </a:solidFill>
                                  <a:latin typeface="Cambria Math" panose="02040503050406030204" pitchFamily="18" charset="0"/>
                                </a:rPr>
                                <m:t>𝑝</m:t>
                              </m:r>
                              <m:r>
                                <a:rPr lang="en-US" altLang="zh-CN" b="0"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𝑞</m:t>
                              </m:r>
                            </m:e>
                          </m:d>
                          <m:r>
                            <a:rPr lang="en-US" altLang="zh-CN" b="0" i="1" smtClean="0">
                              <a:solidFill>
                                <a:srgbClr val="002060"/>
                              </a:solidFill>
                              <a:latin typeface="Cambria Math" panose="02040503050406030204" pitchFamily="18" charset="0"/>
                            </a:rPr>
                            <m:t>∨</m:t>
                          </m:r>
                          <m:r>
                            <a:rPr lang="en-US" altLang="zh-CN" i="1">
                              <a:solidFill>
                                <a:srgbClr val="002060"/>
                              </a:solidFill>
                              <a:latin typeface="Cambria Math" panose="02040503050406030204" pitchFamily="18" charset="0"/>
                            </a:rPr>
                            <m:t>𝑟</m:t>
                          </m:r>
                        </m:oMath>
                      </m:oMathPara>
                    </a14:m>
                    <a:endParaRPr lang="zh-CN" altLang="en-US">
                      <a:solidFill>
                        <a:srgbClr val="002060"/>
                      </a:solidFill>
                    </a:endParaRPr>
                  </a:p>
                </p:txBody>
              </p:sp>
            </mc:Choice>
            <mc:Fallback xmlns="">
              <p:sp>
                <p:nvSpPr>
                  <p:cNvPr id="15" name="文本框 14">
                    <a:extLst>
                      <a:ext uri="{FF2B5EF4-FFF2-40B4-BE49-F238E27FC236}">
                        <a16:creationId xmlns:a16="http://schemas.microsoft.com/office/drawing/2014/main" id="{C4C0DA7C-5AB0-43BD-B3E9-0B1F91FA59B6}"/>
                      </a:ext>
                    </a:extLst>
                  </p:cNvPr>
                  <p:cNvSpPr txBox="1">
                    <a:spLocks noRot="1" noChangeAspect="1" noMove="1" noResize="1" noEditPoints="1" noAdjustHandles="1" noChangeArrowheads="1" noChangeShapeType="1" noTextEdit="1"/>
                  </p:cNvSpPr>
                  <p:nvPr/>
                </p:nvSpPr>
                <p:spPr>
                  <a:xfrm>
                    <a:off x="7451442" y="5459384"/>
                    <a:ext cx="1607555" cy="369332"/>
                  </a:xfrm>
                  <a:prstGeom prst="rect">
                    <a:avLst/>
                  </a:prstGeom>
                  <a:blipFill>
                    <a:blip r:embed="rId6"/>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C4F5E476-A80D-4021-9E07-FA035F174298}"/>
                      </a:ext>
                    </a:extLst>
                  </p:cNvPr>
                  <p:cNvSpPr txBox="1"/>
                  <p:nvPr/>
                </p:nvSpPr>
                <p:spPr>
                  <a:xfrm>
                    <a:off x="9665462" y="5459384"/>
                    <a:ext cx="1934324" cy="369332"/>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i="1" smtClean="0">
                                  <a:solidFill>
                                    <a:srgbClr val="002060"/>
                                  </a:solidFill>
                                  <a:latin typeface="Cambria Math" panose="02040503050406030204" pitchFamily="18" charset="0"/>
                                </a:rPr>
                              </m:ctrlPr>
                            </m:dPr>
                            <m:e>
                              <m:r>
                                <a:rPr lang="en-US" altLang="zh-CN" i="1" smtClean="0">
                                  <a:solidFill>
                                    <a:srgbClr val="002060"/>
                                  </a:solidFill>
                                  <a:latin typeface="Cambria Math" panose="02040503050406030204" pitchFamily="18" charset="0"/>
                                </a:rPr>
                                <m:t>𝑝</m:t>
                              </m:r>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𝑟</m:t>
                              </m:r>
                              <m:r>
                                <a:rPr lang="en-US" altLang="zh-CN" b="0"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𝑞</m:t>
                              </m:r>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𝑟</m:t>
                              </m:r>
                            </m:e>
                          </m:d>
                        </m:oMath>
                      </m:oMathPara>
                    </a14:m>
                    <a:endParaRPr lang="zh-CN" altLang="en-US">
                      <a:solidFill>
                        <a:srgbClr val="002060"/>
                      </a:solidFill>
                    </a:endParaRPr>
                  </a:p>
                </p:txBody>
              </p:sp>
            </mc:Choice>
            <mc:Fallback xmlns="">
              <p:sp>
                <p:nvSpPr>
                  <p:cNvPr id="16" name="文本框 15">
                    <a:extLst>
                      <a:ext uri="{FF2B5EF4-FFF2-40B4-BE49-F238E27FC236}">
                        <a16:creationId xmlns:a16="http://schemas.microsoft.com/office/drawing/2014/main" id="{C4F5E476-A80D-4021-9E07-FA035F174298}"/>
                      </a:ext>
                    </a:extLst>
                  </p:cNvPr>
                  <p:cNvSpPr txBox="1">
                    <a:spLocks noRot="1" noChangeAspect="1" noMove="1" noResize="1" noEditPoints="1" noAdjustHandles="1" noChangeArrowheads="1" noChangeShapeType="1" noTextEdit="1"/>
                  </p:cNvSpPr>
                  <p:nvPr/>
                </p:nvSpPr>
                <p:spPr>
                  <a:xfrm>
                    <a:off x="9665462" y="5459384"/>
                    <a:ext cx="1934324" cy="369332"/>
                  </a:xfrm>
                  <a:prstGeom prst="rect">
                    <a:avLst/>
                  </a:prstGeom>
                  <a:blipFill>
                    <a:blip r:embed="rId7"/>
                    <a:stretch>
                      <a:fillRect b="-13333"/>
                    </a:stretch>
                  </a:blipFill>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05F19AA3-0A09-4634-B675-85F40556E53D}"/>
                  </a:ext>
                </a:extLst>
              </p:cNvPr>
              <p:cNvSpPr/>
              <p:nvPr/>
            </p:nvSpPr>
            <p:spPr>
              <a:xfrm>
                <a:off x="2065623" y="5603839"/>
                <a:ext cx="662052" cy="6590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CF5C0D5C-1E31-4166-A6ED-531D3927142A}"/>
                  </a:ext>
                </a:extLst>
              </p:cNvPr>
              <p:cNvSpPr/>
              <p:nvPr/>
            </p:nvSpPr>
            <p:spPr>
              <a:xfrm>
                <a:off x="4279643" y="5611397"/>
                <a:ext cx="782122" cy="6590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D31AFF60-9E68-4E25-9825-3F9AAE47DD18}"/>
                  </a:ext>
                </a:extLst>
              </p:cNvPr>
              <p:cNvSpPr/>
              <p:nvPr/>
            </p:nvSpPr>
            <p:spPr>
              <a:xfrm>
                <a:off x="6672640" y="5591481"/>
                <a:ext cx="778801" cy="78258"/>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5BE41640-4585-4EB8-9212-922BDA5C4FE8}"/>
                  </a:ext>
                </a:extLst>
              </p:cNvPr>
              <p:cNvSpPr/>
              <p:nvPr/>
            </p:nvSpPr>
            <p:spPr>
              <a:xfrm>
                <a:off x="9058997" y="5603839"/>
                <a:ext cx="606465" cy="6590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5C800D0-D3A7-4D5C-81D8-82E1724B2125}"/>
                  </a:ext>
                </a:extLst>
              </p:cNvPr>
              <p:cNvSpPr txBox="1"/>
              <p:nvPr/>
            </p:nvSpPr>
            <p:spPr>
              <a:xfrm>
                <a:off x="1690818" y="5828716"/>
                <a:ext cx="1357182" cy="276999"/>
              </a:xfrm>
              <a:prstGeom prst="rect">
                <a:avLst/>
              </a:prstGeom>
              <a:solidFill>
                <a:schemeClr val="accent4">
                  <a:lumMod val="20000"/>
                  <a:lumOff val="80000"/>
                </a:schemeClr>
              </a:solidFill>
            </p:spPr>
            <p:txBody>
              <a:bodyPr wrap="square" tIns="0" bIns="0" rtlCol="0">
                <a:spAutoFit/>
              </a:bodyPr>
              <a:lstStyle/>
              <a:p>
                <a:pPr algn="ctr"/>
                <a:r>
                  <a:rPr lang="zh-CN" altLang="en-US" b="1">
                    <a:solidFill>
                      <a:srgbClr val="C00000"/>
                    </a:solidFill>
                    <a:latin typeface="楷体" panose="02010609060101010101" pitchFamily="49" charset="-122"/>
                    <a:ea typeface="楷体" panose="02010609060101010101" pitchFamily="49" charset="-122"/>
                  </a:rPr>
                  <a:t>蕴涵等值式</a:t>
                </a:r>
              </a:p>
            </p:txBody>
          </p:sp>
          <p:sp>
            <p:nvSpPr>
              <p:cNvPr id="22" name="文本框 21">
                <a:extLst>
                  <a:ext uri="{FF2B5EF4-FFF2-40B4-BE49-F238E27FC236}">
                    <a16:creationId xmlns:a16="http://schemas.microsoft.com/office/drawing/2014/main" id="{F237C6C0-5061-4A77-B540-D18B704B039B}"/>
                  </a:ext>
                </a:extLst>
              </p:cNvPr>
              <p:cNvSpPr txBox="1"/>
              <p:nvPr/>
            </p:nvSpPr>
            <p:spPr>
              <a:xfrm>
                <a:off x="3992113" y="5828716"/>
                <a:ext cx="1357182" cy="276999"/>
              </a:xfrm>
              <a:prstGeom prst="rect">
                <a:avLst/>
              </a:prstGeom>
              <a:solidFill>
                <a:schemeClr val="accent4">
                  <a:lumMod val="20000"/>
                  <a:lumOff val="80000"/>
                </a:schemeClr>
              </a:solidFill>
            </p:spPr>
            <p:txBody>
              <a:bodyPr wrap="square" tIns="0" bIns="0" rtlCol="0">
                <a:spAutoFit/>
              </a:bodyPr>
              <a:lstStyle/>
              <a:p>
                <a:pPr algn="ctr"/>
                <a:r>
                  <a:rPr lang="zh-CN" altLang="en-US" b="1">
                    <a:solidFill>
                      <a:srgbClr val="C00000"/>
                    </a:solidFill>
                    <a:latin typeface="楷体" panose="02010609060101010101" pitchFamily="49" charset="-122"/>
                    <a:ea typeface="楷体" panose="02010609060101010101" pitchFamily="49" charset="-122"/>
                  </a:rPr>
                  <a:t>蕴涵等值式</a:t>
                </a:r>
              </a:p>
            </p:txBody>
          </p:sp>
          <p:sp>
            <p:nvSpPr>
              <p:cNvPr id="23" name="文本框 22">
                <a:extLst>
                  <a:ext uri="{FF2B5EF4-FFF2-40B4-BE49-F238E27FC236}">
                    <a16:creationId xmlns:a16="http://schemas.microsoft.com/office/drawing/2014/main" id="{305E3544-B189-41B0-B13D-EE03A3C02560}"/>
                  </a:ext>
                </a:extLst>
              </p:cNvPr>
              <p:cNvSpPr txBox="1"/>
              <p:nvPr/>
            </p:nvSpPr>
            <p:spPr>
              <a:xfrm>
                <a:off x="6145948" y="5824682"/>
                <a:ext cx="1608109" cy="553998"/>
              </a:xfrm>
              <a:prstGeom prst="rect">
                <a:avLst/>
              </a:prstGeom>
              <a:solidFill>
                <a:schemeClr val="accent4">
                  <a:lumMod val="20000"/>
                  <a:lumOff val="80000"/>
                </a:schemeClr>
              </a:solidFill>
            </p:spPr>
            <p:txBody>
              <a:bodyPr wrap="square" tIns="0" bIns="0" rtlCol="0">
                <a:spAutoFit/>
              </a:bodyPr>
              <a:lstStyle/>
              <a:p>
                <a:pPr algn="ctr"/>
                <a:r>
                  <a:rPr lang="zh-CN" altLang="en-US" b="1">
                    <a:solidFill>
                      <a:srgbClr val="C00000"/>
                    </a:solidFill>
                    <a:latin typeface="楷体" panose="02010609060101010101" pitchFamily="49" charset="-122"/>
                    <a:ea typeface="楷体" panose="02010609060101010101" pitchFamily="49" charset="-122"/>
                  </a:rPr>
                  <a:t>蕴德摩尔根律双重否定律</a:t>
                </a:r>
              </a:p>
            </p:txBody>
          </p:sp>
          <p:sp>
            <p:nvSpPr>
              <p:cNvPr id="24" name="文本框 23">
                <a:extLst>
                  <a:ext uri="{FF2B5EF4-FFF2-40B4-BE49-F238E27FC236}">
                    <a16:creationId xmlns:a16="http://schemas.microsoft.com/office/drawing/2014/main" id="{7BFC879D-68AF-43D2-BAB0-467F3B95BD87}"/>
                  </a:ext>
                </a:extLst>
              </p:cNvPr>
              <p:cNvSpPr txBox="1"/>
              <p:nvPr/>
            </p:nvSpPr>
            <p:spPr>
              <a:xfrm>
                <a:off x="8952522" y="5834671"/>
                <a:ext cx="888597" cy="276999"/>
              </a:xfrm>
              <a:prstGeom prst="rect">
                <a:avLst/>
              </a:prstGeom>
              <a:solidFill>
                <a:schemeClr val="accent4">
                  <a:lumMod val="20000"/>
                  <a:lumOff val="80000"/>
                </a:schemeClr>
              </a:solidFill>
            </p:spPr>
            <p:txBody>
              <a:bodyPr wrap="square" tIns="0" bIns="0" rtlCol="0">
                <a:spAutoFit/>
              </a:bodyPr>
              <a:lstStyle/>
              <a:p>
                <a:pPr algn="ctr"/>
                <a:r>
                  <a:rPr lang="zh-CN" altLang="en-US" b="1">
                    <a:solidFill>
                      <a:srgbClr val="C00000"/>
                    </a:solidFill>
                    <a:latin typeface="楷体" panose="02010609060101010101" pitchFamily="49" charset="-122"/>
                    <a:ea typeface="楷体" panose="02010609060101010101" pitchFamily="49" charset="-122"/>
                  </a:rPr>
                  <a:t>分配律</a:t>
                </a:r>
              </a:p>
            </p:txBody>
          </p:sp>
          <p:sp>
            <p:nvSpPr>
              <p:cNvPr id="25" name="文本框 24">
                <a:extLst>
                  <a:ext uri="{FF2B5EF4-FFF2-40B4-BE49-F238E27FC236}">
                    <a16:creationId xmlns:a16="http://schemas.microsoft.com/office/drawing/2014/main" id="{8FFEE472-690B-487B-BC01-297ADCA928EB}"/>
                  </a:ext>
                </a:extLst>
              </p:cNvPr>
              <p:cNvSpPr txBox="1"/>
              <p:nvPr/>
            </p:nvSpPr>
            <p:spPr>
              <a:xfrm>
                <a:off x="7924824" y="6043278"/>
                <a:ext cx="888597" cy="246221"/>
              </a:xfrm>
              <a:prstGeom prst="rect">
                <a:avLst/>
              </a:prstGeom>
              <a:solidFill>
                <a:schemeClr val="accent5">
                  <a:lumMod val="20000"/>
                  <a:lumOff val="80000"/>
                </a:schemeClr>
              </a:solidFill>
            </p:spPr>
            <p:txBody>
              <a:bodyPr wrap="square" lIns="0" tIns="0" rIns="0" bIns="0" rtlCol="0">
                <a:spAutoFit/>
              </a:bodyPr>
              <a:lstStyle/>
              <a:p>
                <a:pPr algn="ctr"/>
                <a:r>
                  <a:rPr lang="zh-CN" altLang="en-US" sz="1600"/>
                  <a:t>析取范式</a:t>
                </a:r>
              </a:p>
            </p:txBody>
          </p:sp>
          <p:sp>
            <p:nvSpPr>
              <p:cNvPr id="26" name="文本框 25">
                <a:extLst>
                  <a:ext uri="{FF2B5EF4-FFF2-40B4-BE49-F238E27FC236}">
                    <a16:creationId xmlns:a16="http://schemas.microsoft.com/office/drawing/2014/main" id="{334B68AF-2F77-456D-895B-3D2E144BDECB}"/>
                  </a:ext>
                </a:extLst>
              </p:cNvPr>
              <p:cNvSpPr txBox="1"/>
              <p:nvPr/>
            </p:nvSpPr>
            <p:spPr>
              <a:xfrm>
                <a:off x="10188325" y="6037805"/>
                <a:ext cx="888597" cy="246221"/>
              </a:xfrm>
              <a:prstGeom prst="rect">
                <a:avLst/>
              </a:prstGeom>
              <a:solidFill>
                <a:schemeClr val="accent5">
                  <a:lumMod val="20000"/>
                  <a:lumOff val="80000"/>
                </a:schemeClr>
              </a:solidFill>
            </p:spPr>
            <p:txBody>
              <a:bodyPr wrap="square" lIns="0" tIns="0" rIns="0" bIns="0" rtlCol="0">
                <a:spAutoFit/>
              </a:bodyPr>
              <a:lstStyle/>
              <a:p>
                <a:pPr algn="ctr"/>
                <a:r>
                  <a:rPr lang="zh-CN" altLang="en-US" sz="1600"/>
                  <a:t>合取范式</a:t>
                </a:r>
              </a:p>
            </p:txBody>
          </p:sp>
          <p:sp>
            <p:nvSpPr>
              <p:cNvPr id="27" name="箭头: 上 26">
                <a:extLst>
                  <a:ext uri="{FF2B5EF4-FFF2-40B4-BE49-F238E27FC236}">
                    <a16:creationId xmlns:a16="http://schemas.microsoft.com/office/drawing/2014/main" id="{8D8FBBC3-09B0-442C-8BC4-EE6E5118E76A}"/>
                  </a:ext>
                </a:extLst>
              </p:cNvPr>
              <p:cNvSpPr/>
              <p:nvPr/>
            </p:nvSpPr>
            <p:spPr>
              <a:xfrm>
                <a:off x="2323690" y="5689358"/>
                <a:ext cx="45719" cy="1197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上 27">
                <a:extLst>
                  <a:ext uri="{FF2B5EF4-FFF2-40B4-BE49-F238E27FC236}">
                    <a16:creationId xmlns:a16="http://schemas.microsoft.com/office/drawing/2014/main" id="{890162CB-DAAE-453D-B29D-EC91970197C6}"/>
                  </a:ext>
                </a:extLst>
              </p:cNvPr>
              <p:cNvSpPr/>
              <p:nvPr/>
            </p:nvSpPr>
            <p:spPr>
              <a:xfrm>
                <a:off x="4670704" y="5684558"/>
                <a:ext cx="45719" cy="1197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上 28">
                <a:extLst>
                  <a:ext uri="{FF2B5EF4-FFF2-40B4-BE49-F238E27FC236}">
                    <a16:creationId xmlns:a16="http://schemas.microsoft.com/office/drawing/2014/main" id="{6BD23DFC-A224-4E25-BC19-6D519B408B89}"/>
                  </a:ext>
                </a:extLst>
              </p:cNvPr>
              <p:cNvSpPr/>
              <p:nvPr/>
            </p:nvSpPr>
            <p:spPr>
              <a:xfrm>
                <a:off x="7039180" y="5684557"/>
                <a:ext cx="45719" cy="1197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上 29">
                <a:extLst>
                  <a:ext uri="{FF2B5EF4-FFF2-40B4-BE49-F238E27FC236}">
                    <a16:creationId xmlns:a16="http://schemas.microsoft.com/office/drawing/2014/main" id="{E0166267-1EC0-4BF8-9E88-BCF513031203}"/>
                  </a:ext>
                </a:extLst>
              </p:cNvPr>
              <p:cNvSpPr/>
              <p:nvPr/>
            </p:nvSpPr>
            <p:spPr>
              <a:xfrm>
                <a:off x="9339370" y="5677297"/>
                <a:ext cx="45719" cy="1197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上 30">
                <a:extLst>
                  <a:ext uri="{FF2B5EF4-FFF2-40B4-BE49-F238E27FC236}">
                    <a16:creationId xmlns:a16="http://schemas.microsoft.com/office/drawing/2014/main" id="{23BCF346-7A4F-469E-8ACF-AA1B521C3BC4}"/>
                  </a:ext>
                </a:extLst>
              </p:cNvPr>
              <p:cNvSpPr/>
              <p:nvPr/>
            </p:nvSpPr>
            <p:spPr>
              <a:xfrm>
                <a:off x="8360522" y="5828716"/>
                <a:ext cx="55120" cy="20908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上 31">
                <a:extLst>
                  <a:ext uri="{FF2B5EF4-FFF2-40B4-BE49-F238E27FC236}">
                    <a16:creationId xmlns:a16="http://schemas.microsoft.com/office/drawing/2014/main" id="{C8F441B0-59A6-456A-9C0C-153C8C913F49}"/>
                  </a:ext>
                </a:extLst>
              </p:cNvPr>
              <p:cNvSpPr/>
              <p:nvPr/>
            </p:nvSpPr>
            <p:spPr>
              <a:xfrm>
                <a:off x="10637772" y="5821455"/>
                <a:ext cx="55120" cy="20908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631413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使用等值演算求与公式逻辑等值的范式举例</a:t>
            </a:r>
          </a:p>
        </p:txBody>
      </p:sp>
      <p:pic>
        <p:nvPicPr>
          <p:cNvPr id="2" name="图片 1">
            <a:extLst>
              <a:ext uri="{FF2B5EF4-FFF2-40B4-BE49-F238E27FC236}">
                <a16:creationId xmlns:a16="http://schemas.microsoft.com/office/drawing/2014/main" id="{3FEF74E2-82DE-43BC-A18F-71D280B2FFA1}"/>
              </a:ext>
            </a:extLst>
          </p:cNvPr>
          <p:cNvPicPr>
            <a:picLocks noChangeAspect="1"/>
          </p:cNvPicPr>
          <p:nvPr/>
        </p:nvPicPr>
        <p:blipFill>
          <a:blip r:embed="rId2"/>
          <a:stretch>
            <a:fillRect/>
          </a:stretch>
        </p:blipFill>
        <p:spPr>
          <a:xfrm>
            <a:off x="453911" y="2160887"/>
            <a:ext cx="11442060" cy="2263568"/>
          </a:xfrm>
          <a:prstGeom prst="rect">
            <a:avLst/>
          </a:prstGeom>
        </p:spPr>
      </p:pic>
    </p:spTree>
    <p:extLst>
      <p:ext uri="{BB962C8B-B14F-4D97-AF65-F5344CB8AC3E}">
        <p14:creationId xmlns:p14="http://schemas.microsoft.com/office/powerpoint/2010/main" val="4222142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使用等值演算求与公式逻辑等值的范式举例</a:t>
            </a:r>
          </a:p>
        </p:txBody>
      </p:sp>
      <p:pic>
        <p:nvPicPr>
          <p:cNvPr id="3" name="图片 2">
            <a:extLst>
              <a:ext uri="{FF2B5EF4-FFF2-40B4-BE49-F238E27FC236}">
                <a16:creationId xmlns:a16="http://schemas.microsoft.com/office/drawing/2014/main" id="{94C27070-6D72-452E-9DBA-909C682ACA60}"/>
              </a:ext>
            </a:extLst>
          </p:cNvPr>
          <p:cNvPicPr>
            <a:picLocks noChangeAspect="1"/>
          </p:cNvPicPr>
          <p:nvPr/>
        </p:nvPicPr>
        <p:blipFill>
          <a:blip r:embed="rId2"/>
          <a:stretch>
            <a:fillRect/>
          </a:stretch>
        </p:blipFill>
        <p:spPr>
          <a:xfrm>
            <a:off x="564099" y="1182458"/>
            <a:ext cx="11063801" cy="5047232"/>
          </a:xfrm>
          <a:prstGeom prst="rect">
            <a:avLst/>
          </a:prstGeom>
        </p:spPr>
      </p:pic>
    </p:spTree>
    <p:extLst>
      <p:ext uri="{BB962C8B-B14F-4D97-AF65-F5344CB8AC3E}">
        <p14:creationId xmlns:p14="http://schemas.microsoft.com/office/powerpoint/2010/main" val="605476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析取范式与合取范式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使用等值演算求与公式逻辑等值的范式举例</a:t>
            </a:r>
          </a:p>
        </p:txBody>
      </p:sp>
      <p:pic>
        <p:nvPicPr>
          <p:cNvPr id="11" name="图片 10">
            <a:extLst>
              <a:ext uri="{FF2B5EF4-FFF2-40B4-BE49-F238E27FC236}">
                <a16:creationId xmlns:a16="http://schemas.microsoft.com/office/drawing/2014/main" id="{B2812D14-B260-4A09-8707-CC9DECF84DEF}"/>
              </a:ext>
            </a:extLst>
          </p:cNvPr>
          <p:cNvPicPr>
            <a:picLocks noChangeAspect="1"/>
          </p:cNvPicPr>
          <p:nvPr/>
        </p:nvPicPr>
        <p:blipFill>
          <a:blip r:embed="rId2"/>
          <a:stretch>
            <a:fillRect/>
          </a:stretch>
        </p:blipFill>
        <p:spPr>
          <a:xfrm>
            <a:off x="564098" y="1661726"/>
            <a:ext cx="11063801" cy="3534548"/>
          </a:xfrm>
          <a:prstGeom prst="rect">
            <a:avLst/>
          </a:prstGeom>
        </p:spPr>
      </p:pic>
      <p:sp>
        <p:nvSpPr>
          <p:cNvPr id="12" name="文本框 11">
            <a:extLst>
              <a:ext uri="{FF2B5EF4-FFF2-40B4-BE49-F238E27FC236}">
                <a16:creationId xmlns:a16="http://schemas.microsoft.com/office/drawing/2014/main" id="{D2F83854-6BCD-45F1-BBE3-87BB8FFF03B7}"/>
              </a:ext>
            </a:extLst>
          </p:cNvPr>
          <p:cNvSpPr txBox="1"/>
          <p:nvPr/>
        </p:nvSpPr>
        <p:spPr>
          <a:xfrm>
            <a:off x="9108365" y="5490454"/>
            <a:ext cx="2519534" cy="369332"/>
          </a:xfrm>
          <a:prstGeom prst="rect">
            <a:avLst/>
          </a:prstGeom>
          <a:solidFill>
            <a:schemeClr val="accent6">
              <a:lumMod val="20000"/>
              <a:lumOff val="80000"/>
            </a:schemeClr>
          </a:solidFill>
        </p:spPr>
        <p:txBody>
          <a:bodyPr wrap="square" rtlCol="0">
            <a:spAutoFit/>
          </a:bodyPr>
          <a:lstStyle/>
          <a:p>
            <a:r>
              <a:rPr lang="en-US" altLang="zh-CN">
                <a:solidFill>
                  <a:srgbClr val="002060"/>
                </a:solidFill>
                <a:latin typeface="楷体" panose="02010609060101010101" pitchFamily="49" charset="-122"/>
                <a:ea typeface="楷体" panose="02010609060101010101" pitchFamily="49" charset="-122"/>
              </a:rPr>
              <a:t>(1)</a:t>
            </a:r>
            <a:r>
              <a:rPr lang="zh-CN" altLang="en-US">
                <a:solidFill>
                  <a:srgbClr val="002060"/>
                </a:solidFill>
                <a:latin typeface="楷体" panose="02010609060101010101" pitchFamily="49" charset="-122"/>
                <a:ea typeface="楷体" panose="02010609060101010101" pitchFamily="49" charset="-122"/>
              </a:rPr>
              <a:t>和</a:t>
            </a:r>
            <a:r>
              <a:rPr lang="en-US" altLang="zh-CN">
                <a:solidFill>
                  <a:srgbClr val="002060"/>
                </a:solidFill>
                <a:latin typeface="楷体" panose="02010609060101010101" pitchFamily="49" charset="-122"/>
                <a:ea typeface="楷体" panose="02010609060101010101" pitchFamily="49" charset="-122"/>
              </a:rPr>
              <a:t>(3)</a:t>
            </a:r>
            <a:r>
              <a:rPr lang="zh-CN" altLang="en-US">
                <a:solidFill>
                  <a:srgbClr val="002060"/>
                </a:solidFill>
                <a:latin typeface="楷体" panose="02010609060101010101" pitchFamily="49" charset="-122"/>
                <a:ea typeface="楷体" panose="02010609060101010101" pitchFamily="49" charset="-122"/>
              </a:rPr>
              <a:t>课后自行练习</a:t>
            </a:r>
          </a:p>
        </p:txBody>
      </p:sp>
    </p:spTree>
    <p:extLst>
      <p:ext uri="{BB962C8B-B14F-4D97-AF65-F5344CB8AC3E}">
        <p14:creationId xmlns:p14="http://schemas.microsoft.com/office/powerpoint/2010/main" val="747692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1012" y="1547536"/>
            <a:ext cx="4733731" cy="2746906"/>
          </a:xfrm>
          <a:prstGeom prst="rect">
            <a:avLst/>
          </a:prstGeom>
          <a:noFill/>
        </p:spPr>
        <p:txBody>
          <a:bodyPr wrap="square" rtlCol="0">
            <a:spAutoFit/>
          </a:bodyPr>
          <a:lstStyle/>
          <a:p>
            <a:pPr>
              <a:lnSpc>
                <a:spcPct val="300000"/>
              </a:lnSpc>
            </a:pPr>
            <a:r>
              <a:rPr lang="zh-CN" altLang="en-US" sz="3200" b="1">
                <a:solidFill>
                  <a:schemeClr val="bg2"/>
                </a:solidFill>
                <a:latin typeface="仿宋" panose="02010609060101010101" pitchFamily="49" charset="-122"/>
                <a:ea typeface="仿宋" panose="02010609060101010101" pitchFamily="49" charset="-122"/>
              </a:rPr>
              <a:t>析取范式与合取范式</a:t>
            </a:r>
            <a:endParaRPr lang="en-US" altLang="zh-CN" sz="3200" b="1">
              <a:solidFill>
                <a:schemeClr val="bg2"/>
              </a:solidFill>
              <a:latin typeface="仿宋" panose="02010609060101010101" pitchFamily="49" charset="-122"/>
              <a:ea typeface="仿宋" panose="02010609060101010101" pitchFamily="49" charset="-122"/>
            </a:endParaRPr>
          </a:p>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主析取范式与主合取范式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987290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主范式的定义</a:t>
            </a:r>
          </a:p>
        </p:txBody>
      </p:sp>
      <p:sp>
        <p:nvSpPr>
          <p:cNvPr id="11" name="矩形: 圆角 10">
            <a:extLst>
              <a:ext uri="{FF2B5EF4-FFF2-40B4-BE49-F238E27FC236}">
                <a16:creationId xmlns:a16="http://schemas.microsoft.com/office/drawing/2014/main" id="{21EB667F-7738-44C7-A470-D3C02F6F349E}"/>
              </a:ext>
            </a:extLst>
          </p:cNvPr>
          <p:cNvSpPr/>
          <p:nvPr/>
        </p:nvSpPr>
        <p:spPr>
          <a:xfrm>
            <a:off x="592214" y="1092107"/>
            <a:ext cx="7546770"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什么是主析取范式</a:t>
            </a:r>
            <a:r>
              <a:rPr lang="en-US" altLang="zh-CN" sz="2400">
                <a:solidFill>
                  <a:schemeClr val="accent2">
                    <a:lumMod val="50000"/>
                  </a:schemeClr>
                </a:solidFill>
                <a:latin typeface="Arial" panose="020B0604020202020204" pitchFamily="34" charset="0"/>
                <a:cs typeface="Arial" panose="020B0604020202020204" pitchFamily="34" charset="0"/>
              </a:rPr>
              <a:t>(principal disjunctive normal form)</a:t>
            </a:r>
            <a:r>
              <a:rPr lang="zh-CN" altLang="en-US" sz="2400" b="1">
                <a:solidFill>
                  <a:schemeClr val="accent2">
                    <a:lumMod val="50000"/>
                  </a:schemeClr>
                </a:solidFill>
              </a:rPr>
              <a:t>？</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F0F7CAB-FE24-49D2-B1B9-187A609B32E3}"/>
                  </a:ext>
                </a:extLst>
              </p:cNvPr>
              <p:cNvSpPr txBox="1"/>
              <p:nvPr/>
            </p:nvSpPr>
            <p:spPr>
              <a:xfrm>
                <a:off x="592214" y="1753204"/>
                <a:ext cx="7786676" cy="1723549"/>
              </a:xfrm>
              <a:prstGeom prst="rect">
                <a:avLst/>
              </a:prstGeom>
              <a:solidFill>
                <a:schemeClr val="accent2">
                  <a:lumMod val="20000"/>
                  <a:lumOff val="80000"/>
                </a:schemeClr>
              </a:solidFill>
            </p:spPr>
            <p:txBody>
              <a:bodyPr wrap="square" rtlCol="0">
                <a:spAutoFit/>
              </a:bodyPr>
              <a:lstStyle/>
              <a:p>
                <a:pPr>
                  <a:spcBef>
                    <a:spcPts val="600"/>
                  </a:spcBef>
                  <a:spcAft>
                    <a:spcPts val="600"/>
                  </a:spcAft>
                </a:pPr>
                <a:r>
                  <a:rPr lang="zh-CN" altLang="en-US" sz="2000" b="1">
                    <a:solidFill>
                      <a:srgbClr val="002060"/>
                    </a:solidFill>
                    <a:latin typeface="Arial" panose="020B0604020202020204" pitchFamily="34" charset="0"/>
                    <a:cs typeface="Arial" panose="020B0604020202020204" pitchFamily="34" charset="0"/>
                  </a:rPr>
                  <a:t>含</a:t>
                </a:r>
                <a14:m>
                  <m:oMath xmlns:m="http://schemas.openxmlformats.org/officeDocument/2006/math">
                    <m:r>
                      <a:rPr lang="en-US" altLang="zh-CN" sz="2000" b="1" i="1" smtClean="0">
                        <a:solidFill>
                          <a:srgbClr val="002060"/>
                        </a:solidFill>
                        <a:latin typeface="Cambria Math" panose="02040503050406030204" pitchFamily="18" charset="0"/>
                        <a:cs typeface="Arial" panose="020B0604020202020204" pitchFamily="34" charset="0"/>
                      </a:rPr>
                      <m:t>𝒏</m:t>
                    </m:r>
                  </m:oMath>
                </a14:m>
                <a:r>
                  <a:rPr lang="zh-CN" altLang="en-US" sz="2000" b="1">
                    <a:solidFill>
                      <a:srgbClr val="002060"/>
                    </a:solidFill>
                    <a:latin typeface="Arial" panose="020B0604020202020204" pitchFamily="34" charset="0"/>
                    <a:cs typeface="Arial" panose="020B0604020202020204" pitchFamily="34" charset="0"/>
                  </a:rPr>
                  <a:t>个命题变量的</a:t>
                </a:r>
                <a:r>
                  <a:rPr lang="zh-CN" altLang="en-US" sz="2000" b="1">
                    <a:solidFill>
                      <a:srgbClr val="C00000"/>
                    </a:solidFill>
                    <a:latin typeface="Arial" panose="020B0604020202020204" pitchFamily="34" charset="0"/>
                    <a:cs typeface="Arial" panose="020B0604020202020204" pitchFamily="34" charset="0"/>
                  </a:rPr>
                  <a:t>主析取范式</a:t>
                </a:r>
                <a:r>
                  <a:rPr lang="zh-CN" altLang="en-US" sz="2000" b="1">
                    <a:solidFill>
                      <a:srgbClr val="002060"/>
                    </a:solidFill>
                    <a:latin typeface="Arial" panose="020B0604020202020204" pitchFamily="34" charset="0"/>
                    <a:cs typeface="Arial" panose="020B0604020202020204" pitchFamily="34" charset="0"/>
                  </a:rPr>
                  <a:t>是零个或多个</a:t>
                </a:r>
                <a:r>
                  <a:rPr lang="zh-CN" altLang="en-US" sz="2000" b="1">
                    <a:solidFill>
                      <a:srgbClr val="C00000"/>
                    </a:solidFill>
                    <a:latin typeface="Arial" panose="020B0604020202020204" pitchFamily="34" charset="0"/>
                    <a:cs typeface="Arial" panose="020B0604020202020204" pitchFamily="34" charset="0"/>
                  </a:rPr>
                  <a:t>极小项</a:t>
                </a:r>
                <a:r>
                  <a:rPr lang="en-US" altLang="zh-CN" sz="2000">
                    <a:solidFill>
                      <a:srgbClr val="002060"/>
                    </a:solidFill>
                    <a:latin typeface="Arial" panose="020B0604020202020204" pitchFamily="34" charset="0"/>
                    <a:cs typeface="Arial" panose="020B0604020202020204" pitchFamily="34" charset="0"/>
                  </a:rPr>
                  <a:t>(min-term)</a:t>
                </a:r>
                <a:r>
                  <a:rPr lang="zh-CN" altLang="en-US" sz="2000" b="1">
                    <a:solidFill>
                      <a:srgbClr val="002060"/>
                    </a:solidFill>
                    <a:latin typeface="Arial" panose="020B0604020202020204" pitchFamily="34" charset="0"/>
                    <a:cs typeface="Arial" panose="020B0604020202020204" pitchFamily="34" charset="0"/>
                  </a:rPr>
                  <a:t>的</a:t>
                </a:r>
                <a:r>
                  <a:rPr lang="zh-CN" altLang="en-US" sz="2000" b="1">
                    <a:solidFill>
                      <a:srgbClr val="C00000"/>
                    </a:solidFill>
                    <a:latin typeface="Arial" panose="020B0604020202020204" pitchFamily="34" charset="0"/>
                    <a:cs typeface="Arial" panose="020B0604020202020204" pitchFamily="34" charset="0"/>
                  </a:rPr>
                  <a:t>析取</a:t>
                </a:r>
                <a:endParaRPr lang="en-US" altLang="zh-CN" sz="2000" b="1">
                  <a:solidFill>
                    <a:srgbClr val="C00000"/>
                  </a:solidFill>
                  <a:latin typeface="Arial" panose="020B0604020202020204" pitchFamily="34" charset="0"/>
                  <a:cs typeface="Arial" panose="020B0604020202020204" pitchFamily="34" charset="0"/>
                </a:endParaRPr>
              </a:p>
              <a:p>
                <a:pPr marL="285750" indent="-28575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含</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cs typeface="Arial" panose="020B0604020202020204" pitchFamily="34" charset="0"/>
                      </a:rPr>
                      <m:t>𝒏</m:t>
                    </m:r>
                  </m:oMath>
                </a14:m>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个命题变量的</a:t>
                </a:r>
                <a:r>
                  <a:rPr lang="zh-CN" altLang="en-US" sz="2000" b="1">
                    <a:solidFill>
                      <a:srgbClr val="C00000"/>
                    </a:solidFill>
                    <a:latin typeface="黑体" panose="02010609060101010101" pitchFamily="49" charset="-122"/>
                    <a:ea typeface="黑体" panose="02010609060101010101" pitchFamily="49" charset="-122"/>
                    <a:cs typeface="Arial" panose="020B0604020202020204" pitchFamily="34" charset="0"/>
                  </a:rPr>
                  <a:t>极小项</a:t>
                </a:r>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cs typeface="Arial" panose="020B0604020202020204" pitchFamily="34" charset="0"/>
                      </a:rPr>
                      <m:t>𝒏</m:t>
                    </m:r>
                  </m:oMath>
                </a14:m>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个文字的</a:t>
                </a:r>
                <a:r>
                  <a:rPr lang="zh-CN" altLang="en-US" sz="2000" b="1">
                    <a:solidFill>
                      <a:srgbClr val="C00000"/>
                    </a:solidFill>
                    <a:latin typeface="黑体" panose="02010609060101010101" pitchFamily="49" charset="-122"/>
                    <a:ea typeface="黑体" panose="02010609060101010101" pitchFamily="49" charset="-122"/>
                    <a:cs typeface="Arial" panose="020B0604020202020204" pitchFamily="34" charset="0"/>
                  </a:rPr>
                  <a:t>合取</a:t>
                </a:r>
                <a:endParaRPr lang="en-US" altLang="zh-CN" sz="2000" b="1">
                  <a:solidFill>
                    <a:srgbClr val="C00000"/>
                  </a:solidFill>
                  <a:latin typeface="黑体" panose="02010609060101010101" pitchFamily="49" charset="-122"/>
                  <a:ea typeface="黑体" panose="02010609060101010101" pitchFamily="49" charset="-122"/>
                  <a:cs typeface="Arial" panose="020B0604020202020204" pitchFamily="34" charset="0"/>
                </a:endParaRP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每个文字对应不同的命题变量</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每个文字是这个命题变量本身或者是它的否定</a:t>
                </a:r>
              </a:p>
            </p:txBody>
          </p:sp>
        </mc:Choice>
        <mc:Fallback xmlns="">
          <p:sp>
            <p:nvSpPr>
              <p:cNvPr id="2" name="文本框 1">
                <a:extLst>
                  <a:ext uri="{FF2B5EF4-FFF2-40B4-BE49-F238E27FC236}">
                    <a16:creationId xmlns:a16="http://schemas.microsoft.com/office/drawing/2014/main" id="{4F0F7CAB-FE24-49D2-B1B9-187A609B32E3}"/>
                  </a:ext>
                </a:extLst>
              </p:cNvPr>
              <p:cNvSpPr txBox="1">
                <a:spLocks noRot="1" noChangeAspect="1" noMove="1" noResize="1" noEditPoints="1" noAdjustHandles="1" noChangeArrowheads="1" noChangeShapeType="1" noTextEdit="1"/>
              </p:cNvSpPr>
              <p:nvPr/>
            </p:nvSpPr>
            <p:spPr>
              <a:xfrm>
                <a:off x="592214" y="1753204"/>
                <a:ext cx="7786676" cy="1723549"/>
              </a:xfrm>
              <a:prstGeom prst="rect">
                <a:avLst/>
              </a:prstGeom>
              <a:blipFill>
                <a:blip r:embed="rId2"/>
                <a:stretch>
                  <a:fillRect l="-783" t="-2482"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9D3B48F9-0C2C-49C0-B4D1-220C9DA961E1}"/>
                  </a:ext>
                </a:extLst>
              </p:cNvPr>
              <p:cNvGraphicFramePr>
                <a:graphicFrameLocks noGrp="1"/>
              </p:cNvGraphicFramePr>
              <p:nvPr>
                <p:extLst>
                  <p:ext uri="{D42A27DB-BD31-4B8C-83A1-F6EECF244321}">
                    <p14:modId xmlns:p14="http://schemas.microsoft.com/office/powerpoint/2010/main" val="141207680"/>
                  </p:ext>
                </p:extLst>
              </p:nvPr>
            </p:nvGraphicFramePr>
            <p:xfrm>
              <a:off x="8742251" y="1031508"/>
              <a:ext cx="2948614" cy="741680"/>
            </p:xfrm>
            <a:graphic>
              <a:graphicData uri="http://schemas.openxmlformats.org/drawingml/2006/table">
                <a:tbl>
                  <a:tblPr firstRow="1">
                    <a:tableStyleId>{5C22544A-7EE6-4342-B048-85BDC9FD1C3A}</a:tableStyleId>
                  </a:tblPr>
                  <a:tblGrid>
                    <a:gridCol w="1474307">
                      <a:extLst>
                        <a:ext uri="{9D8B030D-6E8A-4147-A177-3AD203B41FA5}">
                          <a16:colId xmlns:a16="http://schemas.microsoft.com/office/drawing/2014/main" val="1790152541"/>
                        </a:ext>
                      </a:extLst>
                    </a:gridCol>
                    <a:gridCol w="1474307">
                      <a:extLst>
                        <a:ext uri="{9D8B030D-6E8A-4147-A177-3AD203B41FA5}">
                          <a16:colId xmlns:a16="http://schemas.microsoft.com/office/drawing/2014/main" val="3332346248"/>
                        </a:ext>
                      </a:extLst>
                    </a:gridCol>
                  </a:tblGrid>
                  <a:tr h="370840">
                    <a:tc gridSpan="2">
                      <a:txBody>
                        <a:bodyPr/>
                        <a:lstStyle/>
                        <a:p>
                          <a:r>
                            <a:rPr lang="zh-CN" altLang="en-US"/>
                            <a:t>含一个命题变量</a:t>
                          </a:r>
                          <a14:m>
                            <m:oMath xmlns:m="http://schemas.openxmlformats.org/officeDocument/2006/math">
                              <m:r>
                                <a:rPr lang="en-US" altLang="zh-CN" i="1" smtClean="0">
                                  <a:latin typeface="Cambria Math" panose="02040503050406030204" pitchFamily="18" charset="0"/>
                                </a:rPr>
                                <m:t>𝑝</m:t>
                              </m:r>
                            </m:oMath>
                          </a14:m>
                          <a:r>
                            <a:rPr lang="zh-CN" altLang="en-US"/>
                            <a:t>的极小项</a:t>
                          </a: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bl>
              </a:graphicData>
            </a:graphic>
          </p:graphicFrame>
        </mc:Choice>
        <mc:Fallback xmlns="">
          <p:graphicFrame>
            <p:nvGraphicFramePr>
              <p:cNvPr id="4" name="表格 3">
                <a:extLst>
                  <a:ext uri="{FF2B5EF4-FFF2-40B4-BE49-F238E27FC236}">
                    <a16:creationId xmlns:a16="http://schemas.microsoft.com/office/drawing/2014/main" id="{9D3B48F9-0C2C-49C0-B4D1-220C9DA961E1}"/>
                  </a:ext>
                </a:extLst>
              </p:cNvPr>
              <p:cNvGraphicFramePr>
                <a:graphicFrameLocks noGrp="1"/>
              </p:cNvGraphicFramePr>
              <p:nvPr>
                <p:extLst>
                  <p:ext uri="{D42A27DB-BD31-4B8C-83A1-F6EECF244321}">
                    <p14:modId xmlns:p14="http://schemas.microsoft.com/office/powerpoint/2010/main" val="141207680"/>
                  </p:ext>
                </p:extLst>
              </p:nvPr>
            </p:nvGraphicFramePr>
            <p:xfrm>
              <a:off x="8742251" y="1031508"/>
              <a:ext cx="2948614" cy="741680"/>
            </p:xfrm>
            <a:graphic>
              <a:graphicData uri="http://schemas.openxmlformats.org/drawingml/2006/table">
                <a:tbl>
                  <a:tblPr firstRow="1">
                    <a:tableStyleId>{5C22544A-7EE6-4342-B048-85BDC9FD1C3A}</a:tableStyleId>
                  </a:tblPr>
                  <a:tblGrid>
                    <a:gridCol w="1474307">
                      <a:extLst>
                        <a:ext uri="{9D8B030D-6E8A-4147-A177-3AD203B41FA5}">
                          <a16:colId xmlns:a16="http://schemas.microsoft.com/office/drawing/2014/main" val="1790152541"/>
                        </a:ext>
                      </a:extLst>
                    </a:gridCol>
                    <a:gridCol w="1474307">
                      <a:extLst>
                        <a:ext uri="{9D8B030D-6E8A-4147-A177-3AD203B41FA5}">
                          <a16:colId xmlns:a16="http://schemas.microsoft.com/office/drawing/2014/main" val="3332346248"/>
                        </a:ext>
                      </a:extLst>
                    </a:gridCol>
                  </a:tblGrid>
                  <a:tr h="370840">
                    <a:tc gridSpan="2">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207" t="-8197" r="-413" b="-106557"/>
                          </a:stretch>
                        </a:blip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413" t="-108197" r="-100826" b="-6557"/>
                          </a:stretch>
                        </a:blipFill>
                      </a:tcPr>
                    </a:tc>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00413" t="-108197" r="-826" b="-6557"/>
                          </a:stretch>
                        </a:blipFill>
                      </a:tcPr>
                    </a:tc>
                    <a:extLst>
                      <a:ext uri="{0D108BD9-81ED-4DB2-BD59-A6C34878D82A}">
                        <a16:rowId xmlns:a16="http://schemas.microsoft.com/office/drawing/2014/main" val="12002951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283BEFD8-113F-4D03-868F-90AB048C8233}"/>
                  </a:ext>
                </a:extLst>
              </p:cNvPr>
              <p:cNvGraphicFramePr>
                <a:graphicFrameLocks noGrp="1"/>
              </p:cNvGraphicFramePr>
              <p:nvPr>
                <p:extLst>
                  <p:ext uri="{D42A27DB-BD31-4B8C-83A1-F6EECF244321}">
                    <p14:modId xmlns:p14="http://schemas.microsoft.com/office/powerpoint/2010/main" val="1415255125"/>
                  </p:ext>
                </p:extLst>
              </p:nvPr>
            </p:nvGraphicFramePr>
            <p:xfrm>
              <a:off x="8677485" y="1879697"/>
              <a:ext cx="3130774" cy="1107440"/>
            </p:xfrm>
            <a:graphic>
              <a:graphicData uri="http://schemas.openxmlformats.org/drawingml/2006/table">
                <a:tbl>
                  <a:tblPr firstRow="1">
                    <a:tableStyleId>{5C22544A-7EE6-4342-B048-85BDC9FD1C3A}</a:tableStyleId>
                  </a:tblPr>
                  <a:tblGrid>
                    <a:gridCol w="1565387">
                      <a:extLst>
                        <a:ext uri="{9D8B030D-6E8A-4147-A177-3AD203B41FA5}">
                          <a16:colId xmlns:a16="http://schemas.microsoft.com/office/drawing/2014/main" val="1790152541"/>
                        </a:ext>
                      </a:extLst>
                    </a:gridCol>
                    <a:gridCol w="1565387">
                      <a:extLst>
                        <a:ext uri="{9D8B030D-6E8A-4147-A177-3AD203B41FA5}">
                          <a16:colId xmlns:a16="http://schemas.microsoft.com/office/drawing/2014/main" val="3332346248"/>
                        </a:ext>
                      </a:extLst>
                    </a:gridCol>
                  </a:tblGrid>
                  <a:tr h="0">
                    <a:tc gridSpan="2">
                      <a:txBody>
                        <a:bodyPr/>
                        <a:lstStyle/>
                        <a:p>
                          <a:r>
                            <a:rPr lang="zh-CN" altLang="en-US"/>
                            <a:t>含两个命题变量</a:t>
                          </a:r>
                          <a14:m>
                            <m:oMath xmlns:m="http://schemas.openxmlformats.org/officeDocument/2006/math">
                              <m:r>
                                <a:rPr lang="en-US" altLang="zh-CN" i="1" smtClean="0">
                                  <a:latin typeface="Cambria Math" panose="02040503050406030204" pitchFamily="18" charset="0"/>
                                </a:rPr>
                                <m:t>𝑝</m:t>
                              </m:r>
                              <m:r>
                                <a:rPr lang="en-US" altLang="zh-CN" b="1" i="1" smtClean="0">
                                  <a:latin typeface="Cambria Math" panose="02040503050406030204" pitchFamily="18" charset="0"/>
                                </a:rPr>
                                <m:t>,</m:t>
                              </m:r>
                              <m:r>
                                <a:rPr lang="en-US" altLang="zh-CN" b="1" i="1" smtClean="0">
                                  <a:latin typeface="Cambria Math" panose="02040503050406030204" pitchFamily="18" charset="0"/>
                                </a:rPr>
                                <m:t>𝒒</m:t>
                              </m:r>
                            </m:oMath>
                          </a14:m>
                          <a:r>
                            <a:rPr lang="zh-CN" altLang="en-US"/>
                            <a:t>的极小项</a:t>
                          </a: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r h="370840">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351949"/>
                      </a:ext>
                    </a:extLst>
                  </a:tr>
                </a:tbl>
              </a:graphicData>
            </a:graphic>
          </p:graphicFrame>
        </mc:Choice>
        <mc:Fallback xmlns="">
          <p:graphicFrame>
            <p:nvGraphicFramePr>
              <p:cNvPr id="12" name="表格 11">
                <a:extLst>
                  <a:ext uri="{FF2B5EF4-FFF2-40B4-BE49-F238E27FC236}">
                    <a16:creationId xmlns:a16="http://schemas.microsoft.com/office/drawing/2014/main" id="{283BEFD8-113F-4D03-868F-90AB048C8233}"/>
                  </a:ext>
                </a:extLst>
              </p:cNvPr>
              <p:cNvGraphicFramePr>
                <a:graphicFrameLocks noGrp="1"/>
              </p:cNvGraphicFramePr>
              <p:nvPr>
                <p:extLst>
                  <p:ext uri="{D42A27DB-BD31-4B8C-83A1-F6EECF244321}">
                    <p14:modId xmlns:p14="http://schemas.microsoft.com/office/powerpoint/2010/main" val="1415255125"/>
                  </p:ext>
                </p:extLst>
              </p:nvPr>
            </p:nvGraphicFramePr>
            <p:xfrm>
              <a:off x="8677485" y="1879697"/>
              <a:ext cx="3130774" cy="1107440"/>
            </p:xfrm>
            <a:graphic>
              <a:graphicData uri="http://schemas.openxmlformats.org/drawingml/2006/table">
                <a:tbl>
                  <a:tblPr firstRow="1">
                    <a:tableStyleId>{5C22544A-7EE6-4342-B048-85BDC9FD1C3A}</a:tableStyleId>
                  </a:tblPr>
                  <a:tblGrid>
                    <a:gridCol w="1565387">
                      <a:extLst>
                        <a:ext uri="{9D8B030D-6E8A-4147-A177-3AD203B41FA5}">
                          <a16:colId xmlns:a16="http://schemas.microsoft.com/office/drawing/2014/main" val="1790152541"/>
                        </a:ext>
                      </a:extLst>
                    </a:gridCol>
                    <a:gridCol w="1565387">
                      <a:extLst>
                        <a:ext uri="{9D8B030D-6E8A-4147-A177-3AD203B41FA5}">
                          <a16:colId xmlns:a16="http://schemas.microsoft.com/office/drawing/2014/main" val="3332346248"/>
                        </a:ext>
                      </a:extLst>
                    </a:gridCol>
                  </a:tblGrid>
                  <a:tr h="365760">
                    <a:tc gridSpan="2">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94" t="-8333" r="-388" b="-210000"/>
                          </a:stretch>
                        </a:blip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88" t="-104839" r="-100388" b="-103226"/>
                          </a:stretch>
                        </a:blipFill>
                      </a:tcPr>
                    </a:tc>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00778" t="-104839" r="-778" b="-103226"/>
                          </a:stretch>
                        </a:blipFill>
                      </a:tcPr>
                    </a:tc>
                    <a:extLst>
                      <a:ext uri="{0D108BD9-81ED-4DB2-BD59-A6C34878D82A}">
                        <a16:rowId xmlns:a16="http://schemas.microsoft.com/office/drawing/2014/main" val="1200295186"/>
                      </a:ext>
                    </a:extLst>
                  </a:tr>
                  <a:tr h="370840">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88" t="-208197" r="-100388" b="-4918"/>
                          </a:stretch>
                        </a:blipFill>
                      </a:tcPr>
                    </a:tc>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00778" t="-208197" r="-778" b="-4918"/>
                          </a:stretch>
                        </a:blipFill>
                      </a:tcPr>
                    </a:tc>
                    <a:extLst>
                      <a:ext uri="{0D108BD9-81ED-4DB2-BD59-A6C34878D82A}">
                        <a16:rowId xmlns:a16="http://schemas.microsoft.com/office/drawing/2014/main" val="3351949"/>
                      </a:ext>
                    </a:extLst>
                  </a:tr>
                </a:tbl>
              </a:graphicData>
            </a:graphic>
          </p:graphicFrame>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14A7DE2-B9B3-4C20-AE52-361C8FE9B877}"/>
                  </a:ext>
                </a:extLst>
              </p:cNvPr>
              <p:cNvSpPr txBox="1"/>
              <p:nvPr/>
            </p:nvSpPr>
            <p:spPr>
              <a:xfrm>
                <a:off x="8651171" y="3132095"/>
                <a:ext cx="3183402" cy="338554"/>
              </a:xfrm>
              <a:prstGeom prst="rect">
                <a:avLst/>
              </a:prstGeom>
              <a:solidFill>
                <a:schemeClr val="accent5">
                  <a:lumMod val="20000"/>
                  <a:lumOff val="80000"/>
                </a:schemeClr>
              </a:solidFill>
            </p:spPr>
            <p:txBody>
              <a:bodyPr wrap="square" rtlCol="0">
                <a:spAutoFit/>
              </a:bodyPr>
              <a:lstStyle/>
              <a:p>
                <a:r>
                  <a:rPr lang="zh-CN" altLang="en-US" sz="1600" b="1">
                    <a:solidFill>
                      <a:srgbClr val="C00000"/>
                    </a:solidFill>
                  </a:rPr>
                  <a:t>含</a:t>
                </a:r>
                <a14:m>
                  <m:oMath xmlns:m="http://schemas.openxmlformats.org/officeDocument/2006/math">
                    <m:r>
                      <a:rPr lang="en-US" altLang="zh-CN" sz="1600" b="1" i="1" smtClean="0">
                        <a:solidFill>
                          <a:srgbClr val="C00000"/>
                        </a:solidFill>
                        <a:latin typeface="Cambria Math" panose="02040503050406030204" pitchFamily="18" charset="0"/>
                      </a:rPr>
                      <m:t>𝒏</m:t>
                    </m:r>
                  </m:oMath>
                </a14:m>
                <a:r>
                  <a:rPr lang="zh-CN" altLang="en-US" sz="1600" b="1">
                    <a:solidFill>
                      <a:srgbClr val="C00000"/>
                    </a:solidFill>
                  </a:rPr>
                  <a:t>个命题变量的极小项恰有</a:t>
                </a:r>
                <a14:m>
                  <m:oMath xmlns:m="http://schemas.openxmlformats.org/officeDocument/2006/math">
                    <m:sSup>
                      <m:sSupPr>
                        <m:ctrlPr>
                          <a:rPr lang="en-US" altLang="zh-CN" sz="1600" b="1" i="1" smtClean="0">
                            <a:solidFill>
                              <a:srgbClr val="C00000"/>
                            </a:solidFill>
                            <a:latin typeface="Cambria Math" panose="02040503050406030204" pitchFamily="18" charset="0"/>
                          </a:rPr>
                        </m:ctrlPr>
                      </m:sSupPr>
                      <m:e>
                        <m:r>
                          <a:rPr lang="en-US" altLang="zh-CN" sz="1600" b="1" i="1" smtClean="0">
                            <a:solidFill>
                              <a:srgbClr val="C00000"/>
                            </a:solidFill>
                            <a:latin typeface="Cambria Math" panose="02040503050406030204" pitchFamily="18" charset="0"/>
                          </a:rPr>
                          <m:t>𝟐</m:t>
                        </m:r>
                      </m:e>
                      <m:sup>
                        <m:r>
                          <a:rPr lang="en-US" altLang="zh-CN" sz="1600" b="1" i="1" smtClean="0">
                            <a:solidFill>
                              <a:srgbClr val="C00000"/>
                            </a:solidFill>
                            <a:latin typeface="Cambria Math" panose="02040503050406030204" pitchFamily="18" charset="0"/>
                          </a:rPr>
                          <m:t>𝒏</m:t>
                        </m:r>
                      </m:sup>
                    </m:sSup>
                  </m:oMath>
                </a14:m>
                <a:r>
                  <a:rPr lang="zh-CN" altLang="en-US" sz="1600" b="1">
                    <a:solidFill>
                      <a:srgbClr val="C00000"/>
                    </a:solidFill>
                  </a:rPr>
                  <a:t>个</a:t>
                </a:r>
              </a:p>
            </p:txBody>
          </p:sp>
        </mc:Choice>
        <mc:Fallback xmlns="">
          <p:sp>
            <p:nvSpPr>
              <p:cNvPr id="6" name="文本框 5">
                <a:extLst>
                  <a:ext uri="{FF2B5EF4-FFF2-40B4-BE49-F238E27FC236}">
                    <a16:creationId xmlns:a16="http://schemas.microsoft.com/office/drawing/2014/main" id="{714A7DE2-B9B3-4C20-AE52-361C8FE9B877}"/>
                  </a:ext>
                </a:extLst>
              </p:cNvPr>
              <p:cNvSpPr txBox="1">
                <a:spLocks noRot="1" noChangeAspect="1" noMove="1" noResize="1" noEditPoints="1" noAdjustHandles="1" noChangeArrowheads="1" noChangeShapeType="1" noTextEdit="1"/>
              </p:cNvSpPr>
              <p:nvPr/>
            </p:nvSpPr>
            <p:spPr>
              <a:xfrm>
                <a:off x="8651171" y="3132095"/>
                <a:ext cx="3183402" cy="338554"/>
              </a:xfrm>
              <a:prstGeom prst="rect">
                <a:avLst/>
              </a:prstGeom>
              <a:blipFill>
                <a:blip r:embed="rId5"/>
                <a:stretch>
                  <a:fillRect l="-958" t="-5455" r="-383" b="-23636"/>
                </a:stretch>
              </a:blipFill>
            </p:spPr>
            <p:txBody>
              <a:bodyPr/>
              <a:lstStyle/>
              <a:p>
                <a:r>
                  <a:rPr lang="zh-CN" altLang="en-US">
                    <a:noFill/>
                  </a:rPr>
                  <a:t> </a:t>
                </a:r>
              </a:p>
            </p:txBody>
          </p:sp>
        </mc:Fallback>
      </mc:AlternateContent>
      <p:sp>
        <p:nvSpPr>
          <p:cNvPr id="14" name="矩形: 圆角 13">
            <a:extLst>
              <a:ext uri="{FF2B5EF4-FFF2-40B4-BE49-F238E27FC236}">
                <a16:creationId xmlns:a16="http://schemas.microsoft.com/office/drawing/2014/main" id="{587FCF09-14D2-4C26-8091-24F7F29E33F9}"/>
              </a:ext>
            </a:extLst>
          </p:cNvPr>
          <p:cNvSpPr/>
          <p:nvPr/>
        </p:nvSpPr>
        <p:spPr>
          <a:xfrm>
            <a:off x="592214" y="3833059"/>
            <a:ext cx="7546770"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什么是主合取范式</a:t>
            </a:r>
            <a:r>
              <a:rPr lang="en-US" altLang="zh-CN" sz="2400">
                <a:solidFill>
                  <a:schemeClr val="accent2">
                    <a:lumMod val="50000"/>
                  </a:schemeClr>
                </a:solidFill>
                <a:latin typeface="Arial" panose="020B0604020202020204" pitchFamily="34" charset="0"/>
                <a:cs typeface="Arial" panose="020B0604020202020204" pitchFamily="34" charset="0"/>
              </a:rPr>
              <a:t>(principal conjunctive normal form)</a:t>
            </a:r>
            <a:r>
              <a:rPr lang="zh-CN" altLang="en-US" sz="2400" b="1">
                <a:solidFill>
                  <a:schemeClr val="accent2">
                    <a:lumMod val="50000"/>
                  </a:schemeClr>
                </a:solidFill>
              </a:rPr>
              <a:t>？</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74FEFF7-9516-474F-B5B5-94DF92E85DFB}"/>
                  </a:ext>
                </a:extLst>
              </p:cNvPr>
              <p:cNvSpPr txBox="1"/>
              <p:nvPr/>
            </p:nvSpPr>
            <p:spPr>
              <a:xfrm>
                <a:off x="592214" y="4494156"/>
                <a:ext cx="7786676" cy="1723549"/>
              </a:xfrm>
              <a:prstGeom prst="rect">
                <a:avLst/>
              </a:prstGeom>
              <a:solidFill>
                <a:schemeClr val="accent2">
                  <a:lumMod val="20000"/>
                  <a:lumOff val="80000"/>
                </a:schemeClr>
              </a:solidFill>
            </p:spPr>
            <p:txBody>
              <a:bodyPr wrap="square" rtlCol="0">
                <a:spAutoFit/>
              </a:bodyPr>
              <a:lstStyle/>
              <a:p>
                <a:pPr>
                  <a:spcBef>
                    <a:spcPts val="600"/>
                  </a:spcBef>
                  <a:spcAft>
                    <a:spcPts val="600"/>
                  </a:spcAft>
                </a:pPr>
                <a:r>
                  <a:rPr lang="zh-CN" altLang="en-US" sz="2000" b="1">
                    <a:solidFill>
                      <a:srgbClr val="002060"/>
                    </a:solidFill>
                    <a:latin typeface="Arial" panose="020B0604020202020204" pitchFamily="34" charset="0"/>
                    <a:cs typeface="Arial" panose="020B0604020202020204" pitchFamily="34" charset="0"/>
                  </a:rPr>
                  <a:t>含</a:t>
                </a:r>
                <a14:m>
                  <m:oMath xmlns:m="http://schemas.openxmlformats.org/officeDocument/2006/math">
                    <m:r>
                      <a:rPr lang="en-US" altLang="zh-CN" sz="2000" b="1" i="1" smtClean="0">
                        <a:solidFill>
                          <a:srgbClr val="002060"/>
                        </a:solidFill>
                        <a:latin typeface="Cambria Math" panose="02040503050406030204" pitchFamily="18" charset="0"/>
                        <a:cs typeface="Arial" panose="020B0604020202020204" pitchFamily="34" charset="0"/>
                      </a:rPr>
                      <m:t>𝒏</m:t>
                    </m:r>
                  </m:oMath>
                </a14:m>
                <a:r>
                  <a:rPr lang="zh-CN" altLang="en-US" sz="2000" b="1">
                    <a:solidFill>
                      <a:srgbClr val="002060"/>
                    </a:solidFill>
                    <a:latin typeface="Arial" panose="020B0604020202020204" pitchFamily="34" charset="0"/>
                    <a:cs typeface="Arial" panose="020B0604020202020204" pitchFamily="34" charset="0"/>
                  </a:rPr>
                  <a:t>个命题变量的</a:t>
                </a:r>
                <a:r>
                  <a:rPr lang="zh-CN" altLang="en-US" sz="2000" b="1">
                    <a:solidFill>
                      <a:srgbClr val="C00000"/>
                    </a:solidFill>
                    <a:latin typeface="Arial" panose="020B0604020202020204" pitchFamily="34" charset="0"/>
                    <a:cs typeface="Arial" panose="020B0604020202020204" pitchFamily="34" charset="0"/>
                  </a:rPr>
                  <a:t>主合取范式</a:t>
                </a:r>
                <a:r>
                  <a:rPr lang="zh-CN" altLang="en-US" sz="2000" b="1">
                    <a:solidFill>
                      <a:srgbClr val="002060"/>
                    </a:solidFill>
                    <a:latin typeface="Arial" panose="020B0604020202020204" pitchFamily="34" charset="0"/>
                    <a:cs typeface="Arial" panose="020B0604020202020204" pitchFamily="34" charset="0"/>
                  </a:rPr>
                  <a:t>是零个或多个</a:t>
                </a:r>
                <a:r>
                  <a:rPr lang="zh-CN" altLang="en-US" sz="2000" b="1">
                    <a:solidFill>
                      <a:srgbClr val="C00000"/>
                    </a:solidFill>
                    <a:latin typeface="Arial" panose="020B0604020202020204" pitchFamily="34" charset="0"/>
                    <a:cs typeface="Arial" panose="020B0604020202020204" pitchFamily="34" charset="0"/>
                  </a:rPr>
                  <a:t>极大项</a:t>
                </a:r>
                <a:r>
                  <a:rPr lang="en-US" altLang="zh-CN" sz="2000">
                    <a:solidFill>
                      <a:srgbClr val="002060"/>
                    </a:solidFill>
                    <a:latin typeface="Arial" panose="020B0604020202020204" pitchFamily="34" charset="0"/>
                    <a:cs typeface="Arial" panose="020B0604020202020204" pitchFamily="34" charset="0"/>
                  </a:rPr>
                  <a:t>(max-term)</a:t>
                </a:r>
                <a:r>
                  <a:rPr lang="zh-CN" altLang="en-US" sz="2000" b="1">
                    <a:solidFill>
                      <a:srgbClr val="002060"/>
                    </a:solidFill>
                    <a:latin typeface="Arial" panose="020B0604020202020204" pitchFamily="34" charset="0"/>
                    <a:cs typeface="Arial" panose="020B0604020202020204" pitchFamily="34" charset="0"/>
                  </a:rPr>
                  <a:t>的</a:t>
                </a:r>
                <a:r>
                  <a:rPr lang="zh-CN" altLang="en-US" sz="2000" b="1">
                    <a:solidFill>
                      <a:srgbClr val="C00000"/>
                    </a:solidFill>
                    <a:latin typeface="Arial" panose="020B0604020202020204" pitchFamily="34" charset="0"/>
                    <a:cs typeface="Arial" panose="020B0604020202020204" pitchFamily="34" charset="0"/>
                  </a:rPr>
                  <a:t>合取</a:t>
                </a:r>
                <a:endParaRPr lang="en-US" altLang="zh-CN" sz="2000" b="1">
                  <a:solidFill>
                    <a:srgbClr val="C00000"/>
                  </a:solidFill>
                  <a:latin typeface="Arial" panose="020B0604020202020204" pitchFamily="34" charset="0"/>
                  <a:cs typeface="Arial" panose="020B0604020202020204" pitchFamily="34" charset="0"/>
                </a:endParaRPr>
              </a:p>
              <a:p>
                <a:pPr marL="285750" indent="-28575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含</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cs typeface="Arial" panose="020B0604020202020204" pitchFamily="34" charset="0"/>
                      </a:rPr>
                      <m:t>𝒏</m:t>
                    </m:r>
                  </m:oMath>
                </a14:m>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个命题变量的</a:t>
                </a:r>
                <a:r>
                  <a:rPr lang="zh-CN" altLang="en-US" sz="2000" b="1">
                    <a:solidFill>
                      <a:srgbClr val="C00000"/>
                    </a:solidFill>
                    <a:latin typeface="黑体" panose="02010609060101010101" pitchFamily="49" charset="-122"/>
                    <a:ea typeface="黑体" panose="02010609060101010101" pitchFamily="49" charset="-122"/>
                    <a:cs typeface="Arial" panose="020B0604020202020204" pitchFamily="34" charset="0"/>
                  </a:rPr>
                  <a:t>极大项</a:t>
                </a:r>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cs typeface="Arial" panose="020B0604020202020204" pitchFamily="34" charset="0"/>
                      </a:rPr>
                      <m:t>𝒏</m:t>
                    </m:r>
                  </m:oMath>
                </a14:m>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个文字的</a:t>
                </a:r>
                <a:r>
                  <a:rPr lang="zh-CN" altLang="en-US" sz="2000" b="1">
                    <a:solidFill>
                      <a:srgbClr val="C00000"/>
                    </a:solidFill>
                    <a:latin typeface="黑体" panose="02010609060101010101" pitchFamily="49" charset="-122"/>
                    <a:ea typeface="黑体" panose="02010609060101010101" pitchFamily="49" charset="-122"/>
                    <a:cs typeface="Arial" panose="020B0604020202020204" pitchFamily="34" charset="0"/>
                  </a:rPr>
                  <a:t>析取</a:t>
                </a:r>
                <a:endParaRPr lang="en-US" altLang="zh-CN" sz="2000" b="1">
                  <a:solidFill>
                    <a:srgbClr val="C00000"/>
                  </a:solidFill>
                  <a:latin typeface="黑体" panose="02010609060101010101" pitchFamily="49" charset="-122"/>
                  <a:ea typeface="黑体" panose="02010609060101010101" pitchFamily="49" charset="-122"/>
                  <a:cs typeface="Arial" panose="020B0604020202020204" pitchFamily="34" charset="0"/>
                </a:endParaRP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每个文字对应不同的命题变量</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每个文字是这个命题变量本身或者是它的否定</a:t>
                </a:r>
              </a:p>
            </p:txBody>
          </p:sp>
        </mc:Choice>
        <mc:Fallback xmlns="">
          <p:sp>
            <p:nvSpPr>
              <p:cNvPr id="15" name="文本框 14">
                <a:extLst>
                  <a:ext uri="{FF2B5EF4-FFF2-40B4-BE49-F238E27FC236}">
                    <a16:creationId xmlns:a16="http://schemas.microsoft.com/office/drawing/2014/main" id="{F74FEFF7-9516-474F-B5B5-94DF92E85DFB}"/>
                  </a:ext>
                </a:extLst>
              </p:cNvPr>
              <p:cNvSpPr txBox="1">
                <a:spLocks noRot="1" noChangeAspect="1" noMove="1" noResize="1" noEditPoints="1" noAdjustHandles="1" noChangeArrowheads="1" noChangeShapeType="1" noTextEdit="1"/>
              </p:cNvSpPr>
              <p:nvPr/>
            </p:nvSpPr>
            <p:spPr>
              <a:xfrm>
                <a:off x="592214" y="4494156"/>
                <a:ext cx="7786676" cy="1723549"/>
              </a:xfrm>
              <a:prstGeom prst="rect">
                <a:avLst/>
              </a:prstGeom>
              <a:blipFill>
                <a:blip r:embed="rId6"/>
                <a:stretch>
                  <a:fillRect l="-783" t="-2120" b="-3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FFCB9A62-7385-4DCB-AC7F-37374F3A18B6}"/>
                  </a:ext>
                </a:extLst>
              </p:cNvPr>
              <p:cNvGraphicFramePr>
                <a:graphicFrameLocks noGrp="1"/>
              </p:cNvGraphicFramePr>
              <p:nvPr>
                <p:extLst>
                  <p:ext uri="{D42A27DB-BD31-4B8C-83A1-F6EECF244321}">
                    <p14:modId xmlns:p14="http://schemas.microsoft.com/office/powerpoint/2010/main" val="3781954135"/>
                  </p:ext>
                </p:extLst>
              </p:nvPr>
            </p:nvGraphicFramePr>
            <p:xfrm>
              <a:off x="8742251" y="3833059"/>
              <a:ext cx="2948614" cy="741680"/>
            </p:xfrm>
            <a:graphic>
              <a:graphicData uri="http://schemas.openxmlformats.org/drawingml/2006/table">
                <a:tbl>
                  <a:tblPr firstRow="1">
                    <a:tableStyleId>{5C22544A-7EE6-4342-B048-85BDC9FD1C3A}</a:tableStyleId>
                  </a:tblPr>
                  <a:tblGrid>
                    <a:gridCol w="1474307">
                      <a:extLst>
                        <a:ext uri="{9D8B030D-6E8A-4147-A177-3AD203B41FA5}">
                          <a16:colId xmlns:a16="http://schemas.microsoft.com/office/drawing/2014/main" val="1790152541"/>
                        </a:ext>
                      </a:extLst>
                    </a:gridCol>
                    <a:gridCol w="1474307">
                      <a:extLst>
                        <a:ext uri="{9D8B030D-6E8A-4147-A177-3AD203B41FA5}">
                          <a16:colId xmlns:a16="http://schemas.microsoft.com/office/drawing/2014/main" val="3332346248"/>
                        </a:ext>
                      </a:extLst>
                    </a:gridCol>
                  </a:tblGrid>
                  <a:tr h="370840">
                    <a:tc gridSpan="2">
                      <a:txBody>
                        <a:bodyPr/>
                        <a:lstStyle/>
                        <a:p>
                          <a:r>
                            <a:rPr lang="zh-CN" altLang="en-US"/>
                            <a:t>含一个命题变量</a:t>
                          </a:r>
                          <a14:m>
                            <m:oMath xmlns:m="http://schemas.openxmlformats.org/officeDocument/2006/math">
                              <m:r>
                                <a:rPr lang="en-US" altLang="zh-CN" i="1" smtClean="0">
                                  <a:latin typeface="Cambria Math" panose="02040503050406030204" pitchFamily="18" charset="0"/>
                                </a:rPr>
                                <m:t>𝑝</m:t>
                              </m:r>
                            </m:oMath>
                          </a14:m>
                          <a:r>
                            <a:rPr lang="zh-CN" altLang="en-US"/>
                            <a:t>的极大项</a:t>
                          </a: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bl>
              </a:graphicData>
            </a:graphic>
          </p:graphicFrame>
        </mc:Choice>
        <mc:Fallback xmlns="">
          <p:graphicFrame>
            <p:nvGraphicFramePr>
              <p:cNvPr id="16" name="表格 15">
                <a:extLst>
                  <a:ext uri="{FF2B5EF4-FFF2-40B4-BE49-F238E27FC236}">
                    <a16:creationId xmlns:a16="http://schemas.microsoft.com/office/drawing/2014/main" id="{FFCB9A62-7385-4DCB-AC7F-37374F3A18B6}"/>
                  </a:ext>
                </a:extLst>
              </p:cNvPr>
              <p:cNvGraphicFramePr>
                <a:graphicFrameLocks noGrp="1"/>
              </p:cNvGraphicFramePr>
              <p:nvPr>
                <p:extLst>
                  <p:ext uri="{D42A27DB-BD31-4B8C-83A1-F6EECF244321}">
                    <p14:modId xmlns:p14="http://schemas.microsoft.com/office/powerpoint/2010/main" val="3781954135"/>
                  </p:ext>
                </p:extLst>
              </p:nvPr>
            </p:nvGraphicFramePr>
            <p:xfrm>
              <a:off x="8742251" y="3833059"/>
              <a:ext cx="2948614" cy="741680"/>
            </p:xfrm>
            <a:graphic>
              <a:graphicData uri="http://schemas.openxmlformats.org/drawingml/2006/table">
                <a:tbl>
                  <a:tblPr firstRow="1">
                    <a:tableStyleId>{5C22544A-7EE6-4342-B048-85BDC9FD1C3A}</a:tableStyleId>
                  </a:tblPr>
                  <a:tblGrid>
                    <a:gridCol w="1474307">
                      <a:extLst>
                        <a:ext uri="{9D8B030D-6E8A-4147-A177-3AD203B41FA5}">
                          <a16:colId xmlns:a16="http://schemas.microsoft.com/office/drawing/2014/main" val="1790152541"/>
                        </a:ext>
                      </a:extLst>
                    </a:gridCol>
                    <a:gridCol w="1474307">
                      <a:extLst>
                        <a:ext uri="{9D8B030D-6E8A-4147-A177-3AD203B41FA5}">
                          <a16:colId xmlns:a16="http://schemas.microsoft.com/office/drawing/2014/main" val="3332346248"/>
                        </a:ext>
                      </a:extLst>
                    </a:gridCol>
                  </a:tblGrid>
                  <a:tr h="370840">
                    <a:tc gridSpan="2">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7"/>
                          <a:stretch>
                            <a:fillRect l="-207" t="-8065" r="-413" b="-103226"/>
                          </a:stretch>
                        </a:blip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7"/>
                          <a:stretch>
                            <a:fillRect l="-413" t="-109836" r="-100826" b="-4918"/>
                          </a:stretch>
                        </a:blipFill>
                      </a:tcPr>
                    </a:tc>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7"/>
                          <a:stretch>
                            <a:fillRect l="-100413" t="-109836" r="-826" b="-4918"/>
                          </a:stretch>
                        </a:blipFill>
                      </a:tcPr>
                    </a:tc>
                    <a:extLst>
                      <a:ext uri="{0D108BD9-81ED-4DB2-BD59-A6C34878D82A}">
                        <a16:rowId xmlns:a16="http://schemas.microsoft.com/office/drawing/2014/main" val="12002951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99E98137-E99C-4774-B0C3-252A9EE95B75}"/>
                  </a:ext>
                </a:extLst>
              </p:cNvPr>
              <p:cNvGraphicFramePr>
                <a:graphicFrameLocks noGrp="1"/>
              </p:cNvGraphicFramePr>
              <p:nvPr>
                <p:extLst>
                  <p:ext uri="{D42A27DB-BD31-4B8C-83A1-F6EECF244321}">
                    <p14:modId xmlns:p14="http://schemas.microsoft.com/office/powerpoint/2010/main" val="1451953078"/>
                  </p:ext>
                </p:extLst>
              </p:nvPr>
            </p:nvGraphicFramePr>
            <p:xfrm>
              <a:off x="8677485" y="4682322"/>
              <a:ext cx="3130774" cy="1107440"/>
            </p:xfrm>
            <a:graphic>
              <a:graphicData uri="http://schemas.openxmlformats.org/drawingml/2006/table">
                <a:tbl>
                  <a:tblPr firstRow="1">
                    <a:tableStyleId>{5C22544A-7EE6-4342-B048-85BDC9FD1C3A}</a:tableStyleId>
                  </a:tblPr>
                  <a:tblGrid>
                    <a:gridCol w="1565387">
                      <a:extLst>
                        <a:ext uri="{9D8B030D-6E8A-4147-A177-3AD203B41FA5}">
                          <a16:colId xmlns:a16="http://schemas.microsoft.com/office/drawing/2014/main" val="1790152541"/>
                        </a:ext>
                      </a:extLst>
                    </a:gridCol>
                    <a:gridCol w="1565387">
                      <a:extLst>
                        <a:ext uri="{9D8B030D-6E8A-4147-A177-3AD203B41FA5}">
                          <a16:colId xmlns:a16="http://schemas.microsoft.com/office/drawing/2014/main" val="3332346248"/>
                        </a:ext>
                      </a:extLst>
                    </a:gridCol>
                  </a:tblGrid>
                  <a:tr h="0">
                    <a:tc gridSpan="2">
                      <a:txBody>
                        <a:bodyPr/>
                        <a:lstStyle/>
                        <a:p>
                          <a:r>
                            <a:rPr lang="zh-CN" altLang="en-US"/>
                            <a:t>含两个命题变量</a:t>
                          </a:r>
                          <a14:m>
                            <m:oMath xmlns:m="http://schemas.openxmlformats.org/officeDocument/2006/math">
                              <m:r>
                                <a:rPr lang="en-US" altLang="zh-CN" i="1" smtClean="0">
                                  <a:latin typeface="Cambria Math" panose="02040503050406030204" pitchFamily="18" charset="0"/>
                                </a:rPr>
                                <m:t>𝑝</m:t>
                              </m:r>
                              <m:r>
                                <a:rPr lang="en-US" altLang="zh-CN" b="1" i="1" smtClean="0">
                                  <a:latin typeface="Cambria Math" panose="02040503050406030204" pitchFamily="18" charset="0"/>
                                </a:rPr>
                                <m:t>,</m:t>
                              </m:r>
                              <m:r>
                                <a:rPr lang="en-US" altLang="zh-CN" b="1" i="1" smtClean="0">
                                  <a:latin typeface="Cambria Math" panose="02040503050406030204" pitchFamily="18" charset="0"/>
                                </a:rPr>
                                <m:t>𝒒</m:t>
                              </m:r>
                            </m:oMath>
                          </a14:m>
                          <a:r>
                            <a:rPr lang="zh-CN" altLang="en-US"/>
                            <a:t>的极大项</a:t>
                          </a: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r h="370840">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m:oMathPara>
                          </a14:m>
                          <a:endParaRPr lang="zh-CN" altLang="en-US" b="1">
                            <a:solidFill>
                              <a:srgbClr val="C00000"/>
                            </a:solidFill>
                          </a:endParaRPr>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351949"/>
                      </a:ext>
                    </a:extLst>
                  </a:tr>
                </a:tbl>
              </a:graphicData>
            </a:graphic>
          </p:graphicFrame>
        </mc:Choice>
        <mc:Fallback xmlns="">
          <p:graphicFrame>
            <p:nvGraphicFramePr>
              <p:cNvPr id="18" name="表格 17">
                <a:extLst>
                  <a:ext uri="{FF2B5EF4-FFF2-40B4-BE49-F238E27FC236}">
                    <a16:creationId xmlns:a16="http://schemas.microsoft.com/office/drawing/2014/main" id="{99E98137-E99C-4774-B0C3-252A9EE95B75}"/>
                  </a:ext>
                </a:extLst>
              </p:cNvPr>
              <p:cNvGraphicFramePr>
                <a:graphicFrameLocks noGrp="1"/>
              </p:cNvGraphicFramePr>
              <p:nvPr>
                <p:extLst>
                  <p:ext uri="{D42A27DB-BD31-4B8C-83A1-F6EECF244321}">
                    <p14:modId xmlns:p14="http://schemas.microsoft.com/office/powerpoint/2010/main" val="1451953078"/>
                  </p:ext>
                </p:extLst>
              </p:nvPr>
            </p:nvGraphicFramePr>
            <p:xfrm>
              <a:off x="8677485" y="4682322"/>
              <a:ext cx="3130774" cy="1107440"/>
            </p:xfrm>
            <a:graphic>
              <a:graphicData uri="http://schemas.openxmlformats.org/drawingml/2006/table">
                <a:tbl>
                  <a:tblPr firstRow="1">
                    <a:tableStyleId>{5C22544A-7EE6-4342-B048-85BDC9FD1C3A}</a:tableStyleId>
                  </a:tblPr>
                  <a:tblGrid>
                    <a:gridCol w="1565387">
                      <a:extLst>
                        <a:ext uri="{9D8B030D-6E8A-4147-A177-3AD203B41FA5}">
                          <a16:colId xmlns:a16="http://schemas.microsoft.com/office/drawing/2014/main" val="1790152541"/>
                        </a:ext>
                      </a:extLst>
                    </a:gridCol>
                    <a:gridCol w="1565387">
                      <a:extLst>
                        <a:ext uri="{9D8B030D-6E8A-4147-A177-3AD203B41FA5}">
                          <a16:colId xmlns:a16="http://schemas.microsoft.com/office/drawing/2014/main" val="3332346248"/>
                        </a:ext>
                      </a:extLst>
                    </a:gridCol>
                  </a:tblGrid>
                  <a:tr h="365760">
                    <a:tc gridSpan="2">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8"/>
                          <a:stretch>
                            <a:fillRect l="-194" t="-8333" r="-388" b="-208333"/>
                          </a:stretch>
                        </a:blipFill>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0840">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8"/>
                          <a:stretch>
                            <a:fillRect l="-388" t="-106557" r="-100388" b="-104918"/>
                          </a:stretch>
                        </a:blipFill>
                      </a:tcPr>
                    </a:tc>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8"/>
                          <a:stretch>
                            <a:fillRect l="-100778" t="-106557" r="-778" b="-104918"/>
                          </a:stretch>
                        </a:blipFill>
                      </a:tcPr>
                    </a:tc>
                    <a:extLst>
                      <a:ext uri="{0D108BD9-81ED-4DB2-BD59-A6C34878D82A}">
                        <a16:rowId xmlns:a16="http://schemas.microsoft.com/office/drawing/2014/main" val="1200295186"/>
                      </a:ext>
                    </a:extLst>
                  </a:tr>
                  <a:tr h="370840">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8"/>
                          <a:stretch>
                            <a:fillRect l="-388" t="-206557" r="-100388" b="-4918"/>
                          </a:stretch>
                        </a:blipFill>
                      </a:tcPr>
                    </a:tc>
                    <a:tc>
                      <a:txBody>
                        <a:bodyPr/>
                        <a:lstStyle/>
                        <a:p>
                          <a:endParaRPr lang="zh-CN"/>
                        </a:p>
                      </a:txBody>
                      <a:tcP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8"/>
                          <a:stretch>
                            <a:fillRect l="-100778" t="-206557" r="-778" b="-4918"/>
                          </a:stretch>
                        </a:blipFill>
                      </a:tcPr>
                    </a:tc>
                    <a:extLst>
                      <a:ext uri="{0D108BD9-81ED-4DB2-BD59-A6C34878D82A}">
                        <a16:rowId xmlns:a16="http://schemas.microsoft.com/office/drawing/2014/main" val="3351949"/>
                      </a:ext>
                    </a:extLst>
                  </a:tr>
                </a:tbl>
              </a:graphicData>
            </a:graphic>
          </p:graphicFrame>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3EE1A59-A429-4F51-B7F4-4FD0E8ED8C8F}"/>
                  </a:ext>
                </a:extLst>
              </p:cNvPr>
              <p:cNvSpPr txBox="1"/>
              <p:nvPr/>
            </p:nvSpPr>
            <p:spPr>
              <a:xfrm>
                <a:off x="8651171" y="5909906"/>
                <a:ext cx="3183402" cy="338554"/>
              </a:xfrm>
              <a:prstGeom prst="rect">
                <a:avLst/>
              </a:prstGeom>
              <a:solidFill>
                <a:schemeClr val="accent5">
                  <a:lumMod val="20000"/>
                  <a:lumOff val="80000"/>
                </a:schemeClr>
              </a:solidFill>
            </p:spPr>
            <p:txBody>
              <a:bodyPr wrap="square" rtlCol="0">
                <a:spAutoFit/>
              </a:bodyPr>
              <a:lstStyle/>
              <a:p>
                <a:r>
                  <a:rPr lang="zh-CN" altLang="en-US" sz="1600" b="1">
                    <a:solidFill>
                      <a:srgbClr val="C00000"/>
                    </a:solidFill>
                  </a:rPr>
                  <a:t>含</a:t>
                </a:r>
                <a14:m>
                  <m:oMath xmlns:m="http://schemas.openxmlformats.org/officeDocument/2006/math">
                    <m:r>
                      <a:rPr lang="en-US" altLang="zh-CN" sz="1600" b="1" i="1" smtClean="0">
                        <a:solidFill>
                          <a:srgbClr val="C00000"/>
                        </a:solidFill>
                        <a:latin typeface="Cambria Math" panose="02040503050406030204" pitchFamily="18" charset="0"/>
                      </a:rPr>
                      <m:t>𝒏</m:t>
                    </m:r>
                  </m:oMath>
                </a14:m>
                <a:r>
                  <a:rPr lang="zh-CN" altLang="en-US" sz="1600" b="1">
                    <a:solidFill>
                      <a:srgbClr val="C00000"/>
                    </a:solidFill>
                  </a:rPr>
                  <a:t>个命题变量的极大项恰有</a:t>
                </a:r>
                <a14:m>
                  <m:oMath xmlns:m="http://schemas.openxmlformats.org/officeDocument/2006/math">
                    <m:sSup>
                      <m:sSupPr>
                        <m:ctrlPr>
                          <a:rPr lang="en-US" altLang="zh-CN" sz="1600" b="1" i="1" smtClean="0">
                            <a:solidFill>
                              <a:srgbClr val="C00000"/>
                            </a:solidFill>
                            <a:latin typeface="Cambria Math" panose="02040503050406030204" pitchFamily="18" charset="0"/>
                          </a:rPr>
                        </m:ctrlPr>
                      </m:sSupPr>
                      <m:e>
                        <m:r>
                          <a:rPr lang="en-US" altLang="zh-CN" sz="1600" b="1" i="1" smtClean="0">
                            <a:solidFill>
                              <a:srgbClr val="C00000"/>
                            </a:solidFill>
                            <a:latin typeface="Cambria Math" panose="02040503050406030204" pitchFamily="18" charset="0"/>
                          </a:rPr>
                          <m:t>𝟐</m:t>
                        </m:r>
                      </m:e>
                      <m:sup>
                        <m:r>
                          <a:rPr lang="en-US" altLang="zh-CN" sz="1600" b="1" i="1" smtClean="0">
                            <a:solidFill>
                              <a:srgbClr val="C00000"/>
                            </a:solidFill>
                            <a:latin typeface="Cambria Math" panose="02040503050406030204" pitchFamily="18" charset="0"/>
                          </a:rPr>
                          <m:t>𝒏</m:t>
                        </m:r>
                      </m:sup>
                    </m:sSup>
                  </m:oMath>
                </a14:m>
                <a:r>
                  <a:rPr lang="zh-CN" altLang="en-US" sz="1600" b="1">
                    <a:solidFill>
                      <a:srgbClr val="C00000"/>
                    </a:solidFill>
                  </a:rPr>
                  <a:t>个</a:t>
                </a:r>
              </a:p>
            </p:txBody>
          </p:sp>
        </mc:Choice>
        <mc:Fallback xmlns="">
          <p:sp>
            <p:nvSpPr>
              <p:cNvPr id="19" name="文本框 18">
                <a:extLst>
                  <a:ext uri="{FF2B5EF4-FFF2-40B4-BE49-F238E27FC236}">
                    <a16:creationId xmlns:a16="http://schemas.microsoft.com/office/drawing/2014/main" id="{D3EE1A59-A429-4F51-B7F4-4FD0E8ED8C8F}"/>
                  </a:ext>
                </a:extLst>
              </p:cNvPr>
              <p:cNvSpPr txBox="1">
                <a:spLocks noRot="1" noChangeAspect="1" noMove="1" noResize="1" noEditPoints="1" noAdjustHandles="1" noChangeArrowheads="1" noChangeShapeType="1" noTextEdit="1"/>
              </p:cNvSpPr>
              <p:nvPr/>
            </p:nvSpPr>
            <p:spPr>
              <a:xfrm>
                <a:off x="8651171" y="5909906"/>
                <a:ext cx="3183402" cy="338554"/>
              </a:xfrm>
              <a:prstGeom prst="rect">
                <a:avLst/>
              </a:prstGeom>
              <a:blipFill>
                <a:blip r:embed="rId9"/>
                <a:stretch>
                  <a:fillRect l="-958" t="-5357" r="-383" b="-21429"/>
                </a:stretch>
              </a:blipFill>
            </p:spPr>
            <p:txBody>
              <a:bodyPr/>
              <a:lstStyle/>
              <a:p>
                <a:r>
                  <a:rPr lang="zh-CN" altLang="en-US">
                    <a:noFill/>
                  </a:rPr>
                  <a:t> </a:t>
                </a:r>
              </a:p>
            </p:txBody>
          </p:sp>
        </mc:Fallback>
      </mc:AlternateContent>
      <p:cxnSp>
        <p:nvCxnSpPr>
          <p:cNvPr id="20" name="直接连接符 19">
            <a:extLst>
              <a:ext uri="{FF2B5EF4-FFF2-40B4-BE49-F238E27FC236}">
                <a16:creationId xmlns:a16="http://schemas.microsoft.com/office/drawing/2014/main" id="{8E0741C9-EF89-4268-9185-E54955F671D5}"/>
              </a:ext>
            </a:extLst>
          </p:cNvPr>
          <p:cNvCxnSpPr>
            <a:cxnSpLocks/>
          </p:cNvCxnSpPr>
          <p:nvPr/>
        </p:nvCxnSpPr>
        <p:spPr>
          <a:xfrm flipV="1">
            <a:off x="480224" y="3660312"/>
            <a:ext cx="11433289" cy="9681"/>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23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极小项的编码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715C2D6-62FC-4FAB-921D-4D86EE731D22}"/>
                  </a:ext>
                </a:extLst>
              </p:cNvPr>
              <p:cNvSpPr txBox="1"/>
              <p:nvPr/>
            </p:nvSpPr>
            <p:spPr>
              <a:xfrm>
                <a:off x="636170" y="1026342"/>
                <a:ext cx="8012512" cy="2577629"/>
              </a:xfrm>
              <a:prstGeom prst="rect">
                <a:avLst/>
              </a:prstGeom>
              <a:solidFill>
                <a:schemeClr val="accent5">
                  <a:lumMod val="20000"/>
                  <a:lumOff val="80000"/>
                </a:schemeClr>
              </a:solidFill>
            </p:spPr>
            <p:txBody>
              <a:bodyPr wrap="square" rtlCol="0">
                <a:spAutoFit/>
              </a:bodyPr>
              <a:lstStyle/>
              <a:p>
                <a:pPr algn="ctr">
                  <a:spcBef>
                    <a:spcPts val="600"/>
                  </a:spcBef>
                  <a:spcAft>
                    <a:spcPts val="300"/>
                  </a:spcAft>
                </a:pPr>
                <a:r>
                  <a:rPr lang="zh-CN" altLang="en-US" sz="2400" b="1">
                    <a:solidFill>
                      <a:srgbClr val="002060"/>
                    </a:solidFill>
                  </a:rPr>
                  <a:t>极小项的编码</a:t>
                </a:r>
                <a:endParaRPr lang="en-US" altLang="zh-CN" sz="2000" b="1">
                  <a:solidFill>
                    <a:srgbClr val="002060"/>
                  </a:solidFill>
                </a:endParaRPr>
              </a:p>
              <a:p>
                <a:pPr>
                  <a:spcBef>
                    <a:spcPts val="600"/>
                  </a:spcBef>
                  <a:spcAft>
                    <a:spcPts val="300"/>
                  </a:spcAft>
                </a:pPr>
                <a:r>
                  <a:rPr lang="zh-CN" altLang="en-US" sz="2000" b="1">
                    <a:solidFill>
                      <a:schemeClr val="accent6">
                        <a:lumMod val="50000"/>
                      </a:schemeClr>
                    </a:solidFill>
                    <a:latin typeface="宋体" panose="02010600030101010101" pitchFamily="2" charset="-122"/>
                    <a:ea typeface="宋体" panose="02010600030101010101" pitchFamily="2" charset="-122"/>
                  </a:rPr>
                  <a:t>固定</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𝒏</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个命题变量的顺序，</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𝟐</m:t>
                    </m:r>
                    <m:r>
                      <a:rPr lang="en-US" altLang="zh-CN" sz="2000" b="1" i="1">
                        <a:solidFill>
                          <a:schemeClr val="accent6">
                            <a:lumMod val="50000"/>
                          </a:schemeClr>
                        </a:solidFill>
                        <a:latin typeface="Cambria Math" panose="02040503050406030204" pitchFamily="18" charset="0"/>
                        <a:ea typeface="宋体" panose="02010600030101010101" pitchFamily="2" charset="-122"/>
                      </a:rPr>
                      <m:t>^</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𝒏</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个极小项可用长度为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𝒏</m:t>
                    </m:r>
                  </m:oMath>
                </a14:m>
                <a:r>
                  <a:rPr lang="zh-CN" altLang="en-US" sz="2000" b="1">
                    <a:solidFill>
                      <a:schemeClr val="accent6">
                        <a:lumMod val="50000"/>
                      </a:schemeClr>
                    </a:solidFill>
                    <a:latin typeface="宋体" panose="02010600030101010101" pitchFamily="2" charset="-122"/>
                    <a:ea typeface="宋体" panose="02010600030101010101" pitchFamily="2" charset="-122"/>
                  </a:rPr>
                  <a:t>的二进制串编码  </a:t>
                </a:r>
                <a:endParaRPr lang="en-US" altLang="zh-CN" sz="2000"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spcAft>
                    <a:spcPts val="3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如果一个极小项含有第</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𝒊</m:t>
                    </m:r>
                  </m:oMath>
                </a14:m>
                <a:r>
                  <a:rPr lang="zh-CN" altLang="en-US" sz="2000" b="1">
                    <a:solidFill>
                      <a:srgbClr val="C00000"/>
                    </a:solidFill>
                    <a:latin typeface="楷体" panose="02010609060101010101" pitchFamily="49" charset="-122"/>
                    <a:ea typeface="楷体" panose="02010609060101010101" pitchFamily="49" charset="-122"/>
                  </a:rPr>
                  <a:t>个命题变量本身则该极小项的第</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𝒊</m:t>
                    </m:r>
                  </m:oMath>
                </a14:m>
                <a:r>
                  <a:rPr lang="zh-CN" altLang="en-US" sz="2000" b="1">
                    <a:solidFill>
                      <a:srgbClr val="C00000"/>
                    </a:solidFill>
                    <a:latin typeface="楷体" panose="02010609060101010101" pitchFamily="49" charset="-122"/>
                    <a:ea typeface="楷体" panose="02010609060101010101" pitchFamily="49" charset="-122"/>
                  </a:rPr>
                  <a:t>位编码为</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cs typeface="Arial" panose="020B0604020202020204" pitchFamily="34" charset="0"/>
                      </a:rPr>
                      <m:t>𝟏</m:t>
                    </m:r>
                  </m:oMath>
                </a14:m>
                <a:endParaRPr lang="en-US" altLang="zh-CN" sz="2000" b="1">
                  <a:solidFill>
                    <a:srgbClr val="C00000"/>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600"/>
                  </a:spcBef>
                  <a:spcAft>
                    <a:spcPts val="3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如果含有第</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𝒊</m:t>
                    </m:r>
                  </m:oMath>
                </a14:m>
                <a:r>
                  <a:rPr lang="zh-CN" altLang="en-US" sz="2000" b="1">
                    <a:solidFill>
                      <a:srgbClr val="C00000"/>
                    </a:solidFill>
                    <a:latin typeface="楷体" panose="02010609060101010101" pitchFamily="49" charset="-122"/>
                    <a:ea typeface="楷体" panose="02010609060101010101" pitchFamily="49" charset="-122"/>
                  </a:rPr>
                  <a:t>个命题变量的否定则其第</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𝒊</m:t>
                    </m:r>
                  </m:oMath>
                </a14:m>
                <a:r>
                  <a:rPr lang="zh-CN" altLang="en-US" sz="2000" b="1">
                    <a:solidFill>
                      <a:srgbClr val="C00000"/>
                    </a:solidFill>
                    <a:latin typeface="楷体" panose="02010609060101010101" pitchFamily="49" charset="-122"/>
                    <a:ea typeface="楷体" panose="02010609060101010101" pitchFamily="49" charset="-122"/>
                  </a:rPr>
                  <a:t>位编码为</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cs typeface="Arial" panose="020B0604020202020204" pitchFamily="34" charset="0"/>
                      </a:rPr>
                      <m:t>𝟎</m:t>
                    </m:r>
                  </m:oMath>
                </a14:m>
                <a:endParaRPr lang="en-US" altLang="zh-CN" sz="2000" b="1">
                  <a:solidFill>
                    <a:srgbClr val="C00000"/>
                  </a:solidFill>
                  <a:latin typeface="Arial" panose="020B0604020202020204" pitchFamily="34" charset="0"/>
                  <a:ea typeface="楷体" panose="02010609060101010101" pitchFamily="49" charset="-122"/>
                  <a:cs typeface="Arial" panose="020B0604020202020204" pitchFamily="34" charset="0"/>
                </a:endParaRPr>
              </a:p>
              <a:p>
                <a:pPr>
                  <a:spcBef>
                    <a:spcPts val="600"/>
                  </a:spcBef>
                  <a:spcAft>
                    <a:spcPts val="300"/>
                  </a:spcAft>
                </a:pP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ea typeface="宋体" panose="02010600030101010101" pitchFamily="2" charset="-122"/>
                          </a:rPr>
                        </m:ctrlPr>
                      </m:sSupPr>
                      <m:e>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𝟐</m:t>
                        </m:r>
                      </m:e>
                      <m:sup>
                        <m:r>
                          <a:rPr lang="en-US" altLang="zh-CN" sz="2000" b="1" i="1">
                            <a:solidFill>
                              <a:schemeClr val="accent6">
                                <a:lumMod val="50000"/>
                              </a:schemeClr>
                            </a:solidFill>
                            <a:latin typeface="Cambria Math" panose="02040503050406030204" pitchFamily="18" charset="0"/>
                            <a:ea typeface="宋体" panose="02010600030101010101" pitchFamily="2" charset="-122"/>
                          </a:rPr>
                          <m:t>𝒏</m:t>
                        </m:r>
                      </m:sup>
                    </m:sSup>
                  </m:oMath>
                </a14:m>
                <a:r>
                  <a:rPr lang="zh-CN" altLang="en-US" sz="2000" b="1">
                    <a:solidFill>
                      <a:schemeClr val="accent6">
                        <a:lumMod val="50000"/>
                      </a:schemeClr>
                    </a:solidFill>
                    <a:latin typeface="宋体" panose="02010600030101010101" pitchFamily="2" charset="-122"/>
                    <a:ea typeface="宋体" panose="02010600030101010101" pitchFamily="2" charset="-122"/>
                  </a:rPr>
                  <a:t>个极小项刚好与</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𝟎</m:t>
                    </m:r>
                  </m:oMath>
                </a14:m>
                <a:r>
                  <a:rPr lang="zh-CN" altLang="en-US" sz="2000" b="1">
                    <a:solidFill>
                      <a:schemeClr val="accent6">
                        <a:lumMod val="50000"/>
                      </a:schemeClr>
                    </a:solidFill>
                    <a:latin typeface="宋体" panose="02010600030101010101" pitchFamily="2" charset="-122"/>
                    <a:ea typeface="宋体" panose="02010600030101010101" pitchFamily="2" charset="-122"/>
                  </a:rPr>
                  <a:t>到</a:t>
                </a: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ea typeface="宋体" panose="02010600030101010101" pitchFamily="2" charset="-122"/>
                          </a:rPr>
                        </m:ctrlPr>
                      </m:sSupPr>
                      <m:e>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𝟐</m:t>
                        </m:r>
                      </m:e>
                      <m:sup>
                        <m:r>
                          <a:rPr lang="en-US" altLang="zh-CN" sz="2000" b="1" i="1">
                            <a:solidFill>
                              <a:schemeClr val="accent6">
                                <a:lumMod val="50000"/>
                              </a:schemeClr>
                            </a:solidFill>
                            <a:latin typeface="Cambria Math" panose="02040503050406030204" pitchFamily="18" charset="0"/>
                            <a:ea typeface="宋体" panose="02010600030101010101" pitchFamily="2" charset="-122"/>
                          </a:rPr>
                          <m:t>𝒏</m:t>
                        </m:r>
                      </m:sup>
                    </m:sSup>
                    <m:r>
                      <a:rPr lang="en-US" altLang="zh-CN" sz="2000" b="1" i="1">
                        <a:solidFill>
                          <a:schemeClr val="accent6">
                            <a:lumMod val="50000"/>
                          </a:schemeClr>
                        </a:solidFill>
                        <a:latin typeface="Cambria Math" panose="02040503050406030204" pitchFamily="18" charset="0"/>
                        <a:ea typeface="宋体" panose="02010600030101010101" pitchFamily="2" charset="-122"/>
                      </a:rPr>
                      <m:t>−</m:t>
                    </m:r>
                    <m:r>
                      <a:rPr lang="en-US" altLang="zh-CN" sz="2000" b="1" i="1">
                        <a:solidFill>
                          <a:schemeClr val="accent6">
                            <a:lumMod val="50000"/>
                          </a:schemeClr>
                        </a:solidFill>
                        <a:latin typeface="Cambria Math" panose="02040503050406030204" pitchFamily="18" charset="0"/>
                        <a:ea typeface="宋体" panose="02010600030101010101" pitchFamily="2" charset="-122"/>
                      </a:rPr>
                      <m:t>𝟏</m:t>
                    </m:r>
                  </m:oMath>
                </a14:m>
                <a:r>
                  <a:rPr lang="zh-CN" altLang="en-US" sz="2000" b="1">
                    <a:solidFill>
                      <a:schemeClr val="accent6">
                        <a:lumMod val="50000"/>
                      </a:schemeClr>
                    </a:solidFill>
                    <a:latin typeface="宋体" panose="02010600030101010101" pitchFamily="2" charset="-122"/>
                    <a:ea typeface="宋体" panose="02010600030101010101" pitchFamily="2" charset="-122"/>
                  </a:rPr>
                  <a:t>这</a:t>
                </a: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ea typeface="宋体" panose="02010600030101010101" pitchFamily="2" charset="-122"/>
                          </a:rPr>
                        </m:ctrlPr>
                      </m:sSupPr>
                      <m:e>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𝟐</m:t>
                        </m:r>
                      </m:e>
                      <m:sup>
                        <m:r>
                          <a:rPr lang="en-US" altLang="zh-CN" sz="2000" b="1" i="1">
                            <a:solidFill>
                              <a:schemeClr val="accent6">
                                <a:lumMod val="50000"/>
                              </a:schemeClr>
                            </a:solidFill>
                            <a:latin typeface="Cambria Math" panose="02040503050406030204" pitchFamily="18" charset="0"/>
                            <a:ea typeface="宋体" panose="02010600030101010101" pitchFamily="2" charset="-122"/>
                          </a:rPr>
                          <m:t>𝒏</m:t>
                        </m:r>
                      </m:sup>
                    </m:sSup>
                  </m:oMath>
                </a14:m>
                <a:r>
                  <a:rPr lang="zh-CN" altLang="en-US" sz="2000" b="1">
                    <a:solidFill>
                      <a:schemeClr val="accent6">
                        <a:lumMod val="50000"/>
                      </a:schemeClr>
                    </a:solidFill>
                    <a:latin typeface="宋体" panose="02010600030101010101" pitchFamily="2" charset="-122"/>
                    <a:ea typeface="宋体" panose="02010600030101010101" pitchFamily="2" charset="-122"/>
                  </a:rPr>
                  <a:t>个自然数的二进制表示一一对应</a:t>
                </a:r>
              </a:p>
              <a:p>
                <a:pPr marL="285750" indent="-285750">
                  <a:spcBef>
                    <a:spcPts val="600"/>
                  </a:spcBef>
                  <a:spcAft>
                    <a:spcPts val="3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分别使用</a:t>
                </a:r>
                <a14:m>
                  <m:oMath xmlns:m="http://schemas.openxmlformats.org/officeDocument/2006/math">
                    <m:sSub>
                      <m:sSubPr>
                        <m:ctrlPr>
                          <a:rPr lang="en-US" altLang="zh-CN" sz="2000" b="1" i="1" smtClean="0">
                            <a:solidFill>
                              <a:srgbClr val="C00000"/>
                            </a:solidFill>
                            <a:latin typeface="Cambria Math" panose="02040503050406030204" pitchFamily="18" charset="0"/>
                            <a:ea typeface="楷体" panose="02010609060101010101" pitchFamily="49" charset="-122"/>
                          </a:rPr>
                        </m:ctrlPr>
                      </m:sSubPr>
                      <m:e>
                        <m:r>
                          <a:rPr lang="en-US" altLang="zh-CN" sz="2000" b="1" i="1" smtClean="0">
                            <a:solidFill>
                              <a:srgbClr val="C00000"/>
                            </a:solidFill>
                            <a:latin typeface="Cambria Math" panose="02040503050406030204" pitchFamily="18" charset="0"/>
                            <a:ea typeface="楷体" panose="02010609060101010101" pitchFamily="49" charset="-122"/>
                          </a:rPr>
                          <m:t>𝒎</m:t>
                        </m:r>
                      </m:e>
                      <m:sub>
                        <m:r>
                          <a:rPr lang="en-US" altLang="zh-CN" sz="2000" b="1" i="1">
                            <a:solidFill>
                              <a:srgbClr val="C00000"/>
                            </a:solidFill>
                            <a:latin typeface="Cambria Math" panose="02040503050406030204" pitchFamily="18" charset="0"/>
                            <a:ea typeface="楷体" panose="02010609060101010101" pitchFamily="49" charset="-122"/>
                          </a:rPr>
                          <m:t>𝟎</m:t>
                        </m:r>
                      </m:sub>
                    </m:sSub>
                    <m:r>
                      <a:rPr lang="en-US" altLang="zh-CN" sz="2000" b="1" i="1">
                        <a:solidFill>
                          <a:srgbClr val="C00000"/>
                        </a:solidFill>
                        <a:latin typeface="Cambria Math" panose="02040503050406030204" pitchFamily="18" charset="0"/>
                        <a:ea typeface="楷体" panose="02010609060101010101" pitchFamily="49" charset="-122"/>
                      </a:rPr>
                      <m:t>, </m:t>
                    </m:r>
                    <m:sSub>
                      <m:sSubPr>
                        <m:ctrlPr>
                          <a:rPr lang="en-US" altLang="zh-CN" sz="2000" b="1" i="1">
                            <a:solidFill>
                              <a:srgbClr val="C00000"/>
                            </a:solidFill>
                            <a:latin typeface="Cambria Math" panose="02040503050406030204" pitchFamily="18" charset="0"/>
                            <a:ea typeface="楷体" panose="02010609060101010101" pitchFamily="49" charset="-122"/>
                          </a:rPr>
                        </m:ctrlPr>
                      </m:sSubPr>
                      <m:e>
                        <m:r>
                          <a:rPr lang="en-US" altLang="zh-CN" sz="2000" b="1" i="1">
                            <a:solidFill>
                              <a:srgbClr val="C00000"/>
                            </a:solidFill>
                            <a:latin typeface="Cambria Math" panose="02040503050406030204" pitchFamily="18" charset="0"/>
                            <a:ea typeface="楷体" panose="02010609060101010101" pitchFamily="49" charset="-122"/>
                          </a:rPr>
                          <m:t>𝒎</m:t>
                        </m:r>
                      </m:e>
                      <m:sub>
                        <m:r>
                          <a:rPr lang="en-US" altLang="zh-CN" sz="2000" b="1" i="1">
                            <a:solidFill>
                              <a:srgbClr val="C00000"/>
                            </a:solidFill>
                            <a:latin typeface="Cambria Math" panose="02040503050406030204" pitchFamily="18" charset="0"/>
                            <a:ea typeface="楷体" panose="02010609060101010101" pitchFamily="49" charset="-122"/>
                          </a:rPr>
                          <m:t>𝟏</m:t>
                        </m:r>
                      </m:sub>
                    </m:sSub>
                    <m:r>
                      <a:rPr lang="en-US" altLang="zh-CN" sz="2000" b="1" i="1">
                        <a:solidFill>
                          <a:srgbClr val="C00000"/>
                        </a:solidFill>
                        <a:latin typeface="Cambria Math" panose="02040503050406030204" pitchFamily="18" charset="0"/>
                        <a:ea typeface="楷体" panose="02010609060101010101" pitchFamily="49" charset="-122"/>
                      </a:rPr>
                      <m:t>, ⋯, </m:t>
                    </m:r>
                    <m:sSub>
                      <m:sSubPr>
                        <m:ctrlPr>
                          <a:rPr lang="en-US" altLang="zh-CN" sz="2000" b="1" i="1">
                            <a:solidFill>
                              <a:srgbClr val="C00000"/>
                            </a:solidFill>
                            <a:latin typeface="Cambria Math" panose="02040503050406030204" pitchFamily="18" charset="0"/>
                            <a:ea typeface="楷体" panose="02010609060101010101" pitchFamily="49" charset="-122"/>
                          </a:rPr>
                        </m:ctrlPr>
                      </m:sSubPr>
                      <m:e>
                        <m:r>
                          <a:rPr lang="en-US" altLang="zh-CN" sz="2000" b="1" i="1">
                            <a:solidFill>
                              <a:srgbClr val="C00000"/>
                            </a:solidFill>
                            <a:latin typeface="Cambria Math" panose="02040503050406030204" pitchFamily="18" charset="0"/>
                            <a:ea typeface="楷体" panose="02010609060101010101" pitchFamily="49" charset="-122"/>
                          </a:rPr>
                          <m:t>𝒎</m:t>
                        </m:r>
                      </m:e>
                      <m:sub>
                        <m:sSup>
                          <m:sSupPr>
                            <m:ctrlPr>
                              <a:rPr lang="en-US" altLang="zh-CN" sz="2000" b="1" i="1" smtClean="0">
                                <a:solidFill>
                                  <a:srgbClr val="C00000"/>
                                </a:solidFill>
                                <a:latin typeface="Cambria Math" panose="02040503050406030204" pitchFamily="18" charset="0"/>
                                <a:ea typeface="楷体" panose="02010609060101010101" pitchFamily="49" charset="-122"/>
                              </a:rPr>
                            </m:ctrlPr>
                          </m:sSupPr>
                          <m:e>
                            <m:r>
                              <a:rPr lang="en-US" altLang="zh-CN" sz="2000" b="1" i="1" smtClean="0">
                                <a:solidFill>
                                  <a:srgbClr val="C00000"/>
                                </a:solidFill>
                                <a:latin typeface="Cambria Math" panose="02040503050406030204" pitchFamily="18" charset="0"/>
                                <a:ea typeface="楷体" panose="02010609060101010101" pitchFamily="49" charset="-122"/>
                              </a:rPr>
                              <m:t>𝟐</m:t>
                            </m:r>
                          </m:e>
                          <m:sup>
                            <m:r>
                              <a:rPr lang="en-US" altLang="zh-CN" sz="2000" b="1" i="1" smtClean="0">
                                <a:solidFill>
                                  <a:srgbClr val="C00000"/>
                                </a:solidFill>
                                <a:latin typeface="Cambria Math" panose="02040503050406030204" pitchFamily="18" charset="0"/>
                                <a:ea typeface="楷体" panose="02010609060101010101" pitchFamily="49" charset="-122"/>
                              </a:rPr>
                              <m:t>𝒏</m:t>
                            </m:r>
                          </m:sup>
                        </m:sSup>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𝟏</m:t>
                        </m:r>
                      </m:sub>
                    </m:sSub>
                  </m:oMath>
                </a14:m>
                <a:r>
                  <a:rPr lang="zh-CN" altLang="en-US" sz="2000" b="1">
                    <a:solidFill>
                      <a:srgbClr val="C00000"/>
                    </a:solidFill>
                    <a:latin typeface="楷体" panose="02010609060101010101" pitchFamily="49" charset="-122"/>
                    <a:ea typeface="楷体" panose="02010609060101010101" pitchFamily="49" charset="-122"/>
                  </a:rPr>
                  <a:t>命名</a:t>
                </a:r>
              </a:p>
            </p:txBody>
          </p:sp>
        </mc:Choice>
        <mc:Fallback xmlns="">
          <p:sp>
            <p:nvSpPr>
              <p:cNvPr id="2" name="文本框 1">
                <a:extLst>
                  <a:ext uri="{FF2B5EF4-FFF2-40B4-BE49-F238E27FC236}">
                    <a16:creationId xmlns:a16="http://schemas.microsoft.com/office/drawing/2014/main" id="{F715C2D6-62FC-4FAB-921D-4D86EE731D22}"/>
                  </a:ext>
                </a:extLst>
              </p:cNvPr>
              <p:cNvSpPr txBox="1">
                <a:spLocks noRot="1" noChangeAspect="1" noMove="1" noResize="1" noEditPoints="1" noAdjustHandles="1" noChangeArrowheads="1" noChangeShapeType="1" noTextEdit="1"/>
              </p:cNvSpPr>
              <p:nvPr/>
            </p:nvSpPr>
            <p:spPr>
              <a:xfrm>
                <a:off x="636170" y="1026342"/>
                <a:ext cx="8012512" cy="2577629"/>
              </a:xfrm>
              <a:prstGeom prst="rect">
                <a:avLst/>
              </a:prstGeom>
              <a:blipFill>
                <a:blip r:embed="rId2"/>
                <a:stretch>
                  <a:fillRect l="-760" t="-1655" b="-30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8DF299C0-8599-419E-A8DF-748B63AD930B}"/>
                  </a:ext>
                </a:extLst>
              </p:cNvPr>
              <p:cNvGraphicFramePr>
                <a:graphicFrameLocks noGrp="1"/>
              </p:cNvGraphicFramePr>
              <p:nvPr>
                <p:extLst>
                  <p:ext uri="{D42A27DB-BD31-4B8C-83A1-F6EECF244321}">
                    <p14:modId xmlns:p14="http://schemas.microsoft.com/office/powerpoint/2010/main" val="1832436441"/>
                  </p:ext>
                </p:extLst>
              </p:nvPr>
            </p:nvGraphicFramePr>
            <p:xfrm>
              <a:off x="4498998" y="3947804"/>
              <a:ext cx="7103593" cy="2231661"/>
            </p:xfrm>
            <a:graphic>
              <a:graphicData uri="http://schemas.openxmlformats.org/drawingml/2006/table">
                <a:tbl>
                  <a:tblPr firstRow="1">
                    <a:tableStyleId>{5C22544A-7EE6-4342-B048-85BDC9FD1C3A}</a:tableStyleId>
                  </a:tblPr>
                  <a:tblGrid>
                    <a:gridCol w="1739873">
                      <a:extLst>
                        <a:ext uri="{9D8B030D-6E8A-4147-A177-3AD203B41FA5}">
                          <a16:colId xmlns:a16="http://schemas.microsoft.com/office/drawing/2014/main" val="1790152541"/>
                        </a:ext>
                      </a:extLst>
                    </a:gridCol>
                    <a:gridCol w="960665">
                      <a:extLst>
                        <a:ext uri="{9D8B030D-6E8A-4147-A177-3AD203B41FA5}">
                          <a16:colId xmlns:a16="http://schemas.microsoft.com/office/drawing/2014/main" val="1035986538"/>
                        </a:ext>
                      </a:extLst>
                    </a:gridCol>
                    <a:gridCol w="848589">
                      <a:extLst>
                        <a:ext uri="{9D8B030D-6E8A-4147-A177-3AD203B41FA5}">
                          <a16:colId xmlns:a16="http://schemas.microsoft.com/office/drawing/2014/main" val="1504876812"/>
                        </a:ext>
                      </a:extLst>
                    </a:gridCol>
                    <a:gridCol w="1849282">
                      <a:extLst>
                        <a:ext uri="{9D8B030D-6E8A-4147-A177-3AD203B41FA5}">
                          <a16:colId xmlns:a16="http://schemas.microsoft.com/office/drawing/2014/main" val="2001225579"/>
                        </a:ext>
                      </a:extLst>
                    </a:gridCol>
                    <a:gridCol w="920638">
                      <a:extLst>
                        <a:ext uri="{9D8B030D-6E8A-4147-A177-3AD203B41FA5}">
                          <a16:colId xmlns:a16="http://schemas.microsoft.com/office/drawing/2014/main" val="1787477891"/>
                        </a:ext>
                      </a:extLst>
                    </a:gridCol>
                    <a:gridCol w="784546">
                      <a:extLst>
                        <a:ext uri="{9D8B030D-6E8A-4147-A177-3AD203B41FA5}">
                          <a16:colId xmlns:a16="http://schemas.microsoft.com/office/drawing/2014/main" val="3332346248"/>
                        </a:ext>
                      </a:extLst>
                    </a:gridCol>
                  </a:tblGrid>
                  <a:tr h="387236">
                    <a:tc gridSpan="6">
                      <a:txBody>
                        <a:bodyPr/>
                        <a:lstStyle/>
                        <a:p>
                          <a:pPr algn="ctr"/>
                          <a:r>
                            <a:rPr lang="zh-CN" altLang="en-US" sz="2000"/>
                            <a:t>含三个命题变量</a:t>
                          </a:r>
                          <a14:m>
                            <m:oMath xmlns:m="http://schemas.openxmlformats.org/officeDocument/2006/math">
                              <m:r>
                                <a:rPr lang="en-US" altLang="zh-CN" sz="2000" i="1" smtClean="0">
                                  <a:latin typeface="Cambria Math" panose="02040503050406030204" pitchFamily="18" charset="0"/>
                                </a:rPr>
                                <m:t>𝑝</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𝒒</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𝒓</m:t>
                              </m:r>
                            </m:oMath>
                          </a14:m>
                          <a:r>
                            <a:rPr lang="zh-CN" altLang="en-US" sz="2000"/>
                            <a:t>的极小项的编码</a:t>
                          </a:r>
                          <a:r>
                            <a:rPr lang="en-US" altLang="zh-CN" sz="2000"/>
                            <a:t>(</a:t>
                          </a:r>
                          <a:r>
                            <a:rPr lang="zh-CN" altLang="en-US" sz="2000"/>
                            <a:t>固定顺序</a:t>
                          </a:r>
                          <a14:m>
                            <m:oMath xmlns:m="http://schemas.openxmlformats.org/officeDocument/2006/math">
                              <m:r>
                                <a:rPr lang="en-US" altLang="zh-CN" sz="2000" i="1" smtClean="0">
                                  <a:latin typeface="Cambria Math" panose="02040503050406030204" pitchFamily="18" charset="0"/>
                                </a:rPr>
                                <m:t>𝑝</m:t>
                              </m:r>
                              <m:r>
                                <a:rPr lang="en-US" altLang="zh-CN" sz="2000" i="1" smtClean="0">
                                  <a:latin typeface="Cambria Math" panose="02040503050406030204" pitchFamily="18" charset="0"/>
                                </a:rPr>
                                <m:t>,</m:t>
                              </m:r>
                              <m:r>
                                <a:rPr lang="en-US" altLang="zh-CN" sz="2000" i="1" smtClean="0">
                                  <a:latin typeface="Cambria Math" panose="02040503050406030204" pitchFamily="18" charset="0"/>
                                </a:rPr>
                                <m:t>𝑞</m:t>
                              </m:r>
                              <m:r>
                                <a:rPr lang="en-US" altLang="zh-CN" sz="2000" i="1" smtClean="0">
                                  <a:latin typeface="Cambria Math" panose="02040503050406030204" pitchFamily="18" charset="0"/>
                                </a:rPr>
                                <m:t>,</m:t>
                              </m:r>
                              <m:r>
                                <a:rPr lang="en-US" altLang="zh-CN" sz="2000" i="1" smtClean="0">
                                  <a:latin typeface="Cambria Math" panose="02040503050406030204" pitchFamily="18" charset="0"/>
                                </a:rPr>
                                <m:t>𝑟</m:t>
                              </m:r>
                            </m:oMath>
                          </a14:m>
                          <a:r>
                            <a:rPr lang="en-US" altLang="zh-CN" sz="2000"/>
                            <a:t>)</a:t>
                          </a:r>
                          <a:endParaRPr lang="zh-CN" altLang="en-US" sz="2000"/>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3932">
                    <a:tc>
                      <a:txBody>
                        <a:bodyPr/>
                        <a:lstStyle/>
                        <a:p>
                          <a:pPr algn="ctr">
                            <a:lnSpc>
                              <a:spcPts val="1800"/>
                            </a:lnSpc>
                          </a:pPr>
                          <a:r>
                            <a:rPr lang="zh-CN" altLang="en-US" sz="20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3932">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𝟎𝟎𝟎</m:t>
                                </m:r>
                              </m:oMath>
                            </m:oMathPara>
                          </a14:m>
                          <a:endParaRPr lang="zh-CN" altLang="en-US" sz="20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𝒎</m:t>
                                    </m:r>
                                  </m:e>
                                  <m:sub>
                                    <m:r>
                                      <a:rPr lang="en-US" altLang="zh-CN" sz="2000" b="1" i="1" smtClean="0">
                                        <a:solidFill>
                                          <a:srgbClr val="002060"/>
                                        </a:solidFill>
                                        <a:latin typeface="Cambria Math" panose="02040503050406030204" pitchFamily="18" charset="0"/>
                                      </a:rPr>
                                      <m:t>𝟎</m:t>
                                    </m:r>
                                  </m:sub>
                                </m:sSub>
                              </m:oMath>
                            </m:oMathPara>
                          </a14:m>
                          <a:endParaRPr lang="zh-CN" altLang="en-US" sz="20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𝟏𝟎𝟎</m:t>
                                </m:r>
                              </m:oMath>
                            </m:oMathPara>
                          </a14:m>
                          <a:endParaRPr lang="zh-CN" altLang="en-US" sz="20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1" kern="1200" smtClean="0">
                                        <a:solidFill>
                                          <a:srgbClr val="002060"/>
                                        </a:solidFill>
                                        <a:latin typeface="Cambria Math" panose="02040503050406030204" pitchFamily="18" charset="0"/>
                                        <a:ea typeface="+mn-ea"/>
                                        <a:cs typeface="+mn-cs"/>
                                      </a:rPr>
                                      <m:t>𝟒</m:t>
                                    </m:r>
                                  </m:sub>
                                </m:sSub>
                              </m:oMath>
                            </m:oMathPara>
                          </a14:m>
                          <a:endParaRPr lang="zh-CN" altLang="en-US" sz="20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r h="362519">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kern="1200" smtClean="0">
                                    <a:solidFill>
                                      <a:srgbClr val="C00000"/>
                                    </a:solidFill>
                                    <a:latin typeface="Cambria Math" panose="02040503050406030204" pitchFamily="18" charset="0"/>
                                    <a:ea typeface="+mn-ea"/>
                                    <a:cs typeface="+mn-cs"/>
                                  </a:rPr>
                                  <m:t>𝟎𝟎𝟏</m:t>
                                </m:r>
                              </m:oMath>
                            </m:oMathPara>
                          </a14:m>
                          <a:endParaRPr lang="zh-CN" altLang="en-US" sz="20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0" kern="1200" smtClean="0">
                                        <a:solidFill>
                                          <a:srgbClr val="002060"/>
                                        </a:solidFill>
                                        <a:latin typeface="Cambria Math" panose="02040503050406030204" pitchFamily="18" charset="0"/>
                                        <a:ea typeface="+mn-ea"/>
                                        <a:cs typeface="+mn-cs"/>
                                      </a:rPr>
                                      <m:t>𝟏</m:t>
                                    </m:r>
                                  </m:sub>
                                </m:sSub>
                              </m:oMath>
                            </m:oMathPara>
                          </a14:m>
                          <a:endParaRPr lang="zh-CN" altLang="en-US" sz="20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kern="1200" smtClean="0">
                                    <a:solidFill>
                                      <a:srgbClr val="C00000"/>
                                    </a:solidFill>
                                    <a:latin typeface="Cambria Math" panose="02040503050406030204" pitchFamily="18" charset="0"/>
                                    <a:ea typeface="+mn-ea"/>
                                    <a:cs typeface="+mn-cs"/>
                                  </a:rPr>
                                  <m:t>𝟏𝟎𝟏</m:t>
                                </m:r>
                              </m:oMath>
                            </m:oMathPara>
                          </a14:m>
                          <a:endParaRPr lang="zh-CN" altLang="en-US" sz="20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1" kern="1200" smtClean="0">
                                        <a:solidFill>
                                          <a:srgbClr val="002060"/>
                                        </a:solidFill>
                                        <a:latin typeface="Cambria Math" panose="02040503050406030204" pitchFamily="18" charset="0"/>
                                        <a:ea typeface="+mn-ea"/>
                                        <a:cs typeface="+mn-cs"/>
                                      </a:rPr>
                                      <m:t>𝟓</m:t>
                                    </m:r>
                                  </m:sub>
                                </m:sSub>
                              </m:oMath>
                            </m:oMathPara>
                          </a14:m>
                          <a:endParaRPr lang="zh-CN" altLang="en-US" sz="20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4202317707"/>
                      </a:ext>
                    </a:extLst>
                  </a:tr>
                  <a:tr h="362519">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𝟎𝟏𝟎</m:t>
                                </m:r>
                              </m:oMath>
                            </m:oMathPara>
                          </a14:m>
                          <a:endParaRPr lang="zh-CN" altLang="en-US" sz="20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𝒎</m:t>
                                    </m:r>
                                  </m:e>
                                  <m:sub>
                                    <m:r>
                                      <a:rPr lang="en-US" altLang="zh-CN" sz="2000" b="1" i="1" smtClean="0">
                                        <a:solidFill>
                                          <a:srgbClr val="002060"/>
                                        </a:solidFill>
                                        <a:latin typeface="Cambria Math" panose="02040503050406030204" pitchFamily="18" charset="0"/>
                                      </a:rPr>
                                      <m:t>𝟐</m:t>
                                    </m:r>
                                  </m:sub>
                                </m:sSub>
                              </m:oMath>
                            </m:oMathPara>
                          </a14:m>
                          <a:endParaRPr lang="zh-CN" altLang="en-US" sz="20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𝟏𝟏𝟎</m:t>
                                </m:r>
                              </m:oMath>
                            </m:oMathPara>
                          </a14:m>
                          <a:endParaRPr lang="zh-CN" altLang="en-US" sz="20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1" kern="1200" smtClean="0">
                                        <a:solidFill>
                                          <a:srgbClr val="002060"/>
                                        </a:solidFill>
                                        <a:latin typeface="Cambria Math" panose="02040503050406030204" pitchFamily="18" charset="0"/>
                                        <a:ea typeface="+mn-ea"/>
                                        <a:cs typeface="+mn-cs"/>
                                      </a:rPr>
                                      <m:t>𝟔</m:t>
                                    </m:r>
                                  </m:sub>
                                </m:sSub>
                              </m:oMath>
                            </m:oMathPara>
                          </a14:m>
                          <a:endParaRPr lang="zh-CN" altLang="en-US" sz="20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838677932"/>
                      </a:ext>
                    </a:extLst>
                  </a:tr>
                  <a:tr h="362519">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i="1" kern="1200">
                            <a:solidFill>
                              <a:schemeClr val="accent6">
                                <a:lumMod val="50000"/>
                              </a:schemeClr>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kern="1200" smtClean="0">
                                    <a:solidFill>
                                      <a:srgbClr val="C00000"/>
                                    </a:solidFill>
                                    <a:latin typeface="Cambria Math" panose="02040503050406030204" pitchFamily="18" charset="0"/>
                                    <a:ea typeface="+mn-ea"/>
                                    <a:cs typeface="+mn-cs"/>
                                  </a:rPr>
                                  <m:t>𝟎𝟏𝟏</m:t>
                                </m:r>
                              </m:oMath>
                            </m:oMathPara>
                          </a14:m>
                          <a:endParaRPr lang="zh-CN" altLang="en-US" sz="20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1" kern="1200" smtClean="0">
                                        <a:solidFill>
                                          <a:srgbClr val="002060"/>
                                        </a:solidFill>
                                        <a:latin typeface="Cambria Math" panose="02040503050406030204" pitchFamily="18" charset="0"/>
                                        <a:ea typeface="+mn-ea"/>
                                        <a:cs typeface="+mn-cs"/>
                                      </a:rPr>
                                      <m:t>𝟑</m:t>
                                    </m:r>
                                  </m:sub>
                                </m:sSub>
                              </m:oMath>
                            </m:oMathPara>
                          </a14:m>
                          <a:endParaRPr lang="zh-CN" altLang="en-US" sz="20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𝒓</m:t>
                                </m:r>
                              </m:oMath>
                            </m:oMathPara>
                          </a14:m>
                          <a:endParaRPr lang="zh-CN" altLang="en-US" sz="2000" b="1" i="1" kern="1200">
                            <a:solidFill>
                              <a:schemeClr val="accent6">
                                <a:lumMod val="50000"/>
                              </a:schemeClr>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kern="1200" smtClean="0">
                                    <a:solidFill>
                                      <a:srgbClr val="C00000"/>
                                    </a:solidFill>
                                    <a:latin typeface="Cambria Math" panose="02040503050406030204" pitchFamily="18" charset="0"/>
                                    <a:ea typeface="+mn-ea"/>
                                    <a:cs typeface="+mn-cs"/>
                                  </a:rPr>
                                  <m:t>𝟏𝟏𝟏</m:t>
                                </m:r>
                              </m:oMath>
                            </m:oMathPara>
                          </a14:m>
                          <a:endParaRPr lang="zh-CN" altLang="en-US" sz="20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1" kern="1200" smtClean="0">
                                        <a:solidFill>
                                          <a:srgbClr val="002060"/>
                                        </a:solidFill>
                                        <a:latin typeface="Cambria Math" panose="02040503050406030204" pitchFamily="18" charset="0"/>
                                        <a:ea typeface="+mn-ea"/>
                                        <a:cs typeface="+mn-cs"/>
                                      </a:rPr>
                                      <m:t>𝟕</m:t>
                                    </m:r>
                                  </m:sub>
                                </m:sSub>
                              </m:oMath>
                            </m:oMathPara>
                          </a14:m>
                          <a:endParaRPr lang="zh-CN" altLang="en-US" sz="20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351949"/>
                      </a:ext>
                    </a:extLst>
                  </a:tr>
                </a:tbl>
              </a:graphicData>
            </a:graphic>
          </p:graphicFrame>
        </mc:Choice>
        <mc:Fallback xmlns="">
          <p:graphicFrame>
            <p:nvGraphicFramePr>
              <p:cNvPr id="11" name="表格 10">
                <a:extLst>
                  <a:ext uri="{FF2B5EF4-FFF2-40B4-BE49-F238E27FC236}">
                    <a16:creationId xmlns:a16="http://schemas.microsoft.com/office/drawing/2014/main" id="{8DF299C0-8599-419E-A8DF-748B63AD930B}"/>
                  </a:ext>
                </a:extLst>
              </p:cNvPr>
              <p:cNvGraphicFramePr>
                <a:graphicFrameLocks noGrp="1"/>
              </p:cNvGraphicFramePr>
              <p:nvPr>
                <p:extLst>
                  <p:ext uri="{D42A27DB-BD31-4B8C-83A1-F6EECF244321}">
                    <p14:modId xmlns:p14="http://schemas.microsoft.com/office/powerpoint/2010/main" val="1832436441"/>
                  </p:ext>
                </p:extLst>
              </p:nvPr>
            </p:nvGraphicFramePr>
            <p:xfrm>
              <a:off x="4498998" y="3947804"/>
              <a:ext cx="7103593" cy="2231661"/>
            </p:xfrm>
            <a:graphic>
              <a:graphicData uri="http://schemas.openxmlformats.org/drawingml/2006/table">
                <a:tbl>
                  <a:tblPr firstRow="1">
                    <a:tableStyleId>{5C22544A-7EE6-4342-B048-85BDC9FD1C3A}</a:tableStyleId>
                  </a:tblPr>
                  <a:tblGrid>
                    <a:gridCol w="1739873">
                      <a:extLst>
                        <a:ext uri="{9D8B030D-6E8A-4147-A177-3AD203B41FA5}">
                          <a16:colId xmlns:a16="http://schemas.microsoft.com/office/drawing/2014/main" val="1790152541"/>
                        </a:ext>
                      </a:extLst>
                    </a:gridCol>
                    <a:gridCol w="960665">
                      <a:extLst>
                        <a:ext uri="{9D8B030D-6E8A-4147-A177-3AD203B41FA5}">
                          <a16:colId xmlns:a16="http://schemas.microsoft.com/office/drawing/2014/main" val="1035986538"/>
                        </a:ext>
                      </a:extLst>
                    </a:gridCol>
                    <a:gridCol w="848589">
                      <a:extLst>
                        <a:ext uri="{9D8B030D-6E8A-4147-A177-3AD203B41FA5}">
                          <a16:colId xmlns:a16="http://schemas.microsoft.com/office/drawing/2014/main" val="1504876812"/>
                        </a:ext>
                      </a:extLst>
                    </a:gridCol>
                    <a:gridCol w="1849282">
                      <a:extLst>
                        <a:ext uri="{9D8B030D-6E8A-4147-A177-3AD203B41FA5}">
                          <a16:colId xmlns:a16="http://schemas.microsoft.com/office/drawing/2014/main" val="2001225579"/>
                        </a:ext>
                      </a:extLst>
                    </a:gridCol>
                    <a:gridCol w="920638">
                      <a:extLst>
                        <a:ext uri="{9D8B030D-6E8A-4147-A177-3AD203B41FA5}">
                          <a16:colId xmlns:a16="http://schemas.microsoft.com/office/drawing/2014/main" val="1787477891"/>
                        </a:ext>
                      </a:extLst>
                    </a:gridCol>
                    <a:gridCol w="784546">
                      <a:extLst>
                        <a:ext uri="{9D8B030D-6E8A-4147-A177-3AD203B41FA5}">
                          <a16:colId xmlns:a16="http://schemas.microsoft.com/office/drawing/2014/main" val="3332346248"/>
                        </a:ext>
                      </a:extLst>
                    </a:gridCol>
                  </a:tblGrid>
                  <a:tr h="396240">
                    <a:tc gridSpan="6">
                      <a:txBody>
                        <a:bodyPr/>
                        <a:lstStyle/>
                        <a:p>
                          <a:endParaRPr lang="zh-CN"/>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72" t="-7692" r="-172" b="-470769"/>
                          </a:stretch>
                        </a:blip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3932">
                    <a:tc>
                      <a:txBody>
                        <a:bodyPr/>
                        <a:lstStyle/>
                        <a:p>
                          <a:pPr algn="ctr">
                            <a:lnSpc>
                              <a:spcPts val="1800"/>
                            </a:lnSpc>
                          </a:pPr>
                          <a:r>
                            <a:rPr lang="zh-CN" altLang="en-US" sz="20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3932">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699" t="-216393" r="-308392" b="-300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439" t="-216393" r="-461783" b="-300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857" t="-216393" r="-417857" b="-300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3069" t="-216393" r="-93069" b="-300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79" t="-216393" r="-86755" b="-300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5426" t="-216393" r="-1550" b="-300000"/>
                          </a:stretch>
                        </a:blipFill>
                      </a:tcPr>
                    </a:tc>
                    <a:extLst>
                      <a:ext uri="{0D108BD9-81ED-4DB2-BD59-A6C34878D82A}">
                        <a16:rowId xmlns:a16="http://schemas.microsoft.com/office/drawing/2014/main" val="1200295186"/>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699" t="-321667" r="-308392"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439" t="-321667" r="-461783"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857" t="-321667" r="-417857"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3069" t="-321667" r="-93069"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79" t="-321667" r="-86755"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5426" t="-321667" r="-1550" b="-205000"/>
                          </a:stretch>
                        </a:blipFill>
                      </a:tcPr>
                    </a:tc>
                    <a:extLst>
                      <a:ext uri="{0D108BD9-81ED-4DB2-BD59-A6C34878D82A}">
                        <a16:rowId xmlns:a16="http://schemas.microsoft.com/office/drawing/2014/main" val="4202317707"/>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699" t="-428814" r="-308392" b="-10847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439" t="-428814" r="-461783" b="-10847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857" t="-428814" r="-417857" b="-10847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3069" t="-428814" r="-93069" b="-10847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79" t="-428814" r="-86755" b="-10847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5426" t="-428814" r="-1550" b="-108475"/>
                          </a:stretch>
                        </a:blipFill>
                      </a:tcPr>
                    </a:tc>
                    <a:extLst>
                      <a:ext uri="{0D108BD9-81ED-4DB2-BD59-A6C34878D82A}">
                        <a16:rowId xmlns:a16="http://schemas.microsoft.com/office/drawing/2014/main" val="3838677932"/>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699" t="-520000" r="-308392" b="-6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439" t="-520000" r="-461783" b="-6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857" t="-520000" r="-417857" b="-6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3069" t="-520000" r="-93069" b="-6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79" t="-520000" r="-86755" b="-6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5426" t="-520000" r="-1550" b="-6667"/>
                          </a:stretch>
                        </a:blipFill>
                      </a:tcPr>
                    </a:tc>
                    <a:extLst>
                      <a:ext uri="{0D108BD9-81ED-4DB2-BD59-A6C34878D82A}">
                        <a16:rowId xmlns:a16="http://schemas.microsoft.com/office/drawing/2014/main" val="335194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表格 14">
                <a:extLst>
                  <a:ext uri="{FF2B5EF4-FFF2-40B4-BE49-F238E27FC236}">
                    <a16:creationId xmlns:a16="http://schemas.microsoft.com/office/drawing/2014/main" id="{F6E23643-BE09-4CB7-B696-8A8E251DC954}"/>
                  </a:ext>
                </a:extLst>
              </p:cNvPr>
              <p:cNvGraphicFramePr>
                <a:graphicFrameLocks noGrp="1"/>
              </p:cNvGraphicFramePr>
              <p:nvPr>
                <p:extLst>
                  <p:ext uri="{D42A27DB-BD31-4B8C-83A1-F6EECF244321}">
                    <p14:modId xmlns:p14="http://schemas.microsoft.com/office/powerpoint/2010/main" val="117095206"/>
                  </p:ext>
                </p:extLst>
              </p:nvPr>
            </p:nvGraphicFramePr>
            <p:xfrm>
              <a:off x="636170" y="3825885"/>
              <a:ext cx="3416847" cy="2475501"/>
            </p:xfrm>
            <a:graphic>
              <a:graphicData uri="http://schemas.openxmlformats.org/drawingml/2006/table">
                <a:tbl>
                  <a:tblPr firstRow="1">
                    <a:tableStyleId>{5C22544A-7EE6-4342-B048-85BDC9FD1C3A}</a:tableStyleId>
                  </a:tblPr>
                  <a:tblGrid>
                    <a:gridCol w="1634096">
                      <a:extLst>
                        <a:ext uri="{9D8B030D-6E8A-4147-A177-3AD203B41FA5}">
                          <a16:colId xmlns:a16="http://schemas.microsoft.com/office/drawing/2014/main" val="1790152541"/>
                        </a:ext>
                      </a:extLst>
                    </a:gridCol>
                    <a:gridCol w="920978">
                      <a:extLst>
                        <a:ext uri="{9D8B030D-6E8A-4147-A177-3AD203B41FA5}">
                          <a16:colId xmlns:a16="http://schemas.microsoft.com/office/drawing/2014/main" val="1035986538"/>
                        </a:ext>
                      </a:extLst>
                    </a:gridCol>
                    <a:gridCol w="861773">
                      <a:extLst>
                        <a:ext uri="{9D8B030D-6E8A-4147-A177-3AD203B41FA5}">
                          <a16:colId xmlns:a16="http://schemas.microsoft.com/office/drawing/2014/main" val="1504876812"/>
                        </a:ext>
                      </a:extLst>
                    </a:gridCol>
                  </a:tblGrid>
                  <a:tr h="387236">
                    <a:tc gridSpan="3">
                      <a:txBody>
                        <a:bodyPr/>
                        <a:lstStyle/>
                        <a:p>
                          <a:pPr algn="ctr"/>
                          <a:r>
                            <a:rPr lang="zh-CN" altLang="en-US" sz="1800"/>
                            <a:t>含两个变量</a:t>
                          </a:r>
                          <a14:m>
                            <m:oMath xmlns:m="http://schemas.openxmlformats.org/officeDocument/2006/math">
                              <m:r>
                                <a:rPr lang="en-US" altLang="zh-CN" sz="1800" i="1" smtClean="0">
                                  <a:latin typeface="Cambria Math" panose="02040503050406030204" pitchFamily="18" charset="0"/>
                                </a:rPr>
                                <m:t>𝑝</m:t>
                              </m:r>
                              <m:r>
                                <a:rPr lang="en-US" altLang="zh-CN" sz="1800" i="1" smtClean="0">
                                  <a:latin typeface="Cambria Math" panose="02040503050406030204" pitchFamily="18" charset="0"/>
                                </a:rPr>
                                <m:t>, </m:t>
                              </m:r>
                              <m:r>
                                <a:rPr lang="en-US" altLang="zh-CN" sz="1800" i="1" smtClean="0">
                                  <a:latin typeface="Cambria Math" panose="02040503050406030204" pitchFamily="18" charset="0"/>
                                </a:rPr>
                                <m:t>𝑞</m:t>
                              </m:r>
                            </m:oMath>
                          </a14:m>
                          <a:r>
                            <a:rPr lang="zh-CN" altLang="en-US" sz="1800"/>
                            <a:t>的极小项编码</a:t>
                          </a:r>
                          <a:endParaRPr lang="en-US" altLang="zh-CN" sz="1800"/>
                        </a:p>
                        <a:p>
                          <a:pPr algn="ctr"/>
                          <a:r>
                            <a:rPr lang="en-US" altLang="zh-CN" sz="1800"/>
                            <a:t>(</a:t>
                          </a:r>
                          <a:r>
                            <a:rPr lang="zh-CN" altLang="en-US" sz="1800"/>
                            <a:t>固定顺序</a:t>
                          </a:r>
                          <a14:m>
                            <m:oMath xmlns:m="http://schemas.openxmlformats.org/officeDocument/2006/math">
                              <m:r>
                                <a:rPr lang="en-US" altLang="zh-CN" sz="1800" i="1" smtClean="0">
                                  <a:latin typeface="Cambria Math" panose="02040503050406030204" pitchFamily="18" charset="0"/>
                                </a:rPr>
                                <m:t>𝑝</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𝑞</m:t>
                              </m:r>
                            </m:oMath>
                          </a14:m>
                          <a:r>
                            <a:rPr lang="en-US" altLang="zh-CN" sz="1800"/>
                            <a:t>)</a:t>
                          </a:r>
                          <a:endParaRPr lang="zh-CN" altLang="en-US" sz="1800"/>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03650435"/>
                      </a:ext>
                    </a:extLst>
                  </a:tr>
                  <a:tr h="373932">
                    <a:tc>
                      <a:txBody>
                        <a:bodyPr/>
                        <a:lstStyle/>
                        <a:p>
                          <a:pPr algn="ctr">
                            <a:lnSpc>
                              <a:spcPts val="1800"/>
                            </a:lnSpc>
                          </a:pPr>
                          <a:r>
                            <a:rPr lang="zh-CN" altLang="en-US" sz="20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3932">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𝟎𝟎</m:t>
                                </m:r>
                              </m:oMath>
                            </m:oMathPara>
                          </a14:m>
                          <a:endParaRPr lang="zh-CN" altLang="en-US" sz="20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𝒎</m:t>
                                    </m:r>
                                  </m:e>
                                  <m:sub>
                                    <m:r>
                                      <a:rPr lang="en-US" altLang="zh-CN" sz="2000" b="1" i="1" smtClean="0">
                                        <a:solidFill>
                                          <a:srgbClr val="002060"/>
                                        </a:solidFill>
                                        <a:latin typeface="Cambria Math" panose="02040503050406030204" pitchFamily="18" charset="0"/>
                                      </a:rPr>
                                      <m:t>𝟎</m:t>
                                    </m:r>
                                  </m:sub>
                                </m:sSub>
                              </m:oMath>
                            </m:oMathPara>
                          </a14:m>
                          <a:endParaRPr lang="zh-CN" altLang="en-US" sz="20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r h="362519">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kern="1200" smtClean="0">
                                    <a:solidFill>
                                      <a:srgbClr val="C00000"/>
                                    </a:solidFill>
                                    <a:latin typeface="Cambria Math" panose="02040503050406030204" pitchFamily="18" charset="0"/>
                                    <a:ea typeface="+mn-ea"/>
                                    <a:cs typeface="+mn-cs"/>
                                  </a:rPr>
                                  <m:t>𝟎𝟏</m:t>
                                </m:r>
                              </m:oMath>
                            </m:oMathPara>
                          </a14:m>
                          <a:endParaRPr lang="zh-CN" altLang="en-US" sz="20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0" kern="1200" smtClean="0">
                                        <a:solidFill>
                                          <a:srgbClr val="002060"/>
                                        </a:solidFill>
                                        <a:latin typeface="Cambria Math" panose="02040503050406030204" pitchFamily="18" charset="0"/>
                                        <a:ea typeface="+mn-ea"/>
                                        <a:cs typeface="+mn-cs"/>
                                      </a:rPr>
                                      <m:t>𝟏</m:t>
                                    </m:r>
                                  </m:sub>
                                </m:sSub>
                              </m:oMath>
                            </m:oMathPara>
                          </a14:m>
                          <a:endParaRPr lang="zh-CN" altLang="en-US" sz="20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4202317707"/>
                      </a:ext>
                    </a:extLst>
                  </a:tr>
                  <a:tr h="362519">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oMath>
                            </m:oMathPara>
                          </a14:m>
                          <a:endParaRPr lang="zh-CN" altLang="en-US" sz="20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𝟏𝟎</m:t>
                                </m:r>
                              </m:oMath>
                            </m:oMathPara>
                          </a14:m>
                          <a:endParaRPr lang="zh-CN" altLang="en-US" sz="20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𝒎</m:t>
                                    </m:r>
                                  </m:e>
                                  <m:sub>
                                    <m:r>
                                      <a:rPr lang="en-US" altLang="zh-CN" sz="2000" b="1" i="1" smtClean="0">
                                        <a:solidFill>
                                          <a:srgbClr val="002060"/>
                                        </a:solidFill>
                                        <a:latin typeface="Cambria Math" panose="02040503050406030204" pitchFamily="18" charset="0"/>
                                      </a:rPr>
                                      <m:t>𝟐</m:t>
                                    </m:r>
                                  </m:sub>
                                </m:sSub>
                              </m:oMath>
                            </m:oMathPara>
                          </a14:m>
                          <a:endParaRPr lang="zh-CN" altLang="en-US" sz="20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838677932"/>
                      </a:ext>
                    </a:extLst>
                  </a:tr>
                  <a:tr h="362519">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rPr>
                                  <m:t>𝒑</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𝒒</m:t>
                                </m:r>
                              </m:oMath>
                            </m:oMathPara>
                          </a14:m>
                          <a:endParaRPr lang="zh-CN" altLang="en-US" sz="2000" b="1" i="1" kern="1200">
                            <a:solidFill>
                              <a:schemeClr val="accent6">
                                <a:lumMod val="50000"/>
                              </a:schemeClr>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2000" b="1" i="1" kern="1200" smtClean="0">
                                    <a:solidFill>
                                      <a:srgbClr val="C00000"/>
                                    </a:solidFill>
                                    <a:latin typeface="Cambria Math" panose="02040503050406030204" pitchFamily="18" charset="0"/>
                                    <a:ea typeface="+mn-ea"/>
                                    <a:cs typeface="+mn-cs"/>
                                  </a:rPr>
                                  <m:t>𝟏𝟏</m:t>
                                </m:r>
                              </m:oMath>
                            </m:oMathPara>
                          </a14:m>
                          <a:endParaRPr lang="zh-CN" altLang="en-US" sz="20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2000" b="1" i="1" kern="1200" smtClean="0">
                                        <a:solidFill>
                                          <a:srgbClr val="002060"/>
                                        </a:solidFill>
                                        <a:latin typeface="Cambria Math" panose="02040503050406030204" pitchFamily="18" charset="0"/>
                                        <a:ea typeface="+mn-ea"/>
                                        <a:cs typeface="+mn-cs"/>
                                      </a:rPr>
                                    </m:ctrlPr>
                                  </m:sSubPr>
                                  <m:e>
                                    <m:r>
                                      <a:rPr lang="en-US" altLang="zh-CN" sz="2000" b="1" i="1" kern="1200" smtClean="0">
                                        <a:solidFill>
                                          <a:srgbClr val="002060"/>
                                        </a:solidFill>
                                        <a:latin typeface="Cambria Math" panose="02040503050406030204" pitchFamily="18" charset="0"/>
                                        <a:ea typeface="+mn-ea"/>
                                        <a:cs typeface="+mn-cs"/>
                                      </a:rPr>
                                      <m:t>𝒎</m:t>
                                    </m:r>
                                  </m:e>
                                  <m:sub>
                                    <m:r>
                                      <a:rPr lang="en-US" altLang="zh-CN" sz="2000" b="1" i="1" kern="1200" smtClean="0">
                                        <a:solidFill>
                                          <a:srgbClr val="002060"/>
                                        </a:solidFill>
                                        <a:latin typeface="Cambria Math" panose="02040503050406030204" pitchFamily="18" charset="0"/>
                                        <a:ea typeface="+mn-ea"/>
                                        <a:cs typeface="+mn-cs"/>
                                      </a:rPr>
                                      <m:t>𝟑</m:t>
                                    </m:r>
                                  </m:sub>
                                </m:sSub>
                              </m:oMath>
                            </m:oMathPara>
                          </a14:m>
                          <a:endParaRPr lang="zh-CN" altLang="en-US" sz="20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351949"/>
                      </a:ext>
                    </a:extLst>
                  </a:tr>
                </a:tbl>
              </a:graphicData>
            </a:graphic>
          </p:graphicFrame>
        </mc:Choice>
        <mc:Fallback xmlns="">
          <p:graphicFrame>
            <p:nvGraphicFramePr>
              <p:cNvPr id="15" name="表格 14">
                <a:extLst>
                  <a:ext uri="{FF2B5EF4-FFF2-40B4-BE49-F238E27FC236}">
                    <a16:creationId xmlns:a16="http://schemas.microsoft.com/office/drawing/2014/main" id="{F6E23643-BE09-4CB7-B696-8A8E251DC954}"/>
                  </a:ext>
                </a:extLst>
              </p:cNvPr>
              <p:cNvGraphicFramePr>
                <a:graphicFrameLocks noGrp="1"/>
              </p:cNvGraphicFramePr>
              <p:nvPr>
                <p:extLst>
                  <p:ext uri="{D42A27DB-BD31-4B8C-83A1-F6EECF244321}">
                    <p14:modId xmlns:p14="http://schemas.microsoft.com/office/powerpoint/2010/main" val="117095206"/>
                  </p:ext>
                </p:extLst>
              </p:nvPr>
            </p:nvGraphicFramePr>
            <p:xfrm>
              <a:off x="636170" y="3825885"/>
              <a:ext cx="3416847" cy="2475501"/>
            </p:xfrm>
            <a:graphic>
              <a:graphicData uri="http://schemas.openxmlformats.org/drawingml/2006/table">
                <a:tbl>
                  <a:tblPr firstRow="1">
                    <a:tableStyleId>{5C22544A-7EE6-4342-B048-85BDC9FD1C3A}</a:tableStyleId>
                  </a:tblPr>
                  <a:tblGrid>
                    <a:gridCol w="1634096">
                      <a:extLst>
                        <a:ext uri="{9D8B030D-6E8A-4147-A177-3AD203B41FA5}">
                          <a16:colId xmlns:a16="http://schemas.microsoft.com/office/drawing/2014/main" val="1790152541"/>
                        </a:ext>
                      </a:extLst>
                    </a:gridCol>
                    <a:gridCol w="920978">
                      <a:extLst>
                        <a:ext uri="{9D8B030D-6E8A-4147-A177-3AD203B41FA5}">
                          <a16:colId xmlns:a16="http://schemas.microsoft.com/office/drawing/2014/main" val="1035986538"/>
                        </a:ext>
                      </a:extLst>
                    </a:gridCol>
                    <a:gridCol w="861773">
                      <a:extLst>
                        <a:ext uri="{9D8B030D-6E8A-4147-A177-3AD203B41FA5}">
                          <a16:colId xmlns:a16="http://schemas.microsoft.com/office/drawing/2014/main" val="1504876812"/>
                        </a:ext>
                      </a:extLst>
                    </a:gridCol>
                  </a:tblGrid>
                  <a:tr h="640080">
                    <a:tc gridSpan="3">
                      <a:txBody>
                        <a:bodyPr/>
                        <a:lstStyle/>
                        <a:p>
                          <a:endParaRPr lang="zh-CN"/>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78" t="-4762" r="-357" b="-291429"/>
                          </a:stretch>
                        </a:blip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03650435"/>
                      </a:ext>
                    </a:extLst>
                  </a:tr>
                  <a:tr h="373932">
                    <a:tc>
                      <a:txBody>
                        <a:bodyPr/>
                        <a:lstStyle/>
                        <a:p>
                          <a:pPr algn="ctr">
                            <a:lnSpc>
                              <a:spcPts val="1800"/>
                            </a:lnSpc>
                          </a:pPr>
                          <a:r>
                            <a:rPr lang="zh-CN" altLang="en-US" sz="20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20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3932">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73" t="-281967" r="-110075" b="-300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76974" t="-281967" r="-94079" b="-300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298582" t="-281967" r="-1418" b="-300000"/>
                          </a:stretch>
                        </a:blipFill>
                      </a:tcPr>
                    </a:tc>
                    <a:extLst>
                      <a:ext uri="{0D108BD9-81ED-4DB2-BD59-A6C34878D82A}">
                        <a16:rowId xmlns:a16="http://schemas.microsoft.com/office/drawing/2014/main" val="1200295186"/>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73" t="-388333" r="-110075"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76974" t="-388333" r="-94079"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298582" t="-388333" r="-1418" b="-205000"/>
                          </a:stretch>
                        </a:blipFill>
                      </a:tcPr>
                    </a:tc>
                    <a:extLst>
                      <a:ext uri="{0D108BD9-81ED-4DB2-BD59-A6C34878D82A}">
                        <a16:rowId xmlns:a16="http://schemas.microsoft.com/office/drawing/2014/main" val="4202317707"/>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73" t="-496610" r="-110075" b="-10847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76974" t="-496610" r="-94079" b="-10847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298582" t="-496610" r="-1418" b="-108475"/>
                          </a:stretch>
                        </a:blipFill>
                      </a:tcPr>
                    </a:tc>
                    <a:extLst>
                      <a:ext uri="{0D108BD9-81ED-4DB2-BD59-A6C34878D82A}">
                        <a16:rowId xmlns:a16="http://schemas.microsoft.com/office/drawing/2014/main" val="3838677932"/>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73" t="-586667" r="-110075" b="-6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76974" t="-586667" r="-94079" b="-6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298582" t="-586667" r="-1418" b="-6667"/>
                          </a:stretch>
                        </a:blipFill>
                      </a:tcPr>
                    </a:tc>
                    <a:extLst>
                      <a:ext uri="{0D108BD9-81ED-4DB2-BD59-A6C34878D82A}">
                        <a16:rowId xmlns:a16="http://schemas.microsoft.com/office/drawing/2014/main" val="3351949"/>
                      </a:ext>
                    </a:extLst>
                  </a:tr>
                </a:tbl>
              </a:graphicData>
            </a:graphic>
          </p:graphicFrame>
        </mc:Fallback>
      </mc:AlternateContent>
      <p:sp>
        <p:nvSpPr>
          <p:cNvPr id="4" name="文本框 3">
            <a:extLst>
              <a:ext uri="{FF2B5EF4-FFF2-40B4-BE49-F238E27FC236}">
                <a16:creationId xmlns:a16="http://schemas.microsoft.com/office/drawing/2014/main" id="{1EC518B6-9EF1-4816-99A5-F6E36264EF6B}"/>
              </a:ext>
            </a:extLst>
          </p:cNvPr>
          <p:cNvSpPr txBox="1"/>
          <p:nvPr/>
        </p:nvSpPr>
        <p:spPr>
          <a:xfrm>
            <a:off x="9069900" y="1807324"/>
            <a:ext cx="2532691" cy="1015663"/>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极小项的编码是使得该极小项的真值为</a:t>
            </a:r>
            <a:r>
              <a:rPr lang="en-US" altLang="zh-CN" sz="2000" b="1">
                <a:solidFill>
                  <a:schemeClr val="accent2">
                    <a:lumMod val="50000"/>
                  </a:schemeClr>
                </a:solidFill>
              </a:rPr>
              <a:t>1</a:t>
            </a:r>
            <a:r>
              <a:rPr lang="zh-CN" altLang="en-US" sz="2000" b="1">
                <a:solidFill>
                  <a:schemeClr val="accent2">
                    <a:lumMod val="50000"/>
                  </a:schemeClr>
                </a:solidFill>
              </a:rPr>
              <a:t>的唯一真值赋值方式</a:t>
            </a:r>
          </a:p>
        </p:txBody>
      </p:sp>
    </p:spTree>
    <p:extLst>
      <p:ext uri="{BB962C8B-B14F-4D97-AF65-F5344CB8AC3E}">
        <p14:creationId xmlns:p14="http://schemas.microsoft.com/office/powerpoint/2010/main" val="1593098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极小项和极大项的编码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715C2D6-62FC-4FAB-921D-4D86EE731D22}"/>
                  </a:ext>
                </a:extLst>
              </p:cNvPr>
              <p:cNvSpPr txBox="1"/>
              <p:nvPr/>
            </p:nvSpPr>
            <p:spPr>
              <a:xfrm>
                <a:off x="495574" y="1155648"/>
                <a:ext cx="5203528" cy="2693045"/>
              </a:xfrm>
              <a:prstGeom prst="rect">
                <a:avLst/>
              </a:prstGeom>
              <a:solidFill>
                <a:schemeClr val="accent5">
                  <a:lumMod val="20000"/>
                  <a:lumOff val="80000"/>
                </a:schemeClr>
              </a:solidFill>
            </p:spPr>
            <p:txBody>
              <a:bodyPr wrap="square" rtlCol="0">
                <a:spAutoFit/>
              </a:bodyPr>
              <a:lstStyle/>
              <a:p>
                <a:pPr algn="ctr">
                  <a:spcBef>
                    <a:spcPts val="600"/>
                  </a:spcBef>
                  <a:spcAft>
                    <a:spcPts val="1200"/>
                  </a:spcAft>
                </a:pPr>
                <a:r>
                  <a:rPr lang="zh-CN" altLang="en-US" sz="2400" b="1">
                    <a:solidFill>
                      <a:srgbClr val="C00000"/>
                    </a:solidFill>
                  </a:rPr>
                  <a:t>极小项</a:t>
                </a:r>
                <a:r>
                  <a:rPr lang="zh-CN" altLang="en-US" sz="2400" b="1">
                    <a:solidFill>
                      <a:schemeClr val="accent6">
                        <a:lumMod val="50000"/>
                      </a:schemeClr>
                    </a:solidFill>
                  </a:rPr>
                  <a:t>的编码</a:t>
                </a:r>
                <a:endParaRPr lang="en-US" altLang="zh-CN" sz="2000" b="1">
                  <a:solidFill>
                    <a:schemeClr val="accent6">
                      <a:lumMod val="50000"/>
                    </a:schemeClr>
                  </a:solidFill>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含有第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个</a:t>
                </a:r>
                <a:r>
                  <a:rPr lang="zh-CN" altLang="en-US" sz="2000" b="1">
                    <a:solidFill>
                      <a:srgbClr val="C00000"/>
                    </a:solidFill>
                    <a:latin typeface="黑体" panose="02010609060101010101" pitchFamily="49" charset="-122"/>
                    <a:ea typeface="黑体" panose="02010609060101010101" pitchFamily="49" charset="-122"/>
                  </a:rPr>
                  <a:t>命题变量本身</a:t>
                </a:r>
                <a:r>
                  <a:rPr lang="zh-CN" altLang="en-US" sz="2000" b="1">
                    <a:solidFill>
                      <a:schemeClr val="accent6">
                        <a:lumMod val="50000"/>
                      </a:schemeClr>
                    </a:solidFill>
                    <a:latin typeface="宋体" panose="02010600030101010101" pitchFamily="2" charset="-122"/>
                    <a:ea typeface="宋体" panose="02010600030101010101" pitchFamily="2" charset="-122"/>
                  </a:rPr>
                  <a:t>则第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位</a:t>
                </a:r>
                <a:r>
                  <a:rPr lang="zh-CN" altLang="en-US" sz="2000" b="1">
                    <a:solidFill>
                      <a:srgbClr val="C00000"/>
                    </a:solidFill>
                    <a:latin typeface="黑体" panose="02010609060101010101" pitchFamily="49" charset="-122"/>
                    <a:ea typeface="黑体" panose="02010609060101010101" pitchFamily="49" charset="-122"/>
                  </a:rPr>
                  <a:t>编码为</a:t>
                </a:r>
                <a14:m>
                  <m:oMath xmlns:m="http://schemas.openxmlformats.org/officeDocument/2006/math">
                    <m:r>
                      <a:rPr lang="en-US" altLang="zh-CN" sz="2000" b="1">
                        <a:solidFill>
                          <a:srgbClr val="C00000"/>
                        </a:solidFill>
                        <a:latin typeface="Cambria Math" panose="02040503050406030204" pitchFamily="18" charset="0"/>
                        <a:ea typeface="黑体" panose="02010609060101010101" pitchFamily="49" charset="-122"/>
                      </a:rPr>
                      <m:t>𝟏</m:t>
                    </m:r>
                  </m:oMath>
                </a14:m>
                <a:endParaRPr lang="en-US" altLang="zh-CN" sz="2000" b="1">
                  <a:solidFill>
                    <a:srgbClr val="C00000"/>
                  </a:solidFill>
                  <a:latin typeface="黑体" panose="02010609060101010101" pitchFamily="49" charset="-122"/>
                  <a:ea typeface="黑体" panose="02010609060101010101" pitchFamily="49" charset="-122"/>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含有第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个</a:t>
                </a:r>
                <a:r>
                  <a:rPr lang="zh-CN" altLang="en-US" sz="2000" b="1">
                    <a:solidFill>
                      <a:srgbClr val="C00000"/>
                    </a:solidFill>
                    <a:latin typeface="黑体" panose="02010609060101010101" pitchFamily="49" charset="-122"/>
                    <a:ea typeface="黑体" panose="02010609060101010101" pitchFamily="49" charset="-122"/>
                  </a:rPr>
                  <a:t>命题变量的否定</a:t>
                </a:r>
                <a:r>
                  <a:rPr lang="zh-CN" altLang="en-US" sz="2000" b="1">
                    <a:solidFill>
                      <a:schemeClr val="accent6">
                        <a:lumMod val="50000"/>
                      </a:schemeClr>
                    </a:solidFill>
                    <a:latin typeface="宋体" panose="02010600030101010101" pitchFamily="2" charset="-122"/>
                    <a:ea typeface="宋体" panose="02010600030101010101" pitchFamily="2" charset="-122"/>
                  </a:rPr>
                  <a:t>则第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位</a:t>
                </a:r>
                <a:r>
                  <a:rPr lang="zh-CN" altLang="en-US" sz="2000" b="1">
                    <a:solidFill>
                      <a:srgbClr val="C00000"/>
                    </a:solidFill>
                    <a:latin typeface="黑体" panose="02010609060101010101" pitchFamily="49" charset="-122"/>
                    <a:ea typeface="黑体" panose="02010609060101010101" pitchFamily="49" charset="-122"/>
                  </a:rPr>
                  <a:t>编码为</a:t>
                </a:r>
                <a14:m>
                  <m:oMath xmlns:m="http://schemas.openxmlformats.org/officeDocument/2006/math">
                    <m:r>
                      <a:rPr lang="en-US" altLang="zh-CN" sz="2000" b="1">
                        <a:solidFill>
                          <a:srgbClr val="C00000"/>
                        </a:solidFill>
                        <a:latin typeface="Cambria Math" panose="02040503050406030204" pitchFamily="18" charset="0"/>
                        <a:ea typeface="黑体" panose="02010609060101010101" pitchFamily="49" charset="-122"/>
                      </a:rPr>
                      <m:t>𝟎</m:t>
                    </m:r>
                  </m:oMath>
                </a14:m>
                <a:endParaRPr lang="en-US" altLang="zh-CN" sz="2000" b="1">
                  <a:solidFill>
                    <a:srgbClr val="C00000"/>
                  </a:solidFill>
                  <a:latin typeface="黑体" panose="02010609060101010101" pitchFamily="49" charset="-122"/>
                  <a:ea typeface="黑体" panose="02010609060101010101" pitchFamily="49" charset="-122"/>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是</a:t>
                </a:r>
                <a:r>
                  <a:rPr lang="zh-CN" altLang="en-US" sz="2000" b="1">
                    <a:solidFill>
                      <a:srgbClr val="C00000"/>
                    </a:solidFill>
                    <a:latin typeface="黑体" panose="02010609060101010101" pitchFamily="49" charset="-122"/>
                    <a:ea typeface="黑体" panose="02010609060101010101" pitchFamily="49" charset="-122"/>
                  </a:rPr>
                  <a:t>使得其真值为</a:t>
                </a:r>
                <a14:m>
                  <m:oMath xmlns:m="http://schemas.openxmlformats.org/officeDocument/2006/math">
                    <m:r>
                      <a:rPr lang="en-US" altLang="zh-CN" sz="2000" b="1">
                        <a:solidFill>
                          <a:srgbClr val="C00000"/>
                        </a:solidFill>
                        <a:latin typeface="Cambria Math" panose="02040503050406030204" pitchFamily="18" charset="0"/>
                        <a:ea typeface="黑体" panose="02010609060101010101" pitchFamily="49" charset="-122"/>
                      </a:rPr>
                      <m:t>𝟏</m:t>
                    </m:r>
                  </m:oMath>
                </a14:m>
                <a:r>
                  <a:rPr lang="zh-CN" altLang="en-US" sz="2000" b="1">
                    <a:solidFill>
                      <a:schemeClr val="accent6">
                        <a:lumMod val="50000"/>
                      </a:schemeClr>
                    </a:solidFill>
                    <a:latin typeface="宋体" panose="02010600030101010101" pitchFamily="2" charset="-122"/>
                    <a:ea typeface="宋体" panose="02010600030101010101" pitchFamily="2" charset="-122"/>
                  </a:rPr>
                  <a:t>的唯一真值赋值方式</a:t>
                </a:r>
                <a:endParaRPr lang="en-US" altLang="zh-CN" sz="2000"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分别使用</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𝒎</m:t>
                        </m:r>
                      </m:e>
                      <m:sub>
                        <m:r>
                          <a:rPr lang="en-US" altLang="zh-CN" sz="2000" b="1" i="1">
                            <a:solidFill>
                              <a:schemeClr val="accent6">
                                <a:lumMod val="50000"/>
                              </a:schemeClr>
                            </a:solidFill>
                            <a:latin typeface="Cambria Math" panose="02040503050406030204" pitchFamily="18" charset="0"/>
                            <a:ea typeface="楷体" panose="02010609060101010101" pitchFamily="49" charset="-122"/>
                          </a:rPr>
                          <m:t>𝟎</m:t>
                        </m:r>
                      </m:sub>
                    </m:sSub>
                    <m:r>
                      <a:rPr lang="en-US" altLang="zh-CN" sz="2000" b="1" i="1">
                        <a:solidFill>
                          <a:schemeClr val="accent6">
                            <a:lumMod val="50000"/>
                          </a:schemeClr>
                        </a:solidFill>
                        <a:latin typeface="Cambria Math" panose="02040503050406030204" pitchFamily="18" charset="0"/>
                        <a:ea typeface="楷体" panose="02010609060101010101" pitchFamily="49" charset="-122"/>
                      </a:rPr>
                      <m:t>, </m:t>
                    </m:r>
                    <m:sSub>
                      <m:sSubPr>
                        <m:ctrlPr>
                          <a:rPr lang="en-US" altLang="zh-CN" sz="2000"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sz="2000" b="1" i="1">
                            <a:solidFill>
                              <a:schemeClr val="accent6">
                                <a:lumMod val="50000"/>
                              </a:schemeClr>
                            </a:solidFill>
                            <a:latin typeface="Cambria Math" panose="02040503050406030204" pitchFamily="18" charset="0"/>
                            <a:ea typeface="楷体" panose="02010609060101010101" pitchFamily="49" charset="-122"/>
                          </a:rPr>
                          <m:t>𝒎</m:t>
                        </m:r>
                      </m:e>
                      <m:sub>
                        <m:r>
                          <a:rPr lang="en-US" altLang="zh-CN" sz="2000" b="1" i="1">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000" b="1" i="1">
                        <a:solidFill>
                          <a:schemeClr val="accent6">
                            <a:lumMod val="50000"/>
                          </a:schemeClr>
                        </a:solidFill>
                        <a:latin typeface="Cambria Math" panose="02040503050406030204" pitchFamily="18" charset="0"/>
                        <a:ea typeface="楷体" panose="02010609060101010101" pitchFamily="49" charset="-122"/>
                      </a:rPr>
                      <m:t>, ⋯, </m:t>
                    </m:r>
                    <m:sSub>
                      <m:sSubPr>
                        <m:ctrlPr>
                          <a:rPr lang="en-US" altLang="zh-CN" sz="2000"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sz="2000" b="1" i="1">
                            <a:solidFill>
                              <a:schemeClr val="accent6">
                                <a:lumMod val="50000"/>
                              </a:schemeClr>
                            </a:solidFill>
                            <a:latin typeface="Cambria Math" panose="02040503050406030204" pitchFamily="18" charset="0"/>
                            <a:ea typeface="楷体" panose="02010609060101010101" pitchFamily="49" charset="-122"/>
                          </a:rPr>
                          <m:t>𝒎</m:t>
                        </m:r>
                      </m:e>
                      <m:sub>
                        <m:sSup>
                          <m:sSupPr>
                            <m:ctrlPr>
                              <a:rPr lang="en-US" altLang="zh-CN" sz="2000" b="1" i="1" smtClean="0">
                                <a:solidFill>
                                  <a:schemeClr val="accent6">
                                    <a:lumMod val="50000"/>
                                  </a:schemeClr>
                                </a:solidFill>
                                <a:latin typeface="Cambria Math" panose="02040503050406030204" pitchFamily="18" charset="0"/>
                                <a:ea typeface="楷体" panose="02010609060101010101" pitchFamily="49" charset="-122"/>
                              </a:rPr>
                            </m:ctrlPr>
                          </m:sSupPr>
                          <m:e>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𝟐</m:t>
                            </m:r>
                          </m:e>
                          <m:sup>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𝒏</m:t>
                            </m:r>
                          </m:sup>
                        </m:sSup>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𝟏</m:t>
                        </m:r>
                      </m:sub>
                    </m:sSub>
                  </m:oMath>
                </a14:m>
                <a:r>
                  <a:rPr lang="zh-CN" altLang="en-US" sz="2000" b="1">
                    <a:solidFill>
                      <a:schemeClr val="accent6">
                        <a:lumMod val="50000"/>
                      </a:schemeClr>
                    </a:solidFill>
                    <a:latin typeface="宋体" panose="02010600030101010101" pitchFamily="2" charset="-122"/>
                    <a:ea typeface="宋体" panose="02010600030101010101" pitchFamily="2" charset="-122"/>
                  </a:rPr>
                  <a:t>命名</a:t>
                </a:r>
                <a:endParaRPr lang="en-US" altLang="zh-CN" sz="2000" b="1">
                  <a:solidFill>
                    <a:schemeClr val="accent6">
                      <a:lumMod val="50000"/>
                    </a:schemeClr>
                  </a:solidFill>
                  <a:latin typeface="宋体" panose="02010600030101010101" pitchFamily="2" charset="-122"/>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F715C2D6-62FC-4FAB-921D-4D86EE731D22}"/>
                  </a:ext>
                </a:extLst>
              </p:cNvPr>
              <p:cNvSpPr txBox="1">
                <a:spLocks noRot="1" noChangeAspect="1" noMove="1" noResize="1" noEditPoints="1" noAdjustHandles="1" noChangeArrowheads="1" noChangeShapeType="1" noTextEdit="1"/>
              </p:cNvSpPr>
              <p:nvPr/>
            </p:nvSpPr>
            <p:spPr>
              <a:xfrm>
                <a:off x="495574" y="1155648"/>
                <a:ext cx="5203528" cy="2693045"/>
              </a:xfrm>
              <a:prstGeom prst="rect">
                <a:avLst/>
              </a:prstGeom>
              <a:blipFill>
                <a:blip r:embed="rId2"/>
                <a:stretch>
                  <a:fillRect l="-1054" t="-1587" b="-29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8DF299C0-8599-419E-A8DF-748B63AD930B}"/>
                  </a:ext>
                </a:extLst>
              </p:cNvPr>
              <p:cNvGraphicFramePr>
                <a:graphicFrameLocks noGrp="1"/>
              </p:cNvGraphicFramePr>
              <p:nvPr>
                <p:extLst>
                  <p:ext uri="{D42A27DB-BD31-4B8C-83A1-F6EECF244321}">
                    <p14:modId xmlns:p14="http://schemas.microsoft.com/office/powerpoint/2010/main" val="2595214163"/>
                  </p:ext>
                </p:extLst>
              </p:nvPr>
            </p:nvGraphicFramePr>
            <p:xfrm>
              <a:off x="155689" y="4034819"/>
              <a:ext cx="5883299" cy="2222657"/>
            </p:xfrm>
            <a:graphic>
              <a:graphicData uri="http://schemas.openxmlformats.org/drawingml/2006/table">
                <a:tbl>
                  <a:tblPr firstRow="1">
                    <a:tableStyleId>{5C22544A-7EE6-4342-B048-85BDC9FD1C3A}</a:tableStyleId>
                  </a:tblPr>
                  <a:tblGrid>
                    <a:gridCol w="1440988">
                      <a:extLst>
                        <a:ext uri="{9D8B030D-6E8A-4147-A177-3AD203B41FA5}">
                          <a16:colId xmlns:a16="http://schemas.microsoft.com/office/drawing/2014/main" val="1790152541"/>
                        </a:ext>
                      </a:extLst>
                    </a:gridCol>
                    <a:gridCol w="795637">
                      <a:extLst>
                        <a:ext uri="{9D8B030D-6E8A-4147-A177-3AD203B41FA5}">
                          <a16:colId xmlns:a16="http://schemas.microsoft.com/office/drawing/2014/main" val="1035986538"/>
                        </a:ext>
                      </a:extLst>
                    </a:gridCol>
                    <a:gridCol w="702814">
                      <a:extLst>
                        <a:ext uri="{9D8B030D-6E8A-4147-A177-3AD203B41FA5}">
                          <a16:colId xmlns:a16="http://schemas.microsoft.com/office/drawing/2014/main" val="1504876812"/>
                        </a:ext>
                      </a:extLst>
                    </a:gridCol>
                    <a:gridCol w="1531602">
                      <a:extLst>
                        <a:ext uri="{9D8B030D-6E8A-4147-A177-3AD203B41FA5}">
                          <a16:colId xmlns:a16="http://schemas.microsoft.com/office/drawing/2014/main" val="2001225579"/>
                        </a:ext>
                      </a:extLst>
                    </a:gridCol>
                    <a:gridCol w="762486">
                      <a:extLst>
                        <a:ext uri="{9D8B030D-6E8A-4147-A177-3AD203B41FA5}">
                          <a16:colId xmlns:a16="http://schemas.microsoft.com/office/drawing/2014/main" val="1787477891"/>
                        </a:ext>
                      </a:extLst>
                    </a:gridCol>
                    <a:gridCol w="649772">
                      <a:extLst>
                        <a:ext uri="{9D8B030D-6E8A-4147-A177-3AD203B41FA5}">
                          <a16:colId xmlns:a16="http://schemas.microsoft.com/office/drawing/2014/main" val="3332346248"/>
                        </a:ext>
                      </a:extLst>
                    </a:gridCol>
                  </a:tblGrid>
                  <a:tr h="369329">
                    <a:tc gridSpan="6">
                      <a:txBody>
                        <a:bodyPr/>
                        <a:lstStyle/>
                        <a:p>
                          <a:pPr algn="ctr"/>
                          <a:r>
                            <a:rPr lang="zh-CN" altLang="en-US" sz="1800"/>
                            <a:t>含三个命题变量</a:t>
                          </a:r>
                          <a14:m>
                            <m:oMath xmlns:m="http://schemas.openxmlformats.org/officeDocument/2006/math">
                              <m:r>
                                <a:rPr lang="en-US" altLang="zh-CN" sz="1800" i="1" smtClean="0">
                                  <a:latin typeface="Cambria Math" panose="02040503050406030204" pitchFamily="18" charset="0"/>
                                </a:rPr>
                                <m:t>𝑝</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𝒒</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𝒓</m:t>
                              </m:r>
                            </m:oMath>
                          </a14:m>
                          <a:r>
                            <a:rPr lang="zh-CN" altLang="en-US" sz="1800"/>
                            <a:t>的</a:t>
                          </a:r>
                          <a:r>
                            <a:rPr lang="zh-CN" altLang="en-US" sz="1800">
                              <a:solidFill>
                                <a:srgbClr val="C00000"/>
                              </a:solidFill>
                            </a:rPr>
                            <a:t>极小项</a:t>
                          </a:r>
                          <a:r>
                            <a:rPr lang="zh-CN" altLang="en-US" sz="1800"/>
                            <a:t>的编码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7580">
                    <a:tc>
                      <a:txBody>
                        <a:bodyPr/>
                        <a:lstStyle/>
                        <a:p>
                          <a:pPr algn="ctr">
                            <a:lnSpc>
                              <a:spcPts val="1800"/>
                            </a:lnSpc>
                          </a:pPr>
                          <a:r>
                            <a:rPr lang="zh-CN" altLang="en-US" sz="18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7580">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𝟎𝟎𝟎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smtClean="0">
                                        <a:solidFill>
                                          <a:srgbClr val="002060"/>
                                        </a:solidFill>
                                        <a:latin typeface="Cambria Math" panose="02040503050406030204" pitchFamily="18" charset="0"/>
                                      </a:rPr>
                                    </m:ctrlPr>
                                  </m:sSubPr>
                                  <m:e>
                                    <m:r>
                                      <a:rPr lang="en-US" altLang="zh-CN" sz="1600" b="1" i="1" smtClean="0">
                                        <a:solidFill>
                                          <a:srgbClr val="002060"/>
                                        </a:solidFill>
                                        <a:latin typeface="Cambria Math" panose="02040503050406030204" pitchFamily="18" charset="0"/>
                                      </a:rPr>
                                      <m:t>𝒎</m:t>
                                    </m:r>
                                  </m:e>
                                  <m:sub>
                                    <m:r>
                                      <a:rPr lang="en-US" altLang="zh-CN" sz="1600" b="1" i="1" smtClean="0">
                                        <a:solidFill>
                                          <a:srgbClr val="002060"/>
                                        </a:solidFill>
                                        <a:latin typeface="Cambria Math" panose="02040503050406030204" pitchFamily="18" charset="0"/>
                                      </a:rPr>
                                      <m:t>𝟎</m:t>
                                    </m:r>
                                  </m:sub>
                                </m:sSub>
                              </m:oMath>
                            </m:oMathPara>
                          </a14:m>
                          <a:endParaRPr lang="zh-CN" altLang="en-US" sz="16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𝟏𝟎𝟎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kern="1200" smtClean="0">
                                        <a:solidFill>
                                          <a:srgbClr val="002060"/>
                                        </a:solidFill>
                                        <a:latin typeface="Cambria Math" panose="02040503050406030204" pitchFamily="18" charset="0"/>
                                        <a:ea typeface="+mn-ea"/>
                                        <a:cs typeface="+mn-cs"/>
                                      </a:rPr>
                                      <m:t>𝒎</m:t>
                                    </m:r>
                                  </m:e>
                                  <m:sub>
                                    <m:r>
                                      <a:rPr lang="en-US" altLang="zh-CN" sz="1600" b="1" i="1" kern="1200" smtClean="0">
                                        <a:solidFill>
                                          <a:srgbClr val="002060"/>
                                        </a:solidFill>
                                        <a:latin typeface="Cambria Math" panose="02040503050406030204" pitchFamily="18" charset="0"/>
                                        <a:ea typeface="+mn-ea"/>
                                        <a:cs typeface="+mn-cs"/>
                                      </a:rPr>
                                      <m:t>𝟒</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r h="366056">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𝟎𝟎𝟏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kern="1200" smtClean="0">
                                        <a:solidFill>
                                          <a:srgbClr val="002060"/>
                                        </a:solidFill>
                                        <a:latin typeface="Cambria Math" panose="02040503050406030204" pitchFamily="18" charset="0"/>
                                        <a:ea typeface="+mn-ea"/>
                                        <a:cs typeface="+mn-cs"/>
                                      </a:rPr>
                                      <m:t>𝒎</m:t>
                                    </m:r>
                                  </m:e>
                                  <m:sub>
                                    <m:r>
                                      <a:rPr lang="en-US" altLang="zh-CN" sz="1600" b="1" i="0" kern="1200" smtClean="0">
                                        <a:solidFill>
                                          <a:srgbClr val="002060"/>
                                        </a:solidFill>
                                        <a:latin typeface="Cambria Math" panose="02040503050406030204" pitchFamily="18" charset="0"/>
                                        <a:ea typeface="+mn-ea"/>
                                        <a:cs typeface="+mn-cs"/>
                                      </a:rPr>
                                      <m:t>𝟏</m:t>
                                    </m:r>
                                  </m:sub>
                                </m:sSub>
                              </m:oMath>
                            </m:oMathPara>
                          </a14:m>
                          <a:endParaRPr lang="zh-CN" altLang="en-US" sz="16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𝟏𝟎𝟏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kern="1200" smtClean="0">
                                        <a:solidFill>
                                          <a:srgbClr val="002060"/>
                                        </a:solidFill>
                                        <a:latin typeface="Cambria Math" panose="02040503050406030204" pitchFamily="18" charset="0"/>
                                        <a:ea typeface="+mn-ea"/>
                                        <a:cs typeface="+mn-cs"/>
                                      </a:rPr>
                                      <m:t>𝒎</m:t>
                                    </m:r>
                                  </m:e>
                                  <m:sub>
                                    <m:r>
                                      <a:rPr lang="en-US" altLang="zh-CN" sz="1600" b="1" i="1" kern="1200" smtClean="0">
                                        <a:solidFill>
                                          <a:srgbClr val="002060"/>
                                        </a:solidFill>
                                        <a:latin typeface="Cambria Math" panose="02040503050406030204" pitchFamily="18" charset="0"/>
                                        <a:ea typeface="+mn-ea"/>
                                        <a:cs typeface="+mn-cs"/>
                                      </a:rPr>
                                      <m:t>𝟓</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4202317707"/>
                      </a:ext>
                    </a:extLst>
                  </a:tr>
                  <a:tr h="366056">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𝟎𝟏𝟎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smtClean="0">
                                        <a:solidFill>
                                          <a:srgbClr val="002060"/>
                                        </a:solidFill>
                                        <a:latin typeface="Cambria Math" panose="02040503050406030204" pitchFamily="18" charset="0"/>
                                      </a:rPr>
                                    </m:ctrlPr>
                                  </m:sSubPr>
                                  <m:e>
                                    <m:r>
                                      <a:rPr lang="en-US" altLang="zh-CN" sz="1600" b="1" i="1" smtClean="0">
                                        <a:solidFill>
                                          <a:srgbClr val="002060"/>
                                        </a:solidFill>
                                        <a:latin typeface="Cambria Math" panose="02040503050406030204" pitchFamily="18" charset="0"/>
                                      </a:rPr>
                                      <m:t>𝒎</m:t>
                                    </m:r>
                                  </m:e>
                                  <m:sub>
                                    <m:r>
                                      <a:rPr lang="en-US" altLang="zh-CN" sz="1600" b="1" i="1" smtClean="0">
                                        <a:solidFill>
                                          <a:srgbClr val="002060"/>
                                        </a:solidFill>
                                        <a:latin typeface="Cambria Math" panose="02040503050406030204" pitchFamily="18" charset="0"/>
                                      </a:rPr>
                                      <m:t>𝟐</m:t>
                                    </m:r>
                                  </m:sub>
                                </m:sSub>
                              </m:oMath>
                            </m:oMathPara>
                          </a14:m>
                          <a:endParaRPr lang="zh-CN" altLang="en-US" sz="16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𝟏𝟏𝟎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kern="1200" smtClean="0">
                                        <a:solidFill>
                                          <a:srgbClr val="002060"/>
                                        </a:solidFill>
                                        <a:latin typeface="Cambria Math" panose="02040503050406030204" pitchFamily="18" charset="0"/>
                                        <a:ea typeface="+mn-ea"/>
                                        <a:cs typeface="+mn-cs"/>
                                      </a:rPr>
                                      <m:t>𝒎</m:t>
                                    </m:r>
                                  </m:e>
                                  <m:sub>
                                    <m:r>
                                      <a:rPr lang="en-US" altLang="zh-CN" sz="1600" b="1" i="1" kern="1200" smtClean="0">
                                        <a:solidFill>
                                          <a:srgbClr val="002060"/>
                                        </a:solidFill>
                                        <a:latin typeface="Cambria Math" panose="02040503050406030204" pitchFamily="18" charset="0"/>
                                        <a:ea typeface="+mn-ea"/>
                                        <a:cs typeface="+mn-cs"/>
                                      </a:rPr>
                                      <m:t>𝟔</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838677932"/>
                      </a:ext>
                    </a:extLst>
                  </a:tr>
                  <a:tr h="366056">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i="1" kern="1200">
                            <a:solidFill>
                              <a:schemeClr val="accent6">
                                <a:lumMod val="50000"/>
                              </a:schemeClr>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𝟎𝟏𝟏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kern="1200" smtClean="0">
                                        <a:solidFill>
                                          <a:srgbClr val="002060"/>
                                        </a:solidFill>
                                        <a:latin typeface="Cambria Math" panose="02040503050406030204" pitchFamily="18" charset="0"/>
                                        <a:ea typeface="+mn-ea"/>
                                        <a:cs typeface="+mn-cs"/>
                                      </a:rPr>
                                      <m:t>𝒎</m:t>
                                    </m:r>
                                  </m:e>
                                  <m:sub>
                                    <m:r>
                                      <a:rPr lang="en-US" altLang="zh-CN" sz="1600" b="1" i="1" kern="1200" smtClean="0">
                                        <a:solidFill>
                                          <a:srgbClr val="002060"/>
                                        </a:solidFill>
                                        <a:latin typeface="Cambria Math" panose="02040503050406030204" pitchFamily="18" charset="0"/>
                                        <a:ea typeface="+mn-ea"/>
                                        <a:cs typeface="+mn-cs"/>
                                      </a:rPr>
                                      <m:t>𝟑</m:t>
                                    </m:r>
                                  </m:sub>
                                </m:sSub>
                              </m:oMath>
                            </m:oMathPara>
                          </a14:m>
                          <a:endParaRPr lang="zh-CN" altLang="en-US" sz="16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i="1" kern="1200">
                            <a:solidFill>
                              <a:schemeClr val="accent6">
                                <a:lumMod val="50000"/>
                              </a:schemeClr>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𝟏𝟏𝟏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kern="1200" smtClean="0">
                                        <a:solidFill>
                                          <a:srgbClr val="002060"/>
                                        </a:solidFill>
                                        <a:latin typeface="Cambria Math" panose="02040503050406030204" pitchFamily="18" charset="0"/>
                                        <a:ea typeface="+mn-ea"/>
                                        <a:cs typeface="+mn-cs"/>
                                      </a:rPr>
                                      <m:t>𝒎</m:t>
                                    </m:r>
                                  </m:e>
                                  <m:sub>
                                    <m:r>
                                      <a:rPr lang="en-US" altLang="zh-CN" sz="1600" b="1" i="1" kern="1200" smtClean="0">
                                        <a:solidFill>
                                          <a:srgbClr val="002060"/>
                                        </a:solidFill>
                                        <a:latin typeface="Cambria Math" panose="02040503050406030204" pitchFamily="18" charset="0"/>
                                        <a:ea typeface="+mn-ea"/>
                                        <a:cs typeface="+mn-cs"/>
                                      </a:rPr>
                                      <m:t>𝟕</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351949"/>
                      </a:ext>
                    </a:extLst>
                  </a:tr>
                </a:tbl>
              </a:graphicData>
            </a:graphic>
          </p:graphicFrame>
        </mc:Choice>
        <mc:Fallback xmlns="">
          <p:graphicFrame>
            <p:nvGraphicFramePr>
              <p:cNvPr id="11" name="表格 10">
                <a:extLst>
                  <a:ext uri="{FF2B5EF4-FFF2-40B4-BE49-F238E27FC236}">
                    <a16:creationId xmlns:a16="http://schemas.microsoft.com/office/drawing/2014/main" id="{8DF299C0-8599-419E-A8DF-748B63AD930B}"/>
                  </a:ext>
                </a:extLst>
              </p:cNvPr>
              <p:cNvGraphicFramePr>
                <a:graphicFrameLocks noGrp="1"/>
              </p:cNvGraphicFramePr>
              <p:nvPr>
                <p:extLst>
                  <p:ext uri="{D42A27DB-BD31-4B8C-83A1-F6EECF244321}">
                    <p14:modId xmlns:p14="http://schemas.microsoft.com/office/powerpoint/2010/main" val="2595214163"/>
                  </p:ext>
                </p:extLst>
              </p:nvPr>
            </p:nvGraphicFramePr>
            <p:xfrm>
              <a:off x="155689" y="4034819"/>
              <a:ext cx="5883299" cy="2222657"/>
            </p:xfrm>
            <a:graphic>
              <a:graphicData uri="http://schemas.openxmlformats.org/drawingml/2006/table">
                <a:tbl>
                  <a:tblPr firstRow="1">
                    <a:tableStyleId>{5C22544A-7EE6-4342-B048-85BDC9FD1C3A}</a:tableStyleId>
                  </a:tblPr>
                  <a:tblGrid>
                    <a:gridCol w="1440988">
                      <a:extLst>
                        <a:ext uri="{9D8B030D-6E8A-4147-A177-3AD203B41FA5}">
                          <a16:colId xmlns:a16="http://schemas.microsoft.com/office/drawing/2014/main" val="1790152541"/>
                        </a:ext>
                      </a:extLst>
                    </a:gridCol>
                    <a:gridCol w="795637">
                      <a:extLst>
                        <a:ext uri="{9D8B030D-6E8A-4147-A177-3AD203B41FA5}">
                          <a16:colId xmlns:a16="http://schemas.microsoft.com/office/drawing/2014/main" val="1035986538"/>
                        </a:ext>
                      </a:extLst>
                    </a:gridCol>
                    <a:gridCol w="702814">
                      <a:extLst>
                        <a:ext uri="{9D8B030D-6E8A-4147-A177-3AD203B41FA5}">
                          <a16:colId xmlns:a16="http://schemas.microsoft.com/office/drawing/2014/main" val="1504876812"/>
                        </a:ext>
                      </a:extLst>
                    </a:gridCol>
                    <a:gridCol w="1531602">
                      <a:extLst>
                        <a:ext uri="{9D8B030D-6E8A-4147-A177-3AD203B41FA5}">
                          <a16:colId xmlns:a16="http://schemas.microsoft.com/office/drawing/2014/main" val="2001225579"/>
                        </a:ext>
                      </a:extLst>
                    </a:gridCol>
                    <a:gridCol w="762486">
                      <a:extLst>
                        <a:ext uri="{9D8B030D-6E8A-4147-A177-3AD203B41FA5}">
                          <a16:colId xmlns:a16="http://schemas.microsoft.com/office/drawing/2014/main" val="1787477891"/>
                        </a:ext>
                      </a:extLst>
                    </a:gridCol>
                    <a:gridCol w="649772">
                      <a:extLst>
                        <a:ext uri="{9D8B030D-6E8A-4147-A177-3AD203B41FA5}">
                          <a16:colId xmlns:a16="http://schemas.microsoft.com/office/drawing/2014/main" val="3332346248"/>
                        </a:ext>
                      </a:extLst>
                    </a:gridCol>
                  </a:tblGrid>
                  <a:tr h="369329">
                    <a:tc gridSpan="6">
                      <a:txBody>
                        <a:bodyPr/>
                        <a:lstStyle/>
                        <a:p>
                          <a:endParaRPr lang="zh-CN"/>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04" t="-6557" r="-207" b="-503279"/>
                          </a:stretch>
                        </a:blip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7580">
                    <a:tc>
                      <a:txBody>
                        <a:bodyPr/>
                        <a:lstStyle/>
                        <a:p>
                          <a:pPr algn="ctr">
                            <a:lnSpc>
                              <a:spcPts val="1800"/>
                            </a:lnSpc>
                          </a:pPr>
                          <a:r>
                            <a:rPr lang="zh-CN" altLang="en-US" sz="18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极小项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7580">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422" t="-204839" r="-308439" b="-295161"/>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077" t="-204839" r="-462308" b="-295161"/>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241" t="-204839" r="-418103" b="-295161"/>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2829" t="-204839" r="-93227" b="-295161"/>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00" t="-204839" r="-87200" b="-295161"/>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3738" t="-204839" r="-1869" b="-295161"/>
                          </a:stretch>
                        </a:blipFill>
                      </a:tcPr>
                    </a:tc>
                    <a:extLst>
                      <a:ext uri="{0D108BD9-81ED-4DB2-BD59-A6C34878D82A}">
                        <a16:rowId xmlns:a16="http://schemas.microsoft.com/office/drawing/2014/main" val="1200295186"/>
                      </a:ext>
                    </a:extLst>
                  </a:tr>
                  <a:tr h="366056">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422" t="-315000" r="-308439"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077" t="-315000" r="-462308"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241" t="-315000" r="-418103"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2829" t="-315000" r="-93227"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00" t="-315000" r="-87200" b="-205000"/>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3738" t="-315000" r="-1869" b="-205000"/>
                          </a:stretch>
                        </a:blipFill>
                      </a:tcPr>
                    </a:tc>
                    <a:extLst>
                      <a:ext uri="{0D108BD9-81ED-4DB2-BD59-A6C34878D82A}">
                        <a16:rowId xmlns:a16="http://schemas.microsoft.com/office/drawing/2014/main" val="4202317707"/>
                      </a:ext>
                    </a:extLst>
                  </a:tr>
                  <a:tr h="366056">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422" t="-408197" r="-308439" b="-101639"/>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077" t="-408197" r="-462308" b="-101639"/>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241" t="-408197" r="-418103" b="-101639"/>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2829" t="-408197" r="-93227" b="-101639"/>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00" t="-408197" r="-87200" b="-101639"/>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3738" t="-408197" r="-1869" b="-101639"/>
                          </a:stretch>
                        </a:blipFill>
                      </a:tcPr>
                    </a:tc>
                    <a:extLst>
                      <a:ext uri="{0D108BD9-81ED-4DB2-BD59-A6C34878D82A}">
                        <a16:rowId xmlns:a16="http://schemas.microsoft.com/office/drawing/2014/main" val="3838677932"/>
                      </a:ext>
                    </a:extLst>
                  </a:tr>
                  <a:tr h="366056">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422" t="-516667" r="-308439"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83077" t="-516667" r="-462308"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317241" t="-516667" r="-418103"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192829" t="-516667" r="-93227"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588000" t="-516667" r="-87200"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3"/>
                          <a:stretch>
                            <a:fillRect l="-803738" t="-516667" r="-1869" b="-3333"/>
                          </a:stretch>
                        </a:blipFill>
                      </a:tcPr>
                    </a:tc>
                    <a:extLst>
                      <a:ext uri="{0D108BD9-81ED-4DB2-BD59-A6C34878D82A}">
                        <a16:rowId xmlns:a16="http://schemas.microsoft.com/office/drawing/2014/main" val="335194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6F092047-4E8C-492E-8992-580D0DCEAE32}"/>
                  </a:ext>
                </a:extLst>
              </p:cNvPr>
              <p:cNvGraphicFramePr>
                <a:graphicFrameLocks noGrp="1"/>
              </p:cNvGraphicFramePr>
              <p:nvPr>
                <p:extLst>
                  <p:ext uri="{D42A27DB-BD31-4B8C-83A1-F6EECF244321}">
                    <p14:modId xmlns:p14="http://schemas.microsoft.com/office/powerpoint/2010/main" val="3412827799"/>
                  </p:ext>
                </p:extLst>
              </p:nvPr>
            </p:nvGraphicFramePr>
            <p:xfrm>
              <a:off x="6153014" y="4034818"/>
              <a:ext cx="5883299" cy="2222657"/>
            </p:xfrm>
            <a:graphic>
              <a:graphicData uri="http://schemas.openxmlformats.org/drawingml/2006/table">
                <a:tbl>
                  <a:tblPr firstRow="1">
                    <a:tableStyleId>{5C22544A-7EE6-4342-B048-85BDC9FD1C3A}</a:tableStyleId>
                  </a:tblPr>
                  <a:tblGrid>
                    <a:gridCol w="1440988">
                      <a:extLst>
                        <a:ext uri="{9D8B030D-6E8A-4147-A177-3AD203B41FA5}">
                          <a16:colId xmlns:a16="http://schemas.microsoft.com/office/drawing/2014/main" val="1790152541"/>
                        </a:ext>
                      </a:extLst>
                    </a:gridCol>
                    <a:gridCol w="795637">
                      <a:extLst>
                        <a:ext uri="{9D8B030D-6E8A-4147-A177-3AD203B41FA5}">
                          <a16:colId xmlns:a16="http://schemas.microsoft.com/office/drawing/2014/main" val="1035986538"/>
                        </a:ext>
                      </a:extLst>
                    </a:gridCol>
                    <a:gridCol w="702814">
                      <a:extLst>
                        <a:ext uri="{9D8B030D-6E8A-4147-A177-3AD203B41FA5}">
                          <a16:colId xmlns:a16="http://schemas.microsoft.com/office/drawing/2014/main" val="1504876812"/>
                        </a:ext>
                      </a:extLst>
                    </a:gridCol>
                    <a:gridCol w="1531602">
                      <a:extLst>
                        <a:ext uri="{9D8B030D-6E8A-4147-A177-3AD203B41FA5}">
                          <a16:colId xmlns:a16="http://schemas.microsoft.com/office/drawing/2014/main" val="2001225579"/>
                        </a:ext>
                      </a:extLst>
                    </a:gridCol>
                    <a:gridCol w="762486">
                      <a:extLst>
                        <a:ext uri="{9D8B030D-6E8A-4147-A177-3AD203B41FA5}">
                          <a16:colId xmlns:a16="http://schemas.microsoft.com/office/drawing/2014/main" val="1787477891"/>
                        </a:ext>
                      </a:extLst>
                    </a:gridCol>
                    <a:gridCol w="649772">
                      <a:extLst>
                        <a:ext uri="{9D8B030D-6E8A-4147-A177-3AD203B41FA5}">
                          <a16:colId xmlns:a16="http://schemas.microsoft.com/office/drawing/2014/main" val="3332346248"/>
                        </a:ext>
                      </a:extLst>
                    </a:gridCol>
                  </a:tblGrid>
                  <a:tr h="387236">
                    <a:tc gridSpan="6">
                      <a:txBody>
                        <a:bodyPr/>
                        <a:lstStyle/>
                        <a:p>
                          <a:pPr algn="ctr"/>
                          <a:r>
                            <a:rPr lang="zh-CN" altLang="en-US" sz="1800"/>
                            <a:t>含三个命题变量</a:t>
                          </a:r>
                          <a14:m>
                            <m:oMath xmlns:m="http://schemas.openxmlformats.org/officeDocument/2006/math">
                              <m:r>
                                <a:rPr lang="en-US" altLang="zh-CN" sz="1800" i="1" smtClean="0">
                                  <a:latin typeface="Cambria Math" panose="02040503050406030204" pitchFamily="18" charset="0"/>
                                </a:rPr>
                                <m:t>𝑝</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𝒒</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𝒓</m:t>
                              </m:r>
                            </m:oMath>
                          </a14:m>
                          <a:r>
                            <a:rPr lang="zh-CN" altLang="en-US" sz="1800"/>
                            <a:t>的</a:t>
                          </a:r>
                          <a:r>
                            <a:rPr lang="zh-CN" altLang="en-US" sz="1800" b="1" kern="1200">
                              <a:solidFill>
                                <a:srgbClr val="C00000"/>
                              </a:solidFill>
                              <a:latin typeface="+mn-lt"/>
                              <a:ea typeface="+mn-ea"/>
                              <a:cs typeface="+mn-cs"/>
                            </a:rPr>
                            <a:t>极大项</a:t>
                          </a:r>
                          <a:r>
                            <a:rPr lang="zh-CN" altLang="en-US" sz="1800"/>
                            <a:t>的编码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6">
                            <a:lumMod val="5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3932">
                    <a:tc>
                      <a:txBody>
                        <a:bodyPr/>
                        <a:lstStyle/>
                        <a:p>
                          <a:pPr algn="ctr">
                            <a:lnSpc>
                              <a:spcPts val="1800"/>
                            </a:lnSpc>
                          </a:pPr>
                          <a:r>
                            <a:rPr lang="zh-CN" altLang="en-US" sz="1800" b="1">
                              <a:solidFill>
                                <a:schemeClr val="accent4">
                                  <a:lumMod val="20000"/>
                                  <a:lumOff val="80000"/>
                                </a:schemeClr>
                              </a:solidFill>
                            </a:rPr>
                            <a:t>极</a:t>
                          </a:r>
                          <a:r>
                            <a:rPr lang="zh-CN" altLang="en-US" sz="1800" b="1" kern="1200">
                              <a:solidFill>
                                <a:schemeClr val="accent4">
                                  <a:lumMod val="20000"/>
                                  <a:lumOff val="80000"/>
                                </a:schemeClr>
                              </a:solidFill>
                              <a:latin typeface="+mn-lt"/>
                              <a:ea typeface="+mn-ea"/>
                              <a:cs typeface="+mn-cs"/>
                            </a:rPr>
                            <a:t>大</a:t>
                          </a:r>
                          <a:r>
                            <a:rPr lang="zh-CN" altLang="en-US" sz="1800" b="1">
                              <a:solidFill>
                                <a:schemeClr val="accent4">
                                  <a:lumMod val="20000"/>
                                  <a:lumOff val="80000"/>
                                </a:schemeClr>
                              </a:solidFill>
                            </a:rPr>
                            <a:t>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极</a:t>
                          </a:r>
                          <a:r>
                            <a:rPr lang="zh-CN" altLang="en-US" sz="1800" b="1" kern="1200">
                              <a:solidFill>
                                <a:schemeClr val="accent4">
                                  <a:lumMod val="20000"/>
                                  <a:lumOff val="80000"/>
                                </a:schemeClr>
                              </a:solidFill>
                              <a:latin typeface="+mn-lt"/>
                              <a:ea typeface="+mn-ea"/>
                              <a:cs typeface="+mn-cs"/>
                            </a:rPr>
                            <a:t>大</a:t>
                          </a:r>
                          <a:r>
                            <a:rPr lang="zh-CN" altLang="en-US" sz="1800" b="1">
                              <a:solidFill>
                                <a:schemeClr val="accent4">
                                  <a:lumMod val="20000"/>
                                  <a:lumOff val="80000"/>
                                </a:schemeClr>
                              </a:solidFill>
                            </a:rPr>
                            <a:t>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3932">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𝟎𝟎𝟎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smtClean="0">
                                        <a:solidFill>
                                          <a:srgbClr val="002060"/>
                                        </a:solidFill>
                                        <a:latin typeface="Cambria Math" panose="02040503050406030204" pitchFamily="18" charset="0"/>
                                      </a:rPr>
                                    </m:ctrlPr>
                                  </m:sSubPr>
                                  <m:e>
                                    <m:r>
                                      <a:rPr lang="en-US" altLang="zh-CN" sz="1600" b="1" i="1" smtClean="0">
                                        <a:solidFill>
                                          <a:srgbClr val="002060"/>
                                        </a:solidFill>
                                        <a:latin typeface="Cambria Math" panose="02040503050406030204" pitchFamily="18" charset="0"/>
                                      </a:rPr>
                                      <m:t>𝑴</m:t>
                                    </m:r>
                                  </m:e>
                                  <m:sub>
                                    <m:r>
                                      <a:rPr lang="en-US" altLang="zh-CN" sz="1600" b="1" i="1" smtClean="0">
                                        <a:solidFill>
                                          <a:srgbClr val="002060"/>
                                        </a:solidFill>
                                        <a:latin typeface="Cambria Math" panose="02040503050406030204" pitchFamily="18" charset="0"/>
                                      </a:rPr>
                                      <m:t>𝟎</m:t>
                                    </m:r>
                                  </m:sub>
                                </m:sSub>
                              </m:oMath>
                            </m:oMathPara>
                          </a14:m>
                          <a:endParaRPr lang="zh-CN" altLang="en-US" sz="16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𝟏𝟎𝟎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smtClean="0">
                                        <a:solidFill>
                                          <a:srgbClr val="002060"/>
                                        </a:solidFill>
                                        <a:latin typeface="Cambria Math" panose="02040503050406030204" pitchFamily="18" charset="0"/>
                                      </a:rPr>
                                      <m:t>𝑴</m:t>
                                    </m:r>
                                  </m:e>
                                  <m:sub>
                                    <m:r>
                                      <a:rPr lang="en-US" altLang="zh-CN" sz="1600" b="1" i="1" kern="1200" smtClean="0">
                                        <a:solidFill>
                                          <a:srgbClr val="002060"/>
                                        </a:solidFill>
                                        <a:latin typeface="Cambria Math" panose="02040503050406030204" pitchFamily="18" charset="0"/>
                                        <a:ea typeface="+mn-ea"/>
                                        <a:cs typeface="+mn-cs"/>
                                      </a:rPr>
                                      <m:t>𝟒</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1200295186"/>
                      </a:ext>
                    </a:extLst>
                  </a:tr>
                  <a:tr h="362519">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𝟎𝟎𝟏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smtClean="0">
                                        <a:solidFill>
                                          <a:srgbClr val="002060"/>
                                        </a:solidFill>
                                        <a:latin typeface="Cambria Math" panose="02040503050406030204" pitchFamily="18" charset="0"/>
                                      </a:rPr>
                                      <m:t>𝑴</m:t>
                                    </m:r>
                                  </m:e>
                                  <m:sub>
                                    <m:r>
                                      <a:rPr lang="en-US" altLang="zh-CN" sz="1600" b="1" i="0" kern="1200" smtClean="0">
                                        <a:solidFill>
                                          <a:srgbClr val="002060"/>
                                        </a:solidFill>
                                        <a:latin typeface="Cambria Math" panose="02040503050406030204" pitchFamily="18" charset="0"/>
                                        <a:ea typeface="+mn-ea"/>
                                        <a:cs typeface="+mn-cs"/>
                                      </a:rPr>
                                      <m:t>𝟏</m:t>
                                    </m:r>
                                  </m:sub>
                                </m:sSub>
                              </m:oMath>
                            </m:oMathPara>
                          </a14:m>
                          <a:endParaRPr lang="zh-CN" altLang="en-US" sz="16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𝟏𝟎𝟏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smtClean="0">
                                        <a:solidFill>
                                          <a:srgbClr val="002060"/>
                                        </a:solidFill>
                                        <a:latin typeface="Cambria Math" panose="02040503050406030204" pitchFamily="18" charset="0"/>
                                      </a:rPr>
                                      <m:t>𝑴</m:t>
                                    </m:r>
                                  </m:e>
                                  <m:sub>
                                    <m:r>
                                      <a:rPr lang="en-US" altLang="zh-CN" sz="1600" b="1" i="1" kern="1200" smtClean="0">
                                        <a:solidFill>
                                          <a:srgbClr val="002060"/>
                                        </a:solidFill>
                                        <a:latin typeface="Cambria Math" panose="02040503050406030204" pitchFamily="18" charset="0"/>
                                        <a:ea typeface="+mn-ea"/>
                                        <a:cs typeface="+mn-cs"/>
                                      </a:rPr>
                                      <m:t>𝟓</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4202317707"/>
                      </a:ext>
                    </a:extLst>
                  </a:tr>
                  <a:tr h="362519">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𝟎𝟏𝟎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smtClean="0">
                                        <a:solidFill>
                                          <a:srgbClr val="002060"/>
                                        </a:solidFill>
                                        <a:latin typeface="Cambria Math" panose="02040503050406030204" pitchFamily="18" charset="0"/>
                                      </a:rPr>
                                    </m:ctrlPr>
                                  </m:sSubPr>
                                  <m:e>
                                    <m:r>
                                      <a:rPr lang="en-US" altLang="zh-CN" sz="1600" b="1" i="1" smtClean="0">
                                        <a:solidFill>
                                          <a:srgbClr val="002060"/>
                                        </a:solidFill>
                                        <a:latin typeface="Cambria Math" panose="02040503050406030204" pitchFamily="18" charset="0"/>
                                      </a:rPr>
                                      <m:t>𝑴</m:t>
                                    </m:r>
                                  </m:e>
                                  <m:sub>
                                    <m:r>
                                      <a:rPr lang="en-US" altLang="zh-CN" sz="1600" b="1" i="1" smtClean="0">
                                        <a:solidFill>
                                          <a:srgbClr val="002060"/>
                                        </a:solidFill>
                                        <a:latin typeface="Cambria Math" panose="02040503050406030204" pitchFamily="18" charset="0"/>
                                      </a:rPr>
                                      <m:t>𝟐</m:t>
                                    </m:r>
                                  </m:sub>
                                </m:sSub>
                              </m:oMath>
                            </m:oMathPara>
                          </a14:m>
                          <a:endParaRPr lang="zh-CN" altLang="en-US" sz="1600" b="1">
                            <a:solidFill>
                              <a:srgbClr val="00206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a:solidFill>
                              <a:schemeClr val="accent6">
                                <a:lumMod val="50000"/>
                              </a:schemeClr>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𝟏𝟏𝟎</m:t>
                                </m:r>
                              </m:oMath>
                            </m:oMathPara>
                          </a14:m>
                          <a:endParaRPr lang="zh-CN" altLang="en-US" sz="1600" b="1">
                            <a:solidFill>
                              <a:srgbClr val="C00000"/>
                            </a:solidFill>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smtClean="0">
                                        <a:solidFill>
                                          <a:srgbClr val="002060"/>
                                        </a:solidFill>
                                        <a:latin typeface="Cambria Math" panose="02040503050406030204" pitchFamily="18" charset="0"/>
                                      </a:rPr>
                                      <m:t>𝑴</m:t>
                                    </m:r>
                                  </m:e>
                                  <m:sub>
                                    <m:r>
                                      <a:rPr lang="en-US" altLang="zh-CN" sz="1600" b="1" i="1" kern="1200" smtClean="0">
                                        <a:solidFill>
                                          <a:srgbClr val="002060"/>
                                        </a:solidFill>
                                        <a:latin typeface="Cambria Math" panose="02040503050406030204" pitchFamily="18" charset="0"/>
                                        <a:ea typeface="+mn-ea"/>
                                        <a:cs typeface="+mn-cs"/>
                                      </a:rPr>
                                      <m:t>𝟔</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838677932"/>
                      </a:ext>
                    </a:extLst>
                  </a:tr>
                  <a:tr h="362519">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i="1" kern="1200">
                            <a:solidFill>
                              <a:schemeClr val="accent6">
                                <a:lumMod val="50000"/>
                              </a:schemeClr>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𝟎𝟏𝟏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smtClean="0">
                                        <a:solidFill>
                                          <a:srgbClr val="002060"/>
                                        </a:solidFill>
                                        <a:latin typeface="Cambria Math" panose="02040503050406030204" pitchFamily="18" charset="0"/>
                                      </a:rPr>
                                      <m:t>𝑴</m:t>
                                    </m:r>
                                  </m:e>
                                  <m:sub>
                                    <m:r>
                                      <a:rPr lang="en-US" altLang="zh-CN" sz="1600" b="1" i="1" kern="1200" smtClean="0">
                                        <a:solidFill>
                                          <a:srgbClr val="002060"/>
                                        </a:solidFill>
                                        <a:latin typeface="Cambria Math" panose="02040503050406030204" pitchFamily="18" charset="0"/>
                                        <a:ea typeface="+mn-ea"/>
                                        <a:cs typeface="+mn-cs"/>
                                      </a:rPr>
                                      <m:t>𝟑</m:t>
                                    </m:r>
                                  </m:sub>
                                </m:sSub>
                              </m:oMath>
                            </m:oMathPara>
                          </a14:m>
                          <a:endParaRPr lang="zh-CN" altLang="en-US" sz="1600" b="1" i="0"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oMath>
                            </m:oMathPara>
                          </a14:m>
                          <a:endParaRPr lang="zh-CN" altLang="en-US" sz="1600" b="1" i="1" kern="1200">
                            <a:solidFill>
                              <a:schemeClr val="accent6">
                                <a:lumMod val="50000"/>
                              </a:schemeClr>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r>
                                  <a:rPr lang="en-US" altLang="zh-CN" sz="1600" b="1" i="1" kern="1200" smtClean="0">
                                    <a:solidFill>
                                      <a:srgbClr val="C00000"/>
                                    </a:solidFill>
                                    <a:latin typeface="Cambria Math" panose="02040503050406030204" pitchFamily="18" charset="0"/>
                                    <a:ea typeface="+mn-ea"/>
                                    <a:cs typeface="+mn-cs"/>
                                  </a:rPr>
                                  <m:t>𝟏𝟏𝟏</m:t>
                                </m:r>
                              </m:oMath>
                            </m:oMathPara>
                          </a14:m>
                          <a:endParaRPr lang="zh-CN" altLang="en-US" sz="1600" b="1" i="0" kern="1200">
                            <a:solidFill>
                              <a:srgbClr val="C0000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tc>
                      <a:txBody>
                        <a:bodyPr/>
                        <a:lstStyle/>
                        <a:p>
                          <a:pPr marL="0" algn="l" defTabSz="914400" rtl="0" eaLnBrk="1" latinLnBrk="0" hangingPunct="1">
                            <a:lnSpc>
                              <a:spcPts val="1800"/>
                            </a:lnSpc>
                          </a:pPr>
                          <a14:m>
                            <m:oMathPara xmlns:m="http://schemas.openxmlformats.org/officeDocument/2006/math">
                              <m:oMathParaPr>
                                <m:jc m:val="centerGroup"/>
                              </m:oMathParaPr>
                              <m:oMath xmlns:m="http://schemas.openxmlformats.org/officeDocument/2006/math">
                                <m:sSub>
                                  <m:sSubPr>
                                    <m:ctrlPr>
                                      <a:rPr lang="en-US" altLang="zh-CN" sz="1600" b="1" i="1" kern="1200" smtClean="0">
                                        <a:solidFill>
                                          <a:srgbClr val="002060"/>
                                        </a:solidFill>
                                        <a:latin typeface="Cambria Math" panose="02040503050406030204" pitchFamily="18" charset="0"/>
                                        <a:ea typeface="+mn-ea"/>
                                        <a:cs typeface="+mn-cs"/>
                                      </a:rPr>
                                    </m:ctrlPr>
                                  </m:sSubPr>
                                  <m:e>
                                    <m:r>
                                      <a:rPr lang="en-US" altLang="zh-CN" sz="1600" b="1" i="1" smtClean="0">
                                        <a:solidFill>
                                          <a:srgbClr val="002060"/>
                                        </a:solidFill>
                                        <a:latin typeface="Cambria Math" panose="02040503050406030204" pitchFamily="18" charset="0"/>
                                      </a:rPr>
                                      <m:t>𝑴</m:t>
                                    </m:r>
                                  </m:e>
                                  <m:sub>
                                    <m:r>
                                      <a:rPr lang="en-US" altLang="zh-CN" sz="1600" b="1" i="1" kern="1200" smtClean="0">
                                        <a:solidFill>
                                          <a:srgbClr val="002060"/>
                                        </a:solidFill>
                                        <a:latin typeface="Cambria Math" panose="02040503050406030204" pitchFamily="18" charset="0"/>
                                        <a:ea typeface="+mn-ea"/>
                                        <a:cs typeface="+mn-cs"/>
                                      </a:rPr>
                                      <m:t>𝟕</m:t>
                                    </m:r>
                                  </m:sub>
                                </m:sSub>
                              </m:oMath>
                            </m:oMathPara>
                          </a14:m>
                          <a:endParaRPr lang="zh-CN" altLang="en-US" sz="1600" b="1" i="1" kern="1200">
                            <a:solidFill>
                              <a:srgbClr val="002060"/>
                            </a:solidFill>
                            <a:latin typeface="Cambria Math" panose="02040503050406030204" pitchFamily="18" charset="0"/>
                            <a:ea typeface="+mn-ea"/>
                            <a:cs typeface="+mn-cs"/>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20000"/>
                            <a:lumOff val="80000"/>
                            <a:alpha val="50000"/>
                          </a:schemeClr>
                        </a:solidFill>
                      </a:tcPr>
                    </a:tc>
                    <a:extLst>
                      <a:ext uri="{0D108BD9-81ED-4DB2-BD59-A6C34878D82A}">
                        <a16:rowId xmlns:a16="http://schemas.microsoft.com/office/drawing/2014/main" val="3351949"/>
                      </a:ext>
                    </a:extLst>
                  </a:tr>
                </a:tbl>
              </a:graphicData>
            </a:graphic>
          </p:graphicFrame>
        </mc:Choice>
        <mc:Fallback xmlns="">
          <p:graphicFrame>
            <p:nvGraphicFramePr>
              <p:cNvPr id="12" name="表格 11">
                <a:extLst>
                  <a:ext uri="{FF2B5EF4-FFF2-40B4-BE49-F238E27FC236}">
                    <a16:creationId xmlns:a16="http://schemas.microsoft.com/office/drawing/2014/main" id="{6F092047-4E8C-492E-8992-580D0DCEAE32}"/>
                  </a:ext>
                </a:extLst>
              </p:cNvPr>
              <p:cNvGraphicFramePr>
                <a:graphicFrameLocks noGrp="1"/>
              </p:cNvGraphicFramePr>
              <p:nvPr>
                <p:extLst>
                  <p:ext uri="{D42A27DB-BD31-4B8C-83A1-F6EECF244321}">
                    <p14:modId xmlns:p14="http://schemas.microsoft.com/office/powerpoint/2010/main" val="3412827799"/>
                  </p:ext>
                </p:extLst>
              </p:nvPr>
            </p:nvGraphicFramePr>
            <p:xfrm>
              <a:off x="6153014" y="4034818"/>
              <a:ext cx="5883299" cy="2222657"/>
            </p:xfrm>
            <a:graphic>
              <a:graphicData uri="http://schemas.openxmlformats.org/drawingml/2006/table">
                <a:tbl>
                  <a:tblPr firstRow="1">
                    <a:tableStyleId>{5C22544A-7EE6-4342-B048-85BDC9FD1C3A}</a:tableStyleId>
                  </a:tblPr>
                  <a:tblGrid>
                    <a:gridCol w="1440988">
                      <a:extLst>
                        <a:ext uri="{9D8B030D-6E8A-4147-A177-3AD203B41FA5}">
                          <a16:colId xmlns:a16="http://schemas.microsoft.com/office/drawing/2014/main" val="1790152541"/>
                        </a:ext>
                      </a:extLst>
                    </a:gridCol>
                    <a:gridCol w="795637">
                      <a:extLst>
                        <a:ext uri="{9D8B030D-6E8A-4147-A177-3AD203B41FA5}">
                          <a16:colId xmlns:a16="http://schemas.microsoft.com/office/drawing/2014/main" val="1035986538"/>
                        </a:ext>
                      </a:extLst>
                    </a:gridCol>
                    <a:gridCol w="702814">
                      <a:extLst>
                        <a:ext uri="{9D8B030D-6E8A-4147-A177-3AD203B41FA5}">
                          <a16:colId xmlns:a16="http://schemas.microsoft.com/office/drawing/2014/main" val="1504876812"/>
                        </a:ext>
                      </a:extLst>
                    </a:gridCol>
                    <a:gridCol w="1531602">
                      <a:extLst>
                        <a:ext uri="{9D8B030D-6E8A-4147-A177-3AD203B41FA5}">
                          <a16:colId xmlns:a16="http://schemas.microsoft.com/office/drawing/2014/main" val="2001225579"/>
                        </a:ext>
                      </a:extLst>
                    </a:gridCol>
                    <a:gridCol w="762486">
                      <a:extLst>
                        <a:ext uri="{9D8B030D-6E8A-4147-A177-3AD203B41FA5}">
                          <a16:colId xmlns:a16="http://schemas.microsoft.com/office/drawing/2014/main" val="1787477891"/>
                        </a:ext>
                      </a:extLst>
                    </a:gridCol>
                    <a:gridCol w="649772">
                      <a:extLst>
                        <a:ext uri="{9D8B030D-6E8A-4147-A177-3AD203B41FA5}">
                          <a16:colId xmlns:a16="http://schemas.microsoft.com/office/drawing/2014/main" val="3332346248"/>
                        </a:ext>
                      </a:extLst>
                    </a:gridCol>
                  </a:tblGrid>
                  <a:tr h="387236">
                    <a:tc gridSpan="6">
                      <a:txBody>
                        <a:bodyPr/>
                        <a:lstStyle/>
                        <a:p>
                          <a:endParaRPr lang="zh-CN"/>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04" t="-1563" r="-207" b="-475000"/>
                          </a:stretch>
                        </a:blip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solidFill>
                          <a:schemeClr val="accent6">
                            <a:lumMod val="50000"/>
                          </a:schemeClr>
                        </a:solidFill>
                      </a:tcPr>
                    </a:tc>
                    <a:extLst>
                      <a:ext uri="{0D108BD9-81ED-4DB2-BD59-A6C34878D82A}">
                        <a16:rowId xmlns:a16="http://schemas.microsoft.com/office/drawing/2014/main" val="603650435"/>
                      </a:ext>
                    </a:extLst>
                  </a:tr>
                  <a:tr h="373932">
                    <a:tc>
                      <a:txBody>
                        <a:bodyPr/>
                        <a:lstStyle/>
                        <a:p>
                          <a:pPr algn="ctr">
                            <a:lnSpc>
                              <a:spcPts val="1800"/>
                            </a:lnSpc>
                          </a:pPr>
                          <a:r>
                            <a:rPr lang="zh-CN" altLang="en-US" sz="1800" b="1">
                              <a:solidFill>
                                <a:schemeClr val="accent4">
                                  <a:lumMod val="20000"/>
                                  <a:lumOff val="80000"/>
                                </a:schemeClr>
                              </a:solidFill>
                            </a:rPr>
                            <a:t>极</a:t>
                          </a:r>
                          <a:r>
                            <a:rPr lang="zh-CN" altLang="en-US" sz="1800" b="1" kern="1200">
                              <a:solidFill>
                                <a:schemeClr val="accent4">
                                  <a:lumMod val="20000"/>
                                  <a:lumOff val="80000"/>
                                </a:schemeClr>
                              </a:solidFill>
                              <a:latin typeface="+mn-lt"/>
                              <a:ea typeface="+mn-ea"/>
                              <a:cs typeface="+mn-cs"/>
                            </a:rPr>
                            <a:t>大</a:t>
                          </a:r>
                          <a:r>
                            <a:rPr lang="zh-CN" altLang="en-US" sz="1800" b="1">
                              <a:solidFill>
                                <a:schemeClr val="accent4">
                                  <a:lumMod val="20000"/>
                                  <a:lumOff val="80000"/>
                                </a:schemeClr>
                              </a:solidFill>
                            </a:rPr>
                            <a:t>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极</a:t>
                          </a:r>
                          <a:r>
                            <a:rPr lang="zh-CN" altLang="en-US" sz="1800" b="1" kern="1200">
                              <a:solidFill>
                                <a:schemeClr val="accent4">
                                  <a:lumMod val="20000"/>
                                  <a:lumOff val="80000"/>
                                </a:schemeClr>
                              </a:solidFill>
                              <a:latin typeface="+mn-lt"/>
                              <a:ea typeface="+mn-ea"/>
                              <a:cs typeface="+mn-cs"/>
                            </a:rPr>
                            <a:t>大</a:t>
                          </a:r>
                          <a:r>
                            <a:rPr lang="zh-CN" altLang="en-US" sz="1800" b="1">
                              <a:solidFill>
                                <a:schemeClr val="accent4">
                                  <a:lumMod val="20000"/>
                                  <a:lumOff val="80000"/>
                                </a:schemeClr>
                              </a:solidFill>
                            </a:rPr>
                            <a:t>项</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编码</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tc>
                      <a:txBody>
                        <a:bodyPr/>
                        <a:lstStyle/>
                        <a:p>
                          <a:pPr algn="ctr">
                            <a:lnSpc>
                              <a:spcPts val="1800"/>
                            </a:lnSpc>
                          </a:pPr>
                          <a:r>
                            <a:rPr lang="zh-CN" altLang="en-US" sz="1800" b="1">
                              <a:solidFill>
                                <a:schemeClr val="accent4">
                                  <a:lumMod val="20000"/>
                                  <a:lumOff val="80000"/>
                                </a:schemeClr>
                              </a:solidFill>
                            </a:rPr>
                            <a:t>名称</a:t>
                          </a:r>
                        </a:p>
                      </a:txBody>
                      <a:tcPr anchor="b">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545840730"/>
                      </a:ext>
                    </a:extLst>
                  </a:tr>
                  <a:tr h="373932">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422" t="-203226" r="-308439" b="-29193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83077" t="-203226" r="-462308" b="-29193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17241" t="-203226" r="-418103" b="-29193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92829" t="-203226" r="-93227" b="-29193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588000" t="-203226" r="-87200" b="-29193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803738" t="-203226" r="-1869" b="-291935"/>
                          </a:stretch>
                        </a:blipFill>
                      </a:tcPr>
                    </a:tc>
                    <a:extLst>
                      <a:ext uri="{0D108BD9-81ED-4DB2-BD59-A6C34878D82A}">
                        <a16:rowId xmlns:a16="http://schemas.microsoft.com/office/drawing/2014/main" val="1200295186"/>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422" t="-313333" r="-308439" b="-201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83077" t="-313333" r="-462308" b="-201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17241" t="-313333" r="-418103" b="-201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92829" t="-313333" r="-93227" b="-201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588000" t="-313333" r="-87200" b="-201667"/>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803738" t="-313333" r="-1869" b="-201667"/>
                          </a:stretch>
                        </a:blipFill>
                      </a:tcPr>
                    </a:tc>
                    <a:extLst>
                      <a:ext uri="{0D108BD9-81ED-4DB2-BD59-A6C34878D82A}">
                        <a16:rowId xmlns:a16="http://schemas.microsoft.com/office/drawing/2014/main" val="4202317707"/>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422" t="-420339" r="-308439" b="-10508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83077" t="-420339" r="-462308" b="-10508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17241" t="-420339" r="-418103" b="-10508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92829" t="-420339" r="-93227" b="-10508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588000" t="-420339" r="-87200" b="-105085"/>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803738" t="-420339" r="-1869" b="-105085"/>
                          </a:stretch>
                        </a:blipFill>
                      </a:tcPr>
                    </a:tc>
                    <a:extLst>
                      <a:ext uri="{0D108BD9-81ED-4DB2-BD59-A6C34878D82A}">
                        <a16:rowId xmlns:a16="http://schemas.microsoft.com/office/drawing/2014/main" val="3838677932"/>
                      </a:ext>
                    </a:extLst>
                  </a:tr>
                  <a:tr h="362519">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422" t="-511667" r="-308439"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83077" t="-511667" r="-462308"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317241" t="-511667" r="-418103"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192829" t="-511667" r="-93227"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588000" t="-511667" r="-87200" b="-3333"/>
                          </a:stretch>
                        </a:blipFill>
                      </a:tcPr>
                    </a:tc>
                    <a:tc>
                      <a:txBody>
                        <a:bodyPr/>
                        <a:lstStyle/>
                        <a:p>
                          <a:endParaRPr lang="zh-CN"/>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blipFill>
                          <a:blip r:embed="rId4"/>
                          <a:stretch>
                            <a:fillRect l="-803738" t="-511667" r="-1869" b="-3333"/>
                          </a:stretch>
                        </a:blipFill>
                      </a:tcPr>
                    </a:tc>
                    <a:extLst>
                      <a:ext uri="{0D108BD9-81ED-4DB2-BD59-A6C34878D82A}">
                        <a16:rowId xmlns:a16="http://schemas.microsoft.com/office/drawing/2014/main" val="3351949"/>
                      </a:ext>
                    </a:extLst>
                  </a:tr>
                </a:tbl>
              </a:graphicData>
            </a:graphic>
          </p:graphicFrame>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5C251ED-FC6A-48BB-A5FB-AC326A7A8AED}"/>
                  </a:ext>
                </a:extLst>
              </p:cNvPr>
              <p:cNvSpPr txBox="1"/>
              <p:nvPr/>
            </p:nvSpPr>
            <p:spPr>
              <a:xfrm>
                <a:off x="6492900" y="1155648"/>
                <a:ext cx="5203526" cy="2693045"/>
              </a:xfrm>
              <a:prstGeom prst="rect">
                <a:avLst/>
              </a:prstGeom>
              <a:solidFill>
                <a:schemeClr val="accent5">
                  <a:lumMod val="20000"/>
                  <a:lumOff val="80000"/>
                </a:schemeClr>
              </a:solidFill>
            </p:spPr>
            <p:txBody>
              <a:bodyPr wrap="square" rtlCol="0">
                <a:spAutoFit/>
              </a:bodyPr>
              <a:lstStyle/>
              <a:p>
                <a:pPr algn="ctr">
                  <a:spcBef>
                    <a:spcPts val="600"/>
                  </a:spcBef>
                  <a:spcAft>
                    <a:spcPts val="1200"/>
                  </a:spcAft>
                </a:pPr>
                <a:r>
                  <a:rPr lang="zh-CN" altLang="en-US" sz="2400" b="1">
                    <a:solidFill>
                      <a:srgbClr val="C00000"/>
                    </a:solidFill>
                  </a:rPr>
                  <a:t>极大项</a:t>
                </a:r>
                <a:r>
                  <a:rPr lang="zh-CN" altLang="en-US" sz="2400" b="1">
                    <a:solidFill>
                      <a:schemeClr val="accent6">
                        <a:lumMod val="50000"/>
                      </a:schemeClr>
                    </a:solidFill>
                  </a:rPr>
                  <a:t>的编码</a:t>
                </a:r>
                <a:endParaRPr lang="en-US" altLang="zh-CN" sz="2000" b="1">
                  <a:solidFill>
                    <a:schemeClr val="accent6">
                      <a:lumMod val="50000"/>
                    </a:schemeClr>
                  </a:solidFill>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含有第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个</a:t>
                </a:r>
                <a:r>
                  <a:rPr lang="zh-CN" altLang="en-US" sz="2000" b="1">
                    <a:solidFill>
                      <a:srgbClr val="C00000"/>
                    </a:solidFill>
                    <a:latin typeface="黑体" panose="02010609060101010101" pitchFamily="49" charset="-122"/>
                    <a:ea typeface="黑体" panose="02010609060101010101" pitchFamily="49" charset="-122"/>
                  </a:rPr>
                  <a:t>命题变量本身</a:t>
                </a:r>
                <a:r>
                  <a:rPr lang="zh-CN" altLang="en-US" sz="2000" b="1">
                    <a:solidFill>
                      <a:schemeClr val="accent6">
                        <a:lumMod val="50000"/>
                      </a:schemeClr>
                    </a:solidFill>
                    <a:latin typeface="宋体" panose="02010600030101010101" pitchFamily="2" charset="-122"/>
                    <a:ea typeface="宋体" panose="02010600030101010101" pitchFamily="2" charset="-122"/>
                  </a:rPr>
                  <a:t>则第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位</a:t>
                </a:r>
                <a:r>
                  <a:rPr lang="zh-CN" altLang="en-US" sz="2000" b="1">
                    <a:solidFill>
                      <a:srgbClr val="C00000"/>
                    </a:solidFill>
                    <a:latin typeface="黑体" panose="02010609060101010101" pitchFamily="49" charset="-122"/>
                    <a:ea typeface="黑体" panose="02010609060101010101" pitchFamily="49" charset="-122"/>
                  </a:rPr>
                  <a:t>编码为</a:t>
                </a:r>
                <a14:m>
                  <m:oMath xmlns:m="http://schemas.openxmlformats.org/officeDocument/2006/math">
                    <m:r>
                      <a:rPr lang="en-US" altLang="zh-CN" sz="2000" b="1">
                        <a:solidFill>
                          <a:srgbClr val="C00000"/>
                        </a:solidFill>
                        <a:latin typeface="Cambria Math" panose="02040503050406030204" pitchFamily="18" charset="0"/>
                        <a:ea typeface="黑体" panose="02010609060101010101" pitchFamily="49" charset="-122"/>
                      </a:rPr>
                      <m:t>𝟎</m:t>
                    </m:r>
                  </m:oMath>
                </a14:m>
                <a:endParaRPr lang="en-US" altLang="zh-CN" sz="2000" b="1">
                  <a:solidFill>
                    <a:srgbClr val="C00000"/>
                  </a:solidFill>
                  <a:latin typeface="黑体" panose="02010609060101010101" pitchFamily="49" charset="-122"/>
                  <a:ea typeface="黑体" panose="02010609060101010101" pitchFamily="49" charset="-122"/>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含有第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个</a:t>
                </a:r>
                <a:r>
                  <a:rPr lang="zh-CN" altLang="en-US" sz="2000" b="1">
                    <a:solidFill>
                      <a:srgbClr val="C00000"/>
                    </a:solidFill>
                    <a:latin typeface="黑体" panose="02010609060101010101" pitchFamily="49" charset="-122"/>
                    <a:ea typeface="黑体" panose="02010609060101010101" pitchFamily="49" charset="-122"/>
                  </a:rPr>
                  <a:t>命题变量的否定</a:t>
                </a:r>
                <a:r>
                  <a:rPr lang="zh-CN" altLang="en-US" sz="2000" b="1">
                    <a:solidFill>
                      <a:schemeClr val="accent6">
                        <a:lumMod val="50000"/>
                      </a:schemeClr>
                    </a:solidFill>
                    <a:latin typeface="宋体" panose="02010600030101010101" pitchFamily="2" charset="-122"/>
                    <a:ea typeface="宋体" panose="02010600030101010101" pitchFamily="2" charset="-122"/>
                  </a:rPr>
                  <a:t>则第</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𝒊</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位</a:t>
                </a:r>
                <a:r>
                  <a:rPr lang="zh-CN" altLang="en-US" sz="2000" b="1">
                    <a:solidFill>
                      <a:srgbClr val="C00000"/>
                    </a:solidFill>
                    <a:latin typeface="黑体" panose="02010609060101010101" pitchFamily="49" charset="-122"/>
                    <a:ea typeface="黑体" panose="02010609060101010101" pitchFamily="49" charset="-122"/>
                  </a:rPr>
                  <a:t>编码为</a:t>
                </a:r>
                <a14:m>
                  <m:oMath xmlns:m="http://schemas.openxmlformats.org/officeDocument/2006/math">
                    <m:r>
                      <a:rPr lang="en-US" altLang="zh-CN" sz="2000" b="1">
                        <a:solidFill>
                          <a:srgbClr val="C00000"/>
                        </a:solidFill>
                        <a:latin typeface="Cambria Math" panose="02040503050406030204" pitchFamily="18" charset="0"/>
                        <a:ea typeface="黑体" panose="02010609060101010101" pitchFamily="49" charset="-122"/>
                      </a:rPr>
                      <m:t>𝟏</m:t>
                    </m:r>
                  </m:oMath>
                </a14:m>
                <a:endParaRPr lang="en-US" altLang="zh-CN" sz="2000" b="1">
                  <a:solidFill>
                    <a:srgbClr val="C00000"/>
                  </a:solidFill>
                  <a:latin typeface="黑体" panose="02010609060101010101" pitchFamily="49" charset="-122"/>
                  <a:ea typeface="黑体" panose="02010609060101010101" pitchFamily="49" charset="-122"/>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是</a:t>
                </a:r>
                <a:r>
                  <a:rPr lang="zh-CN" altLang="en-US" sz="2000" b="1">
                    <a:solidFill>
                      <a:srgbClr val="C00000"/>
                    </a:solidFill>
                    <a:latin typeface="黑体" panose="02010609060101010101" pitchFamily="49" charset="-122"/>
                    <a:ea typeface="黑体" panose="02010609060101010101" pitchFamily="49" charset="-122"/>
                  </a:rPr>
                  <a:t>使得其真值为</a:t>
                </a:r>
                <a14:m>
                  <m:oMath xmlns:m="http://schemas.openxmlformats.org/officeDocument/2006/math">
                    <m:r>
                      <a:rPr lang="en-US" altLang="zh-CN" sz="2000" b="1">
                        <a:solidFill>
                          <a:srgbClr val="C00000"/>
                        </a:solidFill>
                        <a:latin typeface="Cambria Math" panose="02040503050406030204" pitchFamily="18" charset="0"/>
                        <a:ea typeface="黑体" panose="02010609060101010101" pitchFamily="49" charset="-122"/>
                      </a:rPr>
                      <m:t>𝟎</m:t>
                    </m:r>
                  </m:oMath>
                </a14:m>
                <a:r>
                  <a:rPr lang="zh-CN" altLang="en-US" sz="2000" b="1">
                    <a:solidFill>
                      <a:schemeClr val="accent6">
                        <a:lumMod val="50000"/>
                      </a:schemeClr>
                    </a:solidFill>
                    <a:latin typeface="宋体" panose="02010600030101010101" pitchFamily="2" charset="-122"/>
                    <a:ea typeface="宋体" panose="02010600030101010101" pitchFamily="2" charset="-122"/>
                  </a:rPr>
                  <a:t>的唯一真值赋值方式</a:t>
                </a:r>
                <a:endParaRPr lang="en-US" altLang="zh-CN" sz="2000" b="1">
                  <a:solidFill>
                    <a:schemeClr val="accent6">
                      <a:lumMod val="50000"/>
                    </a:schemeClr>
                  </a:solidFill>
                  <a:latin typeface="宋体" panose="02010600030101010101" pitchFamily="2" charset="-122"/>
                  <a:ea typeface="宋体" panose="02010600030101010101" pitchFamily="2" charset="-122"/>
                  <a:cs typeface="Arial" panose="020B0604020202020204" pitchFamily="34" charset="0"/>
                </a:endParaRPr>
              </a:p>
              <a:p>
                <a:pPr marL="285750" indent="-285750">
                  <a:spcBef>
                    <a:spcPts val="1200"/>
                  </a:spcBef>
                  <a:spcAft>
                    <a:spcPts val="6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分别使用</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𝑴</m:t>
                        </m:r>
                      </m:e>
                      <m:sub>
                        <m:r>
                          <a:rPr lang="en-US" altLang="zh-CN" sz="2000" b="1" i="1">
                            <a:solidFill>
                              <a:schemeClr val="accent6">
                                <a:lumMod val="50000"/>
                              </a:schemeClr>
                            </a:solidFill>
                            <a:latin typeface="Cambria Math" panose="02040503050406030204" pitchFamily="18" charset="0"/>
                            <a:ea typeface="楷体" panose="02010609060101010101" pitchFamily="49" charset="-122"/>
                          </a:rPr>
                          <m:t>𝟎</m:t>
                        </m:r>
                      </m:sub>
                    </m:sSub>
                    <m:r>
                      <a:rPr lang="en-US" altLang="zh-CN" sz="2000" b="1" i="1">
                        <a:solidFill>
                          <a:schemeClr val="accent6">
                            <a:lumMod val="50000"/>
                          </a:schemeClr>
                        </a:solidFill>
                        <a:latin typeface="Cambria Math" panose="02040503050406030204" pitchFamily="18" charset="0"/>
                        <a:ea typeface="楷体" panose="02010609060101010101" pitchFamily="49" charset="-122"/>
                      </a:rPr>
                      <m:t>, </m:t>
                    </m:r>
                    <m:sSub>
                      <m:sSubPr>
                        <m:ctrlPr>
                          <a:rPr lang="en-US" altLang="zh-CN" sz="2000"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sz="2000" b="1" i="1">
                            <a:solidFill>
                              <a:schemeClr val="accent6">
                                <a:lumMod val="50000"/>
                              </a:schemeClr>
                            </a:solidFill>
                            <a:latin typeface="Cambria Math" panose="02040503050406030204" pitchFamily="18" charset="0"/>
                            <a:ea typeface="楷体" panose="02010609060101010101" pitchFamily="49" charset="-122"/>
                          </a:rPr>
                          <m:t>𝑴</m:t>
                        </m:r>
                      </m:e>
                      <m:sub>
                        <m:r>
                          <a:rPr lang="en-US" altLang="zh-CN" sz="2000" b="1" i="1">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000" b="1" i="1">
                        <a:solidFill>
                          <a:schemeClr val="accent6">
                            <a:lumMod val="50000"/>
                          </a:schemeClr>
                        </a:solidFill>
                        <a:latin typeface="Cambria Math" panose="02040503050406030204" pitchFamily="18" charset="0"/>
                        <a:ea typeface="楷体" panose="02010609060101010101" pitchFamily="49" charset="-122"/>
                      </a:rPr>
                      <m:t>, ⋯, </m:t>
                    </m:r>
                    <m:sSub>
                      <m:sSubPr>
                        <m:ctrlPr>
                          <a:rPr lang="en-US" altLang="zh-CN" sz="2000"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sz="2000" b="1" i="1">
                            <a:solidFill>
                              <a:schemeClr val="accent6">
                                <a:lumMod val="50000"/>
                              </a:schemeClr>
                            </a:solidFill>
                            <a:latin typeface="Cambria Math" panose="02040503050406030204" pitchFamily="18" charset="0"/>
                            <a:ea typeface="楷体" panose="02010609060101010101" pitchFamily="49" charset="-122"/>
                          </a:rPr>
                          <m:t>𝑴</m:t>
                        </m:r>
                      </m:e>
                      <m:sub>
                        <m:sSup>
                          <m:sSupPr>
                            <m:ctrlPr>
                              <a:rPr lang="en-US" altLang="zh-CN" sz="2000" b="1" i="1" smtClean="0">
                                <a:solidFill>
                                  <a:schemeClr val="accent6">
                                    <a:lumMod val="50000"/>
                                  </a:schemeClr>
                                </a:solidFill>
                                <a:latin typeface="Cambria Math" panose="02040503050406030204" pitchFamily="18" charset="0"/>
                                <a:ea typeface="楷体" panose="02010609060101010101" pitchFamily="49" charset="-122"/>
                              </a:rPr>
                            </m:ctrlPr>
                          </m:sSupPr>
                          <m:e>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𝟐</m:t>
                            </m:r>
                          </m:e>
                          <m:sup>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𝒏</m:t>
                            </m:r>
                          </m:sup>
                        </m:sSup>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𝟏</m:t>
                        </m:r>
                      </m:sub>
                    </m:sSub>
                  </m:oMath>
                </a14:m>
                <a:r>
                  <a:rPr lang="zh-CN" altLang="en-US" sz="2000" b="1">
                    <a:solidFill>
                      <a:schemeClr val="accent6">
                        <a:lumMod val="50000"/>
                      </a:schemeClr>
                    </a:solidFill>
                    <a:latin typeface="宋体" panose="02010600030101010101" pitchFamily="2" charset="-122"/>
                    <a:ea typeface="宋体" panose="02010600030101010101" pitchFamily="2" charset="-122"/>
                  </a:rPr>
                  <a:t>命名</a:t>
                </a:r>
                <a:endParaRPr lang="zh-CN" altLang="en-US" sz="2000" b="1">
                  <a:solidFill>
                    <a:srgbClr val="002060"/>
                  </a:solidFill>
                  <a:latin typeface="宋体" panose="02010600030101010101" pitchFamily="2" charset="-122"/>
                  <a:ea typeface="宋体" panose="02010600030101010101" pitchFamily="2" charset="-122"/>
                </a:endParaRPr>
              </a:p>
            </p:txBody>
          </p:sp>
        </mc:Choice>
        <mc:Fallback xmlns="">
          <p:sp>
            <p:nvSpPr>
              <p:cNvPr id="13" name="文本框 12">
                <a:extLst>
                  <a:ext uri="{FF2B5EF4-FFF2-40B4-BE49-F238E27FC236}">
                    <a16:creationId xmlns:a16="http://schemas.microsoft.com/office/drawing/2014/main" id="{D5C251ED-FC6A-48BB-A5FB-AC326A7A8AED}"/>
                  </a:ext>
                </a:extLst>
              </p:cNvPr>
              <p:cNvSpPr txBox="1">
                <a:spLocks noRot="1" noChangeAspect="1" noMove="1" noResize="1" noEditPoints="1" noAdjustHandles="1" noChangeArrowheads="1" noChangeShapeType="1" noTextEdit="1"/>
              </p:cNvSpPr>
              <p:nvPr/>
            </p:nvSpPr>
            <p:spPr>
              <a:xfrm>
                <a:off x="6492900" y="1155648"/>
                <a:ext cx="5203526" cy="2693045"/>
              </a:xfrm>
              <a:prstGeom prst="rect">
                <a:avLst/>
              </a:prstGeom>
              <a:blipFill>
                <a:blip r:embed="rId5"/>
                <a:stretch>
                  <a:fillRect l="-1054" t="-1587" b="-29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2317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极小项及其编码的练习</a:t>
            </a:r>
          </a:p>
        </p:txBody>
      </p:sp>
      <p:pic>
        <p:nvPicPr>
          <p:cNvPr id="2" name="图片 1">
            <a:extLst>
              <a:ext uri="{FF2B5EF4-FFF2-40B4-BE49-F238E27FC236}">
                <a16:creationId xmlns:a16="http://schemas.microsoft.com/office/drawing/2014/main" id="{F39A8B9B-B9DB-40A1-9262-E72B01FCBEEA}"/>
              </a:ext>
            </a:extLst>
          </p:cNvPr>
          <p:cNvPicPr>
            <a:picLocks noChangeAspect="1"/>
          </p:cNvPicPr>
          <p:nvPr/>
        </p:nvPicPr>
        <p:blipFill>
          <a:blip r:embed="rId2"/>
          <a:stretch>
            <a:fillRect/>
          </a:stretch>
        </p:blipFill>
        <p:spPr>
          <a:xfrm>
            <a:off x="519695" y="1644876"/>
            <a:ext cx="11264442" cy="3415969"/>
          </a:xfrm>
          <a:prstGeom prst="rect">
            <a:avLst/>
          </a:prstGeom>
        </p:spPr>
      </p:pic>
      <p:sp>
        <p:nvSpPr>
          <p:cNvPr id="3" name="文本框 2">
            <a:extLst>
              <a:ext uri="{FF2B5EF4-FFF2-40B4-BE49-F238E27FC236}">
                <a16:creationId xmlns:a16="http://schemas.microsoft.com/office/drawing/2014/main" id="{6DACA17A-6482-487C-89CC-7960AD47E45E}"/>
              </a:ext>
            </a:extLst>
          </p:cNvPr>
          <p:cNvSpPr txBox="1"/>
          <p:nvPr/>
        </p:nvSpPr>
        <p:spPr>
          <a:xfrm>
            <a:off x="760903" y="5479822"/>
            <a:ext cx="10782026" cy="369332"/>
          </a:xfrm>
          <a:prstGeom prst="rect">
            <a:avLst/>
          </a:prstGeom>
          <a:solidFill>
            <a:schemeClr val="accent6">
              <a:lumMod val="20000"/>
              <a:lumOff val="80000"/>
              <a:alpha val="50000"/>
            </a:schemeClr>
          </a:solidFill>
        </p:spPr>
        <p:txBody>
          <a:bodyPr wrap="square" rtlCol="0">
            <a:spAutoFit/>
          </a:bodyPr>
          <a:lstStyle/>
          <a:p>
            <a:r>
              <a:rPr lang="en-US" altLang="zh-CN">
                <a:solidFill>
                  <a:srgbClr val="002060"/>
                </a:solidFill>
              </a:rPr>
              <a:t>20</a:t>
            </a:r>
            <a:r>
              <a:rPr lang="zh-CN" altLang="en-US">
                <a:solidFill>
                  <a:srgbClr val="002060"/>
                </a:solidFill>
              </a:rPr>
              <a:t>的二进制表示是</a:t>
            </a:r>
            <a:r>
              <a:rPr lang="en-US" altLang="zh-CN">
                <a:solidFill>
                  <a:srgbClr val="002060"/>
                </a:solidFill>
              </a:rPr>
              <a:t>10100</a:t>
            </a:r>
            <a:r>
              <a:rPr lang="zh-CN" altLang="en-US">
                <a:solidFill>
                  <a:srgbClr val="002060"/>
                </a:solidFill>
              </a:rPr>
              <a:t>，</a:t>
            </a:r>
            <a:r>
              <a:rPr lang="en-US" altLang="zh-CN">
                <a:solidFill>
                  <a:srgbClr val="002060"/>
                </a:solidFill>
              </a:rPr>
              <a:t>18</a:t>
            </a:r>
            <a:r>
              <a:rPr lang="zh-CN" altLang="en-US">
                <a:solidFill>
                  <a:srgbClr val="002060"/>
                </a:solidFill>
              </a:rPr>
              <a:t>的二进制表示是</a:t>
            </a:r>
            <a:r>
              <a:rPr lang="en-US" altLang="zh-CN">
                <a:solidFill>
                  <a:srgbClr val="002060"/>
                </a:solidFill>
              </a:rPr>
              <a:t>10010</a:t>
            </a:r>
            <a:r>
              <a:rPr lang="zh-CN" altLang="en-US">
                <a:solidFill>
                  <a:srgbClr val="002060"/>
                </a:solidFill>
              </a:rPr>
              <a:t>，</a:t>
            </a:r>
            <a:r>
              <a:rPr lang="en-US" altLang="zh-CN">
                <a:solidFill>
                  <a:srgbClr val="002060"/>
                </a:solidFill>
              </a:rPr>
              <a:t>13</a:t>
            </a:r>
            <a:r>
              <a:rPr lang="zh-CN" altLang="en-US">
                <a:solidFill>
                  <a:srgbClr val="002060"/>
                </a:solidFill>
              </a:rPr>
              <a:t>的二进制表示是</a:t>
            </a:r>
            <a:r>
              <a:rPr lang="en-US" altLang="zh-CN">
                <a:solidFill>
                  <a:srgbClr val="002060"/>
                </a:solidFill>
              </a:rPr>
              <a:t>01101</a:t>
            </a:r>
            <a:r>
              <a:rPr lang="zh-CN" altLang="en-US">
                <a:solidFill>
                  <a:srgbClr val="002060"/>
                </a:solidFill>
              </a:rPr>
              <a:t>，</a:t>
            </a:r>
            <a:r>
              <a:rPr lang="en-US" altLang="zh-CN">
                <a:solidFill>
                  <a:srgbClr val="002060"/>
                </a:solidFill>
              </a:rPr>
              <a:t>10</a:t>
            </a:r>
            <a:r>
              <a:rPr lang="zh-CN" altLang="en-US">
                <a:solidFill>
                  <a:srgbClr val="002060"/>
                </a:solidFill>
              </a:rPr>
              <a:t>的二进制表示是</a:t>
            </a:r>
            <a:r>
              <a:rPr lang="en-US" altLang="zh-CN">
                <a:solidFill>
                  <a:srgbClr val="002060"/>
                </a:solidFill>
              </a:rPr>
              <a:t>01010</a:t>
            </a:r>
            <a:endParaRPr lang="zh-CN" altLang="en-US">
              <a:solidFill>
                <a:srgbClr val="002060"/>
              </a:solidFill>
            </a:endParaRPr>
          </a:p>
        </p:txBody>
      </p:sp>
    </p:spTree>
    <p:extLst>
      <p:ext uri="{BB962C8B-B14F-4D97-AF65-F5344CB8AC3E}">
        <p14:creationId xmlns:p14="http://schemas.microsoft.com/office/powerpoint/2010/main" val="4281167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极小项及其编码的练习</a:t>
            </a:r>
          </a:p>
        </p:txBody>
      </p:sp>
      <p:pic>
        <p:nvPicPr>
          <p:cNvPr id="2" name="图片 1">
            <a:extLst>
              <a:ext uri="{FF2B5EF4-FFF2-40B4-BE49-F238E27FC236}">
                <a16:creationId xmlns:a16="http://schemas.microsoft.com/office/drawing/2014/main" id="{F39A8B9B-B9DB-40A1-9262-E72B01FCBEEA}"/>
              </a:ext>
            </a:extLst>
          </p:cNvPr>
          <p:cNvPicPr>
            <a:picLocks noChangeAspect="1"/>
          </p:cNvPicPr>
          <p:nvPr/>
        </p:nvPicPr>
        <p:blipFill>
          <a:blip r:embed="rId2"/>
          <a:stretch>
            <a:fillRect/>
          </a:stretch>
        </p:blipFill>
        <p:spPr>
          <a:xfrm>
            <a:off x="519695" y="1644876"/>
            <a:ext cx="11264442" cy="3415969"/>
          </a:xfrm>
          <a:prstGeom prst="rect">
            <a:avLst/>
          </a:prstGeom>
        </p:spPr>
      </p:pic>
      <p:sp>
        <p:nvSpPr>
          <p:cNvPr id="3" name="文本框 2">
            <a:extLst>
              <a:ext uri="{FF2B5EF4-FFF2-40B4-BE49-F238E27FC236}">
                <a16:creationId xmlns:a16="http://schemas.microsoft.com/office/drawing/2014/main" id="{6DACA17A-6482-487C-89CC-7960AD47E45E}"/>
              </a:ext>
            </a:extLst>
          </p:cNvPr>
          <p:cNvSpPr txBox="1"/>
          <p:nvPr/>
        </p:nvSpPr>
        <p:spPr>
          <a:xfrm>
            <a:off x="760903" y="5479822"/>
            <a:ext cx="10782026" cy="369332"/>
          </a:xfrm>
          <a:prstGeom prst="rect">
            <a:avLst/>
          </a:prstGeom>
          <a:solidFill>
            <a:schemeClr val="accent6">
              <a:lumMod val="20000"/>
              <a:lumOff val="80000"/>
              <a:alpha val="50000"/>
            </a:schemeClr>
          </a:solidFill>
        </p:spPr>
        <p:txBody>
          <a:bodyPr wrap="square" rtlCol="0">
            <a:spAutoFit/>
          </a:bodyPr>
          <a:lstStyle/>
          <a:p>
            <a:r>
              <a:rPr lang="en-US" altLang="zh-CN">
                <a:solidFill>
                  <a:srgbClr val="002060"/>
                </a:solidFill>
              </a:rPr>
              <a:t>20</a:t>
            </a:r>
            <a:r>
              <a:rPr lang="zh-CN" altLang="en-US">
                <a:solidFill>
                  <a:srgbClr val="002060"/>
                </a:solidFill>
              </a:rPr>
              <a:t>的二进制表示是</a:t>
            </a:r>
            <a:r>
              <a:rPr lang="en-US" altLang="zh-CN">
                <a:solidFill>
                  <a:srgbClr val="002060"/>
                </a:solidFill>
              </a:rPr>
              <a:t>10100</a:t>
            </a:r>
            <a:r>
              <a:rPr lang="zh-CN" altLang="en-US">
                <a:solidFill>
                  <a:srgbClr val="002060"/>
                </a:solidFill>
              </a:rPr>
              <a:t>，</a:t>
            </a:r>
            <a:r>
              <a:rPr lang="en-US" altLang="zh-CN">
                <a:solidFill>
                  <a:srgbClr val="002060"/>
                </a:solidFill>
              </a:rPr>
              <a:t>18</a:t>
            </a:r>
            <a:r>
              <a:rPr lang="zh-CN" altLang="en-US">
                <a:solidFill>
                  <a:srgbClr val="002060"/>
                </a:solidFill>
              </a:rPr>
              <a:t>的二进制表示是</a:t>
            </a:r>
            <a:r>
              <a:rPr lang="en-US" altLang="zh-CN">
                <a:solidFill>
                  <a:srgbClr val="002060"/>
                </a:solidFill>
              </a:rPr>
              <a:t>10010</a:t>
            </a:r>
            <a:r>
              <a:rPr lang="zh-CN" altLang="en-US">
                <a:solidFill>
                  <a:srgbClr val="002060"/>
                </a:solidFill>
              </a:rPr>
              <a:t>，</a:t>
            </a:r>
            <a:r>
              <a:rPr lang="en-US" altLang="zh-CN">
                <a:solidFill>
                  <a:srgbClr val="002060"/>
                </a:solidFill>
              </a:rPr>
              <a:t>13</a:t>
            </a:r>
            <a:r>
              <a:rPr lang="zh-CN" altLang="en-US">
                <a:solidFill>
                  <a:srgbClr val="002060"/>
                </a:solidFill>
              </a:rPr>
              <a:t>的二进制表示是</a:t>
            </a:r>
            <a:r>
              <a:rPr lang="en-US" altLang="zh-CN">
                <a:solidFill>
                  <a:srgbClr val="002060"/>
                </a:solidFill>
              </a:rPr>
              <a:t>01101</a:t>
            </a:r>
            <a:r>
              <a:rPr lang="zh-CN" altLang="en-US">
                <a:solidFill>
                  <a:srgbClr val="002060"/>
                </a:solidFill>
              </a:rPr>
              <a:t>，</a:t>
            </a:r>
            <a:r>
              <a:rPr lang="en-US" altLang="zh-CN">
                <a:solidFill>
                  <a:srgbClr val="002060"/>
                </a:solidFill>
              </a:rPr>
              <a:t>10</a:t>
            </a:r>
            <a:r>
              <a:rPr lang="zh-CN" altLang="en-US">
                <a:solidFill>
                  <a:srgbClr val="002060"/>
                </a:solidFill>
              </a:rPr>
              <a:t>的二进制表示是</a:t>
            </a:r>
            <a:r>
              <a:rPr lang="en-US" altLang="zh-CN">
                <a:solidFill>
                  <a:srgbClr val="002060"/>
                </a:solidFill>
              </a:rPr>
              <a:t>01010</a:t>
            </a:r>
            <a:endParaRPr lang="zh-CN" altLang="en-US">
              <a:solidFill>
                <a:srgbClr val="002060"/>
              </a:solidFill>
            </a:endParaRPr>
          </a:p>
        </p:txBody>
      </p:sp>
      <p:sp>
        <p:nvSpPr>
          <p:cNvPr id="11" name="文本框 10">
            <a:extLst>
              <a:ext uri="{FF2B5EF4-FFF2-40B4-BE49-F238E27FC236}">
                <a16:creationId xmlns:a16="http://schemas.microsoft.com/office/drawing/2014/main" id="{E5B547D2-F07A-4DC6-BC08-79B218B64A7D}"/>
              </a:ext>
            </a:extLst>
          </p:cNvPr>
          <p:cNvSpPr txBox="1"/>
          <p:nvPr/>
        </p:nvSpPr>
        <p:spPr>
          <a:xfrm>
            <a:off x="6743590" y="2599946"/>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54CB7B38-0F12-45C1-8705-4CF2AA6EA62D}"/>
              </a:ext>
            </a:extLst>
          </p:cNvPr>
          <p:cNvSpPr txBox="1"/>
          <p:nvPr/>
        </p:nvSpPr>
        <p:spPr>
          <a:xfrm>
            <a:off x="4105645" y="4047198"/>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598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2727039-D2D1-473E-8321-43C0FB7E94EA}"/>
              </a:ext>
            </a:extLst>
          </p:cNvPr>
          <p:cNvPicPr>
            <a:picLocks noChangeAspect="1"/>
          </p:cNvPicPr>
          <p:nvPr/>
        </p:nvPicPr>
        <p:blipFill>
          <a:blip r:embed="rId2"/>
          <a:stretch>
            <a:fillRect/>
          </a:stretch>
        </p:blipFill>
        <p:spPr>
          <a:xfrm>
            <a:off x="519696" y="1646228"/>
            <a:ext cx="11314878" cy="3451296"/>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极大项及其编码的练习</a:t>
            </a:r>
          </a:p>
        </p:txBody>
      </p:sp>
      <p:sp>
        <p:nvSpPr>
          <p:cNvPr id="3" name="文本框 2">
            <a:extLst>
              <a:ext uri="{FF2B5EF4-FFF2-40B4-BE49-F238E27FC236}">
                <a16:creationId xmlns:a16="http://schemas.microsoft.com/office/drawing/2014/main" id="{6DACA17A-6482-487C-89CC-7960AD47E45E}"/>
              </a:ext>
            </a:extLst>
          </p:cNvPr>
          <p:cNvSpPr txBox="1"/>
          <p:nvPr/>
        </p:nvSpPr>
        <p:spPr>
          <a:xfrm>
            <a:off x="760903" y="5479822"/>
            <a:ext cx="10782026" cy="369332"/>
          </a:xfrm>
          <a:prstGeom prst="rect">
            <a:avLst/>
          </a:prstGeom>
          <a:solidFill>
            <a:schemeClr val="accent6">
              <a:lumMod val="20000"/>
              <a:lumOff val="80000"/>
              <a:alpha val="50000"/>
            </a:schemeClr>
          </a:solidFill>
        </p:spPr>
        <p:txBody>
          <a:bodyPr wrap="square" rtlCol="0">
            <a:spAutoFit/>
          </a:bodyPr>
          <a:lstStyle/>
          <a:p>
            <a:r>
              <a:rPr lang="en-US" altLang="zh-CN">
                <a:solidFill>
                  <a:srgbClr val="002060"/>
                </a:solidFill>
              </a:rPr>
              <a:t>20</a:t>
            </a:r>
            <a:r>
              <a:rPr lang="zh-CN" altLang="en-US">
                <a:solidFill>
                  <a:srgbClr val="002060"/>
                </a:solidFill>
              </a:rPr>
              <a:t>的二进制表示是</a:t>
            </a:r>
            <a:r>
              <a:rPr lang="en-US" altLang="zh-CN">
                <a:solidFill>
                  <a:srgbClr val="002060"/>
                </a:solidFill>
              </a:rPr>
              <a:t>10100</a:t>
            </a:r>
            <a:r>
              <a:rPr lang="zh-CN" altLang="en-US">
                <a:solidFill>
                  <a:srgbClr val="002060"/>
                </a:solidFill>
              </a:rPr>
              <a:t>，</a:t>
            </a:r>
            <a:r>
              <a:rPr lang="en-US" altLang="zh-CN">
                <a:solidFill>
                  <a:srgbClr val="002060"/>
                </a:solidFill>
              </a:rPr>
              <a:t>18</a:t>
            </a:r>
            <a:r>
              <a:rPr lang="zh-CN" altLang="en-US">
                <a:solidFill>
                  <a:srgbClr val="002060"/>
                </a:solidFill>
              </a:rPr>
              <a:t>的二进制表示是</a:t>
            </a:r>
            <a:r>
              <a:rPr lang="en-US" altLang="zh-CN">
                <a:solidFill>
                  <a:srgbClr val="002060"/>
                </a:solidFill>
              </a:rPr>
              <a:t>10010</a:t>
            </a:r>
            <a:r>
              <a:rPr lang="zh-CN" altLang="en-US">
                <a:solidFill>
                  <a:srgbClr val="002060"/>
                </a:solidFill>
              </a:rPr>
              <a:t>，</a:t>
            </a:r>
            <a:r>
              <a:rPr lang="en-US" altLang="zh-CN">
                <a:solidFill>
                  <a:srgbClr val="002060"/>
                </a:solidFill>
              </a:rPr>
              <a:t>13</a:t>
            </a:r>
            <a:r>
              <a:rPr lang="zh-CN" altLang="en-US">
                <a:solidFill>
                  <a:srgbClr val="002060"/>
                </a:solidFill>
              </a:rPr>
              <a:t>的二进制表示是</a:t>
            </a:r>
            <a:r>
              <a:rPr lang="en-US" altLang="zh-CN">
                <a:solidFill>
                  <a:srgbClr val="002060"/>
                </a:solidFill>
              </a:rPr>
              <a:t>01101</a:t>
            </a:r>
            <a:r>
              <a:rPr lang="zh-CN" altLang="en-US">
                <a:solidFill>
                  <a:srgbClr val="002060"/>
                </a:solidFill>
              </a:rPr>
              <a:t>，</a:t>
            </a:r>
            <a:r>
              <a:rPr lang="en-US" altLang="zh-CN">
                <a:solidFill>
                  <a:srgbClr val="002060"/>
                </a:solidFill>
              </a:rPr>
              <a:t>10</a:t>
            </a:r>
            <a:r>
              <a:rPr lang="zh-CN" altLang="en-US">
                <a:solidFill>
                  <a:srgbClr val="002060"/>
                </a:solidFill>
              </a:rPr>
              <a:t>的二进制表示是</a:t>
            </a:r>
            <a:r>
              <a:rPr lang="en-US" altLang="zh-CN">
                <a:solidFill>
                  <a:srgbClr val="002060"/>
                </a:solidFill>
              </a:rPr>
              <a:t>01010</a:t>
            </a:r>
            <a:endParaRPr lang="zh-CN" altLang="en-US">
              <a:solidFill>
                <a:srgbClr val="002060"/>
              </a:solidFill>
            </a:endParaRPr>
          </a:p>
        </p:txBody>
      </p:sp>
    </p:spTree>
    <p:extLst>
      <p:ext uri="{BB962C8B-B14F-4D97-AF65-F5344CB8AC3E}">
        <p14:creationId xmlns:p14="http://schemas.microsoft.com/office/powerpoint/2010/main" val="2321070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2727039-D2D1-473E-8321-43C0FB7E94EA}"/>
              </a:ext>
            </a:extLst>
          </p:cNvPr>
          <p:cNvPicPr>
            <a:picLocks noChangeAspect="1"/>
          </p:cNvPicPr>
          <p:nvPr/>
        </p:nvPicPr>
        <p:blipFill>
          <a:blip r:embed="rId2"/>
          <a:stretch>
            <a:fillRect/>
          </a:stretch>
        </p:blipFill>
        <p:spPr>
          <a:xfrm>
            <a:off x="519696" y="1646228"/>
            <a:ext cx="11314878" cy="3451296"/>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极大项及其编码的练习</a:t>
            </a:r>
          </a:p>
        </p:txBody>
      </p:sp>
      <p:sp>
        <p:nvSpPr>
          <p:cNvPr id="3" name="文本框 2">
            <a:extLst>
              <a:ext uri="{FF2B5EF4-FFF2-40B4-BE49-F238E27FC236}">
                <a16:creationId xmlns:a16="http://schemas.microsoft.com/office/drawing/2014/main" id="{6DACA17A-6482-487C-89CC-7960AD47E45E}"/>
              </a:ext>
            </a:extLst>
          </p:cNvPr>
          <p:cNvSpPr txBox="1"/>
          <p:nvPr/>
        </p:nvSpPr>
        <p:spPr>
          <a:xfrm>
            <a:off x="760903" y="5479822"/>
            <a:ext cx="10782026" cy="369332"/>
          </a:xfrm>
          <a:prstGeom prst="rect">
            <a:avLst/>
          </a:prstGeom>
          <a:solidFill>
            <a:schemeClr val="accent6">
              <a:lumMod val="20000"/>
              <a:lumOff val="80000"/>
              <a:alpha val="50000"/>
            </a:schemeClr>
          </a:solidFill>
        </p:spPr>
        <p:txBody>
          <a:bodyPr wrap="square" rtlCol="0">
            <a:spAutoFit/>
          </a:bodyPr>
          <a:lstStyle/>
          <a:p>
            <a:r>
              <a:rPr lang="en-US" altLang="zh-CN">
                <a:solidFill>
                  <a:srgbClr val="002060"/>
                </a:solidFill>
              </a:rPr>
              <a:t>20</a:t>
            </a:r>
            <a:r>
              <a:rPr lang="zh-CN" altLang="en-US">
                <a:solidFill>
                  <a:srgbClr val="002060"/>
                </a:solidFill>
              </a:rPr>
              <a:t>的二进制表示是</a:t>
            </a:r>
            <a:r>
              <a:rPr lang="en-US" altLang="zh-CN">
                <a:solidFill>
                  <a:srgbClr val="002060"/>
                </a:solidFill>
              </a:rPr>
              <a:t>10100</a:t>
            </a:r>
            <a:r>
              <a:rPr lang="zh-CN" altLang="en-US">
                <a:solidFill>
                  <a:srgbClr val="002060"/>
                </a:solidFill>
              </a:rPr>
              <a:t>，</a:t>
            </a:r>
            <a:r>
              <a:rPr lang="en-US" altLang="zh-CN">
                <a:solidFill>
                  <a:srgbClr val="002060"/>
                </a:solidFill>
              </a:rPr>
              <a:t>18</a:t>
            </a:r>
            <a:r>
              <a:rPr lang="zh-CN" altLang="en-US">
                <a:solidFill>
                  <a:srgbClr val="002060"/>
                </a:solidFill>
              </a:rPr>
              <a:t>的二进制表示是</a:t>
            </a:r>
            <a:r>
              <a:rPr lang="en-US" altLang="zh-CN">
                <a:solidFill>
                  <a:srgbClr val="002060"/>
                </a:solidFill>
              </a:rPr>
              <a:t>10010</a:t>
            </a:r>
            <a:r>
              <a:rPr lang="zh-CN" altLang="en-US">
                <a:solidFill>
                  <a:srgbClr val="002060"/>
                </a:solidFill>
              </a:rPr>
              <a:t>，</a:t>
            </a:r>
            <a:r>
              <a:rPr lang="en-US" altLang="zh-CN">
                <a:solidFill>
                  <a:srgbClr val="002060"/>
                </a:solidFill>
              </a:rPr>
              <a:t>13</a:t>
            </a:r>
            <a:r>
              <a:rPr lang="zh-CN" altLang="en-US">
                <a:solidFill>
                  <a:srgbClr val="002060"/>
                </a:solidFill>
              </a:rPr>
              <a:t>的二进制表示是</a:t>
            </a:r>
            <a:r>
              <a:rPr lang="en-US" altLang="zh-CN">
                <a:solidFill>
                  <a:srgbClr val="002060"/>
                </a:solidFill>
              </a:rPr>
              <a:t>01101</a:t>
            </a:r>
            <a:r>
              <a:rPr lang="zh-CN" altLang="en-US">
                <a:solidFill>
                  <a:srgbClr val="002060"/>
                </a:solidFill>
              </a:rPr>
              <a:t>，</a:t>
            </a:r>
            <a:r>
              <a:rPr lang="en-US" altLang="zh-CN">
                <a:solidFill>
                  <a:srgbClr val="002060"/>
                </a:solidFill>
              </a:rPr>
              <a:t>10</a:t>
            </a:r>
            <a:r>
              <a:rPr lang="zh-CN" altLang="en-US">
                <a:solidFill>
                  <a:srgbClr val="002060"/>
                </a:solidFill>
              </a:rPr>
              <a:t>的二进制表示是</a:t>
            </a:r>
            <a:r>
              <a:rPr lang="en-US" altLang="zh-CN">
                <a:solidFill>
                  <a:srgbClr val="002060"/>
                </a:solidFill>
              </a:rPr>
              <a:t>01010</a:t>
            </a:r>
            <a:endParaRPr lang="zh-CN" altLang="en-US">
              <a:solidFill>
                <a:srgbClr val="002060"/>
              </a:solidFill>
            </a:endParaRPr>
          </a:p>
        </p:txBody>
      </p:sp>
      <p:sp>
        <p:nvSpPr>
          <p:cNvPr id="11" name="文本框 10">
            <a:extLst>
              <a:ext uri="{FF2B5EF4-FFF2-40B4-BE49-F238E27FC236}">
                <a16:creationId xmlns:a16="http://schemas.microsoft.com/office/drawing/2014/main" id="{60095C55-FCF9-480F-9678-61074172CDAB}"/>
              </a:ext>
            </a:extLst>
          </p:cNvPr>
          <p:cNvSpPr txBox="1"/>
          <p:nvPr/>
        </p:nvSpPr>
        <p:spPr>
          <a:xfrm>
            <a:off x="3112304" y="3060436"/>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0EB3828B-8666-44A1-8113-8BDA02BAEF95}"/>
              </a:ext>
            </a:extLst>
          </p:cNvPr>
          <p:cNvSpPr txBox="1"/>
          <p:nvPr/>
        </p:nvSpPr>
        <p:spPr>
          <a:xfrm>
            <a:off x="7342227" y="4034041"/>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6217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与公式逻辑等值的主范式</a:t>
            </a:r>
          </a:p>
        </p:txBody>
      </p:sp>
      <p:sp>
        <p:nvSpPr>
          <p:cNvPr id="11" name="矩形: 圆角 10">
            <a:extLst>
              <a:ext uri="{FF2B5EF4-FFF2-40B4-BE49-F238E27FC236}">
                <a16:creationId xmlns:a16="http://schemas.microsoft.com/office/drawing/2014/main" id="{7414F5B6-011E-470D-AAD8-F7EC3DAA8539}"/>
              </a:ext>
            </a:extLst>
          </p:cNvPr>
          <p:cNvSpPr/>
          <p:nvPr/>
        </p:nvSpPr>
        <p:spPr>
          <a:xfrm>
            <a:off x="727022" y="1414755"/>
            <a:ext cx="301933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为什么需要主范式？</a:t>
            </a:r>
            <a:endParaRPr lang="zh-CN" altLang="en-US" sz="2400" b="1" dirty="0">
              <a:solidFill>
                <a:schemeClr val="accent2">
                  <a:lumMod val="50000"/>
                </a:schemeClr>
              </a:solidFill>
            </a:endParaRPr>
          </a:p>
        </p:txBody>
      </p:sp>
      <p:sp>
        <p:nvSpPr>
          <p:cNvPr id="2" name="文本框 1">
            <a:extLst>
              <a:ext uri="{FF2B5EF4-FFF2-40B4-BE49-F238E27FC236}">
                <a16:creationId xmlns:a16="http://schemas.microsoft.com/office/drawing/2014/main" id="{AF413253-78F1-4D88-AE7B-7184ADA0E520}"/>
              </a:ext>
            </a:extLst>
          </p:cNvPr>
          <p:cNvSpPr txBox="1"/>
          <p:nvPr/>
        </p:nvSpPr>
        <p:spPr>
          <a:xfrm>
            <a:off x="727022" y="2142394"/>
            <a:ext cx="5374566" cy="3036729"/>
          </a:xfrm>
          <a:prstGeom prst="rect">
            <a:avLst/>
          </a:prstGeom>
          <a:solidFill>
            <a:schemeClr val="accent5">
              <a:lumMod val="20000"/>
              <a:lumOff val="80000"/>
              <a:alpha val="5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主范式可认为是公式真值表的一种表达形式</a:t>
            </a:r>
            <a:endParaRPr lang="en-US" altLang="zh-CN" sz="2000" b="1">
              <a:solidFill>
                <a:srgbClr val="C00000"/>
              </a:solidFill>
              <a:latin typeface="楷体" panose="02010609060101010101" pitchFamily="49" charset="-122"/>
              <a:ea typeface="楷体" panose="02010609060101010101" pitchFamily="49" charset="-122"/>
            </a:endParaRPr>
          </a:p>
          <a:p>
            <a:pPr marL="742950" lvl="1" indent="-285750">
              <a:lnSpc>
                <a:spcPts val="28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与公式逻辑等值的主析取范式包含的极小项给出公式的成真赋值</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742950" lvl="1" indent="-285750">
              <a:lnSpc>
                <a:spcPts val="28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与公式逻辑等值的主合取范式包含的极大项给出公式的成假赋值</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每个公式都有与它逻辑等值的唯一的主范式</a:t>
            </a:r>
            <a:endParaRPr lang="en-US" altLang="zh-CN" sz="2000" b="1">
              <a:solidFill>
                <a:srgbClr val="C00000"/>
              </a:solidFill>
              <a:latin typeface="楷体" panose="02010609060101010101" pitchFamily="49" charset="-122"/>
              <a:ea typeface="楷体" panose="02010609060101010101" pitchFamily="49" charset="-122"/>
            </a:endParaRP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与公式逻辑等值的范式不唯一</a:t>
            </a:r>
            <a:endParaRPr lang="en-US" altLang="zh-CN" b="1">
              <a:solidFill>
                <a:schemeClr val="accent6">
                  <a:lumMod val="50000"/>
                </a:schemeClr>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9343DB3-194D-4EA4-A4D1-181465E13EE6}"/>
                  </a:ext>
                </a:extLst>
              </p:cNvPr>
              <p:cNvSpPr txBox="1"/>
              <p:nvPr/>
            </p:nvSpPr>
            <p:spPr>
              <a:xfrm>
                <a:off x="7373535" y="1122368"/>
                <a:ext cx="3409655" cy="584775"/>
              </a:xfrm>
              <a:prstGeom prst="rect">
                <a:avLst/>
              </a:prstGeom>
              <a:solidFill>
                <a:schemeClr val="accent5">
                  <a:lumMod val="20000"/>
                  <a:lumOff val="80000"/>
                  <a:alpha val="25000"/>
                </a:schemeClr>
              </a:solidFill>
              <a:ln w="12700">
                <a:solidFill>
                  <a:schemeClr val="accent1">
                    <a:shade val="50000"/>
                  </a:schemeClr>
                </a:solidFill>
                <a:prstDash val="sysDash"/>
              </a:ln>
            </p:spPr>
            <p:txBody>
              <a:bodyPr wrap="square" rtlCol="0">
                <a:spAutoFit/>
              </a:bodyPr>
              <a:lstStyle/>
              <a:p>
                <a:r>
                  <a:rPr lang="zh-CN" altLang="en-US" sz="1600">
                    <a:solidFill>
                      <a:srgbClr val="002060"/>
                    </a:solidFill>
                  </a:rPr>
                  <a:t>假设公式含</a:t>
                </a:r>
                <a14:m>
                  <m:oMath xmlns:m="http://schemas.openxmlformats.org/officeDocument/2006/math">
                    <m:r>
                      <a:rPr lang="en-US" altLang="zh-CN" sz="1600" i="1" smtClean="0">
                        <a:solidFill>
                          <a:srgbClr val="002060"/>
                        </a:solidFill>
                        <a:latin typeface="Cambria Math" panose="02040503050406030204" pitchFamily="18" charset="0"/>
                      </a:rPr>
                      <m:t>𝑝</m:t>
                    </m:r>
                    <m:r>
                      <a:rPr lang="en-US" altLang="zh-CN" sz="1600" i="1" smtClean="0">
                        <a:solidFill>
                          <a:srgbClr val="002060"/>
                        </a:solidFill>
                        <a:latin typeface="Cambria Math" panose="02040503050406030204" pitchFamily="18" charset="0"/>
                      </a:rPr>
                      <m:t>, </m:t>
                    </m:r>
                    <m:r>
                      <a:rPr lang="en-US" altLang="zh-CN" sz="1600" i="1" smtClean="0">
                        <a:solidFill>
                          <a:srgbClr val="002060"/>
                        </a:solidFill>
                        <a:latin typeface="Cambria Math" panose="02040503050406030204" pitchFamily="18" charset="0"/>
                      </a:rPr>
                      <m:t>𝑞</m:t>
                    </m:r>
                    <m:r>
                      <a:rPr lang="en-US" altLang="zh-CN" sz="1600" i="1" smtClean="0">
                        <a:solidFill>
                          <a:srgbClr val="002060"/>
                        </a:solidFill>
                        <a:latin typeface="Cambria Math" panose="02040503050406030204" pitchFamily="18" charset="0"/>
                      </a:rPr>
                      <m:t>, </m:t>
                    </m:r>
                    <m:r>
                      <a:rPr lang="en-US" altLang="zh-CN" sz="1600" i="1" smtClean="0">
                        <a:solidFill>
                          <a:srgbClr val="002060"/>
                        </a:solidFill>
                        <a:latin typeface="Cambria Math" panose="02040503050406030204" pitchFamily="18" charset="0"/>
                      </a:rPr>
                      <m:t>𝑟</m:t>
                    </m:r>
                  </m:oMath>
                </a14:m>
                <a:r>
                  <a:rPr lang="zh-CN" altLang="en-US" sz="1600">
                    <a:solidFill>
                      <a:srgbClr val="002060"/>
                    </a:solidFill>
                  </a:rPr>
                  <a:t>三个命题变量，对它们的真值赋值写作</a:t>
                </a:r>
                <a:r>
                  <a:rPr lang="en-US" altLang="zh-CN" sz="1600">
                    <a:solidFill>
                      <a:srgbClr val="002060"/>
                    </a:solidFill>
                  </a:rPr>
                  <a:t>000, 001, </a:t>
                </a:r>
                <a:r>
                  <a:rPr lang="zh-CN" altLang="en-US" sz="1600">
                    <a:solidFill>
                      <a:srgbClr val="002060"/>
                    </a:solidFill>
                  </a:rPr>
                  <a:t>等等</a:t>
                </a:r>
              </a:p>
            </p:txBody>
          </p:sp>
        </mc:Choice>
        <mc:Fallback xmlns="">
          <p:sp>
            <p:nvSpPr>
              <p:cNvPr id="6" name="文本框 5">
                <a:extLst>
                  <a:ext uri="{FF2B5EF4-FFF2-40B4-BE49-F238E27FC236}">
                    <a16:creationId xmlns:a16="http://schemas.microsoft.com/office/drawing/2014/main" id="{C9343DB3-194D-4EA4-A4D1-181465E13EE6}"/>
                  </a:ext>
                </a:extLst>
              </p:cNvPr>
              <p:cNvSpPr txBox="1">
                <a:spLocks noRot="1" noChangeAspect="1" noMove="1" noResize="1" noEditPoints="1" noAdjustHandles="1" noChangeArrowheads="1" noChangeShapeType="1" noTextEdit="1"/>
              </p:cNvSpPr>
              <p:nvPr/>
            </p:nvSpPr>
            <p:spPr>
              <a:xfrm>
                <a:off x="7373535" y="1122368"/>
                <a:ext cx="3409655" cy="584775"/>
              </a:xfrm>
              <a:prstGeom prst="rect">
                <a:avLst/>
              </a:prstGeom>
              <a:blipFill>
                <a:blip r:embed="rId2"/>
                <a:stretch>
                  <a:fillRect l="-891" t="-2041" b="-11224"/>
                </a:stretch>
              </a:blipFill>
              <a:ln w="12700">
                <a:solidFill>
                  <a:schemeClr val="accent1">
                    <a:shade val="50000"/>
                  </a:schemeClr>
                </a:solidFill>
                <a:prstDash val="sysDash"/>
              </a:ln>
            </p:spPr>
            <p:txBody>
              <a:bodyPr/>
              <a:lstStyle/>
              <a:p>
                <a:r>
                  <a:rPr lang="zh-CN" altLang="en-US">
                    <a:noFill/>
                  </a:rPr>
                  <a:t> </a:t>
                </a:r>
              </a:p>
            </p:txBody>
          </p:sp>
        </mc:Fallback>
      </mc:AlternateContent>
      <p:grpSp>
        <p:nvGrpSpPr>
          <p:cNvPr id="29" name="组合 28">
            <a:extLst>
              <a:ext uri="{FF2B5EF4-FFF2-40B4-BE49-F238E27FC236}">
                <a16:creationId xmlns:a16="http://schemas.microsoft.com/office/drawing/2014/main" id="{84D9D957-4E67-45A2-A1C1-5DEBBF3A81D3}"/>
              </a:ext>
            </a:extLst>
          </p:cNvPr>
          <p:cNvGrpSpPr/>
          <p:nvPr/>
        </p:nvGrpSpPr>
        <p:grpSpPr>
          <a:xfrm>
            <a:off x="6360457" y="1904633"/>
            <a:ext cx="5493528" cy="2072201"/>
            <a:chOff x="6361329" y="1513035"/>
            <a:chExt cx="5493528" cy="2072201"/>
          </a:xfrm>
        </p:grpSpPr>
        <p:grpSp>
          <p:nvGrpSpPr>
            <p:cNvPr id="26" name="组合 25">
              <a:extLst>
                <a:ext uri="{FF2B5EF4-FFF2-40B4-BE49-F238E27FC236}">
                  <a16:creationId xmlns:a16="http://schemas.microsoft.com/office/drawing/2014/main" id="{F4E88DBD-CFC4-4DF2-8132-243728578F0D}"/>
                </a:ext>
              </a:extLst>
            </p:cNvPr>
            <p:cNvGrpSpPr/>
            <p:nvPr/>
          </p:nvGrpSpPr>
          <p:grpSpPr>
            <a:xfrm>
              <a:off x="6433143" y="1609907"/>
              <a:ext cx="5364696" cy="1856754"/>
              <a:chOff x="6399702" y="1254673"/>
              <a:chExt cx="5364696" cy="1856754"/>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300BFFF-D5F4-4E20-919E-0C6DC79309B5}"/>
                      </a:ext>
                    </a:extLst>
                  </p:cNvPr>
                  <p:cNvSpPr txBox="1"/>
                  <p:nvPr/>
                </p:nvSpPr>
                <p:spPr>
                  <a:xfrm>
                    <a:off x="6589146" y="1254673"/>
                    <a:ext cx="4971012" cy="720775"/>
                  </a:xfrm>
                  <a:prstGeom prst="rect">
                    <a:avLst/>
                  </a:prstGeom>
                  <a:solidFill>
                    <a:schemeClr val="accent6">
                      <a:lumMod val="20000"/>
                      <a:lumOff val="80000"/>
                      <a:alpha val="50000"/>
                    </a:schemeClr>
                  </a:solidFill>
                </p:spPr>
                <p:txBody>
                  <a:bodyPr wrap="square" rtlCol="0">
                    <a:spAutoFit/>
                  </a:bodyPr>
                  <a:lstStyle/>
                  <a:p>
                    <a:pPr algn="ctr">
                      <a:spcAft>
                        <a:spcPts val="300"/>
                      </a:spcAft>
                    </a:pPr>
                    <a:r>
                      <a:rPr lang="zh-CN" altLang="en-US" b="1">
                        <a:solidFill>
                          <a:srgbClr val="C00000"/>
                        </a:solidFill>
                      </a:rPr>
                      <a:t>每个极小项有唯一的成真赋值</a:t>
                    </a:r>
                    <a:endParaRPr lang="en-US" altLang="zh-CN" b="1">
                      <a:solidFill>
                        <a:srgbClr val="C00000"/>
                      </a:solidFill>
                    </a:endParaRPr>
                  </a:p>
                  <a:p>
                    <a:pPr>
                      <a:lnSpc>
                        <a:spcPts val="2800"/>
                      </a:lnSpc>
                      <a:spcAft>
                        <a:spcPts val="300"/>
                      </a:spcAft>
                    </a:pPr>
                    <a:r>
                      <a:rPr lang="zh-CN" altLang="en-US" sz="1600" b="1">
                        <a:solidFill>
                          <a:schemeClr val="accent2">
                            <a:lumMod val="50000"/>
                          </a:schemeClr>
                        </a:solidFill>
                        <a:latin typeface="楷体" panose="02010609060101010101" pitchFamily="49" charset="-122"/>
                        <a:ea typeface="楷体" panose="02010609060101010101" pitchFamily="49" charset="-122"/>
                      </a:rPr>
                      <a:t>例如，极小项</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ea typeface="楷体" panose="02010609060101010101" pitchFamily="49" charset="-122"/>
                              </a:rPr>
                            </m:ctrlPr>
                          </m:sSubPr>
                          <m:e>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𝒎</m:t>
                            </m:r>
                          </m:e>
                          <m:sub>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𝟓</m:t>
                            </m:r>
                          </m:sub>
                        </m:sSub>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𝒒</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𝒓</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的唯一成真赋值是</a:t>
                    </a:r>
                    <a14:m>
                      <m:oMath xmlns:m="http://schemas.openxmlformats.org/officeDocument/2006/math">
                        <m:r>
                          <a:rPr lang="en-US" altLang="zh-CN" sz="1600" b="1" i="0" smtClean="0">
                            <a:solidFill>
                              <a:schemeClr val="accent2">
                                <a:lumMod val="50000"/>
                              </a:schemeClr>
                            </a:solidFill>
                            <a:latin typeface="Cambria Math" panose="02040503050406030204" pitchFamily="18" charset="0"/>
                            <a:ea typeface="楷体" panose="02010609060101010101" pitchFamily="49" charset="-122"/>
                          </a:rPr>
                          <m:t>𝟏𝟎𝟏</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4300BFFF-D5F4-4E20-919E-0C6DC79309B5}"/>
                      </a:ext>
                    </a:extLst>
                  </p:cNvPr>
                  <p:cNvSpPr txBox="1">
                    <a:spLocks noRot="1" noChangeAspect="1" noMove="1" noResize="1" noEditPoints="1" noAdjustHandles="1" noChangeArrowheads="1" noChangeShapeType="1" noTextEdit="1"/>
                  </p:cNvSpPr>
                  <p:nvPr/>
                </p:nvSpPr>
                <p:spPr>
                  <a:xfrm>
                    <a:off x="6589146" y="1254673"/>
                    <a:ext cx="4971012" cy="720775"/>
                  </a:xfrm>
                  <a:prstGeom prst="rect">
                    <a:avLst/>
                  </a:prstGeom>
                  <a:blipFill>
                    <a:blip r:embed="rId3"/>
                    <a:stretch>
                      <a:fillRect l="-613" t="-4202" b="-8403"/>
                    </a:stretch>
                  </a:blipFill>
                </p:spPr>
                <p:txBody>
                  <a:bodyPr/>
                  <a:lstStyle/>
                  <a:p>
                    <a:r>
                      <a:rPr lang="zh-CN" altLang="en-US">
                        <a:noFill/>
                      </a:rPr>
                      <a:t> </a:t>
                    </a:r>
                  </a:p>
                </p:txBody>
              </p:sp>
            </mc:Fallback>
          </mc:AlternateContent>
          <p:grpSp>
            <p:nvGrpSpPr>
              <p:cNvPr id="25" name="组合 24">
                <a:extLst>
                  <a:ext uri="{FF2B5EF4-FFF2-40B4-BE49-F238E27FC236}">
                    <a16:creationId xmlns:a16="http://schemas.microsoft.com/office/drawing/2014/main" id="{CAC4CBDD-D399-48F2-BDCB-97773E2F2B1F}"/>
                  </a:ext>
                </a:extLst>
              </p:cNvPr>
              <p:cNvGrpSpPr/>
              <p:nvPr/>
            </p:nvGrpSpPr>
            <p:grpSpPr>
              <a:xfrm>
                <a:off x="6399702" y="2044872"/>
                <a:ext cx="5364696" cy="1066555"/>
                <a:chOff x="6511535" y="1985548"/>
                <a:chExt cx="5364696" cy="1066555"/>
              </a:xfrm>
            </p:grpSpPr>
            <p:sp>
              <p:nvSpPr>
                <p:cNvPr id="14" name="文本框 13">
                  <a:extLst>
                    <a:ext uri="{FF2B5EF4-FFF2-40B4-BE49-F238E27FC236}">
                      <a16:creationId xmlns:a16="http://schemas.microsoft.com/office/drawing/2014/main" id="{FC6B4687-3A44-48DF-9139-45281E2FB712}"/>
                    </a:ext>
                  </a:extLst>
                </p:cNvPr>
                <p:cNvSpPr txBox="1"/>
                <p:nvPr/>
              </p:nvSpPr>
              <p:spPr>
                <a:xfrm>
                  <a:off x="7631981" y="1985548"/>
                  <a:ext cx="3203690" cy="369332"/>
                </a:xfrm>
                <a:prstGeom prst="rect">
                  <a:avLst/>
                </a:prstGeom>
                <a:solidFill>
                  <a:schemeClr val="accent6">
                    <a:lumMod val="20000"/>
                    <a:lumOff val="80000"/>
                    <a:alpha val="25000"/>
                  </a:schemeClr>
                </a:solidFill>
              </p:spPr>
              <p:txBody>
                <a:bodyPr wrap="square" rtlCol="0">
                  <a:spAutoFit/>
                </a:bodyPr>
                <a:lstStyle/>
                <a:p>
                  <a:pPr algn="ctr">
                    <a:spcAft>
                      <a:spcPts val="300"/>
                    </a:spcAft>
                  </a:pPr>
                  <a:r>
                    <a:rPr lang="zh-CN" altLang="en-US" b="1">
                      <a:solidFill>
                        <a:srgbClr val="002060"/>
                      </a:solidFill>
                    </a:rPr>
                    <a:t>公式的成真赋值与主析取范式</a:t>
                  </a:r>
                  <a:endParaRPr lang="en-US" altLang="zh-CN" b="1">
                    <a:solidFill>
                      <a:srgbClr val="002060"/>
                    </a:solidFill>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781405E-0B44-4CE6-BE33-E1F635707985}"/>
                        </a:ext>
                      </a:extLst>
                    </p:cNvPr>
                    <p:cNvSpPr txBox="1"/>
                    <p:nvPr/>
                  </p:nvSpPr>
                  <p:spPr>
                    <a:xfrm>
                      <a:off x="6511535" y="2405772"/>
                      <a:ext cx="2438325" cy="646331"/>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6">
                              <a:lumMod val="50000"/>
                            </a:schemeClr>
                          </a:solidFill>
                          <a:latin typeface="楷体" panose="02010609060101010101" pitchFamily="49" charset="-122"/>
                          <a:ea typeface="楷体" panose="02010609060101010101" pitchFamily="49" charset="-122"/>
                        </a:rPr>
                        <a:t>一个公式的成真赋值刚好有</a:t>
                      </a:r>
                      <a14:m>
                        <m:oMath xmlns:m="http://schemas.openxmlformats.org/officeDocument/2006/math">
                          <m:r>
                            <a:rPr lang="en-US" altLang="zh-CN" b="1" i="1">
                              <a:solidFill>
                                <a:schemeClr val="accent6">
                                  <a:lumMod val="50000"/>
                                </a:schemeClr>
                              </a:solidFill>
                              <a:latin typeface="Cambria Math" panose="02040503050406030204" pitchFamily="18" charset="0"/>
                              <a:ea typeface="楷体" panose="02010609060101010101" pitchFamily="49" charset="-122"/>
                            </a:rPr>
                            <m:t>𝟎𝟏𝟎</m:t>
                          </m:r>
                          <m:r>
                            <a:rPr lang="en-US" altLang="zh-CN" b="1" i="1">
                              <a:solidFill>
                                <a:schemeClr val="accent6">
                                  <a:lumMod val="50000"/>
                                </a:schemeClr>
                              </a:solidFill>
                              <a:latin typeface="Cambria Math" panose="02040503050406030204" pitchFamily="18" charset="0"/>
                              <a:ea typeface="楷体" panose="02010609060101010101" pitchFamily="49" charset="-122"/>
                            </a:rPr>
                            <m:t>, </m:t>
                          </m:r>
                          <m:r>
                            <a:rPr lang="en-US" altLang="zh-CN" b="1" i="1">
                              <a:solidFill>
                                <a:schemeClr val="accent6">
                                  <a:lumMod val="50000"/>
                                </a:schemeClr>
                              </a:solidFill>
                              <a:latin typeface="Cambria Math" panose="02040503050406030204" pitchFamily="18" charset="0"/>
                              <a:ea typeface="楷体" panose="02010609060101010101" pitchFamily="49" charset="-122"/>
                            </a:rPr>
                            <m:t>𝟏𝟎𝟏</m:t>
                          </m:r>
                        </m:oMath>
                      </a14:m>
                      <a:r>
                        <a:rPr lang="zh-CN" altLang="en-US" b="1">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b="1" i="1">
                              <a:solidFill>
                                <a:schemeClr val="accent6">
                                  <a:lumMod val="50000"/>
                                </a:schemeClr>
                              </a:solidFill>
                              <a:latin typeface="Cambria Math" panose="02040503050406030204" pitchFamily="18" charset="0"/>
                              <a:ea typeface="楷体" panose="02010609060101010101" pitchFamily="49" charset="-122"/>
                            </a:rPr>
                            <m:t>𝟏𝟏𝟎</m:t>
                          </m:r>
                        </m:oMath>
                      </a14:m>
                      <a:endParaRPr lang="zh-CN" altLang="en-US"/>
                    </a:p>
                  </p:txBody>
                </p:sp>
              </mc:Choice>
              <mc:Fallback xmlns="">
                <p:sp>
                  <p:nvSpPr>
                    <p:cNvPr id="22" name="文本框 21">
                      <a:extLst>
                        <a:ext uri="{FF2B5EF4-FFF2-40B4-BE49-F238E27FC236}">
                          <a16:creationId xmlns:a16="http://schemas.microsoft.com/office/drawing/2014/main" id="{6781405E-0B44-4CE6-BE33-E1F635707985}"/>
                        </a:ext>
                      </a:extLst>
                    </p:cNvPr>
                    <p:cNvSpPr txBox="1">
                      <a:spLocks noRot="1" noChangeAspect="1" noMove="1" noResize="1" noEditPoints="1" noAdjustHandles="1" noChangeArrowheads="1" noChangeShapeType="1" noTextEdit="1"/>
                    </p:cNvSpPr>
                    <p:nvPr/>
                  </p:nvSpPr>
                  <p:spPr>
                    <a:xfrm>
                      <a:off x="6511535" y="2405772"/>
                      <a:ext cx="2438325" cy="646331"/>
                    </a:xfrm>
                    <a:prstGeom prst="rect">
                      <a:avLst/>
                    </a:prstGeom>
                    <a:blipFill>
                      <a:blip r:embed="rId4"/>
                      <a:stretch>
                        <a:fillRect l="-2000" t="-5660"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E407F291-DF0C-4A78-9035-17E26B02E29A}"/>
                        </a:ext>
                      </a:extLst>
                    </p:cNvPr>
                    <p:cNvSpPr txBox="1"/>
                    <p:nvPr/>
                  </p:nvSpPr>
                  <p:spPr>
                    <a:xfrm>
                      <a:off x="9365395" y="2401382"/>
                      <a:ext cx="2510836" cy="646331"/>
                    </a:xfrm>
                    <a:prstGeom prst="rect">
                      <a:avLst/>
                    </a:prstGeom>
                    <a:solidFill>
                      <a:schemeClr val="accent2">
                        <a:lumMod val="20000"/>
                        <a:lumOff val="80000"/>
                        <a:alpha val="50000"/>
                      </a:schemeClr>
                    </a:solidFill>
                  </p:spPr>
                  <p:txBody>
                    <a:bodyPr wrap="square" rtlCol="0">
                      <a:spAutoFit/>
                    </a:bodyPr>
                    <a:lstStyle/>
                    <a:p>
                      <a:r>
                        <a:rPr lang="zh-CN" altLang="en-US" b="1">
                          <a:solidFill>
                            <a:schemeClr val="accent6">
                              <a:lumMod val="50000"/>
                            </a:schemeClr>
                          </a:solidFill>
                          <a:latin typeface="楷体" panose="02010609060101010101" pitchFamily="49" charset="-122"/>
                          <a:ea typeface="楷体" panose="02010609060101010101" pitchFamily="49" charset="-122"/>
                        </a:rPr>
                        <a:t>与它逻辑等值的主析取范式是</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b="1" i="1">
                                  <a:solidFill>
                                    <a:schemeClr val="accent6">
                                      <a:lumMod val="50000"/>
                                    </a:schemeClr>
                                  </a:solidFill>
                                  <a:latin typeface="Cambria Math" panose="02040503050406030204" pitchFamily="18" charset="0"/>
                                  <a:ea typeface="楷体" panose="02010609060101010101" pitchFamily="49" charset="-122"/>
                                </a:rPr>
                                <m:t>𝒎</m:t>
                              </m:r>
                            </m:e>
                            <m:sub>
                              <m:r>
                                <a:rPr lang="en-US" altLang="zh-CN" b="1" i="1">
                                  <a:solidFill>
                                    <a:schemeClr val="accent6">
                                      <a:lumMod val="50000"/>
                                    </a:schemeClr>
                                  </a:solidFill>
                                  <a:latin typeface="Cambria Math" panose="02040503050406030204" pitchFamily="18" charset="0"/>
                                  <a:ea typeface="楷体" panose="02010609060101010101" pitchFamily="49" charset="-122"/>
                                </a:rPr>
                                <m:t>𝟐</m:t>
                              </m:r>
                            </m:sub>
                          </m:sSub>
                          <m:r>
                            <a:rPr lang="en-US" altLang="zh-CN" b="1" i="1">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b="1" i="1">
                                  <a:solidFill>
                                    <a:schemeClr val="accent6">
                                      <a:lumMod val="50000"/>
                                    </a:schemeClr>
                                  </a:solidFill>
                                  <a:latin typeface="Cambria Math" panose="02040503050406030204" pitchFamily="18" charset="0"/>
                                  <a:ea typeface="楷体" panose="02010609060101010101" pitchFamily="49" charset="-122"/>
                                </a:rPr>
                                <m:t>𝒎</m:t>
                              </m:r>
                            </m:e>
                            <m:sub>
                              <m:r>
                                <a:rPr lang="en-US" altLang="zh-CN" b="1" i="1">
                                  <a:solidFill>
                                    <a:schemeClr val="accent6">
                                      <a:lumMod val="50000"/>
                                    </a:schemeClr>
                                  </a:solidFill>
                                  <a:latin typeface="Cambria Math" panose="02040503050406030204" pitchFamily="18" charset="0"/>
                                  <a:ea typeface="楷体" panose="02010609060101010101" pitchFamily="49" charset="-122"/>
                                </a:rPr>
                                <m:t>𝟓</m:t>
                              </m:r>
                            </m:sub>
                          </m:sSub>
                          <m:r>
                            <a:rPr lang="en-US" altLang="zh-CN" b="1" i="1">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b="1" i="1">
                                  <a:solidFill>
                                    <a:schemeClr val="accent6">
                                      <a:lumMod val="50000"/>
                                    </a:schemeClr>
                                  </a:solidFill>
                                  <a:latin typeface="Cambria Math" panose="02040503050406030204" pitchFamily="18" charset="0"/>
                                  <a:ea typeface="楷体" panose="02010609060101010101" pitchFamily="49" charset="-122"/>
                                </a:rPr>
                                <m:t>𝒎</m:t>
                              </m:r>
                            </m:e>
                            <m:sub>
                              <m:r>
                                <a:rPr lang="en-US" altLang="zh-CN" b="1" i="1">
                                  <a:solidFill>
                                    <a:schemeClr val="accent6">
                                      <a:lumMod val="50000"/>
                                    </a:schemeClr>
                                  </a:solidFill>
                                  <a:latin typeface="Cambria Math" panose="02040503050406030204" pitchFamily="18" charset="0"/>
                                  <a:ea typeface="楷体" panose="02010609060101010101" pitchFamily="49" charset="-122"/>
                                </a:rPr>
                                <m:t>𝟔</m:t>
                              </m:r>
                            </m:sub>
                          </m:sSub>
                        </m:oMath>
                      </a14:m>
                      <a:endParaRPr lang="zh-CN" altLang="en-US"/>
                    </a:p>
                  </p:txBody>
                </p:sp>
              </mc:Choice>
              <mc:Fallback xmlns="">
                <p:sp>
                  <p:nvSpPr>
                    <p:cNvPr id="23" name="文本框 22">
                      <a:extLst>
                        <a:ext uri="{FF2B5EF4-FFF2-40B4-BE49-F238E27FC236}">
                          <a16:creationId xmlns:a16="http://schemas.microsoft.com/office/drawing/2014/main" id="{E407F291-DF0C-4A78-9035-17E26B02E29A}"/>
                        </a:ext>
                      </a:extLst>
                    </p:cNvPr>
                    <p:cNvSpPr txBox="1">
                      <a:spLocks noRot="1" noChangeAspect="1" noMove="1" noResize="1" noEditPoints="1" noAdjustHandles="1" noChangeArrowheads="1" noChangeShapeType="1" noTextEdit="1"/>
                    </p:cNvSpPr>
                    <p:nvPr/>
                  </p:nvSpPr>
                  <p:spPr>
                    <a:xfrm>
                      <a:off x="9365395" y="2401382"/>
                      <a:ext cx="2510836" cy="646331"/>
                    </a:xfrm>
                    <a:prstGeom prst="rect">
                      <a:avLst/>
                    </a:prstGeom>
                    <a:blipFill>
                      <a:blip r:embed="rId5"/>
                      <a:stretch>
                        <a:fillRect l="-1942" t="-4717" r="-1214" b="-11321"/>
                      </a:stretch>
                    </a:blipFill>
                  </p:spPr>
                  <p:txBody>
                    <a:bodyPr/>
                    <a:lstStyle/>
                    <a:p>
                      <a:r>
                        <a:rPr lang="zh-CN" altLang="en-US">
                          <a:noFill/>
                        </a:rPr>
                        <a:t> </a:t>
                      </a:r>
                    </a:p>
                  </p:txBody>
                </p:sp>
              </mc:Fallback>
            </mc:AlternateContent>
            <p:sp>
              <p:nvSpPr>
                <p:cNvPr id="24" name="箭头: 右 23">
                  <a:extLst>
                    <a:ext uri="{FF2B5EF4-FFF2-40B4-BE49-F238E27FC236}">
                      <a16:creationId xmlns:a16="http://schemas.microsoft.com/office/drawing/2014/main" id="{1F799D97-4B2D-46A1-BA35-B662C0048993}"/>
                    </a:ext>
                  </a:extLst>
                </p:cNvPr>
                <p:cNvSpPr/>
                <p:nvPr/>
              </p:nvSpPr>
              <p:spPr>
                <a:xfrm>
                  <a:off x="8949860" y="2697395"/>
                  <a:ext cx="415535" cy="85276"/>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圆角 26">
              <a:extLst>
                <a:ext uri="{FF2B5EF4-FFF2-40B4-BE49-F238E27FC236}">
                  <a16:creationId xmlns:a16="http://schemas.microsoft.com/office/drawing/2014/main" id="{D6DE373A-0A65-459C-A793-9E368FA7C74F}"/>
                </a:ext>
              </a:extLst>
            </p:cNvPr>
            <p:cNvSpPr/>
            <p:nvPr/>
          </p:nvSpPr>
          <p:spPr>
            <a:xfrm>
              <a:off x="6361329" y="1513035"/>
              <a:ext cx="5493528" cy="207220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FE3A1B45-9EA2-4708-B336-1117018086C3}"/>
              </a:ext>
            </a:extLst>
          </p:cNvPr>
          <p:cNvGrpSpPr/>
          <p:nvPr/>
        </p:nvGrpSpPr>
        <p:grpSpPr>
          <a:xfrm>
            <a:off x="6313116" y="4136000"/>
            <a:ext cx="5493528" cy="2072201"/>
            <a:chOff x="6361329" y="1513035"/>
            <a:chExt cx="5493528" cy="2072201"/>
          </a:xfrm>
        </p:grpSpPr>
        <p:grpSp>
          <p:nvGrpSpPr>
            <p:cNvPr id="31" name="组合 30">
              <a:extLst>
                <a:ext uri="{FF2B5EF4-FFF2-40B4-BE49-F238E27FC236}">
                  <a16:creationId xmlns:a16="http://schemas.microsoft.com/office/drawing/2014/main" id="{C331167A-D9FD-483D-B096-1F3C428ABFEF}"/>
                </a:ext>
              </a:extLst>
            </p:cNvPr>
            <p:cNvGrpSpPr/>
            <p:nvPr/>
          </p:nvGrpSpPr>
          <p:grpSpPr>
            <a:xfrm>
              <a:off x="6433143" y="1609907"/>
              <a:ext cx="5364696" cy="1856754"/>
              <a:chOff x="6399702" y="1254673"/>
              <a:chExt cx="5364696" cy="1856754"/>
            </a:xfrm>
          </p:grpSpPr>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A90549CC-2499-4CFC-B78F-1EF0BB536A41}"/>
                      </a:ext>
                    </a:extLst>
                  </p:cNvPr>
                  <p:cNvSpPr txBox="1"/>
                  <p:nvPr/>
                </p:nvSpPr>
                <p:spPr>
                  <a:xfrm>
                    <a:off x="6536210" y="1254673"/>
                    <a:ext cx="5071289" cy="720775"/>
                  </a:xfrm>
                  <a:prstGeom prst="rect">
                    <a:avLst/>
                  </a:prstGeom>
                  <a:solidFill>
                    <a:schemeClr val="accent6">
                      <a:lumMod val="20000"/>
                      <a:lumOff val="80000"/>
                      <a:alpha val="50000"/>
                    </a:schemeClr>
                  </a:solidFill>
                </p:spPr>
                <p:txBody>
                  <a:bodyPr wrap="square" rtlCol="0">
                    <a:spAutoFit/>
                  </a:bodyPr>
                  <a:lstStyle/>
                  <a:p>
                    <a:pPr algn="ctr">
                      <a:spcAft>
                        <a:spcPts val="300"/>
                      </a:spcAft>
                    </a:pPr>
                    <a:r>
                      <a:rPr lang="zh-CN" altLang="en-US" b="1">
                        <a:solidFill>
                          <a:srgbClr val="C00000"/>
                        </a:solidFill>
                      </a:rPr>
                      <a:t>每个极大项有唯一的成假赋值</a:t>
                    </a:r>
                    <a:endParaRPr lang="en-US" altLang="zh-CN" b="1">
                      <a:solidFill>
                        <a:srgbClr val="C00000"/>
                      </a:solidFill>
                    </a:endParaRPr>
                  </a:p>
                  <a:p>
                    <a:pPr>
                      <a:lnSpc>
                        <a:spcPts val="2800"/>
                      </a:lnSpc>
                      <a:spcAft>
                        <a:spcPts val="300"/>
                      </a:spcAft>
                    </a:pPr>
                    <a:r>
                      <a:rPr lang="zh-CN" altLang="en-US" sz="1600" b="1">
                        <a:solidFill>
                          <a:schemeClr val="accent2">
                            <a:lumMod val="50000"/>
                          </a:schemeClr>
                        </a:solidFill>
                        <a:latin typeface="楷体" panose="02010609060101010101" pitchFamily="49" charset="-122"/>
                        <a:ea typeface="楷体" panose="02010609060101010101" pitchFamily="49" charset="-122"/>
                      </a:rPr>
                      <a:t>例如，极大项</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ea typeface="楷体" panose="02010609060101010101" pitchFamily="49" charset="-122"/>
                              </a:rPr>
                            </m:ctrlPr>
                          </m:sSubPr>
                          <m:e>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𝒎</m:t>
                            </m:r>
                          </m:e>
                          <m:sub>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𝟓</m:t>
                            </m:r>
                          </m:sub>
                        </m:sSub>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𝒒</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𝒓</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的唯一成假赋值是</a:t>
                    </a:r>
                    <a14:m>
                      <m:oMath xmlns:m="http://schemas.openxmlformats.org/officeDocument/2006/math">
                        <m:r>
                          <a:rPr lang="en-US" altLang="zh-CN" sz="1600" b="1" i="0" smtClean="0">
                            <a:solidFill>
                              <a:schemeClr val="accent2">
                                <a:lumMod val="50000"/>
                              </a:schemeClr>
                            </a:solidFill>
                            <a:latin typeface="Cambria Math" panose="02040503050406030204" pitchFamily="18" charset="0"/>
                            <a:ea typeface="楷体" panose="02010609060101010101" pitchFamily="49" charset="-122"/>
                          </a:rPr>
                          <m:t>𝟏𝟎𝟏</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33" name="文本框 32">
                    <a:extLst>
                      <a:ext uri="{FF2B5EF4-FFF2-40B4-BE49-F238E27FC236}">
                        <a16:creationId xmlns:a16="http://schemas.microsoft.com/office/drawing/2014/main" id="{A90549CC-2499-4CFC-B78F-1EF0BB536A41}"/>
                      </a:ext>
                    </a:extLst>
                  </p:cNvPr>
                  <p:cNvSpPr txBox="1">
                    <a:spLocks noRot="1" noChangeAspect="1" noMove="1" noResize="1" noEditPoints="1" noAdjustHandles="1" noChangeArrowheads="1" noChangeShapeType="1" noTextEdit="1"/>
                  </p:cNvSpPr>
                  <p:nvPr/>
                </p:nvSpPr>
                <p:spPr>
                  <a:xfrm>
                    <a:off x="6536210" y="1254673"/>
                    <a:ext cx="5071289" cy="720775"/>
                  </a:xfrm>
                  <a:prstGeom prst="rect">
                    <a:avLst/>
                  </a:prstGeom>
                  <a:blipFill>
                    <a:blip r:embed="rId6"/>
                    <a:stretch>
                      <a:fillRect l="-721" t="-4202" b="-8403"/>
                    </a:stretch>
                  </a:blipFill>
                </p:spPr>
                <p:txBody>
                  <a:bodyPr/>
                  <a:lstStyle/>
                  <a:p>
                    <a:r>
                      <a:rPr lang="zh-CN" altLang="en-US">
                        <a:noFill/>
                      </a:rPr>
                      <a:t> </a:t>
                    </a:r>
                  </a:p>
                </p:txBody>
              </p:sp>
            </mc:Fallback>
          </mc:AlternateContent>
          <p:grpSp>
            <p:nvGrpSpPr>
              <p:cNvPr id="34" name="组合 33">
                <a:extLst>
                  <a:ext uri="{FF2B5EF4-FFF2-40B4-BE49-F238E27FC236}">
                    <a16:creationId xmlns:a16="http://schemas.microsoft.com/office/drawing/2014/main" id="{720DEBA9-B625-42F2-B3D3-F3BB4A0EC1EE}"/>
                  </a:ext>
                </a:extLst>
              </p:cNvPr>
              <p:cNvGrpSpPr/>
              <p:nvPr/>
            </p:nvGrpSpPr>
            <p:grpSpPr>
              <a:xfrm>
                <a:off x="6399702" y="2044872"/>
                <a:ext cx="5364696" cy="1066555"/>
                <a:chOff x="6511535" y="1985548"/>
                <a:chExt cx="5364696" cy="1066555"/>
              </a:xfrm>
            </p:grpSpPr>
            <p:sp>
              <p:nvSpPr>
                <p:cNvPr id="35" name="文本框 34">
                  <a:extLst>
                    <a:ext uri="{FF2B5EF4-FFF2-40B4-BE49-F238E27FC236}">
                      <a16:creationId xmlns:a16="http://schemas.microsoft.com/office/drawing/2014/main" id="{7BEE2EAC-D923-4CC1-BA45-2F4DB99E8768}"/>
                    </a:ext>
                  </a:extLst>
                </p:cNvPr>
                <p:cNvSpPr txBox="1"/>
                <p:nvPr/>
              </p:nvSpPr>
              <p:spPr>
                <a:xfrm>
                  <a:off x="7631981" y="1985548"/>
                  <a:ext cx="3203690" cy="369332"/>
                </a:xfrm>
                <a:prstGeom prst="rect">
                  <a:avLst/>
                </a:prstGeom>
                <a:solidFill>
                  <a:schemeClr val="accent6">
                    <a:lumMod val="20000"/>
                    <a:lumOff val="80000"/>
                    <a:alpha val="25000"/>
                  </a:schemeClr>
                </a:solidFill>
              </p:spPr>
              <p:txBody>
                <a:bodyPr wrap="square" rtlCol="0">
                  <a:spAutoFit/>
                </a:bodyPr>
                <a:lstStyle/>
                <a:p>
                  <a:pPr algn="ctr">
                    <a:spcAft>
                      <a:spcPts val="300"/>
                    </a:spcAft>
                  </a:pPr>
                  <a:r>
                    <a:rPr lang="zh-CN" altLang="en-US" b="1">
                      <a:solidFill>
                        <a:srgbClr val="002060"/>
                      </a:solidFill>
                    </a:rPr>
                    <a:t>公式的成假赋值与主合取范式</a:t>
                  </a:r>
                  <a:endParaRPr lang="en-US" altLang="zh-CN" b="1">
                    <a:solidFill>
                      <a:srgbClr val="002060"/>
                    </a:solidFill>
                  </a:endParaRP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573E5719-C19D-4ED3-9778-0B593C6EA6CB}"/>
                        </a:ext>
                      </a:extLst>
                    </p:cNvPr>
                    <p:cNvSpPr txBox="1"/>
                    <p:nvPr/>
                  </p:nvSpPr>
                  <p:spPr>
                    <a:xfrm>
                      <a:off x="6511535" y="2405772"/>
                      <a:ext cx="2438325" cy="646331"/>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6">
                              <a:lumMod val="50000"/>
                            </a:schemeClr>
                          </a:solidFill>
                          <a:latin typeface="楷体" panose="02010609060101010101" pitchFamily="49" charset="-122"/>
                          <a:ea typeface="楷体" panose="02010609060101010101" pitchFamily="49" charset="-122"/>
                        </a:rPr>
                        <a:t>一个公式的成假赋值刚好有</a:t>
                      </a:r>
                      <a14:m>
                        <m:oMath xmlns:m="http://schemas.openxmlformats.org/officeDocument/2006/math">
                          <m:r>
                            <a:rPr lang="en-US" altLang="zh-CN" b="1" i="1">
                              <a:solidFill>
                                <a:schemeClr val="accent6">
                                  <a:lumMod val="50000"/>
                                </a:schemeClr>
                              </a:solidFill>
                              <a:latin typeface="Cambria Math" panose="02040503050406030204" pitchFamily="18" charset="0"/>
                              <a:ea typeface="楷体" panose="02010609060101010101" pitchFamily="49" charset="-122"/>
                            </a:rPr>
                            <m:t>𝟎𝟏𝟎</m:t>
                          </m:r>
                          <m:r>
                            <a:rPr lang="en-US" altLang="zh-CN" b="1" i="1">
                              <a:solidFill>
                                <a:schemeClr val="accent6">
                                  <a:lumMod val="50000"/>
                                </a:schemeClr>
                              </a:solidFill>
                              <a:latin typeface="Cambria Math" panose="02040503050406030204" pitchFamily="18" charset="0"/>
                              <a:ea typeface="楷体" panose="02010609060101010101" pitchFamily="49" charset="-122"/>
                            </a:rPr>
                            <m:t>, </m:t>
                          </m:r>
                          <m:r>
                            <a:rPr lang="en-US" altLang="zh-CN" b="1" i="1">
                              <a:solidFill>
                                <a:schemeClr val="accent6">
                                  <a:lumMod val="50000"/>
                                </a:schemeClr>
                              </a:solidFill>
                              <a:latin typeface="Cambria Math" panose="02040503050406030204" pitchFamily="18" charset="0"/>
                              <a:ea typeface="楷体" panose="02010609060101010101" pitchFamily="49" charset="-122"/>
                            </a:rPr>
                            <m:t>𝟏𝟎𝟏</m:t>
                          </m:r>
                        </m:oMath>
                      </a14:m>
                      <a:r>
                        <a:rPr lang="zh-CN" altLang="en-US" b="1">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b="1" i="1">
                              <a:solidFill>
                                <a:schemeClr val="accent6">
                                  <a:lumMod val="50000"/>
                                </a:schemeClr>
                              </a:solidFill>
                              <a:latin typeface="Cambria Math" panose="02040503050406030204" pitchFamily="18" charset="0"/>
                              <a:ea typeface="楷体" panose="02010609060101010101" pitchFamily="49" charset="-122"/>
                            </a:rPr>
                            <m:t>𝟏𝟏𝟎</m:t>
                          </m:r>
                        </m:oMath>
                      </a14:m>
                      <a:endParaRPr lang="zh-CN" altLang="en-US"/>
                    </a:p>
                  </p:txBody>
                </p:sp>
              </mc:Choice>
              <mc:Fallback xmlns="">
                <p:sp>
                  <p:nvSpPr>
                    <p:cNvPr id="36" name="文本框 35">
                      <a:extLst>
                        <a:ext uri="{FF2B5EF4-FFF2-40B4-BE49-F238E27FC236}">
                          <a16:creationId xmlns:a16="http://schemas.microsoft.com/office/drawing/2014/main" id="{573E5719-C19D-4ED3-9778-0B593C6EA6CB}"/>
                        </a:ext>
                      </a:extLst>
                    </p:cNvPr>
                    <p:cNvSpPr txBox="1">
                      <a:spLocks noRot="1" noChangeAspect="1" noMove="1" noResize="1" noEditPoints="1" noAdjustHandles="1" noChangeArrowheads="1" noChangeShapeType="1" noTextEdit="1"/>
                    </p:cNvSpPr>
                    <p:nvPr/>
                  </p:nvSpPr>
                  <p:spPr>
                    <a:xfrm>
                      <a:off x="6511535" y="2405772"/>
                      <a:ext cx="2438325" cy="646331"/>
                    </a:xfrm>
                    <a:prstGeom prst="rect">
                      <a:avLst/>
                    </a:prstGeom>
                    <a:blipFill>
                      <a:blip r:embed="rId7"/>
                      <a:stretch>
                        <a:fillRect l="-2000" t="-5660"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704FEAA3-5AD1-4266-ADAE-075035D94B15}"/>
                        </a:ext>
                      </a:extLst>
                    </p:cNvPr>
                    <p:cNvSpPr txBox="1"/>
                    <p:nvPr/>
                  </p:nvSpPr>
                  <p:spPr>
                    <a:xfrm>
                      <a:off x="9365395" y="2401382"/>
                      <a:ext cx="2510836" cy="646331"/>
                    </a:xfrm>
                    <a:prstGeom prst="rect">
                      <a:avLst/>
                    </a:prstGeom>
                    <a:solidFill>
                      <a:schemeClr val="accent2">
                        <a:lumMod val="20000"/>
                        <a:lumOff val="80000"/>
                        <a:alpha val="50000"/>
                      </a:schemeClr>
                    </a:solidFill>
                  </p:spPr>
                  <p:txBody>
                    <a:bodyPr wrap="square" rtlCol="0">
                      <a:spAutoFit/>
                    </a:bodyPr>
                    <a:lstStyle/>
                    <a:p>
                      <a:r>
                        <a:rPr lang="zh-CN" altLang="en-US" b="1">
                          <a:solidFill>
                            <a:schemeClr val="accent6">
                              <a:lumMod val="50000"/>
                            </a:schemeClr>
                          </a:solidFill>
                          <a:latin typeface="楷体" panose="02010609060101010101" pitchFamily="49" charset="-122"/>
                          <a:ea typeface="楷体" panose="02010609060101010101" pitchFamily="49" charset="-122"/>
                        </a:rPr>
                        <a:t>与它逻辑等值的主合取范式是</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b="1" i="1" smtClean="0">
                                  <a:solidFill>
                                    <a:schemeClr val="accent6">
                                      <a:lumMod val="50000"/>
                                    </a:schemeClr>
                                  </a:solidFill>
                                  <a:latin typeface="Cambria Math" panose="02040503050406030204" pitchFamily="18" charset="0"/>
                                  <a:ea typeface="楷体" panose="02010609060101010101" pitchFamily="49" charset="-122"/>
                                </a:rPr>
                                <m:t>𝑴</m:t>
                              </m:r>
                            </m:e>
                            <m:sub>
                              <m:r>
                                <a:rPr lang="en-US" altLang="zh-CN" b="1" i="1">
                                  <a:solidFill>
                                    <a:schemeClr val="accent6">
                                      <a:lumMod val="50000"/>
                                    </a:schemeClr>
                                  </a:solidFill>
                                  <a:latin typeface="Cambria Math" panose="02040503050406030204" pitchFamily="18" charset="0"/>
                                  <a:ea typeface="楷体" panose="02010609060101010101" pitchFamily="49" charset="-122"/>
                                </a:rPr>
                                <m:t>𝟐</m:t>
                              </m:r>
                            </m:sub>
                          </m:sSub>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b="1" i="1" smtClean="0">
                                  <a:solidFill>
                                    <a:schemeClr val="accent6">
                                      <a:lumMod val="50000"/>
                                    </a:schemeClr>
                                  </a:solidFill>
                                  <a:latin typeface="Cambria Math" panose="02040503050406030204" pitchFamily="18" charset="0"/>
                                  <a:ea typeface="楷体" panose="02010609060101010101" pitchFamily="49" charset="-122"/>
                                </a:rPr>
                                <m:t>𝑴</m:t>
                              </m:r>
                            </m:e>
                            <m:sub>
                              <m:r>
                                <a:rPr lang="en-US" altLang="zh-CN" b="1" i="1">
                                  <a:solidFill>
                                    <a:schemeClr val="accent6">
                                      <a:lumMod val="50000"/>
                                    </a:schemeClr>
                                  </a:solidFill>
                                  <a:latin typeface="Cambria Math" panose="02040503050406030204" pitchFamily="18" charset="0"/>
                                  <a:ea typeface="楷体" panose="02010609060101010101" pitchFamily="49" charset="-122"/>
                                </a:rPr>
                                <m:t>𝟓</m:t>
                              </m:r>
                            </m:sub>
                          </m:sSub>
                          <m:r>
                            <a:rPr lang="en-US" altLang="zh-CN" b="1" i="1">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b="1" i="1">
                                  <a:solidFill>
                                    <a:schemeClr val="accent6">
                                      <a:lumMod val="50000"/>
                                    </a:schemeClr>
                                  </a:solidFill>
                                  <a:latin typeface="Cambria Math" panose="02040503050406030204" pitchFamily="18" charset="0"/>
                                  <a:ea typeface="楷体" panose="02010609060101010101" pitchFamily="49" charset="-122"/>
                                </a:rPr>
                              </m:ctrlPr>
                            </m:sSubPr>
                            <m:e>
                              <m:r>
                                <a:rPr lang="en-US" altLang="zh-CN" b="1" i="1" smtClean="0">
                                  <a:solidFill>
                                    <a:schemeClr val="accent6">
                                      <a:lumMod val="50000"/>
                                    </a:schemeClr>
                                  </a:solidFill>
                                  <a:latin typeface="Cambria Math" panose="02040503050406030204" pitchFamily="18" charset="0"/>
                                  <a:ea typeface="楷体" panose="02010609060101010101" pitchFamily="49" charset="-122"/>
                                </a:rPr>
                                <m:t>𝑴</m:t>
                              </m:r>
                            </m:e>
                            <m:sub>
                              <m:r>
                                <a:rPr lang="en-US" altLang="zh-CN" b="1" i="1">
                                  <a:solidFill>
                                    <a:schemeClr val="accent6">
                                      <a:lumMod val="50000"/>
                                    </a:schemeClr>
                                  </a:solidFill>
                                  <a:latin typeface="Cambria Math" panose="02040503050406030204" pitchFamily="18" charset="0"/>
                                  <a:ea typeface="楷体" panose="02010609060101010101" pitchFamily="49" charset="-122"/>
                                </a:rPr>
                                <m:t>𝟔</m:t>
                              </m:r>
                            </m:sub>
                          </m:sSub>
                        </m:oMath>
                      </a14:m>
                      <a:endParaRPr lang="zh-CN" altLang="en-US"/>
                    </a:p>
                  </p:txBody>
                </p:sp>
              </mc:Choice>
              <mc:Fallback xmlns="">
                <p:sp>
                  <p:nvSpPr>
                    <p:cNvPr id="37" name="文本框 36">
                      <a:extLst>
                        <a:ext uri="{FF2B5EF4-FFF2-40B4-BE49-F238E27FC236}">
                          <a16:creationId xmlns:a16="http://schemas.microsoft.com/office/drawing/2014/main" id="{704FEAA3-5AD1-4266-ADAE-075035D94B15}"/>
                        </a:ext>
                      </a:extLst>
                    </p:cNvPr>
                    <p:cNvSpPr txBox="1">
                      <a:spLocks noRot="1" noChangeAspect="1" noMove="1" noResize="1" noEditPoints="1" noAdjustHandles="1" noChangeArrowheads="1" noChangeShapeType="1" noTextEdit="1"/>
                    </p:cNvSpPr>
                    <p:nvPr/>
                  </p:nvSpPr>
                  <p:spPr>
                    <a:xfrm>
                      <a:off x="9365395" y="2401382"/>
                      <a:ext cx="2510836" cy="646331"/>
                    </a:xfrm>
                    <a:prstGeom prst="rect">
                      <a:avLst/>
                    </a:prstGeom>
                    <a:blipFill>
                      <a:blip r:embed="rId8"/>
                      <a:stretch>
                        <a:fillRect l="-2190" t="-4717" r="-1217" b="-11321"/>
                      </a:stretch>
                    </a:blipFill>
                  </p:spPr>
                  <p:txBody>
                    <a:bodyPr/>
                    <a:lstStyle/>
                    <a:p>
                      <a:r>
                        <a:rPr lang="zh-CN" altLang="en-US">
                          <a:noFill/>
                        </a:rPr>
                        <a:t> </a:t>
                      </a:r>
                    </a:p>
                  </p:txBody>
                </p:sp>
              </mc:Fallback>
            </mc:AlternateContent>
            <p:sp>
              <p:nvSpPr>
                <p:cNvPr id="38" name="箭头: 右 37">
                  <a:extLst>
                    <a:ext uri="{FF2B5EF4-FFF2-40B4-BE49-F238E27FC236}">
                      <a16:creationId xmlns:a16="http://schemas.microsoft.com/office/drawing/2014/main" id="{8E180591-AC9E-4C61-88E7-C431AF2AEBBA}"/>
                    </a:ext>
                  </a:extLst>
                </p:cNvPr>
                <p:cNvSpPr/>
                <p:nvPr/>
              </p:nvSpPr>
              <p:spPr>
                <a:xfrm>
                  <a:off x="8949860" y="2697395"/>
                  <a:ext cx="415535" cy="85276"/>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2" name="矩形: 圆角 31">
              <a:extLst>
                <a:ext uri="{FF2B5EF4-FFF2-40B4-BE49-F238E27FC236}">
                  <a16:creationId xmlns:a16="http://schemas.microsoft.com/office/drawing/2014/main" id="{D22A35FA-F4C3-4D46-9A2E-48591C41FE22}"/>
                </a:ext>
              </a:extLst>
            </p:cNvPr>
            <p:cNvSpPr/>
            <p:nvPr/>
          </p:nvSpPr>
          <p:spPr>
            <a:xfrm>
              <a:off x="6361329" y="1513035"/>
              <a:ext cx="5493528" cy="207220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文本框 38">
            <a:extLst>
              <a:ext uri="{FF2B5EF4-FFF2-40B4-BE49-F238E27FC236}">
                <a16:creationId xmlns:a16="http://schemas.microsoft.com/office/drawing/2014/main" id="{C6465928-2DC9-4504-9760-CA1496D280C6}"/>
              </a:ext>
            </a:extLst>
          </p:cNvPr>
          <p:cNvSpPr txBox="1"/>
          <p:nvPr/>
        </p:nvSpPr>
        <p:spPr>
          <a:xfrm>
            <a:off x="1497009" y="5326947"/>
            <a:ext cx="3834591" cy="646331"/>
          </a:xfrm>
          <a:prstGeom prst="rect">
            <a:avLst/>
          </a:prstGeom>
          <a:solidFill>
            <a:schemeClr val="accent2">
              <a:lumMod val="20000"/>
              <a:lumOff val="80000"/>
              <a:alpha val="50000"/>
            </a:schemeClr>
          </a:solidFill>
        </p:spPr>
        <p:txBody>
          <a:bodyPr wrap="square"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主范式在固定命题变量顺序，并固定极小项</a:t>
            </a:r>
            <a:r>
              <a:rPr lang="en-US" altLang="zh-CN" b="1">
                <a:solidFill>
                  <a:schemeClr val="accent2">
                    <a:lumMod val="50000"/>
                  </a:schemeClr>
                </a:solidFill>
                <a:latin typeface="楷体" panose="02010609060101010101" pitchFamily="49" charset="-122"/>
                <a:ea typeface="楷体" panose="02010609060101010101" pitchFamily="49" charset="-122"/>
              </a:rPr>
              <a:t>/</a:t>
            </a:r>
            <a:r>
              <a:rPr lang="zh-CN" altLang="en-US" b="1">
                <a:solidFill>
                  <a:schemeClr val="accent2">
                    <a:lumMod val="50000"/>
                  </a:schemeClr>
                </a:solidFill>
                <a:latin typeface="楷体" panose="02010609060101010101" pitchFamily="49" charset="-122"/>
                <a:ea typeface="楷体" panose="02010609060101010101" pitchFamily="49" charset="-122"/>
              </a:rPr>
              <a:t>极大项顺序的意义下唯一！</a:t>
            </a:r>
          </a:p>
        </p:txBody>
      </p:sp>
    </p:spTree>
    <p:extLst>
      <p:ext uri="{BB962C8B-B14F-4D97-AF65-F5344CB8AC3E}">
        <p14:creationId xmlns:p14="http://schemas.microsoft.com/office/powerpoint/2010/main" val="305090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主范式与真值表</a:t>
            </a:r>
          </a:p>
        </p:txBody>
      </p:sp>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8F7FCA14-7013-4994-8E34-1C75D8DADD69}"/>
                  </a:ext>
                </a:extLst>
              </p:cNvPr>
              <p:cNvGraphicFramePr>
                <a:graphicFrameLocks noGrp="1"/>
              </p:cNvGraphicFramePr>
              <p:nvPr>
                <p:extLst>
                  <p:ext uri="{D42A27DB-BD31-4B8C-83A1-F6EECF244321}">
                    <p14:modId xmlns:p14="http://schemas.microsoft.com/office/powerpoint/2010/main" val="3467387587"/>
                  </p:ext>
                </p:extLst>
              </p:nvPr>
            </p:nvGraphicFramePr>
            <p:xfrm>
              <a:off x="706883" y="1057899"/>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4">
                            <a:lumMod val="40000"/>
                            <a:lumOff val="6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4">
                            <a:lumMod val="60000"/>
                            <a:lumOff val="4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11" name="表格 10">
                <a:extLst>
                  <a:ext uri="{FF2B5EF4-FFF2-40B4-BE49-F238E27FC236}">
                    <a16:creationId xmlns:a16="http://schemas.microsoft.com/office/drawing/2014/main" id="{8F7FCA14-7013-4994-8E34-1C75D8DADD69}"/>
                  </a:ext>
                </a:extLst>
              </p:cNvPr>
              <p:cNvGraphicFramePr>
                <a:graphicFrameLocks noGrp="1"/>
              </p:cNvGraphicFramePr>
              <p:nvPr>
                <p:extLst>
                  <p:ext uri="{D42A27DB-BD31-4B8C-83A1-F6EECF244321}">
                    <p14:modId xmlns:p14="http://schemas.microsoft.com/office/powerpoint/2010/main" val="3467387587"/>
                  </p:ext>
                </p:extLst>
              </p:nvPr>
            </p:nvGraphicFramePr>
            <p:xfrm>
              <a:off x="706883" y="1057899"/>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82857"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91045"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229412"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213740"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57471"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1090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374163"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27215"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4">
                            <a:lumMod val="40000"/>
                            <a:lumOff val="6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2">
                            <a:lumMod val="40000"/>
                            <a:lumOff val="6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4">
                            <a:lumMod val="60000"/>
                            <a:lumOff val="40000"/>
                            <a:alpha val="50000"/>
                          </a:schemeClr>
                        </a:solidFill>
                      </a:tcPr>
                    </a:tc>
                    <a:extLst>
                      <a:ext uri="{0D108BD9-81ED-4DB2-BD59-A6C34878D82A}">
                        <a16:rowId xmlns:a16="http://schemas.microsoft.com/office/drawing/2014/main" val="1936679581"/>
                      </a:ext>
                    </a:extLst>
                  </a:tr>
                </a:tbl>
              </a:graphicData>
            </a:graphic>
          </p:graphicFrame>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438DAAA-2D8A-42B2-876B-CBFE5FA9A6CD}"/>
                  </a:ext>
                </a:extLst>
              </p:cNvPr>
              <p:cNvSpPr txBox="1"/>
              <p:nvPr/>
            </p:nvSpPr>
            <p:spPr>
              <a:xfrm>
                <a:off x="9183472" y="2800950"/>
                <a:ext cx="2355074" cy="215444"/>
              </a:xfrm>
              <a:prstGeom prst="rect">
                <a:avLst/>
              </a:prstGeom>
              <a:solidFill>
                <a:schemeClr val="accent4">
                  <a:lumMod val="40000"/>
                  <a:lumOff val="60000"/>
                  <a:alpha val="50000"/>
                </a:schemeClr>
              </a:solidFill>
            </p:spPr>
            <p:txBody>
              <a:bodyPr wrap="square" tIns="0" bIns="0" rtlCol="0">
                <a:spAutoFit/>
              </a:bodyPr>
              <a:lstStyle/>
              <a:p>
                <a:r>
                  <a:rPr lang="zh-CN" altLang="en-US" sz="1400">
                    <a:solidFill>
                      <a:schemeClr val="accent2">
                        <a:lumMod val="50000"/>
                      </a:schemeClr>
                    </a:solidFill>
                  </a:rPr>
                  <a:t>极小项：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i="1" smtClean="0">
                            <a:solidFill>
                              <a:schemeClr val="accent2">
                                <a:lumMod val="50000"/>
                              </a:schemeClr>
                            </a:solidFill>
                            <a:latin typeface="Cambria Math" panose="02040503050406030204" pitchFamily="18" charset="0"/>
                          </a:rPr>
                          <m:t>𝑚</m:t>
                        </m:r>
                      </m:e>
                      <m:sub>
                        <m:r>
                          <a:rPr lang="en-US" altLang="zh-CN" sz="1400" i="1" smtClean="0">
                            <a:solidFill>
                              <a:schemeClr val="accent2">
                                <a:lumMod val="50000"/>
                              </a:schemeClr>
                            </a:solidFill>
                            <a:latin typeface="Cambria Math" panose="02040503050406030204" pitchFamily="18" charset="0"/>
                          </a:rPr>
                          <m:t>4</m:t>
                        </m:r>
                      </m:sub>
                    </m:sSub>
                    <m:r>
                      <a:rPr lang="en-US" altLang="zh-CN" sz="1400" i="1" smtClean="0">
                        <a:solidFill>
                          <a:schemeClr val="accent2">
                            <a:lumMod val="50000"/>
                          </a:schemeClr>
                        </a:solidFill>
                        <a:latin typeface="Cambria Math" panose="02040503050406030204" pitchFamily="18" charset="0"/>
                      </a:rPr>
                      <m:t>= </m:t>
                    </m:r>
                    <m:r>
                      <a:rPr lang="en-US" altLang="zh-CN" sz="1400" i="1" smtClean="0">
                        <a:solidFill>
                          <a:schemeClr val="accent2">
                            <a:lumMod val="50000"/>
                          </a:schemeClr>
                        </a:solidFill>
                        <a:latin typeface="Cambria Math" panose="02040503050406030204" pitchFamily="18" charset="0"/>
                      </a:rPr>
                      <m:t>𝑝</m:t>
                    </m:r>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7438DAAA-2D8A-42B2-876B-CBFE5FA9A6CD}"/>
                  </a:ext>
                </a:extLst>
              </p:cNvPr>
              <p:cNvSpPr txBox="1">
                <a:spLocks noRot="1" noChangeAspect="1" noMove="1" noResize="1" noEditPoints="1" noAdjustHandles="1" noChangeArrowheads="1" noChangeShapeType="1" noTextEdit="1"/>
              </p:cNvSpPr>
              <p:nvPr/>
            </p:nvSpPr>
            <p:spPr>
              <a:xfrm>
                <a:off x="9183472" y="2800950"/>
                <a:ext cx="2355074" cy="215444"/>
              </a:xfrm>
              <a:prstGeom prst="rect">
                <a:avLst/>
              </a:prstGeom>
              <a:blipFill>
                <a:blip r:embed="rId3"/>
                <a:stretch>
                  <a:fillRect l="-775" t="-25000" b="-47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7A644D7-61ED-4575-991F-01BDD555907B}"/>
                  </a:ext>
                </a:extLst>
              </p:cNvPr>
              <p:cNvSpPr txBox="1"/>
              <p:nvPr/>
            </p:nvSpPr>
            <p:spPr>
              <a:xfrm>
                <a:off x="9183473" y="3800511"/>
                <a:ext cx="2355073" cy="215444"/>
              </a:xfrm>
              <a:prstGeom prst="rect">
                <a:avLst/>
              </a:prstGeom>
              <a:solidFill>
                <a:schemeClr val="accent4">
                  <a:lumMod val="40000"/>
                  <a:lumOff val="60000"/>
                  <a:alpha val="50000"/>
                </a:schemeClr>
              </a:solidFill>
            </p:spPr>
            <p:txBody>
              <a:bodyPr wrap="square" tIns="0" bIns="0" rtlCol="0">
                <a:spAutoFit/>
              </a:bodyPr>
              <a:lstStyle/>
              <a:p>
                <a:r>
                  <a:rPr lang="zh-CN" altLang="en-US" sz="1400">
                    <a:solidFill>
                      <a:schemeClr val="accent2">
                        <a:lumMod val="50000"/>
                      </a:schemeClr>
                    </a:solidFill>
                  </a:rPr>
                  <a:t>极小项：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i="1" smtClean="0">
                            <a:solidFill>
                              <a:schemeClr val="accent2">
                                <a:lumMod val="50000"/>
                              </a:schemeClr>
                            </a:solidFill>
                            <a:latin typeface="Cambria Math" panose="02040503050406030204" pitchFamily="18" charset="0"/>
                          </a:rPr>
                          <m:t>𝑚</m:t>
                        </m:r>
                      </m:e>
                      <m:sub>
                        <m:r>
                          <a:rPr lang="en-US" altLang="zh-CN" sz="1400" b="0" i="1" smtClean="0">
                            <a:solidFill>
                              <a:schemeClr val="accent2">
                                <a:lumMod val="50000"/>
                              </a:schemeClr>
                            </a:solidFill>
                            <a:latin typeface="Cambria Math" panose="02040503050406030204" pitchFamily="18" charset="0"/>
                          </a:rPr>
                          <m:t>7</m:t>
                        </m:r>
                      </m:sub>
                    </m:sSub>
                    <m:r>
                      <a:rPr lang="en-US" altLang="zh-CN" sz="1400" i="1" smtClean="0">
                        <a:solidFill>
                          <a:schemeClr val="accent2">
                            <a:lumMod val="50000"/>
                          </a:schemeClr>
                        </a:solidFill>
                        <a:latin typeface="Cambria Math" panose="02040503050406030204" pitchFamily="18" charset="0"/>
                      </a:rPr>
                      <m:t>= </m:t>
                    </m:r>
                    <m:r>
                      <a:rPr lang="en-US" altLang="zh-CN" sz="1400" i="1" smtClean="0">
                        <a:solidFill>
                          <a:schemeClr val="accent2">
                            <a:lumMod val="50000"/>
                          </a:schemeClr>
                        </a:solidFill>
                        <a:latin typeface="Cambria Math" panose="02040503050406030204" pitchFamily="18" charset="0"/>
                      </a:rPr>
                      <m:t>𝑝</m:t>
                    </m:r>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A7A644D7-61ED-4575-991F-01BDD555907B}"/>
                  </a:ext>
                </a:extLst>
              </p:cNvPr>
              <p:cNvSpPr txBox="1">
                <a:spLocks noRot="1" noChangeAspect="1" noMove="1" noResize="1" noEditPoints="1" noAdjustHandles="1" noChangeArrowheads="1" noChangeShapeType="1" noTextEdit="1"/>
              </p:cNvSpPr>
              <p:nvPr/>
            </p:nvSpPr>
            <p:spPr>
              <a:xfrm>
                <a:off x="9183473" y="3800511"/>
                <a:ext cx="2355073" cy="215444"/>
              </a:xfrm>
              <a:prstGeom prst="rect">
                <a:avLst/>
              </a:prstGeom>
              <a:blipFill>
                <a:blip r:embed="rId4"/>
                <a:stretch>
                  <a:fillRect l="-775" t="-25000" b="-47222"/>
                </a:stretch>
              </a:blipFill>
            </p:spPr>
            <p:txBody>
              <a:bodyPr/>
              <a:lstStyle/>
              <a:p>
                <a:r>
                  <a:rPr lang="zh-CN" altLang="en-US">
                    <a:noFill/>
                  </a:rPr>
                  <a:t> </a:t>
                </a:r>
              </a:p>
            </p:txBody>
          </p:sp>
        </mc:Fallback>
      </mc:AlternateContent>
      <p:sp>
        <p:nvSpPr>
          <p:cNvPr id="4" name="箭头: 右 3">
            <a:extLst>
              <a:ext uri="{FF2B5EF4-FFF2-40B4-BE49-F238E27FC236}">
                <a16:creationId xmlns:a16="http://schemas.microsoft.com/office/drawing/2014/main" id="{40EDD1A3-BEF3-45A4-8780-151ACE3FB631}"/>
              </a:ext>
            </a:extLst>
          </p:cNvPr>
          <p:cNvSpPr/>
          <p:nvPr/>
        </p:nvSpPr>
        <p:spPr>
          <a:xfrm>
            <a:off x="7704697" y="2892115"/>
            <a:ext cx="1478774" cy="45719"/>
          </a:xfrm>
          <a:prstGeom prst="rightArrow">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右 13">
            <a:extLst>
              <a:ext uri="{FF2B5EF4-FFF2-40B4-BE49-F238E27FC236}">
                <a16:creationId xmlns:a16="http://schemas.microsoft.com/office/drawing/2014/main" id="{929D4954-6149-44A1-869F-2EBED5056602}"/>
              </a:ext>
            </a:extLst>
          </p:cNvPr>
          <p:cNvSpPr/>
          <p:nvPr/>
        </p:nvSpPr>
        <p:spPr>
          <a:xfrm>
            <a:off x="7704696" y="3885374"/>
            <a:ext cx="1478775" cy="45719"/>
          </a:xfrm>
          <a:prstGeom prst="rightArrow">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56FC959-ABAD-414D-8D1F-4CF9A454564D}"/>
                  </a:ext>
                </a:extLst>
              </p:cNvPr>
              <p:cNvSpPr txBox="1"/>
              <p:nvPr/>
            </p:nvSpPr>
            <p:spPr>
              <a:xfrm>
                <a:off x="7894101" y="1490071"/>
                <a:ext cx="2355073" cy="215444"/>
              </a:xfrm>
              <a:prstGeom prst="rect">
                <a:avLst/>
              </a:prstGeom>
              <a:solidFill>
                <a:schemeClr val="accent2">
                  <a:lumMod val="40000"/>
                  <a:lumOff val="60000"/>
                  <a:alpha val="50000"/>
                </a:schemeClr>
              </a:solidFill>
            </p:spPr>
            <p:txBody>
              <a:bodyPr wrap="square" tIns="0" bIns="0" rtlCol="0">
                <a:spAutoFit/>
              </a:bodyPr>
              <a:lstStyle/>
              <a:p>
                <a:r>
                  <a:rPr lang="zh-CN" altLang="en-US" sz="1400">
                    <a:solidFill>
                      <a:schemeClr val="accent2">
                        <a:lumMod val="50000"/>
                      </a:schemeClr>
                    </a:solidFill>
                  </a:rPr>
                  <a:t>极大项：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b="0" i="1" smtClean="0">
                            <a:solidFill>
                              <a:schemeClr val="accent2">
                                <a:lumMod val="50000"/>
                              </a:schemeClr>
                            </a:solidFill>
                            <a:latin typeface="Cambria Math" panose="02040503050406030204" pitchFamily="18" charset="0"/>
                          </a:rPr>
                          <m:t>𝑀</m:t>
                        </m:r>
                      </m:e>
                      <m:sub>
                        <m:r>
                          <a:rPr lang="en-US" altLang="zh-CN" sz="1400" b="0" i="1" smtClean="0">
                            <a:solidFill>
                              <a:schemeClr val="accent2">
                                <a:lumMod val="50000"/>
                              </a:schemeClr>
                            </a:solidFill>
                            <a:latin typeface="Cambria Math" panose="02040503050406030204" pitchFamily="18" charset="0"/>
                          </a:rPr>
                          <m:t>0</m:t>
                        </m:r>
                      </m:sub>
                    </m:sSub>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456FC959-ABAD-414D-8D1F-4CF9A454564D}"/>
                  </a:ext>
                </a:extLst>
              </p:cNvPr>
              <p:cNvSpPr txBox="1">
                <a:spLocks noRot="1" noChangeAspect="1" noMove="1" noResize="1" noEditPoints="1" noAdjustHandles="1" noChangeArrowheads="1" noChangeShapeType="1" noTextEdit="1"/>
              </p:cNvSpPr>
              <p:nvPr/>
            </p:nvSpPr>
            <p:spPr>
              <a:xfrm>
                <a:off x="7894101" y="1490071"/>
                <a:ext cx="2355073" cy="215444"/>
              </a:xfrm>
              <a:prstGeom prst="rect">
                <a:avLst/>
              </a:prstGeom>
              <a:blipFill>
                <a:blip r:embed="rId5"/>
                <a:stretch>
                  <a:fillRect l="-777" t="-25000" b="-47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2A886CD-7522-4E18-AE7B-8B2DB12AC28C}"/>
                  </a:ext>
                </a:extLst>
              </p:cNvPr>
              <p:cNvSpPr txBox="1"/>
              <p:nvPr/>
            </p:nvSpPr>
            <p:spPr>
              <a:xfrm>
                <a:off x="7894101" y="1811685"/>
                <a:ext cx="2355074" cy="215444"/>
              </a:xfrm>
              <a:prstGeom prst="rect">
                <a:avLst/>
              </a:prstGeom>
              <a:solidFill>
                <a:schemeClr val="accent2">
                  <a:lumMod val="40000"/>
                  <a:lumOff val="60000"/>
                  <a:alpha val="50000"/>
                </a:schemeClr>
              </a:solidFill>
            </p:spPr>
            <p:txBody>
              <a:bodyPr wrap="square" tIns="0" bIns="0" rtlCol="0">
                <a:spAutoFit/>
              </a:bodyPr>
              <a:lstStyle/>
              <a:p>
                <a:r>
                  <a:rPr lang="zh-CN" altLang="en-US" sz="1400">
                    <a:solidFill>
                      <a:schemeClr val="accent2">
                        <a:lumMod val="50000"/>
                      </a:schemeClr>
                    </a:solidFill>
                  </a:rPr>
                  <a:t>极大项：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b="0" i="1" smtClean="0">
                            <a:solidFill>
                              <a:schemeClr val="accent2">
                                <a:lumMod val="50000"/>
                              </a:schemeClr>
                            </a:solidFill>
                            <a:latin typeface="Cambria Math" panose="02040503050406030204" pitchFamily="18" charset="0"/>
                          </a:rPr>
                          <m:t>𝑀</m:t>
                        </m:r>
                      </m:e>
                      <m:sub>
                        <m:r>
                          <a:rPr lang="en-US" altLang="zh-CN" sz="1400" b="0" i="1" smtClean="0">
                            <a:solidFill>
                              <a:schemeClr val="accent2">
                                <a:lumMod val="50000"/>
                              </a:schemeClr>
                            </a:solidFill>
                            <a:latin typeface="Cambria Math" panose="02040503050406030204" pitchFamily="18" charset="0"/>
                          </a:rPr>
                          <m:t>1</m:t>
                        </m:r>
                      </m:sub>
                    </m:sSub>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82A886CD-7522-4E18-AE7B-8B2DB12AC28C}"/>
                  </a:ext>
                </a:extLst>
              </p:cNvPr>
              <p:cNvSpPr txBox="1">
                <a:spLocks noRot="1" noChangeAspect="1" noMove="1" noResize="1" noEditPoints="1" noAdjustHandles="1" noChangeArrowheads="1" noChangeShapeType="1" noTextEdit="1"/>
              </p:cNvSpPr>
              <p:nvPr/>
            </p:nvSpPr>
            <p:spPr>
              <a:xfrm>
                <a:off x="7894101" y="1811685"/>
                <a:ext cx="2355074" cy="215444"/>
              </a:xfrm>
              <a:prstGeom prst="rect">
                <a:avLst/>
              </a:prstGeom>
              <a:blipFill>
                <a:blip r:embed="rId6"/>
                <a:stretch>
                  <a:fillRect l="-777" t="-25000" b="-47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78CC013-831A-48F2-826E-8E6B2F9A0E1F}"/>
                  </a:ext>
                </a:extLst>
              </p:cNvPr>
              <p:cNvSpPr txBox="1"/>
              <p:nvPr/>
            </p:nvSpPr>
            <p:spPr>
              <a:xfrm>
                <a:off x="7894101" y="2157245"/>
                <a:ext cx="2355074" cy="215444"/>
              </a:xfrm>
              <a:prstGeom prst="rect">
                <a:avLst/>
              </a:prstGeom>
              <a:solidFill>
                <a:schemeClr val="accent2">
                  <a:lumMod val="40000"/>
                  <a:lumOff val="60000"/>
                  <a:alpha val="50000"/>
                </a:schemeClr>
              </a:solidFill>
            </p:spPr>
            <p:txBody>
              <a:bodyPr wrap="square" tIns="0" bIns="0" rtlCol="0">
                <a:spAutoFit/>
              </a:bodyPr>
              <a:lstStyle/>
              <a:p>
                <a:r>
                  <a:rPr lang="zh-CN" altLang="en-US" sz="1400">
                    <a:solidFill>
                      <a:schemeClr val="accent2">
                        <a:lumMod val="50000"/>
                      </a:schemeClr>
                    </a:solidFill>
                  </a:rPr>
                  <a:t>极大项：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b="0" i="1" smtClean="0">
                            <a:solidFill>
                              <a:schemeClr val="accent2">
                                <a:lumMod val="50000"/>
                              </a:schemeClr>
                            </a:solidFill>
                            <a:latin typeface="Cambria Math" panose="02040503050406030204" pitchFamily="18" charset="0"/>
                          </a:rPr>
                          <m:t>𝑀</m:t>
                        </m:r>
                      </m:e>
                      <m:sub>
                        <m:r>
                          <a:rPr lang="en-US" altLang="zh-CN" sz="1400" b="0" i="1" smtClean="0">
                            <a:solidFill>
                              <a:schemeClr val="accent2">
                                <a:lumMod val="50000"/>
                              </a:schemeClr>
                            </a:solidFill>
                            <a:latin typeface="Cambria Math" panose="02040503050406030204" pitchFamily="18" charset="0"/>
                          </a:rPr>
                          <m:t>2</m:t>
                        </m:r>
                      </m:sub>
                    </m:sSub>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278CC013-831A-48F2-826E-8E6B2F9A0E1F}"/>
                  </a:ext>
                </a:extLst>
              </p:cNvPr>
              <p:cNvSpPr txBox="1">
                <a:spLocks noRot="1" noChangeAspect="1" noMove="1" noResize="1" noEditPoints="1" noAdjustHandles="1" noChangeArrowheads="1" noChangeShapeType="1" noTextEdit="1"/>
              </p:cNvSpPr>
              <p:nvPr/>
            </p:nvSpPr>
            <p:spPr>
              <a:xfrm>
                <a:off x="7894101" y="2157245"/>
                <a:ext cx="2355074" cy="215444"/>
              </a:xfrm>
              <a:prstGeom prst="rect">
                <a:avLst/>
              </a:prstGeom>
              <a:blipFill>
                <a:blip r:embed="rId7"/>
                <a:stretch>
                  <a:fillRect l="-777" t="-25714" b="-5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8E4132B-2067-4A47-9A22-E0C139848940}"/>
                  </a:ext>
                </a:extLst>
              </p:cNvPr>
              <p:cNvSpPr txBox="1"/>
              <p:nvPr/>
            </p:nvSpPr>
            <p:spPr>
              <a:xfrm>
                <a:off x="7894101" y="2469865"/>
                <a:ext cx="2355074" cy="215444"/>
              </a:xfrm>
              <a:prstGeom prst="rect">
                <a:avLst/>
              </a:prstGeom>
              <a:solidFill>
                <a:schemeClr val="accent2">
                  <a:lumMod val="40000"/>
                  <a:lumOff val="60000"/>
                  <a:alpha val="50000"/>
                </a:schemeClr>
              </a:solidFill>
            </p:spPr>
            <p:txBody>
              <a:bodyPr wrap="square" tIns="0" bIns="0" rtlCol="0">
                <a:spAutoFit/>
              </a:bodyPr>
              <a:lstStyle/>
              <a:p>
                <a:r>
                  <a:rPr lang="zh-CN" altLang="en-US" sz="1400">
                    <a:solidFill>
                      <a:schemeClr val="accent2">
                        <a:lumMod val="50000"/>
                      </a:schemeClr>
                    </a:solidFill>
                  </a:rPr>
                  <a:t>极大项：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b="0" i="1" smtClean="0">
                            <a:solidFill>
                              <a:schemeClr val="accent2">
                                <a:lumMod val="50000"/>
                              </a:schemeClr>
                            </a:solidFill>
                            <a:latin typeface="Cambria Math" panose="02040503050406030204" pitchFamily="18" charset="0"/>
                          </a:rPr>
                          <m:t>𝑀</m:t>
                        </m:r>
                      </m:e>
                      <m:sub>
                        <m:r>
                          <a:rPr lang="en-US" altLang="zh-CN" sz="1400" b="0" i="1" smtClean="0">
                            <a:solidFill>
                              <a:schemeClr val="accent2">
                                <a:lumMod val="50000"/>
                              </a:schemeClr>
                            </a:solidFill>
                            <a:latin typeface="Cambria Math" panose="02040503050406030204" pitchFamily="18" charset="0"/>
                          </a:rPr>
                          <m:t>3</m:t>
                        </m:r>
                      </m:sub>
                    </m:sSub>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38E4132B-2067-4A47-9A22-E0C139848940}"/>
                  </a:ext>
                </a:extLst>
              </p:cNvPr>
              <p:cNvSpPr txBox="1">
                <a:spLocks noRot="1" noChangeAspect="1" noMove="1" noResize="1" noEditPoints="1" noAdjustHandles="1" noChangeArrowheads="1" noChangeShapeType="1" noTextEdit="1"/>
              </p:cNvSpPr>
              <p:nvPr/>
            </p:nvSpPr>
            <p:spPr>
              <a:xfrm>
                <a:off x="7894101" y="2469865"/>
                <a:ext cx="2355074" cy="215444"/>
              </a:xfrm>
              <a:prstGeom prst="rect">
                <a:avLst/>
              </a:prstGeom>
              <a:blipFill>
                <a:blip r:embed="rId8"/>
                <a:stretch>
                  <a:fillRect l="-777" t="-25000" b="-47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23D31C6-5A97-4772-8393-50D1AD989E04}"/>
                  </a:ext>
                </a:extLst>
              </p:cNvPr>
              <p:cNvSpPr txBox="1"/>
              <p:nvPr/>
            </p:nvSpPr>
            <p:spPr>
              <a:xfrm>
                <a:off x="7894101" y="3104079"/>
                <a:ext cx="2355074" cy="215444"/>
              </a:xfrm>
              <a:prstGeom prst="rect">
                <a:avLst/>
              </a:prstGeom>
              <a:solidFill>
                <a:schemeClr val="accent2">
                  <a:lumMod val="40000"/>
                  <a:lumOff val="60000"/>
                  <a:alpha val="50000"/>
                </a:schemeClr>
              </a:solidFill>
            </p:spPr>
            <p:txBody>
              <a:bodyPr wrap="square" tIns="0" bIns="0" rtlCol="0">
                <a:spAutoFit/>
              </a:bodyPr>
              <a:lstStyle/>
              <a:p>
                <a:r>
                  <a:rPr lang="zh-CN" altLang="en-US" sz="1400">
                    <a:solidFill>
                      <a:schemeClr val="accent2">
                        <a:lumMod val="50000"/>
                      </a:schemeClr>
                    </a:solidFill>
                  </a:rPr>
                  <a:t>极大项：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b="0" i="1" smtClean="0">
                            <a:solidFill>
                              <a:schemeClr val="accent2">
                                <a:lumMod val="50000"/>
                              </a:schemeClr>
                            </a:solidFill>
                            <a:latin typeface="Cambria Math" panose="02040503050406030204" pitchFamily="18" charset="0"/>
                          </a:rPr>
                          <m:t>𝑀</m:t>
                        </m:r>
                      </m:e>
                      <m:sub>
                        <m:r>
                          <a:rPr lang="en-US" altLang="zh-CN" sz="1400" b="0" i="1" smtClean="0">
                            <a:solidFill>
                              <a:schemeClr val="accent2">
                                <a:lumMod val="50000"/>
                              </a:schemeClr>
                            </a:solidFill>
                            <a:latin typeface="Cambria Math" panose="02040503050406030204" pitchFamily="18" charset="0"/>
                          </a:rPr>
                          <m:t>5</m:t>
                        </m:r>
                      </m:sub>
                    </m:sSub>
                    <m:r>
                      <a:rPr lang="en-US" altLang="zh-CN" sz="140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723D31C6-5A97-4772-8393-50D1AD989E04}"/>
                  </a:ext>
                </a:extLst>
              </p:cNvPr>
              <p:cNvSpPr txBox="1">
                <a:spLocks noRot="1" noChangeAspect="1" noMove="1" noResize="1" noEditPoints="1" noAdjustHandles="1" noChangeArrowheads="1" noChangeShapeType="1" noTextEdit="1"/>
              </p:cNvSpPr>
              <p:nvPr/>
            </p:nvSpPr>
            <p:spPr>
              <a:xfrm>
                <a:off x="7894101" y="3104079"/>
                <a:ext cx="2355074" cy="215444"/>
              </a:xfrm>
              <a:prstGeom prst="rect">
                <a:avLst/>
              </a:prstGeom>
              <a:blipFill>
                <a:blip r:embed="rId9"/>
                <a:stretch>
                  <a:fillRect l="-777" t="-25000" b="-47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F8F76A3-6682-4006-9E46-0C750FCBD017}"/>
                  </a:ext>
                </a:extLst>
              </p:cNvPr>
              <p:cNvSpPr txBox="1"/>
              <p:nvPr/>
            </p:nvSpPr>
            <p:spPr>
              <a:xfrm>
                <a:off x="7894099" y="3444566"/>
                <a:ext cx="2355075" cy="215444"/>
              </a:xfrm>
              <a:prstGeom prst="rect">
                <a:avLst/>
              </a:prstGeom>
              <a:solidFill>
                <a:schemeClr val="accent2">
                  <a:lumMod val="40000"/>
                  <a:lumOff val="60000"/>
                  <a:alpha val="50000"/>
                </a:schemeClr>
              </a:solidFill>
            </p:spPr>
            <p:txBody>
              <a:bodyPr wrap="square" tIns="0" bIns="0" rtlCol="0">
                <a:spAutoFit/>
              </a:bodyPr>
              <a:lstStyle/>
              <a:p>
                <a:r>
                  <a:rPr lang="zh-CN" altLang="en-US" sz="1400">
                    <a:solidFill>
                      <a:schemeClr val="accent2">
                        <a:lumMod val="50000"/>
                      </a:schemeClr>
                    </a:solidFill>
                  </a:rPr>
                  <a:t>极大项：</a:t>
                </a:r>
                <a14:m>
                  <m:oMath xmlns:m="http://schemas.openxmlformats.org/officeDocument/2006/math">
                    <m:sSub>
                      <m:sSubPr>
                        <m:ctrlPr>
                          <a:rPr lang="en-US" altLang="zh-CN" sz="1400" i="1" smtClean="0">
                            <a:solidFill>
                              <a:schemeClr val="accent2">
                                <a:lumMod val="50000"/>
                              </a:schemeClr>
                            </a:solidFill>
                            <a:latin typeface="Cambria Math" panose="02040503050406030204" pitchFamily="18" charset="0"/>
                          </a:rPr>
                        </m:ctrlPr>
                      </m:sSubPr>
                      <m:e>
                        <m:r>
                          <a:rPr lang="en-US" altLang="zh-CN" sz="1400" b="0" i="1" smtClean="0">
                            <a:solidFill>
                              <a:schemeClr val="accent2">
                                <a:lumMod val="50000"/>
                              </a:schemeClr>
                            </a:solidFill>
                            <a:latin typeface="Cambria Math" panose="02040503050406030204" pitchFamily="18" charset="0"/>
                          </a:rPr>
                          <m:t>𝑀</m:t>
                        </m:r>
                      </m:e>
                      <m:sub>
                        <m:r>
                          <a:rPr lang="en-US" altLang="zh-CN" sz="1400" b="0" i="1" smtClean="0">
                            <a:solidFill>
                              <a:schemeClr val="accent2">
                                <a:lumMod val="50000"/>
                              </a:schemeClr>
                            </a:solidFill>
                            <a:latin typeface="Cambria Math" panose="02040503050406030204" pitchFamily="18" charset="0"/>
                          </a:rPr>
                          <m:t>6</m:t>
                        </m:r>
                      </m:sub>
                    </m:sSub>
                    <m:r>
                      <a:rPr lang="en-US" altLang="zh-CN" sz="140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i="1" smtClean="0">
                        <a:solidFill>
                          <a:schemeClr val="accent2">
                            <a:lumMod val="50000"/>
                          </a:schemeClr>
                        </a:solidFill>
                        <a:latin typeface="Cambria Math" panose="02040503050406030204" pitchFamily="18" charset="0"/>
                      </a:rPr>
                      <m:t>𝑟</m:t>
                    </m:r>
                  </m:oMath>
                </a14:m>
                <a:endParaRPr lang="zh-CN" altLang="en-US" sz="1400">
                  <a:solidFill>
                    <a:schemeClr val="accent2">
                      <a:lumMod val="50000"/>
                    </a:schemeClr>
                  </a:solidFill>
                </a:endParaRPr>
              </a:p>
            </p:txBody>
          </p:sp>
        </mc:Choice>
        <mc:Fallback xmlns="">
          <p:sp>
            <p:nvSpPr>
              <p:cNvPr id="21" name="文本框 20">
                <a:extLst>
                  <a:ext uri="{FF2B5EF4-FFF2-40B4-BE49-F238E27FC236}">
                    <a16:creationId xmlns:a16="http://schemas.microsoft.com/office/drawing/2014/main" id="{EF8F76A3-6682-4006-9E46-0C750FCBD017}"/>
                  </a:ext>
                </a:extLst>
              </p:cNvPr>
              <p:cNvSpPr txBox="1">
                <a:spLocks noRot="1" noChangeAspect="1" noMove="1" noResize="1" noEditPoints="1" noAdjustHandles="1" noChangeArrowheads="1" noChangeShapeType="1" noTextEdit="1"/>
              </p:cNvSpPr>
              <p:nvPr/>
            </p:nvSpPr>
            <p:spPr>
              <a:xfrm>
                <a:off x="7894099" y="3444566"/>
                <a:ext cx="2355075" cy="215444"/>
              </a:xfrm>
              <a:prstGeom prst="rect">
                <a:avLst/>
              </a:prstGeom>
              <a:blipFill>
                <a:blip r:embed="rId10"/>
                <a:stretch>
                  <a:fillRect l="-777" t="-25714" b="-51429"/>
                </a:stretch>
              </a:blipFill>
            </p:spPr>
            <p:txBody>
              <a:bodyPr/>
              <a:lstStyle/>
              <a:p>
                <a:r>
                  <a:rPr lang="zh-CN" altLang="en-US">
                    <a:noFill/>
                  </a:rPr>
                  <a:t> </a:t>
                </a:r>
              </a:p>
            </p:txBody>
          </p:sp>
        </mc:Fallback>
      </mc:AlternateContent>
      <p:sp>
        <p:nvSpPr>
          <p:cNvPr id="22" name="箭头: 右 21">
            <a:extLst>
              <a:ext uri="{FF2B5EF4-FFF2-40B4-BE49-F238E27FC236}">
                <a16:creationId xmlns:a16="http://schemas.microsoft.com/office/drawing/2014/main" id="{8130E5FF-2C8E-4E95-81FD-AEC5EECE5F3B}"/>
              </a:ext>
            </a:extLst>
          </p:cNvPr>
          <p:cNvSpPr/>
          <p:nvPr/>
        </p:nvSpPr>
        <p:spPr>
          <a:xfrm>
            <a:off x="7704697" y="1589053"/>
            <a:ext cx="189404" cy="45719"/>
          </a:xfrm>
          <a:prstGeom prst="rightArrow">
            <a:avLst/>
          </a:prstGeom>
          <a:solidFill>
            <a:schemeClr val="accent2">
              <a:lumMod val="40000"/>
              <a:lumOff val="6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692205A1-EE80-4485-8000-87C7FC3EFE93}"/>
              </a:ext>
            </a:extLst>
          </p:cNvPr>
          <p:cNvSpPr/>
          <p:nvPr/>
        </p:nvSpPr>
        <p:spPr>
          <a:xfrm>
            <a:off x="7704695" y="1919407"/>
            <a:ext cx="189404" cy="45719"/>
          </a:xfrm>
          <a:prstGeom prst="rightArrow">
            <a:avLst/>
          </a:prstGeom>
          <a:solidFill>
            <a:schemeClr val="accent2">
              <a:lumMod val="40000"/>
              <a:lumOff val="6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C5D8F260-BC9C-460E-90CE-240EA9939A7E}"/>
              </a:ext>
            </a:extLst>
          </p:cNvPr>
          <p:cNvSpPr/>
          <p:nvPr/>
        </p:nvSpPr>
        <p:spPr>
          <a:xfrm>
            <a:off x="7704695" y="2242045"/>
            <a:ext cx="189404" cy="45719"/>
          </a:xfrm>
          <a:prstGeom prst="rightArrow">
            <a:avLst/>
          </a:prstGeom>
          <a:solidFill>
            <a:schemeClr val="accent2">
              <a:lumMod val="40000"/>
              <a:lumOff val="6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AE95BF50-B1A2-4E86-A716-13C74BDB10CB}"/>
              </a:ext>
            </a:extLst>
          </p:cNvPr>
          <p:cNvSpPr/>
          <p:nvPr/>
        </p:nvSpPr>
        <p:spPr>
          <a:xfrm>
            <a:off x="7704695" y="2561761"/>
            <a:ext cx="189404" cy="45719"/>
          </a:xfrm>
          <a:prstGeom prst="rightArrow">
            <a:avLst/>
          </a:prstGeom>
          <a:solidFill>
            <a:schemeClr val="accent2">
              <a:lumMod val="40000"/>
              <a:lumOff val="6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879C31B5-6540-4B9B-A932-4CCBAC1C6189}"/>
              </a:ext>
            </a:extLst>
          </p:cNvPr>
          <p:cNvSpPr/>
          <p:nvPr/>
        </p:nvSpPr>
        <p:spPr>
          <a:xfrm>
            <a:off x="7704695" y="3208082"/>
            <a:ext cx="189404" cy="45719"/>
          </a:xfrm>
          <a:prstGeom prst="rightArrow">
            <a:avLst/>
          </a:prstGeom>
          <a:solidFill>
            <a:schemeClr val="accent2">
              <a:lumMod val="40000"/>
              <a:lumOff val="6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6F42B9D1-CB0F-4197-92AC-00A6F231AAE6}"/>
              </a:ext>
            </a:extLst>
          </p:cNvPr>
          <p:cNvSpPr/>
          <p:nvPr/>
        </p:nvSpPr>
        <p:spPr>
          <a:xfrm>
            <a:off x="7704695" y="3536429"/>
            <a:ext cx="189404" cy="45719"/>
          </a:xfrm>
          <a:prstGeom prst="rightArrow">
            <a:avLst/>
          </a:prstGeom>
          <a:solidFill>
            <a:schemeClr val="accent2">
              <a:lumMod val="40000"/>
              <a:lumOff val="6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B87DB81-E1AF-4DD2-AB5D-479113771948}"/>
                  </a:ext>
                </a:extLst>
              </p:cNvPr>
              <p:cNvSpPr txBox="1"/>
              <p:nvPr/>
            </p:nvSpPr>
            <p:spPr>
              <a:xfrm>
                <a:off x="7799397" y="1079405"/>
                <a:ext cx="3601000" cy="277961"/>
              </a:xfrm>
              <a:prstGeom prst="rect">
                <a:avLst/>
              </a:prstGeom>
              <a:solidFill>
                <a:schemeClr val="accent6">
                  <a:lumMod val="50000"/>
                </a:schemeClr>
              </a:solidFill>
            </p:spPr>
            <p:txBody>
              <a:bodyPr wrap="square" tIns="0" bIns="0" rtlCol="0">
                <a:spAutoFit/>
              </a:bodyPr>
              <a:lstStyle/>
              <a:p>
                <a:r>
                  <a:rPr lang="zh-CN" altLang="en-US" sz="1600">
                    <a:solidFill>
                      <a:schemeClr val="bg1"/>
                    </a:solidFill>
                  </a:rPr>
                  <a:t>公式</a:t>
                </a:r>
                <a14:m>
                  <m:oMath xmlns:m="http://schemas.openxmlformats.org/officeDocument/2006/math">
                    <m:r>
                      <a:rPr lang="en-US" altLang="zh-CN" sz="1600" i="1" smtClean="0">
                        <a:solidFill>
                          <a:schemeClr val="bg1"/>
                        </a:solidFill>
                        <a:latin typeface="Cambria Math" panose="02040503050406030204" pitchFamily="18" charset="0"/>
                      </a:rPr>
                      <m:t>𝐴</m:t>
                    </m:r>
                    <m:r>
                      <a:rPr lang="en-US" altLang="zh-CN" sz="1600" i="1" smtClean="0">
                        <a:solidFill>
                          <a:schemeClr val="bg1"/>
                        </a:solidFill>
                        <a:latin typeface="Cambria Math" panose="02040503050406030204" pitchFamily="18" charset="0"/>
                      </a:rPr>
                      <m:t> = </m:t>
                    </m:r>
                    <m:d>
                      <m:dPr>
                        <m:ctrlPr>
                          <a:rPr lang="en-US" altLang="zh-CN" sz="1600" i="1" smtClean="0">
                            <a:solidFill>
                              <a:schemeClr val="bg1"/>
                            </a:solidFill>
                            <a:latin typeface="Cambria Math" panose="02040503050406030204" pitchFamily="18" charset="0"/>
                          </a:rPr>
                        </m:ctrlPr>
                      </m:dPr>
                      <m:e>
                        <m:r>
                          <a:rPr lang="en-US" altLang="zh-CN" sz="1600" i="1" smtClean="0">
                            <a:solidFill>
                              <a:schemeClr val="bg1"/>
                            </a:solidFill>
                            <a:latin typeface="Cambria Math" panose="02040503050406030204" pitchFamily="18" charset="0"/>
                          </a:rPr>
                          <m:t>𝑟</m:t>
                        </m:r>
                        <m:r>
                          <a:rPr lang="en-US" altLang="zh-CN" sz="1600" i="1" smtClean="0">
                            <a:solidFill>
                              <a:schemeClr val="bg1"/>
                            </a:solidFill>
                            <a:latin typeface="Cambria Math" panose="02040503050406030204" pitchFamily="18" charset="0"/>
                          </a:rPr>
                          <m:t>∨</m:t>
                        </m:r>
                        <m:d>
                          <m:dPr>
                            <m:ctrlPr>
                              <a:rPr lang="en-US" altLang="zh-CN" sz="1600" i="1" smtClean="0">
                                <a:solidFill>
                                  <a:schemeClr val="bg1"/>
                                </a:solidFill>
                                <a:latin typeface="Cambria Math" panose="02040503050406030204" pitchFamily="18" charset="0"/>
                              </a:rPr>
                            </m:ctrlPr>
                          </m:dPr>
                          <m:e>
                            <m:r>
                              <a:rPr lang="en-US" altLang="zh-CN" sz="1600" i="1" smtClean="0">
                                <a:solidFill>
                                  <a:schemeClr val="bg1"/>
                                </a:solidFill>
                                <a:latin typeface="Cambria Math" panose="02040503050406030204" pitchFamily="18" charset="0"/>
                              </a:rPr>
                              <m:t>𝑝</m:t>
                            </m:r>
                            <m:r>
                              <a:rPr lang="en-US" altLang="zh-CN" sz="1600" i="1" smtClean="0">
                                <a:solidFill>
                                  <a:schemeClr val="bg1"/>
                                </a:solidFill>
                                <a:latin typeface="Cambria Math" panose="02040503050406030204" pitchFamily="18" charset="0"/>
                              </a:rPr>
                              <m:t>∧¬</m:t>
                            </m:r>
                            <m:r>
                              <a:rPr lang="en-US" altLang="zh-CN" sz="1600" i="1" smtClean="0">
                                <a:solidFill>
                                  <a:schemeClr val="bg1"/>
                                </a:solidFill>
                                <a:latin typeface="Cambria Math" panose="02040503050406030204" pitchFamily="18" charset="0"/>
                              </a:rPr>
                              <m:t>𝑞</m:t>
                            </m:r>
                          </m:e>
                        </m:d>
                      </m:e>
                    </m:d>
                    <m:r>
                      <a:rPr lang="en-US" altLang="zh-CN" sz="1600" i="1" smtClean="0">
                        <a:solidFill>
                          <a:schemeClr val="bg1"/>
                        </a:solidFill>
                        <a:latin typeface="Cambria Math" panose="02040503050406030204" pitchFamily="18" charset="0"/>
                      </a:rPr>
                      <m:t>∧</m:t>
                    </m:r>
                    <m:d>
                      <m:dPr>
                        <m:ctrlPr>
                          <a:rPr lang="en-US" altLang="zh-CN" sz="1600" i="1" smtClean="0">
                            <a:solidFill>
                              <a:schemeClr val="bg1"/>
                            </a:solidFill>
                            <a:latin typeface="Cambria Math" panose="02040503050406030204" pitchFamily="18" charset="0"/>
                          </a:rPr>
                        </m:ctrlPr>
                      </m:dPr>
                      <m:e>
                        <m:r>
                          <a:rPr lang="en-US" altLang="zh-CN" sz="1600" i="1" smtClean="0">
                            <a:solidFill>
                              <a:schemeClr val="bg1"/>
                            </a:solidFill>
                            <a:latin typeface="Cambria Math" panose="02040503050406030204" pitchFamily="18" charset="0"/>
                          </a:rPr>
                          <m:t>𝑟</m:t>
                        </m:r>
                        <m:r>
                          <a:rPr lang="en-US" altLang="zh-CN" sz="1600" i="1" smtClean="0">
                            <a:solidFill>
                              <a:schemeClr val="bg1"/>
                            </a:solidFill>
                            <a:latin typeface="Cambria Math" panose="02040503050406030204" pitchFamily="18" charset="0"/>
                          </a:rPr>
                          <m:t>→</m:t>
                        </m:r>
                        <m:r>
                          <a:rPr lang="en-US" altLang="zh-CN" sz="1600" i="1" smtClean="0">
                            <a:solidFill>
                              <a:schemeClr val="bg1"/>
                            </a:solidFill>
                            <a:latin typeface="Cambria Math" panose="02040503050406030204" pitchFamily="18" charset="0"/>
                          </a:rPr>
                          <m:t>𝑝</m:t>
                        </m:r>
                        <m:r>
                          <a:rPr lang="en-US" altLang="zh-CN" sz="1600" i="1" smtClean="0">
                            <a:solidFill>
                              <a:schemeClr val="bg1"/>
                            </a:solidFill>
                            <a:latin typeface="Cambria Math" panose="02040503050406030204" pitchFamily="18" charset="0"/>
                          </a:rPr>
                          <m:t>∧</m:t>
                        </m:r>
                        <m:r>
                          <a:rPr lang="en-US" altLang="zh-CN" sz="1600" i="1" smtClean="0">
                            <a:solidFill>
                              <a:schemeClr val="bg1"/>
                            </a:solidFill>
                            <a:latin typeface="Cambria Math" panose="02040503050406030204" pitchFamily="18" charset="0"/>
                          </a:rPr>
                          <m:t>𝑞</m:t>
                        </m:r>
                      </m:e>
                    </m:d>
                  </m:oMath>
                </a14:m>
                <a:endParaRPr lang="zh-CN" altLang="en-US" sz="1600">
                  <a:solidFill>
                    <a:schemeClr val="bg1"/>
                  </a:solidFill>
                </a:endParaRPr>
              </a:p>
            </p:txBody>
          </p:sp>
        </mc:Choice>
        <mc:Fallback xmlns="">
          <p:sp>
            <p:nvSpPr>
              <p:cNvPr id="6" name="文本框 5">
                <a:extLst>
                  <a:ext uri="{FF2B5EF4-FFF2-40B4-BE49-F238E27FC236}">
                    <a16:creationId xmlns:a16="http://schemas.microsoft.com/office/drawing/2014/main" id="{7B87DB81-E1AF-4DD2-AB5D-479113771948}"/>
                  </a:ext>
                </a:extLst>
              </p:cNvPr>
              <p:cNvSpPr txBox="1">
                <a:spLocks noRot="1" noChangeAspect="1" noMove="1" noResize="1" noEditPoints="1" noAdjustHandles="1" noChangeArrowheads="1" noChangeShapeType="1" noTextEdit="1"/>
              </p:cNvSpPr>
              <p:nvPr/>
            </p:nvSpPr>
            <p:spPr>
              <a:xfrm>
                <a:off x="7799397" y="1079405"/>
                <a:ext cx="3601000" cy="277961"/>
              </a:xfrm>
              <a:prstGeom prst="rect">
                <a:avLst/>
              </a:prstGeom>
              <a:blipFill>
                <a:blip r:embed="rId11"/>
                <a:stretch>
                  <a:fillRect l="-846" t="-13043" b="-41304"/>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18A613F8-2770-45E2-B972-86C895D431DD}"/>
              </a:ext>
            </a:extLst>
          </p:cNvPr>
          <p:cNvSpPr txBox="1"/>
          <p:nvPr/>
        </p:nvSpPr>
        <p:spPr>
          <a:xfrm>
            <a:off x="312861" y="4307058"/>
            <a:ext cx="8481809" cy="1846659"/>
          </a:xfrm>
          <a:prstGeom prst="rect">
            <a:avLst/>
          </a:prstGeom>
          <a:solidFill>
            <a:schemeClr val="accent4">
              <a:lumMod val="20000"/>
              <a:lumOff val="80000"/>
              <a:alpha val="50000"/>
            </a:schemeClr>
          </a:solidFill>
        </p:spPr>
        <p:txBody>
          <a:bodyPr wrap="none" rtlCol="0">
            <a:spAutoFit/>
          </a:bodyPr>
          <a:lstStyle/>
          <a:p>
            <a:pPr algn="ctr">
              <a:spcBef>
                <a:spcPts val="600"/>
              </a:spcBef>
              <a:spcAft>
                <a:spcPts val="600"/>
              </a:spcAft>
            </a:pPr>
            <a:r>
              <a:rPr lang="zh-CN" altLang="en-US" sz="2400" b="1">
                <a:solidFill>
                  <a:srgbClr val="002060"/>
                </a:solidFill>
              </a:rPr>
              <a:t>公式的真值表和与它逻辑等值的主范式</a:t>
            </a:r>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成真赋值对应编码的极小项的析取就是与该公式等值的主析取范式</a:t>
            </a:r>
            <a:endParaRPr lang="en-US" altLang="zh-CN" sz="2000" b="1">
              <a:solidFill>
                <a:srgbClr val="C0000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成假赋值对应编码的极大项的合取就是与该公式等值的主合取范式</a:t>
            </a:r>
          </a:p>
          <a:p>
            <a:pPr marL="342900" indent="-342900">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公式的主析取范式的极小项编码集与其主合取范式的极大项编码集互补</a:t>
            </a: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81BF175-E971-4766-A8AE-1C06A2D356F6}"/>
                  </a:ext>
                </a:extLst>
              </p:cNvPr>
              <p:cNvSpPr txBox="1"/>
              <p:nvPr/>
            </p:nvSpPr>
            <p:spPr>
              <a:xfrm>
                <a:off x="8932006" y="4117548"/>
                <a:ext cx="2947133" cy="1269578"/>
              </a:xfrm>
              <a:prstGeom prst="rect">
                <a:avLst/>
              </a:prstGeom>
              <a:solidFill>
                <a:schemeClr val="accent5">
                  <a:lumMod val="20000"/>
                  <a:lumOff val="80000"/>
                  <a:alpha val="50000"/>
                </a:schemeClr>
              </a:solidFill>
            </p:spPr>
            <p:txBody>
              <a:bodyPr wrap="square" rtlCol="0">
                <a:spAutoFit/>
              </a:bodyPr>
              <a:lstStyle/>
              <a:p>
                <a:pPr algn="ctr"/>
                <a:r>
                  <a:rPr lang="zh-CN" altLang="en-US" sz="1600" b="1">
                    <a:solidFill>
                      <a:srgbClr val="002060"/>
                    </a:solidFill>
                  </a:rPr>
                  <a:t>公式</a:t>
                </a:r>
                <a14:m>
                  <m:oMath xmlns:m="http://schemas.openxmlformats.org/officeDocument/2006/math">
                    <m:r>
                      <a:rPr lang="en-US" altLang="zh-CN" sz="1600" b="1" i="1" smtClean="0">
                        <a:solidFill>
                          <a:srgbClr val="002060"/>
                        </a:solidFill>
                        <a:latin typeface="Cambria Math" panose="02040503050406030204" pitchFamily="18" charset="0"/>
                      </a:rPr>
                      <m:t>𝑨</m:t>
                    </m:r>
                  </m:oMath>
                </a14:m>
                <a:r>
                  <a:rPr lang="zh-CN" altLang="en-US" sz="1600" b="1">
                    <a:solidFill>
                      <a:srgbClr val="002060"/>
                    </a:solidFill>
                  </a:rPr>
                  <a:t>的主析取范式</a:t>
                </a:r>
                <a:endParaRPr lang="en-US" altLang="zh-CN" sz="1600" b="1">
                  <a:solidFill>
                    <a:srgbClr val="002060"/>
                  </a:solidFill>
                </a:endParaRPr>
              </a:p>
              <a:p>
                <a:pPr algn="ctr"/>
                <a14:m>
                  <m:oMathPara xmlns:m="http://schemas.openxmlformats.org/officeDocument/2006/math">
                    <m:oMathParaPr>
                      <m:jc m:val="centerGroup"/>
                    </m:oMathParaPr>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𝒎</m:t>
                          </m:r>
                        </m:e>
                        <m:sub>
                          <m:r>
                            <a:rPr lang="en-US" altLang="zh-CN" sz="1600" b="1" i="1" smtClean="0">
                              <a:solidFill>
                                <a:schemeClr val="accent6">
                                  <a:lumMod val="50000"/>
                                </a:schemeClr>
                              </a:solidFill>
                              <a:latin typeface="Cambria Math" panose="02040503050406030204" pitchFamily="18" charset="0"/>
                            </a:rPr>
                            <m:t>𝟒</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𝒎</m:t>
                          </m:r>
                        </m:e>
                        <m:sub>
                          <m:r>
                            <a:rPr lang="en-US" altLang="zh-CN" sz="1600" b="1" i="1" smtClean="0">
                              <a:solidFill>
                                <a:schemeClr val="accent6">
                                  <a:lumMod val="50000"/>
                                </a:schemeClr>
                              </a:solidFill>
                              <a:latin typeface="Cambria Math" panose="02040503050406030204" pitchFamily="18" charset="0"/>
                            </a:rPr>
                            <m:t>𝟕</m:t>
                          </m:r>
                        </m:sub>
                      </m:sSub>
                    </m:oMath>
                  </m:oMathPara>
                </a14:m>
                <a:endParaRPr lang="en-US" altLang="zh-CN" sz="1600" b="1"/>
              </a:p>
              <a:p>
                <a:pPr algn="ctr">
                  <a:spcBef>
                    <a:spcPts val="1200"/>
                  </a:spcBef>
                  <a:spcAft>
                    <a:spcPts val="300"/>
                  </a:spcAft>
                </a:pPr>
                <a:r>
                  <a:rPr lang="zh-CN" altLang="en-US" sz="1600" b="1">
                    <a:solidFill>
                      <a:srgbClr val="002060"/>
                    </a:solidFill>
                  </a:rPr>
                  <a:t>公式</a:t>
                </a:r>
                <a14:m>
                  <m:oMath xmlns:m="http://schemas.openxmlformats.org/officeDocument/2006/math">
                    <m:r>
                      <a:rPr lang="en-US" altLang="zh-CN" sz="1600" b="1" i="1" smtClean="0">
                        <a:solidFill>
                          <a:srgbClr val="002060"/>
                        </a:solidFill>
                        <a:latin typeface="Cambria Math" panose="02040503050406030204" pitchFamily="18" charset="0"/>
                      </a:rPr>
                      <m:t>𝑨</m:t>
                    </m:r>
                  </m:oMath>
                </a14:m>
                <a:r>
                  <a:rPr lang="zh-CN" altLang="en-US" sz="1600" b="1">
                    <a:solidFill>
                      <a:srgbClr val="002060"/>
                    </a:solidFill>
                  </a:rPr>
                  <a:t>的主合取范式</a:t>
                </a:r>
                <a:endParaRPr lang="en-US" altLang="zh-CN" sz="1600" b="1">
                  <a:solidFill>
                    <a:srgbClr val="002060"/>
                  </a:solidFill>
                </a:endParaRPr>
              </a:p>
              <a:p>
                <a:pPr algn="ctr"/>
                <a14:m>
                  <m:oMathPara xmlns:m="http://schemas.openxmlformats.org/officeDocument/2006/math">
                    <m:oMathParaPr>
                      <m:jc m:val="centerGroup"/>
                    </m:oMathParaPr>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𝟎</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𝟏</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𝟐</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𝟑</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𝟓</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𝟔</m:t>
                          </m:r>
                        </m:sub>
                      </m:sSub>
                    </m:oMath>
                  </m:oMathPara>
                </a14:m>
                <a:endParaRPr lang="zh-CN" altLang="en-US" sz="1600" b="1"/>
              </a:p>
            </p:txBody>
          </p:sp>
        </mc:Choice>
        <mc:Fallback xmlns="">
          <p:sp>
            <p:nvSpPr>
              <p:cNvPr id="29" name="文本框 28">
                <a:extLst>
                  <a:ext uri="{FF2B5EF4-FFF2-40B4-BE49-F238E27FC236}">
                    <a16:creationId xmlns:a16="http://schemas.microsoft.com/office/drawing/2014/main" id="{281BF175-E971-4766-A8AE-1C06A2D356F6}"/>
                  </a:ext>
                </a:extLst>
              </p:cNvPr>
              <p:cNvSpPr txBox="1">
                <a:spLocks noRot="1" noChangeAspect="1" noMove="1" noResize="1" noEditPoints="1" noAdjustHandles="1" noChangeArrowheads="1" noChangeShapeType="1" noTextEdit="1"/>
              </p:cNvSpPr>
              <p:nvPr/>
            </p:nvSpPr>
            <p:spPr>
              <a:xfrm>
                <a:off x="8932006" y="4117548"/>
                <a:ext cx="2947133" cy="1269578"/>
              </a:xfrm>
              <a:prstGeom prst="rect">
                <a:avLst/>
              </a:prstGeom>
              <a:blipFill>
                <a:blip r:embed="rId12"/>
                <a:stretch>
                  <a:fillRect t="-14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52E08D8D-26A9-4C81-BE36-781E7F8D480B}"/>
                  </a:ext>
                </a:extLst>
              </p:cNvPr>
              <p:cNvSpPr txBox="1"/>
              <p:nvPr/>
            </p:nvSpPr>
            <p:spPr>
              <a:xfrm>
                <a:off x="9205009" y="5573581"/>
                <a:ext cx="2401125"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永真式的主范式记为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m:t>
                    </m:r>
                  </m:oMath>
                </a14:m>
                <a:endParaRPr lang="en-US" altLang="zh-CN" b="1">
                  <a:solidFill>
                    <a:schemeClr val="accent2">
                      <a:lumMod val="50000"/>
                    </a:schemeClr>
                  </a:solidFill>
                </a:endParaRPr>
              </a:p>
              <a:p>
                <a:r>
                  <a:rPr lang="zh-CN" altLang="en-US" b="1">
                    <a:solidFill>
                      <a:schemeClr val="accent2">
                        <a:lumMod val="50000"/>
                      </a:schemeClr>
                    </a:solidFill>
                  </a:rPr>
                  <a:t>矛盾式的主范式记为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𝟎</m:t>
                    </m:r>
                  </m:oMath>
                </a14:m>
                <a:endParaRPr lang="zh-CN" altLang="en-US" b="1">
                  <a:solidFill>
                    <a:schemeClr val="accent2">
                      <a:lumMod val="50000"/>
                    </a:schemeClr>
                  </a:solidFill>
                </a:endParaRPr>
              </a:p>
            </p:txBody>
          </p:sp>
        </mc:Choice>
        <mc:Fallback xmlns="">
          <p:sp>
            <p:nvSpPr>
              <p:cNvPr id="30" name="文本框 29">
                <a:extLst>
                  <a:ext uri="{FF2B5EF4-FFF2-40B4-BE49-F238E27FC236}">
                    <a16:creationId xmlns:a16="http://schemas.microsoft.com/office/drawing/2014/main" id="{52E08D8D-26A9-4C81-BE36-781E7F8D480B}"/>
                  </a:ext>
                </a:extLst>
              </p:cNvPr>
              <p:cNvSpPr txBox="1">
                <a:spLocks noRot="1" noChangeAspect="1" noMove="1" noResize="1" noEditPoints="1" noAdjustHandles="1" noChangeArrowheads="1" noChangeShapeType="1" noTextEdit="1"/>
              </p:cNvSpPr>
              <p:nvPr/>
            </p:nvSpPr>
            <p:spPr>
              <a:xfrm>
                <a:off x="9205009" y="5573581"/>
                <a:ext cx="2401125" cy="646331"/>
              </a:xfrm>
              <a:prstGeom prst="rect">
                <a:avLst/>
              </a:prstGeom>
              <a:blipFill>
                <a:blip r:embed="rId13"/>
                <a:stretch>
                  <a:fillRect l="-2030" t="-4717"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9054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4"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6" grpId="0" animBg="1"/>
      <p:bldP spid="29" grpId="0" animBg="1"/>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等值演算法求与公式逻辑等值的主范式练习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3DD5750-139C-4A50-94DC-ED72C598F54A}"/>
                  </a:ext>
                </a:extLst>
              </p:cNvPr>
              <p:cNvSpPr txBox="1"/>
              <p:nvPr/>
            </p:nvSpPr>
            <p:spPr>
              <a:xfrm>
                <a:off x="438418" y="902536"/>
                <a:ext cx="10771205" cy="645048"/>
              </a:xfrm>
              <a:prstGeom prst="rect">
                <a:avLst/>
              </a:prstGeom>
              <a:solidFill>
                <a:schemeClr val="accent4">
                  <a:lumMod val="20000"/>
                  <a:lumOff val="80000"/>
                </a:schemeClr>
              </a:solidFill>
            </p:spPr>
            <p:txBody>
              <a:bodyPr wrap="square" rtlCol="0">
                <a:spAutoFit/>
              </a:bodyPr>
              <a:lstStyle/>
              <a:p>
                <a:r>
                  <a:rPr lang="zh-CN" altLang="en-US" sz="2400" b="1">
                    <a:solidFill>
                      <a:srgbClr val="C00000"/>
                    </a:solidFill>
                  </a:rPr>
                  <a:t>怎样想到逻辑等值式</a:t>
                </a:r>
                <a14:m>
                  <m:oMath xmlns:m="http://schemas.openxmlformats.org/officeDocument/2006/math">
                    <m:r>
                      <a:rPr lang="en-US" altLang="zh-CN" sz="2400" b="1" i="1" smtClean="0">
                        <a:solidFill>
                          <a:srgbClr val="C00000"/>
                        </a:solidFill>
                        <a:latin typeface="Cambria Math" panose="02040503050406030204" pitchFamily="18" charset="0"/>
                        <a:ea typeface="宋体" panose="02010600030101010101" pitchFamily="2" charset="-122"/>
                      </a:rPr>
                      <m:t>𝑨</m:t>
                    </m:r>
                    <m:r>
                      <a:rPr lang="en-US" altLang="zh-CN" sz="2400" b="1" i="0" smtClean="0">
                        <a:solidFill>
                          <a:srgbClr val="C00000"/>
                        </a:solidFill>
                        <a:latin typeface="Cambria Math" panose="02040503050406030204" pitchFamily="18" charset="0"/>
                        <a:ea typeface="宋体" panose="02010600030101010101" pitchFamily="2" charset="-122"/>
                      </a:rPr>
                      <m:t>=</m:t>
                    </m:r>
                    <m:d>
                      <m:dPr>
                        <m:ctrlPr>
                          <a:rPr lang="en-US" altLang="zh-CN" sz="2400" b="1" i="1">
                            <a:solidFill>
                              <a:srgbClr val="C00000"/>
                            </a:solidFill>
                            <a:latin typeface="Cambria Math" panose="02040503050406030204" pitchFamily="18" charset="0"/>
                            <a:ea typeface="宋体" panose="02010600030101010101" pitchFamily="2" charset="-122"/>
                          </a:rPr>
                        </m:ctrlPr>
                      </m:dPr>
                      <m:e>
                        <m:r>
                          <a:rPr lang="en-US" altLang="zh-CN" sz="2400" b="1" i="1">
                            <a:solidFill>
                              <a:srgbClr val="C00000"/>
                            </a:solidFill>
                            <a:latin typeface="Cambria Math" panose="02040503050406030204" pitchFamily="18" charset="0"/>
                            <a:ea typeface="宋体" panose="02010600030101010101" pitchFamily="2" charset="-122"/>
                          </a:rPr>
                          <m:t>𝒔</m:t>
                        </m:r>
                        <m:r>
                          <a:rPr lang="en-US" altLang="zh-CN" sz="2400" b="1" i="1">
                            <a:solidFill>
                              <a:srgbClr val="C00000"/>
                            </a:solidFill>
                            <a:latin typeface="Cambria Math" panose="02040503050406030204" pitchFamily="18" charset="0"/>
                            <a:ea typeface="宋体" panose="02010600030101010101" pitchFamily="2" charset="-122"/>
                          </a:rPr>
                          <m:t>↔</m:t>
                        </m:r>
                        <m:d>
                          <m:dPr>
                            <m:ctrlPr>
                              <a:rPr lang="en-US" altLang="zh-CN" sz="2400" b="1" i="1">
                                <a:solidFill>
                                  <a:srgbClr val="C00000"/>
                                </a:solidFill>
                                <a:latin typeface="Cambria Math" panose="02040503050406030204" pitchFamily="18" charset="0"/>
                                <a:ea typeface="宋体" panose="02010600030101010101" pitchFamily="2" charset="-122"/>
                              </a:rPr>
                            </m:ctrlPr>
                          </m:dPr>
                          <m:e>
                            <m:r>
                              <a:rPr lang="en-US" altLang="zh-CN" sz="2400" b="1" i="1">
                                <a:solidFill>
                                  <a:srgbClr val="C00000"/>
                                </a:solidFill>
                                <a:latin typeface="Cambria Math" panose="02040503050406030204" pitchFamily="18" charset="0"/>
                                <a:ea typeface="宋体" panose="02010600030101010101" pitchFamily="2" charset="-122"/>
                              </a:rPr>
                              <m:t>𝒓</m:t>
                            </m:r>
                            <m:r>
                              <a:rPr lang="en-US" altLang="zh-CN" sz="2400" b="1" i="1">
                                <a:solidFill>
                                  <a:srgbClr val="C00000"/>
                                </a:solidFill>
                                <a:latin typeface="Cambria Math" panose="02040503050406030204" pitchFamily="18" charset="0"/>
                                <a:ea typeface="宋体" panose="02010600030101010101" pitchFamily="2" charset="-122"/>
                              </a:rPr>
                              <m:t>∨</m:t>
                            </m:r>
                            <m:d>
                              <m:dPr>
                                <m:ctrlPr>
                                  <a:rPr lang="en-US" altLang="zh-CN" sz="2400" b="1" i="1">
                                    <a:solidFill>
                                      <a:srgbClr val="C00000"/>
                                    </a:solidFill>
                                    <a:latin typeface="Cambria Math" panose="02040503050406030204" pitchFamily="18" charset="0"/>
                                    <a:ea typeface="宋体" panose="02010600030101010101" pitchFamily="2" charset="-122"/>
                                  </a:rPr>
                                </m:ctrlPr>
                              </m:dPr>
                              <m:e>
                                <m:r>
                                  <a:rPr lang="en-US" altLang="zh-CN" sz="2400" b="1" i="1">
                                    <a:solidFill>
                                      <a:srgbClr val="C00000"/>
                                    </a:solidFill>
                                    <a:latin typeface="Cambria Math" panose="02040503050406030204" pitchFamily="18" charset="0"/>
                                    <a:ea typeface="宋体" panose="02010600030101010101" pitchFamily="2" charset="-122"/>
                                  </a:rPr>
                                  <m:t>𝒑</m:t>
                                </m:r>
                                <m:r>
                                  <a:rPr lang="en-US" altLang="zh-CN" sz="2400" b="1" i="1">
                                    <a:solidFill>
                                      <a:srgbClr val="C00000"/>
                                    </a:solidFill>
                                    <a:latin typeface="Cambria Math" panose="02040503050406030204" pitchFamily="18" charset="0"/>
                                    <a:ea typeface="宋体" panose="02010600030101010101" pitchFamily="2" charset="-122"/>
                                  </a:rPr>
                                  <m:t>∧¬</m:t>
                                </m:r>
                                <m:r>
                                  <a:rPr lang="en-US" altLang="zh-CN" sz="2400" b="1" i="1">
                                    <a:solidFill>
                                      <a:srgbClr val="C00000"/>
                                    </a:solidFill>
                                    <a:latin typeface="Cambria Math" panose="02040503050406030204" pitchFamily="18" charset="0"/>
                                    <a:ea typeface="宋体" panose="02010600030101010101" pitchFamily="2" charset="-122"/>
                                  </a:rPr>
                                  <m:t>𝒒</m:t>
                                </m:r>
                              </m:e>
                            </m:d>
                          </m:e>
                        </m:d>
                      </m:e>
                    </m:d>
                    <m:r>
                      <a:rPr lang="en-US" altLang="zh-CN" sz="2400" b="1" i="1">
                        <a:solidFill>
                          <a:srgbClr val="C00000"/>
                        </a:solidFill>
                        <a:latin typeface="Cambria Math" panose="02040503050406030204" pitchFamily="18" charset="0"/>
                        <a:ea typeface="宋体" panose="02010600030101010101" pitchFamily="2" charset="-122"/>
                      </a:rPr>
                      <m:t>→</m:t>
                    </m:r>
                    <m:d>
                      <m:dPr>
                        <m:ctrlPr>
                          <a:rPr lang="en-US" altLang="zh-CN" sz="2400" b="1" i="1">
                            <a:solidFill>
                              <a:srgbClr val="C00000"/>
                            </a:solidFill>
                            <a:latin typeface="Cambria Math" panose="02040503050406030204" pitchFamily="18" charset="0"/>
                            <a:ea typeface="宋体" panose="02010600030101010101" pitchFamily="2" charset="-122"/>
                          </a:rPr>
                        </m:ctrlPr>
                      </m:dPr>
                      <m:e>
                        <m:r>
                          <a:rPr lang="en-US" altLang="zh-CN" sz="2400" b="1" i="1">
                            <a:solidFill>
                              <a:srgbClr val="C00000"/>
                            </a:solidFill>
                            <a:latin typeface="Cambria Math" panose="02040503050406030204" pitchFamily="18" charset="0"/>
                            <a:ea typeface="宋体" panose="02010600030101010101" pitchFamily="2" charset="-122"/>
                          </a:rPr>
                          <m:t>𝒔</m:t>
                        </m:r>
                        <m:r>
                          <a:rPr lang="en-US" altLang="zh-CN" sz="2400" b="1" i="1">
                            <a:solidFill>
                              <a:srgbClr val="C00000"/>
                            </a:solidFill>
                            <a:latin typeface="Cambria Math" panose="02040503050406030204" pitchFamily="18" charset="0"/>
                            <a:ea typeface="宋体" panose="02010600030101010101" pitchFamily="2" charset="-122"/>
                          </a:rPr>
                          <m:t>∨¬</m:t>
                        </m:r>
                        <m:r>
                          <a:rPr lang="en-US" altLang="zh-CN" sz="2400" b="1" i="1">
                            <a:solidFill>
                              <a:srgbClr val="C00000"/>
                            </a:solidFill>
                            <a:latin typeface="Cambria Math" panose="02040503050406030204" pitchFamily="18" charset="0"/>
                            <a:ea typeface="宋体" panose="02010600030101010101" pitchFamily="2" charset="-122"/>
                          </a:rPr>
                          <m:t>𝒑</m:t>
                        </m:r>
                      </m:e>
                    </m:d>
                    <m:r>
                      <a:rPr lang="en-US" altLang="zh-CN" sz="2400" b="1" i="1">
                        <a:solidFill>
                          <a:srgbClr val="C00000"/>
                        </a:solidFill>
                        <a:latin typeface="Cambria Math" panose="02040503050406030204" pitchFamily="18" charset="0"/>
                        <a:ea typeface="宋体" panose="02010600030101010101" pitchFamily="2" charset="-122"/>
                      </a:rPr>
                      <m:t>≡(</m:t>
                    </m:r>
                    <m:r>
                      <a:rPr lang="en-US" altLang="zh-CN" sz="2400" b="1" i="1">
                        <a:solidFill>
                          <a:srgbClr val="C00000"/>
                        </a:solidFill>
                        <a:latin typeface="Cambria Math" panose="02040503050406030204" pitchFamily="18" charset="0"/>
                        <a:ea typeface="宋体" panose="02010600030101010101" pitchFamily="2" charset="-122"/>
                      </a:rPr>
                      <m:t>𝒑</m:t>
                    </m:r>
                    <m:r>
                      <a:rPr lang="en-US" altLang="zh-CN" sz="2400" b="1" i="1">
                        <a:solidFill>
                          <a:srgbClr val="C00000"/>
                        </a:solidFill>
                        <a:latin typeface="Cambria Math" panose="02040503050406030204" pitchFamily="18" charset="0"/>
                        <a:ea typeface="宋体" panose="02010600030101010101" pitchFamily="2" charset="-122"/>
                      </a:rPr>
                      <m:t>∧</m:t>
                    </m:r>
                    <m:r>
                      <a:rPr lang="en-US" altLang="zh-CN" sz="2400" b="1" i="1">
                        <a:solidFill>
                          <a:srgbClr val="C00000"/>
                        </a:solidFill>
                        <a:latin typeface="Cambria Math" panose="02040503050406030204" pitchFamily="18" charset="0"/>
                        <a:ea typeface="宋体" panose="02010600030101010101" pitchFamily="2" charset="-122"/>
                      </a:rPr>
                      <m:t>𝒒</m:t>
                    </m:r>
                    <m:r>
                      <a:rPr lang="en-US" altLang="zh-CN" sz="2400" b="1" i="1">
                        <a:solidFill>
                          <a:srgbClr val="C00000"/>
                        </a:solidFill>
                        <a:latin typeface="Cambria Math" panose="02040503050406030204" pitchFamily="18" charset="0"/>
                        <a:ea typeface="宋体" panose="02010600030101010101" pitchFamily="2" charset="-122"/>
                      </a:rPr>
                      <m:t>→</m:t>
                    </m:r>
                    <m:r>
                      <a:rPr lang="en-US" altLang="zh-CN" sz="2400" b="1" i="1">
                        <a:solidFill>
                          <a:srgbClr val="C00000"/>
                        </a:solidFill>
                        <a:latin typeface="Cambria Math" panose="02040503050406030204" pitchFamily="18" charset="0"/>
                        <a:ea typeface="宋体" panose="02010600030101010101" pitchFamily="2" charset="-122"/>
                      </a:rPr>
                      <m:t>𝒔</m:t>
                    </m:r>
                    <m:r>
                      <a:rPr lang="en-US" altLang="zh-CN" sz="2400" b="1" i="1">
                        <a:solidFill>
                          <a:srgbClr val="C00000"/>
                        </a:solidFill>
                        <a:latin typeface="Cambria Math" panose="02040503050406030204" pitchFamily="18" charset="0"/>
                        <a:ea typeface="宋体" panose="02010600030101010101" pitchFamily="2" charset="-122"/>
                      </a:rPr>
                      <m:t>∨</m:t>
                    </m:r>
                    <m:r>
                      <a:rPr lang="en-US" altLang="zh-CN" sz="2400" b="1" i="1">
                        <a:solidFill>
                          <a:srgbClr val="C00000"/>
                        </a:solidFill>
                        <a:latin typeface="Cambria Math" panose="02040503050406030204" pitchFamily="18" charset="0"/>
                        <a:ea typeface="宋体" panose="02010600030101010101" pitchFamily="2" charset="-122"/>
                      </a:rPr>
                      <m:t>𝒓</m:t>
                    </m:r>
                    <m:r>
                      <a:rPr lang="en-US" altLang="zh-CN" sz="2400" b="1" i="1">
                        <a:solidFill>
                          <a:srgbClr val="C00000"/>
                        </a:solidFill>
                        <a:latin typeface="Cambria Math" panose="02040503050406030204" pitchFamily="18" charset="0"/>
                        <a:ea typeface="宋体" panose="02010600030101010101" pitchFamily="2" charset="-122"/>
                      </a:rPr>
                      <m:t>) </m:t>
                    </m:r>
                  </m:oMath>
                </a14:m>
                <a:r>
                  <a:rPr lang="zh-CN" altLang="en-US" sz="2400" b="1">
                    <a:solidFill>
                      <a:srgbClr val="C00000"/>
                    </a:solidFill>
                  </a:rPr>
                  <a:t>？</a:t>
                </a:r>
              </a:p>
            </p:txBody>
          </p:sp>
        </mc:Choice>
        <mc:Fallback xmlns="">
          <p:sp>
            <p:nvSpPr>
              <p:cNvPr id="11" name="文本框 10">
                <a:extLst>
                  <a:ext uri="{FF2B5EF4-FFF2-40B4-BE49-F238E27FC236}">
                    <a16:creationId xmlns:a16="http://schemas.microsoft.com/office/drawing/2014/main" id="{C3DD5750-139C-4A50-94DC-ED72C598F54A}"/>
                  </a:ext>
                </a:extLst>
              </p:cNvPr>
              <p:cNvSpPr txBox="1">
                <a:spLocks noRot="1" noChangeAspect="1" noMove="1" noResize="1" noEditPoints="1" noAdjustHandles="1" noChangeArrowheads="1" noChangeShapeType="1" noTextEdit="1"/>
              </p:cNvSpPr>
              <p:nvPr/>
            </p:nvSpPr>
            <p:spPr>
              <a:xfrm>
                <a:off x="438418" y="902536"/>
                <a:ext cx="10771205" cy="645048"/>
              </a:xfrm>
              <a:prstGeom prst="rect">
                <a:avLst/>
              </a:prstGeom>
              <a:blipFill>
                <a:blip r:embed="rId2"/>
                <a:stretch>
                  <a:fillRect l="-905" b="-84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765E7C2-17BE-4596-9E63-1A68BE3E4B03}"/>
                  </a:ext>
                </a:extLst>
              </p:cNvPr>
              <p:cNvGraphicFramePr>
                <a:graphicFrameLocks noGrp="1"/>
              </p:cNvGraphicFramePr>
              <p:nvPr>
                <p:extLst>
                  <p:ext uri="{D42A27DB-BD31-4B8C-83A1-F6EECF244321}">
                    <p14:modId xmlns:p14="http://schemas.microsoft.com/office/powerpoint/2010/main" val="1051259014"/>
                  </p:ext>
                </p:extLst>
              </p:nvPr>
            </p:nvGraphicFramePr>
            <p:xfrm>
              <a:off x="438418" y="1668499"/>
              <a:ext cx="8839198" cy="4754309"/>
            </p:xfrm>
            <a:graphic>
              <a:graphicData uri="http://schemas.openxmlformats.org/drawingml/2006/table">
                <a:tbl>
                  <a:tblPr firstRow="1" bandRow="1">
                    <a:tableStyleId>{2D5ABB26-0587-4C30-8999-92F81FD0307C}</a:tableStyleId>
                  </a:tblPr>
                  <a:tblGrid>
                    <a:gridCol w="376268">
                      <a:extLst>
                        <a:ext uri="{9D8B030D-6E8A-4147-A177-3AD203B41FA5}">
                          <a16:colId xmlns:a16="http://schemas.microsoft.com/office/drawing/2014/main" val="2864422384"/>
                        </a:ext>
                      </a:extLst>
                    </a:gridCol>
                    <a:gridCol w="351594">
                      <a:extLst>
                        <a:ext uri="{9D8B030D-6E8A-4147-A177-3AD203B41FA5}">
                          <a16:colId xmlns:a16="http://schemas.microsoft.com/office/drawing/2014/main" val="3488826130"/>
                        </a:ext>
                      </a:extLst>
                    </a:gridCol>
                    <a:gridCol w="370099">
                      <a:extLst>
                        <a:ext uri="{9D8B030D-6E8A-4147-A177-3AD203B41FA5}">
                          <a16:colId xmlns:a16="http://schemas.microsoft.com/office/drawing/2014/main" val="2854184512"/>
                        </a:ext>
                      </a:extLst>
                    </a:gridCol>
                    <a:gridCol w="425614">
                      <a:extLst>
                        <a:ext uri="{9D8B030D-6E8A-4147-A177-3AD203B41FA5}">
                          <a16:colId xmlns:a16="http://schemas.microsoft.com/office/drawing/2014/main" val="3964920766"/>
                        </a:ext>
                      </a:extLst>
                    </a:gridCol>
                    <a:gridCol w="444120">
                      <a:extLst>
                        <a:ext uri="{9D8B030D-6E8A-4147-A177-3AD203B41FA5}">
                          <a16:colId xmlns:a16="http://schemas.microsoft.com/office/drawing/2014/main" val="4236634668"/>
                        </a:ext>
                      </a:extLst>
                    </a:gridCol>
                    <a:gridCol w="749001">
                      <a:extLst>
                        <a:ext uri="{9D8B030D-6E8A-4147-A177-3AD203B41FA5}">
                          <a16:colId xmlns:a16="http://schemas.microsoft.com/office/drawing/2014/main" val="2066406258"/>
                        </a:ext>
                      </a:extLst>
                    </a:gridCol>
                    <a:gridCol w="1020418">
                      <a:extLst>
                        <a:ext uri="{9D8B030D-6E8A-4147-A177-3AD203B41FA5}">
                          <a16:colId xmlns:a16="http://schemas.microsoft.com/office/drawing/2014/main" val="900831817"/>
                        </a:ext>
                      </a:extLst>
                    </a:gridCol>
                    <a:gridCol w="1623391">
                      <a:extLst>
                        <a:ext uri="{9D8B030D-6E8A-4147-A177-3AD203B41FA5}">
                          <a16:colId xmlns:a16="http://schemas.microsoft.com/office/drawing/2014/main" val="302161120"/>
                        </a:ext>
                      </a:extLst>
                    </a:gridCol>
                    <a:gridCol w="430696">
                      <a:extLst>
                        <a:ext uri="{9D8B030D-6E8A-4147-A177-3AD203B41FA5}">
                          <a16:colId xmlns:a16="http://schemas.microsoft.com/office/drawing/2014/main" val="4208173144"/>
                        </a:ext>
                      </a:extLst>
                    </a:gridCol>
                    <a:gridCol w="655982">
                      <a:extLst>
                        <a:ext uri="{9D8B030D-6E8A-4147-A177-3AD203B41FA5}">
                          <a16:colId xmlns:a16="http://schemas.microsoft.com/office/drawing/2014/main" val="2473502894"/>
                        </a:ext>
                      </a:extLst>
                    </a:gridCol>
                    <a:gridCol w="2392015">
                      <a:extLst>
                        <a:ext uri="{9D8B030D-6E8A-4147-A177-3AD203B41FA5}">
                          <a16:colId xmlns:a16="http://schemas.microsoft.com/office/drawing/2014/main" val="3558357481"/>
                        </a:ext>
                      </a:extLst>
                    </a:gridCol>
                  </a:tblGrid>
                  <a:tr h="0">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𝑟</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𝑟</m:t>
                                </m:r>
                                <m:r>
                                  <a:rPr lang="en-US" altLang="zh-CN" sz="1200" i="1" smtClean="0">
                                    <a:solidFill>
                                      <a:schemeClr val="bg1"/>
                                    </a:solidFill>
                                    <a:latin typeface="Cambria Math" panose="02040503050406030204" pitchFamily="18" charset="0"/>
                                  </a:rPr>
                                  <m:t>∨</m:t>
                                </m:r>
                                <m:d>
                                  <m:dPr>
                                    <m:ctrlPr>
                                      <a:rPr lang="en-US" altLang="zh-CN" sz="1200" i="1" smtClean="0">
                                        <a:solidFill>
                                          <a:schemeClr val="bg1"/>
                                        </a:solidFill>
                                        <a:latin typeface="Cambria Math" panose="02040503050406030204" pitchFamily="18" charset="0"/>
                                      </a:rPr>
                                    </m:ctrlPr>
                                  </m:dPr>
                                  <m:e>
                                    <m:r>
                                      <a:rPr lang="en-US" altLang="zh-CN" sz="1200" i="1" smtClean="0">
                                        <a:solidFill>
                                          <a:schemeClr val="bg1"/>
                                        </a:solidFill>
                                        <a:latin typeface="Cambria Math" panose="02040503050406030204" pitchFamily="18" charset="0"/>
                                      </a:rPr>
                                      <m:t>𝑝</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d>
                                  <m:dPr>
                                    <m:ctrlPr>
                                      <a:rPr lang="en-US" altLang="zh-CN" sz="1200" i="1" smtClean="0">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𝑟</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𝑝</m:t>
                                            </m:r>
                                            <m:r>
                                              <a:rPr lang="en-US" altLang="zh-CN" sz="120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𝑞</m:t>
                                            </m:r>
                                          </m:e>
                                        </m:d>
                                      </m:e>
                                    </m:d>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d>
                                  <m:dPr>
                                    <m:ctrlPr>
                                      <a:rPr lang="en-US" altLang="zh-CN" sz="1200" i="1" smtClean="0">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𝑟</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𝑝</m:t>
                                            </m:r>
                                            <m:r>
                                              <a:rPr lang="en-US" altLang="zh-CN" sz="120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𝑞</m:t>
                                            </m:r>
                                          </m:e>
                                        </m:d>
                                      </m:e>
                                    </m:d>
                                  </m:e>
                                </m:d>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r>
                                      <a:rPr lang="en-US" altLang="zh-CN" sz="1200" b="0" i="1" smtClean="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𝑝</m:t>
                                    </m:r>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95832943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411609298"/>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9216559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chemeClr val="accent2">
                                  <a:lumMod val="50000"/>
                                </a:schemeClr>
                              </a:solidFill>
                              <a:latin typeface="+mn-lt"/>
                              <a:ea typeface="+mn-ea"/>
                              <a:cs typeface="+mn-cs"/>
                            </a:rPr>
                            <a:t>0</a:t>
                          </a:r>
                          <a:endParaRPr lang="zh-CN" altLang="en-US" sz="12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85926177"/>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74105415"/>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Choice>
        <mc:Fallback xmlns="">
          <p:graphicFrame>
            <p:nvGraphicFramePr>
              <p:cNvPr id="13" name="表格 12">
                <a:extLst>
                  <a:ext uri="{FF2B5EF4-FFF2-40B4-BE49-F238E27FC236}">
                    <a16:creationId xmlns:a16="http://schemas.microsoft.com/office/drawing/2014/main" id="{5765E7C2-17BE-4596-9E63-1A68BE3E4B03}"/>
                  </a:ext>
                </a:extLst>
              </p:cNvPr>
              <p:cNvGraphicFramePr>
                <a:graphicFrameLocks noGrp="1"/>
              </p:cNvGraphicFramePr>
              <p:nvPr>
                <p:extLst>
                  <p:ext uri="{D42A27DB-BD31-4B8C-83A1-F6EECF244321}">
                    <p14:modId xmlns:p14="http://schemas.microsoft.com/office/powerpoint/2010/main" val="1051259014"/>
                  </p:ext>
                </p:extLst>
              </p:nvPr>
            </p:nvGraphicFramePr>
            <p:xfrm>
              <a:off x="438418" y="1668499"/>
              <a:ext cx="8839198" cy="4754309"/>
            </p:xfrm>
            <a:graphic>
              <a:graphicData uri="http://schemas.openxmlformats.org/drawingml/2006/table">
                <a:tbl>
                  <a:tblPr firstRow="1" bandRow="1">
                    <a:tableStyleId>{2D5ABB26-0587-4C30-8999-92F81FD0307C}</a:tableStyleId>
                  </a:tblPr>
                  <a:tblGrid>
                    <a:gridCol w="376268">
                      <a:extLst>
                        <a:ext uri="{9D8B030D-6E8A-4147-A177-3AD203B41FA5}">
                          <a16:colId xmlns:a16="http://schemas.microsoft.com/office/drawing/2014/main" val="2864422384"/>
                        </a:ext>
                      </a:extLst>
                    </a:gridCol>
                    <a:gridCol w="351594">
                      <a:extLst>
                        <a:ext uri="{9D8B030D-6E8A-4147-A177-3AD203B41FA5}">
                          <a16:colId xmlns:a16="http://schemas.microsoft.com/office/drawing/2014/main" val="3488826130"/>
                        </a:ext>
                      </a:extLst>
                    </a:gridCol>
                    <a:gridCol w="370099">
                      <a:extLst>
                        <a:ext uri="{9D8B030D-6E8A-4147-A177-3AD203B41FA5}">
                          <a16:colId xmlns:a16="http://schemas.microsoft.com/office/drawing/2014/main" val="2854184512"/>
                        </a:ext>
                      </a:extLst>
                    </a:gridCol>
                    <a:gridCol w="425614">
                      <a:extLst>
                        <a:ext uri="{9D8B030D-6E8A-4147-A177-3AD203B41FA5}">
                          <a16:colId xmlns:a16="http://schemas.microsoft.com/office/drawing/2014/main" val="3964920766"/>
                        </a:ext>
                      </a:extLst>
                    </a:gridCol>
                    <a:gridCol w="444120">
                      <a:extLst>
                        <a:ext uri="{9D8B030D-6E8A-4147-A177-3AD203B41FA5}">
                          <a16:colId xmlns:a16="http://schemas.microsoft.com/office/drawing/2014/main" val="4236634668"/>
                        </a:ext>
                      </a:extLst>
                    </a:gridCol>
                    <a:gridCol w="749001">
                      <a:extLst>
                        <a:ext uri="{9D8B030D-6E8A-4147-A177-3AD203B41FA5}">
                          <a16:colId xmlns:a16="http://schemas.microsoft.com/office/drawing/2014/main" val="2066406258"/>
                        </a:ext>
                      </a:extLst>
                    </a:gridCol>
                    <a:gridCol w="1020418">
                      <a:extLst>
                        <a:ext uri="{9D8B030D-6E8A-4147-A177-3AD203B41FA5}">
                          <a16:colId xmlns:a16="http://schemas.microsoft.com/office/drawing/2014/main" val="900831817"/>
                        </a:ext>
                      </a:extLst>
                    </a:gridCol>
                    <a:gridCol w="1623391">
                      <a:extLst>
                        <a:ext uri="{9D8B030D-6E8A-4147-A177-3AD203B41FA5}">
                          <a16:colId xmlns:a16="http://schemas.microsoft.com/office/drawing/2014/main" val="302161120"/>
                        </a:ext>
                      </a:extLst>
                    </a:gridCol>
                    <a:gridCol w="430696">
                      <a:extLst>
                        <a:ext uri="{9D8B030D-6E8A-4147-A177-3AD203B41FA5}">
                          <a16:colId xmlns:a16="http://schemas.microsoft.com/office/drawing/2014/main" val="4208173144"/>
                        </a:ext>
                      </a:extLst>
                    </a:gridCol>
                    <a:gridCol w="655982">
                      <a:extLst>
                        <a:ext uri="{9D8B030D-6E8A-4147-A177-3AD203B41FA5}">
                          <a16:colId xmlns:a16="http://schemas.microsoft.com/office/drawing/2014/main" val="2473502894"/>
                        </a:ext>
                      </a:extLst>
                    </a:gridCol>
                    <a:gridCol w="2392015">
                      <a:extLst>
                        <a:ext uri="{9D8B030D-6E8A-4147-A177-3AD203B41FA5}">
                          <a16:colId xmlns:a16="http://schemas.microsoft.com/office/drawing/2014/main" val="3558357481"/>
                        </a:ext>
                      </a:extLst>
                    </a:gridCol>
                  </a:tblGrid>
                  <a:tr h="365189">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r="-2241935"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08772" r="-2338596"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95082" r="-2085246"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57143" r="-1717143"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342466" r="-1546575"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62602" r="-817886"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67066" r="-502395"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29588" r="-214232"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239437" r="-705634"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888785" r="-368224" b="-121500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69211" r="-254" b="-1215000"/>
                          </a:stretch>
                        </a:blipFill>
                      </a:tcPr>
                    </a:tc>
                    <a:extLst>
                      <a:ext uri="{0D108BD9-81ED-4DB2-BD59-A6C34878D82A}">
                        <a16:rowId xmlns:a16="http://schemas.microsoft.com/office/drawing/2014/main" val="195832943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411609298"/>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9216559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chemeClr val="accent2">
                                  <a:lumMod val="50000"/>
                                </a:schemeClr>
                              </a:solidFill>
                              <a:latin typeface="+mn-lt"/>
                              <a:ea typeface="+mn-ea"/>
                              <a:cs typeface="+mn-cs"/>
                            </a:rPr>
                            <a:t>0</a:t>
                          </a:r>
                          <a:endParaRPr lang="zh-CN" altLang="en-US" sz="12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85926177"/>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74105415"/>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Fallback>
      </mc:AlternateContent>
      <p:sp>
        <p:nvSpPr>
          <p:cNvPr id="2" name="箭头: 右 1">
            <a:extLst>
              <a:ext uri="{FF2B5EF4-FFF2-40B4-BE49-F238E27FC236}">
                <a16:creationId xmlns:a16="http://schemas.microsoft.com/office/drawing/2014/main" id="{1B4293C5-F0FB-488B-8205-5DC68B15E2D3}"/>
              </a:ext>
            </a:extLst>
          </p:cNvPr>
          <p:cNvSpPr/>
          <p:nvPr/>
        </p:nvSpPr>
        <p:spPr>
          <a:xfrm>
            <a:off x="9277616" y="5446929"/>
            <a:ext cx="440754" cy="460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01E0638-3765-4FB8-BDAF-202029F6976B}"/>
                  </a:ext>
                </a:extLst>
              </p:cNvPr>
              <p:cNvSpPr txBox="1"/>
              <p:nvPr/>
            </p:nvSpPr>
            <p:spPr>
              <a:xfrm>
                <a:off x="9718370" y="4876136"/>
                <a:ext cx="2223505" cy="1187633"/>
              </a:xfrm>
              <a:prstGeom prst="rect">
                <a:avLst/>
              </a:prstGeom>
              <a:solidFill>
                <a:schemeClr val="accent4">
                  <a:lumMod val="20000"/>
                  <a:lumOff val="80000"/>
                </a:schemeClr>
              </a:solidFill>
            </p:spPr>
            <p:txBody>
              <a:bodyPr wrap="square" rtlCol="0">
                <a:spAutoFit/>
              </a:bodyPr>
              <a:lstStyle/>
              <a:p>
                <a:r>
                  <a:rPr lang="zh-CN" altLang="en-US" b="1">
                    <a:solidFill>
                      <a:srgbClr val="C00000"/>
                    </a:solidFill>
                  </a:rPr>
                  <a:t>公式</a:t>
                </a:r>
                <a14:m>
                  <m:oMath xmlns:m="http://schemas.openxmlformats.org/officeDocument/2006/math">
                    <m:r>
                      <a:rPr lang="en-US" altLang="zh-CN" b="1" i="1" smtClean="0">
                        <a:solidFill>
                          <a:srgbClr val="C00000"/>
                        </a:solidFill>
                        <a:latin typeface="Cambria Math" panose="02040503050406030204" pitchFamily="18" charset="0"/>
                      </a:rPr>
                      <m:t>𝑨</m:t>
                    </m:r>
                  </m:oMath>
                </a14:m>
                <a:r>
                  <a:rPr lang="zh-CN" altLang="en-US" b="1">
                    <a:solidFill>
                      <a:srgbClr val="C00000"/>
                    </a:solidFill>
                  </a:rPr>
                  <a:t>的主合取范式</a:t>
                </a:r>
                <a:endParaRPr lang="en-US" altLang="zh-CN" b="1">
                  <a:solidFill>
                    <a:srgbClr val="C00000"/>
                  </a:solidFill>
                </a:endParaRPr>
              </a:p>
              <a:p>
                <a:pPr/>
                <a14:m>
                  <m:oMathPara xmlns:m="http://schemas.openxmlformats.org/officeDocument/2006/math">
                    <m:oMathParaPr>
                      <m:jc m:val="center"/>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𝑴</m:t>
                          </m:r>
                        </m:e>
                        <m:sub>
                          <m:r>
                            <a:rPr lang="en-US" altLang="zh-CN" b="1" i="1" smtClean="0">
                              <a:solidFill>
                                <a:schemeClr val="accent2">
                                  <a:lumMod val="50000"/>
                                </a:schemeClr>
                              </a:solidFill>
                              <a:latin typeface="Cambria Math" panose="02040503050406030204" pitchFamily="18" charset="0"/>
                            </a:rPr>
                            <m:t>𝟏𝟐</m:t>
                          </m:r>
                        </m:sub>
                      </m:sSub>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𝒔</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 ≡</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𝒔</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e>
                      </m:d>
                    </m:oMath>
                  </m:oMathPara>
                </a14:m>
                <a:endParaRPr lang="zh-CN" altLang="en-US"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E01E0638-3765-4FB8-BDAF-202029F6976B}"/>
                  </a:ext>
                </a:extLst>
              </p:cNvPr>
              <p:cNvSpPr txBox="1">
                <a:spLocks noRot="1" noChangeAspect="1" noMove="1" noResize="1" noEditPoints="1" noAdjustHandles="1" noChangeArrowheads="1" noChangeShapeType="1" noTextEdit="1"/>
              </p:cNvSpPr>
              <p:nvPr/>
            </p:nvSpPr>
            <p:spPr>
              <a:xfrm>
                <a:off x="9718370" y="4876136"/>
                <a:ext cx="2223505" cy="1187633"/>
              </a:xfrm>
              <a:prstGeom prst="rect">
                <a:avLst/>
              </a:prstGeom>
              <a:blipFill>
                <a:blip r:embed="rId4"/>
                <a:stretch>
                  <a:fillRect l="-2192" t="-3077" r="-548" b="-30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12726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使用等值演算求与公式逻辑等值的主范式</a:t>
            </a:r>
          </a:p>
        </p:txBody>
      </p:sp>
      <p:sp>
        <p:nvSpPr>
          <p:cNvPr id="13" name="文本框 12">
            <a:extLst>
              <a:ext uri="{FF2B5EF4-FFF2-40B4-BE49-F238E27FC236}">
                <a16:creationId xmlns:a16="http://schemas.microsoft.com/office/drawing/2014/main" id="{1D480AF0-E888-42B2-A7D3-875571B6174B}"/>
              </a:ext>
            </a:extLst>
          </p:cNvPr>
          <p:cNvSpPr txBox="1"/>
          <p:nvPr/>
        </p:nvSpPr>
        <p:spPr>
          <a:xfrm>
            <a:off x="574833" y="1133971"/>
            <a:ext cx="9739975" cy="1608133"/>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latin typeface="黑体" panose="02010609060101010101" pitchFamily="49" charset="-122"/>
                <a:ea typeface="黑体" panose="02010609060101010101" pitchFamily="49" charset="-122"/>
              </a:rPr>
              <a:t>等值演算法求与公式逻辑等值的主范式</a:t>
            </a:r>
            <a:endParaRPr lang="en-US" altLang="zh-CN" sz="2000" b="1">
              <a:solidFill>
                <a:srgbClr val="C00000"/>
              </a:solidFill>
              <a:latin typeface="黑体" panose="02010609060101010101" pitchFamily="49" charset="-122"/>
              <a:ea typeface="黑体" panose="02010609060101010101" pitchFamily="49" charset="-122"/>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先用等值演算求与公式逻辑等值的范式，然后将范式扩展为主范式</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将析取范式的每个简单合取式扩展为极小项，或将合取范式的每个简单析取式扩展为极大项</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固定命题变量的顺序，这种扩展可通过编码进行，并编写为计算机程序</a:t>
            </a:r>
            <a:endParaRPr lang="en-US" altLang="zh-CN" b="1">
              <a:solidFill>
                <a:schemeClr val="accent6">
                  <a:lumMod val="50000"/>
                </a:schemeClr>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864D713-A39C-4F9E-9854-2915ACFE661D}"/>
                  </a:ext>
                </a:extLst>
              </p:cNvPr>
              <p:cNvSpPr txBox="1"/>
              <p:nvPr/>
            </p:nvSpPr>
            <p:spPr>
              <a:xfrm>
                <a:off x="450463" y="2924124"/>
                <a:ext cx="10887279" cy="312650"/>
              </a:xfrm>
              <a:prstGeom prst="rect">
                <a:avLst/>
              </a:prstGeom>
              <a:solidFill>
                <a:schemeClr val="accent6">
                  <a:lumMod val="50000"/>
                </a:schemeClr>
              </a:solidFill>
            </p:spPr>
            <p:txBody>
              <a:bodyPr wrap="square" tIns="0" bIns="0" rtlCol="0">
                <a:spAutoFit/>
              </a:bodyPr>
              <a:lstStyle/>
              <a:p>
                <a:r>
                  <a:rPr lang="zh-CN" altLang="en-US">
                    <a:solidFill>
                      <a:schemeClr val="bg1"/>
                    </a:solidFill>
                  </a:rPr>
                  <a:t>与公式</a:t>
                </a:r>
                <a14:m>
                  <m:oMath xmlns:m="http://schemas.openxmlformats.org/officeDocument/2006/math">
                    <m:r>
                      <a:rPr lang="en-US" altLang="zh-CN" i="1" smtClean="0">
                        <a:solidFill>
                          <a:schemeClr val="bg1"/>
                        </a:solidFill>
                        <a:latin typeface="Cambria Math" panose="02040503050406030204" pitchFamily="18" charset="0"/>
                      </a:rPr>
                      <m:t>𝐴</m:t>
                    </m:r>
                    <m:r>
                      <a:rPr lang="en-US" altLang="zh-CN" i="1" smtClean="0">
                        <a:solidFill>
                          <a:schemeClr val="bg1"/>
                        </a:solidFill>
                        <a:latin typeface="Cambria Math" panose="02040503050406030204" pitchFamily="18" charset="0"/>
                      </a:rPr>
                      <m:t> = </m:t>
                    </m:r>
                    <m:d>
                      <m:dPr>
                        <m:ctrlPr>
                          <a:rPr lang="en-US" altLang="zh-CN" i="1" smtClean="0">
                            <a:solidFill>
                              <a:schemeClr val="bg1"/>
                            </a:solidFill>
                            <a:latin typeface="Cambria Math" panose="02040503050406030204" pitchFamily="18" charset="0"/>
                          </a:rPr>
                        </m:ctrlPr>
                      </m:dPr>
                      <m:e>
                        <m:r>
                          <a:rPr lang="en-US" altLang="zh-CN" i="1" smtClean="0">
                            <a:solidFill>
                              <a:schemeClr val="bg1"/>
                            </a:solidFill>
                            <a:latin typeface="Cambria Math" panose="02040503050406030204" pitchFamily="18" charset="0"/>
                          </a:rPr>
                          <m:t>𝑟</m:t>
                        </m:r>
                        <m:r>
                          <a:rPr lang="en-US" altLang="zh-CN" i="1" smtClean="0">
                            <a:solidFill>
                              <a:schemeClr val="bg1"/>
                            </a:solidFill>
                            <a:latin typeface="Cambria Math" panose="02040503050406030204" pitchFamily="18" charset="0"/>
                          </a:rPr>
                          <m:t>∨</m:t>
                        </m:r>
                        <m:d>
                          <m:dPr>
                            <m:ctrlPr>
                              <a:rPr lang="en-US" altLang="zh-CN" i="1" smtClean="0">
                                <a:solidFill>
                                  <a:schemeClr val="bg1"/>
                                </a:solidFill>
                                <a:latin typeface="Cambria Math" panose="02040503050406030204" pitchFamily="18" charset="0"/>
                              </a:rPr>
                            </m:ctrlPr>
                          </m:dPr>
                          <m:e>
                            <m:r>
                              <a:rPr lang="en-US" altLang="zh-CN" i="1" smtClean="0">
                                <a:solidFill>
                                  <a:schemeClr val="bg1"/>
                                </a:solidFill>
                                <a:latin typeface="Cambria Math" panose="02040503050406030204" pitchFamily="18" charset="0"/>
                              </a:rPr>
                              <m:t>𝑝</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𝑞</m:t>
                            </m:r>
                          </m:e>
                        </m:d>
                      </m:e>
                    </m:d>
                    <m:r>
                      <a:rPr lang="en-US" altLang="zh-CN" i="1" smtClean="0">
                        <a:solidFill>
                          <a:schemeClr val="bg1"/>
                        </a:solidFill>
                        <a:latin typeface="Cambria Math" panose="02040503050406030204" pitchFamily="18" charset="0"/>
                      </a:rPr>
                      <m:t>∧</m:t>
                    </m:r>
                    <m:d>
                      <m:dPr>
                        <m:ctrlPr>
                          <a:rPr lang="en-US" altLang="zh-CN" i="1" smtClean="0">
                            <a:solidFill>
                              <a:schemeClr val="bg1"/>
                            </a:solidFill>
                            <a:latin typeface="Cambria Math" panose="02040503050406030204" pitchFamily="18" charset="0"/>
                          </a:rPr>
                        </m:ctrlPr>
                      </m:dPr>
                      <m:e>
                        <m:r>
                          <a:rPr lang="en-US" altLang="zh-CN" i="1" smtClean="0">
                            <a:solidFill>
                              <a:schemeClr val="bg1"/>
                            </a:solidFill>
                            <a:latin typeface="Cambria Math" panose="02040503050406030204" pitchFamily="18" charset="0"/>
                          </a:rPr>
                          <m:t>𝑟</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𝑝</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𝑞</m:t>
                        </m:r>
                      </m:e>
                    </m:d>
                  </m:oMath>
                </a14:m>
                <a:r>
                  <a:rPr lang="zh-CN" altLang="en-US">
                    <a:solidFill>
                      <a:schemeClr val="bg1"/>
                    </a:solidFill>
                  </a:rPr>
                  <a:t>逻辑等值的一个合取范式是</a:t>
                </a:r>
                <a14:m>
                  <m:oMath xmlns:m="http://schemas.openxmlformats.org/officeDocument/2006/math">
                    <m:d>
                      <m:dPr>
                        <m:ctrlPr>
                          <a:rPr lang="en-US" altLang="zh-CN" i="1" smtClean="0">
                            <a:solidFill>
                              <a:schemeClr val="bg1"/>
                            </a:solidFill>
                            <a:latin typeface="Cambria Math" panose="02040503050406030204" pitchFamily="18" charset="0"/>
                          </a:rPr>
                        </m:ctrlPr>
                      </m:dPr>
                      <m:e>
                        <m:r>
                          <a:rPr lang="en-US" altLang="zh-CN" i="1" smtClean="0">
                            <a:solidFill>
                              <a:schemeClr val="bg1"/>
                            </a:solidFill>
                            <a:latin typeface="Cambria Math" panose="02040503050406030204" pitchFamily="18" charset="0"/>
                          </a:rPr>
                          <m:t>𝑟</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𝑝</m:t>
                        </m:r>
                      </m:e>
                    </m:d>
                    <m:r>
                      <a:rPr lang="en-US" altLang="zh-CN" i="1" smtClean="0">
                        <a:solidFill>
                          <a:schemeClr val="bg1"/>
                        </a:solidFill>
                        <a:latin typeface="Cambria Math" panose="02040503050406030204" pitchFamily="18" charset="0"/>
                      </a:rPr>
                      <m:t>∧</m:t>
                    </m:r>
                    <m:d>
                      <m:dPr>
                        <m:ctrlPr>
                          <a:rPr lang="en-US" altLang="zh-CN" i="1" smtClean="0">
                            <a:solidFill>
                              <a:schemeClr val="bg1"/>
                            </a:solidFill>
                            <a:latin typeface="Cambria Math" panose="02040503050406030204" pitchFamily="18" charset="0"/>
                          </a:rPr>
                        </m:ctrlPr>
                      </m:dPr>
                      <m:e>
                        <m:r>
                          <a:rPr lang="en-US" altLang="zh-CN" i="1" smtClean="0">
                            <a:solidFill>
                              <a:schemeClr val="bg1"/>
                            </a:solidFill>
                            <a:latin typeface="Cambria Math" panose="02040503050406030204" pitchFamily="18" charset="0"/>
                          </a:rPr>
                          <m:t>𝑟</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𝑞</m:t>
                        </m:r>
                      </m:e>
                    </m:d>
                    <m:r>
                      <a:rPr lang="en-US" altLang="zh-CN" i="1" smtClean="0">
                        <a:solidFill>
                          <a:schemeClr val="bg1"/>
                        </a:solidFill>
                        <a:latin typeface="Cambria Math" panose="02040503050406030204" pitchFamily="18" charset="0"/>
                      </a:rPr>
                      <m:t>∧</m:t>
                    </m:r>
                    <m:d>
                      <m:dPr>
                        <m:ctrlPr>
                          <a:rPr lang="en-US" altLang="zh-CN" i="1" smtClean="0">
                            <a:solidFill>
                              <a:schemeClr val="bg1"/>
                            </a:solidFill>
                            <a:latin typeface="Cambria Math" panose="02040503050406030204" pitchFamily="18" charset="0"/>
                          </a:rPr>
                        </m:ctrlPr>
                      </m:dPr>
                      <m:e>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𝑟</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𝑝</m:t>
                        </m:r>
                      </m:e>
                    </m:d>
                    <m:r>
                      <a:rPr lang="en-US" altLang="zh-CN" i="1" smtClean="0">
                        <a:solidFill>
                          <a:schemeClr val="bg1"/>
                        </a:solidFill>
                        <a:latin typeface="Cambria Math" panose="02040503050406030204" pitchFamily="18" charset="0"/>
                      </a:rPr>
                      <m:t>∧</m:t>
                    </m:r>
                    <m:d>
                      <m:dPr>
                        <m:ctrlPr>
                          <a:rPr lang="en-US" altLang="zh-CN" i="1" smtClean="0">
                            <a:solidFill>
                              <a:schemeClr val="bg1"/>
                            </a:solidFill>
                            <a:latin typeface="Cambria Math" panose="02040503050406030204" pitchFamily="18" charset="0"/>
                          </a:rPr>
                        </m:ctrlPr>
                      </m:dPr>
                      <m:e>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𝑟</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𝑞</m:t>
                        </m:r>
                      </m:e>
                    </m:d>
                  </m:oMath>
                </a14:m>
                <a:endParaRPr lang="zh-CN" altLang="en-US">
                  <a:solidFill>
                    <a:schemeClr val="bg1"/>
                  </a:solidFill>
                </a:endParaRPr>
              </a:p>
            </p:txBody>
          </p:sp>
        </mc:Choice>
        <mc:Fallback xmlns="">
          <p:sp>
            <p:nvSpPr>
              <p:cNvPr id="14" name="文本框 13">
                <a:extLst>
                  <a:ext uri="{FF2B5EF4-FFF2-40B4-BE49-F238E27FC236}">
                    <a16:creationId xmlns:a16="http://schemas.microsoft.com/office/drawing/2014/main" id="{6864D713-A39C-4F9E-9854-2915ACFE661D}"/>
                  </a:ext>
                </a:extLst>
              </p:cNvPr>
              <p:cNvSpPr txBox="1">
                <a:spLocks noRot="1" noChangeAspect="1" noMove="1" noResize="1" noEditPoints="1" noAdjustHandles="1" noChangeArrowheads="1" noChangeShapeType="1" noTextEdit="1"/>
              </p:cNvSpPr>
              <p:nvPr/>
            </p:nvSpPr>
            <p:spPr>
              <a:xfrm>
                <a:off x="450463" y="2924124"/>
                <a:ext cx="10887279" cy="312650"/>
              </a:xfrm>
              <a:prstGeom prst="rect">
                <a:avLst/>
              </a:prstGeom>
              <a:blipFill>
                <a:blip r:embed="rId2"/>
                <a:stretch>
                  <a:fillRect l="-504" t="-17647" b="-41176"/>
                </a:stretch>
              </a:blipFill>
            </p:spPr>
            <p:txBody>
              <a:bodyPr/>
              <a:lstStyle/>
              <a:p>
                <a:r>
                  <a:rPr lang="zh-CN" altLang="en-US">
                    <a:noFill/>
                  </a:rPr>
                  <a:t> </a:t>
                </a:r>
              </a:p>
            </p:txBody>
          </p:sp>
        </mc:Fallback>
      </mc:AlternateContent>
      <p:grpSp>
        <p:nvGrpSpPr>
          <p:cNvPr id="21" name="组合 20">
            <a:extLst>
              <a:ext uri="{FF2B5EF4-FFF2-40B4-BE49-F238E27FC236}">
                <a16:creationId xmlns:a16="http://schemas.microsoft.com/office/drawing/2014/main" id="{BBD6616B-277B-4DB0-8F80-65554124E4B2}"/>
              </a:ext>
            </a:extLst>
          </p:cNvPr>
          <p:cNvGrpSpPr/>
          <p:nvPr/>
        </p:nvGrpSpPr>
        <p:grpSpPr>
          <a:xfrm>
            <a:off x="263589" y="3339772"/>
            <a:ext cx="10582932" cy="1276407"/>
            <a:chOff x="184196" y="3601569"/>
            <a:chExt cx="11801035" cy="1118979"/>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40A40CF-E832-4578-9682-2B29C6384026}"/>
                    </a:ext>
                  </a:extLst>
                </p:cNvPr>
                <p:cNvSpPr txBox="1"/>
                <p:nvPr/>
              </p:nvSpPr>
              <p:spPr>
                <a:xfrm>
                  <a:off x="184196" y="3601569"/>
                  <a:ext cx="11795102" cy="215853"/>
                </a:xfrm>
                <a:prstGeom prst="rect">
                  <a:avLst/>
                </a:prstGeom>
                <a:solidFill>
                  <a:schemeClr val="bg1">
                    <a:lumMod val="95000"/>
                  </a:schemeClr>
                </a:solidFill>
              </p:spPr>
              <p:txBody>
                <a:bodyPr wrap="square" tIns="0" bIns="0" rtlCol="0">
                  <a:spAutoFit/>
                </a:bodyPr>
                <a:lstStyle/>
                <a:p>
                  <a:r>
                    <a:rPr lang="zh-CN" altLang="en-US" sz="1600" b="1">
                      <a:solidFill>
                        <a:schemeClr val="accent6">
                          <a:lumMod val="50000"/>
                        </a:schemeClr>
                      </a:solidFill>
                    </a:rPr>
                    <a:t>扩展简单析取式</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e>
                      </m:d>
                      <m:r>
                        <a:rPr lang="zh-CN" altLang="en-US" sz="1600" b="1" i="1">
                          <a:solidFill>
                            <a:schemeClr val="accent6">
                              <a:lumMod val="50000"/>
                            </a:schemeClr>
                          </a:solidFill>
                          <a:latin typeface="Cambria Math" panose="02040503050406030204" pitchFamily="18" charset="0"/>
                        </a:rPr>
                        <m:t>以</m:t>
                      </m:r>
                    </m:oMath>
                  </a14:m>
                  <a:r>
                    <a:rPr lang="zh-CN" altLang="en-US" sz="1600" b="1">
                      <a:solidFill>
                        <a:schemeClr val="accent6">
                          <a:lumMod val="50000"/>
                        </a:schemeClr>
                      </a:solidFill>
                    </a:rPr>
                    <a:t>包含变量</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𝒒</m:t>
                      </m:r>
                    </m:oMath>
                  </a14:m>
                  <a:r>
                    <a:rPr lang="zh-CN" altLang="en-US" sz="1600" b="1">
                      <a:solidFill>
                        <a:schemeClr val="accent6">
                          <a:lumMod val="50000"/>
                        </a:schemeClr>
                      </a:solidFill>
                    </a:rPr>
                    <a:t>：</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rgbClr val="C00000"/>
                          </a:solidFill>
                          <a:latin typeface="Cambria Math" panose="02040503050406030204" pitchFamily="18" charset="0"/>
                        </a:rPr>
                        <m:t>∨</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𝒒</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𝒒</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𝟎</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a:solidFill>
                                <a:schemeClr val="accent6">
                                  <a:lumMod val="50000"/>
                                </a:schemeClr>
                              </a:solidFill>
                              <a:latin typeface="Cambria Math" panose="02040503050406030204" pitchFamily="18" charset="0"/>
                            </a:rPr>
                          </m:ctrlPr>
                        </m:sSubPr>
                        <m:e>
                          <m:r>
                            <a:rPr lang="en-US" altLang="zh-CN" sz="1600" b="1" i="1">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𝟐</m:t>
                          </m:r>
                        </m:sub>
                      </m:sSub>
                    </m:oMath>
                  </a14:m>
                  <a:endParaRPr lang="zh-CN" altLang="en-US" sz="1600" b="1">
                    <a:solidFill>
                      <a:schemeClr val="accent6">
                        <a:lumMod val="50000"/>
                      </a:schemeClr>
                    </a:solidFill>
                  </a:endParaRPr>
                </a:p>
              </p:txBody>
            </p:sp>
          </mc:Choice>
          <mc:Fallback xmlns="">
            <p:sp>
              <p:nvSpPr>
                <p:cNvPr id="2" name="文本框 1">
                  <a:extLst>
                    <a:ext uri="{FF2B5EF4-FFF2-40B4-BE49-F238E27FC236}">
                      <a16:creationId xmlns:a16="http://schemas.microsoft.com/office/drawing/2014/main" id="{F40A40CF-E832-4578-9682-2B29C6384026}"/>
                    </a:ext>
                  </a:extLst>
                </p:cNvPr>
                <p:cNvSpPr txBox="1">
                  <a:spLocks noRot="1" noChangeAspect="1" noMove="1" noResize="1" noEditPoints="1" noAdjustHandles="1" noChangeArrowheads="1" noChangeShapeType="1" noTextEdit="1"/>
                </p:cNvSpPr>
                <p:nvPr/>
              </p:nvSpPr>
              <p:spPr>
                <a:xfrm>
                  <a:off x="184196" y="3601569"/>
                  <a:ext cx="11795102" cy="215853"/>
                </a:xfrm>
                <a:prstGeom prst="rect">
                  <a:avLst/>
                </a:prstGeom>
                <a:blipFill>
                  <a:blip r:embed="rId3"/>
                  <a:stretch>
                    <a:fillRect l="-288" t="-275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E5D5314-CB16-4D2D-88D0-6A254D2B6676}"/>
                    </a:ext>
                  </a:extLst>
                </p:cNvPr>
                <p:cNvSpPr txBox="1"/>
                <p:nvPr/>
              </p:nvSpPr>
              <p:spPr>
                <a:xfrm>
                  <a:off x="190129" y="3897626"/>
                  <a:ext cx="11795102" cy="215853"/>
                </a:xfrm>
                <a:prstGeom prst="rect">
                  <a:avLst/>
                </a:prstGeom>
                <a:solidFill>
                  <a:schemeClr val="bg1">
                    <a:lumMod val="95000"/>
                  </a:schemeClr>
                </a:solidFill>
              </p:spPr>
              <p:txBody>
                <a:bodyPr wrap="square" tIns="0" bIns="0" rtlCol="0">
                  <a:spAutoFit/>
                </a:bodyPr>
                <a:lstStyle/>
                <a:p>
                  <a:r>
                    <a:rPr lang="zh-CN" altLang="en-US" sz="1600" b="1">
                      <a:solidFill>
                        <a:schemeClr val="accent6">
                          <a:lumMod val="50000"/>
                        </a:schemeClr>
                      </a:solidFill>
                    </a:rPr>
                    <a:t>扩展简单析取式</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e>
                      </m:d>
                      <m:r>
                        <a:rPr lang="zh-CN" altLang="en-US" sz="1600" b="1" i="1">
                          <a:solidFill>
                            <a:schemeClr val="accent6">
                              <a:lumMod val="50000"/>
                            </a:schemeClr>
                          </a:solidFill>
                          <a:latin typeface="Cambria Math" panose="02040503050406030204" pitchFamily="18" charset="0"/>
                        </a:rPr>
                        <m:t>以</m:t>
                      </m:r>
                    </m:oMath>
                  </a14:m>
                  <a:r>
                    <a:rPr lang="zh-CN" altLang="en-US" sz="1600" b="1">
                      <a:solidFill>
                        <a:schemeClr val="accent6">
                          <a:lumMod val="50000"/>
                        </a:schemeClr>
                      </a:solidFill>
                    </a:rPr>
                    <a:t>包含变量</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oMath>
                  </a14:m>
                  <a:r>
                    <a:rPr lang="zh-CN" altLang="en-US" sz="1600" b="1">
                      <a:solidFill>
                        <a:schemeClr val="accent6">
                          <a:lumMod val="50000"/>
                        </a:schemeClr>
                      </a:solidFill>
                    </a:rPr>
                    <a:t>：</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rgbClr val="C00000"/>
                          </a:solidFill>
                          <a:latin typeface="Cambria Math" panose="02040503050406030204" pitchFamily="18" charset="0"/>
                        </a:rPr>
                        <m:t>∨</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𝒑</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𝒑</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sSub>
                        <m:sSubPr>
                          <m:ctrlPr>
                            <a:rPr lang="en-US" altLang="zh-CN" sz="1600" b="1" i="1">
                              <a:solidFill>
                                <a:schemeClr val="accent6">
                                  <a:lumMod val="50000"/>
                                </a:schemeClr>
                              </a:solidFill>
                              <a:latin typeface="Cambria Math" panose="02040503050406030204" pitchFamily="18" charset="0"/>
                            </a:rPr>
                          </m:ctrlPr>
                        </m:sSubPr>
                        <m:e>
                          <m:r>
                            <a:rPr lang="en-US" altLang="zh-CN" sz="1600" b="1" i="1">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𝟐</m:t>
                          </m:r>
                        </m:sub>
                      </m:sSub>
                      <m:r>
                        <a:rPr lang="en-US" altLang="zh-CN" sz="1600" b="1" i="1">
                          <a:solidFill>
                            <a:schemeClr val="accent6">
                              <a:lumMod val="50000"/>
                            </a:schemeClr>
                          </a:solidFill>
                          <a:latin typeface="Cambria Math" panose="02040503050406030204" pitchFamily="18" charset="0"/>
                        </a:rPr>
                        <m:t>∧</m:t>
                      </m:r>
                      <m:sSub>
                        <m:sSubPr>
                          <m:ctrlPr>
                            <a:rPr lang="en-US" altLang="zh-CN" sz="1600" b="1" i="1">
                              <a:solidFill>
                                <a:schemeClr val="accent6">
                                  <a:lumMod val="50000"/>
                                </a:schemeClr>
                              </a:solidFill>
                              <a:latin typeface="Cambria Math" panose="02040503050406030204" pitchFamily="18" charset="0"/>
                            </a:rPr>
                          </m:ctrlPr>
                        </m:sSubPr>
                        <m:e>
                          <m:r>
                            <a:rPr lang="en-US" altLang="zh-CN" sz="1600" b="1" i="1">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𝟔</m:t>
                          </m:r>
                        </m:sub>
                      </m:sSub>
                    </m:oMath>
                  </a14:m>
                  <a:endParaRPr lang="zh-CN" altLang="en-US" sz="1600" b="1">
                    <a:solidFill>
                      <a:schemeClr val="accent6">
                        <a:lumMod val="50000"/>
                      </a:schemeClr>
                    </a:solidFill>
                  </a:endParaRPr>
                </a:p>
              </p:txBody>
            </p:sp>
          </mc:Choice>
          <mc:Fallback xmlns="">
            <p:sp>
              <p:nvSpPr>
                <p:cNvPr id="16" name="文本框 15">
                  <a:extLst>
                    <a:ext uri="{FF2B5EF4-FFF2-40B4-BE49-F238E27FC236}">
                      <a16:creationId xmlns:a16="http://schemas.microsoft.com/office/drawing/2014/main" id="{2E5D5314-CB16-4D2D-88D0-6A254D2B6676}"/>
                    </a:ext>
                  </a:extLst>
                </p:cNvPr>
                <p:cNvSpPr txBox="1">
                  <a:spLocks noRot="1" noChangeAspect="1" noMove="1" noResize="1" noEditPoints="1" noAdjustHandles="1" noChangeArrowheads="1" noChangeShapeType="1" noTextEdit="1"/>
                </p:cNvSpPr>
                <p:nvPr/>
              </p:nvSpPr>
              <p:spPr>
                <a:xfrm>
                  <a:off x="190129" y="3897626"/>
                  <a:ext cx="11795102" cy="215853"/>
                </a:xfrm>
                <a:prstGeom prst="rect">
                  <a:avLst/>
                </a:prstGeom>
                <a:blipFill>
                  <a:blip r:embed="rId4"/>
                  <a:stretch>
                    <a:fillRect l="-288" t="-24390" b="-48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E439D7B-1B80-4675-8CBB-C79003D42BEE}"/>
                    </a:ext>
                  </a:extLst>
                </p:cNvPr>
                <p:cNvSpPr txBox="1"/>
                <p:nvPr/>
              </p:nvSpPr>
              <p:spPr>
                <a:xfrm>
                  <a:off x="184197" y="4203083"/>
                  <a:ext cx="11795100" cy="215853"/>
                </a:xfrm>
                <a:prstGeom prst="rect">
                  <a:avLst/>
                </a:prstGeom>
                <a:solidFill>
                  <a:schemeClr val="bg1">
                    <a:lumMod val="95000"/>
                  </a:schemeClr>
                </a:solidFill>
              </p:spPr>
              <p:txBody>
                <a:bodyPr wrap="square" tIns="0" bIns="0" rtlCol="0">
                  <a:spAutoFit/>
                </a:bodyPr>
                <a:lstStyle/>
                <a:p>
                  <a:r>
                    <a:rPr lang="zh-CN" altLang="en-US" sz="1600" b="1">
                      <a:solidFill>
                        <a:schemeClr val="accent6">
                          <a:lumMod val="50000"/>
                        </a:schemeClr>
                      </a:solidFill>
                    </a:rPr>
                    <a:t>扩展简单析取式</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e>
                      </m:d>
                      <m:r>
                        <a:rPr lang="zh-CN" altLang="en-US" sz="1600" b="1" i="1">
                          <a:solidFill>
                            <a:schemeClr val="accent6">
                              <a:lumMod val="50000"/>
                            </a:schemeClr>
                          </a:solidFill>
                          <a:latin typeface="Cambria Math" panose="02040503050406030204" pitchFamily="18" charset="0"/>
                        </a:rPr>
                        <m:t>以</m:t>
                      </m:r>
                    </m:oMath>
                  </a14:m>
                  <a:r>
                    <a:rPr lang="zh-CN" altLang="en-US" sz="1600" b="1">
                      <a:solidFill>
                        <a:schemeClr val="accent6">
                          <a:lumMod val="50000"/>
                        </a:schemeClr>
                      </a:solidFill>
                    </a:rPr>
                    <a:t>包含变量</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𝒒</m:t>
                      </m:r>
                    </m:oMath>
                  </a14:m>
                  <a:r>
                    <a:rPr lang="zh-CN" altLang="en-US" sz="1600" b="1">
                      <a:solidFill>
                        <a:schemeClr val="accent6">
                          <a:lumMod val="50000"/>
                        </a:schemeClr>
                      </a:solidFill>
                    </a:rPr>
                    <a:t>：</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rgbClr val="C00000"/>
                          </a:solidFill>
                          <a:latin typeface="Cambria Math" panose="02040503050406030204" pitchFamily="18" charset="0"/>
                        </a:rPr>
                        <m:t>∨</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𝒒</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𝒒</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sSub>
                        <m:sSubPr>
                          <m:ctrlPr>
                            <a:rPr lang="en-US" altLang="zh-CN" sz="1600" b="1" i="1">
                              <a:solidFill>
                                <a:schemeClr val="accent6">
                                  <a:lumMod val="50000"/>
                                </a:schemeClr>
                              </a:solidFill>
                              <a:latin typeface="Cambria Math" panose="02040503050406030204" pitchFamily="18" charset="0"/>
                            </a:rPr>
                          </m:ctrlPr>
                        </m:sSubPr>
                        <m:e>
                          <m:r>
                            <a:rPr lang="en-US" altLang="zh-CN" sz="1600" b="1" i="1">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𝟏</m:t>
                          </m:r>
                        </m:sub>
                      </m:sSub>
                      <m:r>
                        <a:rPr lang="en-US" altLang="zh-CN" sz="1600" b="1" i="1">
                          <a:solidFill>
                            <a:schemeClr val="accent6">
                              <a:lumMod val="50000"/>
                            </a:schemeClr>
                          </a:solidFill>
                          <a:latin typeface="Cambria Math" panose="02040503050406030204" pitchFamily="18" charset="0"/>
                        </a:rPr>
                        <m:t>∧</m:t>
                      </m:r>
                      <m:sSub>
                        <m:sSubPr>
                          <m:ctrlPr>
                            <a:rPr lang="en-US" altLang="zh-CN" sz="1600" b="1" i="1">
                              <a:solidFill>
                                <a:schemeClr val="accent6">
                                  <a:lumMod val="50000"/>
                                </a:schemeClr>
                              </a:solidFill>
                              <a:latin typeface="Cambria Math" panose="02040503050406030204" pitchFamily="18" charset="0"/>
                            </a:rPr>
                          </m:ctrlPr>
                        </m:sSubPr>
                        <m:e>
                          <m:r>
                            <a:rPr lang="en-US" altLang="zh-CN" sz="1600" b="1" i="1">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𝟑</m:t>
                          </m:r>
                        </m:sub>
                      </m:sSub>
                    </m:oMath>
                  </a14:m>
                  <a:endParaRPr lang="zh-CN" altLang="en-US" sz="1600" b="1">
                    <a:solidFill>
                      <a:schemeClr val="accent6">
                        <a:lumMod val="50000"/>
                      </a:schemeClr>
                    </a:solidFill>
                  </a:endParaRPr>
                </a:p>
              </p:txBody>
            </p:sp>
          </mc:Choice>
          <mc:Fallback xmlns="">
            <p:sp>
              <p:nvSpPr>
                <p:cNvPr id="18" name="文本框 17">
                  <a:extLst>
                    <a:ext uri="{FF2B5EF4-FFF2-40B4-BE49-F238E27FC236}">
                      <a16:creationId xmlns:a16="http://schemas.microsoft.com/office/drawing/2014/main" id="{0E439D7B-1B80-4675-8CBB-C79003D42BEE}"/>
                    </a:ext>
                  </a:extLst>
                </p:cNvPr>
                <p:cNvSpPr txBox="1">
                  <a:spLocks noRot="1" noChangeAspect="1" noMove="1" noResize="1" noEditPoints="1" noAdjustHandles="1" noChangeArrowheads="1" noChangeShapeType="1" noTextEdit="1"/>
                </p:cNvSpPr>
                <p:nvPr/>
              </p:nvSpPr>
              <p:spPr>
                <a:xfrm>
                  <a:off x="184197" y="4203083"/>
                  <a:ext cx="11795100" cy="215853"/>
                </a:xfrm>
                <a:prstGeom prst="rect">
                  <a:avLst/>
                </a:prstGeom>
                <a:blipFill>
                  <a:blip r:embed="rId5"/>
                  <a:stretch>
                    <a:fillRect l="-288" t="-24390" b="-48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C4B791A7-3351-436B-A36B-E329B1F28739}"/>
                    </a:ext>
                  </a:extLst>
                </p:cNvPr>
                <p:cNvSpPr txBox="1"/>
                <p:nvPr/>
              </p:nvSpPr>
              <p:spPr>
                <a:xfrm>
                  <a:off x="184197" y="4504695"/>
                  <a:ext cx="11795100" cy="215853"/>
                </a:xfrm>
                <a:prstGeom prst="rect">
                  <a:avLst/>
                </a:prstGeom>
                <a:solidFill>
                  <a:schemeClr val="bg1">
                    <a:lumMod val="95000"/>
                  </a:schemeClr>
                </a:solidFill>
              </p:spPr>
              <p:txBody>
                <a:bodyPr wrap="square" tIns="0" bIns="0" rtlCol="0">
                  <a:spAutoFit/>
                </a:bodyPr>
                <a:lstStyle/>
                <a:p>
                  <a:r>
                    <a:rPr lang="zh-CN" altLang="en-US" sz="1600" b="1">
                      <a:solidFill>
                        <a:schemeClr val="accent6">
                          <a:lumMod val="50000"/>
                        </a:schemeClr>
                      </a:solidFill>
                    </a:rPr>
                    <a:t>扩展简单析取式</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e>
                      </m:d>
                      <m:r>
                        <a:rPr lang="zh-CN" altLang="en-US" sz="1600" b="1" i="1">
                          <a:solidFill>
                            <a:schemeClr val="accent6">
                              <a:lumMod val="50000"/>
                            </a:schemeClr>
                          </a:solidFill>
                          <a:latin typeface="Cambria Math" panose="02040503050406030204" pitchFamily="18" charset="0"/>
                        </a:rPr>
                        <m:t>以</m:t>
                      </m:r>
                    </m:oMath>
                  </a14:m>
                  <a:r>
                    <a:rPr lang="zh-CN" altLang="en-US" sz="1600" b="1">
                      <a:solidFill>
                        <a:schemeClr val="accent6">
                          <a:lumMod val="50000"/>
                        </a:schemeClr>
                      </a:solidFill>
                    </a:rPr>
                    <a:t>包含变量</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oMath>
                  </a14:m>
                  <a:r>
                    <a:rPr lang="zh-CN" altLang="en-US" sz="1600" b="1">
                      <a:solidFill>
                        <a:schemeClr val="accent6">
                          <a:lumMod val="50000"/>
                        </a:schemeClr>
                      </a:solidFill>
                    </a:rPr>
                    <a:t>：</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rgbClr val="C00000"/>
                          </a:solidFill>
                          <a:latin typeface="Cambria Math" panose="02040503050406030204" pitchFamily="18" charset="0"/>
                        </a:rPr>
                        <m:t>∨</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𝒑</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𝒑</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e>
                      </m:d>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sSub>
                        <m:sSubPr>
                          <m:ctrlPr>
                            <a:rPr lang="en-US" altLang="zh-CN" sz="1600" b="1" i="1">
                              <a:solidFill>
                                <a:schemeClr val="accent6">
                                  <a:lumMod val="50000"/>
                                </a:schemeClr>
                              </a:solidFill>
                              <a:latin typeface="Cambria Math" panose="02040503050406030204" pitchFamily="18" charset="0"/>
                            </a:rPr>
                          </m:ctrlPr>
                        </m:sSubPr>
                        <m:e>
                          <m:r>
                            <a:rPr lang="en-US" altLang="zh-CN" sz="1600" b="1" i="1">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𝟏</m:t>
                          </m:r>
                        </m:sub>
                      </m:sSub>
                      <m:r>
                        <a:rPr lang="en-US" altLang="zh-CN" sz="1600" b="1" i="1">
                          <a:solidFill>
                            <a:schemeClr val="accent6">
                              <a:lumMod val="50000"/>
                            </a:schemeClr>
                          </a:solidFill>
                          <a:latin typeface="Cambria Math" panose="02040503050406030204" pitchFamily="18" charset="0"/>
                        </a:rPr>
                        <m:t>∧</m:t>
                      </m:r>
                      <m:sSub>
                        <m:sSubPr>
                          <m:ctrlPr>
                            <a:rPr lang="en-US" altLang="zh-CN" sz="1600" b="1" i="1">
                              <a:solidFill>
                                <a:schemeClr val="accent6">
                                  <a:lumMod val="50000"/>
                                </a:schemeClr>
                              </a:solidFill>
                              <a:latin typeface="Cambria Math" panose="02040503050406030204" pitchFamily="18" charset="0"/>
                            </a:rPr>
                          </m:ctrlPr>
                        </m:sSubPr>
                        <m:e>
                          <m:r>
                            <a:rPr lang="en-US" altLang="zh-CN" sz="1600" b="1" i="1">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𝟓</m:t>
                          </m:r>
                        </m:sub>
                      </m:sSub>
                    </m:oMath>
                  </a14:m>
                  <a:endParaRPr lang="zh-CN" altLang="en-US" sz="1600" b="1">
                    <a:solidFill>
                      <a:schemeClr val="accent6">
                        <a:lumMod val="50000"/>
                      </a:schemeClr>
                    </a:solidFill>
                  </a:endParaRPr>
                </a:p>
              </p:txBody>
            </p:sp>
          </mc:Choice>
          <mc:Fallback xmlns="">
            <p:sp>
              <p:nvSpPr>
                <p:cNvPr id="19" name="文本框 18">
                  <a:extLst>
                    <a:ext uri="{FF2B5EF4-FFF2-40B4-BE49-F238E27FC236}">
                      <a16:creationId xmlns:a16="http://schemas.microsoft.com/office/drawing/2014/main" id="{C4B791A7-3351-436B-A36B-E329B1F28739}"/>
                    </a:ext>
                  </a:extLst>
                </p:cNvPr>
                <p:cNvSpPr txBox="1">
                  <a:spLocks noRot="1" noChangeAspect="1" noMove="1" noResize="1" noEditPoints="1" noAdjustHandles="1" noChangeArrowheads="1" noChangeShapeType="1" noTextEdit="1"/>
                </p:cNvSpPr>
                <p:nvPr/>
              </p:nvSpPr>
              <p:spPr>
                <a:xfrm>
                  <a:off x="184197" y="4504695"/>
                  <a:ext cx="11795100" cy="215853"/>
                </a:xfrm>
                <a:prstGeom prst="rect">
                  <a:avLst/>
                </a:prstGeom>
                <a:blipFill>
                  <a:blip r:embed="rId6"/>
                  <a:stretch>
                    <a:fillRect l="-288" t="-27500" b="-50000"/>
                  </a:stretch>
                </a:blipFill>
              </p:spPr>
              <p:txBody>
                <a:bodyPr/>
                <a:lstStyle/>
                <a:p>
                  <a:r>
                    <a:rPr lang="zh-CN" altLang="en-US">
                      <a:noFill/>
                    </a:rPr>
                    <a:t> </a:t>
                  </a:r>
                </a:p>
              </p:txBody>
            </p:sp>
          </mc:Fallback>
        </mc:AlternateContent>
      </p:grpSp>
      <p:grpSp>
        <p:nvGrpSpPr>
          <p:cNvPr id="48" name="组合 47">
            <a:extLst>
              <a:ext uri="{FF2B5EF4-FFF2-40B4-BE49-F238E27FC236}">
                <a16:creationId xmlns:a16="http://schemas.microsoft.com/office/drawing/2014/main" id="{9EF82FCA-3B90-4AB6-BB09-5CF735816A00}"/>
              </a:ext>
            </a:extLst>
          </p:cNvPr>
          <p:cNvGrpSpPr/>
          <p:nvPr/>
        </p:nvGrpSpPr>
        <p:grpSpPr>
          <a:xfrm>
            <a:off x="263589" y="4908574"/>
            <a:ext cx="8583997" cy="1138545"/>
            <a:chOff x="257011" y="4912475"/>
            <a:chExt cx="8583997" cy="1138545"/>
          </a:xfrm>
        </p:grpSpPr>
        <p:grpSp>
          <p:nvGrpSpPr>
            <p:cNvPr id="24" name="组合 23">
              <a:extLst>
                <a:ext uri="{FF2B5EF4-FFF2-40B4-BE49-F238E27FC236}">
                  <a16:creationId xmlns:a16="http://schemas.microsoft.com/office/drawing/2014/main" id="{527FE4BC-ECEF-4582-A341-DE024BCF0C91}"/>
                </a:ext>
              </a:extLst>
            </p:cNvPr>
            <p:cNvGrpSpPr/>
            <p:nvPr/>
          </p:nvGrpSpPr>
          <p:grpSpPr>
            <a:xfrm>
              <a:off x="257011" y="5515183"/>
              <a:ext cx="4105803" cy="530915"/>
              <a:chOff x="424149" y="5305608"/>
              <a:chExt cx="4105803" cy="530915"/>
            </a:xfrm>
          </p:grpSpPr>
          <p:grpSp>
            <p:nvGrpSpPr>
              <p:cNvPr id="22" name="组合 21">
                <a:extLst>
                  <a:ext uri="{FF2B5EF4-FFF2-40B4-BE49-F238E27FC236}">
                    <a16:creationId xmlns:a16="http://schemas.microsoft.com/office/drawing/2014/main" id="{DC5DC05A-ECE1-4ECD-A200-ABC741B047A0}"/>
                  </a:ext>
                </a:extLst>
              </p:cNvPr>
              <p:cNvGrpSpPr/>
              <p:nvPr/>
            </p:nvGrpSpPr>
            <p:grpSpPr>
              <a:xfrm>
                <a:off x="424149" y="5305608"/>
                <a:ext cx="4105803" cy="530915"/>
                <a:chOff x="424149" y="5251203"/>
                <a:chExt cx="4105803" cy="530915"/>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71A4F56-4756-42CB-B54F-9E51807BE77D}"/>
                        </a:ext>
                      </a:extLst>
                    </p:cNvPr>
                    <p:cNvSpPr txBox="1"/>
                    <p:nvPr/>
                  </p:nvSpPr>
                  <p:spPr>
                    <a:xfrm>
                      <a:off x="424149" y="5344450"/>
                      <a:ext cx="2569032" cy="276999"/>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𝒓</m:t>
                              </m:r>
                            </m:e>
                          </m:d>
                        </m:oMath>
                      </a14:m>
                      <a:r>
                        <a:rPr lang="zh-CN" altLang="en-US" b="1">
                          <a:solidFill>
                            <a:srgbClr val="C00000"/>
                          </a:solidFill>
                        </a:rPr>
                        <a:t>编码为</a:t>
                      </a:r>
                      <a:r>
                        <a:rPr lang="en-US" altLang="zh-CN" b="1">
                          <a:solidFill>
                            <a:srgbClr val="C00000"/>
                          </a:solidFill>
                          <a:latin typeface="Cambria Math" panose="02040503050406030204" pitchFamily="18" charset="0"/>
                          <a:ea typeface="Cambria Math" panose="02040503050406030204" pitchFamily="18" charset="0"/>
                        </a:rPr>
                        <a:t>(- 1 0)</a:t>
                      </a:r>
                      <a:endParaRPr lang="zh-CN" altLang="en-US" b="1">
                        <a:solidFill>
                          <a:srgbClr val="C00000"/>
                        </a:solidFill>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E71A4F56-4756-42CB-B54F-9E51807BE77D}"/>
                        </a:ext>
                      </a:extLst>
                    </p:cNvPr>
                    <p:cNvSpPr txBox="1">
                      <a:spLocks noRot="1" noChangeAspect="1" noMove="1" noResize="1" noEditPoints="1" noAdjustHandles="1" noChangeArrowheads="1" noChangeShapeType="1" noTextEdit="1"/>
                    </p:cNvSpPr>
                    <p:nvPr/>
                  </p:nvSpPr>
                  <p:spPr>
                    <a:xfrm>
                      <a:off x="424149" y="5344450"/>
                      <a:ext cx="2569032" cy="276999"/>
                    </a:xfrm>
                    <a:prstGeom prst="rect">
                      <a:avLst/>
                    </a:prstGeom>
                    <a:blipFill>
                      <a:blip r:embed="rId7"/>
                      <a:stretch>
                        <a:fillRect t="-32609" b="-50000"/>
                      </a:stretch>
                    </a:blipFill>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1BB914B4-930D-4510-8256-4B4FFBF15419}"/>
                    </a:ext>
                  </a:extLst>
                </p:cNvPr>
                <p:cNvSpPr/>
                <p:nvPr/>
              </p:nvSpPr>
              <p:spPr>
                <a:xfrm>
                  <a:off x="2993181" y="5450685"/>
                  <a:ext cx="578900" cy="8787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0E93931-7A5C-4DE2-B972-E92670934F75}"/>
                        </a:ext>
                      </a:extLst>
                    </p:cNvPr>
                    <p:cNvSpPr txBox="1"/>
                    <p:nvPr/>
                  </p:nvSpPr>
                  <p:spPr>
                    <a:xfrm>
                      <a:off x="3576081" y="5251203"/>
                      <a:ext cx="953871" cy="530915"/>
                    </a:xfrm>
                    <a:prstGeom prst="rect">
                      <a:avLst/>
                    </a:prstGeom>
                    <a:solidFill>
                      <a:schemeClr val="accent2">
                        <a:lumMod val="20000"/>
                        <a:lumOff val="80000"/>
                      </a:schemeClr>
                    </a:solidFill>
                  </p:spPr>
                  <p:txBody>
                    <a:bodyPr wrap="square" tIns="0" bIns="0" rtlCol="0">
                      <a:spAutoFit/>
                    </a:bodyPr>
                    <a:lstStyle/>
                    <a:p>
                      <a:pPr>
                        <a:spcAft>
                          <a:spcPts val="300"/>
                        </a:spcAft>
                      </a:pPr>
                      <a:r>
                        <a:rPr lang="en-US" altLang="zh-CN" sz="1600" b="1">
                          <a:solidFill>
                            <a:srgbClr val="C00000"/>
                          </a:solidFill>
                          <a:latin typeface="Cambria Math" panose="02040503050406030204" pitchFamily="18" charset="0"/>
                          <a:ea typeface="Cambria Math" panose="02040503050406030204" pitchFamily="18" charset="0"/>
                        </a:rPr>
                        <a:t>0</a:t>
                      </a:r>
                      <a:r>
                        <a:rPr lang="en-US" altLang="zh-CN" sz="1600" b="1">
                          <a:solidFill>
                            <a:srgbClr val="002060"/>
                          </a:solidFill>
                          <a:latin typeface="Cambria Math" panose="02040503050406030204" pitchFamily="18" charset="0"/>
                          <a:ea typeface="Cambria Math" panose="02040503050406030204" pitchFamily="18" charset="0"/>
                        </a:rPr>
                        <a:t>10</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𝟐</m:t>
                              </m:r>
                            </m:sub>
                          </m:sSub>
                        </m:oMath>
                      </a14:m>
                      <a:endParaRPr lang="en-US" altLang="zh-CN" sz="1600" b="1">
                        <a:solidFill>
                          <a:srgbClr val="C00000"/>
                        </a:solidFill>
                      </a:endParaRPr>
                    </a:p>
                    <a:p>
                      <a:pPr>
                        <a:spcAft>
                          <a:spcPts val="300"/>
                        </a:spcAft>
                      </a:pPr>
                      <a:r>
                        <a:rPr lang="en-US" altLang="zh-CN" sz="1600" b="1">
                          <a:solidFill>
                            <a:srgbClr val="C00000"/>
                          </a:solidFill>
                          <a:latin typeface="Cambria Math" panose="02040503050406030204" pitchFamily="18" charset="0"/>
                          <a:ea typeface="Cambria Math" panose="02040503050406030204" pitchFamily="18" charset="0"/>
                        </a:rPr>
                        <a:t>1</a:t>
                      </a:r>
                      <a:r>
                        <a:rPr lang="en-US" altLang="zh-CN" sz="1600" b="1">
                          <a:solidFill>
                            <a:srgbClr val="002060"/>
                          </a:solidFill>
                          <a:latin typeface="Cambria Math" panose="02040503050406030204" pitchFamily="18" charset="0"/>
                          <a:ea typeface="Cambria Math" panose="02040503050406030204" pitchFamily="18" charset="0"/>
                        </a:rPr>
                        <a:t>10</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𝟔</m:t>
                              </m:r>
                            </m:sub>
                          </m:sSub>
                        </m:oMath>
                      </a14:m>
                      <a:endParaRPr lang="zh-CN" altLang="en-US" sz="1600" b="1">
                        <a:solidFill>
                          <a:srgbClr val="C00000"/>
                        </a:solidFill>
                      </a:endParaRPr>
                    </a:p>
                  </p:txBody>
                </p:sp>
              </mc:Choice>
              <mc:Fallback xmlns="">
                <p:sp>
                  <p:nvSpPr>
                    <p:cNvPr id="20" name="文本框 19">
                      <a:extLst>
                        <a:ext uri="{FF2B5EF4-FFF2-40B4-BE49-F238E27FC236}">
                          <a16:creationId xmlns:a16="http://schemas.microsoft.com/office/drawing/2014/main" id="{C0E93931-7A5C-4DE2-B972-E92670934F75}"/>
                        </a:ext>
                      </a:extLst>
                    </p:cNvPr>
                    <p:cNvSpPr txBox="1">
                      <a:spLocks noRot="1" noChangeAspect="1" noMove="1" noResize="1" noEditPoints="1" noAdjustHandles="1" noChangeArrowheads="1" noChangeShapeType="1" noTextEdit="1"/>
                    </p:cNvSpPr>
                    <p:nvPr/>
                  </p:nvSpPr>
                  <p:spPr>
                    <a:xfrm>
                      <a:off x="3576081" y="5251203"/>
                      <a:ext cx="953871" cy="530915"/>
                    </a:xfrm>
                    <a:prstGeom prst="rect">
                      <a:avLst/>
                    </a:prstGeom>
                    <a:blipFill>
                      <a:blip r:embed="rId8"/>
                      <a:stretch>
                        <a:fillRect l="-3185" t="-13793" b="-21839"/>
                      </a:stretch>
                    </a:blipFill>
                  </p:spPr>
                  <p:txBody>
                    <a:bodyPr/>
                    <a:lstStyle/>
                    <a:p>
                      <a:r>
                        <a:rPr lang="zh-CN" altLang="en-US">
                          <a:noFill/>
                        </a:rPr>
                        <a:t> </a:t>
                      </a:r>
                    </a:p>
                  </p:txBody>
                </p:sp>
              </mc:Fallback>
            </mc:AlternateContent>
          </p:grpSp>
          <p:sp>
            <p:nvSpPr>
              <p:cNvPr id="23" name="文本框 22">
                <a:extLst>
                  <a:ext uri="{FF2B5EF4-FFF2-40B4-BE49-F238E27FC236}">
                    <a16:creationId xmlns:a16="http://schemas.microsoft.com/office/drawing/2014/main" id="{F5542A19-5DFD-479C-89F4-789D0F8D237F}"/>
                  </a:ext>
                </a:extLst>
              </p:cNvPr>
              <p:cNvSpPr txBox="1"/>
              <p:nvPr/>
            </p:nvSpPr>
            <p:spPr>
              <a:xfrm>
                <a:off x="2993181" y="5576998"/>
                <a:ext cx="578900" cy="215444"/>
              </a:xfrm>
              <a:prstGeom prst="rect">
                <a:avLst/>
              </a:prstGeom>
              <a:noFill/>
            </p:spPr>
            <p:txBody>
              <a:bodyPr wrap="square" tIns="0" bIns="0" rtlCol="0">
                <a:spAutoFit/>
              </a:bodyPr>
              <a:lstStyle/>
              <a:p>
                <a:r>
                  <a:rPr lang="zh-CN" altLang="en-US" sz="1400" b="1">
                    <a:solidFill>
                      <a:schemeClr val="accent2">
                        <a:lumMod val="50000"/>
                      </a:schemeClr>
                    </a:solidFill>
                    <a:latin typeface="楷体" panose="02010609060101010101" pitchFamily="49" charset="-122"/>
                    <a:ea typeface="楷体" panose="02010609060101010101" pitchFamily="49" charset="-122"/>
                  </a:rPr>
                  <a:t>扩展</a:t>
                </a:r>
              </a:p>
            </p:txBody>
          </p:sp>
        </p:grpSp>
        <p:grpSp>
          <p:nvGrpSpPr>
            <p:cNvPr id="25" name="组合 24">
              <a:extLst>
                <a:ext uri="{FF2B5EF4-FFF2-40B4-BE49-F238E27FC236}">
                  <a16:creationId xmlns:a16="http://schemas.microsoft.com/office/drawing/2014/main" id="{CD711992-2350-4B44-B6B9-817C89DB4CC6}"/>
                </a:ext>
              </a:extLst>
            </p:cNvPr>
            <p:cNvGrpSpPr/>
            <p:nvPr/>
          </p:nvGrpSpPr>
          <p:grpSpPr>
            <a:xfrm>
              <a:off x="257011" y="4912476"/>
              <a:ext cx="4105803" cy="530915"/>
              <a:chOff x="424149" y="5305608"/>
              <a:chExt cx="4105803" cy="530915"/>
            </a:xfrm>
          </p:grpSpPr>
          <p:grpSp>
            <p:nvGrpSpPr>
              <p:cNvPr id="26" name="组合 25">
                <a:extLst>
                  <a:ext uri="{FF2B5EF4-FFF2-40B4-BE49-F238E27FC236}">
                    <a16:creationId xmlns:a16="http://schemas.microsoft.com/office/drawing/2014/main" id="{E62BBB1C-A40C-487D-AF63-34EF6DEE96A6}"/>
                  </a:ext>
                </a:extLst>
              </p:cNvPr>
              <p:cNvGrpSpPr/>
              <p:nvPr/>
            </p:nvGrpSpPr>
            <p:grpSpPr>
              <a:xfrm>
                <a:off x="424149" y="5305608"/>
                <a:ext cx="4105803" cy="530915"/>
                <a:chOff x="424149" y="5251203"/>
                <a:chExt cx="4105803" cy="530915"/>
              </a:xfrm>
            </p:grpSpPr>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C5EC43D3-CB1F-4F1B-9D50-7781F68DA637}"/>
                        </a:ext>
                      </a:extLst>
                    </p:cNvPr>
                    <p:cNvSpPr txBox="1"/>
                    <p:nvPr/>
                  </p:nvSpPr>
                  <p:spPr>
                    <a:xfrm>
                      <a:off x="424149" y="5344450"/>
                      <a:ext cx="2569032" cy="276999"/>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𝒓</m:t>
                              </m:r>
                            </m:e>
                          </m:d>
                        </m:oMath>
                      </a14:m>
                      <a:r>
                        <a:rPr lang="zh-CN" altLang="en-US" b="1">
                          <a:solidFill>
                            <a:srgbClr val="C00000"/>
                          </a:solidFill>
                        </a:rPr>
                        <a:t>编码为</a:t>
                      </a:r>
                      <a:r>
                        <a:rPr lang="en-US" altLang="zh-CN" b="1">
                          <a:solidFill>
                            <a:srgbClr val="C00000"/>
                          </a:solidFill>
                          <a:latin typeface="Cambria Math" panose="02040503050406030204" pitchFamily="18" charset="0"/>
                          <a:ea typeface="Cambria Math" panose="02040503050406030204" pitchFamily="18" charset="0"/>
                        </a:rPr>
                        <a:t>(0 - 0)</a:t>
                      </a:r>
                      <a:endParaRPr lang="zh-CN" altLang="en-US" b="1">
                        <a:solidFill>
                          <a:srgbClr val="C00000"/>
                        </a:solidFill>
                        <a:latin typeface="Cambria Math" panose="02040503050406030204" pitchFamily="18" charset="0"/>
                      </a:endParaRPr>
                    </a:p>
                  </p:txBody>
                </p:sp>
              </mc:Choice>
              <mc:Fallback xmlns="">
                <p:sp>
                  <p:nvSpPr>
                    <p:cNvPr id="28" name="文本框 27">
                      <a:extLst>
                        <a:ext uri="{FF2B5EF4-FFF2-40B4-BE49-F238E27FC236}">
                          <a16:creationId xmlns:a16="http://schemas.microsoft.com/office/drawing/2014/main" id="{C5EC43D3-CB1F-4F1B-9D50-7781F68DA637}"/>
                        </a:ext>
                      </a:extLst>
                    </p:cNvPr>
                    <p:cNvSpPr txBox="1">
                      <a:spLocks noRot="1" noChangeAspect="1" noMove="1" noResize="1" noEditPoints="1" noAdjustHandles="1" noChangeArrowheads="1" noChangeShapeType="1" noTextEdit="1"/>
                    </p:cNvSpPr>
                    <p:nvPr/>
                  </p:nvSpPr>
                  <p:spPr>
                    <a:xfrm>
                      <a:off x="424149" y="5344450"/>
                      <a:ext cx="2569032" cy="276999"/>
                    </a:xfrm>
                    <a:prstGeom prst="rect">
                      <a:avLst/>
                    </a:prstGeom>
                    <a:blipFill>
                      <a:blip r:embed="rId9"/>
                      <a:stretch>
                        <a:fillRect t="-33333" b="-51111"/>
                      </a:stretch>
                    </a:blipFill>
                  </p:spPr>
                  <p:txBody>
                    <a:bodyPr/>
                    <a:lstStyle/>
                    <a:p>
                      <a:r>
                        <a:rPr lang="zh-CN" altLang="en-US">
                          <a:noFill/>
                        </a:rPr>
                        <a:t> </a:t>
                      </a:r>
                    </a:p>
                  </p:txBody>
                </p:sp>
              </mc:Fallback>
            </mc:AlternateContent>
            <p:sp>
              <p:nvSpPr>
                <p:cNvPr id="29" name="箭头: 右 28">
                  <a:extLst>
                    <a:ext uri="{FF2B5EF4-FFF2-40B4-BE49-F238E27FC236}">
                      <a16:creationId xmlns:a16="http://schemas.microsoft.com/office/drawing/2014/main" id="{762639ED-A943-457F-9CFF-51D67DF75556}"/>
                    </a:ext>
                  </a:extLst>
                </p:cNvPr>
                <p:cNvSpPr/>
                <p:nvPr/>
              </p:nvSpPr>
              <p:spPr>
                <a:xfrm>
                  <a:off x="2993181" y="5450685"/>
                  <a:ext cx="578900" cy="8787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F7ACEA21-BBBF-42AF-96CC-08B95D9B4E36}"/>
                        </a:ext>
                      </a:extLst>
                    </p:cNvPr>
                    <p:cNvSpPr txBox="1"/>
                    <p:nvPr/>
                  </p:nvSpPr>
                  <p:spPr>
                    <a:xfrm>
                      <a:off x="3576081" y="5251203"/>
                      <a:ext cx="953871" cy="530915"/>
                    </a:xfrm>
                    <a:prstGeom prst="rect">
                      <a:avLst/>
                    </a:prstGeom>
                    <a:solidFill>
                      <a:schemeClr val="accent2">
                        <a:lumMod val="20000"/>
                        <a:lumOff val="80000"/>
                      </a:schemeClr>
                    </a:solidFill>
                  </p:spPr>
                  <p:txBody>
                    <a:bodyPr wrap="square" tIns="0" bIns="0" rtlCol="0">
                      <a:spAutoFit/>
                    </a:bodyPr>
                    <a:lstStyle/>
                    <a:p>
                      <a:pPr>
                        <a:spcAft>
                          <a:spcPts val="300"/>
                        </a:spcAft>
                      </a:pPr>
                      <a:r>
                        <a:rPr lang="en-US" altLang="zh-CN" sz="1600" b="1">
                          <a:solidFill>
                            <a:srgbClr val="002060"/>
                          </a:solidFill>
                          <a:latin typeface="Cambria Math" panose="02040503050406030204" pitchFamily="18" charset="0"/>
                          <a:ea typeface="Cambria Math" panose="02040503050406030204" pitchFamily="18" charset="0"/>
                        </a:rPr>
                        <a:t>0</a:t>
                      </a:r>
                      <a:r>
                        <a:rPr lang="en-US" altLang="zh-CN" sz="1600" b="1">
                          <a:solidFill>
                            <a:srgbClr val="C00000"/>
                          </a:solidFill>
                          <a:latin typeface="Cambria Math" panose="02040503050406030204" pitchFamily="18" charset="0"/>
                          <a:ea typeface="Cambria Math" panose="02040503050406030204" pitchFamily="18" charset="0"/>
                        </a:rPr>
                        <a:t>0</a:t>
                      </a:r>
                      <a:r>
                        <a:rPr lang="en-US" altLang="zh-CN" sz="1600" b="1">
                          <a:solidFill>
                            <a:srgbClr val="002060"/>
                          </a:solidFill>
                          <a:latin typeface="Cambria Math" panose="02040503050406030204" pitchFamily="18" charset="0"/>
                          <a:ea typeface="Cambria Math" panose="02040503050406030204" pitchFamily="18" charset="0"/>
                        </a:rPr>
                        <a:t>0</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𝟎</m:t>
                              </m:r>
                            </m:sub>
                          </m:sSub>
                        </m:oMath>
                      </a14:m>
                      <a:endParaRPr lang="en-US" altLang="zh-CN" sz="1600" b="1">
                        <a:solidFill>
                          <a:srgbClr val="C00000"/>
                        </a:solidFill>
                      </a:endParaRPr>
                    </a:p>
                    <a:p>
                      <a:pPr>
                        <a:spcAft>
                          <a:spcPts val="300"/>
                        </a:spcAft>
                      </a:pPr>
                      <a:r>
                        <a:rPr lang="en-US" altLang="zh-CN" sz="1600" b="1">
                          <a:solidFill>
                            <a:srgbClr val="002060"/>
                          </a:solidFill>
                          <a:latin typeface="Cambria Math" panose="02040503050406030204" pitchFamily="18" charset="0"/>
                          <a:ea typeface="Cambria Math" panose="02040503050406030204" pitchFamily="18" charset="0"/>
                        </a:rPr>
                        <a:t>0</a:t>
                      </a:r>
                      <a:r>
                        <a:rPr lang="en-US" altLang="zh-CN" sz="1600" b="1">
                          <a:solidFill>
                            <a:srgbClr val="C00000"/>
                          </a:solidFill>
                          <a:latin typeface="Cambria Math" panose="02040503050406030204" pitchFamily="18" charset="0"/>
                          <a:ea typeface="Cambria Math" panose="02040503050406030204" pitchFamily="18" charset="0"/>
                        </a:rPr>
                        <a:t>1</a:t>
                      </a:r>
                      <a:r>
                        <a:rPr lang="en-US" altLang="zh-CN" sz="1600" b="1">
                          <a:solidFill>
                            <a:srgbClr val="002060"/>
                          </a:solidFill>
                          <a:latin typeface="Cambria Math" panose="02040503050406030204" pitchFamily="18" charset="0"/>
                          <a:ea typeface="Cambria Math" panose="02040503050406030204" pitchFamily="18" charset="0"/>
                        </a:rPr>
                        <a:t>0</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𝟐</m:t>
                              </m:r>
                            </m:sub>
                          </m:sSub>
                        </m:oMath>
                      </a14:m>
                      <a:endParaRPr lang="zh-CN" altLang="en-US" sz="1600" b="1">
                        <a:solidFill>
                          <a:srgbClr val="C00000"/>
                        </a:solidFill>
                      </a:endParaRPr>
                    </a:p>
                  </p:txBody>
                </p:sp>
              </mc:Choice>
              <mc:Fallback xmlns="">
                <p:sp>
                  <p:nvSpPr>
                    <p:cNvPr id="30" name="文本框 29">
                      <a:extLst>
                        <a:ext uri="{FF2B5EF4-FFF2-40B4-BE49-F238E27FC236}">
                          <a16:creationId xmlns:a16="http://schemas.microsoft.com/office/drawing/2014/main" id="{F7ACEA21-BBBF-42AF-96CC-08B95D9B4E36}"/>
                        </a:ext>
                      </a:extLst>
                    </p:cNvPr>
                    <p:cNvSpPr txBox="1">
                      <a:spLocks noRot="1" noChangeAspect="1" noMove="1" noResize="1" noEditPoints="1" noAdjustHandles="1" noChangeArrowheads="1" noChangeShapeType="1" noTextEdit="1"/>
                    </p:cNvSpPr>
                    <p:nvPr/>
                  </p:nvSpPr>
                  <p:spPr>
                    <a:xfrm>
                      <a:off x="3576081" y="5251203"/>
                      <a:ext cx="953871" cy="530915"/>
                    </a:xfrm>
                    <a:prstGeom prst="rect">
                      <a:avLst/>
                    </a:prstGeom>
                    <a:blipFill>
                      <a:blip r:embed="rId10"/>
                      <a:stretch>
                        <a:fillRect l="-3185" t="-13793" b="-21839"/>
                      </a:stretch>
                    </a:blipFill>
                  </p:spPr>
                  <p:txBody>
                    <a:bodyPr/>
                    <a:lstStyle/>
                    <a:p>
                      <a:r>
                        <a:rPr lang="zh-CN" altLang="en-US">
                          <a:noFill/>
                        </a:rPr>
                        <a:t> </a:t>
                      </a:r>
                    </a:p>
                  </p:txBody>
                </p:sp>
              </mc:Fallback>
            </mc:AlternateContent>
          </p:grpSp>
          <p:sp>
            <p:nvSpPr>
              <p:cNvPr id="27" name="文本框 26">
                <a:extLst>
                  <a:ext uri="{FF2B5EF4-FFF2-40B4-BE49-F238E27FC236}">
                    <a16:creationId xmlns:a16="http://schemas.microsoft.com/office/drawing/2014/main" id="{1F98F504-21EE-4C2E-B0A5-1386ED1F811D}"/>
                  </a:ext>
                </a:extLst>
              </p:cNvPr>
              <p:cNvSpPr txBox="1"/>
              <p:nvPr/>
            </p:nvSpPr>
            <p:spPr>
              <a:xfrm>
                <a:off x="2993181" y="5576998"/>
                <a:ext cx="578900" cy="215444"/>
              </a:xfrm>
              <a:prstGeom prst="rect">
                <a:avLst/>
              </a:prstGeom>
              <a:noFill/>
            </p:spPr>
            <p:txBody>
              <a:bodyPr wrap="square" tIns="0" bIns="0" rtlCol="0">
                <a:spAutoFit/>
              </a:bodyPr>
              <a:lstStyle/>
              <a:p>
                <a:r>
                  <a:rPr lang="zh-CN" altLang="en-US" sz="1400" b="1">
                    <a:solidFill>
                      <a:schemeClr val="accent2">
                        <a:lumMod val="50000"/>
                      </a:schemeClr>
                    </a:solidFill>
                    <a:latin typeface="楷体" panose="02010609060101010101" pitchFamily="49" charset="-122"/>
                    <a:ea typeface="楷体" panose="02010609060101010101" pitchFamily="49" charset="-122"/>
                  </a:rPr>
                  <a:t>扩展</a:t>
                </a:r>
              </a:p>
            </p:txBody>
          </p:sp>
        </p:grpSp>
        <p:grpSp>
          <p:nvGrpSpPr>
            <p:cNvPr id="31" name="组合 30">
              <a:extLst>
                <a:ext uri="{FF2B5EF4-FFF2-40B4-BE49-F238E27FC236}">
                  <a16:creationId xmlns:a16="http://schemas.microsoft.com/office/drawing/2014/main" id="{FD37779B-415B-4DAD-AB65-33F50E7CA125}"/>
                </a:ext>
              </a:extLst>
            </p:cNvPr>
            <p:cNvGrpSpPr/>
            <p:nvPr/>
          </p:nvGrpSpPr>
          <p:grpSpPr>
            <a:xfrm>
              <a:off x="4735205" y="4912475"/>
              <a:ext cx="4105803" cy="530915"/>
              <a:chOff x="424149" y="5305608"/>
              <a:chExt cx="4105803" cy="530915"/>
            </a:xfrm>
          </p:grpSpPr>
          <p:grpSp>
            <p:nvGrpSpPr>
              <p:cNvPr id="32" name="组合 31">
                <a:extLst>
                  <a:ext uri="{FF2B5EF4-FFF2-40B4-BE49-F238E27FC236}">
                    <a16:creationId xmlns:a16="http://schemas.microsoft.com/office/drawing/2014/main" id="{3DA2A020-2725-4744-B7D5-1B0B893A9316}"/>
                  </a:ext>
                </a:extLst>
              </p:cNvPr>
              <p:cNvGrpSpPr/>
              <p:nvPr/>
            </p:nvGrpSpPr>
            <p:grpSpPr>
              <a:xfrm>
                <a:off x="424149" y="5305608"/>
                <a:ext cx="4105803" cy="530915"/>
                <a:chOff x="424149" y="5251203"/>
                <a:chExt cx="4105803" cy="530915"/>
              </a:xfrm>
            </p:grpSpPr>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303FC0E4-D6D6-4A80-B265-AD22F92D9A62}"/>
                        </a:ext>
                      </a:extLst>
                    </p:cNvPr>
                    <p:cNvSpPr txBox="1"/>
                    <p:nvPr/>
                  </p:nvSpPr>
                  <p:spPr>
                    <a:xfrm>
                      <a:off x="424149" y="5344450"/>
                      <a:ext cx="2569032" cy="276999"/>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𝒓</m:t>
                              </m:r>
                            </m:e>
                          </m:d>
                        </m:oMath>
                      </a14:m>
                      <a:r>
                        <a:rPr lang="zh-CN" altLang="en-US" b="1">
                          <a:solidFill>
                            <a:srgbClr val="C00000"/>
                          </a:solidFill>
                        </a:rPr>
                        <a:t>编码为</a:t>
                      </a:r>
                      <a:r>
                        <a:rPr lang="en-US" altLang="zh-CN" b="1">
                          <a:solidFill>
                            <a:srgbClr val="C00000"/>
                          </a:solidFill>
                          <a:latin typeface="Cambria Math" panose="02040503050406030204" pitchFamily="18" charset="0"/>
                          <a:ea typeface="Cambria Math" panose="02040503050406030204" pitchFamily="18" charset="0"/>
                        </a:rPr>
                        <a:t>(0 - 1)</a:t>
                      </a:r>
                      <a:endParaRPr lang="zh-CN" altLang="en-US" b="1">
                        <a:solidFill>
                          <a:srgbClr val="C00000"/>
                        </a:solidFill>
                        <a:latin typeface="Cambria Math" panose="02040503050406030204" pitchFamily="18" charset="0"/>
                      </a:endParaRPr>
                    </a:p>
                  </p:txBody>
                </p:sp>
              </mc:Choice>
              <mc:Fallback xmlns="">
                <p:sp>
                  <p:nvSpPr>
                    <p:cNvPr id="34" name="文本框 33">
                      <a:extLst>
                        <a:ext uri="{FF2B5EF4-FFF2-40B4-BE49-F238E27FC236}">
                          <a16:creationId xmlns:a16="http://schemas.microsoft.com/office/drawing/2014/main" id="{303FC0E4-D6D6-4A80-B265-AD22F92D9A62}"/>
                        </a:ext>
                      </a:extLst>
                    </p:cNvPr>
                    <p:cNvSpPr txBox="1">
                      <a:spLocks noRot="1" noChangeAspect="1" noMove="1" noResize="1" noEditPoints="1" noAdjustHandles="1" noChangeArrowheads="1" noChangeShapeType="1" noTextEdit="1"/>
                    </p:cNvSpPr>
                    <p:nvPr/>
                  </p:nvSpPr>
                  <p:spPr>
                    <a:xfrm>
                      <a:off x="424149" y="5344450"/>
                      <a:ext cx="2569032" cy="276999"/>
                    </a:xfrm>
                    <a:prstGeom prst="rect">
                      <a:avLst/>
                    </a:prstGeom>
                    <a:blipFill>
                      <a:blip r:embed="rId11"/>
                      <a:stretch>
                        <a:fillRect t="-33333" b="-51111"/>
                      </a:stretch>
                    </a:blipFill>
                  </p:spPr>
                  <p:txBody>
                    <a:bodyPr/>
                    <a:lstStyle/>
                    <a:p>
                      <a:r>
                        <a:rPr lang="zh-CN" altLang="en-US">
                          <a:noFill/>
                        </a:rPr>
                        <a:t> </a:t>
                      </a:r>
                    </a:p>
                  </p:txBody>
                </p:sp>
              </mc:Fallback>
            </mc:AlternateContent>
            <p:sp>
              <p:nvSpPr>
                <p:cNvPr id="35" name="箭头: 右 34">
                  <a:extLst>
                    <a:ext uri="{FF2B5EF4-FFF2-40B4-BE49-F238E27FC236}">
                      <a16:creationId xmlns:a16="http://schemas.microsoft.com/office/drawing/2014/main" id="{A9CF63F0-114D-4C43-96C5-7149A95864DF}"/>
                    </a:ext>
                  </a:extLst>
                </p:cNvPr>
                <p:cNvSpPr/>
                <p:nvPr/>
              </p:nvSpPr>
              <p:spPr>
                <a:xfrm>
                  <a:off x="2993181" y="5450685"/>
                  <a:ext cx="578900" cy="8787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57C65FF7-6C2F-4EC3-9AA4-5CB6473BC9AE}"/>
                        </a:ext>
                      </a:extLst>
                    </p:cNvPr>
                    <p:cNvSpPr txBox="1"/>
                    <p:nvPr/>
                  </p:nvSpPr>
                  <p:spPr>
                    <a:xfrm>
                      <a:off x="3576081" y="5251203"/>
                      <a:ext cx="953871" cy="530915"/>
                    </a:xfrm>
                    <a:prstGeom prst="rect">
                      <a:avLst/>
                    </a:prstGeom>
                    <a:solidFill>
                      <a:schemeClr val="accent2">
                        <a:lumMod val="20000"/>
                        <a:lumOff val="80000"/>
                      </a:schemeClr>
                    </a:solidFill>
                  </p:spPr>
                  <p:txBody>
                    <a:bodyPr wrap="square" tIns="0" bIns="0" rtlCol="0">
                      <a:spAutoFit/>
                    </a:bodyPr>
                    <a:lstStyle/>
                    <a:p>
                      <a:pPr>
                        <a:spcAft>
                          <a:spcPts val="300"/>
                        </a:spcAft>
                      </a:pPr>
                      <a:r>
                        <a:rPr lang="en-US" altLang="zh-CN" sz="1600" b="1">
                          <a:solidFill>
                            <a:srgbClr val="002060"/>
                          </a:solidFill>
                          <a:latin typeface="Cambria Math" panose="02040503050406030204" pitchFamily="18" charset="0"/>
                          <a:ea typeface="Cambria Math" panose="02040503050406030204" pitchFamily="18" charset="0"/>
                        </a:rPr>
                        <a:t>0</a:t>
                      </a:r>
                      <a:r>
                        <a:rPr lang="en-US" altLang="zh-CN" sz="1600" b="1">
                          <a:solidFill>
                            <a:srgbClr val="C00000"/>
                          </a:solidFill>
                          <a:latin typeface="Cambria Math" panose="02040503050406030204" pitchFamily="18" charset="0"/>
                          <a:ea typeface="Cambria Math" panose="02040503050406030204" pitchFamily="18" charset="0"/>
                        </a:rPr>
                        <a:t>0</a:t>
                      </a:r>
                      <a:r>
                        <a:rPr lang="en-US" altLang="zh-CN" sz="1600" b="1">
                          <a:solidFill>
                            <a:srgbClr val="002060"/>
                          </a:solidFill>
                          <a:latin typeface="Cambria Math" panose="02040503050406030204" pitchFamily="18" charset="0"/>
                          <a:ea typeface="Cambria Math" panose="02040503050406030204" pitchFamily="18" charset="0"/>
                        </a:rPr>
                        <a:t>1</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𝟏</m:t>
                              </m:r>
                            </m:sub>
                          </m:sSub>
                        </m:oMath>
                      </a14:m>
                      <a:endParaRPr lang="en-US" altLang="zh-CN" sz="1600" b="1">
                        <a:solidFill>
                          <a:srgbClr val="C00000"/>
                        </a:solidFill>
                      </a:endParaRPr>
                    </a:p>
                    <a:p>
                      <a:pPr>
                        <a:spcAft>
                          <a:spcPts val="300"/>
                        </a:spcAft>
                      </a:pPr>
                      <a:r>
                        <a:rPr lang="en-US" altLang="zh-CN" sz="1600" b="1">
                          <a:solidFill>
                            <a:srgbClr val="002060"/>
                          </a:solidFill>
                          <a:latin typeface="Cambria Math" panose="02040503050406030204" pitchFamily="18" charset="0"/>
                          <a:ea typeface="Cambria Math" panose="02040503050406030204" pitchFamily="18" charset="0"/>
                        </a:rPr>
                        <a:t>0</a:t>
                      </a:r>
                      <a:r>
                        <a:rPr lang="en-US" altLang="zh-CN" sz="1600" b="1">
                          <a:solidFill>
                            <a:srgbClr val="C00000"/>
                          </a:solidFill>
                          <a:latin typeface="Cambria Math" panose="02040503050406030204" pitchFamily="18" charset="0"/>
                          <a:ea typeface="Cambria Math" panose="02040503050406030204" pitchFamily="18" charset="0"/>
                        </a:rPr>
                        <a:t>1</a:t>
                      </a:r>
                      <a:r>
                        <a:rPr lang="en-US" altLang="zh-CN" sz="1600" b="1">
                          <a:solidFill>
                            <a:srgbClr val="002060"/>
                          </a:solidFill>
                          <a:latin typeface="Cambria Math" panose="02040503050406030204" pitchFamily="18" charset="0"/>
                          <a:ea typeface="Cambria Math" panose="02040503050406030204" pitchFamily="18" charset="0"/>
                        </a:rPr>
                        <a:t>1</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𝟑</m:t>
                              </m:r>
                            </m:sub>
                          </m:sSub>
                        </m:oMath>
                      </a14:m>
                      <a:endParaRPr lang="zh-CN" altLang="en-US" sz="1600" b="1">
                        <a:solidFill>
                          <a:srgbClr val="C00000"/>
                        </a:solidFill>
                      </a:endParaRPr>
                    </a:p>
                  </p:txBody>
                </p:sp>
              </mc:Choice>
              <mc:Fallback xmlns="">
                <p:sp>
                  <p:nvSpPr>
                    <p:cNvPr id="36" name="文本框 35">
                      <a:extLst>
                        <a:ext uri="{FF2B5EF4-FFF2-40B4-BE49-F238E27FC236}">
                          <a16:creationId xmlns:a16="http://schemas.microsoft.com/office/drawing/2014/main" id="{57C65FF7-6C2F-4EC3-9AA4-5CB6473BC9AE}"/>
                        </a:ext>
                      </a:extLst>
                    </p:cNvPr>
                    <p:cNvSpPr txBox="1">
                      <a:spLocks noRot="1" noChangeAspect="1" noMove="1" noResize="1" noEditPoints="1" noAdjustHandles="1" noChangeArrowheads="1" noChangeShapeType="1" noTextEdit="1"/>
                    </p:cNvSpPr>
                    <p:nvPr/>
                  </p:nvSpPr>
                  <p:spPr>
                    <a:xfrm>
                      <a:off x="3576081" y="5251203"/>
                      <a:ext cx="953871" cy="530915"/>
                    </a:xfrm>
                    <a:prstGeom prst="rect">
                      <a:avLst/>
                    </a:prstGeom>
                    <a:blipFill>
                      <a:blip r:embed="rId12"/>
                      <a:stretch>
                        <a:fillRect l="-3846" t="-13793" b="-21839"/>
                      </a:stretch>
                    </a:blipFill>
                  </p:spPr>
                  <p:txBody>
                    <a:bodyPr/>
                    <a:lstStyle/>
                    <a:p>
                      <a:r>
                        <a:rPr lang="zh-CN" altLang="en-US">
                          <a:noFill/>
                        </a:rPr>
                        <a:t> </a:t>
                      </a:r>
                    </a:p>
                  </p:txBody>
                </p:sp>
              </mc:Fallback>
            </mc:AlternateContent>
          </p:grpSp>
          <p:sp>
            <p:nvSpPr>
              <p:cNvPr id="33" name="文本框 32">
                <a:extLst>
                  <a:ext uri="{FF2B5EF4-FFF2-40B4-BE49-F238E27FC236}">
                    <a16:creationId xmlns:a16="http://schemas.microsoft.com/office/drawing/2014/main" id="{56742BBA-6EB2-43E3-9EF1-2D7EFE96EEAE}"/>
                  </a:ext>
                </a:extLst>
              </p:cNvPr>
              <p:cNvSpPr txBox="1"/>
              <p:nvPr/>
            </p:nvSpPr>
            <p:spPr>
              <a:xfrm>
                <a:off x="2993181" y="5576998"/>
                <a:ext cx="578900" cy="215444"/>
              </a:xfrm>
              <a:prstGeom prst="rect">
                <a:avLst/>
              </a:prstGeom>
              <a:noFill/>
            </p:spPr>
            <p:txBody>
              <a:bodyPr wrap="square" tIns="0" bIns="0" rtlCol="0">
                <a:spAutoFit/>
              </a:bodyPr>
              <a:lstStyle/>
              <a:p>
                <a:r>
                  <a:rPr lang="zh-CN" altLang="en-US" sz="1400" b="1">
                    <a:solidFill>
                      <a:schemeClr val="accent2">
                        <a:lumMod val="50000"/>
                      </a:schemeClr>
                    </a:solidFill>
                    <a:latin typeface="楷体" panose="02010609060101010101" pitchFamily="49" charset="-122"/>
                    <a:ea typeface="楷体" panose="02010609060101010101" pitchFamily="49" charset="-122"/>
                  </a:rPr>
                  <a:t>扩展</a:t>
                </a:r>
              </a:p>
            </p:txBody>
          </p:sp>
        </p:grpSp>
        <p:grpSp>
          <p:nvGrpSpPr>
            <p:cNvPr id="37" name="组合 36">
              <a:extLst>
                <a:ext uri="{FF2B5EF4-FFF2-40B4-BE49-F238E27FC236}">
                  <a16:creationId xmlns:a16="http://schemas.microsoft.com/office/drawing/2014/main" id="{8F38134D-B285-43D3-A961-084F2B21C982}"/>
                </a:ext>
              </a:extLst>
            </p:cNvPr>
            <p:cNvGrpSpPr/>
            <p:nvPr/>
          </p:nvGrpSpPr>
          <p:grpSpPr>
            <a:xfrm>
              <a:off x="4735205" y="5520105"/>
              <a:ext cx="4105803" cy="530915"/>
              <a:chOff x="424149" y="5305608"/>
              <a:chExt cx="4105803" cy="530915"/>
            </a:xfrm>
          </p:grpSpPr>
          <p:grpSp>
            <p:nvGrpSpPr>
              <p:cNvPr id="38" name="组合 37">
                <a:extLst>
                  <a:ext uri="{FF2B5EF4-FFF2-40B4-BE49-F238E27FC236}">
                    <a16:creationId xmlns:a16="http://schemas.microsoft.com/office/drawing/2014/main" id="{E6FDFBFB-F5AC-4AEC-8D81-B27D40C942C1}"/>
                  </a:ext>
                </a:extLst>
              </p:cNvPr>
              <p:cNvGrpSpPr/>
              <p:nvPr/>
            </p:nvGrpSpPr>
            <p:grpSpPr>
              <a:xfrm>
                <a:off x="424149" y="5305608"/>
                <a:ext cx="4105803" cy="530915"/>
                <a:chOff x="424149" y="5251203"/>
                <a:chExt cx="4105803" cy="530915"/>
              </a:xfrm>
            </p:grpSpPr>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E250064-3E04-45A7-BC22-6E1B1F9753B1}"/>
                        </a:ext>
                      </a:extLst>
                    </p:cNvPr>
                    <p:cNvSpPr txBox="1"/>
                    <p:nvPr/>
                  </p:nvSpPr>
                  <p:spPr>
                    <a:xfrm>
                      <a:off x="424149" y="5344450"/>
                      <a:ext cx="2569032" cy="276999"/>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𝒓</m:t>
                              </m:r>
                            </m:e>
                          </m:d>
                        </m:oMath>
                      </a14:m>
                      <a:r>
                        <a:rPr lang="zh-CN" altLang="en-US" b="1">
                          <a:solidFill>
                            <a:srgbClr val="C00000"/>
                          </a:solidFill>
                        </a:rPr>
                        <a:t>编码为</a:t>
                      </a:r>
                      <a:r>
                        <a:rPr lang="en-US" altLang="zh-CN" b="1">
                          <a:solidFill>
                            <a:srgbClr val="C00000"/>
                          </a:solidFill>
                          <a:latin typeface="Cambria Math" panose="02040503050406030204" pitchFamily="18" charset="0"/>
                          <a:ea typeface="Cambria Math" panose="02040503050406030204" pitchFamily="18" charset="0"/>
                        </a:rPr>
                        <a:t>(- 0 1)</a:t>
                      </a:r>
                      <a:endParaRPr lang="zh-CN" altLang="en-US" b="1">
                        <a:solidFill>
                          <a:srgbClr val="C00000"/>
                        </a:solidFill>
                        <a:latin typeface="Cambria Math" panose="02040503050406030204" pitchFamily="18" charset="0"/>
                      </a:endParaRPr>
                    </a:p>
                  </p:txBody>
                </p:sp>
              </mc:Choice>
              <mc:Fallback xmlns="">
                <p:sp>
                  <p:nvSpPr>
                    <p:cNvPr id="40" name="文本框 39">
                      <a:extLst>
                        <a:ext uri="{FF2B5EF4-FFF2-40B4-BE49-F238E27FC236}">
                          <a16:creationId xmlns:a16="http://schemas.microsoft.com/office/drawing/2014/main" id="{EE250064-3E04-45A7-BC22-6E1B1F9753B1}"/>
                        </a:ext>
                      </a:extLst>
                    </p:cNvPr>
                    <p:cNvSpPr txBox="1">
                      <a:spLocks noRot="1" noChangeAspect="1" noMove="1" noResize="1" noEditPoints="1" noAdjustHandles="1" noChangeArrowheads="1" noChangeShapeType="1" noTextEdit="1"/>
                    </p:cNvSpPr>
                    <p:nvPr/>
                  </p:nvSpPr>
                  <p:spPr>
                    <a:xfrm>
                      <a:off x="424149" y="5344450"/>
                      <a:ext cx="2569032" cy="276999"/>
                    </a:xfrm>
                    <a:prstGeom prst="rect">
                      <a:avLst/>
                    </a:prstGeom>
                    <a:blipFill>
                      <a:blip r:embed="rId13"/>
                      <a:stretch>
                        <a:fillRect t="-32609" b="-50000"/>
                      </a:stretch>
                    </a:blipFill>
                  </p:spPr>
                  <p:txBody>
                    <a:bodyPr/>
                    <a:lstStyle/>
                    <a:p>
                      <a:r>
                        <a:rPr lang="zh-CN" altLang="en-US">
                          <a:noFill/>
                        </a:rPr>
                        <a:t> </a:t>
                      </a:r>
                    </a:p>
                  </p:txBody>
                </p:sp>
              </mc:Fallback>
            </mc:AlternateContent>
            <p:sp>
              <p:nvSpPr>
                <p:cNvPr id="41" name="箭头: 右 40">
                  <a:extLst>
                    <a:ext uri="{FF2B5EF4-FFF2-40B4-BE49-F238E27FC236}">
                      <a16:creationId xmlns:a16="http://schemas.microsoft.com/office/drawing/2014/main" id="{CE9D0669-02F2-4B2E-923F-D0E76B3192D9}"/>
                    </a:ext>
                  </a:extLst>
                </p:cNvPr>
                <p:cNvSpPr/>
                <p:nvPr/>
              </p:nvSpPr>
              <p:spPr>
                <a:xfrm>
                  <a:off x="2993181" y="5450685"/>
                  <a:ext cx="578900" cy="8787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E4F6F49E-F717-485A-8852-4CAE2AB9AA26}"/>
                        </a:ext>
                      </a:extLst>
                    </p:cNvPr>
                    <p:cNvSpPr txBox="1"/>
                    <p:nvPr/>
                  </p:nvSpPr>
                  <p:spPr>
                    <a:xfrm>
                      <a:off x="3576081" y="5251203"/>
                      <a:ext cx="953871" cy="530915"/>
                    </a:xfrm>
                    <a:prstGeom prst="rect">
                      <a:avLst/>
                    </a:prstGeom>
                    <a:solidFill>
                      <a:schemeClr val="accent2">
                        <a:lumMod val="20000"/>
                        <a:lumOff val="80000"/>
                      </a:schemeClr>
                    </a:solidFill>
                  </p:spPr>
                  <p:txBody>
                    <a:bodyPr wrap="square" tIns="0" bIns="0" rtlCol="0">
                      <a:spAutoFit/>
                    </a:bodyPr>
                    <a:lstStyle/>
                    <a:p>
                      <a:pPr>
                        <a:spcAft>
                          <a:spcPts val="300"/>
                        </a:spcAft>
                      </a:pPr>
                      <a:r>
                        <a:rPr lang="en-US" altLang="zh-CN" sz="1600" b="1">
                          <a:solidFill>
                            <a:srgbClr val="C00000"/>
                          </a:solidFill>
                          <a:latin typeface="Cambria Math" panose="02040503050406030204" pitchFamily="18" charset="0"/>
                          <a:ea typeface="Cambria Math" panose="02040503050406030204" pitchFamily="18" charset="0"/>
                        </a:rPr>
                        <a:t>0</a:t>
                      </a:r>
                      <a:r>
                        <a:rPr lang="en-US" altLang="zh-CN" sz="1600" b="1">
                          <a:solidFill>
                            <a:srgbClr val="002060"/>
                          </a:solidFill>
                          <a:latin typeface="Cambria Math" panose="02040503050406030204" pitchFamily="18" charset="0"/>
                          <a:ea typeface="Cambria Math" panose="02040503050406030204" pitchFamily="18" charset="0"/>
                        </a:rPr>
                        <a:t>01</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𝟏</m:t>
                              </m:r>
                            </m:sub>
                          </m:sSub>
                        </m:oMath>
                      </a14:m>
                      <a:endParaRPr lang="en-US" altLang="zh-CN" sz="1600" b="1">
                        <a:solidFill>
                          <a:srgbClr val="C00000"/>
                        </a:solidFill>
                      </a:endParaRPr>
                    </a:p>
                    <a:p>
                      <a:pPr>
                        <a:spcAft>
                          <a:spcPts val="300"/>
                        </a:spcAft>
                      </a:pPr>
                      <a:r>
                        <a:rPr lang="en-US" altLang="zh-CN" sz="1600" b="1">
                          <a:solidFill>
                            <a:srgbClr val="C00000"/>
                          </a:solidFill>
                          <a:latin typeface="Cambria Math" panose="02040503050406030204" pitchFamily="18" charset="0"/>
                          <a:ea typeface="Cambria Math" panose="02040503050406030204" pitchFamily="18" charset="0"/>
                        </a:rPr>
                        <a:t>1</a:t>
                      </a:r>
                      <a:r>
                        <a:rPr lang="en-US" altLang="zh-CN" sz="1600" b="1">
                          <a:solidFill>
                            <a:srgbClr val="002060"/>
                          </a:solidFill>
                          <a:latin typeface="Cambria Math" panose="02040503050406030204" pitchFamily="18" charset="0"/>
                          <a:ea typeface="Cambria Math" panose="02040503050406030204" pitchFamily="18" charset="0"/>
                        </a:rPr>
                        <a:t>01</a:t>
                      </a:r>
                      <a:r>
                        <a:rPr lang="en-US" altLang="zh-CN" sz="16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𝑴</m:t>
                              </m:r>
                            </m:e>
                            <m:sub>
                              <m:r>
                                <a:rPr lang="en-US" altLang="zh-CN" sz="1600" b="1" i="1" smtClean="0">
                                  <a:solidFill>
                                    <a:srgbClr val="C00000"/>
                                  </a:solidFill>
                                  <a:latin typeface="Cambria Math" panose="02040503050406030204" pitchFamily="18" charset="0"/>
                                </a:rPr>
                                <m:t>𝟓</m:t>
                              </m:r>
                            </m:sub>
                          </m:sSub>
                        </m:oMath>
                      </a14:m>
                      <a:endParaRPr lang="zh-CN" altLang="en-US" sz="1600" b="1">
                        <a:solidFill>
                          <a:srgbClr val="C00000"/>
                        </a:solidFill>
                      </a:endParaRPr>
                    </a:p>
                  </p:txBody>
                </p:sp>
              </mc:Choice>
              <mc:Fallback xmlns="">
                <p:sp>
                  <p:nvSpPr>
                    <p:cNvPr id="42" name="文本框 41">
                      <a:extLst>
                        <a:ext uri="{FF2B5EF4-FFF2-40B4-BE49-F238E27FC236}">
                          <a16:creationId xmlns:a16="http://schemas.microsoft.com/office/drawing/2014/main" id="{E4F6F49E-F717-485A-8852-4CAE2AB9AA26}"/>
                        </a:ext>
                      </a:extLst>
                    </p:cNvPr>
                    <p:cNvSpPr txBox="1">
                      <a:spLocks noRot="1" noChangeAspect="1" noMove="1" noResize="1" noEditPoints="1" noAdjustHandles="1" noChangeArrowheads="1" noChangeShapeType="1" noTextEdit="1"/>
                    </p:cNvSpPr>
                    <p:nvPr/>
                  </p:nvSpPr>
                  <p:spPr>
                    <a:xfrm>
                      <a:off x="3576081" y="5251203"/>
                      <a:ext cx="953871" cy="530915"/>
                    </a:xfrm>
                    <a:prstGeom prst="rect">
                      <a:avLst/>
                    </a:prstGeom>
                    <a:blipFill>
                      <a:blip r:embed="rId14"/>
                      <a:stretch>
                        <a:fillRect l="-3846" t="-14943" b="-20690"/>
                      </a:stretch>
                    </a:blipFill>
                  </p:spPr>
                  <p:txBody>
                    <a:bodyPr/>
                    <a:lstStyle/>
                    <a:p>
                      <a:r>
                        <a:rPr lang="zh-CN" altLang="en-US">
                          <a:noFill/>
                        </a:rPr>
                        <a:t> </a:t>
                      </a:r>
                    </a:p>
                  </p:txBody>
                </p:sp>
              </mc:Fallback>
            </mc:AlternateContent>
          </p:grpSp>
          <p:sp>
            <p:nvSpPr>
              <p:cNvPr id="39" name="文本框 38">
                <a:extLst>
                  <a:ext uri="{FF2B5EF4-FFF2-40B4-BE49-F238E27FC236}">
                    <a16:creationId xmlns:a16="http://schemas.microsoft.com/office/drawing/2014/main" id="{D6E5748A-84BC-4603-B872-41F0D163860B}"/>
                  </a:ext>
                </a:extLst>
              </p:cNvPr>
              <p:cNvSpPr txBox="1"/>
              <p:nvPr/>
            </p:nvSpPr>
            <p:spPr>
              <a:xfrm>
                <a:off x="2993181" y="5576998"/>
                <a:ext cx="578900" cy="215444"/>
              </a:xfrm>
              <a:prstGeom prst="rect">
                <a:avLst/>
              </a:prstGeom>
              <a:noFill/>
            </p:spPr>
            <p:txBody>
              <a:bodyPr wrap="square" tIns="0" bIns="0" rtlCol="0">
                <a:spAutoFit/>
              </a:bodyPr>
              <a:lstStyle/>
              <a:p>
                <a:r>
                  <a:rPr lang="zh-CN" altLang="en-US" sz="1400" b="1">
                    <a:solidFill>
                      <a:schemeClr val="accent2">
                        <a:lumMod val="50000"/>
                      </a:schemeClr>
                    </a:solidFill>
                    <a:latin typeface="楷体" panose="02010609060101010101" pitchFamily="49" charset="-122"/>
                    <a:ea typeface="楷体" panose="02010609060101010101" pitchFamily="49" charset="-122"/>
                  </a:rPr>
                  <a:t>扩展</a:t>
                </a:r>
              </a:p>
            </p:txBody>
          </p:sp>
        </p:grpSp>
      </p:gr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2B225665-E9AF-490F-9D78-8094114CCDE3}"/>
                  </a:ext>
                </a:extLst>
              </p:cNvPr>
              <p:cNvSpPr txBox="1"/>
              <p:nvPr/>
            </p:nvSpPr>
            <p:spPr>
              <a:xfrm>
                <a:off x="9035640" y="4745504"/>
                <a:ext cx="2947133" cy="623248"/>
              </a:xfrm>
              <a:prstGeom prst="rect">
                <a:avLst/>
              </a:prstGeom>
              <a:solidFill>
                <a:schemeClr val="accent5">
                  <a:lumMod val="20000"/>
                  <a:lumOff val="80000"/>
                  <a:alpha val="50000"/>
                </a:schemeClr>
              </a:solidFill>
            </p:spPr>
            <p:txBody>
              <a:bodyPr wrap="square" rtlCol="0">
                <a:spAutoFit/>
              </a:bodyPr>
              <a:lstStyle/>
              <a:p>
                <a:pPr algn="ctr">
                  <a:spcBef>
                    <a:spcPts val="1200"/>
                  </a:spcBef>
                  <a:spcAft>
                    <a:spcPts val="300"/>
                  </a:spcAft>
                </a:pPr>
                <a:r>
                  <a:rPr lang="zh-CN" altLang="en-US" sz="1600" b="1">
                    <a:solidFill>
                      <a:srgbClr val="002060"/>
                    </a:solidFill>
                  </a:rPr>
                  <a:t>公式</a:t>
                </a:r>
                <a14:m>
                  <m:oMath xmlns:m="http://schemas.openxmlformats.org/officeDocument/2006/math">
                    <m:r>
                      <a:rPr lang="en-US" altLang="zh-CN" sz="1600" b="1" i="1" smtClean="0">
                        <a:solidFill>
                          <a:srgbClr val="002060"/>
                        </a:solidFill>
                        <a:latin typeface="Cambria Math" panose="02040503050406030204" pitchFamily="18" charset="0"/>
                      </a:rPr>
                      <m:t>𝑨</m:t>
                    </m:r>
                  </m:oMath>
                </a14:m>
                <a:r>
                  <a:rPr lang="zh-CN" altLang="en-US" sz="1600" b="1">
                    <a:solidFill>
                      <a:srgbClr val="002060"/>
                    </a:solidFill>
                  </a:rPr>
                  <a:t>的主合取范式</a:t>
                </a:r>
                <a:endParaRPr lang="en-US" altLang="zh-CN" sz="1600" b="1">
                  <a:solidFill>
                    <a:srgbClr val="002060"/>
                  </a:solidFill>
                </a:endParaRPr>
              </a:p>
              <a:p>
                <a:pPr algn="ctr"/>
                <a14:m>
                  <m:oMathPara xmlns:m="http://schemas.openxmlformats.org/officeDocument/2006/math">
                    <m:oMathParaPr>
                      <m:jc m:val="centerGroup"/>
                    </m:oMathParaPr>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𝟎</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𝟏</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𝟐</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𝟑</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𝟓</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𝑴</m:t>
                          </m:r>
                        </m:e>
                        <m:sub>
                          <m:r>
                            <a:rPr lang="en-US" altLang="zh-CN" sz="1600" b="1" i="1" smtClean="0">
                              <a:solidFill>
                                <a:schemeClr val="accent6">
                                  <a:lumMod val="50000"/>
                                </a:schemeClr>
                              </a:solidFill>
                              <a:latin typeface="Cambria Math" panose="02040503050406030204" pitchFamily="18" charset="0"/>
                            </a:rPr>
                            <m:t>𝟔</m:t>
                          </m:r>
                        </m:sub>
                      </m:sSub>
                    </m:oMath>
                  </m:oMathPara>
                </a14:m>
                <a:endParaRPr lang="zh-CN" altLang="en-US" sz="1600" b="1"/>
              </a:p>
            </p:txBody>
          </p:sp>
        </mc:Choice>
        <mc:Fallback xmlns="">
          <p:sp>
            <p:nvSpPr>
              <p:cNvPr id="43" name="文本框 42">
                <a:extLst>
                  <a:ext uri="{FF2B5EF4-FFF2-40B4-BE49-F238E27FC236}">
                    <a16:creationId xmlns:a16="http://schemas.microsoft.com/office/drawing/2014/main" id="{2B225665-E9AF-490F-9D78-8094114CCDE3}"/>
                  </a:ext>
                </a:extLst>
              </p:cNvPr>
              <p:cNvSpPr txBox="1">
                <a:spLocks noRot="1" noChangeAspect="1" noMove="1" noResize="1" noEditPoints="1" noAdjustHandles="1" noChangeArrowheads="1" noChangeShapeType="1" noTextEdit="1"/>
              </p:cNvSpPr>
              <p:nvPr/>
            </p:nvSpPr>
            <p:spPr>
              <a:xfrm>
                <a:off x="9035640" y="4745504"/>
                <a:ext cx="2947133" cy="623248"/>
              </a:xfrm>
              <a:prstGeom prst="rect">
                <a:avLst/>
              </a:prstGeom>
              <a:blipFill>
                <a:blip r:embed="rId15"/>
                <a:stretch>
                  <a:fillRect t="-2913"/>
                </a:stretch>
              </a:blipFill>
            </p:spPr>
            <p:txBody>
              <a:bodyPr/>
              <a:lstStyle/>
              <a:p>
                <a:r>
                  <a:rPr lang="zh-CN" altLang="en-US">
                    <a:noFill/>
                  </a:rPr>
                  <a:t> </a:t>
                </a:r>
              </a:p>
            </p:txBody>
          </p:sp>
        </mc:Fallback>
      </mc:AlternateContent>
      <p:sp>
        <p:nvSpPr>
          <p:cNvPr id="44" name="箭头: 下 43">
            <a:extLst>
              <a:ext uri="{FF2B5EF4-FFF2-40B4-BE49-F238E27FC236}">
                <a16:creationId xmlns:a16="http://schemas.microsoft.com/office/drawing/2014/main" id="{76A21232-92C8-4BEB-ACF3-EC955B04A0EC}"/>
              </a:ext>
            </a:extLst>
          </p:cNvPr>
          <p:cNvSpPr/>
          <p:nvPr/>
        </p:nvSpPr>
        <p:spPr>
          <a:xfrm>
            <a:off x="10509207" y="5368752"/>
            <a:ext cx="82045" cy="4761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5D94A42-E414-4D67-A308-6296F1C6DEA4}"/>
                  </a:ext>
                </a:extLst>
              </p:cNvPr>
              <p:cNvSpPr txBox="1"/>
              <p:nvPr/>
            </p:nvSpPr>
            <p:spPr>
              <a:xfrm>
                <a:off x="9035640" y="5837703"/>
                <a:ext cx="2947133" cy="584775"/>
              </a:xfrm>
              <a:prstGeom prst="rect">
                <a:avLst/>
              </a:prstGeom>
              <a:solidFill>
                <a:schemeClr val="accent5">
                  <a:lumMod val="20000"/>
                  <a:lumOff val="80000"/>
                  <a:alpha val="50000"/>
                </a:schemeClr>
              </a:solidFill>
            </p:spPr>
            <p:txBody>
              <a:bodyPr wrap="square" rtlCol="0">
                <a:spAutoFit/>
              </a:bodyPr>
              <a:lstStyle/>
              <a:p>
                <a:pPr algn="ctr"/>
                <a:r>
                  <a:rPr lang="zh-CN" altLang="en-US" sz="1600" b="1">
                    <a:solidFill>
                      <a:srgbClr val="002060"/>
                    </a:solidFill>
                  </a:rPr>
                  <a:t>公式</a:t>
                </a:r>
                <a14:m>
                  <m:oMath xmlns:m="http://schemas.openxmlformats.org/officeDocument/2006/math">
                    <m:r>
                      <a:rPr lang="en-US" altLang="zh-CN" sz="1600" b="1" i="1" smtClean="0">
                        <a:solidFill>
                          <a:srgbClr val="002060"/>
                        </a:solidFill>
                        <a:latin typeface="Cambria Math" panose="02040503050406030204" pitchFamily="18" charset="0"/>
                      </a:rPr>
                      <m:t>𝑨</m:t>
                    </m:r>
                  </m:oMath>
                </a14:m>
                <a:r>
                  <a:rPr lang="zh-CN" altLang="en-US" sz="1600" b="1">
                    <a:solidFill>
                      <a:srgbClr val="002060"/>
                    </a:solidFill>
                  </a:rPr>
                  <a:t>的主析取范式</a:t>
                </a:r>
                <a:endParaRPr lang="en-US" altLang="zh-CN" sz="1600" b="1">
                  <a:solidFill>
                    <a:srgbClr val="002060"/>
                  </a:solidFill>
                </a:endParaRPr>
              </a:p>
              <a:p>
                <a:pPr algn="ctr"/>
                <a14:m>
                  <m:oMathPara xmlns:m="http://schemas.openxmlformats.org/officeDocument/2006/math">
                    <m:oMathParaPr>
                      <m:jc m:val="centerGroup"/>
                    </m:oMathParaPr>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𝒎</m:t>
                          </m:r>
                        </m:e>
                        <m:sub>
                          <m:r>
                            <a:rPr lang="en-US" altLang="zh-CN" sz="1600" b="1" i="1" smtClean="0">
                              <a:solidFill>
                                <a:schemeClr val="accent6">
                                  <a:lumMod val="50000"/>
                                </a:schemeClr>
                              </a:solidFill>
                              <a:latin typeface="Cambria Math" panose="02040503050406030204" pitchFamily="18" charset="0"/>
                            </a:rPr>
                            <m:t>𝟒</m:t>
                          </m:r>
                        </m:sub>
                      </m:sSub>
                      <m:r>
                        <a:rPr lang="en-US" altLang="zh-CN" sz="1600" b="1" i="1" smtClean="0">
                          <a:solidFill>
                            <a:schemeClr val="accent6">
                              <a:lumMod val="50000"/>
                            </a:schemeClr>
                          </a:solidFill>
                          <a:latin typeface="Cambria Math" panose="02040503050406030204" pitchFamily="18" charset="0"/>
                        </a:rPr>
                        <m:t>∨</m:t>
                      </m:r>
                      <m:sSub>
                        <m:sSubPr>
                          <m:ctrlPr>
                            <a:rPr lang="en-US" altLang="zh-CN" sz="1600" b="1" i="1" smtClean="0">
                              <a:solidFill>
                                <a:schemeClr val="accent6">
                                  <a:lumMod val="50000"/>
                                </a:schemeClr>
                              </a:solidFill>
                              <a:latin typeface="Cambria Math" panose="02040503050406030204" pitchFamily="18" charset="0"/>
                            </a:rPr>
                          </m:ctrlPr>
                        </m:sSubPr>
                        <m:e>
                          <m:r>
                            <a:rPr lang="en-US" altLang="zh-CN" sz="1600" b="1" i="1" smtClean="0">
                              <a:solidFill>
                                <a:schemeClr val="accent6">
                                  <a:lumMod val="50000"/>
                                </a:schemeClr>
                              </a:solidFill>
                              <a:latin typeface="Cambria Math" panose="02040503050406030204" pitchFamily="18" charset="0"/>
                            </a:rPr>
                            <m:t>𝒎</m:t>
                          </m:r>
                        </m:e>
                        <m:sub>
                          <m:r>
                            <a:rPr lang="en-US" altLang="zh-CN" sz="1600" b="1" i="1" smtClean="0">
                              <a:solidFill>
                                <a:schemeClr val="accent6">
                                  <a:lumMod val="50000"/>
                                </a:schemeClr>
                              </a:solidFill>
                              <a:latin typeface="Cambria Math" panose="02040503050406030204" pitchFamily="18" charset="0"/>
                            </a:rPr>
                            <m:t>𝟕</m:t>
                          </m:r>
                        </m:sub>
                      </m:sSub>
                    </m:oMath>
                  </m:oMathPara>
                </a14:m>
                <a:endParaRPr lang="en-US" altLang="zh-CN" sz="1600" b="1"/>
              </a:p>
            </p:txBody>
          </p:sp>
        </mc:Choice>
        <mc:Fallback xmlns="">
          <p:sp>
            <p:nvSpPr>
              <p:cNvPr id="45" name="文本框 44">
                <a:extLst>
                  <a:ext uri="{FF2B5EF4-FFF2-40B4-BE49-F238E27FC236}">
                    <a16:creationId xmlns:a16="http://schemas.microsoft.com/office/drawing/2014/main" id="{C5D94A42-E414-4D67-A308-6296F1C6DEA4}"/>
                  </a:ext>
                </a:extLst>
              </p:cNvPr>
              <p:cNvSpPr txBox="1">
                <a:spLocks noRot="1" noChangeAspect="1" noMove="1" noResize="1" noEditPoints="1" noAdjustHandles="1" noChangeArrowheads="1" noChangeShapeType="1" noTextEdit="1"/>
              </p:cNvSpPr>
              <p:nvPr/>
            </p:nvSpPr>
            <p:spPr>
              <a:xfrm>
                <a:off x="9035640" y="5837703"/>
                <a:ext cx="2947133" cy="584775"/>
              </a:xfrm>
              <a:prstGeom prst="rect">
                <a:avLst/>
              </a:prstGeom>
              <a:blipFill>
                <a:blip r:embed="rId16"/>
                <a:stretch>
                  <a:fillRect t="-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4F009056-81F7-4F81-A119-C4C836DD435A}"/>
                  </a:ext>
                </a:extLst>
              </p:cNvPr>
              <p:cNvSpPr txBox="1"/>
              <p:nvPr/>
            </p:nvSpPr>
            <p:spPr>
              <a:xfrm>
                <a:off x="10426912" y="2264009"/>
                <a:ext cx="1555861" cy="584775"/>
              </a:xfrm>
              <a:prstGeom prst="rect">
                <a:avLst/>
              </a:prstGeom>
              <a:solidFill>
                <a:schemeClr val="accent5">
                  <a:lumMod val="20000"/>
                  <a:lumOff val="80000"/>
                </a:schemeClr>
              </a:solidFill>
              <a:ln w="12700">
                <a:solidFill>
                  <a:schemeClr val="accent1">
                    <a:shade val="50000"/>
                  </a:schemeClr>
                </a:solidFill>
                <a:prstDash val="dash"/>
              </a:ln>
            </p:spPr>
            <p:txBody>
              <a:bodyPr wrap="square" rtlCol="0">
                <a:spAutoFit/>
              </a:bodyPr>
              <a:lstStyle/>
              <a:p>
                <a:r>
                  <a:rPr lang="zh-CN" altLang="en-US" sz="1600">
                    <a:solidFill>
                      <a:schemeClr val="accent2">
                        <a:lumMod val="50000"/>
                      </a:schemeClr>
                    </a:solidFill>
                    <a:latin typeface="楷体" panose="02010609060101010101" pitchFamily="49" charset="-122"/>
                    <a:ea typeface="楷体" panose="02010609060101010101" pitchFamily="49" charset="-122"/>
                  </a:rPr>
                  <a:t>固定变量为</a:t>
                </a:r>
                <a14:m>
                  <m:oMath xmlns:m="http://schemas.openxmlformats.org/officeDocument/2006/math">
                    <m:r>
                      <a:rPr lang="en-US" altLang="zh-CN" sz="1600" i="1" smtClean="0">
                        <a:solidFill>
                          <a:schemeClr val="accent2">
                            <a:lumMod val="50000"/>
                          </a:schemeClr>
                        </a:solidFill>
                        <a:latin typeface="Cambria Math" panose="02040503050406030204" pitchFamily="18" charset="0"/>
                        <a:ea typeface="楷体" panose="02010609060101010101" pitchFamily="49" charset="-122"/>
                      </a:rPr>
                      <m:t>𝑝</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𝑞</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𝑟</m:t>
                    </m:r>
                  </m:oMath>
                </a14:m>
                <a:r>
                  <a:rPr lang="zh-CN" altLang="en-US" sz="1600">
                    <a:solidFill>
                      <a:schemeClr val="accent2">
                        <a:lumMod val="50000"/>
                      </a:schemeClr>
                    </a:solidFill>
                    <a:latin typeface="楷体" panose="02010609060101010101" pitchFamily="49" charset="-122"/>
                    <a:ea typeface="楷体" panose="02010609060101010101" pitchFamily="49" charset="-122"/>
                  </a:rPr>
                  <a:t>的顺序！</a:t>
                </a:r>
              </a:p>
            </p:txBody>
          </p:sp>
        </mc:Choice>
        <mc:Fallback xmlns="">
          <p:sp>
            <p:nvSpPr>
              <p:cNvPr id="46" name="文本框 45">
                <a:extLst>
                  <a:ext uri="{FF2B5EF4-FFF2-40B4-BE49-F238E27FC236}">
                    <a16:creationId xmlns:a16="http://schemas.microsoft.com/office/drawing/2014/main" id="{4F009056-81F7-4F81-A119-C4C836DD435A}"/>
                  </a:ext>
                </a:extLst>
              </p:cNvPr>
              <p:cNvSpPr txBox="1">
                <a:spLocks noRot="1" noChangeAspect="1" noMove="1" noResize="1" noEditPoints="1" noAdjustHandles="1" noChangeArrowheads="1" noChangeShapeType="1" noTextEdit="1"/>
              </p:cNvSpPr>
              <p:nvPr/>
            </p:nvSpPr>
            <p:spPr>
              <a:xfrm>
                <a:off x="10426912" y="2264009"/>
                <a:ext cx="1555861" cy="584775"/>
              </a:xfrm>
              <a:prstGeom prst="rect">
                <a:avLst/>
              </a:prstGeom>
              <a:blipFill>
                <a:blip r:embed="rId17"/>
                <a:stretch>
                  <a:fillRect l="-1550" t="-2041" b="-10204"/>
                </a:stretch>
              </a:blipFill>
              <a:ln w="12700">
                <a:solidFill>
                  <a:schemeClr val="accent1">
                    <a:shade val="50000"/>
                  </a:schemeClr>
                </a:solidFill>
                <a:prstDash val="dash"/>
              </a:ln>
            </p:spPr>
            <p:txBody>
              <a:bodyPr/>
              <a:lstStyle/>
              <a:p>
                <a:r>
                  <a:rPr lang="zh-CN" altLang="en-US">
                    <a:noFill/>
                  </a:rPr>
                  <a:t> </a:t>
                </a:r>
              </a:p>
            </p:txBody>
          </p:sp>
        </mc:Fallback>
      </mc:AlternateContent>
      <p:sp>
        <p:nvSpPr>
          <p:cNvPr id="47" name="文本框 46">
            <a:extLst>
              <a:ext uri="{FF2B5EF4-FFF2-40B4-BE49-F238E27FC236}">
                <a16:creationId xmlns:a16="http://schemas.microsoft.com/office/drawing/2014/main" id="{25CCAEEC-F34B-482B-97AF-D5BE66E451CF}"/>
              </a:ext>
            </a:extLst>
          </p:cNvPr>
          <p:cNvSpPr txBox="1"/>
          <p:nvPr/>
        </p:nvSpPr>
        <p:spPr>
          <a:xfrm>
            <a:off x="9293683" y="5495005"/>
            <a:ext cx="2513091" cy="215444"/>
          </a:xfrm>
          <a:prstGeom prst="rect">
            <a:avLst/>
          </a:prstGeom>
          <a:solidFill>
            <a:schemeClr val="bg1"/>
          </a:solidFill>
        </p:spPr>
        <p:txBody>
          <a:bodyPr wrap="square" lIns="0" tIns="0" rIns="0" bIns="0" rtlCol="0">
            <a:spAutoFit/>
          </a:bodyPr>
          <a:lstStyle/>
          <a:p>
            <a:r>
              <a:rPr lang="zh-CN" altLang="en-US" sz="1400">
                <a:solidFill>
                  <a:srgbClr val="C00000"/>
                </a:solidFill>
              </a:rPr>
              <a:t>主析取与主合取范式编码集互补</a:t>
            </a:r>
          </a:p>
        </p:txBody>
      </p:sp>
      <p:sp>
        <p:nvSpPr>
          <p:cNvPr id="49" name="文本框 48">
            <a:extLst>
              <a:ext uri="{FF2B5EF4-FFF2-40B4-BE49-F238E27FC236}">
                <a16:creationId xmlns:a16="http://schemas.microsoft.com/office/drawing/2014/main" id="{5591A2FE-47FE-43B8-BF28-05AF79C58F37}"/>
              </a:ext>
            </a:extLst>
          </p:cNvPr>
          <p:cNvSpPr txBox="1"/>
          <p:nvPr/>
        </p:nvSpPr>
        <p:spPr>
          <a:xfrm>
            <a:off x="10999115" y="3440207"/>
            <a:ext cx="923976" cy="1077218"/>
          </a:xfrm>
          <a:prstGeom prst="rect">
            <a:avLst/>
          </a:prstGeom>
          <a:solidFill>
            <a:schemeClr val="accent2">
              <a:lumMod val="20000"/>
              <a:lumOff val="80000"/>
              <a:alpha val="50000"/>
            </a:schemeClr>
          </a:solidFill>
        </p:spPr>
        <p:txBody>
          <a:bodyPr wrap="square" rtlCol="0">
            <a:spAutoFit/>
          </a:bodyPr>
          <a:lstStyle/>
          <a:p>
            <a:r>
              <a:rPr lang="zh-CN" altLang="en-US" sz="1600" b="1">
                <a:solidFill>
                  <a:srgbClr val="C00000"/>
                </a:solidFill>
              </a:rPr>
              <a:t>交换律、排中律、同一律、</a:t>
            </a:r>
            <a:endParaRPr lang="en-US" altLang="zh-CN" sz="1600" b="1">
              <a:solidFill>
                <a:srgbClr val="C00000"/>
              </a:solidFill>
            </a:endParaRPr>
          </a:p>
          <a:p>
            <a:r>
              <a:rPr lang="zh-CN" altLang="en-US" sz="1600" b="1">
                <a:solidFill>
                  <a:srgbClr val="C00000"/>
                </a:solidFill>
              </a:rPr>
              <a:t>分配律</a:t>
            </a:r>
          </a:p>
        </p:txBody>
      </p:sp>
    </p:spTree>
    <p:extLst>
      <p:ext uri="{BB962C8B-B14F-4D97-AF65-F5344CB8AC3E}">
        <p14:creationId xmlns:p14="http://schemas.microsoft.com/office/powerpoint/2010/main" val="209680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3" grpId="0" animBg="1"/>
      <p:bldP spid="44" grpId="0" animBg="1"/>
      <p:bldP spid="45" grpId="0" animBg="1"/>
      <p:bldP spid="46" grpId="0" animBg="1"/>
      <p:bldP spid="47" grpId="0" animBg="1"/>
      <p:bldP spid="4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真值表法求与公式逻辑等值的主范式练习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E80EDE3-98A2-4416-87DE-B4BB4CBEDB15}"/>
                  </a:ext>
                </a:extLst>
              </p:cNvPr>
              <p:cNvSpPr txBox="1"/>
              <p:nvPr/>
            </p:nvSpPr>
            <p:spPr>
              <a:xfrm>
                <a:off x="592058" y="1164380"/>
                <a:ext cx="10255752" cy="461665"/>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rPr>
                  <a:t>求与公式</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 = ¬</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𝒑</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𝒒</m:t>
                        </m:r>
                      </m:e>
                    </m:d>
                    <m:r>
                      <a:rPr lang="en-US" altLang="zh-CN" sz="2400" b="1" i="1">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𝒒</m:t>
                        </m:r>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𝒓</m:t>
                        </m:r>
                      </m:e>
                    </m:d>
                  </m:oMath>
                </a14:m>
                <a:r>
                  <a:rPr lang="zh-CN" altLang="en-US" sz="2400" b="1">
                    <a:solidFill>
                      <a:srgbClr val="002060"/>
                    </a:solidFill>
                  </a:rPr>
                  <a:t>逻辑等值的主析取范式和主合取范式</a:t>
                </a:r>
              </a:p>
            </p:txBody>
          </p:sp>
        </mc:Choice>
        <mc:Fallback xmlns="">
          <p:sp>
            <p:nvSpPr>
              <p:cNvPr id="2" name="文本框 1">
                <a:extLst>
                  <a:ext uri="{FF2B5EF4-FFF2-40B4-BE49-F238E27FC236}">
                    <a16:creationId xmlns:a16="http://schemas.microsoft.com/office/drawing/2014/main" id="{6E80EDE3-98A2-4416-87DE-B4BB4CBEDB15}"/>
                  </a:ext>
                </a:extLst>
              </p:cNvPr>
              <p:cNvSpPr txBox="1">
                <a:spLocks noRot="1" noChangeAspect="1" noMove="1" noResize="1" noEditPoints="1" noAdjustHandles="1" noChangeArrowheads="1" noChangeShapeType="1" noTextEdit="1"/>
              </p:cNvSpPr>
              <p:nvPr/>
            </p:nvSpPr>
            <p:spPr>
              <a:xfrm>
                <a:off x="592058" y="1164380"/>
                <a:ext cx="10255752" cy="461665"/>
              </a:xfrm>
              <a:prstGeom prst="rect">
                <a:avLst/>
              </a:prstGeom>
              <a:blipFill>
                <a:blip r:embed="rId2"/>
                <a:stretch>
                  <a:fillRect l="-892" t="-9211" b="-3026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531A7D96-8E32-41ED-8B58-1C5F9C01B96F}"/>
              </a:ext>
            </a:extLst>
          </p:cNvPr>
          <p:cNvSpPr txBox="1"/>
          <p:nvPr/>
        </p:nvSpPr>
        <p:spPr>
          <a:xfrm>
            <a:off x="1830247" y="2390254"/>
            <a:ext cx="8531503" cy="2077492"/>
          </a:xfrm>
          <a:prstGeom prst="rect">
            <a:avLst/>
          </a:prstGeom>
          <a:solidFill>
            <a:schemeClr val="accent4">
              <a:lumMod val="20000"/>
              <a:lumOff val="80000"/>
              <a:alpha val="50000"/>
            </a:schemeClr>
          </a:solidFill>
        </p:spPr>
        <p:txBody>
          <a:bodyPr wrap="none" rtlCol="0">
            <a:spAutoFit/>
          </a:bodyPr>
          <a:lstStyle/>
          <a:p>
            <a:pPr algn="ctr">
              <a:spcBef>
                <a:spcPts val="1200"/>
              </a:spcBef>
              <a:spcAft>
                <a:spcPts val="600"/>
              </a:spcAft>
            </a:pPr>
            <a:r>
              <a:rPr lang="zh-CN" altLang="en-US" sz="2400" b="1">
                <a:solidFill>
                  <a:srgbClr val="002060"/>
                </a:solidFill>
              </a:rPr>
              <a:t>公式的真值表和与它逻辑等值的主范式</a:t>
            </a:r>
            <a:endParaRPr lang="en-US" altLang="zh-CN" sz="2400" b="1">
              <a:solidFill>
                <a:srgbClr val="002060"/>
              </a:solidFill>
            </a:endParaRPr>
          </a:p>
          <a:p>
            <a:pPr marL="342900" indent="-342900">
              <a:spcBef>
                <a:spcPts val="12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成真赋值对应编码的极小项的析取就是与该公式等值的主析取范式</a:t>
            </a:r>
            <a:endParaRPr lang="en-US" altLang="zh-CN" sz="2000" b="1">
              <a:solidFill>
                <a:srgbClr val="C00000"/>
              </a:solidFill>
              <a:latin typeface="楷体" panose="02010609060101010101" pitchFamily="49" charset="-122"/>
              <a:ea typeface="楷体" panose="02010609060101010101" pitchFamily="49" charset="-122"/>
            </a:endParaRPr>
          </a:p>
          <a:p>
            <a:pPr marL="342900" indent="-342900">
              <a:spcBef>
                <a:spcPts val="12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成假赋值对应编码的极大项的合取就是与该公式等值的主合取范式</a:t>
            </a:r>
          </a:p>
          <a:p>
            <a:pPr marL="342900" indent="-342900">
              <a:spcBef>
                <a:spcPts val="12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公式的主析取范式的极小项编码集与其主合取范式的极大项编码集互补</a:t>
            </a:r>
          </a:p>
        </p:txBody>
      </p:sp>
    </p:spTree>
    <p:extLst>
      <p:ext uri="{BB962C8B-B14F-4D97-AF65-F5344CB8AC3E}">
        <p14:creationId xmlns:p14="http://schemas.microsoft.com/office/powerpoint/2010/main" val="1694466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真值表法求与公式逻辑等值的主范式练习</a:t>
            </a:r>
          </a:p>
        </p:txBody>
      </p:sp>
      <p:pic>
        <p:nvPicPr>
          <p:cNvPr id="3" name="图片 2">
            <a:extLst>
              <a:ext uri="{FF2B5EF4-FFF2-40B4-BE49-F238E27FC236}">
                <a16:creationId xmlns:a16="http://schemas.microsoft.com/office/drawing/2014/main" id="{407CA1FA-CD4E-4B91-A5D0-1147AFDA0CC6}"/>
              </a:ext>
            </a:extLst>
          </p:cNvPr>
          <p:cNvPicPr>
            <a:picLocks noChangeAspect="1"/>
          </p:cNvPicPr>
          <p:nvPr/>
        </p:nvPicPr>
        <p:blipFill>
          <a:blip r:embed="rId2"/>
          <a:stretch>
            <a:fillRect/>
          </a:stretch>
        </p:blipFill>
        <p:spPr>
          <a:xfrm>
            <a:off x="1980104" y="1804620"/>
            <a:ext cx="7032328" cy="3501871"/>
          </a:xfrm>
          <a:prstGeom prst="rect">
            <a:avLst/>
          </a:prstGeom>
        </p:spPr>
      </p:pic>
      <p:sp>
        <p:nvSpPr>
          <p:cNvPr id="6" name="箭头: 右 5">
            <a:extLst>
              <a:ext uri="{FF2B5EF4-FFF2-40B4-BE49-F238E27FC236}">
                <a16:creationId xmlns:a16="http://schemas.microsoft.com/office/drawing/2014/main" id="{8ABF7AE9-658E-47F0-AEFC-04D7D51B7883}"/>
              </a:ext>
            </a:extLst>
          </p:cNvPr>
          <p:cNvSpPr/>
          <p:nvPr/>
        </p:nvSpPr>
        <p:spPr>
          <a:xfrm>
            <a:off x="8841393" y="4193741"/>
            <a:ext cx="414440" cy="855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EF45B45-27B9-443C-A328-CE8B9E48255A}"/>
                  </a:ext>
                </a:extLst>
              </p:cNvPr>
              <p:cNvSpPr txBox="1"/>
              <p:nvPr/>
            </p:nvSpPr>
            <p:spPr>
              <a:xfrm>
                <a:off x="9255833" y="4049015"/>
                <a:ext cx="519695" cy="374969"/>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accent2">
                                  <a:lumMod val="50000"/>
                                </a:schemeClr>
                              </a:solidFill>
                              <a:latin typeface="Cambria Math" panose="02040503050406030204" pitchFamily="18" charset="0"/>
                            </a:rPr>
                          </m:ctrlPr>
                        </m:sSubPr>
                        <m:e>
                          <m:r>
                            <a:rPr lang="en-US" altLang="zh-CN" i="1" smtClean="0">
                              <a:solidFill>
                                <a:schemeClr val="accent2">
                                  <a:lumMod val="50000"/>
                                </a:schemeClr>
                              </a:solidFill>
                              <a:latin typeface="Cambria Math" panose="02040503050406030204" pitchFamily="18" charset="0"/>
                            </a:rPr>
                            <m:t>𝑚</m:t>
                          </m:r>
                        </m:e>
                        <m:sub>
                          <m:r>
                            <a:rPr lang="en-US" altLang="zh-CN" i="1" smtClean="0">
                              <a:solidFill>
                                <a:schemeClr val="accent2">
                                  <a:lumMod val="50000"/>
                                </a:schemeClr>
                              </a:solidFill>
                              <a:latin typeface="Cambria Math" panose="02040503050406030204" pitchFamily="18" charset="0"/>
                            </a:rPr>
                            <m:t>5</m:t>
                          </m:r>
                        </m:sub>
                      </m:sSub>
                    </m:oMath>
                  </m:oMathPara>
                </a14:m>
                <a:endParaRPr lang="zh-CN" altLang="en-US">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8EF45B45-27B9-443C-A328-CE8B9E48255A}"/>
                  </a:ext>
                </a:extLst>
              </p:cNvPr>
              <p:cNvSpPr txBox="1">
                <a:spLocks noRot="1" noChangeAspect="1" noMove="1" noResize="1" noEditPoints="1" noAdjustHandles="1" noChangeArrowheads="1" noChangeShapeType="1" noTextEdit="1"/>
              </p:cNvSpPr>
              <p:nvPr/>
            </p:nvSpPr>
            <p:spPr>
              <a:xfrm>
                <a:off x="9255833" y="4049015"/>
                <a:ext cx="519695" cy="37496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C63D136-622A-4970-897B-E53D34F4BFEE}"/>
                  </a:ext>
                </a:extLst>
              </p:cNvPr>
              <p:cNvSpPr txBox="1"/>
              <p:nvPr/>
            </p:nvSpPr>
            <p:spPr>
              <a:xfrm>
                <a:off x="1980104" y="5399733"/>
                <a:ext cx="7032328" cy="784830"/>
              </a:xfrm>
              <a:prstGeom prst="rect">
                <a:avLst/>
              </a:prstGeom>
              <a:solidFill>
                <a:schemeClr val="accent2">
                  <a:lumMod val="20000"/>
                  <a:lumOff val="80000"/>
                  <a:alpha val="50000"/>
                </a:schemeClr>
              </a:solidFill>
            </p:spPr>
            <p:txBody>
              <a:bodyPr wrap="square" rtlCol="0">
                <a:spAutoFit/>
              </a:bodyPr>
              <a:lstStyle/>
              <a:p>
                <a:pPr>
                  <a:spcBef>
                    <a:spcPts val="600"/>
                  </a:spcBef>
                </a:pPr>
                <a:r>
                  <a:rPr lang="zh-CN" altLang="en-US" sz="2000" b="1">
                    <a:solidFill>
                      <a:srgbClr val="002060"/>
                    </a:solidFill>
                  </a:rPr>
                  <a:t>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rPr>
                  <a:t>的主析取范式是：</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𝒎</m:t>
                        </m:r>
                      </m:e>
                      <m:sub>
                        <m:r>
                          <a:rPr lang="en-US" altLang="zh-CN" sz="2000" b="1" i="1" smtClean="0">
                            <a:solidFill>
                              <a:srgbClr val="002060"/>
                            </a:solidFill>
                            <a:latin typeface="Cambria Math" panose="02040503050406030204" pitchFamily="18" charset="0"/>
                          </a:rPr>
                          <m:t>𝟓</m:t>
                        </m:r>
                      </m:sub>
                    </m:sSub>
                  </m:oMath>
                </a14:m>
                <a:endParaRPr lang="en-US" altLang="zh-CN" sz="2000" b="1">
                  <a:solidFill>
                    <a:srgbClr val="002060"/>
                  </a:solidFill>
                </a:endParaRPr>
              </a:p>
              <a:p>
                <a:pPr>
                  <a:spcBef>
                    <a:spcPts val="600"/>
                  </a:spcBef>
                </a:pPr>
                <a:r>
                  <a:rPr lang="zh-CN" altLang="en-US" sz="2000" b="1">
                    <a:solidFill>
                      <a:srgbClr val="002060"/>
                    </a:solidFill>
                  </a:rPr>
                  <a:t>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rPr>
                  <a:t>的主合取范式是：</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𝑴</m:t>
                        </m:r>
                      </m:e>
                      <m:sub>
                        <m:r>
                          <a:rPr lang="en-US" altLang="zh-CN" sz="2000" b="1" i="1" smtClean="0">
                            <a:solidFill>
                              <a:srgbClr val="002060"/>
                            </a:solidFill>
                            <a:latin typeface="Cambria Math" panose="02040503050406030204" pitchFamily="18" charset="0"/>
                          </a:rPr>
                          <m:t>𝟎</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𝑴</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𝑴</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𝑴</m:t>
                        </m:r>
                      </m:e>
                      <m:sub>
                        <m:r>
                          <a:rPr lang="en-US" altLang="zh-CN" sz="2000" b="1" i="1" smtClean="0">
                            <a:solidFill>
                              <a:srgbClr val="002060"/>
                            </a:solidFill>
                            <a:latin typeface="Cambria Math" panose="02040503050406030204" pitchFamily="18" charset="0"/>
                          </a:rPr>
                          <m:t>𝟑</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𝑴</m:t>
                        </m:r>
                      </m:e>
                      <m:sub>
                        <m:r>
                          <a:rPr lang="en-US" altLang="zh-CN" sz="2000" b="1" i="1" smtClean="0">
                            <a:solidFill>
                              <a:srgbClr val="002060"/>
                            </a:solidFill>
                            <a:latin typeface="Cambria Math" panose="02040503050406030204" pitchFamily="18" charset="0"/>
                          </a:rPr>
                          <m:t>𝟒</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𝑴</m:t>
                        </m:r>
                      </m:e>
                      <m:sub>
                        <m:r>
                          <a:rPr lang="en-US" altLang="zh-CN" sz="2000" b="1" i="1" smtClean="0">
                            <a:solidFill>
                              <a:srgbClr val="002060"/>
                            </a:solidFill>
                            <a:latin typeface="Cambria Math" panose="02040503050406030204" pitchFamily="18" charset="0"/>
                          </a:rPr>
                          <m:t>𝟔</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𝑴</m:t>
                        </m:r>
                      </m:e>
                      <m:sub>
                        <m:r>
                          <a:rPr lang="en-US" altLang="zh-CN" sz="2000" b="1" i="1" smtClean="0">
                            <a:solidFill>
                              <a:srgbClr val="002060"/>
                            </a:solidFill>
                            <a:latin typeface="Cambria Math" panose="02040503050406030204" pitchFamily="18" charset="0"/>
                          </a:rPr>
                          <m:t>𝟕</m:t>
                        </m:r>
                      </m:sub>
                    </m:sSub>
                  </m:oMath>
                </a14:m>
                <a:endParaRPr lang="zh-CN" altLang="en-US" sz="2000" b="1">
                  <a:solidFill>
                    <a:srgbClr val="002060"/>
                  </a:solidFill>
                </a:endParaRPr>
              </a:p>
            </p:txBody>
          </p:sp>
        </mc:Choice>
        <mc:Fallback xmlns="">
          <p:sp>
            <p:nvSpPr>
              <p:cNvPr id="13" name="文本框 12">
                <a:extLst>
                  <a:ext uri="{FF2B5EF4-FFF2-40B4-BE49-F238E27FC236}">
                    <a16:creationId xmlns:a16="http://schemas.microsoft.com/office/drawing/2014/main" id="{CC63D136-622A-4970-897B-E53D34F4BFEE}"/>
                  </a:ext>
                </a:extLst>
              </p:cNvPr>
              <p:cNvSpPr txBox="1">
                <a:spLocks noRot="1" noChangeAspect="1" noMove="1" noResize="1" noEditPoints="1" noAdjustHandles="1" noChangeArrowheads="1" noChangeShapeType="1" noTextEdit="1"/>
              </p:cNvSpPr>
              <p:nvPr/>
            </p:nvSpPr>
            <p:spPr>
              <a:xfrm>
                <a:off x="1980104" y="5399733"/>
                <a:ext cx="7032328" cy="784830"/>
              </a:xfrm>
              <a:prstGeom prst="rect">
                <a:avLst/>
              </a:prstGeom>
              <a:blipFill>
                <a:blip r:embed="rId4"/>
                <a:stretch>
                  <a:fillRect l="-954" t="-4651" b="-131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FD4D6AF-66A6-4C21-BD18-4D3F78B13491}"/>
                  </a:ext>
                </a:extLst>
              </p:cNvPr>
              <p:cNvSpPr txBox="1"/>
              <p:nvPr/>
            </p:nvSpPr>
            <p:spPr>
              <a:xfrm>
                <a:off x="592058" y="1164380"/>
                <a:ext cx="10255752" cy="461665"/>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rPr>
                  <a:t>求与公式</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 = ¬</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𝒑</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𝒒</m:t>
                        </m:r>
                      </m:e>
                    </m:d>
                    <m:r>
                      <a:rPr lang="en-US" altLang="zh-CN" sz="2400" b="1" i="1">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𝒒</m:t>
                        </m:r>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𝒓</m:t>
                        </m:r>
                      </m:e>
                    </m:d>
                  </m:oMath>
                </a14:m>
                <a:r>
                  <a:rPr lang="zh-CN" altLang="en-US" sz="2400" b="1">
                    <a:solidFill>
                      <a:srgbClr val="002060"/>
                    </a:solidFill>
                  </a:rPr>
                  <a:t>逻辑等值的主析取范式和主合取范式</a:t>
                </a:r>
              </a:p>
            </p:txBody>
          </p:sp>
        </mc:Choice>
        <mc:Fallback xmlns="">
          <p:sp>
            <p:nvSpPr>
              <p:cNvPr id="14" name="文本框 13">
                <a:extLst>
                  <a:ext uri="{FF2B5EF4-FFF2-40B4-BE49-F238E27FC236}">
                    <a16:creationId xmlns:a16="http://schemas.microsoft.com/office/drawing/2014/main" id="{8FD4D6AF-66A6-4C21-BD18-4D3F78B13491}"/>
                  </a:ext>
                </a:extLst>
              </p:cNvPr>
              <p:cNvSpPr txBox="1">
                <a:spLocks noRot="1" noChangeAspect="1" noMove="1" noResize="1" noEditPoints="1" noAdjustHandles="1" noChangeArrowheads="1" noChangeShapeType="1" noTextEdit="1"/>
              </p:cNvSpPr>
              <p:nvPr/>
            </p:nvSpPr>
            <p:spPr>
              <a:xfrm>
                <a:off x="592058" y="1164380"/>
                <a:ext cx="10255752" cy="461665"/>
              </a:xfrm>
              <a:prstGeom prst="rect">
                <a:avLst/>
              </a:prstGeom>
              <a:blipFill>
                <a:blip r:embed="rId5"/>
                <a:stretch>
                  <a:fillRect l="-892" t="-9211" b="-302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04996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等值演算法求与公式逻辑等值的主范式练习</a:t>
            </a:r>
          </a:p>
        </p:txBody>
      </p:sp>
      <p:sp>
        <p:nvSpPr>
          <p:cNvPr id="12" name="文本框 11">
            <a:extLst>
              <a:ext uri="{FF2B5EF4-FFF2-40B4-BE49-F238E27FC236}">
                <a16:creationId xmlns:a16="http://schemas.microsoft.com/office/drawing/2014/main" id="{499314C3-4AF1-4063-8398-34408FC59677}"/>
              </a:ext>
            </a:extLst>
          </p:cNvPr>
          <p:cNvSpPr txBox="1"/>
          <p:nvPr/>
        </p:nvSpPr>
        <p:spPr>
          <a:xfrm>
            <a:off x="1226011" y="2389113"/>
            <a:ext cx="9739975" cy="1954381"/>
          </a:xfrm>
          <a:prstGeom prst="rect">
            <a:avLst/>
          </a:prstGeom>
          <a:solidFill>
            <a:schemeClr val="accent5">
              <a:lumMod val="20000"/>
              <a:lumOff val="80000"/>
              <a:alpha val="50000"/>
            </a:schemeClr>
          </a:solidFill>
        </p:spPr>
        <p:txBody>
          <a:bodyPr wrap="square" rtlCol="0">
            <a:spAutoFit/>
          </a:bodyPr>
          <a:lstStyle/>
          <a:p>
            <a:pPr algn="ctr">
              <a:spcBef>
                <a:spcPts val="1200"/>
              </a:spcBef>
              <a:spcAft>
                <a:spcPts val="600"/>
              </a:spcAft>
            </a:pPr>
            <a:r>
              <a:rPr lang="zh-CN" altLang="en-US" sz="2000" b="1">
                <a:solidFill>
                  <a:srgbClr val="C00000"/>
                </a:solidFill>
                <a:latin typeface="黑体" panose="02010609060101010101" pitchFamily="49" charset="-122"/>
                <a:ea typeface="黑体" panose="02010609060101010101" pitchFamily="49" charset="-122"/>
              </a:rPr>
              <a:t>等值演算法求与公式逻辑等值的主范式</a:t>
            </a:r>
            <a:endParaRPr lang="en-US" altLang="zh-CN" sz="2000" b="1">
              <a:solidFill>
                <a:srgbClr val="C00000"/>
              </a:solidFill>
              <a:latin typeface="黑体" panose="02010609060101010101" pitchFamily="49" charset="-122"/>
              <a:ea typeface="黑体" panose="02010609060101010101" pitchFamily="49" charset="-122"/>
            </a:endParaRPr>
          </a:p>
          <a:p>
            <a:pPr>
              <a:spcBef>
                <a:spcPts val="12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先用等值演算求与公式逻辑等值的范式，然后将范式扩展为主范式</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12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将析取范式的每个简单合取式扩展为极小项，或将合取范式的每个简单析取式扩展为极大项</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12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固定命题变量的顺序，这种扩展可通过编码进行</a:t>
            </a:r>
            <a:endParaRPr lang="en-US" altLang="zh-CN" b="1">
              <a:solidFill>
                <a:schemeClr val="accent6">
                  <a:lumMod val="50000"/>
                </a:schemeClr>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55C8DB5-AF79-4DA1-B67B-4BA80E38BC99}"/>
                  </a:ext>
                </a:extLst>
              </p:cNvPr>
              <p:cNvSpPr txBox="1"/>
              <p:nvPr/>
            </p:nvSpPr>
            <p:spPr>
              <a:xfrm>
                <a:off x="598636" y="1167044"/>
                <a:ext cx="9420294" cy="461665"/>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rPr>
                  <a:t>求与公式</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 = </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𝒑</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𝒓</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𝒒</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𝒔</m:t>
                        </m:r>
                      </m:e>
                    </m:d>
                  </m:oMath>
                </a14:m>
                <a:r>
                  <a:rPr lang="zh-CN" altLang="en-US" sz="2400" b="1">
                    <a:solidFill>
                      <a:srgbClr val="002060"/>
                    </a:solidFill>
                  </a:rPr>
                  <a:t>逻辑等值的主析取范式和主合取范式</a:t>
                </a:r>
              </a:p>
            </p:txBody>
          </p:sp>
        </mc:Choice>
        <mc:Fallback xmlns="">
          <p:sp>
            <p:nvSpPr>
              <p:cNvPr id="13" name="文本框 12">
                <a:extLst>
                  <a:ext uri="{FF2B5EF4-FFF2-40B4-BE49-F238E27FC236}">
                    <a16:creationId xmlns:a16="http://schemas.microsoft.com/office/drawing/2014/main" id="{E55C8DB5-AF79-4DA1-B67B-4BA80E38BC99}"/>
                  </a:ext>
                </a:extLst>
              </p:cNvPr>
              <p:cNvSpPr txBox="1">
                <a:spLocks noRot="1" noChangeAspect="1" noMove="1" noResize="1" noEditPoints="1" noAdjustHandles="1" noChangeArrowheads="1" noChangeShapeType="1" noTextEdit="1"/>
              </p:cNvSpPr>
              <p:nvPr/>
            </p:nvSpPr>
            <p:spPr>
              <a:xfrm>
                <a:off x="598636" y="1167044"/>
                <a:ext cx="9420294" cy="461665"/>
              </a:xfrm>
              <a:prstGeom prst="rect">
                <a:avLst/>
              </a:prstGeom>
              <a:blipFill>
                <a:blip r:embed="rId2"/>
                <a:stretch>
                  <a:fillRect l="-970" t="-9211" r="-453" b="-302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10414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等值演算法求与公式逻辑等值的主范式练习</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6C1E431-4AD6-4621-9AA2-36C5F3E18BA3}"/>
                  </a:ext>
                </a:extLst>
              </p:cNvPr>
              <p:cNvSpPr txBox="1"/>
              <p:nvPr/>
            </p:nvSpPr>
            <p:spPr>
              <a:xfrm>
                <a:off x="598636" y="1928759"/>
                <a:ext cx="7917284" cy="276999"/>
              </a:xfrm>
              <a:prstGeom prst="rect">
                <a:avLst/>
              </a:prstGeom>
              <a:solidFill>
                <a:schemeClr val="accent6">
                  <a:lumMod val="50000"/>
                </a:schemeClr>
              </a:solidFill>
            </p:spPr>
            <p:txBody>
              <a:bodyPr wrap="square" tIns="0" bIns="0" rtlCol="0">
                <a:spAutoFit/>
              </a:bodyPr>
              <a:lstStyle/>
              <a:p>
                <a:r>
                  <a:rPr lang="zh-CN" altLang="en-US">
                    <a:solidFill>
                      <a:schemeClr val="bg1"/>
                    </a:solidFill>
                  </a:rPr>
                  <a:t>与公式</a:t>
                </a:r>
                <a14:m>
                  <m:oMath xmlns:m="http://schemas.openxmlformats.org/officeDocument/2006/math">
                    <m:r>
                      <a:rPr lang="en-US" altLang="zh-CN" i="1" smtClean="0">
                        <a:solidFill>
                          <a:schemeClr val="bg1"/>
                        </a:solidFill>
                        <a:latin typeface="Cambria Math" panose="02040503050406030204" pitchFamily="18" charset="0"/>
                      </a:rPr>
                      <m:t>𝐴</m:t>
                    </m:r>
                    <m:r>
                      <a:rPr lang="en-US" altLang="zh-CN" i="1" smtClean="0">
                        <a:solidFill>
                          <a:schemeClr val="bg1"/>
                        </a:solidFill>
                        <a:latin typeface="Cambria Math" panose="02040503050406030204" pitchFamily="18" charset="0"/>
                      </a:rPr>
                      <m:t> =</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panose="02040503050406030204" pitchFamily="18" charset="0"/>
                          </a:rPr>
                          <m:t>𝑝</m:t>
                        </m:r>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𝑟</m:t>
                        </m:r>
                      </m:e>
                    </m:d>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𝑞</m:t>
                    </m:r>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𝑠</m:t>
                    </m:r>
                    <m:r>
                      <a:rPr lang="en-US" altLang="zh-CN" b="0" i="1" smtClean="0">
                        <a:solidFill>
                          <a:schemeClr val="bg1"/>
                        </a:solidFill>
                        <a:latin typeface="Cambria Math" panose="02040503050406030204" pitchFamily="18" charset="0"/>
                      </a:rPr>
                      <m:t>) </m:t>
                    </m:r>
                  </m:oMath>
                </a14:m>
                <a:r>
                  <a:rPr lang="zh-CN" altLang="en-US">
                    <a:solidFill>
                      <a:schemeClr val="bg1"/>
                    </a:solidFill>
                  </a:rPr>
                  <a:t>逻辑等值的一个合取范式是</a:t>
                </a:r>
                <a14:m>
                  <m:oMath xmlns:m="http://schemas.openxmlformats.org/officeDocument/2006/math">
                    <m:d>
                      <m:dPr>
                        <m:ctrlPr>
                          <a:rPr lang="en-US" altLang="zh-CN" i="1" smtClean="0">
                            <a:solidFill>
                              <a:schemeClr val="bg1"/>
                            </a:solidFill>
                            <a:latin typeface="Cambria Math" panose="02040503050406030204" pitchFamily="18" charset="0"/>
                          </a:rPr>
                        </m:ctrlPr>
                      </m:dPr>
                      <m:e>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𝑝</m:t>
                        </m:r>
                        <m:r>
                          <a:rPr lang="en-US" altLang="zh-CN"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𝑟</m:t>
                        </m:r>
                      </m:e>
                    </m:d>
                    <m:r>
                      <a:rPr lang="en-US" altLang="zh-CN" i="1" smtClean="0">
                        <a:solidFill>
                          <a:schemeClr val="bg1"/>
                        </a:solidFill>
                        <a:latin typeface="Cambria Math" panose="02040503050406030204" pitchFamily="18" charset="0"/>
                      </a:rPr>
                      <m:t>∧</m:t>
                    </m:r>
                    <m:d>
                      <m:dPr>
                        <m:ctrlPr>
                          <a:rPr lang="en-US" altLang="zh-CN" i="1" smtClean="0">
                            <a:solidFill>
                              <a:schemeClr val="bg1"/>
                            </a:solidFill>
                            <a:latin typeface="Cambria Math" panose="02040503050406030204" pitchFamily="18" charset="0"/>
                          </a:rPr>
                        </m:ctrlPr>
                      </m:dPr>
                      <m:e>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𝑞</m:t>
                        </m:r>
                        <m:r>
                          <a:rPr lang="en-US" altLang="zh-CN"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𝑠</m:t>
                        </m:r>
                      </m:e>
                    </m:d>
                  </m:oMath>
                </a14:m>
                <a:endParaRPr lang="zh-CN" altLang="en-US">
                  <a:solidFill>
                    <a:schemeClr val="bg1"/>
                  </a:solidFill>
                </a:endParaRPr>
              </a:p>
            </p:txBody>
          </p:sp>
        </mc:Choice>
        <mc:Fallback xmlns="">
          <p:sp>
            <p:nvSpPr>
              <p:cNvPr id="13" name="文本框 12">
                <a:extLst>
                  <a:ext uri="{FF2B5EF4-FFF2-40B4-BE49-F238E27FC236}">
                    <a16:creationId xmlns:a16="http://schemas.microsoft.com/office/drawing/2014/main" id="{76C1E431-4AD6-4621-9AA2-36C5F3E18BA3}"/>
                  </a:ext>
                </a:extLst>
              </p:cNvPr>
              <p:cNvSpPr txBox="1">
                <a:spLocks noRot="1" noChangeAspect="1" noMove="1" noResize="1" noEditPoints="1" noAdjustHandles="1" noChangeArrowheads="1" noChangeShapeType="1" noTextEdit="1"/>
              </p:cNvSpPr>
              <p:nvPr/>
            </p:nvSpPr>
            <p:spPr>
              <a:xfrm>
                <a:off x="598636" y="1928759"/>
                <a:ext cx="7917284" cy="276999"/>
              </a:xfrm>
              <a:prstGeom prst="rect">
                <a:avLst/>
              </a:prstGeom>
              <a:blipFill>
                <a:blip r:embed="rId2"/>
                <a:stretch>
                  <a:fillRect l="-616" t="-28261"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70E968B-2F54-4D5D-9111-9FDB55CA9865}"/>
                  </a:ext>
                </a:extLst>
              </p:cNvPr>
              <p:cNvSpPr txBox="1"/>
              <p:nvPr/>
            </p:nvSpPr>
            <p:spPr>
              <a:xfrm>
                <a:off x="8992818" y="1923802"/>
                <a:ext cx="2539148" cy="338554"/>
              </a:xfrm>
              <a:prstGeom prst="rect">
                <a:avLst/>
              </a:prstGeom>
              <a:solidFill>
                <a:schemeClr val="accent5">
                  <a:lumMod val="20000"/>
                  <a:lumOff val="80000"/>
                </a:schemeClr>
              </a:solidFill>
              <a:ln w="12700">
                <a:solidFill>
                  <a:schemeClr val="accent1">
                    <a:shade val="50000"/>
                  </a:schemeClr>
                </a:solidFill>
                <a:prstDash val="dash"/>
              </a:ln>
            </p:spPr>
            <p:txBody>
              <a:bodyPr wrap="square" rtlCol="0">
                <a:spAutoFit/>
              </a:bodyPr>
              <a:lstStyle/>
              <a:p>
                <a:r>
                  <a:rPr lang="zh-CN" altLang="en-US" sz="1600">
                    <a:solidFill>
                      <a:schemeClr val="accent2">
                        <a:lumMod val="50000"/>
                      </a:schemeClr>
                    </a:solidFill>
                    <a:latin typeface="楷体" panose="02010609060101010101" pitchFamily="49" charset="-122"/>
                    <a:ea typeface="楷体" panose="02010609060101010101" pitchFamily="49" charset="-122"/>
                  </a:rPr>
                  <a:t>固定变量为</a:t>
                </a:r>
                <a14:m>
                  <m:oMath xmlns:m="http://schemas.openxmlformats.org/officeDocument/2006/math">
                    <m:r>
                      <a:rPr lang="en-US" altLang="zh-CN" sz="1600" i="1" smtClean="0">
                        <a:solidFill>
                          <a:schemeClr val="accent2">
                            <a:lumMod val="50000"/>
                          </a:schemeClr>
                        </a:solidFill>
                        <a:latin typeface="Cambria Math" panose="02040503050406030204" pitchFamily="18" charset="0"/>
                        <a:ea typeface="楷体" panose="02010609060101010101" pitchFamily="49" charset="-122"/>
                      </a:rPr>
                      <m:t>𝑝</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𝑞</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1600" i="1" smtClean="0">
                        <a:solidFill>
                          <a:schemeClr val="accent2">
                            <a:lumMod val="50000"/>
                          </a:schemeClr>
                        </a:solidFill>
                        <a:latin typeface="Cambria Math" panose="02040503050406030204" pitchFamily="18" charset="0"/>
                        <a:ea typeface="楷体" panose="02010609060101010101" pitchFamily="49" charset="-122"/>
                      </a:rPr>
                      <m:t>𝑟</m:t>
                    </m:r>
                    <m:r>
                      <a:rPr lang="en-US" altLang="zh-CN" sz="1600" b="0"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i="1">
                        <a:solidFill>
                          <a:schemeClr val="accent2">
                            <a:lumMod val="50000"/>
                          </a:schemeClr>
                        </a:solidFill>
                        <a:latin typeface="Cambria Math" panose="02040503050406030204" pitchFamily="18" charset="0"/>
                        <a:ea typeface="楷体" panose="02010609060101010101" pitchFamily="49" charset="-122"/>
                      </a:rPr>
                      <m:t>𝑠</m:t>
                    </m:r>
                  </m:oMath>
                </a14:m>
                <a:r>
                  <a:rPr lang="zh-CN" altLang="en-US" sz="1600">
                    <a:solidFill>
                      <a:schemeClr val="accent2">
                        <a:lumMod val="50000"/>
                      </a:schemeClr>
                    </a:solidFill>
                    <a:latin typeface="楷体" panose="02010609060101010101" pitchFamily="49" charset="-122"/>
                    <a:ea typeface="楷体" panose="02010609060101010101" pitchFamily="49" charset="-122"/>
                  </a:rPr>
                  <a:t>的顺序！</a:t>
                </a:r>
              </a:p>
            </p:txBody>
          </p:sp>
        </mc:Choice>
        <mc:Fallback xmlns="">
          <p:sp>
            <p:nvSpPr>
              <p:cNvPr id="18" name="文本框 17">
                <a:extLst>
                  <a:ext uri="{FF2B5EF4-FFF2-40B4-BE49-F238E27FC236}">
                    <a16:creationId xmlns:a16="http://schemas.microsoft.com/office/drawing/2014/main" id="{670E968B-2F54-4D5D-9111-9FDB55CA9865}"/>
                  </a:ext>
                </a:extLst>
              </p:cNvPr>
              <p:cNvSpPr txBox="1">
                <a:spLocks noRot="1" noChangeAspect="1" noMove="1" noResize="1" noEditPoints="1" noAdjustHandles="1" noChangeArrowheads="1" noChangeShapeType="1" noTextEdit="1"/>
              </p:cNvSpPr>
              <p:nvPr/>
            </p:nvSpPr>
            <p:spPr>
              <a:xfrm>
                <a:off x="8992818" y="1923802"/>
                <a:ext cx="2539148" cy="338554"/>
              </a:xfrm>
              <a:prstGeom prst="rect">
                <a:avLst/>
              </a:prstGeom>
              <a:blipFill>
                <a:blip r:embed="rId3"/>
                <a:stretch>
                  <a:fillRect l="-955" t="-5263" r="-8831" b="-19298"/>
                </a:stretch>
              </a:blipFill>
              <a:ln w="12700">
                <a:solidFill>
                  <a:schemeClr val="accent1">
                    <a:shade val="50000"/>
                  </a:schemeClr>
                </a:solidFill>
                <a:prstDash val="dash"/>
              </a:ln>
            </p:spPr>
            <p:txBody>
              <a:bodyPr/>
              <a:lstStyle/>
              <a:p>
                <a:r>
                  <a:rPr lang="zh-CN" altLang="en-US">
                    <a:noFill/>
                  </a:rPr>
                  <a:t> </a:t>
                </a:r>
              </a:p>
            </p:txBody>
          </p:sp>
        </mc:Fallback>
      </mc:AlternateContent>
      <p:grpSp>
        <p:nvGrpSpPr>
          <p:cNvPr id="29" name="组合 28">
            <a:extLst>
              <a:ext uri="{FF2B5EF4-FFF2-40B4-BE49-F238E27FC236}">
                <a16:creationId xmlns:a16="http://schemas.microsoft.com/office/drawing/2014/main" id="{2AC49408-EFDA-44AC-8AA4-B231BCCAB107}"/>
              </a:ext>
            </a:extLst>
          </p:cNvPr>
          <p:cNvGrpSpPr/>
          <p:nvPr/>
        </p:nvGrpSpPr>
        <p:grpSpPr>
          <a:xfrm>
            <a:off x="770579" y="2767147"/>
            <a:ext cx="10469705" cy="1223412"/>
            <a:chOff x="770579" y="2948694"/>
            <a:chExt cx="10469705" cy="1223412"/>
          </a:xfrm>
        </p:grpSpPr>
        <p:grpSp>
          <p:nvGrpSpPr>
            <p:cNvPr id="3" name="组合 2">
              <a:extLst>
                <a:ext uri="{FF2B5EF4-FFF2-40B4-BE49-F238E27FC236}">
                  <a16:creationId xmlns:a16="http://schemas.microsoft.com/office/drawing/2014/main" id="{035176B4-8FD4-4FA4-941C-9F20AC41BF22}"/>
                </a:ext>
              </a:extLst>
            </p:cNvPr>
            <p:cNvGrpSpPr/>
            <p:nvPr/>
          </p:nvGrpSpPr>
          <p:grpSpPr>
            <a:xfrm>
              <a:off x="770579" y="2948694"/>
              <a:ext cx="4880282" cy="1223412"/>
              <a:chOff x="744265" y="2956397"/>
              <a:chExt cx="4880282" cy="1223412"/>
            </a:xfrm>
          </p:grpSpPr>
          <p:grpSp>
            <p:nvGrpSpPr>
              <p:cNvPr id="2" name="组合 1">
                <a:extLst>
                  <a:ext uri="{FF2B5EF4-FFF2-40B4-BE49-F238E27FC236}">
                    <a16:creationId xmlns:a16="http://schemas.microsoft.com/office/drawing/2014/main" id="{D179FDDA-C1D6-4D61-8871-F0C371F51BB8}"/>
                  </a:ext>
                </a:extLst>
              </p:cNvPr>
              <p:cNvGrpSpPr/>
              <p:nvPr/>
            </p:nvGrpSpPr>
            <p:grpSpPr>
              <a:xfrm>
                <a:off x="744265" y="2956397"/>
                <a:ext cx="4880282" cy="1223412"/>
                <a:chOff x="585479" y="2989434"/>
                <a:chExt cx="4436432" cy="1025343"/>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0E9B559-3691-49AB-9263-EF5C66B4B748}"/>
                        </a:ext>
                      </a:extLst>
                    </p:cNvPr>
                    <p:cNvSpPr txBox="1"/>
                    <p:nvPr/>
                  </p:nvSpPr>
                  <p:spPr>
                    <a:xfrm>
                      <a:off x="585479" y="3389415"/>
                      <a:ext cx="2569032" cy="257948"/>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𝒑</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𝒓</m:t>
                              </m:r>
                            </m:e>
                          </m:d>
                        </m:oMath>
                      </a14:m>
                      <a:r>
                        <a:rPr lang="zh-CN" altLang="en-US" sz="2000" b="1">
                          <a:solidFill>
                            <a:srgbClr val="C00000"/>
                          </a:solidFill>
                        </a:rPr>
                        <a:t>编码为</a:t>
                      </a:r>
                      <a:r>
                        <a:rPr lang="en-US" altLang="zh-CN" sz="2000" b="1">
                          <a:solidFill>
                            <a:srgbClr val="C00000"/>
                          </a:solidFill>
                          <a:latin typeface="Cambria Math" panose="02040503050406030204" pitchFamily="18" charset="0"/>
                          <a:ea typeface="Cambria Math" panose="02040503050406030204" pitchFamily="18" charset="0"/>
                        </a:rPr>
                        <a:t>(1 - 0 - )</a:t>
                      </a:r>
                      <a:endParaRPr lang="zh-CN" altLang="en-US" sz="2000" b="1">
                        <a:solidFill>
                          <a:srgbClr val="C00000"/>
                        </a:solidFill>
                        <a:latin typeface="Cambria Math" panose="02040503050406030204" pitchFamily="18" charset="0"/>
                      </a:endParaRPr>
                    </a:p>
                  </p:txBody>
                </p:sp>
              </mc:Choice>
              <mc:Fallback xmlns="">
                <p:sp>
                  <p:nvSpPr>
                    <p:cNvPr id="14" name="文本框 13">
                      <a:extLst>
                        <a:ext uri="{FF2B5EF4-FFF2-40B4-BE49-F238E27FC236}">
                          <a16:creationId xmlns:a16="http://schemas.microsoft.com/office/drawing/2014/main" id="{10E9B559-3691-49AB-9263-EF5C66B4B748}"/>
                        </a:ext>
                      </a:extLst>
                    </p:cNvPr>
                    <p:cNvSpPr txBox="1">
                      <a:spLocks noRot="1" noChangeAspect="1" noMove="1" noResize="1" noEditPoints="1" noAdjustHandles="1" noChangeArrowheads="1" noChangeShapeType="1" noTextEdit="1"/>
                    </p:cNvSpPr>
                    <p:nvPr/>
                  </p:nvSpPr>
                  <p:spPr>
                    <a:xfrm>
                      <a:off x="585479" y="3389415"/>
                      <a:ext cx="2569032" cy="257948"/>
                    </a:xfrm>
                    <a:prstGeom prst="rect">
                      <a:avLst/>
                    </a:prstGeom>
                    <a:blipFill>
                      <a:blip r:embed="rId5"/>
                      <a:stretch>
                        <a:fillRect t="-30000" r="-647" b="-50000"/>
                      </a:stretch>
                    </a:blipFill>
                  </p:spPr>
                  <p:txBody>
                    <a:bodyPr/>
                    <a:lstStyle/>
                    <a:p>
                      <a:r>
                        <a:rPr lang="zh-CN" altLang="en-US">
                          <a:noFill/>
                        </a:rPr>
                        <a:t> </a:t>
                      </a:r>
                    </a:p>
                  </p:txBody>
                </p:sp>
              </mc:Fallback>
            </mc:AlternateContent>
            <p:sp>
              <p:nvSpPr>
                <p:cNvPr id="15" name="箭头: 右 14">
                  <a:extLst>
                    <a:ext uri="{FF2B5EF4-FFF2-40B4-BE49-F238E27FC236}">
                      <a16:creationId xmlns:a16="http://schemas.microsoft.com/office/drawing/2014/main" id="{F653C231-7AD0-4464-B63E-3045242B3C24}"/>
                    </a:ext>
                  </a:extLst>
                </p:cNvPr>
                <p:cNvSpPr/>
                <p:nvPr/>
              </p:nvSpPr>
              <p:spPr>
                <a:xfrm>
                  <a:off x="3154511" y="3495650"/>
                  <a:ext cx="578900" cy="8787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D0DFD71-F1AA-4662-9515-796FFBB3E5DE}"/>
                        </a:ext>
                      </a:extLst>
                    </p:cNvPr>
                    <p:cNvSpPr txBox="1"/>
                    <p:nvPr/>
                  </p:nvSpPr>
                  <p:spPr>
                    <a:xfrm>
                      <a:off x="3733411" y="2989434"/>
                      <a:ext cx="1288500" cy="1025343"/>
                    </a:xfrm>
                    <a:prstGeom prst="rect">
                      <a:avLst/>
                    </a:prstGeom>
                    <a:solidFill>
                      <a:schemeClr val="accent2">
                        <a:lumMod val="20000"/>
                        <a:lumOff val="80000"/>
                      </a:schemeClr>
                    </a:solidFill>
                  </p:spPr>
                  <p:txBody>
                    <a:bodyPr wrap="square" tIns="0" bIns="0" rtlCol="0">
                      <a:spAutoFit/>
                    </a:bodyPr>
                    <a:lstStyle/>
                    <a:p>
                      <a:pPr>
                        <a:spcAft>
                          <a:spcPts val="300"/>
                        </a:spcAft>
                      </a:pP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0</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0 : </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𝟖</m:t>
                              </m:r>
                            </m:sub>
                          </m:sSub>
                        </m:oMath>
                      </a14:m>
                      <a:endParaRPr lang="en-US" altLang="zh-CN" b="1">
                        <a:solidFill>
                          <a:srgbClr val="C00000"/>
                        </a:solidFill>
                      </a:endParaRPr>
                    </a:p>
                    <a:p>
                      <a:pPr>
                        <a:spcAft>
                          <a:spcPts val="300"/>
                        </a:spcAft>
                      </a:pP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0</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1 : </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𝟗</m:t>
                              </m:r>
                            </m:sub>
                          </m:sSub>
                        </m:oMath>
                      </a14:m>
                      <a:endParaRPr lang="en-US" altLang="zh-CN" b="1">
                        <a:solidFill>
                          <a:srgbClr val="C00000"/>
                        </a:solidFill>
                      </a:endParaRPr>
                    </a:p>
                    <a:p>
                      <a:pPr>
                        <a:spcAft>
                          <a:spcPts val="300"/>
                        </a:spcAft>
                      </a:pP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1</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0 : </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𝟏𝟐</m:t>
                              </m:r>
                            </m:sub>
                          </m:sSub>
                        </m:oMath>
                      </a14:m>
                      <a:endParaRPr lang="en-US" altLang="zh-CN" b="1">
                        <a:solidFill>
                          <a:srgbClr val="C00000"/>
                        </a:solidFill>
                      </a:endParaRPr>
                    </a:p>
                    <a:p>
                      <a:pPr>
                        <a:spcAft>
                          <a:spcPts val="300"/>
                        </a:spcAft>
                      </a:pP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1</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1 : </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𝟏𝟑</m:t>
                              </m:r>
                            </m:sub>
                          </m:sSub>
                        </m:oMath>
                      </a14:m>
                      <a:endParaRPr lang="zh-CN" altLang="en-US" sz="1600" b="1">
                        <a:solidFill>
                          <a:srgbClr val="C00000"/>
                        </a:solidFill>
                      </a:endParaRPr>
                    </a:p>
                  </p:txBody>
                </p:sp>
              </mc:Choice>
              <mc:Fallback xmlns="">
                <p:sp>
                  <p:nvSpPr>
                    <p:cNvPr id="16" name="文本框 15">
                      <a:extLst>
                        <a:ext uri="{FF2B5EF4-FFF2-40B4-BE49-F238E27FC236}">
                          <a16:creationId xmlns:a16="http://schemas.microsoft.com/office/drawing/2014/main" id="{3D0DFD71-F1AA-4662-9515-796FFBB3E5DE}"/>
                        </a:ext>
                      </a:extLst>
                    </p:cNvPr>
                    <p:cNvSpPr txBox="1">
                      <a:spLocks noRot="1" noChangeAspect="1" noMove="1" noResize="1" noEditPoints="1" noAdjustHandles="1" noChangeArrowheads="1" noChangeShapeType="1" noTextEdit="1"/>
                    </p:cNvSpPr>
                    <p:nvPr/>
                  </p:nvSpPr>
                  <p:spPr>
                    <a:xfrm>
                      <a:off x="3733411" y="2989434"/>
                      <a:ext cx="1288500" cy="1025343"/>
                    </a:xfrm>
                    <a:prstGeom prst="rect">
                      <a:avLst/>
                    </a:prstGeom>
                    <a:blipFill>
                      <a:blip r:embed="rId6"/>
                      <a:stretch>
                        <a:fillRect l="-3433" t="-7463" b="-9950"/>
                      </a:stretch>
                    </a:blipFill>
                  </p:spPr>
                  <p:txBody>
                    <a:bodyPr/>
                    <a:lstStyle/>
                    <a:p>
                      <a:r>
                        <a:rPr lang="zh-CN" altLang="en-US">
                          <a:noFill/>
                        </a:rPr>
                        <a:t> </a:t>
                      </a:r>
                    </a:p>
                  </p:txBody>
                </p:sp>
              </mc:Fallback>
            </mc:AlternateContent>
          </p:grpSp>
          <p:sp>
            <p:nvSpPr>
              <p:cNvPr id="23" name="文本框 22">
                <a:extLst>
                  <a:ext uri="{FF2B5EF4-FFF2-40B4-BE49-F238E27FC236}">
                    <a16:creationId xmlns:a16="http://schemas.microsoft.com/office/drawing/2014/main" id="{B9CB035C-E8ED-4BBC-8E50-29CE1A3EAEA8}"/>
                  </a:ext>
                </a:extLst>
              </p:cNvPr>
              <p:cNvSpPr txBox="1"/>
              <p:nvPr/>
            </p:nvSpPr>
            <p:spPr>
              <a:xfrm>
                <a:off x="3570320" y="3613441"/>
                <a:ext cx="607891" cy="246221"/>
              </a:xfrm>
              <a:prstGeom prst="rect">
                <a:avLst/>
              </a:prstGeom>
              <a:noFill/>
            </p:spPr>
            <p:txBody>
              <a:bodyPr wrap="square" tIns="0" bIns="0" rtlCol="0">
                <a:spAutoFit/>
              </a:bodyPr>
              <a:lstStyle/>
              <a:p>
                <a:r>
                  <a:rPr lang="zh-CN" altLang="en-US" sz="1600" b="1">
                    <a:solidFill>
                      <a:schemeClr val="accent2">
                        <a:lumMod val="50000"/>
                      </a:schemeClr>
                    </a:solidFill>
                    <a:latin typeface="楷体" panose="02010609060101010101" pitchFamily="49" charset="-122"/>
                    <a:ea typeface="楷体" panose="02010609060101010101" pitchFamily="49" charset="-122"/>
                  </a:rPr>
                  <a:t>扩展</a:t>
                </a:r>
              </a:p>
            </p:txBody>
          </p:sp>
        </p:grpSp>
        <p:grpSp>
          <p:nvGrpSpPr>
            <p:cNvPr id="4" name="组合 3">
              <a:extLst>
                <a:ext uri="{FF2B5EF4-FFF2-40B4-BE49-F238E27FC236}">
                  <a16:creationId xmlns:a16="http://schemas.microsoft.com/office/drawing/2014/main" id="{F6BC0CDB-4FFD-41C8-9E06-BDE16AC181B9}"/>
                </a:ext>
              </a:extLst>
            </p:cNvPr>
            <p:cNvGrpSpPr/>
            <p:nvPr/>
          </p:nvGrpSpPr>
          <p:grpSpPr>
            <a:xfrm>
              <a:off x="6396375" y="2948694"/>
              <a:ext cx="4843909" cy="1223412"/>
              <a:chOff x="6261364" y="2956397"/>
              <a:chExt cx="4843909" cy="1223412"/>
            </a:xfrm>
          </p:grpSpPr>
          <p:grpSp>
            <p:nvGrpSpPr>
              <p:cNvPr id="19" name="组合 18">
                <a:extLst>
                  <a:ext uri="{FF2B5EF4-FFF2-40B4-BE49-F238E27FC236}">
                    <a16:creationId xmlns:a16="http://schemas.microsoft.com/office/drawing/2014/main" id="{1F87DEC8-A7EF-4189-B5AC-853CA875D07C}"/>
                  </a:ext>
                </a:extLst>
              </p:cNvPr>
              <p:cNvGrpSpPr/>
              <p:nvPr/>
            </p:nvGrpSpPr>
            <p:grpSpPr>
              <a:xfrm>
                <a:off x="6261364" y="2956397"/>
                <a:ext cx="4843909" cy="1223412"/>
                <a:chOff x="585479" y="2989434"/>
                <a:chExt cx="4436432" cy="1035912"/>
              </a:xfrm>
            </p:grpSpPr>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15D6B93-DCEB-4561-A61B-4D31D4DB1958}"/>
                        </a:ext>
                      </a:extLst>
                    </p:cNvPr>
                    <p:cNvSpPr txBox="1"/>
                    <p:nvPr/>
                  </p:nvSpPr>
                  <p:spPr>
                    <a:xfrm>
                      <a:off x="585479" y="3389415"/>
                      <a:ext cx="2569032" cy="260607"/>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𝒒</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e>
                          </m:d>
                        </m:oMath>
                      </a14:m>
                      <a:r>
                        <a:rPr lang="zh-CN" altLang="en-US" sz="2000" b="1">
                          <a:solidFill>
                            <a:srgbClr val="C00000"/>
                          </a:solidFill>
                        </a:rPr>
                        <a:t>编码为</a:t>
                      </a:r>
                      <a:r>
                        <a:rPr lang="en-US" altLang="zh-CN" sz="2000" b="1">
                          <a:solidFill>
                            <a:srgbClr val="C00000"/>
                          </a:solidFill>
                          <a:latin typeface="Cambria Math" panose="02040503050406030204" pitchFamily="18" charset="0"/>
                          <a:ea typeface="Cambria Math" panose="02040503050406030204" pitchFamily="18" charset="0"/>
                        </a:rPr>
                        <a:t>(- 1 - 0)</a:t>
                      </a:r>
                      <a:endParaRPr lang="zh-CN" altLang="en-US" sz="2000" b="1">
                        <a:solidFill>
                          <a:srgbClr val="C00000"/>
                        </a:solidFill>
                        <a:latin typeface="Cambria Math" panose="02040503050406030204" pitchFamily="18" charset="0"/>
                      </a:endParaRPr>
                    </a:p>
                  </p:txBody>
                </p:sp>
              </mc:Choice>
              <mc:Fallback xmlns="">
                <p:sp>
                  <p:nvSpPr>
                    <p:cNvPr id="20" name="文本框 19">
                      <a:extLst>
                        <a:ext uri="{FF2B5EF4-FFF2-40B4-BE49-F238E27FC236}">
                          <a16:creationId xmlns:a16="http://schemas.microsoft.com/office/drawing/2014/main" id="{015D6B93-DCEB-4561-A61B-4D31D4DB1958}"/>
                        </a:ext>
                      </a:extLst>
                    </p:cNvPr>
                    <p:cNvSpPr txBox="1">
                      <a:spLocks noRot="1" noChangeAspect="1" noMove="1" noResize="1" noEditPoints="1" noAdjustHandles="1" noChangeArrowheads="1" noChangeShapeType="1" noTextEdit="1"/>
                    </p:cNvSpPr>
                    <p:nvPr/>
                  </p:nvSpPr>
                  <p:spPr>
                    <a:xfrm>
                      <a:off x="585479" y="3389415"/>
                      <a:ext cx="2569032" cy="260607"/>
                    </a:xfrm>
                    <a:prstGeom prst="rect">
                      <a:avLst/>
                    </a:prstGeom>
                    <a:blipFill>
                      <a:blip r:embed="rId7"/>
                      <a:stretch>
                        <a:fillRect t="-30000" b="-50000"/>
                      </a:stretch>
                    </a:blipFill>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139DC43C-592D-4787-AE99-BBFBD62C17DD}"/>
                    </a:ext>
                  </a:extLst>
                </p:cNvPr>
                <p:cNvSpPr/>
                <p:nvPr/>
              </p:nvSpPr>
              <p:spPr>
                <a:xfrm>
                  <a:off x="3154511" y="3495650"/>
                  <a:ext cx="578900" cy="8787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78F2CB0-3712-4870-8AAD-23DD3AE0BEBC}"/>
                        </a:ext>
                      </a:extLst>
                    </p:cNvPr>
                    <p:cNvSpPr txBox="1"/>
                    <p:nvPr/>
                  </p:nvSpPr>
                  <p:spPr>
                    <a:xfrm>
                      <a:off x="3733411" y="2989434"/>
                      <a:ext cx="1288500" cy="1035912"/>
                    </a:xfrm>
                    <a:prstGeom prst="rect">
                      <a:avLst/>
                    </a:prstGeom>
                    <a:solidFill>
                      <a:schemeClr val="accent2">
                        <a:lumMod val="20000"/>
                        <a:lumOff val="80000"/>
                      </a:schemeClr>
                    </a:solidFill>
                  </p:spPr>
                  <p:txBody>
                    <a:bodyPr wrap="square" tIns="0" bIns="0" rtlCol="0">
                      <a:spAutoFit/>
                    </a:bodyPr>
                    <a:lstStyle/>
                    <a:p>
                      <a:pPr>
                        <a:spcAft>
                          <a:spcPts val="300"/>
                        </a:spcAft>
                      </a:pPr>
                      <a:r>
                        <a:rPr lang="en-US" altLang="zh-CN" b="1">
                          <a:solidFill>
                            <a:srgbClr val="C00000"/>
                          </a:solidFill>
                          <a:latin typeface="Cambria Math" panose="02040503050406030204" pitchFamily="18" charset="0"/>
                          <a:ea typeface="Cambria Math" panose="02040503050406030204" pitchFamily="18" charset="0"/>
                        </a:rPr>
                        <a:t>0</a:t>
                      </a: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0</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𝟒</m:t>
                              </m:r>
                            </m:sub>
                          </m:sSub>
                        </m:oMath>
                      </a14:m>
                      <a:endParaRPr lang="en-US" altLang="zh-CN" b="1">
                        <a:solidFill>
                          <a:srgbClr val="C00000"/>
                        </a:solidFill>
                      </a:endParaRPr>
                    </a:p>
                    <a:p>
                      <a:pPr>
                        <a:spcAft>
                          <a:spcPts val="300"/>
                        </a:spcAft>
                      </a:pPr>
                      <a:r>
                        <a:rPr lang="en-US" altLang="zh-CN" b="1">
                          <a:solidFill>
                            <a:srgbClr val="C00000"/>
                          </a:solidFill>
                          <a:latin typeface="Cambria Math" panose="02040503050406030204" pitchFamily="18" charset="0"/>
                          <a:ea typeface="Cambria Math" panose="02040503050406030204" pitchFamily="18" charset="0"/>
                        </a:rPr>
                        <a:t>0</a:t>
                      </a: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1</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𝟔</m:t>
                              </m:r>
                            </m:sub>
                          </m:sSub>
                        </m:oMath>
                      </a14:m>
                      <a:endParaRPr lang="en-US" altLang="zh-CN" b="1">
                        <a:solidFill>
                          <a:srgbClr val="C00000"/>
                        </a:solidFill>
                      </a:endParaRPr>
                    </a:p>
                    <a:p>
                      <a:pPr>
                        <a:spcAft>
                          <a:spcPts val="300"/>
                        </a:spcAft>
                      </a:pPr>
                      <a:r>
                        <a:rPr lang="en-US" altLang="zh-CN" b="1">
                          <a:solidFill>
                            <a:srgbClr val="C00000"/>
                          </a:solidFill>
                          <a:latin typeface="Cambria Math" panose="02040503050406030204" pitchFamily="18" charset="0"/>
                          <a:ea typeface="Cambria Math" panose="02040503050406030204" pitchFamily="18" charset="0"/>
                        </a:rPr>
                        <a:t>1</a:t>
                      </a: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0</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𝟏𝟐</m:t>
                              </m:r>
                            </m:sub>
                          </m:sSub>
                        </m:oMath>
                      </a14:m>
                      <a:endParaRPr lang="en-US" altLang="zh-CN" b="1">
                        <a:solidFill>
                          <a:srgbClr val="C00000"/>
                        </a:solidFill>
                      </a:endParaRPr>
                    </a:p>
                    <a:p>
                      <a:pPr>
                        <a:spcAft>
                          <a:spcPts val="300"/>
                        </a:spcAft>
                      </a:pPr>
                      <a:r>
                        <a:rPr lang="en-US" altLang="zh-CN" b="1">
                          <a:solidFill>
                            <a:srgbClr val="C00000"/>
                          </a:solidFill>
                          <a:latin typeface="Cambria Math" panose="02040503050406030204" pitchFamily="18" charset="0"/>
                          <a:ea typeface="Cambria Math" panose="02040503050406030204" pitchFamily="18" charset="0"/>
                        </a:rPr>
                        <a:t>1</a:t>
                      </a:r>
                      <a:r>
                        <a:rPr lang="en-US" altLang="zh-CN" b="1">
                          <a:solidFill>
                            <a:srgbClr val="002060"/>
                          </a:solidFill>
                          <a:latin typeface="Cambria Math" panose="02040503050406030204" pitchFamily="18" charset="0"/>
                          <a:ea typeface="Cambria Math" panose="02040503050406030204" pitchFamily="18" charset="0"/>
                        </a:rPr>
                        <a:t>1</a:t>
                      </a:r>
                      <a:r>
                        <a:rPr lang="en-US" altLang="zh-CN" b="1">
                          <a:solidFill>
                            <a:srgbClr val="C00000"/>
                          </a:solidFill>
                          <a:latin typeface="Cambria Math" panose="02040503050406030204" pitchFamily="18" charset="0"/>
                          <a:ea typeface="Cambria Math" panose="02040503050406030204" pitchFamily="18" charset="0"/>
                        </a:rPr>
                        <a:t>1</a:t>
                      </a:r>
                      <a:r>
                        <a:rPr lang="en-US" altLang="zh-CN" b="1">
                          <a:solidFill>
                            <a:srgbClr val="002060"/>
                          </a:solidFill>
                          <a:latin typeface="Cambria Math" panose="02040503050406030204" pitchFamily="18" charset="0"/>
                          <a:ea typeface="Cambria Math" panose="02040503050406030204" pitchFamily="18" charset="0"/>
                        </a:rPr>
                        <a:t>0</a:t>
                      </a:r>
                      <a:r>
                        <a:rPr lang="en-US" altLang="zh-CN"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𝑴</m:t>
                              </m:r>
                            </m:e>
                            <m:sub>
                              <m:r>
                                <a:rPr lang="en-US" altLang="zh-CN" b="1" i="1" smtClean="0">
                                  <a:solidFill>
                                    <a:srgbClr val="C00000"/>
                                  </a:solidFill>
                                  <a:latin typeface="Cambria Math" panose="02040503050406030204" pitchFamily="18" charset="0"/>
                                </a:rPr>
                                <m:t>𝟏𝟒</m:t>
                              </m:r>
                            </m:sub>
                          </m:sSub>
                        </m:oMath>
                      </a14:m>
                      <a:endParaRPr lang="zh-CN" altLang="en-US" sz="1600" b="1">
                        <a:solidFill>
                          <a:srgbClr val="C00000"/>
                        </a:solidFill>
                      </a:endParaRPr>
                    </a:p>
                  </p:txBody>
                </p:sp>
              </mc:Choice>
              <mc:Fallback xmlns="">
                <p:sp>
                  <p:nvSpPr>
                    <p:cNvPr id="22" name="文本框 21">
                      <a:extLst>
                        <a:ext uri="{FF2B5EF4-FFF2-40B4-BE49-F238E27FC236}">
                          <a16:creationId xmlns:a16="http://schemas.microsoft.com/office/drawing/2014/main" id="{478F2CB0-3712-4870-8AAD-23DD3AE0BEBC}"/>
                        </a:ext>
                      </a:extLst>
                    </p:cNvPr>
                    <p:cNvSpPr txBox="1">
                      <a:spLocks noRot="1" noChangeAspect="1" noMove="1" noResize="1" noEditPoints="1" noAdjustHandles="1" noChangeArrowheads="1" noChangeShapeType="1" noTextEdit="1"/>
                    </p:cNvSpPr>
                    <p:nvPr/>
                  </p:nvSpPr>
                  <p:spPr>
                    <a:xfrm>
                      <a:off x="3733411" y="2989434"/>
                      <a:ext cx="1288500" cy="1035912"/>
                    </a:xfrm>
                    <a:prstGeom prst="rect">
                      <a:avLst/>
                    </a:prstGeom>
                    <a:blipFill>
                      <a:blip r:embed="rId8"/>
                      <a:stretch>
                        <a:fillRect l="-3463" t="-7463" b="-9950"/>
                      </a:stretch>
                    </a:blipFill>
                  </p:spPr>
                  <p:txBody>
                    <a:bodyPr/>
                    <a:lstStyle/>
                    <a:p>
                      <a:r>
                        <a:rPr lang="zh-CN" altLang="en-US">
                          <a:noFill/>
                        </a:rPr>
                        <a:t> </a:t>
                      </a:r>
                    </a:p>
                  </p:txBody>
                </p:sp>
              </mc:Fallback>
            </mc:AlternateContent>
          </p:grpSp>
          <p:sp>
            <p:nvSpPr>
              <p:cNvPr id="24" name="文本框 23">
                <a:extLst>
                  <a:ext uri="{FF2B5EF4-FFF2-40B4-BE49-F238E27FC236}">
                    <a16:creationId xmlns:a16="http://schemas.microsoft.com/office/drawing/2014/main" id="{014EABAE-2424-4CCA-887F-BAC9F522683D}"/>
                  </a:ext>
                </a:extLst>
              </p:cNvPr>
              <p:cNvSpPr txBox="1"/>
              <p:nvPr/>
            </p:nvSpPr>
            <p:spPr>
              <a:xfrm>
                <a:off x="9090536" y="3606125"/>
                <a:ext cx="607891" cy="246221"/>
              </a:xfrm>
              <a:prstGeom prst="rect">
                <a:avLst/>
              </a:prstGeom>
              <a:noFill/>
            </p:spPr>
            <p:txBody>
              <a:bodyPr wrap="square" tIns="0" bIns="0" rtlCol="0">
                <a:spAutoFit/>
              </a:bodyPr>
              <a:lstStyle/>
              <a:p>
                <a:r>
                  <a:rPr lang="zh-CN" altLang="en-US" sz="1600" b="1">
                    <a:solidFill>
                      <a:schemeClr val="accent2">
                        <a:lumMod val="50000"/>
                      </a:schemeClr>
                    </a:solidFill>
                    <a:latin typeface="楷体" panose="02010609060101010101" pitchFamily="49" charset="-122"/>
                    <a:ea typeface="楷体" panose="02010609060101010101" pitchFamily="49" charset="-122"/>
                  </a:rPr>
                  <a:t>扩展</a:t>
                </a:r>
              </a:p>
            </p:txBody>
          </p:sp>
        </p:grpSp>
      </p:grpSp>
      <p:grpSp>
        <p:nvGrpSpPr>
          <p:cNvPr id="31" name="组合 30">
            <a:extLst>
              <a:ext uri="{FF2B5EF4-FFF2-40B4-BE49-F238E27FC236}">
                <a16:creationId xmlns:a16="http://schemas.microsoft.com/office/drawing/2014/main" id="{F787C948-9CED-4056-B25F-E01E560525A6}"/>
              </a:ext>
            </a:extLst>
          </p:cNvPr>
          <p:cNvGrpSpPr/>
          <p:nvPr/>
        </p:nvGrpSpPr>
        <p:grpSpPr>
          <a:xfrm>
            <a:off x="533766" y="4534324"/>
            <a:ext cx="11221866" cy="1402273"/>
            <a:chOff x="533766" y="4534324"/>
            <a:chExt cx="11221866" cy="1402273"/>
          </a:xfrm>
        </p:grpSpPr>
        <p:grpSp>
          <p:nvGrpSpPr>
            <p:cNvPr id="27" name="组合 26">
              <a:extLst>
                <a:ext uri="{FF2B5EF4-FFF2-40B4-BE49-F238E27FC236}">
                  <a16:creationId xmlns:a16="http://schemas.microsoft.com/office/drawing/2014/main" id="{3E0F1F0B-F34A-472F-885F-E9094A40B24A}"/>
                </a:ext>
              </a:extLst>
            </p:cNvPr>
            <p:cNvGrpSpPr/>
            <p:nvPr/>
          </p:nvGrpSpPr>
          <p:grpSpPr>
            <a:xfrm>
              <a:off x="533766" y="4534324"/>
              <a:ext cx="11221866" cy="1015663"/>
              <a:chOff x="533766" y="4677198"/>
              <a:chExt cx="11221866" cy="1015663"/>
            </a:xfrm>
          </p:grpSpPr>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A4E57C3B-7473-42A5-88F0-D65EE28B4161}"/>
                      </a:ext>
                    </a:extLst>
                  </p:cNvPr>
                  <p:cNvSpPr txBox="1"/>
                  <p:nvPr/>
                </p:nvSpPr>
                <p:spPr>
                  <a:xfrm>
                    <a:off x="533766" y="4677198"/>
                    <a:ext cx="4761860" cy="1015663"/>
                  </a:xfrm>
                  <a:prstGeom prst="rect">
                    <a:avLst/>
                  </a:prstGeom>
                  <a:solidFill>
                    <a:schemeClr val="accent5">
                      <a:lumMod val="20000"/>
                      <a:lumOff val="80000"/>
                      <a:alpha val="50000"/>
                    </a:schemeClr>
                  </a:solidFill>
                </p:spPr>
                <p:txBody>
                  <a:bodyPr wrap="square" rtlCol="0">
                    <a:spAutoFit/>
                  </a:bodyPr>
                  <a:lstStyle/>
                  <a:p>
                    <a:pPr algn="ctr">
                      <a:spcBef>
                        <a:spcPts val="1200"/>
                      </a:spcBef>
                      <a:spcAft>
                        <a:spcPts val="1200"/>
                      </a:spcAft>
                    </a:pPr>
                    <a:r>
                      <a:rPr lang="zh-CN" altLang="en-US" sz="2000" b="1">
                        <a:solidFill>
                          <a:srgbClr val="002060"/>
                        </a:solidFill>
                      </a:rPr>
                      <a:t>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rPr>
                      <a:t>的主合取范式</a:t>
                    </a:r>
                    <a:endParaRPr lang="en-US" altLang="zh-CN" sz="2000" b="1">
                      <a:solidFill>
                        <a:srgbClr val="002060"/>
                      </a:solidFill>
                    </a:endParaRPr>
                  </a:p>
                  <a:p>
                    <a:pPr algn="ctr">
                      <a:spcBef>
                        <a:spcPts val="1200"/>
                      </a:spcBef>
                      <a:spcAft>
                        <a:spcPts val="12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𝑴</m:t>
                              </m:r>
                            </m:e>
                            <m:sub>
                              <m:r>
                                <a:rPr lang="en-US" altLang="zh-CN" sz="2000" b="1" i="1" smtClean="0">
                                  <a:solidFill>
                                    <a:schemeClr val="accent6">
                                      <a:lumMod val="50000"/>
                                    </a:schemeClr>
                                  </a:solidFill>
                                  <a:latin typeface="Cambria Math" panose="02040503050406030204" pitchFamily="18" charset="0"/>
                                </a:rPr>
                                <m:t>𝟒</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𝑴</m:t>
                              </m:r>
                            </m:e>
                            <m:sub>
                              <m:r>
                                <a:rPr lang="en-US" altLang="zh-CN" sz="2000" b="1" i="1" smtClean="0">
                                  <a:solidFill>
                                    <a:schemeClr val="accent6">
                                      <a:lumMod val="50000"/>
                                    </a:schemeClr>
                                  </a:solidFill>
                                  <a:latin typeface="Cambria Math" panose="02040503050406030204" pitchFamily="18" charset="0"/>
                                </a:rPr>
                                <m:t>𝟔</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𝑴</m:t>
                              </m:r>
                            </m:e>
                            <m:sub>
                              <m:r>
                                <a:rPr lang="en-US" altLang="zh-CN" sz="2000" b="1" i="1" smtClean="0">
                                  <a:solidFill>
                                    <a:schemeClr val="accent6">
                                      <a:lumMod val="50000"/>
                                    </a:schemeClr>
                                  </a:solidFill>
                                  <a:latin typeface="Cambria Math" panose="02040503050406030204" pitchFamily="18" charset="0"/>
                                </a:rPr>
                                <m:t>𝟖</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𝑴</m:t>
                              </m:r>
                            </m:e>
                            <m:sub>
                              <m:r>
                                <a:rPr lang="en-US" altLang="zh-CN" sz="2000" b="1" i="1" smtClean="0">
                                  <a:solidFill>
                                    <a:schemeClr val="accent6">
                                      <a:lumMod val="50000"/>
                                    </a:schemeClr>
                                  </a:solidFill>
                                  <a:latin typeface="Cambria Math" panose="02040503050406030204" pitchFamily="18" charset="0"/>
                                </a:rPr>
                                <m:t>𝟗</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𝑴</m:t>
                              </m:r>
                            </m:e>
                            <m:sub>
                              <m:r>
                                <a:rPr lang="en-US" altLang="zh-CN" sz="2000" b="1" i="1" smtClean="0">
                                  <a:solidFill>
                                    <a:schemeClr val="accent6">
                                      <a:lumMod val="50000"/>
                                    </a:schemeClr>
                                  </a:solidFill>
                                  <a:latin typeface="Cambria Math" panose="02040503050406030204" pitchFamily="18" charset="0"/>
                                </a:rPr>
                                <m:t>𝟏𝟐</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𝑴</m:t>
                              </m:r>
                            </m:e>
                            <m:sub>
                              <m:r>
                                <a:rPr lang="en-US" altLang="zh-CN" sz="2000" b="1" i="1" smtClean="0">
                                  <a:solidFill>
                                    <a:schemeClr val="accent6">
                                      <a:lumMod val="50000"/>
                                    </a:schemeClr>
                                  </a:solidFill>
                                  <a:latin typeface="Cambria Math" panose="02040503050406030204" pitchFamily="18" charset="0"/>
                                </a:rPr>
                                <m:t>𝟏𝟑</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𝑴</m:t>
                              </m:r>
                            </m:e>
                            <m:sub>
                              <m:r>
                                <a:rPr lang="en-US" altLang="zh-CN" sz="2000" b="1" i="1">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𝟒</m:t>
                              </m:r>
                            </m:sub>
                          </m:sSub>
                        </m:oMath>
                      </m:oMathPara>
                    </a14:m>
                    <a:endParaRPr lang="zh-CN" altLang="en-US" sz="2000" b="1"/>
                  </a:p>
                </p:txBody>
              </p:sp>
            </mc:Choice>
            <mc:Fallback xmlns="">
              <p:sp>
                <p:nvSpPr>
                  <p:cNvPr id="25" name="文本框 24">
                    <a:extLst>
                      <a:ext uri="{FF2B5EF4-FFF2-40B4-BE49-F238E27FC236}">
                        <a16:creationId xmlns:a16="http://schemas.microsoft.com/office/drawing/2014/main" id="{A4E57C3B-7473-42A5-88F0-D65EE28B4161}"/>
                      </a:ext>
                    </a:extLst>
                  </p:cNvPr>
                  <p:cNvSpPr txBox="1">
                    <a:spLocks noRot="1" noChangeAspect="1" noMove="1" noResize="1" noEditPoints="1" noAdjustHandles="1" noChangeArrowheads="1" noChangeShapeType="1" noTextEdit="1"/>
                  </p:cNvSpPr>
                  <p:nvPr/>
                </p:nvSpPr>
                <p:spPr>
                  <a:xfrm>
                    <a:off x="533766" y="4677198"/>
                    <a:ext cx="4761860" cy="1015663"/>
                  </a:xfrm>
                  <a:prstGeom prst="rect">
                    <a:avLst/>
                  </a:prstGeom>
                  <a:blipFill>
                    <a:blip r:embed="rId9"/>
                    <a:stretch>
                      <a:fillRect t="-36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6EFE2C0A-CDF9-4B27-8EBC-9F16EBC2786E}"/>
                      </a:ext>
                    </a:extLst>
                  </p:cNvPr>
                  <p:cNvSpPr txBox="1"/>
                  <p:nvPr/>
                </p:nvSpPr>
                <p:spPr>
                  <a:xfrm>
                    <a:off x="5835056" y="4677198"/>
                    <a:ext cx="5920576" cy="1015663"/>
                  </a:xfrm>
                  <a:prstGeom prst="rect">
                    <a:avLst/>
                  </a:prstGeom>
                  <a:solidFill>
                    <a:schemeClr val="accent5">
                      <a:lumMod val="20000"/>
                      <a:lumOff val="80000"/>
                      <a:alpha val="50000"/>
                    </a:schemeClr>
                  </a:solidFill>
                </p:spPr>
                <p:txBody>
                  <a:bodyPr wrap="square" rtlCol="0">
                    <a:spAutoFit/>
                  </a:bodyPr>
                  <a:lstStyle/>
                  <a:p>
                    <a:pPr algn="ctr">
                      <a:spcBef>
                        <a:spcPts val="1200"/>
                      </a:spcBef>
                      <a:spcAft>
                        <a:spcPts val="1200"/>
                      </a:spcAft>
                    </a:pPr>
                    <a:r>
                      <a:rPr lang="zh-CN" altLang="en-US" sz="2000" b="1">
                        <a:solidFill>
                          <a:srgbClr val="002060"/>
                        </a:solidFill>
                      </a:rPr>
                      <a:t>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rPr>
                      <a:t>的主析取范式</a:t>
                    </a:r>
                    <a:endParaRPr lang="en-US" altLang="zh-CN" sz="2000" b="1">
                      <a:solidFill>
                        <a:srgbClr val="002060"/>
                      </a:solidFill>
                    </a:endParaRPr>
                  </a:p>
                  <a:p>
                    <a:pPr algn="ctr">
                      <a:spcBef>
                        <a:spcPts val="1200"/>
                      </a:spcBef>
                      <a:spcAft>
                        <a:spcPts val="12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𝟎</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𝟑</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𝟓</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𝟕</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𝟎</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𝟏𝟏</m:t>
                              </m:r>
                            </m:sub>
                          </m:sSub>
                          <m:r>
                            <a:rPr lang="en-US" altLang="zh-CN" sz="2000" b="1" i="1">
                              <a:solidFill>
                                <a:schemeClr val="accent6">
                                  <a:lumMod val="50000"/>
                                </a:schemeClr>
                              </a:solidFill>
                              <a:latin typeface="Cambria Math" panose="02040503050406030204" pitchFamily="18" charset="0"/>
                            </a:rPr>
                            <m:t>∨</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𝒎</m:t>
                              </m:r>
                            </m:e>
                            <m:sub>
                              <m:r>
                                <a:rPr lang="en-US" altLang="zh-CN" sz="2000" b="1" i="1">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𝟓</m:t>
                              </m:r>
                            </m:sub>
                          </m:sSub>
                        </m:oMath>
                      </m:oMathPara>
                    </a14:m>
                    <a:endParaRPr lang="zh-CN" altLang="en-US" sz="2000" b="1"/>
                  </a:p>
                </p:txBody>
              </p:sp>
            </mc:Choice>
            <mc:Fallback xmlns="">
              <p:sp>
                <p:nvSpPr>
                  <p:cNvPr id="26" name="文本框 25">
                    <a:extLst>
                      <a:ext uri="{FF2B5EF4-FFF2-40B4-BE49-F238E27FC236}">
                        <a16:creationId xmlns:a16="http://schemas.microsoft.com/office/drawing/2014/main" id="{6EFE2C0A-CDF9-4B27-8EBC-9F16EBC2786E}"/>
                      </a:ext>
                    </a:extLst>
                  </p:cNvPr>
                  <p:cNvSpPr txBox="1">
                    <a:spLocks noRot="1" noChangeAspect="1" noMove="1" noResize="1" noEditPoints="1" noAdjustHandles="1" noChangeArrowheads="1" noChangeShapeType="1" noTextEdit="1"/>
                  </p:cNvSpPr>
                  <p:nvPr/>
                </p:nvSpPr>
                <p:spPr>
                  <a:xfrm>
                    <a:off x="5835056" y="4677198"/>
                    <a:ext cx="5920576" cy="1015663"/>
                  </a:xfrm>
                  <a:prstGeom prst="rect">
                    <a:avLst/>
                  </a:prstGeom>
                  <a:blipFill>
                    <a:blip r:embed="rId10"/>
                    <a:stretch>
                      <a:fillRect t="-3614"/>
                    </a:stretch>
                  </a:blipFill>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6722E31C-0D9C-40A5-B8A1-3A50CFB555E0}"/>
                  </a:ext>
                </a:extLst>
              </p:cNvPr>
              <p:cNvSpPr/>
              <p:nvPr/>
            </p:nvSpPr>
            <p:spPr>
              <a:xfrm>
                <a:off x="5295626" y="5124780"/>
                <a:ext cx="539430" cy="1026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文本框 27">
              <a:extLst>
                <a:ext uri="{FF2B5EF4-FFF2-40B4-BE49-F238E27FC236}">
                  <a16:creationId xmlns:a16="http://schemas.microsoft.com/office/drawing/2014/main" id="{F2190B9C-71FC-47F7-9FEC-C15DE56628F9}"/>
                </a:ext>
              </a:extLst>
            </p:cNvPr>
            <p:cNvSpPr txBox="1"/>
            <p:nvPr/>
          </p:nvSpPr>
          <p:spPr>
            <a:xfrm>
              <a:off x="3690622" y="5628820"/>
              <a:ext cx="3703717" cy="307777"/>
            </a:xfrm>
            <a:prstGeom prst="rect">
              <a:avLst/>
            </a:prstGeom>
            <a:solidFill>
              <a:schemeClr val="accent4">
                <a:lumMod val="20000"/>
                <a:lumOff val="80000"/>
              </a:schemeClr>
            </a:solidFill>
          </p:spPr>
          <p:txBody>
            <a:bodyPr wrap="square" lIns="0" tIns="0" rIns="0" bIns="0" rtlCol="0">
              <a:spAutoFit/>
            </a:bodyPr>
            <a:lstStyle/>
            <a:p>
              <a:r>
                <a:rPr lang="zh-CN" altLang="en-US" sz="2000" b="1">
                  <a:solidFill>
                    <a:schemeClr val="accent2">
                      <a:lumMod val="50000"/>
                    </a:schemeClr>
                  </a:solidFill>
                </a:rPr>
                <a:t>主析取与主合取范式编码集互补</a:t>
              </a:r>
            </a:p>
          </p:txBody>
        </p:sp>
        <p:sp>
          <p:nvSpPr>
            <p:cNvPr id="30" name="箭头: 上 29">
              <a:extLst>
                <a:ext uri="{FF2B5EF4-FFF2-40B4-BE49-F238E27FC236}">
                  <a16:creationId xmlns:a16="http://schemas.microsoft.com/office/drawing/2014/main" id="{ACFC7DEC-BFB1-4567-9B12-D1DCF0C3FF38}"/>
                </a:ext>
              </a:extLst>
            </p:cNvPr>
            <p:cNvSpPr/>
            <p:nvPr/>
          </p:nvSpPr>
          <p:spPr>
            <a:xfrm>
              <a:off x="5506465" y="5084543"/>
              <a:ext cx="72033" cy="53655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63A9DD0-C35D-48C9-819D-F146C016E5D8}"/>
                  </a:ext>
                </a:extLst>
              </p:cNvPr>
              <p:cNvSpPr txBox="1"/>
              <p:nvPr/>
            </p:nvSpPr>
            <p:spPr>
              <a:xfrm>
                <a:off x="598636" y="1167044"/>
                <a:ext cx="9420294" cy="461665"/>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rPr>
                  <a:t>求与公式</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 = </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𝒑</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𝒓</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𝒒</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𝒔</m:t>
                        </m:r>
                      </m:e>
                    </m:d>
                  </m:oMath>
                </a14:m>
                <a:r>
                  <a:rPr lang="zh-CN" altLang="en-US" sz="2400" b="1">
                    <a:solidFill>
                      <a:srgbClr val="002060"/>
                    </a:solidFill>
                  </a:rPr>
                  <a:t>逻辑等值的主析取范式和主合取范式</a:t>
                </a:r>
              </a:p>
            </p:txBody>
          </p:sp>
        </mc:Choice>
        <mc:Fallback xmlns="">
          <p:sp>
            <p:nvSpPr>
              <p:cNvPr id="32" name="文本框 31">
                <a:extLst>
                  <a:ext uri="{FF2B5EF4-FFF2-40B4-BE49-F238E27FC236}">
                    <a16:creationId xmlns:a16="http://schemas.microsoft.com/office/drawing/2014/main" id="{063A9DD0-C35D-48C9-819D-F146C016E5D8}"/>
                  </a:ext>
                </a:extLst>
              </p:cNvPr>
              <p:cNvSpPr txBox="1">
                <a:spLocks noRot="1" noChangeAspect="1" noMove="1" noResize="1" noEditPoints="1" noAdjustHandles="1" noChangeArrowheads="1" noChangeShapeType="1" noTextEdit="1"/>
              </p:cNvSpPr>
              <p:nvPr/>
            </p:nvSpPr>
            <p:spPr>
              <a:xfrm>
                <a:off x="598636" y="1167044"/>
                <a:ext cx="9420294" cy="461665"/>
              </a:xfrm>
              <a:prstGeom prst="rect">
                <a:avLst/>
              </a:prstGeom>
              <a:blipFill>
                <a:blip r:embed="rId11"/>
                <a:stretch>
                  <a:fillRect l="-970" t="-9211" r="-453" b="-302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24189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主析取范式与主合取范式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等值演算法求与公式逻辑等值的主范式练习</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4DD4088-D4F5-4B35-B502-2E207437E5C0}"/>
                  </a:ext>
                </a:extLst>
              </p:cNvPr>
              <p:cNvSpPr txBox="1"/>
              <p:nvPr/>
            </p:nvSpPr>
            <p:spPr>
              <a:xfrm>
                <a:off x="585479" y="1718060"/>
                <a:ext cx="7917284" cy="276999"/>
              </a:xfrm>
              <a:prstGeom prst="rect">
                <a:avLst/>
              </a:prstGeom>
              <a:solidFill>
                <a:schemeClr val="accent6">
                  <a:lumMod val="50000"/>
                </a:schemeClr>
              </a:solidFill>
            </p:spPr>
            <p:txBody>
              <a:bodyPr wrap="square" tIns="0" bIns="0" rtlCol="0">
                <a:spAutoFit/>
              </a:bodyPr>
              <a:lstStyle/>
              <a:p>
                <a:r>
                  <a:rPr lang="zh-CN" altLang="en-US">
                    <a:solidFill>
                      <a:schemeClr val="bg1"/>
                    </a:solidFill>
                  </a:rPr>
                  <a:t>与公式</a:t>
                </a:r>
                <a14:m>
                  <m:oMath xmlns:m="http://schemas.openxmlformats.org/officeDocument/2006/math">
                    <m:r>
                      <a:rPr lang="en-US" altLang="zh-CN" i="1" smtClean="0">
                        <a:solidFill>
                          <a:schemeClr val="bg1"/>
                        </a:solidFill>
                        <a:latin typeface="Cambria Math" panose="02040503050406030204" pitchFamily="18" charset="0"/>
                      </a:rPr>
                      <m:t>𝐴</m:t>
                    </m:r>
                    <m:r>
                      <a:rPr lang="en-US" altLang="zh-CN" i="1" smtClean="0">
                        <a:solidFill>
                          <a:schemeClr val="bg1"/>
                        </a:solidFill>
                        <a:latin typeface="Cambria Math" panose="02040503050406030204" pitchFamily="18" charset="0"/>
                      </a:rPr>
                      <m:t> =</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panose="02040503050406030204" pitchFamily="18" charset="0"/>
                          </a:rPr>
                          <m:t>𝑝</m:t>
                        </m:r>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𝑟</m:t>
                        </m:r>
                      </m:e>
                    </m:d>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𝑞</m:t>
                    </m:r>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𝑠</m:t>
                    </m:r>
                    <m:r>
                      <a:rPr lang="en-US" altLang="zh-CN" b="0" i="1" smtClean="0">
                        <a:solidFill>
                          <a:schemeClr val="bg1"/>
                        </a:solidFill>
                        <a:latin typeface="Cambria Math" panose="02040503050406030204" pitchFamily="18" charset="0"/>
                      </a:rPr>
                      <m:t>) </m:t>
                    </m:r>
                  </m:oMath>
                </a14:m>
                <a:r>
                  <a:rPr lang="zh-CN" altLang="en-US">
                    <a:solidFill>
                      <a:schemeClr val="bg1"/>
                    </a:solidFill>
                  </a:rPr>
                  <a:t>逻辑等值的一个合取范式是</a:t>
                </a:r>
                <a14:m>
                  <m:oMath xmlns:m="http://schemas.openxmlformats.org/officeDocument/2006/math">
                    <m:d>
                      <m:dPr>
                        <m:ctrlPr>
                          <a:rPr lang="en-US" altLang="zh-CN" i="1" smtClean="0">
                            <a:solidFill>
                              <a:schemeClr val="bg1"/>
                            </a:solidFill>
                            <a:latin typeface="Cambria Math" panose="02040503050406030204" pitchFamily="18" charset="0"/>
                          </a:rPr>
                        </m:ctrlPr>
                      </m:dPr>
                      <m:e>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𝑝</m:t>
                        </m:r>
                        <m:r>
                          <a:rPr lang="en-US" altLang="zh-CN"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𝑟</m:t>
                        </m:r>
                      </m:e>
                    </m:d>
                    <m:r>
                      <a:rPr lang="en-US" altLang="zh-CN" i="1" smtClean="0">
                        <a:solidFill>
                          <a:schemeClr val="bg1"/>
                        </a:solidFill>
                        <a:latin typeface="Cambria Math" panose="02040503050406030204" pitchFamily="18" charset="0"/>
                      </a:rPr>
                      <m:t>∧</m:t>
                    </m:r>
                    <m:d>
                      <m:dPr>
                        <m:ctrlPr>
                          <a:rPr lang="en-US" altLang="zh-CN" i="1" smtClean="0">
                            <a:solidFill>
                              <a:schemeClr val="bg1"/>
                            </a:solidFill>
                            <a:latin typeface="Cambria Math" panose="02040503050406030204" pitchFamily="18" charset="0"/>
                          </a:rPr>
                        </m:ctrlPr>
                      </m:dPr>
                      <m:e>
                        <m:r>
                          <a:rPr lang="en-US" altLang="zh-CN"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𝑞</m:t>
                        </m:r>
                        <m:r>
                          <a:rPr lang="en-US" altLang="zh-CN"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𝑠</m:t>
                        </m:r>
                      </m:e>
                    </m:d>
                  </m:oMath>
                </a14:m>
                <a:endParaRPr lang="zh-CN" altLang="en-US">
                  <a:solidFill>
                    <a:schemeClr val="bg1"/>
                  </a:solidFill>
                </a:endParaRPr>
              </a:p>
            </p:txBody>
          </p:sp>
        </mc:Choice>
        <mc:Fallback xmlns="">
          <p:sp>
            <p:nvSpPr>
              <p:cNvPr id="13" name="文本框 12">
                <a:extLst>
                  <a:ext uri="{FF2B5EF4-FFF2-40B4-BE49-F238E27FC236}">
                    <a16:creationId xmlns:a16="http://schemas.microsoft.com/office/drawing/2014/main" id="{D4DD4088-D4F5-4B35-B502-2E207437E5C0}"/>
                  </a:ext>
                </a:extLst>
              </p:cNvPr>
              <p:cNvSpPr txBox="1">
                <a:spLocks noRot="1" noChangeAspect="1" noMove="1" noResize="1" noEditPoints="1" noAdjustHandles="1" noChangeArrowheads="1" noChangeShapeType="1" noTextEdit="1"/>
              </p:cNvSpPr>
              <p:nvPr/>
            </p:nvSpPr>
            <p:spPr>
              <a:xfrm>
                <a:off x="585479" y="1718060"/>
                <a:ext cx="7917284" cy="276999"/>
              </a:xfrm>
              <a:prstGeom prst="rect">
                <a:avLst/>
              </a:prstGeom>
              <a:blipFill>
                <a:blip r:embed="rId2"/>
                <a:stretch>
                  <a:fillRect l="-616" t="-28889" b="-51111"/>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F9E47D15-097F-4109-ACBE-80E4498ADC3A}"/>
              </a:ext>
            </a:extLst>
          </p:cNvPr>
          <p:cNvPicPr>
            <a:picLocks noChangeAspect="1"/>
          </p:cNvPicPr>
          <p:nvPr/>
        </p:nvPicPr>
        <p:blipFill>
          <a:blip r:embed="rId3"/>
          <a:stretch>
            <a:fillRect/>
          </a:stretch>
        </p:blipFill>
        <p:spPr>
          <a:xfrm>
            <a:off x="2479796" y="2098515"/>
            <a:ext cx="7328623" cy="4300671"/>
          </a:xfrm>
          <a:prstGeom prst="rect">
            <a:avLst/>
          </a:prstGeom>
        </p:spPr>
      </p:pic>
      <p:sp>
        <p:nvSpPr>
          <p:cNvPr id="3" name="文本框 2">
            <a:extLst>
              <a:ext uri="{FF2B5EF4-FFF2-40B4-BE49-F238E27FC236}">
                <a16:creationId xmlns:a16="http://schemas.microsoft.com/office/drawing/2014/main" id="{50C84317-B517-4D45-8D3F-1C5B0EB1DAE1}"/>
              </a:ext>
            </a:extLst>
          </p:cNvPr>
          <p:cNvSpPr txBox="1"/>
          <p:nvPr/>
        </p:nvSpPr>
        <p:spPr>
          <a:xfrm>
            <a:off x="585479" y="2435776"/>
            <a:ext cx="1852921" cy="646331"/>
          </a:xfrm>
          <a:prstGeom prst="rect">
            <a:avLst/>
          </a:prstGeom>
          <a:solidFill>
            <a:schemeClr val="accent4">
              <a:lumMod val="20000"/>
              <a:lumOff val="80000"/>
            </a:schemeClr>
          </a:solidFill>
        </p:spPr>
        <p:txBody>
          <a:bodyPr wrap="square" rtlCol="0">
            <a:spAutoFit/>
          </a:bodyPr>
          <a:lstStyle/>
          <a:p>
            <a:r>
              <a:rPr lang="zh-CN" altLang="en-US" b="1">
                <a:solidFill>
                  <a:srgbClr val="FF0000"/>
                </a:solidFill>
              </a:rPr>
              <a:t>例题演示软件扩展范式为主范式</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ABE48E2-7793-45A2-84C4-3BFBE285E450}"/>
                  </a:ext>
                </a:extLst>
              </p:cNvPr>
              <p:cNvSpPr txBox="1"/>
              <p:nvPr/>
            </p:nvSpPr>
            <p:spPr>
              <a:xfrm>
                <a:off x="598636" y="1167044"/>
                <a:ext cx="9420294" cy="461665"/>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rPr>
                  <a:t>求与公式</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 = </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𝒑</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𝒓</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𝒒</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𝒔</m:t>
                        </m:r>
                      </m:e>
                    </m:d>
                  </m:oMath>
                </a14:m>
                <a:r>
                  <a:rPr lang="zh-CN" altLang="en-US" sz="2400" b="1">
                    <a:solidFill>
                      <a:srgbClr val="002060"/>
                    </a:solidFill>
                  </a:rPr>
                  <a:t>逻辑等值的主析取范式和主合取范式</a:t>
                </a:r>
              </a:p>
            </p:txBody>
          </p:sp>
        </mc:Choice>
        <mc:Fallback xmlns="">
          <p:sp>
            <p:nvSpPr>
              <p:cNvPr id="15" name="文本框 14">
                <a:extLst>
                  <a:ext uri="{FF2B5EF4-FFF2-40B4-BE49-F238E27FC236}">
                    <a16:creationId xmlns:a16="http://schemas.microsoft.com/office/drawing/2014/main" id="{0ABE48E2-7793-45A2-84C4-3BFBE285E450}"/>
                  </a:ext>
                </a:extLst>
              </p:cNvPr>
              <p:cNvSpPr txBox="1">
                <a:spLocks noRot="1" noChangeAspect="1" noMove="1" noResize="1" noEditPoints="1" noAdjustHandles="1" noChangeArrowheads="1" noChangeShapeType="1" noTextEdit="1"/>
              </p:cNvSpPr>
              <p:nvPr/>
            </p:nvSpPr>
            <p:spPr>
              <a:xfrm>
                <a:off x="598636" y="1167044"/>
                <a:ext cx="9420294" cy="461665"/>
              </a:xfrm>
              <a:prstGeom prst="rect">
                <a:avLst/>
              </a:prstGeom>
              <a:blipFill>
                <a:blip r:embed="rId4"/>
                <a:stretch>
                  <a:fillRect l="-970" t="-9211" r="-453" b="-302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006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a:extLst>
              <a:ext uri="{FF2B5EF4-FFF2-40B4-BE49-F238E27FC236}">
                <a16:creationId xmlns:a16="http://schemas.microsoft.com/office/drawing/2014/main" id="{EF550948-0A88-4D14-B7D1-47069CABE5F1}"/>
              </a:ext>
            </a:extLst>
          </p:cNvPr>
          <p:cNvSpPr txBox="1"/>
          <p:nvPr/>
        </p:nvSpPr>
        <p:spPr>
          <a:xfrm>
            <a:off x="762479" y="1422039"/>
            <a:ext cx="4571042" cy="2431435"/>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析取范式和合取范式</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析取范式是简单合取式的析取</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4">
                    <a:lumMod val="50000"/>
                  </a:schemeClr>
                </a:solidFill>
                <a:latin typeface="宋体" panose="02010600030101010101" pitchFamily="2" charset="-122"/>
                <a:ea typeface="宋体" panose="02010600030101010101" pitchFamily="2" charset="-122"/>
              </a:rPr>
              <a:t>简单合取式是文字的合取</a:t>
            </a:r>
            <a:endParaRPr lang="en-US" altLang="zh-CN" sz="2000" b="1">
              <a:solidFill>
                <a:schemeClr val="accent4">
                  <a:lumMod val="50000"/>
                </a:schemeClr>
              </a:solidFill>
              <a:latin typeface="宋体" panose="02010600030101010101" pitchFamily="2" charset="-122"/>
              <a:ea typeface="宋体" panose="02010600030101010101" pitchFamily="2" charset="-122"/>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合取范式是简单析取式的合取</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300"/>
              </a:spcAft>
              <a:buFont typeface="Arial" panose="020B0604020202020204" pitchFamily="34" charset="0"/>
              <a:buChar char="•"/>
            </a:pPr>
            <a:r>
              <a:rPr lang="zh-CN" altLang="en-US" sz="2000" b="1">
                <a:solidFill>
                  <a:schemeClr val="accent4">
                    <a:lumMod val="50000"/>
                  </a:schemeClr>
                </a:solidFill>
                <a:latin typeface="宋体" panose="02010600030101010101" pitchFamily="2" charset="-122"/>
                <a:ea typeface="宋体" panose="02010600030101010101" pitchFamily="2" charset="-122"/>
              </a:rPr>
              <a:t>简单析取式是文字的析取</a:t>
            </a:r>
          </a:p>
        </p:txBody>
      </p:sp>
      <p:sp>
        <p:nvSpPr>
          <p:cNvPr id="3" name="文本框 2">
            <a:extLst>
              <a:ext uri="{FF2B5EF4-FFF2-40B4-BE49-F238E27FC236}">
                <a16:creationId xmlns:a16="http://schemas.microsoft.com/office/drawing/2014/main" id="{CB454D62-D95A-49D5-9CE8-5DF2CFBD3372}"/>
              </a:ext>
            </a:extLst>
          </p:cNvPr>
          <p:cNvSpPr txBox="1"/>
          <p:nvPr/>
        </p:nvSpPr>
        <p:spPr>
          <a:xfrm>
            <a:off x="5784734" y="996441"/>
            <a:ext cx="5766968" cy="3282630"/>
          </a:xfrm>
          <a:prstGeom prst="rect">
            <a:avLst/>
          </a:prstGeom>
          <a:solidFill>
            <a:schemeClr val="accent5">
              <a:lumMod val="20000"/>
              <a:lumOff val="80000"/>
            </a:schemeClr>
          </a:solidFill>
        </p:spPr>
        <p:txBody>
          <a:bodyPr wrap="square" rtlCol="0">
            <a:spAutoFit/>
          </a:bodyPr>
          <a:lstStyle/>
          <a:p>
            <a:pPr algn="ctr">
              <a:spcAft>
                <a:spcPts val="600"/>
              </a:spcAft>
            </a:pPr>
            <a:r>
              <a:rPr lang="zh-CN" altLang="en-US" sz="2400" b="1">
                <a:solidFill>
                  <a:srgbClr val="002060"/>
                </a:solidFill>
              </a:rPr>
              <a:t>主析取范式和主合取范式</a:t>
            </a:r>
          </a:p>
          <a:p>
            <a:pPr marL="342900" indent="-342900">
              <a:spcBef>
                <a:spcPts val="600"/>
              </a:spcBef>
              <a:spcAft>
                <a:spcPts val="3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主析取范式是零个或多个极小项的析取</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lnSpc>
                <a:spcPts val="3200"/>
              </a:lnSpc>
              <a:spcBef>
                <a:spcPts val="600"/>
              </a:spcBef>
              <a:spcAft>
                <a:spcPts val="300"/>
              </a:spcAft>
              <a:buFont typeface="Arial" panose="020B0604020202020204" pitchFamily="34" charset="0"/>
              <a:buChar char="•"/>
            </a:pPr>
            <a:r>
              <a:rPr lang="zh-CN" altLang="en-US" sz="2000" b="1">
                <a:solidFill>
                  <a:schemeClr val="accent4">
                    <a:lumMod val="50000"/>
                  </a:schemeClr>
                </a:solidFill>
                <a:latin typeface="宋体" panose="02010600030101010101" pitchFamily="2" charset="-122"/>
                <a:ea typeface="宋体" panose="02010600030101010101" pitchFamily="2" charset="-122"/>
              </a:rPr>
              <a:t>极小项的编码是使得其真值为真的命题变量的唯一真值赋值方式</a:t>
            </a:r>
          </a:p>
          <a:p>
            <a:pPr marL="342900" indent="-342900">
              <a:spcBef>
                <a:spcPts val="600"/>
              </a:spcBef>
              <a:spcAft>
                <a:spcPts val="3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主合取范式是零个或多个极大项的合取</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lnSpc>
                <a:spcPts val="3200"/>
              </a:lnSpc>
              <a:spcBef>
                <a:spcPts val="600"/>
              </a:spcBef>
              <a:spcAft>
                <a:spcPts val="300"/>
              </a:spcAft>
              <a:buFont typeface="Arial" panose="020B0604020202020204" pitchFamily="34" charset="0"/>
              <a:buChar char="•"/>
            </a:pPr>
            <a:r>
              <a:rPr lang="zh-CN" altLang="en-US" sz="2000" b="1">
                <a:solidFill>
                  <a:schemeClr val="accent4">
                    <a:lumMod val="50000"/>
                  </a:schemeClr>
                </a:solidFill>
                <a:latin typeface="宋体" panose="02010600030101010101" pitchFamily="2" charset="-122"/>
                <a:ea typeface="宋体" panose="02010600030101010101" pitchFamily="2" charset="-122"/>
              </a:rPr>
              <a:t>极大项的编码是使得其真值为假的命题变量的唯一真值赋值方式</a:t>
            </a:r>
          </a:p>
        </p:txBody>
      </p:sp>
      <p:sp>
        <p:nvSpPr>
          <p:cNvPr id="4" name="文本框 3">
            <a:extLst>
              <a:ext uri="{FF2B5EF4-FFF2-40B4-BE49-F238E27FC236}">
                <a16:creationId xmlns:a16="http://schemas.microsoft.com/office/drawing/2014/main" id="{79046192-3E11-4E79-BCD3-91093B8CC99E}"/>
              </a:ext>
            </a:extLst>
          </p:cNvPr>
          <p:cNvSpPr txBox="1"/>
          <p:nvPr/>
        </p:nvSpPr>
        <p:spPr>
          <a:xfrm>
            <a:off x="1014171" y="4545417"/>
            <a:ext cx="10163655" cy="1508105"/>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能判断一个公式是否是析取范式、合取范式、主析取范式、主合取范式</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能用等值演算法、构造真值表法求与一个公式逻辑等值的范式和主范式</a:t>
            </a:r>
          </a:p>
        </p:txBody>
      </p:sp>
    </p:spTree>
    <p:extLst>
      <p:ext uri="{BB962C8B-B14F-4D97-AF65-F5344CB8AC3E}">
        <p14:creationId xmlns:p14="http://schemas.microsoft.com/office/powerpoint/2010/main" val="375313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dirty="0">
                <a:latin typeface="Arial" panose="020B0604020202020204" pitchFamily="34" charset="0"/>
                <a:ea typeface="楷体" panose="02010609060101010101" pitchFamily="49" charset="-122"/>
                <a:cs typeface="Arial" panose="020B0604020202020204" pitchFamily="34" charset="0"/>
              </a:rPr>
              <a:t>/30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11" name="文本框 10">
            <a:extLst>
              <a:ext uri="{FF2B5EF4-FFF2-40B4-BE49-F238E27FC236}">
                <a16:creationId xmlns:a16="http://schemas.microsoft.com/office/drawing/2014/main" id="{FDAC4FE7-1153-4579-B3AB-55202BB9EFC0}"/>
              </a:ext>
            </a:extLst>
          </p:cNvPr>
          <p:cNvSpPr txBox="1"/>
          <p:nvPr/>
        </p:nvSpPr>
        <p:spPr>
          <a:xfrm>
            <a:off x="1007165" y="2601581"/>
            <a:ext cx="8590882" cy="58477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2.18(2,3)</a:t>
            </a:r>
          </a:p>
        </p:txBody>
      </p:sp>
    </p:spTree>
    <p:extLst>
      <p:ext uri="{BB962C8B-B14F-4D97-AF65-F5344CB8AC3E}">
        <p14:creationId xmlns:p14="http://schemas.microsoft.com/office/powerpoint/2010/main" val="118656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第五讲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命题逻辑公式的范式</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2577</TotalTime>
  <Words>3878</Words>
  <Application>Microsoft Office PowerPoint</Application>
  <PresentationFormat>宽屏</PresentationFormat>
  <Paragraphs>774</Paragraphs>
  <Slides>31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等线</vt:lpstr>
      <vt:lpstr>等线 Light</vt:lpstr>
      <vt:lpstr>仿宋</vt:lpstr>
      <vt:lpstr>黑体</vt:lpstr>
      <vt:lpstr>华文新魏</vt:lpstr>
      <vt:lpstr>楷体</vt:lpstr>
      <vt:lpstr>宋体</vt:lpstr>
      <vt:lpstr>Arial</vt:lpstr>
      <vt:lpstr>Cambria Math</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99</cp:revision>
  <dcterms:created xsi:type="dcterms:W3CDTF">2022-01-01T06:39:40Z</dcterms:created>
  <dcterms:modified xsi:type="dcterms:W3CDTF">2024-09-18T08:14:12Z</dcterms:modified>
</cp:coreProperties>
</file>