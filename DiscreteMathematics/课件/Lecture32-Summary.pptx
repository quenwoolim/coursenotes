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57" r:id="rId5"/>
    <p:sldId id="281" r:id="rId6"/>
    <p:sldId id="378" r:id="rId7"/>
    <p:sldId id="261" r:id="rId8"/>
    <p:sldId id="379" r:id="rId9"/>
    <p:sldId id="380" r:id="rId10"/>
    <p:sldId id="381" r:id="rId11"/>
    <p:sldId id="282" r:id="rId12"/>
    <p:sldId id="408" r:id="rId13"/>
    <p:sldId id="260" r:id="rId14"/>
    <p:sldId id="283" r:id="rId15"/>
    <p:sldId id="287" r:id="rId16"/>
    <p:sldId id="288" r:id="rId17"/>
    <p:sldId id="284" r:id="rId18"/>
    <p:sldId id="382" r:id="rId19"/>
    <p:sldId id="400" r:id="rId20"/>
    <p:sldId id="409" r:id="rId21"/>
    <p:sldId id="286" r:id="rId22"/>
    <p:sldId id="289" r:id="rId23"/>
    <p:sldId id="285" r:id="rId24"/>
    <p:sldId id="397" r:id="rId25"/>
    <p:sldId id="398" r:id="rId26"/>
    <p:sldId id="399" r:id="rId27"/>
    <p:sldId id="401" r:id="rId28"/>
    <p:sldId id="402" r:id="rId29"/>
    <p:sldId id="410" r:id="rId30"/>
    <p:sldId id="290" r:id="rId31"/>
    <p:sldId id="291" r:id="rId32"/>
    <p:sldId id="405" r:id="rId33"/>
    <p:sldId id="262" r:id="rId34"/>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1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gs" Target="tags/tag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hyperlink" Target="https://mooc1-1.chaoxing.com/course/216273730.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e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emf"/></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e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e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6.png"/><Relationship Id="rId7" Type="http://schemas.openxmlformats.org/officeDocument/2006/relationships/image" Target="../media/image35.png"/><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43.png"/><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4.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2" name="矩形: 圆角 11"/>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dirty="0">
                <a:latin typeface="仿宋" panose="02010609060101010101" pitchFamily="49" charset="-122"/>
                <a:ea typeface="仿宋" panose="02010609060101010101" pitchFamily="49" charset="-122"/>
              </a:rPr>
              <a:t>第三十二讲</a:t>
            </a:r>
            <a:r>
              <a:rPr lang="en-US" altLang="zh-CN" sz="4800" b="1" dirty="0">
                <a:latin typeface="仿宋" panose="02010609060101010101" pitchFamily="49" charset="-122"/>
                <a:ea typeface="仿宋" panose="02010609060101010101" pitchFamily="49" charset="-122"/>
              </a:rPr>
              <a:t>	</a:t>
            </a:r>
            <a:r>
              <a:rPr lang="zh-CN" altLang="en-US" sz="4800" b="1" dirty="0">
                <a:latin typeface="仿宋" panose="02010609060101010101" pitchFamily="49" charset="-122"/>
                <a:ea typeface="仿宋" panose="02010609060101010101" pitchFamily="49" charset="-122"/>
              </a:rPr>
              <a:t>课程内容总结</a:t>
            </a:r>
            <a:endParaRPr lang="zh-CN" altLang="en-US" sz="4800" b="1" dirty="0">
              <a:latin typeface="仿宋" panose="02010609060101010101" pitchFamily="49" charset="-122"/>
              <a:ea typeface="仿宋" panose="02010609060101010101" pitchFamily="49" charset="-122"/>
            </a:endParaRPr>
          </a:p>
        </p:txBody>
      </p:sp>
      <p:sp>
        <p:nvSpPr>
          <p:cNvPr id="13" name="文本框 12"/>
          <p:cNvSpPr txBox="1"/>
          <p:nvPr/>
        </p:nvSpPr>
        <p:spPr>
          <a:xfrm>
            <a:off x="4372231" y="2549433"/>
            <a:ext cx="3447535" cy="706755"/>
          </a:xfrm>
          <a:prstGeom prst="rect">
            <a:avLst/>
          </a:prstGeom>
          <a:noFill/>
        </p:spPr>
        <p:txBody>
          <a:bodyPr wrap="square" rtlCol="0">
            <a:spAutoFit/>
          </a:bodyPr>
          <a:lstStyle/>
          <a:p>
            <a:pPr algn="ctr"/>
            <a:r>
              <a:rPr lang="zh-CN" altLang="en-US" sz="4000">
                <a:solidFill>
                  <a:srgbClr val="210694"/>
                </a:solidFill>
                <a:latin typeface="楷体" panose="02010609060101010101" pitchFamily="49" charset="-122"/>
                <a:ea typeface="楷体" panose="02010609060101010101" pitchFamily="49" charset="-122"/>
              </a:rPr>
              <a:t>李</a:t>
            </a:r>
            <a:r>
              <a:rPr lang="zh-CN" altLang="en-US" sz="4000">
                <a:solidFill>
                  <a:srgbClr val="210694"/>
                </a:solidFill>
                <a:latin typeface="楷体" panose="02010609060101010101" pitchFamily="49" charset="-122"/>
                <a:ea typeface="楷体" panose="02010609060101010101" pitchFamily="49" charset="-122"/>
              </a:rPr>
              <a:t>绿周</a:t>
            </a:r>
            <a:endParaRPr lang="zh-CN" altLang="en-US" sz="4000">
              <a:solidFill>
                <a:srgbClr val="210694"/>
              </a:solidFill>
              <a:latin typeface="楷体" panose="02010609060101010101" pitchFamily="49" charset="-122"/>
              <a:ea typeface="楷体" panose="02010609060101010101" pitchFamily="49" charset="-122"/>
            </a:endParaRPr>
          </a:p>
        </p:txBody>
      </p:sp>
      <p:sp>
        <p:nvSpPr>
          <p:cNvPr id="14" name="文本框 13"/>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endParaRPr lang="zh-CN" altLang="en-US" sz="3200" b="1">
              <a:solidFill>
                <a:schemeClr val="accent6">
                  <a:lumMod val="50000"/>
                </a:schemeClr>
              </a:solidFill>
              <a:latin typeface="仿宋" panose="02010609060101010101" pitchFamily="49" charset="-122"/>
              <a:ea typeface="仿宋" panose="02010609060101010101" pitchFamily="49" charset="-122"/>
            </a:endParaRPr>
          </a:p>
        </p:txBody>
      </p:sp>
      <p:sp>
        <p:nvSpPr>
          <p:cNvPr id="15" name="文本框 14"/>
          <p:cNvSpPr txBox="1"/>
          <p:nvPr/>
        </p:nvSpPr>
        <p:spPr>
          <a:xfrm>
            <a:off x="4843849" y="4559643"/>
            <a:ext cx="2866767" cy="46037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12</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endPar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endParaRPr>
          </a:p>
        </p:txBody>
      </p:sp>
      <p:sp>
        <p:nvSpPr>
          <p:cNvPr id="16" name="文本框 15"/>
          <p:cNvSpPr txBox="1"/>
          <p:nvPr/>
        </p:nvSpPr>
        <p:spPr>
          <a:xfrm>
            <a:off x="1705232" y="5288692"/>
            <a:ext cx="9094573" cy="829945"/>
          </a:xfrm>
          <a:prstGeom prst="rect">
            <a:avLst/>
          </a:prstGeom>
          <a:noFill/>
        </p:spPr>
        <p:txBody>
          <a:bodyPr wrap="square" rtlCol="0">
            <a:spAutoFit/>
          </a:bodyPr>
          <a:lstStyle/>
          <a:p>
            <a:pPr algn="ctr"/>
            <a:r>
              <a:rPr lang="en-US" altLang="zh-CN" sz="2400">
                <a:solidFill>
                  <a:srgbClr val="FF0000"/>
                </a:solidFill>
                <a:hlinkClick r:id="rId1"/>
              </a:rPr>
              <a:t>https://mooc1-1.chaoxing.com/course/216273730.html</a:t>
            </a:r>
            <a:endParaRPr lang="en-US" altLang="zh-CN" sz="2400">
              <a:solidFill>
                <a:srgbClr val="FF0000"/>
              </a:solidFill>
            </a:endParaRPr>
          </a:p>
          <a:p>
            <a:pPr algn="ctr"/>
            <a:r>
              <a:rPr lang="en-US" altLang="zh-CN" sz="2400">
                <a:solidFill>
                  <a:srgbClr val="FF0000"/>
                </a:solidFill>
              </a:rPr>
              <a:t>lilvzh@mail.sysu.edu.cn</a:t>
            </a:r>
            <a:endParaRPr lang="zh-CN" altLang="en-US" sz="2400">
              <a:solidFill>
                <a:srgbClr val="FF0000"/>
              </a:solidFill>
            </a:endParaRPr>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2" name="文本框 1"/>
          <p:cNvSpPr txBox="1"/>
          <p:nvPr/>
        </p:nvSpPr>
        <p:spPr>
          <a:xfrm>
            <a:off x="1113538" y="1656115"/>
            <a:ext cx="4733731" cy="3854901"/>
          </a:xfrm>
          <a:prstGeom prst="rect">
            <a:avLst/>
          </a:prstGeom>
          <a:noFill/>
        </p:spPr>
        <p:txBody>
          <a:bodyPr wrap="square" rtlCol="0">
            <a:spAutoFit/>
          </a:bodyPr>
          <a:lstStyle/>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逻辑语言</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集合语言</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组合计数</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图论语言</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逻辑语言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逻辑部分内容框架</a:t>
            </a:r>
            <a:endParaRPr lang="zh-CN" altLang="en-US"/>
          </a:p>
        </p:txBody>
      </p:sp>
      <p:pic>
        <p:nvPicPr>
          <p:cNvPr id="2" name="图片 1"/>
          <p:cNvPicPr>
            <a:picLocks noChangeAspect="1"/>
          </p:cNvPicPr>
          <p:nvPr/>
        </p:nvPicPr>
        <p:blipFill>
          <a:blip r:embed="rId1"/>
          <a:stretch>
            <a:fillRect/>
          </a:stretch>
        </p:blipFill>
        <p:spPr>
          <a:xfrm>
            <a:off x="1280469" y="963547"/>
            <a:ext cx="9631061" cy="54248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逻辑语言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逻辑部分学习目标</a:t>
            </a:r>
            <a:endParaRPr lang="zh-CN" altLang="en-US"/>
          </a:p>
        </p:txBody>
      </p:sp>
      <p:sp>
        <p:nvSpPr>
          <p:cNvPr id="2" name="文本框 1"/>
          <p:cNvSpPr txBox="1"/>
          <p:nvPr/>
        </p:nvSpPr>
        <p:spPr>
          <a:xfrm>
            <a:off x="1554322" y="1569000"/>
            <a:ext cx="9083353" cy="4124206"/>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1200"/>
              </a:spcAft>
            </a:pPr>
            <a:r>
              <a:rPr lang="zh-CN" altLang="en-US" sz="2800" b="1">
                <a:solidFill>
                  <a:schemeClr val="accent2">
                    <a:lumMod val="50000"/>
                  </a:schemeClr>
                </a:solidFill>
                <a:latin typeface="楷体" panose="02010609060101010101" pitchFamily="49" charset="-122"/>
                <a:ea typeface="楷体" panose="02010609060101010101" pitchFamily="49" charset="-122"/>
              </a:rPr>
              <a:t>命题逻辑部分学习目标</a:t>
            </a:r>
            <a:endParaRPr lang="zh-CN" altLang="en-US" sz="28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构造命题逻辑公式的</a:t>
            </a:r>
            <a:r>
              <a:rPr lang="zh-CN" altLang="en-US" sz="2400" b="1">
                <a:solidFill>
                  <a:srgbClr val="C00000"/>
                </a:solidFill>
              </a:rPr>
              <a:t>真值表</a:t>
            </a:r>
            <a:endParaRPr lang="zh-CN" altLang="en-US" sz="2400" b="1">
              <a:solidFill>
                <a:srgbClr val="C0000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基于基本等值式使用等值演算证明命题</a:t>
            </a:r>
            <a:r>
              <a:rPr lang="zh-CN" altLang="en-US" sz="2400" b="1">
                <a:solidFill>
                  <a:srgbClr val="C00000"/>
                </a:solidFill>
              </a:rPr>
              <a:t>逻辑等值式</a:t>
            </a:r>
            <a:endParaRPr lang="zh-CN" altLang="en-US" sz="2400" b="1">
              <a:solidFill>
                <a:srgbClr val="C0000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判断命题逻辑公式的类型（</a:t>
            </a:r>
            <a:r>
              <a:rPr lang="zh-CN" altLang="en-US" sz="2400" b="1">
                <a:solidFill>
                  <a:srgbClr val="C00000"/>
                </a:solidFill>
              </a:rPr>
              <a:t>永真式</a:t>
            </a:r>
            <a:r>
              <a:rPr lang="zh-CN" altLang="en-US" sz="2400" b="1">
                <a:solidFill>
                  <a:srgbClr val="002060"/>
                </a:solidFill>
              </a:rPr>
              <a:t>、矛盾式、偶然式）</a:t>
            </a:r>
            <a:endParaRPr lang="zh-CN" altLang="en-US" sz="2400" b="1">
              <a:solidFill>
                <a:srgbClr val="00206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求与一个命题逻辑公式逻辑等值的</a:t>
            </a:r>
            <a:r>
              <a:rPr lang="zh-CN" altLang="en-US" sz="2400" b="1">
                <a:solidFill>
                  <a:srgbClr val="C00000"/>
                </a:solidFill>
              </a:rPr>
              <a:t>主合取范式</a:t>
            </a:r>
            <a:r>
              <a:rPr lang="zh-CN" altLang="en-US" sz="2400" b="1">
                <a:solidFill>
                  <a:srgbClr val="002060"/>
                </a:solidFill>
              </a:rPr>
              <a:t>和</a:t>
            </a:r>
            <a:r>
              <a:rPr lang="zh-CN" altLang="en-US" sz="2400" b="1">
                <a:solidFill>
                  <a:srgbClr val="C00000"/>
                </a:solidFill>
              </a:rPr>
              <a:t>主析取范式</a:t>
            </a:r>
            <a:endParaRPr lang="zh-CN" altLang="en-US" sz="2400" b="1">
              <a:solidFill>
                <a:srgbClr val="C0000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将自然语言命题翻译为命题逻辑公式</a:t>
            </a:r>
            <a:endParaRPr lang="zh-CN" altLang="en-US" sz="2400" b="1">
              <a:solidFill>
                <a:srgbClr val="00206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在命题逻辑中构造</a:t>
            </a:r>
            <a:r>
              <a:rPr lang="zh-CN" altLang="en-US" sz="2400" b="1">
                <a:solidFill>
                  <a:srgbClr val="C00000"/>
                </a:solidFill>
              </a:rPr>
              <a:t>论证</a:t>
            </a:r>
            <a:r>
              <a:rPr lang="zh-CN" altLang="en-US" sz="2400" b="1">
                <a:solidFill>
                  <a:srgbClr val="002060"/>
                </a:solidFill>
              </a:rPr>
              <a:t>验证从一组前提推出结论的推理的有效性</a:t>
            </a:r>
            <a:endParaRPr lang="zh-CN" altLang="en-US" sz="2400" b="1">
              <a:solidFill>
                <a:srgbClr val="00206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逻辑语言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命题逻辑重点知识概要</a:t>
            </a: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1903444" y="1035684"/>
                <a:ext cx="7654996" cy="1392689"/>
              </a:xfrm>
              <a:prstGeom prst="rect">
                <a:avLst/>
              </a:prstGeom>
              <a:solidFill>
                <a:schemeClr val="accent4">
                  <a:lumMod val="20000"/>
                  <a:lumOff val="80000"/>
                </a:schemeClr>
              </a:solidFill>
            </p:spPr>
            <p:txBody>
              <a:bodyPr wrap="square" rtlCol="0">
                <a:spAutoFit/>
              </a:bodyPr>
              <a:lstStyle/>
              <a:p>
                <a:pPr algn="ctr">
                  <a:spcBef>
                    <a:spcPts val="500"/>
                  </a:spcBef>
                </a:pPr>
                <a:r>
                  <a:rPr lang="zh-CN" altLang="en-US" b="1">
                    <a:solidFill>
                      <a:srgbClr val="C00000"/>
                    </a:solidFill>
                  </a:rPr>
                  <a:t>基本等值式</a:t>
                </a:r>
                <a:endParaRPr lang="en-US" altLang="zh-CN" b="1">
                  <a:solidFill>
                    <a:srgbClr val="C00000"/>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吸收律：</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a14:m>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德摩尔根律：</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蕴涵、双蕴涵等值式：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e>
                    </m:d>
                  </m:oMath>
                </a14:m>
                <a:endParaRPr lang="zh-CN" altLang="en-US"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1903444" y="1035684"/>
                <a:ext cx="7654996" cy="1392689"/>
              </a:xfrm>
              <a:prstGeom prst="rect">
                <a:avLst/>
              </a:prstGeom>
              <a:blipFill rotWithShape="1">
                <a:blip r:embed="rId1"/>
                <a:stretch>
                  <a:fillRect l="-5" t="-46" r="5" b="10"/>
                </a:stretch>
              </a:blipFill>
            </p:spPr>
            <p:txBody>
              <a:bodyPr/>
              <a:lstStyle/>
              <a:p>
                <a:r>
                  <a:rPr lang="zh-CN" altLang="en-US">
                    <a:noFill/>
                  </a:rPr>
                  <a:t> </a:t>
                </a:r>
              </a:p>
            </p:txBody>
          </p:sp>
        </mc:Fallback>
      </mc:AlternateContent>
      <p:sp>
        <p:nvSpPr>
          <p:cNvPr id="11" name="文本框 10"/>
          <p:cNvSpPr txBox="1"/>
          <p:nvPr/>
        </p:nvSpPr>
        <p:spPr>
          <a:xfrm>
            <a:off x="1903444" y="2592548"/>
            <a:ext cx="8904896" cy="2074927"/>
          </a:xfrm>
          <a:prstGeom prst="rect">
            <a:avLst/>
          </a:prstGeom>
          <a:solidFill>
            <a:schemeClr val="accent4">
              <a:lumMod val="20000"/>
              <a:lumOff val="80000"/>
            </a:schemeClr>
          </a:solidFill>
        </p:spPr>
        <p:txBody>
          <a:bodyPr wrap="square" rtlCol="0">
            <a:spAutoFit/>
          </a:bodyPr>
          <a:lstStyle/>
          <a:p>
            <a:pPr algn="ctr">
              <a:spcBef>
                <a:spcPts val="500"/>
              </a:spcBef>
            </a:pPr>
            <a:r>
              <a:rPr lang="zh-CN" altLang="en-US" b="1">
                <a:solidFill>
                  <a:srgbClr val="C00000"/>
                </a:solidFill>
              </a:rPr>
              <a:t>主范式</a:t>
            </a:r>
            <a:endParaRPr lang="en-US" altLang="zh-CN" b="1">
              <a:solidFill>
                <a:srgbClr val="C00000"/>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文字：命题变量或者命题变量的否定</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简单析取式：文字的析取；简单合取式：文字的合取</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析取范式：简单合取式的析取；合取范式：简单析取式的合取</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极小项：含有每个变量或其否定的简单合取式，它的编码是它唯一的成真赋值方式</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极大项：含有每个变量或其否定的简单析取式，它的编码是它唯一的成假赋值方式</a:t>
            </a:r>
            <a:endParaRPr lang="zh-CN" altLang="en-US" b="1">
              <a:solidFill>
                <a:schemeClr val="accent2">
                  <a:lumMod val="50000"/>
                </a:schemeClr>
              </a:solidFill>
            </a:endParaRPr>
          </a:p>
        </p:txBody>
      </p:sp>
      <mc:AlternateContent xmlns:mc="http://schemas.openxmlformats.org/markup-compatibility/2006">
        <mc:Choice xmlns:a14="http://schemas.microsoft.com/office/drawing/2010/main" Requires="a14">
          <p:sp>
            <p:nvSpPr>
              <p:cNvPr id="12" name="文本框 11"/>
              <p:cNvSpPr txBox="1"/>
              <p:nvPr/>
            </p:nvSpPr>
            <p:spPr>
              <a:xfrm>
                <a:off x="1903444" y="4831650"/>
                <a:ext cx="4085968" cy="1392689"/>
              </a:xfrm>
              <a:prstGeom prst="rect">
                <a:avLst/>
              </a:prstGeom>
              <a:solidFill>
                <a:schemeClr val="accent4">
                  <a:lumMod val="20000"/>
                  <a:lumOff val="80000"/>
                </a:schemeClr>
              </a:solidFill>
            </p:spPr>
            <p:txBody>
              <a:bodyPr wrap="square" rtlCol="0">
                <a:spAutoFit/>
              </a:bodyPr>
              <a:lstStyle/>
              <a:p>
                <a:pPr algn="ctr">
                  <a:spcBef>
                    <a:spcPts val="500"/>
                  </a:spcBef>
                </a:pPr>
                <a:r>
                  <a:rPr lang="zh-CN" altLang="en-US" b="1">
                    <a:solidFill>
                      <a:srgbClr val="C00000"/>
                    </a:solidFill>
                  </a:rPr>
                  <a:t>推理规则</a:t>
                </a:r>
                <a:endParaRPr lang="en-US" altLang="zh-CN" b="1">
                  <a:solidFill>
                    <a:srgbClr val="C00000"/>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假言易位规则：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析取三段论：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构造论证的附加前提法、反证法</a:t>
                </a:r>
                <a:endParaRPr lang="zh-CN" altLang="en-US"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1903444" y="4831650"/>
                <a:ext cx="4085968" cy="1392689"/>
              </a:xfrm>
              <a:prstGeom prst="rect">
                <a:avLst/>
              </a:prstGeom>
              <a:blipFill rotWithShape="1">
                <a:blip r:embed="rId2"/>
                <a:stretch>
                  <a:fillRect l="-9" t="-41" r="2" b="5"/>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逻辑语言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逻辑部分学习目标</a:t>
            </a:r>
            <a:endParaRPr lang="zh-CN" altLang="en-US"/>
          </a:p>
        </p:txBody>
      </p:sp>
      <p:sp>
        <p:nvSpPr>
          <p:cNvPr id="3" name="文本框 2"/>
          <p:cNvSpPr txBox="1"/>
          <p:nvPr/>
        </p:nvSpPr>
        <p:spPr>
          <a:xfrm>
            <a:off x="1534638" y="1231972"/>
            <a:ext cx="9122722" cy="4724370"/>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1200"/>
              </a:spcAft>
            </a:pPr>
            <a:r>
              <a:rPr lang="zh-CN" altLang="en-US" sz="2800" b="1">
                <a:solidFill>
                  <a:schemeClr val="accent2">
                    <a:lumMod val="50000"/>
                  </a:schemeClr>
                </a:solidFill>
                <a:latin typeface="楷体" panose="02010609060101010101" pitchFamily="49" charset="-122"/>
                <a:ea typeface="楷体" panose="02010609060101010101" pitchFamily="49" charset="-122"/>
              </a:rPr>
              <a:t>一阶逻辑部分学习目标</a:t>
            </a:r>
            <a:endParaRPr lang="zh-CN" altLang="en-US" sz="28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确定一阶谓词逻辑公式在给定语义解释下的</a:t>
            </a:r>
            <a:r>
              <a:rPr lang="zh-CN" altLang="en-US" sz="2400" b="1">
                <a:solidFill>
                  <a:srgbClr val="C00000"/>
                </a:solidFill>
              </a:rPr>
              <a:t>真值</a:t>
            </a:r>
            <a:endParaRPr lang="zh-CN" altLang="en-US" sz="2400" b="1">
              <a:solidFill>
                <a:srgbClr val="C0000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在论域有限时将一阶谓词逻辑公式</a:t>
            </a:r>
            <a:r>
              <a:rPr lang="zh-CN" altLang="en-US" sz="2400" b="1">
                <a:solidFill>
                  <a:srgbClr val="C00000"/>
                </a:solidFill>
              </a:rPr>
              <a:t>展开</a:t>
            </a:r>
            <a:r>
              <a:rPr lang="zh-CN" altLang="en-US" sz="2400" b="1">
                <a:solidFill>
                  <a:srgbClr val="002060"/>
                </a:solidFill>
              </a:rPr>
              <a:t>成等值的不含量词公式</a:t>
            </a:r>
            <a:endParaRPr lang="zh-CN" altLang="en-US" sz="2400" b="1">
              <a:solidFill>
                <a:srgbClr val="00206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说明两个一阶谓词逻辑公式是否</a:t>
            </a:r>
            <a:r>
              <a:rPr lang="zh-CN" altLang="en-US" sz="2400" b="1">
                <a:solidFill>
                  <a:srgbClr val="C00000"/>
                </a:solidFill>
              </a:rPr>
              <a:t>逻辑等值</a:t>
            </a:r>
            <a:endParaRPr lang="zh-CN" altLang="en-US" sz="2400" b="1">
              <a:solidFill>
                <a:srgbClr val="C0000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判断谓词逻辑公式的类型（</a:t>
            </a:r>
            <a:r>
              <a:rPr lang="zh-CN" altLang="en-US" sz="2400" b="1">
                <a:solidFill>
                  <a:srgbClr val="C00000"/>
                </a:solidFill>
              </a:rPr>
              <a:t>永真式</a:t>
            </a:r>
            <a:r>
              <a:rPr lang="zh-CN" altLang="en-US" sz="2400" b="1">
                <a:solidFill>
                  <a:srgbClr val="002060"/>
                </a:solidFill>
              </a:rPr>
              <a:t>、矛盾式、偶然式）</a:t>
            </a:r>
            <a:endParaRPr lang="zh-CN" altLang="en-US" sz="2400" b="1">
              <a:solidFill>
                <a:srgbClr val="00206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求与一个一阶逻辑公式逻辑等值的</a:t>
            </a:r>
            <a:r>
              <a:rPr lang="zh-CN" altLang="en-US" sz="2400" b="1">
                <a:solidFill>
                  <a:srgbClr val="C00000"/>
                </a:solidFill>
              </a:rPr>
              <a:t>前束范式</a:t>
            </a:r>
            <a:endParaRPr lang="zh-CN" altLang="en-US" sz="2400" b="1">
              <a:solidFill>
                <a:srgbClr val="C0000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将自然语言命题翻译为一阶谓词逻辑公式</a:t>
            </a:r>
            <a:endParaRPr lang="zh-CN" altLang="en-US" sz="2400" b="1">
              <a:solidFill>
                <a:srgbClr val="002060"/>
              </a:solidFill>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rPr>
              <a:t>在一阶逻辑中构造</a:t>
            </a:r>
            <a:r>
              <a:rPr lang="zh-CN" altLang="en-US" sz="2400" b="1">
                <a:solidFill>
                  <a:srgbClr val="C00000"/>
                </a:solidFill>
              </a:rPr>
              <a:t>论证</a:t>
            </a:r>
            <a:r>
              <a:rPr lang="zh-CN" altLang="en-US" sz="2400" b="1">
                <a:solidFill>
                  <a:srgbClr val="002060"/>
                </a:solidFill>
              </a:rPr>
              <a:t>验证从一组前提推出结论的推理的有效性</a:t>
            </a:r>
            <a:endParaRPr lang="zh-CN" altLang="en-US" sz="2400" b="1">
              <a:solidFill>
                <a:srgbClr val="00206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逻辑语言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一阶逻辑重点知识概要</a:t>
            </a: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1085995" y="1400923"/>
                <a:ext cx="10020006" cy="2074927"/>
              </a:xfrm>
              <a:prstGeom prst="rect">
                <a:avLst/>
              </a:prstGeom>
              <a:solidFill>
                <a:schemeClr val="accent4">
                  <a:lumMod val="20000"/>
                  <a:lumOff val="80000"/>
                </a:schemeClr>
              </a:solidFill>
            </p:spPr>
            <p:txBody>
              <a:bodyPr wrap="square" rtlCol="0">
                <a:spAutoFit/>
              </a:bodyPr>
              <a:lstStyle/>
              <a:p>
                <a:pPr algn="ctr">
                  <a:spcBef>
                    <a:spcPts val="500"/>
                  </a:spcBef>
                </a:pPr>
                <a:r>
                  <a:rPr lang="zh-CN" altLang="en-US" b="1">
                    <a:solidFill>
                      <a:srgbClr val="C00000"/>
                    </a:solidFill>
                  </a:rPr>
                  <a:t>一阶逻辑公式的语义</a:t>
                </a:r>
                <a:endParaRPr lang="en-US" altLang="zh-CN" b="1">
                  <a:solidFill>
                    <a:srgbClr val="C00000"/>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确定一阶逻辑公式的真值需要给定解释（含论域）、个体变量指派函数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量词公式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r>
                  <a:rPr lang="zh-CN" altLang="en-US" b="1">
                    <a:solidFill>
                      <a:schemeClr val="accent2">
                        <a:lumMod val="50000"/>
                      </a:schemeClr>
                    </a:solidFill>
                  </a:rPr>
                  <a:t>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oMath>
                </a14:m>
                <a:r>
                  <a:rPr lang="zh-CN" altLang="en-US" b="1">
                    <a:solidFill>
                      <a:schemeClr val="accent2">
                        <a:lumMod val="50000"/>
                      </a:schemeClr>
                    </a:solidFill>
                  </a:rPr>
                  <a:t>下的真值为真当且仅当对论域任意元素</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𝒅</m:t>
                    </m:r>
                  </m:oMath>
                </a14:m>
                <a:r>
                  <a:rPr lang="zh-CN" altLang="en-US" b="1">
                    <a:solidFill>
                      <a:schemeClr val="accent2">
                        <a:lumMod val="50000"/>
                      </a:schemeClr>
                    </a:solidFill>
                  </a:rPr>
                  <a:t>有</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r>
                  <a:rPr lang="zh-CN" altLang="en-US" b="1">
                    <a:solidFill>
                      <a:schemeClr val="accent2">
                        <a:lumMod val="50000"/>
                      </a:schemeClr>
                    </a:solidFill>
                  </a:rPr>
                  <a:t>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𝒅</m:t>
                        </m:r>
                      </m:e>
                    </m:d>
                  </m:oMath>
                </a14:m>
                <a:r>
                  <a:rPr lang="zh-CN" altLang="en-US" b="1">
                    <a:solidFill>
                      <a:schemeClr val="accent2">
                        <a:lumMod val="50000"/>
                      </a:schemeClr>
                    </a:solidFill>
                  </a:rPr>
                  <a:t>下的真值为真</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量词公式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𝒙𝑨</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oMath>
                </a14:m>
                <a:r>
                  <a:rPr lang="zh-CN" altLang="en-US" b="1">
                    <a:solidFill>
                      <a:schemeClr val="accent2">
                        <a:lumMod val="50000"/>
                      </a:schemeClr>
                    </a:solidFill>
                  </a:rPr>
                  <a:t>在</a:t>
                </a:r>
                <a14:m>
                  <m:oMath xmlns:m="http://schemas.openxmlformats.org/officeDocument/2006/math">
                    <m:r>
                      <a:rPr lang="en-US" altLang="zh-CN" b="1" i="1">
                        <a:solidFill>
                          <a:schemeClr val="accent2">
                            <a:lumMod val="50000"/>
                          </a:schemeClr>
                        </a:solidFill>
                        <a:latin typeface="Cambria Math" panose="02040503050406030204" pitchFamily="18" charset="0"/>
                      </a:rPr>
                      <m:t>𝝈</m:t>
                    </m:r>
                  </m:oMath>
                </a14:m>
                <a:r>
                  <a:rPr lang="zh-CN" altLang="en-US" b="1">
                    <a:solidFill>
                      <a:schemeClr val="accent2">
                        <a:lumMod val="50000"/>
                      </a:schemeClr>
                    </a:solidFill>
                  </a:rPr>
                  <a:t>下的真值为真当且仅当存在论域的元素</a:t>
                </a:r>
                <a14:m>
                  <m:oMath xmlns:m="http://schemas.openxmlformats.org/officeDocument/2006/math">
                    <m:r>
                      <a:rPr lang="en-US" altLang="zh-CN" b="1" i="1">
                        <a:solidFill>
                          <a:schemeClr val="accent2">
                            <a:lumMod val="50000"/>
                          </a:schemeClr>
                        </a:solidFill>
                        <a:latin typeface="Cambria Math" panose="02040503050406030204" pitchFamily="18" charset="0"/>
                      </a:rPr>
                      <m:t>𝒅</m:t>
                    </m:r>
                  </m:oMath>
                </a14:m>
                <a:r>
                  <a:rPr lang="zh-CN" altLang="en-US" b="1">
                    <a:solidFill>
                      <a:schemeClr val="accent2">
                        <a:lumMod val="50000"/>
                      </a:schemeClr>
                    </a:solidFill>
                  </a:rPr>
                  <a:t>使得</a:t>
                </a:r>
                <a14:m>
                  <m:oMath xmlns:m="http://schemas.openxmlformats.org/officeDocument/2006/math">
                    <m:r>
                      <a:rPr lang="en-US" altLang="zh-CN" b="1" i="1">
                        <a:solidFill>
                          <a:schemeClr val="accent2">
                            <a:lumMod val="50000"/>
                          </a:schemeClr>
                        </a:solidFill>
                        <a:latin typeface="Cambria Math" panose="02040503050406030204" pitchFamily="18" charset="0"/>
                      </a:rPr>
                      <m:t>𝑨</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oMath>
                </a14:m>
                <a:r>
                  <a:rPr lang="zh-CN" altLang="en-US" b="1">
                    <a:solidFill>
                      <a:schemeClr val="accent2">
                        <a:lumMod val="50000"/>
                      </a:schemeClr>
                    </a:solidFill>
                  </a:rPr>
                  <a:t>在</a:t>
                </a:r>
                <a14:m>
                  <m:oMath xmlns:m="http://schemas.openxmlformats.org/officeDocument/2006/math">
                    <m:r>
                      <a:rPr lang="en-US" altLang="zh-CN" b="1" i="1">
                        <a:solidFill>
                          <a:schemeClr val="accent2">
                            <a:lumMod val="50000"/>
                          </a:schemeClr>
                        </a:solidFill>
                        <a:latin typeface="Cambria Math" panose="02040503050406030204" pitchFamily="18" charset="0"/>
                      </a:rPr>
                      <m:t>𝝈</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𝒅</m:t>
                        </m:r>
                      </m:e>
                    </m:d>
                  </m:oMath>
                </a14:m>
                <a:r>
                  <a:rPr lang="zh-CN" altLang="en-US" b="1">
                    <a:solidFill>
                      <a:schemeClr val="accent2">
                        <a:lumMod val="50000"/>
                      </a:schemeClr>
                    </a:solidFill>
                  </a:rPr>
                  <a:t>下的真值为真</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闭公式（不含自由变量的公式）的真值与个体变量指派函数无关</a:t>
                </a:r>
                <a:endParaRPr lang="zh-CN" altLang="en-US"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存在量词公式在有限论域可展开为析取式，全称量词公式在有限论域可展开为合取式</a:t>
                </a:r>
                <a:endParaRPr lang="zh-CN" altLang="en-US"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1085995" y="1400923"/>
                <a:ext cx="10020006" cy="2074927"/>
              </a:xfrm>
              <a:prstGeom prst="rect">
                <a:avLst/>
              </a:prstGeom>
              <a:blipFill rotWithShape="1">
                <a:blip r:embed="rId1"/>
                <a:stretch>
                  <a:fillRect l="-1" t="-5" r="5"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1085995" y="3944605"/>
                <a:ext cx="9964067" cy="1769459"/>
              </a:xfrm>
              <a:prstGeom prst="rect">
                <a:avLst/>
              </a:prstGeom>
              <a:solidFill>
                <a:schemeClr val="accent4">
                  <a:lumMod val="20000"/>
                  <a:lumOff val="80000"/>
                </a:schemeClr>
              </a:solidFill>
            </p:spPr>
            <p:txBody>
              <a:bodyPr wrap="square" rtlCol="0">
                <a:spAutoFit/>
              </a:bodyPr>
              <a:lstStyle/>
              <a:p>
                <a:pPr algn="ctr">
                  <a:spcBef>
                    <a:spcPts val="500"/>
                  </a:spcBef>
                </a:pPr>
                <a:r>
                  <a:rPr lang="zh-CN" altLang="en-US" b="1">
                    <a:solidFill>
                      <a:srgbClr val="C00000"/>
                    </a:solidFill>
                  </a:rPr>
                  <a:t>重要的量词公式逻辑等值式</a:t>
                </a:r>
                <a:endParaRPr lang="en-US" altLang="zh-CN" b="1">
                  <a:solidFill>
                    <a:srgbClr val="C00000"/>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量词否定等值式：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量词辖域扩充</a:t>
                </a:r>
                <a:r>
                  <a:rPr lang="en-US" altLang="zh-CN" b="1">
                    <a:solidFill>
                      <a:schemeClr val="accent2">
                        <a:lumMod val="50000"/>
                      </a:schemeClr>
                    </a:solidFill>
                  </a:rPr>
                  <a:t>/</a:t>
                </a:r>
                <a:r>
                  <a:rPr lang="zh-CN" altLang="en-US" b="1">
                    <a:solidFill>
                      <a:schemeClr val="accent2">
                        <a:lumMod val="50000"/>
                      </a:schemeClr>
                    </a:solidFill>
                  </a:rPr>
                  <a:t>收缩等值式：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量词分配等值式：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存在量词对合取不分配、全称量词对析取不分配</a:t>
                </a:r>
                <a:endParaRPr lang="zh-CN" altLang="en-US" b="1">
                  <a:solidFill>
                    <a:schemeClr val="accent2">
                      <a:lumMod val="50000"/>
                    </a:schemeClr>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1085995" y="3944605"/>
                <a:ext cx="9964067" cy="1769459"/>
              </a:xfrm>
              <a:prstGeom prst="rect">
                <a:avLst/>
              </a:prstGeom>
              <a:blipFill rotWithShape="1">
                <a:blip r:embed="rId2"/>
                <a:stretch>
                  <a:fillRect l="-1" t="-35" r="4" b="19"/>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逻辑语言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一阶逻辑重点知识概要</a:t>
            </a:r>
            <a:endParaRPr lang="zh-CN" altLang="en-US"/>
          </a:p>
        </p:txBody>
      </p:sp>
      <p:sp>
        <p:nvSpPr>
          <p:cNvPr id="6" name="文本框 5"/>
          <p:cNvSpPr txBox="1"/>
          <p:nvPr/>
        </p:nvSpPr>
        <p:spPr>
          <a:xfrm>
            <a:off x="859579" y="1364653"/>
            <a:ext cx="10472840" cy="2010807"/>
          </a:xfrm>
          <a:prstGeom prst="rect">
            <a:avLst/>
          </a:prstGeom>
          <a:solidFill>
            <a:schemeClr val="accent4">
              <a:lumMod val="20000"/>
              <a:lumOff val="80000"/>
            </a:schemeClr>
          </a:solidFill>
        </p:spPr>
        <p:txBody>
          <a:bodyPr wrap="square" rtlCol="0">
            <a:spAutoFit/>
          </a:bodyPr>
          <a:lstStyle/>
          <a:p>
            <a:pPr algn="ctr">
              <a:spcBef>
                <a:spcPts val="500"/>
              </a:spcBef>
            </a:pPr>
            <a:r>
              <a:rPr lang="zh-CN" altLang="en-US" b="1">
                <a:solidFill>
                  <a:srgbClr val="C00000"/>
                </a:solidFill>
              </a:rPr>
              <a:t>构造论证验证一阶逻辑推理的有效性</a:t>
            </a:r>
            <a:endParaRPr lang="en-US" altLang="zh-CN" b="1">
              <a:solidFill>
                <a:srgbClr val="C00000"/>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量词消除规则只能针对作用域为整个公式的量词，量词引入规则引入的量词辖域也是整个公式</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通常是从考虑结论的量词如何引入，前提的量词如何消除入手，前提通常要等值变换为前束范式</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要在推理中引入一个常量符号，通常是在存在量词消除规则中引入，而在全称量词消除规则中使用</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通常是针对全称量词消除规则引入的自由变量使用全称量词引入规则，只能在附加前提消除之后，才能针对曾经出现在附加前提中的自由变量使用全称量词引入规则</a:t>
            </a:r>
            <a:endParaRPr lang="zh-CN" altLang="en-US" b="1">
              <a:solidFill>
                <a:schemeClr val="accent2">
                  <a:lumMod val="50000"/>
                </a:schemeClr>
              </a:solidFill>
            </a:endParaRPr>
          </a:p>
        </p:txBody>
      </p:sp>
      <p:sp>
        <p:nvSpPr>
          <p:cNvPr id="13" name="文本框 12"/>
          <p:cNvSpPr txBox="1"/>
          <p:nvPr/>
        </p:nvSpPr>
        <p:spPr>
          <a:xfrm>
            <a:off x="859579" y="4128801"/>
            <a:ext cx="10472840" cy="1733808"/>
          </a:xfrm>
          <a:prstGeom prst="rect">
            <a:avLst/>
          </a:prstGeom>
          <a:solidFill>
            <a:schemeClr val="accent4">
              <a:lumMod val="20000"/>
              <a:lumOff val="80000"/>
            </a:schemeClr>
          </a:solidFill>
        </p:spPr>
        <p:txBody>
          <a:bodyPr wrap="square" rtlCol="0">
            <a:spAutoFit/>
          </a:bodyPr>
          <a:lstStyle/>
          <a:p>
            <a:pPr algn="ctr">
              <a:spcBef>
                <a:spcPts val="500"/>
              </a:spcBef>
            </a:pPr>
            <a:r>
              <a:rPr lang="zh-CN" altLang="en-US" b="1">
                <a:solidFill>
                  <a:srgbClr val="C00000"/>
                </a:solidFill>
              </a:rPr>
              <a:t>自然语言命题符号化为一阶逻辑公式</a:t>
            </a:r>
            <a:endParaRPr lang="en-US" altLang="zh-CN" b="1">
              <a:solidFill>
                <a:srgbClr val="C00000"/>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确定命题出现了哪些个体类（量词修饰的名词要作为个体类），由此确定合适的论域</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确定论域后提取合适的谓词，对于个体类可能要提取对应的特征谓词</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引入个体变量明确命题中量词的使用，确定量词的作用域范围，细化对句子含义的理解</a:t>
            </a:r>
            <a:endParaRPr lang="en-US" altLang="zh-CN" b="1">
              <a:solidFill>
                <a:schemeClr val="accent2">
                  <a:lumMod val="50000"/>
                </a:schemeClr>
              </a:solidFill>
            </a:endParaRPr>
          </a:p>
          <a:p>
            <a:pPr marL="285750" indent="-285750">
              <a:spcBef>
                <a:spcPts val="500"/>
              </a:spcBef>
              <a:buFont typeface="Arial" panose="020B0604020202020204" pitchFamily="34" charset="0"/>
              <a:buChar char="•"/>
            </a:pPr>
            <a:r>
              <a:rPr lang="zh-CN" altLang="en-US" b="1">
                <a:solidFill>
                  <a:schemeClr val="accent2">
                    <a:lumMod val="50000"/>
                  </a:schemeClr>
                </a:solidFill>
              </a:rPr>
              <a:t>全称判断中特征谓词与进一步说明性质的谓词之间是逻辑蕴含关系，而特称判断中是逻辑合取关系</a:t>
            </a:r>
            <a:endParaRPr lang="zh-CN" altLang="en-US" b="1">
              <a:solidFill>
                <a:schemeClr val="accent2">
                  <a:lumMod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逻辑语言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一阶逻辑重点知识概要</a:t>
            </a: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1550314" y="1103964"/>
                <a:ext cx="6508248" cy="5089085"/>
              </a:xfrm>
              <a:prstGeom prst="rect">
                <a:avLst/>
              </a:prstGeom>
              <a:solidFill>
                <a:schemeClr val="accent4">
                  <a:lumMod val="20000"/>
                  <a:lumOff val="80000"/>
                </a:schemeClr>
              </a:solidFill>
            </p:spPr>
            <p:txBody>
              <a:bodyPr wrap="square" rtlCol="0">
                <a:spAutoFit/>
              </a:bodyPr>
              <a:lstStyle/>
              <a:p>
                <a:pPr algn="ctr">
                  <a:spcBef>
                    <a:spcPts val="500"/>
                  </a:spcBef>
                </a:pPr>
                <a:r>
                  <a:rPr lang="zh-CN" altLang="en-US" b="1">
                    <a:solidFill>
                      <a:srgbClr val="C00000"/>
                    </a:solidFill>
                  </a:rPr>
                  <a:t>一些常出现的逻辑等值式和有效推理</a:t>
                </a:r>
                <a:endParaRPr lang="en-US" altLang="zh-CN" b="1">
                  <a:solidFill>
                    <a:srgbClr val="C00000"/>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oMath>
                </a14:m>
                <a:endParaRPr lang="en-US" altLang="zh-CN" b="1" i="1">
                  <a:solidFill>
                    <a:schemeClr val="accent2">
                      <a:lumMod val="50000"/>
                    </a:schemeClr>
                  </a:solidFill>
                  <a:latin typeface="Cambria Math" panose="02040503050406030204" pitchFamily="18" charset="0"/>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𝒙𝑨</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𝒙𝑩</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𝑩</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𝒙𝑨</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𝒙𝑩</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d>
                          <m:dPr>
                            <m:ctrlPr>
                              <a:rPr lang="en-US" altLang="zh-CN" b="1" i="1" smtClean="0">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𝑩</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𝒙𝑨</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𝒙𝑩</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oMath>
                </a14:m>
                <a:endParaRPr lang="en-US" altLang="zh-CN" b="1">
                  <a:solidFill>
                    <a:schemeClr val="accent2">
                      <a:lumMod val="50000"/>
                    </a:schemeClr>
                  </a:solidFill>
                </a:endParaRPr>
              </a:p>
              <a:p>
                <a:pPr marL="285750" indent="-285750">
                  <a:spcBef>
                    <a:spcPts val="5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oMath>
                </a14:m>
                <a:endParaRPr lang="en-US" altLang="zh-CN"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1550314" y="1103964"/>
                <a:ext cx="6508248" cy="5089085"/>
              </a:xfrm>
              <a:prstGeom prst="rect">
                <a:avLst/>
              </a:prstGeom>
              <a:blipFill rotWithShape="1">
                <a:blip r:embed="rId1"/>
                <a:stretch>
                  <a:fillRect l="-4" t="-7" r="6" b="10"/>
                </a:stretch>
              </a:blipFill>
            </p:spPr>
            <p:txBody>
              <a:bodyPr/>
              <a:lstStyle/>
              <a:p>
                <a:r>
                  <a:rPr lang="zh-CN" altLang="en-US">
                    <a:noFill/>
                  </a:rPr>
                  <a:t> </a:t>
                </a:r>
              </a:p>
            </p:txBody>
          </p:sp>
        </mc:Fallback>
      </mc:AlternateContent>
      <p:sp>
        <p:nvSpPr>
          <p:cNvPr id="2" name="文本框 1"/>
          <p:cNvSpPr txBox="1"/>
          <p:nvPr/>
        </p:nvSpPr>
        <p:spPr>
          <a:xfrm>
            <a:off x="8326083" y="2199603"/>
            <a:ext cx="2315603" cy="923330"/>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能够基于永真式的定义证明逻辑等值式，或者有效推理式</a:t>
            </a:r>
            <a:endParaRPr lang="zh-CN" altLang="en-US" b="1">
              <a:solidFill>
                <a:schemeClr val="accent2">
                  <a:lumMod val="50000"/>
                </a:schemeClr>
              </a:solidFill>
            </a:endParaRPr>
          </a:p>
        </p:txBody>
      </p:sp>
      <p:sp>
        <p:nvSpPr>
          <p:cNvPr id="3" name="文本框 2"/>
          <p:cNvSpPr txBox="1"/>
          <p:nvPr/>
        </p:nvSpPr>
        <p:spPr>
          <a:xfrm>
            <a:off x="8405024" y="4196732"/>
            <a:ext cx="2236662" cy="646331"/>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能够构造论证验证每个有效推理式</a:t>
            </a:r>
            <a:endParaRPr lang="zh-CN" altLang="en-US" b="1">
              <a:solidFill>
                <a:schemeClr val="accent2">
                  <a:lumMod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逻辑语言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证明方法部分学习目标</a:t>
            </a:r>
            <a:endParaRPr lang="zh-CN" altLang="en-US"/>
          </a:p>
        </p:txBody>
      </p:sp>
      <p:sp>
        <p:nvSpPr>
          <p:cNvPr id="3" name="文本框 2"/>
          <p:cNvSpPr txBox="1"/>
          <p:nvPr/>
        </p:nvSpPr>
        <p:spPr>
          <a:xfrm>
            <a:off x="2222244" y="1218815"/>
            <a:ext cx="7747509" cy="2308324"/>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latin typeface="楷体" panose="02010609060101010101" pitchFamily="49" charset="-122"/>
                <a:ea typeface="楷体" panose="02010609060101010101" pitchFamily="49" charset="-122"/>
              </a:rPr>
              <a:t>基本证明方法部分学习目标</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直接证明</a:t>
            </a:r>
            <a:r>
              <a:rPr lang="zh-CN" altLang="en-US" sz="2000" b="1">
                <a:solidFill>
                  <a:srgbClr val="002060"/>
                </a:solidFill>
              </a:rPr>
              <a:t>或</a:t>
            </a:r>
            <a:r>
              <a:rPr lang="zh-CN" altLang="en-US" sz="2000" b="1">
                <a:solidFill>
                  <a:srgbClr val="C00000"/>
                </a:solidFill>
              </a:rPr>
              <a:t>间接证明</a:t>
            </a:r>
            <a:r>
              <a:rPr lang="zh-CN" altLang="en-US" sz="2000" b="1">
                <a:solidFill>
                  <a:srgbClr val="002060"/>
                </a:solidFill>
              </a:rPr>
              <a:t>方法证明与整数奇偶性相关的简单命题</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分情况证明</a:t>
            </a:r>
            <a:r>
              <a:rPr lang="zh-CN" altLang="en-US" sz="2000" b="1">
                <a:solidFill>
                  <a:srgbClr val="002060"/>
                </a:solidFill>
              </a:rPr>
              <a:t>方法证明与实数相关的简单命题</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构造性证明</a:t>
            </a:r>
            <a:r>
              <a:rPr lang="zh-CN" altLang="en-US" sz="2000" b="1">
                <a:solidFill>
                  <a:srgbClr val="002060"/>
                </a:solidFill>
              </a:rPr>
              <a:t>方法证明简单的存在性命题</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非构造性证明</a:t>
            </a:r>
            <a:r>
              <a:rPr lang="zh-CN" altLang="en-US" sz="2000" b="1">
                <a:solidFill>
                  <a:srgbClr val="002060"/>
                </a:solidFill>
              </a:rPr>
              <a:t>方法证明简单的存在性命题</a:t>
            </a:r>
            <a:endParaRPr lang="zh-CN" altLang="en-US" sz="2000" b="1">
              <a:solidFill>
                <a:srgbClr val="002060"/>
              </a:solidFill>
            </a:endParaRPr>
          </a:p>
        </p:txBody>
      </p:sp>
      <mc:AlternateContent xmlns:mc="http://schemas.openxmlformats.org/markup-compatibility/2006">
        <mc:Choice xmlns:a14="http://schemas.microsoft.com/office/drawing/2010/main" Requires="a14">
          <p:sp>
            <p:nvSpPr>
              <p:cNvPr id="11" name="文本框 10"/>
              <p:cNvSpPr txBox="1"/>
              <p:nvPr/>
            </p:nvSpPr>
            <p:spPr>
              <a:xfrm>
                <a:off x="1842420" y="3785546"/>
                <a:ext cx="8507155" cy="2308324"/>
              </a:xfrm>
              <a:prstGeom prst="rect">
                <a:avLst/>
              </a:prstGeom>
              <a:solidFill>
                <a:schemeClr val="accent4">
                  <a:lumMod val="20000"/>
                  <a:lumOff val="80000"/>
                  <a:alpha val="75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latin typeface="楷体" panose="02010609060101010101" pitchFamily="49" charset="-122"/>
                    <a:ea typeface="楷体" panose="02010609060101010101" pitchFamily="49" charset="-122"/>
                  </a:rPr>
                  <a:t>归纳定义与归纳证明部分学习目标</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第一数学归纳法</a:t>
                </a:r>
                <a:r>
                  <a:rPr lang="zh-CN" altLang="en-US" sz="2000" b="1">
                    <a:solidFill>
                      <a:srgbClr val="002060"/>
                    </a:solidFill>
                  </a:rPr>
                  <a:t>证明与自然数</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rPr>
                  <a:t>相关的简单命题</a:t>
                </a:r>
                <a14:m>
                  <m:oMath xmlns:m="http://schemas.openxmlformats.org/officeDocument/2006/math">
                    <m:r>
                      <a:rPr lang="en-US" altLang="zh-CN" sz="2000" b="1" i="1" smtClean="0">
                        <a:solidFill>
                          <a:srgbClr val="002060"/>
                        </a:solidFill>
                        <a:latin typeface="Cambria Math" panose="02040503050406030204" pitchFamily="18" charset="0"/>
                      </a:rPr>
                      <m:t>𝑷</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oMath>
                </a14:m>
                <a:endParaRPr lang="en-US" altLang="zh-CN"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第二数学归纳法</a:t>
                </a:r>
                <a:r>
                  <a:rPr lang="zh-CN" altLang="en-US" sz="2000" b="1">
                    <a:solidFill>
                      <a:srgbClr val="002060"/>
                    </a:solidFill>
                  </a:rPr>
                  <a:t>证明与邮资支付相关的命题</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归纳定义</a:t>
                </a:r>
                <a:r>
                  <a:rPr lang="zh-CN" altLang="en-US" sz="2000" b="1">
                    <a:solidFill>
                      <a:srgbClr val="002060"/>
                    </a:solidFill>
                  </a:rPr>
                  <a:t>的方法定义满足简单性质的自然数子集或自然数对子集</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结构归纳法</a:t>
                </a:r>
                <a:r>
                  <a:rPr lang="zh-CN" altLang="en-US" sz="2000" b="1">
                    <a:solidFill>
                      <a:srgbClr val="002060"/>
                    </a:solidFill>
                  </a:rPr>
                  <a:t>证明归纳定义的自然数子集或自然数对子集的简单性质</a:t>
                </a:r>
                <a:endParaRPr lang="zh-CN" altLang="en-US" sz="2000" b="1">
                  <a:solidFill>
                    <a:srgbClr val="00206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1842420" y="3785546"/>
                <a:ext cx="8507155" cy="2308324"/>
              </a:xfrm>
              <a:prstGeom prst="rect">
                <a:avLst/>
              </a:prstGeom>
              <a:blipFill rotWithShape="1">
                <a:blip r:embed="rId1"/>
                <a:stretch>
                  <a:fillRect l="-3" t="-13" r="4" b="18"/>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11" name="文本框 10"/>
          <p:cNvSpPr txBox="1"/>
          <p:nvPr/>
        </p:nvSpPr>
        <p:spPr>
          <a:xfrm>
            <a:off x="1239662" y="1361983"/>
            <a:ext cx="4733731" cy="3854901"/>
          </a:xfrm>
          <a:prstGeom prst="rect">
            <a:avLst/>
          </a:prstGeom>
          <a:noFill/>
        </p:spPr>
        <p:txBody>
          <a:bodyPr wrap="square" rtlCol="0">
            <a:spAutoFit/>
          </a:bodyPr>
          <a:lstStyle/>
          <a:p>
            <a:pPr>
              <a:lnSpc>
                <a:spcPct val="200000"/>
              </a:lnSpc>
            </a:pPr>
            <a:r>
              <a:rPr lang="zh-CN" altLang="en-US" sz="3200" b="1" dirty="0">
                <a:solidFill>
                  <a:schemeClr val="bg2"/>
                </a:solidFill>
                <a:latin typeface="仿宋" panose="02010609060101010101" pitchFamily="49" charset="-122"/>
                <a:ea typeface="仿宋" panose="02010609060101010101" pitchFamily="49" charset="-122"/>
              </a:rPr>
              <a:t>逻辑语言</a:t>
            </a:r>
            <a:endParaRPr lang="en-US" altLang="zh-CN" sz="3200" b="1" dirty="0">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集合语言</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组合计数</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图论语言</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集合关系函数部分内容框架</a:t>
            </a:r>
            <a:endParaRPr lang="zh-CN" altLang="en-US"/>
          </a:p>
        </p:txBody>
      </p:sp>
      <p:pic>
        <p:nvPicPr>
          <p:cNvPr id="2" name="图片 1"/>
          <p:cNvPicPr>
            <a:picLocks noChangeAspect="1"/>
          </p:cNvPicPr>
          <p:nvPr/>
        </p:nvPicPr>
        <p:blipFill>
          <a:blip r:embed="rId1"/>
          <a:stretch>
            <a:fillRect/>
          </a:stretch>
        </p:blipFill>
        <p:spPr>
          <a:xfrm>
            <a:off x="1205711" y="938319"/>
            <a:ext cx="9780577" cy="54179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集合语言：元素考察法</a:t>
            </a:r>
            <a:endParaRPr lang="zh-CN" altLang="en-US"/>
          </a:p>
        </p:txBody>
      </p:sp>
      <p:pic>
        <p:nvPicPr>
          <p:cNvPr id="2" name="图片 1"/>
          <p:cNvPicPr>
            <a:picLocks noChangeAspect="1"/>
          </p:cNvPicPr>
          <p:nvPr/>
        </p:nvPicPr>
        <p:blipFill>
          <a:blip r:embed="rId1"/>
          <a:stretch>
            <a:fillRect/>
          </a:stretch>
        </p:blipFill>
        <p:spPr>
          <a:xfrm>
            <a:off x="1183567" y="889330"/>
            <a:ext cx="9824865" cy="54682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集合语言：性质概括（联系）法</a:t>
            </a:r>
            <a:endParaRPr lang="zh-CN" altLang="en-US"/>
          </a:p>
        </p:txBody>
      </p:sp>
      <p:pic>
        <p:nvPicPr>
          <p:cNvPr id="2" name="图片 1"/>
          <p:cNvPicPr>
            <a:picLocks noChangeAspect="1"/>
          </p:cNvPicPr>
          <p:nvPr/>
        </p:nvPicPr>
        <p:blipFill>
          <a:blip r:embed="rId1"/>
          <a:stretch>
            <a:fillRect/>
          </a:stretch>
        </p:blipFill>
        <p:spPr>
          <a:xfrm>
            <a:off x="1489224" y="1038179"/>
            <a:ext cx="9213551" cy="52780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集合语言部分学习目标</a:t>
            </a:r>
            <a:endParaRPr lang="zh-CN" altLang="en-US"/>
          </a:p>
        </p:txBody>
      </p:sp>
      <p:sp>
        <p:nvSpPr>
          <p:cNvPr id="3" name="文本框 2"/>
          <p:cNvSpPr txBox="1"/>
          <p:nvPr/>
        </p:nvSpPr>
        <p:spPr>
          <a:xfrm>
            <a:off x="1056301" y="1041269"/>
            <a:ext cx="6421796" cy="1846659"/>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latin typeface="楷体" panose="02010609060101010101" pitchFamily="49" charset="-122"/>
                <a:ea typeface="楷体" panose="02010609060101010101" pitchFamily="49" charset="-122"/>
              </a:rPr>
              <a:t>集合部分学习目标</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基于集合相等集合子集关系的</a:t>
            </a:r>
            <a:r>
              <a:rPr lang="zh-CN" altLang="en-US" sz="2000" b="1">
                <a:solidFill>
                  <a:srgbClr val="C00000"/>
                </a:solidFill>
              </a:rPr>
              <a:t>定义</a:t>
            </a:r>
            <a:r>
              <a:rPr lang="zh-CN" altLang="en-US" sz="2000" b="1">
                <a:solidFill>
                  <a:srgbClr val="002060"/>
                </a:solidFill>
              </a:rPr>
              <a:t>证明集合恒等式</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基于集合</a:t>
            </a:r>
            <a:r>
              <a:rPr lang="zh-CN" altLang="en-US" sz="2000" b="1">
                <a:solidFill>
                  <a:srgbClr val="C00000"/>
                </a:solidFill>
              </a:rPr>
              <a:t>基本恒等式</a:t>
            </a:r>
            <a:r>
              <a:rPr lang="zh-CN" altLang="en-US" sz="2000" b="1">
                <a:solidFill>
                  <a:srgbClr val="002060"/>
                </a:solidFill>
              </a:rPr>
              <a:t>、</a:t>
            </a:r>
            <a:r>
              <a:rPr lang="zh-CN" altLang="en-US" sz="2000" b="1">
                <a:solidFill>
                  <a:srgbClr val="C00000"/>
                </a:solidFill>
              </a:rPr>
              <a:t>基本子集关系</a:t>
            </a:r>
            <a:r>
              <a:rPr lang="zh-CN" altLang="en-US" sz="2000" b="1">
                <a:solidFill>
                  <a:srgbClr val="002060"/>
                </a:solidFill>
              </a:rPr>
              <a:t>证明集合恒等式</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判断集合等式是否成立并使用证明或反例给出理由</a:t>
            </a:r>
            <a:endParaRPr lang="zh-CN" altLang="en-US" sz="2000" b="1">
              <a:solidFill>
                <a:srgbClr val="002060"/>
              </a:solidFill>
            </a:endParaRPr>
          </a:p>
        </p:txBody>
      </p:sp>
      <mc:AlternateContent xmlns:mc="http://schemas.openxmlformats.org/markup-compatibility/2006">
        <mc:Choice xmlns:a14="http://schemas.microsoft.com/office/drawing/2010/main" Requires="a14">
          <p:sp>
            <p:nvSpPr>
              <p:cNvPr id="11" name="文本框 10"/>
              <p:cNvSpPr txBox="1"/>
              <p:nvPr/>
            </p:nvSpPr>
            <p:spPr>
              <a:xfrm>
                <a:off x="4809409" y="3010845"/>
                <a:ext cx="6204467" cy="3231654"/>
              </a:xfrm>
              <a:prstGeom prst="rect">
                <a:avLst/>
              </a:prstGeom>
              <a:solidFill>
                <a:schemeClr val="accent4">
                  <a:lumMod val="20000"/>
                  <a:lumOff val="80000"/>
                  <a:alpha val="75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latin typeface="楷体" panose="02010609060101010101" pitchFamily="49" charset="-122"/>
                    <a:ea typeface="楷体" panose="02010609060101010101" pitchFamily="49" charset="-122"/>
                  </a:rPr>
                  <a:t>函数部分学习目标</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判断函数是否是</a:t>
                </a:r>
                <a:r>
                  <a:rPr lang="zh-CN" altLang="en-US" sz="2000" b="1">
                    <a:solidFill>
                      <a:srgbClr val="C00000"/>
                    </a:solidFill>
                  </a:rPr>
                  <a:t>单函数满函数</a:t>
                </a:r>
                <a:r>
                  <a:rPr lang="zh-CN" altLang="en-US" sz="2000" b="1">
                    <a:solidFill>
                      <a:srgbClr val="002060"/>
                    </a:solidFill>
                  </a:rPr>
                  <a:t>和</a:t>
                </a:r>
                <a:r>
                  <a:rPr lang="zh-CN" altLang="en-US" sz="2000" b="1">
                    <a:solidFill>
                      <a:srgbClr val="C00000"/>
                    </a:solidFill>
                  </a:rPr>
                  <a:t>双函数</a:t>
                </a:r>
                <a:r>
                  <a:rPr lang="zh-CN" altLang="en-US" sz="2000" b="1">
                    <a:solidFill>
                      <a:srgbClr val="002060"/>
                    </a:solidFill>
                  </a:rPr>
                  <a:t>并说明理由</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证明与函数像集或原像集相关的命题</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证明函数单满性质与函数复合相关的命题</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证明两个</a:t>
                </a:r>
                <a:r>
                  <a:rPr lang="zh-CN" altLang="en-US" sz="2000" b="1">
                    <a:solidFill>
                      <a:srgbClr val="C00000"/>
                    </a:solidFill>
                  </a:rPr>
                  <a:t>集合等势</a:t>
                </a:r>
                <a:endParaRPr lang="zh-CN" altLang="en-US" sz="2000" b="1">
                  <a:solidFill>
                    <a:srgbClr val="C0000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利用</a:t>
                </a:r>
                <a:r>
                  <a:rPr lang="zh-CN" altLang="en-US" sz="2000" b="1">
                    <a:solidFill>
                      <a:srgbClr val="C00000"/>
                    </a:solidFill>
                  </a:rPr>
                  <a:t>大</a:t>
                </a:r>
                <a:r>
                  <a:rPr lang="en-US" altLang="zh-CN" sz="2000" b="1">
                    <a:solidFill>
                      <a:srgbClr val="C00000"/>
                    </a:solidFill>
                  </a:rPr>
                  <a:t>O</a:t>
                </a:r>
                <a:r>
                  <a:rPr lang="zh-CN" altLang="en-US" sz="2000" b="1">
                    <a:solidFill>
                      <a:srgbClr val="C00000"/>
                    </a:solidFill>
                  </a:rPr>
                  <a:t>记号</a:t>
                </a:r>
                <a:r>
                  <a:rPr lang="zh-CN" altLang="en-US" sz="2000" b="1">
                    <a:solidFill>
                      <a:srgbClr val="002060"/>
                    </a:solidFill>
                  </a:rPr>
                  <a:t>定义证明函数</a:t>
                </a:r>
                <a14:m>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rPr>
                  <a:t>是</a:t>
                </a:r>
                <a14:m>
                  <m:oMath xmlns:m="http://schemas.openxmlformats.org/officeDocument/2006/math">
                    <m:r>
                      <a:rPr lang="en-US" altLang="zh-CN" sz="2000" b="1" i="1" smtClean="0">
                        <a:solidFill>
                          <a:srgbClr val="002060"/>
                        </a:solidFill>
                        <a:latin typeface="Cambria Math" panose="02040503050406030204" pitchFamily="18" charset="0"/>
                      </a:rPr>
                      <m:t>𝑶</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𝒈</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oMath>
                </a14:m>
                <a:endParaRPr lang="en-US" altLang="zh-CN"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rPr>
                  <a:t>利用大</a:t>
                </a:r>
                <a:r>
                  <a:rPr lang="en-US" altLang="zh-CN" sz="2000" b="1">
                    <a:solidFill>
                      <a:srgbClr val="002060"/>
                    </a:solidFill>
                  </a:rPr>
                  <a:t>O</a:t>
                </a:r>
                <a:r>
                  <a:rPr lang="zh-CN" altLang="en-US" sz="2000" b="1">
                    <a:solidFill>
                      <a:srgbClr val="002060"/>
                    </a:solidFill>
                  </a:rPr>
                  <a:t>记号定义证明函数</a:t>
                </a:r>
                <a14:m>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oMath>
                </a14:m>
                <a:r>
                  <a:rPr lang="zh-CN" altLang="en-US" sz="2000" b="1">
                    <a:solidFill>
                      <a:schemeClr val="accent2">
                        <a:lumMod val="50000"/>
                      </a:schemeClr>
                    </a:solidFill>
                  </a:rPr>
                  <a:t>不是</a:t>
                </a:r>
                <a14:m>
                  <m:oMath xmlns:m="http://schemas.openxmlformats.org/officeDocument/2006/math">
                    <m:r>
                      <a:rPr lang="en-US" altLang="zh-CN" sz="2000" b="1" i="1" smtClean="0">
                        <a:solidFill>
                          <a:srgbClr val="002060"/>
                        </a:solidFill>
                        <a:latin typeface="Cambria Math" panose="02040503050406030204" pitchFamily="18" charset="0"/>
                      </a:rPr>
                      <m:t>𝑶</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𝒈</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oMath>
                </a14:m>
                <a:endParaRPr lang="zh-CN" altLang="en-US" sz="2000" b="1">
                  <a:solidFill>
                    <a:srgbClr val="00206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4809409" y="3010845"/>
                <a:ext cx="6204467" cy="3231654"/>
              </a:xfrm>
              <a:prstGeom prst="rect">
                <a:avLst/>
              </a:prstGeom>
              <a:blipFill rotWithShape="1">
                <a:blip r:embed="rId1"/>
                <a:stretch>
                  <a:fillRect l="-9" t="-10" r="7"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849203" y="3323741"/>
                <a:ext cx="3762855" cy="2492990"/>
              </a:xfrm>
              <a:prstGeom prst="rect">
                <a:avLst/>
              </a:prstGeom>
              <a:solidFill>
                <a:schemeClr val="accent2">
                  <a:lumMod val="20000"/>
                  <a:lumOff val="80000"/>
                </a:schemeClr>
              </a:solidFill>
            </p:spPr>
            <p:txBody>
              <a:bodyPr wrap="square" rtlCol="0">
                <a:spAutoFit/>
              </a:bodyPr>
              <a:lstStyle/>
              <a:p>
                <a:pPr marL="285750" indent="-285750">
                  <a:spcBef>
                    <a:spcPts val="300"/>
                  </a:spcBef>
                  <a:spcAft>
                    <a:spcPts val="3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𝒇</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𝑺</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𝑻</m:t>
                        </m:r>
                      </m:e>
                    </m:d>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𝒇</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𝑺</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𝒇</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𝑻</m:t>
                        </m:r>
                      </m:e>
                    </m:d>
                  </m:oMath>
                </a14:m>
                <a:endParaRPr lang="en-US" altLang="zh-CN" b="1">
                  <a:solidFill>
                    <a:schemeClr val="accent2">
                      <a:lumMod val="50000"/>
                    </a:schemeClr>
                  </a:solidFill>
                </a:endParaRPr>
              </a:p>
              <a:p>
                <a:pPr marL="285750" indent="-285750">
                  <a:spcBef>
                    <a:spcPts val="300"/>
                  </a:spcBef>
                  <a:spcAft>
                    <a:spcPts val="3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𝒇</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𝑺</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𝑻</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𝒇</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𝑺</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𝒇</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𝑻</m:t>
                        </m:r>
                      </m:e>
                    </m:d>
                  </m:oMath>
                </a14:m>
                <a:endParaRPr lang="en-US" altLang="zh-CN" b="1">
                  <a:solidFill>
                    <a:schemeClr val="accent2">
                      <a:lumMod val="50000"/>
                    </a:schemeClr>
                  </a:solidFill>
                </a:endParaRPr>
              </a:p>
              <a:p>
                <a:pPr marL="285750" indent="-285750">
                  <a:spcBef>
                    <a:spcPts val="300"/>
                  </a:spcBef>
                  <a:spcAft>
                    <a:spcPts val="300"/>
                  </a:spcAft>
                  <a:buFont typeface="Arial" panose="020B0604020202020204" pitchFamily="34" charset="0"/>
                  <a:buChar char="•"/>
                </a:pPr>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𝒇</m:t>
                        </m:r>
                      </m:e>
                      <m:sup>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p>
                    </m:sSup>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𝑾</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𝑽</m:t>
                        </m:r>
                      </m:e>
                    </m:d>
                    <m:r>
                      <a:rPr lang="en-US" altLang="zh-CN" b="1" i="1" smtClean="0">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𝒇</m:t>
                        </m:r>
                      </m:e>
                      <m:sup>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p>
                    </m:sSup>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𝑾</m:t>
                        </m:r>
                      </m:e>
                    </m:d>
                    <m:r>
                      <a:rPr lang="en-US" altLang="zh-CN" b="1" i="1" smtClean="0">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𝒇</m:t>
                        </m:r>
                      </m:e>
                      <m:sup>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p>
                    </m:sSup>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𝑽</m:t>
                    </m:r>
                    <m:r>
                      <a:rPr lang="en-US" altLang="zh-CN" b="1" i="1" smtClean="0">
                        <a:solidFill>
                          <a:schemeClr val="accent2">
                            <a:lumMod val="50000"/>
                          </a:schemeClr>
                        </a:solidFill>
                        <a:latin typeface="Cambria Math" panose="02040503050406030204" pitchFamily="18" charset="0"/>
                      </a:rPr>
                      <m:t>)</m:t>
                    </m:r>
                  </m:oMath>
                </a14:m>
                <a:endParaRPr lang="en-US" altLang="zh-CN" b="1">
                  <a:solidFill>
                    <a:schemeClr val="accent2">
                      <a:lumMod val="50000"/>
                    </a:schemeClr>
                  </a:solidFill>
                </a:endParaRPr>
              </a:p>
              <a:p>
                <a:pPr marL="285750" indent="-285750">
                  <a:spcBef>
                    <a:spcPts val="300"/>
                  </a:spcBef>
                  <a:spcAft>
                    <a:spcPts val="300"/>
                  </a:spcAft>
                  <a:buFont typeface="Arial" panose="020B0604020202020204" pitchFamily="34" charset="0"/>
                  <a:buChar char="•"/>
                </a:pPr>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𝒇</m:t>
                        </m:r>
                      </m:e>
                      <m:sup>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p>
                    </m:sSup>
                    <m:d>
                      <m:dPr>
                        <m:ctrlPr>
                          <a:rPr lang="en-US" altLang="zh-CN" b="1" i="1" smtClean="0">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𝑾</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𝑽</m:t>
                        </m:r>
                      </m:e>
                    </m:d>
                    <m:r>
                      <a:rPr lang="en-US" altLang="zh-CN" b="1" i="1">
                        <a:solidFill>
                          <a:schemeClr val="accent2">
                            <a:lumMod val="50000"/>
                          </a:schemeClr>
                        </a:solidFill>
                        <a:latin typeface="Cambria Math" panose="02040503050406030204" pitchFamily="18" charset="0"/>
                      </a:rPr>
                      <m:t>=</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𝒇</m:t>
                        </m:r>
                      </m:e>
                      <m:sup>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p>
                    </m:sSup>
                    <m:d>
                      <m:dPr>
                        <m:ctrlPr>
                          <a:rPr lang="en-US" altLang="zh-CN" b="1" i="1" smtClean="0">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𝑾</m:t>
                        </m:r>
                      </m:e>
                    </m:d>
                    <m:r>
                      <a:rPr lang="en-US" altLang="zh-CN" b="1" i="1">
                        <a:solidFill>
                          <a:schemeClr val="accent2">
                            <a:lumMod val="50000"/>
                          </a:schemeClr>
                        </a:solidFill>
                        <a:latin typeface="Cambria Math" panose="02040503050406030204" pitchFamily="18" charset="0"/>
                      </a:rPr>
                      <m:t>∩</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𝒇</m:t>
                        </m:r>
                      </m:e>
                      <m:sup>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p>
                    </m:sSup>
                    <m:d>
                      <m:dPr>
                        <m:ctrlPr>
                          <a:rPr lang="en-US" altLang="zh-CN" b="1" i="1" smtClean="0">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𝑽</m:t>
                        </m:r>
                      </m:e>
                    </m:d>
                  </m:oMath>
                </a14:m>
                <a:endParaRPr lang="en-US" altLang="zh-CN" b="1">
                  <a:solidFill>
                    <a:schemeClr val="accent2">
                      <a:lumMod val="50000"/>
                    </a:schemeClr>
                  </a:solidFill>
                </a:endParaRPr>
              </a:p>
              <a:p>
                <a:pPr marL="285750" indent="-285750">
                  <a:spcBef>
                    <a:spcPts val="300"/>
                  </a:spcBef>
                  <a:spcAft>
                    <a:spcPts val="300"/>
                  </a:spcAft>
                  <a:buFont typeface="Arial" panose="020B0604020202020204" pitchFamily="34" charset="0"/>
                  <a:buChar char="•"/>
                </a:pPr>
                <a:r>
                  <a:rPr lang="zh-CN" altLang="en-US" b="1">
                    <a:solidFill>
                      <a:schemeClr val="accent2">
                        <a:lumMod val="50000"/>
                      </a:schemeClr>
                    </a:solidFill>
                  </a:rPr>
                  <a:t>函数的复合保持函数的单满性质</a:t>
                </a:r>
                <a:endParaRPr lang="en-US" altLang="zh-CN" b="1">
                  <a:solidFill>
                    <a:schemeClr val="accent2">
                      <a:lumMod val="50000"/>
                    </a:schemeClr>
                  </a:solidFill>
                </a:endParaRPr>
              </a:p>
              <a:p>
                <a:pPr marL="285750" indent="-285750">
                  <a:spcBef>
                    <a:spcPts val="300"/>
                  </a:spcBef>
                  <a:spcAft>
                    <a:spcPts val="3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𝒈</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𝒇</m:t>
                    </m:r>
                  </m:oMath>
                </a14:m>
                <a:r>
                  <a:rPr lang="zh-CN" altLang="en-US" b="1">
                    <a:solidFill>
                      <a:schemeClr val="accent2">
                        <a:lumMod val="50000"/>
                      </a:schemeClr>
                    </a:solidFill>
                  </a:rPr>
                  <a:t>是单函数，则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𝒇</m:t>
                    </m:r>
                  </m:oMath>
                </a14:m>
                <a:r>
                  <a:rPr lang="zh-CN" altLang="en-US" b="1">
                    <a:solidFill>
                      <a:schemeClr val="accent2">
                        <a:lumMod val="50000"/>
                      </a:schemeClr>
                    </a:solidFill>
                  </a:rPr>
                  <a:t>是单函数</a:t>
                </a:r>
                <a:endParaRPr lang="en-US" altLang="zh-CN" b="1">
                  <a:solidFill>
                    <a:schemeClr val="accent2">
                      <a:lumMod val="50000"/>
                    </a:schemeClr>
                  </a:solidFill>
                </a:endParaRPr>
              </a:p>
              <a:p>
                <a:pPr marL="285750" indent="-285750">
                  <a:spcBef>
                    <a:spcPts val="300"/>
                  </a:spcBef>
                  <a:spcAft>
                    <a:spcPts val="3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𝒈</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𝒇</m:t>
                    </m:r>
                  </m:oMath>
                </a14:m>
                <a:r>
                  <a:rPr lang="zh-CN" altLang="en-US" b="1">
                    <a:solidFill>
                      <a:schemeClr val="accent2">
                        <a:lumMod val="50000"/>
                      </a:schemeClr>
                    </a:solidFill>
                  </a:rPr>
                  <a:t>是满函数，则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𝒈</m:t>
                    </m:r>
                  </m:oMath>
                </a14:m>
                <a:r>
                  <a:rPr lang="zh-CN" altLang="en-US" b="1">
                    <a:solidFill>
                      <a:schemeClr val="accent2">
                        <a:lumMod val="50000"/>
                      </a:schemeClr>
                    </a:solidFill>
                  </a:rPr>
                  <a:t>是满函数</a:t>
                </a:r>
                <a:endParaRPr lang="zh-CN" altLang="en-US"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849203" y="3323741"/>
                <a:ext cx="3762855" cy="2492990"/>
              </a:xfrm>
              <a:prstGeom prst="rect">
                <a:avLst/>
              </a:prstGeom>
              <a:blipFill rotWithShape="1">
                <a:blip r:embed="rId2"/>
                <a:stretch>
                  <a:fillRect l="-6" t="-6" r="1" b="5"/>
                </a:stretch>
              </a:blipFill>
            </p:spPr>
            <p:txBody>
              <a:bodyPr/>
              <a:lstStyle/>
              <a:p>
                <a:r>
                  <a:rPr lang="zh-CN" altLang="en-US">
                    <a:noFill/>
                  </a:rPr>
                  <a:t> </a:t>
                </a:r>
              </a:p>
            </p:txBody>
          </p:sp>
        </mc:Fallback>
      </mc:AlternateContent>
      <p:sp>
        <p:nvSpPr>
          <p:cNvPr id="13" name="文本框 12"/>
          <p:cNvSpPr txBox="1"/>
          <p:nvPr/>
        </p:nvSpPr>
        <p:spPr>
          <a:xfrm>
            <a:off x="7629212" y="1564488"/>
            <a:ext cx="3925078" cy="800219"/>
          </a:xfrm>
          <a:prstGeom prst="rect">
            <a:avLst/>
          </a:prstGeom>
          <a:solidFill>
            <a:schemeClr val="accent2">
              <a:lumMod val="20000"/>
              <a:lumOff val="80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r>
              <a:rPr lang="zh-CN" altLang="en-US" b="1">
                <a:solidFill>
                  <a:schemeClr val="accent2">
                    <a:lumMod val="50000"/>
                  </a:schemeClr>
                </a:solidFill>
              </a:rPr>
              <a:t>利用集合成员关系表证明集合等式</a:t>
            </a:r>
            <a:endParaRPr lang="en-US" altLang="zh-CN" b="1">
              <a:solidFill>
                <a:schemeClr val="accent2">
                  <a:lumMod val="50000"/>
                </a:schemeClr>
              </a:solidFill>
            </a:endParaRPr>
          </a:p>
          <a:p>
            <a:pPr marL="285750" indent="-285750">
              <a:spcBef>
                <a:spcPts val="600"/>
              </a:spcBef>
              <a:spcAft>
                <a:spcPts val="600"/>
              </a:spcAft>
              <a:buFont typeface="Arial" panose="020B0604020202020204" pitchFamily="34" charset="0"/>
              <a:buChar char="•"/>
            </a:pPr>
            <a:r>
              <a:rPr lang="zh-CN" altLang="en-US" b="1">
                <a:solidFill>
                  <a:schemeClr val="accent2">
                    <a:lumMod val="50000"/>
                  </a:schemeClr>
                </a:solidFill>
              </a:rPr>
              <a:t>集合对称差的定义</a:t>
            </a:r>
            <a:endParaRPr lang="zh-CN" altLang="en-US" b="1">
              <a:solidFill>
                <a:schemeClr val="accent2">
                  <a:lumMod val="5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集合语言部分学习目标</a:t>
            </a:r>
            <a:endParaRPr lang="zh-CN" altLang="en-US"/>
          </a:p>
        </p:txBody>
      </p:sp>
      <p:sp>
        <p:nvSpPr>
          <p:cNvPr id="11" name="文本框 10"/>
          <p:cNvSpPr txBox="1"/>
          <p:nvPr/>
        </p:nvSpPr>
        <p:spPr>
          <a:xfrm>
            <a:off x="1567306" y="1103964"/>
            <a:ext cx="9057385" cy="5116785"/>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300"/>
              </a:spcAft>
            </a:pPr>
            <a:r>
              <a:rPr lang="zh-CN" altLang="en-US" sz="2400" b="1">
                <a:solidFill>
                  <a:schemeClr val="accent2">
                    <a:lumMod val="50000"/>
                  </a:schemeClr>
                </a:solidFill>
                <a:latin typeface="楷体" panose="02010609060101010101" pitchFamily="49" charset="-122"/>
                <a:ea typeface="楷体" panose="02010609060101010101" pitchFamily="49" charset="-122"/>
              </a:rPr>
              <a:t>关系部分学习目标</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rPr>
              <a:t>证明有关关系的</a:t>
            </a:r>
            <a:r>
              <a:rPr lang="zh-CN" altLang="en-US" sz="2000" b="1">
                <a:solidFill>
                  <a:srgbClr val="C00000"/>
                </a:solidFill>
              </a:rPr>
              <a:t>逆</a:t>
            </a:r>
            <a:r>
              <a:rPr lang="zh-CN" altLang="en-US" sz="2000" b="1">
                <a:solidFill>
                  <a:srgbClr val="002060"/>
                </a:solidFill>
              </a:rPr>
              <a:t>、</a:t>
            </a:r>
            <a:r>
              <a:rPr lang="zh-CN" altLang="en-US" sz="2000" b="1">
                <a:solidFill>
                  <a:srgbClr val="C00000"/>
                </a:solidFill>
              </a:rPr>
              <a:t>复合</a:t>
            </a:r>
            <a:r>
              <a:rPr lang="zh-CN" altLang="en-US" sz="2000" b="1">
                <a:solidFill>
                  <a:srgbClr val="002060"/>
                </a:solidFill>
              </a:rPr>
              <a:t>与关系的并、交、差等运算之间联系的性质</a:t>
            </a:r>
            <a:endParaRPr lang="zh-CN" altLang="en-US" sz="2000" b="1">
              <a:solidFill>
                <a:srgbClr val="002060"/>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rPr>
              <a:t>判断关系是否具有</a:t>
            </a:r>
            <a:r>
              <a:rPr lang="zh-CN" altLang="en-US" sz="2000" b="1">
                <a:solidFill>
                  <a:srgbClr val="C00000"/>
                </a:solidFill>
              </a:rPr>
              <a:t>自反性</a:t>
            </a:r>
            <a:r>
              <a:rPr lang="zh-CN" altLang="en-US" sz="2000" b="1">
                <a:solidFill>
                  <a:srgbClr val="002060"/>
                </a:solidFill>
              </a:rPr>
              <a:t>、</a:t>
            </a:r>
            <a:r>
              <a:rPr lang="zh-CN" altLang="en-US" sz="2000" b="1">
                <a:solidFill>
                  <a:srgbClr val="C00000"/>
                </a:solidFill>
              </a:rPr>
              <a:t>反自反性</a:t>
            </a:r>
            <a:r>
              <a:rPr lang="zh-CN" altLang="en-US" sz="2000" b="1">
                <a:solidFill>
                  <a:srgbClr val="002060"/>
                </a:solidFill>
              </a:rPr>
              <a:t>、</a:t>
            </a:r>
            <a:r>
              <a:rPr lang="zh-CN" altLang="en-US" sz="2000" b="1">
                <a:solidFill>
                  <a:srgbClr val="C00000"/>
                </a:solidFill>
              </a:rPr>
              <a:t>对称性</a:t>
            </a:r>
            <a:r>
              <a:rPr lang="zh-CN" altLang="en-US" sz="2000" b="1">
                <a:solidFill>
                  <a:srgbClr val="002060"/>
                </a:solidFill>
              </a:rPr>
              <a:t>、</a:t>
            </a:r>
            <a:r>
              <a:rPr lang="zh-CN" altLang="en-US" sz="2000" b="1">
                <a:solidFill>
                  <a:srgbClr val="C00000"/>
                </a:solidFill>
              </a:rPr>
              <a:t>反对称性</a:t>
            </a:r>
            <a:r>
              <a:rPr lang="zh-CN" altLang="en-US" sz="2000" b="1">
                <a:solidFill>
                  <a:srgbClr val="002060"/>
                </a:solidFill>
              </a:rPr>
              <a:t>或</a:t>
            </a:r>
            <a:r>
              <a:rPr lang="zh-CN" altLang="en-US" sz="2000" b="1">
                <a:solidFill>
                  <a:srgbClr val="C00000"/>
                </a:solidFill>
              </a:rPr>
              <a:t>传递性</a:t>
            </a:r>
            <a:endParaRPr lang="zh-CN" altLang="en-US" sz="2000" b="1">
              <a:solidFill>
                <a:srgbClr val="C00000"/>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rPr>
              <a:t>证明有关关系自反、对称、传递性质与关系并、交、差运算之间联系的性质</a:t>
            </a:r>
            <a:endParaRPr lang="zh-CN" altLang="en-US" sz="2000" b="1">
              <a:solidFill>
                <a:srgbClr val="002060"/>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rPr>
              <a:t>基于关系矩阵的幂或</a:t>
            </a:r>
            <a:r>
              <a:rPr lang="en-US" altLang="zh-CN" sz="2000" b="1">
                <a:solidFill>
                  <a:srgbClr val="002060"/>
                </a:solidFill>
              </a:rPr>
              <a:t>Warshall</a:t>
            </a:r>
            <a:r>
              <a:rPr lang="zh-CN" altLang="en-US" sz="2000" b="1">
                <a:solidFill>
                  <a:srgbClr val="002060"/>
                </a:solidFill>
              </a:rPr>
              <a:t>算法计算关系的</a:t>
            </a:r>
            <a:r>
              <a:rPr lang="zh-CN" altLang="en-US" sz="2000" b="1">
                <a:solidFill>
                  <a:srgbClr val="C00000"/>
                </a:solidFill>
              </a:rPr>
              <a:t>传递闭包</a:t>
            </a:r>
            <a:endParaRPr lang="zh-CN" altLang="en-US" sz="2000" b="1">
              <a:solidFill>
                <a:srgbClr val="C00000"/>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rPr>
              <a:t>证明有关关系闭包与集合包含（子集）关系以及关系并交运算间联系的性质</a:t>
            </a:r>
            <a:endParaRPr lang="zh-CN" altLang="en-US" sz="2000" b="1">
              <a:solidFill>
                <a:srgbClr val="002060"/>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rPr>
              <a:t>证明一个关系是</a:t>
            </a:r>
            <a:r>
              <a:rPr lang="zh-CN" altLang="en-US" sz="2000" b="1">
                <a:solidFill>
                  <a:srgbClr val="C00000"/>
                </a:solidFill>
              </a:rPr>
              <a:t>等价关系</a:t>
            </a:r>
            <a:r>
              <a:rPr lang="zh-CN" altLang="en-US" sz="2000" b="1">
                <a:solidFill>
                  <a:srgbClr val="002060"/>
                </a:solidFill>
              </a:rPr>
              <a:t>或</a:t>
            </a:r>
            <a:r>
              <a:rPr lang="zh-CN" altLang="en-US" sz="2000" b="1">
                <a:solidFill>
                  <a:srgbClr val="C00000"/>
                </a:solidFill>
              </a:rPr>
              <a:t>偏序关</a:t>
            </a:r>
            <a:r>
              <a:rPr lang="zh-CN" altLang="en-US" sz="2000" b="1">
                <a:solidFill>
                  <a:srgbClr val="002060"/>
                </a:solidFill>
              </a:rPr>
              <a:t>系</a:t>
            </a:r>
            <a:endParaRPr lang="zh-CN" altLang="en-US" sz="2000" b="1">
              <a:solidFill>
                <a:srgbClr val="002060"/>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rPr>
              <a:t>给定集合上等价关系，给出集合中某个元素所在的</a:t>
            </a:r>
            <a:r>
              <a:rPr lang="zh-CN" altLang="en-US" sz="2000" b="1">
                <a:solidFill>
                  <a:srgbClr val="C00000"/>
                </a:solidFill>
              </a:rPr>
              <a:t>等价类</a:t>
            </a:r>
            <a:endParaRPr lang="zh-CN" altLang="en-US" sz="2000" b="1">
              <a:solidFill>
                <a:srgbClr val="C00000"/>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rPr>
              <a:t>判断集合簇是否是给定集合的</a:t>
            </a:r>
            <a:r>
              <a:rPr lang="zh-CN" altLang="en-US" sz="2000" b="1">
                <a:solidFill>
                  <a:srgbClr val="C00000"/>
                </a:solidFill>
              </a:rPr>
              <a:t>划分</a:t>
            </a:r>
            <a:endParaRPr lang="zh-CN" altLang="en-US" sz="2000" b="1">
              <a:solidFill>
                <a:srgbClr val="C00000"/>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rPr>
              <a:t>画出一个偏序关系的</a:t>
            </a:r>
            <a:r>
              <a:rPr lang="zh-CN" altLang="en-US" sz="2000" b="1">
                <a:solidFill>
                  <a:srgbClr val="C00000"/>
                </a:solidFill>
              </a:rPr>
              <a:t>哈斯图</a:t>
            </a:r>
            <a:endParaRPr lang="zh-CN" altLang="en-US" sz="2000" b="1">
              <a:solidFill>
                <a:srgbClr val="C00000"/>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rPr>
              <a:t>给出一个偏序集的</a:t>
            </a:r>
            <a:r>
              <a:rPr lang="zh-CN" altLang="en-US" sz="2000" b="1">
                <a:solidFill>
                  <a:srgbClr val="C00000"/>
                </a:solidFill>
              </a:rPr>
              <a:t>极大元</a:t>
            </a:r>
            <a:r>
              <a:rPr lang="zh-CN" altLang="en-US" sz="2000" b="1">
                <a:solidFill>
                  <a:srgbClr val="002060"/>
                </a:solidFill>
              </a:rPr>
              <a:t>、</a:t>
            </a:r>
            <a:r>
              <a:rPr lang="zh-CN" altLang="en-US" sz="2000" b="1">
                <a:solidFill>
                  <a:srgbClr val="C00000"/>
                </a:solidFill>
              </a:rPr>
              <a:t>极小元</a:t>
            </a:r>
            <a:r>
              <a:rPr lang="zh-CN" altLang="en-US" sz="2000" b="1">
                <a:solidFill>
                  <a:srgbClr val="002060"/>
                </a:solidFill>
              </a:rPr>
              <a:t>、</a:t>
            </a:r>
            <a:r>
              <a:rPr lang="zh-CN" altLang="en-US" sz="2000" b="1">
                <a:solidFill>
                  <a:srgbClr val="C00000"/>
                </a:solidFill>
              </a:rPr>
              <a:t>最小元</a:t>
            </a:r>
            <a:r>
              <a:rPr lang="zh-CN" altLang="en-US" sz="2000" b="1">
                <a:solidFill>
                  <a:srgbClr val="002060"/>
                </a:solidFill>
              </a:rPr>
              <a:t>和</a:t>
            </a:r>
            <a:r>
              <a:rPr lang="zh-CN" altLang="en-US" sz="2000" b="1">
                <a:solidFill>
                  <a:srgbClr val="C00000"/>
                </a:solidFill>
              </a:rPr>
              <a:t>最大元</a:t>
            </a:r>
            <a:endParaRPr lang="zh-CN" altLang="en-US" sz="2000" b="1">
              <a:solidFill>
                <a:srgbClr val="C00000"/>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rPr>
              <a:t>给出一个偏序集的某个子集的</a:t>
            </a:r>
            <a:r>
              <a:rPr lang="zh-CN" altLang="en-US" sz="2000" b="1">
                <a:solidFill>
                  <a:srgbClr val="C00000"/>
                </a:solidFill>
              </a:rPr>
              <a:t>上界</a:t>
            </a:r>
            <a:r>
              <a:rPr lang="zh-CN" altLang="en-US" sz="2000" b="1">
                <a:solidFill>
                  <a:srgbClr val="002060"/>
                </a:solidFill>
              </a:rPr>
              <a:t>、</a:t>
            </a:r>
            <a:r>
              <a:rPr lang="zh-CN" altLang="en-US" sz="2000" b="1">
                <a:solidFill>
                  <a:srgbClr val="C00000"/>
                </a:solidFill>
              </a:rPr>
              <a:t>下界</a:t>
            </a:r>
            <a:r>
              <a:rPr lang="zh-CN" altLang="en-US" sz="2000" b="1">
                <a:solidFill>
                  <a:srgbClr val="002060"/>
                </a:solidFill>
              </a:rPr>
              <a:t>、</a:t>
            </a:r>
            <a:r>
              <a:rPr lang="zh-CN" altLang="en-US" sz="2000" b="1">
                <a:solidFill>
                  <a:srgbClr val="C00000"/>
                </a:solidFill>
              </a:rPr>
              <a:t>上确界</a:t>
            </a:r>
            <a:r>
              <a:rPr lang="zh-CN" altLang="en-US" sz="2000" b="1">
                <a:solidFill>
                  <a:srgbClr val="002060"/>
                </a:solidFill>
              </a:rPr>
              <a:t>和</a:t>
            </a:r>
            <a:r>
              <a:rPr lang="zh-CN" altLang="en-US" sz="2000" b="1">
                <a:solidFill>
                  <a:srgbClr val="C00000"/>
                </a:solidFill>
              </a:rPr>
              <a:t>下确界</a:t>
            </a:r>
            <a:endParaRPr lang="zh-CN" altLang="en-US" sz="2000" b="1">
              <a:solidFill>
                <a:srgbClr val="C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集合语言部分重点知识概要（补充）</a:t>
            </a:r>
            <a:endParaRPr lang="zh-CN" altLang="en-US"/>
          </a:p>
        </p:txBody>
      </p:sp>
      <mc:AlternateContent xmlns:mc="http://schemas.openxmlformats.org/markup-compatibility/2006" xmlns:a14="http://schemas.microsoft.com/office/drawing/2010/main">
        <mc:Choice Requires="a14">
          <p:graphicFrame>
            <p:nvGraphicFramePr>
              <p:cNvPr id="13" name="表格 12"/>
              <p:cNvGraphicFramePr>
                <a:graphicFrameLocks noGrp="1"/>
              </p:cNvGraphicFramePr>
              <p:nvPr/>
            </p:nvGraphicFramePr>
            <p:xfrm>
              <a:off x="2026508" y="1983139"/>
              <a:ext cx="8128002" cy="3709480"/>
            </p:xfrm>
            <a:graphic>
              <a:graphicData uri="http://schemas.openxmlformats.org/drawingml/2006/table">
                <a:tbl>
                  <a:tblPr firstRow="1" bandRow="1">
                    <a:tableStyleId>{5C22544A-7EE6-4342-B048-85BDC9FD1C3A}</a:tableStyleId>
                  </a:tblPr>
                  <a:tblGrid>
                    <a:gridCol w="1354667"/>
                    <a:gridCol w="1354667"/>
                    <a:gridCol w="1354667"/>
                    <a:gridCol w="1354667"/>
                    <a:gridCol w="1354667"/>
                    <a:gridCol w="1354667"/>
                  </a:tblGrid>
                  <a:tr h="370840">
                    <a:tc>
                      <a:txBody>
                        <a:bodyPr/>
                        <a:lstStyle/>
                        <a:p>
                          <a:pPr algn="ctr"/>
                          <a:r>
                            <a:rPr lang="zh-CN" altLang="en-US"/>
                            <a:t>关系运算</a:t>
                          </a:r>
                          <a:endParaRPr lang="zh-CN" altLang="en-US"/>
                        </a:p>
                      </a:txBody>
                      <a:tcPr/>
                    </a:tc>
                    <a:tc>
                      <a:txBody>
                        <a:bodyPr/>
                        <a:lstStyle/>
                        <a:p>
                          <a:pPr algn="ctr"/>
                          <a:r>
                            <a:rPr lang="zh-CN" altLang="en-US"/>
                            <a:t>表达式</a:t>
                          </a:r>
                          <a:endParaRPr lang="zh-CN" altLang="en-US"/>
                        </a:p>
                      </a:txBody>
                      <a:tcPr/>
                    </a:tc>
                    <a:tc>
                      <a:txBody>
                        <a:bodyPr/>
                        <a:lstStyle/>
                        <a:p>
                          <a:pPr algn="ctr"/>
                          <a:r>
                            <a:rPr lang="zh-CN" altLang="en-US"/>
                            <a:t>子集关系</a:t>
                          </a:r>
                          <a:endParaRPr lang="zh-CN" altLang="en-US"/>
                        </a:p>
                      </a:txBody>
                      <a:tcPr/>
                    </a:tc>
                    <a:tc>
                      <a:txBody>
                        <a:bodyPr/>
                        <a:lstStyle/>
                        <a:p>
                          <a:pPr algn="ctr"/>
                          <a:r>
                            <a:rPr lang="zh-CN" altLang="en-US"/>
                            <a:t>自反性</a:t>
                          </a:r>
                          <a:endParaRPr lang="zh-CN" altLang="en-US"/>
                        </a:p>
                      </a:txBody>
                      <a:tcPr/>
                    </a:tc>
                    <a:tc>
                      <a:txBody>
                        <a:bodyPr/>
                        <a:lstStyle/>
                        <a:p>
                          <a:pPr algn="ctr"/>
                          <a:r>
                            <a:rPr lang="zh-CN" altLang="en-US"/>
                            <a:t>对称性</a:t>
                          </a:r>
                          <a:endParaRPr lang="zh-CN" altLang="en-US"/>
                        </a:p>
                      </a:txBody>
                      <a:tcPr/>
                    </a:tc>
                    <a:tc>
                      <a:txBody>
                        <a:bodyPr/>
                        <a:lstStyle/>
                        <a:p>
                          <a:pPr algn="ctr"/>
                          <a:r>
                            <a:rPr lang="zh-CN" altLang="en-US"/>
                            <a:t>传递性</a:t>
                          </a:r>
                          <a:endParaRPr lang="zh-CN" altLang="en-US"/>
                        </a:p>
                      </a:txBody>
                      <a:tcPr/>
                    </a:tc>
                  </a:tr>
                  <a:tr h="370840">
                    <a:tc>
                      <a:txBody>
                        <a:bodyPr/>
                        <a:lstStyle/>
                        <a:p>
                          <a:pPr algn="ctr"/>
                          <a:r>
                            <a:rPr lang="zh-CN" altLang="en-US" b="1">
                              <a:solidFill>
                                <a:schemeClr val="accent2">
                                  <a:lumMod val="50000"/>
                                </a:schemeClr>
                              </a:solidFill>
                            </a:rPr>
                            <a:t>关系并</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𝑺</m:t>
                                </m:r>
                              </m:oMath>
                            </m:oMathPara>
                          </a14:m>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r>
                  <a:tr h="370840">
                    <a:tc>
                      <a:txBody>
                        <a:bodyPr/>
                        <a:lstStyle/>
                        <a:p>
                          <a:pPr algn="ctr"/>
                          <a:r>
                            <a:rPr lang="zh-CN" altLang="en-US" b="1">
                              <a:solidFill>
                                <a:schemeClr val="accent2">
                                  <a:lumMod val="50000"/>
                                </a:schemeClr>
                              </a:solidFill>
                            </a:rPr>
                            <a:t>关系交</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𝑺</m:t>
                                </m:r>
                              </m:oMath>
                            </m:oMathPara>
                          </a14:m>
                          <a:endParaRPr lang="zh-CN" altLang="en-US" b="1">
                            <a:solidFill>
                              <a:schemeClr val="accent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r>
                  <a:tr h="370840">
                    <a:tc>
                      <a:txBody>
                        <a:bodyPr/>
                        <a:lstStyle/>
                        <a:p>
                          <a:pPr algn="ctr"/>
                          <a:r>
                            <a:rPr lang="zh-CN" altLang="en-US" b="1">
                              <a:solidFill>
                                <a:schemeClr val="accent2">
                                  <a:lumMod val="50000"/>
                                </a:schemeClr>
                              </a:solidFill>
                            </a:rPr>
                            <a:t>关系差</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𝑺</m:t>
                                </m:r>
                              </m:oMath>
                            </m:oMathPara>
                          </a14:m>
                          <a:endParaRPr lang="zh-CN" altLang="en-US" b="1">
                            <a:solidFill>
                              <a:schemeClr val="accent2">
                                <a:lumMod val="50000"/>
                              </a:schemeClr>
                            </a:solidFill>
                          </a:endParaRPr>
                        </a:p>
                      </a:txBody>
                      <a:tcPr/>
                    </a:tc>
                    <a:tc>
                      <a:txBody>
                        <a:bodyPr/>
                        <a:lstStyle/>
                        <a:p>
                          <a:pPr algn="ctr"/>
                          <a:r>
                            <a:rPr lang="zh-CN" altLang="en-US" b="1">
                              <a:solidFill>
                                <a:srgbClr val="FF0000"/>
                              </a:solidFill>
                            </a:rPr>
                            <a:t>不保持</a:t>
                          </a:r>
                          <a:endParaRPr lang="zh-CN" altLang="en-US" b="1">
                            <a:solidFill>
                              <a:srgbClr val="FF0000"/>
                            </a:solidFill>
                          </a:endParaRPr>
                        </a:p>
                      </a:txBody>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r>
                  <a:tr h="370840">
                    <a:tc>
                      <a:txBody>
                        <a:bodyPr/>
                        <a:lstStyle/>
                        <a:p>
                          <a:pPr algn="ctr"/>
                          <a:r>
                            <a:rPr lang="zh-CN" altLang="en-US" b="1">
                              <a:solidFill>
                                <a:schemeClr val="accent2">
                                  <a:lumMod val="50000"/>
                                </a:schemeClr>
                              </a:solidFill>
                            </a:rPr>
                            <a:t>关系逆</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𝑹</m:t>
                                    </m:r>
                                  </m:e>
                                  <m:sup>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p>
                                </m:sSup>
                              </m:oMath>
                            </m:oMathPara>
                          </a14:m>
                          <a:endParaRPr lang="zh-CN" altLang="en-US" b="1">
                            <a:solidFill>
                              <a:schemeClr val="accent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r>
                  <a:tr h="370840">
                    <a:tc>
                      <a:txBody>
                        <a:bodyPr/>
                        <a:lstStyle/>
                        <a:p>
                          <a:pPr algn="ctr"/>
                          <a:r>
                            <a:rPr lang="zh-CN" altLang="en-US" b="1">
                              <a:solidFill>
                                <a:schemeClr val="accent2">
                                  <a:lumMod val="50000"/>
                                </a:schemeClr>
                              </a:solidFill>
                            </a:rPr>
                            <a:t>关系复合</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𝑺</m:t>
                                </m:r>
                              </m:oMath>
                            </m:oMathPara>
                          </a14:m>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r>
                  <a:tr h="370840">
                    <a:tc>
                      <a:txBody>
                        <a:bodyPr/>
                        <a:lstStyle/>
                        <a:p>
                          <a:pPr algn="ctr"/>
                          <a:r>
                            <a:rPr lang="zh-CN" altLang="en-US" b="1">
                              <a:solidFill>
                                <a:schemeClr val="accent2">
                                  <a:lumMod val="50000"/>
                                </a:schemeClr>
                              </a:solidFill>
                            </a:rPr>
                            <a:t>自反闭包</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𝒓</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𝒓</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oMath>
                            </m:oMathPara>
                          </a14:m>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r>
                  <a:tr h="370840">
                    <a:tc>
                      <a:txBody>
                        <a:bodyPr/>
                        <a:lstStyle/>
                        <a:p>
                          <a:pPr algn="ctr"/>
                          <a:r>
                            <a:rPr lang="zh-CN" altLang="en-US" b="1">
                              <a:solidFill>
                                <a:schemeClr val="accent2">
                                  <a:lumMod val="50000"/>
                                </a:schemeClr>
                              </a:solidFill>
                            </a:rPr>
                            <a:t>对称闭包</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𝒔</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𝒔</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oMath>
                            </m:oMathPara>
                          </a14:m>
                          <a:endParaRPr lang="zh-CN" altLang="en-US" b="1">
                            <a:solidFill>
                              <a:schemeClr val="accent2">
                                <a:lumMod val="50000"/>
                              </a:schemeClr>
                            </a:solidFill>
                          </a:endParaRPr>
                        </a:p>
                      </a:txBody>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r>
                  <a:tr h="370840">
                    <a:tc>
                      <a:txBody>
                        <a:bodyPr/>
                        <a:lstStyle/>
                        <a:p>
                          <a:pPr algn="ctr"/>
                          <a:r>
                            <a:rPr lang="zh-CN" altLang="en-US" b="1">
                              <a:solidFill>
                                <a:schemeClr val="accent2">
                                  <a:lumMod val="50000"/>
                                </a:schemeClr>
                              </a:solidFill>
                            </a:rPr>
                            <a:t>传递闭包</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𝒕</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𝒕</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oMath>
                            </m:oMathPara>
                          </a14:m>
                          <a:endParaRPr lang="zh-CN" altLang="en-US" b="1">
                            <a:solidFill>
                              <a:schemeClr val="accent2">
                                <a:lumMod val="50000"/>
                              </a:schemeClr>
                            </a:solidFill>
                          </a:endParaRPr>
                        </a:p>
                      </a:txBody>
                      <a:tcPr/>
                    </a:tc>
                  </a:tr>
                  <a:tr h="370840">
                    <a:tc>
                      <a:txBody>
                        <a:bodyPr/>
                        <a:lstStyle/>
                        <a:p>
                          <a:pPr algn="ctr"/>
                          <a:r>
                            <a:rPr lang="zh-CN" altLang="en-US" b="1">
                              <a:solidFill>
                                <a:schemeClr val="accent2">
                                  <a:lumMod val="50000"/>
                                </a:schemeClr>
                              </a:solidFill>
                            </a:rPr>
                            <a:t>关系幂运算</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𝑹</m:t>
                                    </m:r>
                                  </m:e>
                                  <m:sup>
                                    <m:r>
                                      <a:rPr lang="en-US" altLang="zh-CN" b="1" i="1" smtClean="0">
                                        <a:solidFill>
                                          <a:schemeClr val="accent2">
                                            <a:lumMod val="50000"/>
                                          </a:schemeClr>
                                        </a:solidFill>
                                        <a:latin typeface="Cambria Math" panose="02040503050406030204" pitchFamily="18" charset="0"/>
                                      </a:rPr>
                                      <m:t>𝒏</m:t>
                                    </m:r>
                                  </m:sup>
                                </m:sSup>
                              </m:oMath>
                            </m:oMathPara>
                          </a14:m>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r>
                </a:tbl>
              </a:graphicData>
            </a:graphic>
          </p:graphicFrame>
        </mc:Choice>
        <mc:Fallback xmlns="">
          <p:graphicFrame>
            <p:nvGraphicFramePr>
              <p:cNvPr id="13" name="表格 12"/>
              <p:cNvGraphicFramePr>
                <a:graphicFrameLocks noGrp="1"/>
              </p:cNvGraphicFramePr>
              <p:nvPr/>
            </p:nvGraphicFramePr>
            <p:xfrm>
              <a:off x="2026508" y="1983139"/>
              <a:ext cx="8128002" cy="3709480"/>
            </p:xfrm>
            <a:graphic>
              <a:graphicData uri="http://schemas.openxmlformats.org/drawingml/2006/table">
                <a:tbl>
                  <a:tblPr firstRow="1" bandRow="1">
                    <a:tableStyleId>{5C22544A-7EE6-4342-B048-85BDC9FD1C3A}</a:tableStyleId>
                  </a:tblPr>
                  <a:tblGrid>
                    <a:gridCol w="1354667"/>
                    <a:gridCol w="1354667"/>
                    <a:gridCol w="1354667"/>
                    <a:gridCol w="1354667"/>
                    <a:gridCol w="1354667"/>
                    <a:gridCol w="1354667"/>
                  </a:tblGrid>
                  <a:tr h="370840">
                    <a:tc>
                      <a:txBody>
                        <a:bodyPr/>
                        <a:lstStyle/>
                        <a:p>
                          <a:pPr algn="ctr"/>
                          <a:r>
                            <a:rPr lang="zh-CN" altLang="en-US"/>
                            <a:t>关系运算</a:t>
                          </a:r>
                          <a:endParaRPr lang="zh-CN" altLang="en-US"/>
                        </a:p>
                      </a:txBody>
                      <a:tcPr/>
                    </a:tc>
                    <a:tc>
                      <a:txBody>
                        <a:bodyPr/>
                        <a:lstStyle/>
                        <a:p>
                          <a:pPr algn="ctr"/>
                          <a:r>
                            <a:rPr lang="zh-CN" altLang="en-US"/>
                            <a:t>表达式</a:t>
                          </a:r>
                          <a:endParaRPr lang="zh-CN" altLang="en-US"/>
                        </a:p>
                      </a:txBody>
                      <a:tcPr/>
                    </a:tc>
                    <a:tc>
                      <a:txBody>
                        <a:bodyPr/>
                        <a:lstStyle/>
                        <a:p>
                          <a:pPr algn="ctr"/>
                          <a:r>
                            <a:rPr lang="zh-CN" altLang="en-US"/>
                            <a:t>子集关系</a:t>
                          </a:r>
                          <a:endParaRPr lang="zh-CN" altLang="en-US"/>
                        </a:p>
                      </a:txBody>
                      <a:tcPr/>
                    </a:tc>
                    <a:tc>
                      <a:txBody>
                        <a:bodyPr/>
                        <a:lstStyle/>
                        <a:p>
                          <a:pPr algn="ctr"/>
                          <a:r>
                            <a:rPr lang="zh-CN" altLang="en-US"/>
                            <a:t>自反性</a:t>
                          </a:r>
                          <a:endParaRPr lang="zh-CN" altLang="en-US"/>
                        </a:p>
                      </a:txBody>
                      <a:tcPr/>
                    </a:tc>
                    <a:tc>
                      <a:txBody>
                        <a:bodyPr/>
                        <a:lstStyle/>
                        <a:p>
                          <a:pPr algn="ctr"/>
                          <a:r>
                            <a:rPr lang="zh-CN" altLang="en-US"/>
                            <a:t>对称性</a:t>
                          </a:r>
                          <a:endParaRPr lang="zh-CN" altLang="en-US"/>
                        </a:p>
                      </a:txBody>
                      <a:tcPr/>
                    </a:tc>
                    <a:tc>
                      <a:txBody>
                        <a:bodyPr/>
                        <a:lstStyle/>
                        <a:p>
                          <a:pPr algn="ctr"/>
                          <a:r>
                            <a:rPr lang="zh-CN" altLang="en-US"/>
                            <a:t>传递性</a:t>
                          </a:r>
                          <a:endParaRPr lang="zh-CN" altLang="en-US"/>
                        </a:p>
                      </a:txBody>
                      <a:tcPr/>
                    </a:tc>
                  </a:tr>
                  <a:tr h="370840">
                    <a:tc>
                      <a:txBody>
                        <a:bodyPr/>
                        <a:lstStyle/>
                        <a:p>
                          <a:pPr algn="ctr"/>
                          <a:r>
                            <a:rPr lang="zh-CN" altLang="en-US" b="1">
                              <a:solidFill>
                                <a:schemeClr val="accent2">
                                  <a:lumMod val="50000"/>
                                </a:schemeClr>
                              </a:solidFill>
                            </a:rPr>
                            <a:t>关系并</a:t>
                          </a:r>
                          <a:endParaRPr lang="zh-CN" altLang="en-US" b="1">
                            <a:solidFill>
                              <a:schemeClr val="accent2">
                                <a:lumMod val="50000"/>
                              </a:schemeClr>
                            </a:solidFill>
                          </a:endParaRPr>
                        </a:p>
                      </a:txBody>
                      <a:tcPr/>
                    </a:tc>
                    <a:tc>
                      <a:txBody>
                        <a:bodyPr/>
                        <a:lstStyle/>
                        <a:p>
                          <a:endParaRPr lang="zh-CN"/>
                        </a:p>
                      </a:txBody>
                      <a:tcPr>
                        <a:blipFill>
                          <a:blip r:embed="rId1"/>
                        </a:blipFill>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r>
                  <a:tr h="370840">
                    <a:tc>
                      <a:txBody>
                        <a:bodyPr/>
                        <a:lstStyle/>
                        <a:p>
                          <a:pPr algn="ctr"/>
                          <a:r>
                            <a:rPr lang="zh-CN" altLang="en-US" b="1">
                              <a:solidFill>
                                <a:schemeClr val="accent2">
                                  <a:lumMod val="50000"/>
                                </a:schemeClr>
                              </a:solidFill>
                            </a:rPr>
                            <a:t>关系交</a:t>
                          </a:r>
                          <a:endParaRPr lang="zh-CN" altLang="en-US" b="1">
                            <a:solidFill>
                              <a:schemeClr val="accent2">
                                <a:lumMod val="50000"/>
                              </a:schemeClr>
                            </a:solidFill>
                          </a:endParaRPr>
                        </a:p>
                      </a:txBody>
                      <a:tcPr/>
                    </a:tc>
                    <a:tc>
                      <a:txBody>
                        <a:bodyPr/>
                        <a:lstStyle/>
                        <a:p>
                          <a:endParaRPr lang="zh-CN"/>
                        </a:p>
                      </a:txBody>
                      <a:tcPr>
                        <a:blipFill>
                          <a:blip r:embed="rId1"/>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r>
                  <a:tr h="370840">
                    <a:tc>
                      <a:txBody>
                        <a:bodyPr/>
                        <a:lstStyle/>
                        <a:p>
                          <a:pPr algn="ctr"/>
                          <a:r>
                            <a:rPr lang="zh-CN" altLang="en-US" b="1">
                              <a:solidFill>
                                <a:schemeClr val="accent2">
                                  <a:lumMod val="50000"/>
                                </a:schemeClr>
                              </a:solidFill>
                            </a:rPr>
                            <a:t>关系差</a:t>
                          </a:r>
                          <a:endParaRPr lang="zh-CN" altLang="en-US" b="1">
                            <a:solidFill>
                              <a:schemeClr val="accent2">
                                <a:lumMod val="50000"/>
                              </a:schemeClr>
                            </a:solidFill>
                          </a:endParaRPr>
                        </a:p>
                      </a:txBody>
                      <a:tcPr/>
                    </a:tc>
                    <a:tc>
                      <a:txBody>
                        <a:bodyPr/>
                        <a:lstStyle/>
                        <a:p>
                          <a:endParaRPr lang="zh-CN"/>
                        </a:p>
                      </a:txBody>
                      <a:tcPr>
                        <a:blipFill>
                          <a:blip r:embed="rId1"/>
                        </a:blipFill>
                      </a:tcPr>
                    </a:tc>
                    <a:tc>
                      <a:txBody>
                        <a:bodyPr/>
                        <a:lstStyle/>
                        <a:p>
                          <a:pPr algn="ctr"/>
                          <a:r>
                            <a:rPr lang="zh-CN" altLang="en-US" b="1">
                              <a:solidFill>
                                <a:srgbClr val="FF0000"/>
                              </a:solidFill>
                            </a:rPr>
                            <a:t>不保持</a:t>
                          </a:r>
                          <a:endParaRPr lang="zh-CN" altLang="en-US" b="1">
                            <a:solidFill>
                              <a:srgbClr val="FF0000"/>
                            </a:solidFill>
                          </a:endParaRPr>
                        </a:p>
                      </a:txBody>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r>
                  <a:tr h="370840">
                    <a:tc>
                      <a:txBody>
                        <a:bodyPr/>
                        <a:lstStyle/>
                        <a:p>
                          <a:pPr algn="ctr"/>
                          <a:r>
                            <a:rPr lang="zh-CN" altLang="en-US" b="1">
                              <a:solidFill>
                                <a:schemeClr val="accent2">
                                  <a:lumMod val="50000"/>
                                </a:schemeClr>
                              </a:solidFill>
                            </a:rPr>
                            <a:t>关系逆</a:t>
                          </a:r>
                          <a:endParaRPr lang="zh-CN" altLang="en-US" b="1">
                            <a:solidFill>
                              <a:schemeClr val="accent2">
                                <a:lumMod val="50000"/>
                              </a:schemeClr>
                            </a:solidFill>
                          </a:endParaRPr>
                        </a:p>
                      </a:txBody>
                      <a:tcPr/>
                    </a:tc>
                    <a:tc>
                      <a:txBody>
                        <a:bodyPr/>
                        <a:lstStyle/>
                        <a:p>
                          <a:endParaRPr lang="zh-CN"/>
                        </a:p>
                      </a:txBody>
                      <a:tcPr>
                        <a:blipFill>
                          <a:blip r:embed="rId1"/>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r>
                  <a:tr h="370840">
                    <a:tc>
                      <a:txBody>
                        <a:bodyPr/>
                        <a:lstStyle/>
                        <a:p>
                          <a:pPr algn="ctr"/>
                          <a:r>
                            <a:rPr lang="zh-CN" altLang="en-US" b="1">
                              <a:solidFill>
                                <a:schemeClr val="accent2">
                                  <a:lumMod val="50000"/>
                                </a:schemeClr>
                              </a:solidFill>
                            </a:rPr>
                            <a:t>关系复合</a:t>
                          </a:r>
                          <a:endParaRPr lang="zh-CN" altLang="en-US" b="1">
                            <a:solidFill>
                              <a:schemeClr val="accent2">
                                <a:lumMod val="50000"/>
                              </a:schemeClr>
                            </a:solidFill>
                          </a:endParaRPr>
                        </a:p>
                      </a:txBody>
                      <a:tcPr/>
                    </a:tc>
                    <a:tc>
                      <a:txBody>
                        <a:bodyPr/>
                        <a:lstStyle/>
                        <a:p>
                          <a:endParaRPr lang="zh-CN"/>
                        </a:p>
                      </a:txBody>
                      <a:tcPr>
                        <a:blipFill>
                          <a:blip r:embed="rId1"/>
                        </a:blipFill>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r>
                  <a:tr h="370840">
                    <a:tc>
                      <a:txBody>
                        <a:bodyPr/>
                        <a:lstStyle/>
                        <a:p>
                          <a:pPr algn="ctr"/>
                          <a:r>
                            <a:rPr lang="zh-CN" altLang="en-US" b="1">
                              <a:solidFill>
                                <a:schemeClr val="accent2">
                                  <a:lumMod val="50000"/>
                                </a:schemeClr>
                              </a:solidFill>
                            </a:rPr>
                            <a:t>自反闭包</a:t>
                          </a:r>
                          <a:endParaRPr lang="zh-CN" altLang="en-US" b="1">
                            <a:solidFill>
                              <a:schemeClr val="accent2">
                                <a:lumMod val="50000"/>
                              </a:schemeClr>
                            </a:solidFill>
                          </a:endParaRPr>
                        </a:p>
                      </a:txBody>
                      <a:tcPr/>
                    </a:tc>
                    <a:tc>
                      <a:txBody>
                        <a:bodyPr/>
                        <a:lstStyle/>
                        <a:p>
                          <a:endParaRPr lang="zh-CN"/>
                        </a:p>
                      </a:txBody>
                      <a:tcPr>
                        <a:blipFill>
                          <a:blip r:embed="rId1"/>
                        </a:blipFill>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endParaRPr lang="zh-CN"/>
                        </a:p>
                      </a:txBody>
                      <a:tcPr>
                        <a:blipFill>
                          <a:blip r:embed="rId1"/>
                        </a:blipFill>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r>
                  <a:tr h="370840">
                    <a:tc>
                      <a:txBody>
                        <a:bodyPr/>
                        <a:lstStyle/>
                        <a:p>
                          <a:pPr algn="ctr"/>
                          <a:r>
                            <a:rPr lang="zh-CN" altLang="en-US" b="1">
                              <a:solidFill>
                                <a:schemeClr val="accent2">
                                  <a:lumMod val="50000"/>
                                </a:schemeClr>
                              </a:solidFill>
                            </a:rPr>
                            <a:t>对称闭包</a:t>
                          </a:r>
                          <a:endParaRPr lang="zh-CN" altLang="en-US" b="1">
                            <a:solidFill>
                              <a:schemeClr val="accent2">
                                <a:lumMod val="50000"/>
                              </a:schemeClr>
                            </a:solidFill>
                          </a:endParaRPr>
                        </a:p>
                      </a:txBody>
                      <a:tcPr/>
                    </a:tc>
                    <a:tc>
                      <a:txBody>
                        <a:bodyPr/>
                        <a:lstStyle/>
                        <a:p>
                          <a:endParaRPr lang="zh-CN"/>
                        </a:p>
                      </a:txBody>
                      <a:tcPr>
                        <a:blipFill>
                          <a:blip r:embed="rId1"/>
                        </a:blipFill>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endParaRPr lang="zh-CN"/>
                        </a:p>
                      </a:txBody>
                      <a:tcPr>
                        <a:blipFill>
                          <a:blip r:embed="rId1"/>
                        </a:blipFill>
                      </a:tcPr>
                    </a:tc>
                    <a:tc>
                      <a:txBody>
                        <a:bodyPr/>
                        <a:lstStyle/>
                        <a:p>
                          <a:pPr marL="0" algn="ctr" defTabSz="914400" rtl="0" eaLnBrk="1" latinLnBrk="0" hangingPunct="1"/>
                          <a:r>
                            <a:rPr lang="zh-CN" altLang="en-US" sz="1800" b="1" kern="1200">
                              <a:solidFill>
                                <a:srgbClr val="FF0000"/>
                              </a:solidFill>
                              <a:latin typeface="+mn-lt"/>
                              <a:ea typeface="+mn-ea"/>
                              <a:cs typeface="+mn-cs"/>
                            </a:rPr>
                            <a:t>不保持</a:t>
                          </a:r>
                          <a:endParaRPr lang="zh-CN" altLang="en-US" sz="1800" b="1" kern="1200">
                            <a:solidFill>
                              <a:srgbClr val="FF0000"/>
                            </a:solidFill>
                            <a:latin typeface="+mn-lt"/>
                            <a:ea typeface="+mn-ea"/>
                            <a:cs typeface="+mn-cs"/>
                          </a:endParaRPr>
                        </a:p>
                      </a:txBody>
                      <a:tcPr/>
                    </a:tc>
                  </a:tr>
                  <a:tr h="370840">
                    <a:tc>
                      <a:txBody>
                        <a:bodyPr/>
                        <a:lstStyle/>
                        <a:p>
                          <a:pPr algn="ctr"/>
                          <a:r>
                            <a:rPr lang="zh-CN" altLang="en-US" b="1">
                              <a:solidFill>
                                <a:schemeClr val="accent2">
                                  <a:lumMod val="50000"/>
                                </a:schemeClr>
                              </a:solidFill>
                            </a:rPr>
                            <a:t>传递闭包</a:t>
                          </a:r>
                          <a:endParaRPr lang="zh-CN" altLang="en-US" b="1">
                            <a:solidFill>
                              <a:schemeClr val="accent2">
                                <a:lumMod val="50000"/>
                              </a:schemeClr>
                            </a:solidFill>
                          </a:endParaRPr>
                        </a:p>
                      </a:txBody>
                      <a:tcPr/>
                    </a:tc>
                    <a:tc>
                      <a:txBody>
                        <a:bodyPr/>
                        <a:lstStyle/>
                        <a:p>
                          <a:endParaRPr lang="zh-CN"/>
                        </a:p>
                      </a:txBody>
                      <a:tcPr>
                        <a:blipFill>
                          <a:blip r:embed="rId1"/>
                        </a:blipFill>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endParaRPr lang="zh-CN"/>
                        </a:p>
                      </a:txBody>
                      <a:tcPr>
                        <a:blipFill>
                          <a:blip r:embed="rId1"/>
                        </a:blipFill>
                      </a:tcPr>
                    </a:tc>
                  </a:tr>
                  <a:tr h="370840">
                    <a:tc>
                      <a:txBody>
                        <a:bodyPr/>
                        <a:lstStyle/>
                        <a:p>
                          <a:pPr algn="ctr"/>
                          <a:r>
                            <a:rPr lang="zh-CN" altLang="en-US" b="1">
                              <a:solidFill>
                                <a:schemeClr val="accent2">
                                  <a:lumMod val="50000"/>
                                </a:schemeClr>
                              </a:solidFill>
                            </a:rPr>
                            <a:t>关系幂运算</a:t>
                          </a:r>
                          <a:endParaRPr lang="zh-CN" altLang="en-US" b="1">
                            <a:solidFill>
                              <a:schemeClr val="accent2">
                                <a:lumMod val="50000"/>
                              </a:schemeClr>
                            </a:solidFill>
                          </a:endParaRPr>
                        </a:p>
                      </a:txBody>
                      <a:tcPr/>
                    </a:tc>
                    <a:tc>
                      <a:txBody>
                        <a:bodyPr/>
                        <a:lstStyle/>
                        <a:p>
                          <a:endParaRPr lang="zh-CN"/>
                        </a:p>
                      </a:txBody>
                      <a:tcPr>
                        <a:blipFill>
                          <a:blip r:embed="rId1"/>
                        </a:blipFill>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c>
                      <a:txBody>
                        <a:bodyPr/>
                        <a:lstStyle/>
                        <a:p>
                          <a:pPr algn="ctr"/>
                          <a:r>
                            <a:rPr lang="zh-CN" altLang="en-US" b="1">
                              <a:solidFill>
                                <a:schemeClr val="accent2">
                                  <a:lumMod val="50000"/>
                                </a:schemeClr>
                              </a:solidFill>
                            </a:rPr>
                            <a:t>保持</a:t>
                          </a:r>
                          <a:endParaRPr lang="zh-CN" altLang="en-US" b="1">
                            <a:solidFill>
                              <a:schemeClr val="accent2">
                                <a:lumMod val="50000"/>
                              </a:schemeClr>
                            </a:solidFill>
                          </a:endParaRPr>
                        </a:p>
                      </a:txBody>
                      <a:tcPr/>
                    </a:tc>
                  </a:tr>
                </a:tbl>
              </a:graphicData>
            </a:graphic>
          </p:graphicFrame>
        </mc:Fallback>
      </mc:AlternateContent>
      <mc:AlternateContent xmlns:mc="http://schemas.openxmlformats.org/markup-compatibility/2006">
        <mc:Choice xmlns:a14="http://schemas.microsoft.com/office/drawing/2010/main" Requires="a14">
          <p:sp>
            <p:nvSpPr>
              <p:cNvPr id="14" name="文本框 13"/>
              <p:cNvSpPr txBox="1"/>
              <p:nvPr/>
            </p:nvSpPr>
            <p:spPr>
              <a:xfrm>
                <a:off x="2026509" y="1250333"/>
                <a:ext cx="3466198" cy="369332"/>
              </a:xfrm>
              <a:prstGeom prst="rect">
                <a:avLst/>
              </a:prstGeom>
              <a:solidFill>
                <a:schemeClr val="accent4">
                  <a:lumMod val="20000"/>
                  <a:lumOff val="80000"/>
                </a:schemeClr>
              </a:solidFill>
            </p:spPr>
            <p:txBody>
              <a:bodyPr wrap="square" rtlCol="0">
                <a:spAutoFit/>
              </a:bodyPr>
              <a:lstStyle/>
              <a:p>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𝑺</m:t>
                    </m:r>
                  </m:oMath>
                </a14:m>
                <a:r>
                  <a:rPr lang="zh-CN" altLang="en-US" b="1">
                    <a:solidFill>
                      <a:schemeClr val="accent2">
                        <a:lumMod val="50000"/>
                      </a:schemeClr>
                    </a:solidFill>
                  </a:rPr>
                  <a:t>都是非空集</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oMath>
                </a14:m>
                <a:r>
                  <a:rPr lang="zh-CN" altLang="en-US" b="1">
                    <a:solidFill>
                      <a:schemeClr val="accent2">
                        <a:lumMod val="50000"/>
                      </a:schemeClr>
                    </a:solidFill>
                  </a:rPr>
                  <a:t>上的二元关系</a:t>
                </a:r>
                <a:endParaRPr lang="zh-CN" altLang="en-US" b="1">
                  <a:solidFill>
                    <a:schemeClr val="accent2">
                      <a:lumMod val="50000"/>
                    </a:schemeClr>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2026509" y="1250333"/>
                <a:ext cx="3466198" cy="369332"/>
              </a:xfrm>
              <a:prstGeom prst="rect">
                <a:avLst/>
              </a:prstGeom>
              <a:blipFill rotWithShape="1">
                <a:blip r:embed="rId2"/>
                <a:stretch>
                  <a:fillRect l="-6" t="-5" r="17" b="112"/>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集合语言部分重点知识概要（补充）</a:t>
            </a: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960758" y="1339734"/>
                <a:ext cx="3466198" cy="369332"/>
              </a:xfrm>
              <a:prstGeom prst="rect">
                <a:avLst/>
              </a:prstGeom>
              <a:solidFill>
                <a:schemeClr val="accent4">
                  <a:lumMod val="20000"/>
                  <a:lumOff val="80000"/>
                </a:schemeClr>
              </a:solidFill>
            </p:spPr>
            <p:txBody>
              <a:bodyPr wrap="square" rtlCol="0">
                <a:spAutoFit/>
              </a:bodyPr>
              <a:lstStyle/>
              <a:p>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𝑺</m:t>
                    </m:r>
                  </m:oMath>
                </a14:m>
                <a:r>
                  <a:rPr lang="zh-CN" altLang="en-US" b="1">
                    <a:solidFill>
                      <a:schemeClr val="accent2">
                        <a:lumMod val="50000"/>
                      </a:schemeClr>
                    </a:solidFill>
                  </a:rPr>
                  <a:t>都是非空集</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oMath>
                </a14:m>
                <a:r>
                  <a:rPr lang="zh-CN" altLang="en-US" b="1">
                    <a:solidFill>
                      <a:schemeClr val="accent2">
                        <a:lumMod val="50000"/>
                      </a:schemeClr>
                    </a:solidFill>
                  </a:rPr>
                  <a:t>上的二元关系</a:t>
                </a:r>
                <a:endParaRPr lang="zh-CN" altLang="en-US"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960758" y="1339734"/>
                <a:ext cx="3466198" cy="369332"/>
              </a:xfrm>
              <a:prstGeom prst="rect">
                <a:avLst/>
              </a:prstGeom>
              <a:blipFill rotWithShape="1">
                <a:blip r:embed="rId1"/>
                <a:stretch>
                  <a:fillRect t="-141" r="11" b="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3" name="表格 12"/>
              <p:cNvGraphicFramePr>
                <a:graphicFrameLocks noGrp="1"/>
              </p:cNvGraphicFramePr>
              <p:nvPr/>
            </p:nvGraphicFramePr>
            <p:xfrm>
              <a:off x="960758" y="1929806"/>
              <a:ext cx="10245372" cy="4033267"/>
            </p:xfrm>
            <a:graphic>
              <a:graphicData uri="http://schemas.openxmlformats.org/drawingml/2006/table">
                <a:tbl>
                  <a:tblPr firstRow="1" bandRow="1">
                    <a:tableStyleId>{5C22544A-7EE6-4342-B048-85BDC9FD1C3A}</a:tableStyleId>
                  </a:tblPr>
                  <a:tblGrid>
                    <a:gridCol w="1164434"/>
                    <a:gridCol w="1336916"/>
                    <a:gridCol w="1847846"/>
                    <a:gridCol w="1361160"/>
                    <a:gridCol w="1427589"/>
                    <a:gridCol w="1427589"/>
                    <a:gridCol w="1679838"/>
                  </a:tblGrid>
                  <a:tr h="370840">
                    <a:tc>
                      <a:txBody>
                        <a:bodyPr/>
                        <a:lstStyle/>
                        <a:p>
                          <a:pPr algn="ctr"/>
                          <a:r>
                            <a:rPr lang="zh-CN" altLang="en-US"/>
                            <a:t>关系运算</a:t>
                          </a:r>
                          <a:endParaRPr lang="zh-CN" altLang="en-US"/>
                        </a:p>
                      </a:txBody>
                      <a:tcPr anchor="ctr"/>
                    </a:tc>
                    <a:tc>
                      <a:txBody>
                        <a:bodyPr/>
                        <a:lstStyle/>
                        <a:p>
                          <a:pPr algn="ctr"/>
                          <a:r>
                            <a:rPr lang="zh-CN" altLang="en-US"/>
                            <a:t>关系逆</a:t>
                          </a:r>
                          <a:endParaRPr lang="zh-CN" altLang="en-US"/>
                        </a:p>
                      </a:txBody>
                      <a:tcPr anchor="ctr"/>
                    </a:tc>
                    <a:tc>
                      <a:txBody>
                        <a:bodyPr/>
                        <a:lstStyle/>
                        <a:p>
                          <a:pPr algn="ctr"/>
                          <a:r>
                            <a:rPr lang="zh-CN" altLang="en-US"/>
                            <a:t>关系复合</a:t>
                          </a:r>
                          <a:endParaRPr lang="zh-CN" altLang="en-US"/>
                        </a:p>
                      </a:txBody>
                      <a:tcPr anchor="ctr"/>
                    </a:tc>
                    <a:tc>
                      <a:txBody>
                        <a:bodyPr/>
                        <a:lstStyle/>
                        <a:p>
                          <a:pPr algn="ctr"/>
                          <a:r>
                            <a:rPr lang="zh-CN" altLang="en-US"/>
                            <a:t>自反闭包</a:t>
                          </a:r>
                          <a:endParaRPr lang="zh-CN" altLang="en-US"/>
                        </a:p>
                      </a:txBody>
                      <a:tcPr anchor="ctr"/>
                    </a:tc>
                    <a:tc>
                      <a:txBody>
                        <a:bodyPr/>
                        <a:lstStyle/>
                        <a:p>
                          <a:pPr algn="ctr"/>
                          <a:r>
                            <a:rPr lang="zh-CN" altLang="en-US"/>
                            <a:t>对称闭包</a:t>
                          </a:r>
                          <a:endParaRPr lang="zh-CN" altLang="en-US"/>
                        </a:p>
                      </a:txBody>
                      <a:tcPr anchor="ctr"/>
                    </a:tc>
                    <a:tc>
                      <a:txBody>
                        <a:bodyPr/>
                        <a:lstStyle/>
                        <a:p>
                          <a:pPr algn="ctr"/>
                          <a:r>
                            <a:rPr lang="zh-CN" altLang="en-US"/>
                            <a:t>传递闭包</a:t>
                          </a:r>
                          <a:endParaRPr lang="zh-CN" altLang="en-US"/>
                        </a:p>
                      </a:txBody>
                      <a:tcPr anchor="ctr"/>
                    </a:tc>
                    <a:tc>
                      <a:txBody>
                        <a:bodyPr/>
                        <a:lstStyle/>
                        <a:p>
                          <a:pPr algn="ctr"/>
                          <a:r>
                            <a:rPr lang="zh-CN" altLang="en-US"/>
                            <a:t>关系幂</a:t>
                          </a:r>
                          <a14:m>
                            <m:oMath xmlns:m="http://schemas.openxmlformats.org/officeDocument/2006/math">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𝑛</m:t>
                                  </m:r>
                                  <m:r>
                                    <a:rPr lang="en-US" altLang="zh-CN" i="1" smtClean="0">
                                      <a:latin typeface="Cambria Math" panose="02040503050406030204" pitchFamily="18" charset="0"/>
                                    </a:rPr>
                                    <m:t>≥</m:t>
                                  </m:r>
                                  <m:r>
                                    <a:rPr lang="en-US" altLang="zh-CN" i="1" smtClean="0">
                                      <a:latin typeface="Cambria Math" panose="02040503050406030204" pitchFamily="18" charset="0"/>
                                    </a:rPr>
                                    <m:t>1</m:t>
                                  </m:r>
                                </m:e>
                              </m:d>
                            </m:oMath>
                          </a14:m>
                          <a:endParaRPr lang="zh-CN" altLang="en-US"/>
                        </a:p>
                      </a:txBody>
                      <a:tcPr anchor="ctr"/>
                    </a:tc>
                  </a:tr>
                  <a:tr h="370840">
                    <a:tc>
                      <a:txBody>
                        <a:bodyPr/>
                        <a:lstStyle/>
                        <a:p>
                          <a:pPr algn="ctr"/>
                          <a:r>
                            <a:rPr lang="zh-CN" altLang="en-US" b="1">
                              <a:solidFill>
                                <a:schemeClr val="accent2">
                                  <a:lumMod val="50000"/>
                                </a:schemeClr>
                              </a:solidFill>
                            </a:rPr>
                            <a:t>关系并</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𝑺</m:t>
                                        </m:r>
                                      </m:e>
                                    </m:d>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r>
                                  <a:rPr lang="en-US" altLang="zh-CN" sz="1400" b="1" i="1" smtClean="0">
                                    <a:solidFill>
                                      <a:schemeClr val="accent2">
                                        <a:lumMod val="50000"/>
                                      </a:schemeClr>
                                    </a:solidFill>
                                    <a:latin typeface="Cambria Math" panose="02040503050406030204" pitchFamily="18" charset="0"/>
                                  </a:rPr>
                                  <m:t>= </m:t>
                                </m:r>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r>
                                  <a:rPr lang="en-US" altLang="zh-CN" sz="1400" b="1" i="1" smtClean="0">
                                    <a:solidFill>
                                      <a:schemeClr val="accent2">
                                        <a:lumMod val="50000"/>
                                      </a:schemeClr>
                                    </a:solidFill>
                                    <a:latin typeface="Cambria Math" panose="02040503050406030204" pitchFamily="18" charset="0"/>
                                  </a:rPr>
                                  <m:t>∪</m:t>
                                </m:r>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𝑺</m:t>
                                    </m:r>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oMath>
                            </m:oMathPara>
                          </a14:m>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𝑺</m:t>
                                    </m:r>
                                  </m:e>
                                </m:d>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𝑻</m:t>
                                </m:r>
                                <m:r>
                                  <a:rPr lang="en-US" altLang="zh-CN" sz="1400" b="1" i="1" smtClean="0">
                                    <a:solidFill>
                                      <a:schemeClr val="accent2">
                                        <a:lumMod val="50000"/>
                                      </a:schemeClr>
                                    </a:solidFill>
                                    <a:latin typeface="Cambria Math" panose="02040503050406030204" pitchFamily="18" charset="0"/>
                                  </a:rPr>
                                  <m:t> = </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𝑻</m:t>
                                    </m:r>
                                  </m:e>
                                </m:d>
                                <m:r>
                                  <a:rPr lang="en-US" altLang="zh-CN" sz="1400" b="1" i="1" smtClean="0">
                                    <a:solidFill>
                                      <a:schemeClr val="accent2">
                                        <a:lumMod val="50000"/>
                                      </a:schemeClr>
                                    </a:solidFill>
                                    <a:latin typeface="Cambria Math" panose="02040503050406030204" pitchFamily="18" charset="0"/>
                                  </a:rPr>
                                  <m:t>∪</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𝑺</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𝑻</m:t>
                                    </m:r>
                                  </m:e>
                                </m:d>
                              </m:oMath>
                            </m:oMathPara>
                          </a14:m>
                          <a:endParaRPr lang="zh-CN" altLang="en-US" sz="1400" b="1">
                            <a:solidFill>
                              <a:schemeClr val="accent2">
                                <a:lumMod val="50000"/>
                              </a:schemeClr>
                            </a:solidFill>
                          </a:endParaRPr>
                        </a:p>
                      </a:txBody>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1" i="1" kern="1200" smtClean="0">
                                    <a:solidFill>
                                      <a:schemeClr val="accent2">
                                        <a:lumMod val="50000"/>
                                      </a:schemeClr>
                                    </a:solidFill>
                                    <a:latin typeface="Cambria Math" panose="02040503050406030204" pitchFamily="18" charset="0"/>
                                    <a:ea typeface="+mn-ea"/>
                                    <a:cs typeface="+mn-cs"/>
                                  </a:rPr>
                                  <m:t>𝒓</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𝑺</m:t>
                                    </m:r>
                                  </m:e>
                                </m:d>
                                <m:r>
                                  <a:rPr lang="en-US" altLang="zh-CN" sz="1400" b="1" i="1" kern="1200" smtClean="0">
                                    <a:solidFill>
                                      <a:schemeClr val="accent2">
                                        <a:lumMod val="50000"/>
                                      </a:schemeClr>
                                    </a:solidFill>
                                    <a:latin typeface="Cambria Math" panose="02040503050406030204" pitchFamily="18" charset="0"/>
                                    <a:ea typeface="+mn-ea"/>
                                    <a:cs typeface="+mn-cs"/>
                                  </a:rPr>
                                  <m:t>= </m:t>
                                </m:r>
                                <m:r>
                                  <a:rPr lang="en-US" altLang="zh-CN" sz="1400" b="1" i="1" kern="1200" smtClean="0">
                                    <a:solidFill>
                                      <a:schemeClr val="accent2">
                                        <a:lumMod val="50000"/>
                                      </a:schemeClr>
                                    </a:solidFill>
                                    <a:latin typeface="Cambria Math" panose="02040503050406030204" pitchFamily="18" charset="0"/>
                                    <a:ea typeface="+mn-ea"/>
                                    <a:cs typeface="+mn-cs"/>
                                  </a:rPr>
                                  <m:t>𝒓</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e>
                                </m:d>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𝒓</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𝑺</m:t>
                                    </m:r>
                                  </m:e>
                                </m:d>
                              </m:oMath>
                            </m:oMathPara>
                          </a14:m>
                          <a:endParaRPr lang="zh-CN" altLang="en-US" sz="1400" b="1" i="1" kern="1200">
                            <a:solidFill>
                              <a:schemeClr val="accent2">
                                <a:lumMod val="50000"/>
                              </a:schemeClr>
                            </a:solidFill>
                            <a:latin typeface="Cambria Math" panose="02040503050406030204" pitchFamily="18" charset="0"/>
                            <a:ea typeface="+mn-ea"/>
                            <a:cs typeface="+mn-cs"/>
                          </a:endParaRPr>
                        </a:p>
                      </a:txBody>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1" i="1" kern="1200" smtClean="0">
                                    <a:solidFill>
                                      <a:schemeClr val="accent2">
                                        <a:lumMod val="50000"/>
                                      </a:schemeClr>
                                    </a:solidFill>
                                    <a:latin typeface="Cambria Math" panose="02040503050406030204" pitchFamily="18" charset="0"/>
                                    <a:ea typeface="+mn-ea"/>
                                    <a:cs typeface="+mn-cs"/>
                                  </a:rPr>
                                  <m:t>𝒔</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𝑺</m:t>
                                    </m:r>
                                  </m:e>
                                </m:d>
                                <m:r>
                                  <a:rPr lang="en-US" altLang="zh-CN" sz="1400" b="1" i="1" kern="1200" smtClean="0">
                                    <a:solidFill>
                                      <a:schemeClr val="accent2">
                                        <a:lumMod val="50000"/>
                                      </a:schemeClr>
                                    </a:solidFill>
                                    <a:latin typeface="Cambria Math" panose="02040503050406030204" pitchFamily="18" charset="0"/>
                                    <a:ea typeface="+mn-ea"/>
                                    <a:cs typeface="+mn-cs"/>
                                  </a:rPr>
                                  <m:t>= </m:t>
                                </m:r>
                                <m:r>
                                  <a:rPr lang="en-US" altLang="zh-CN" sz="1400" b="1" i="1" kern="1200" smtClean="0">
                                    <a:solidFill>
                                      <a:schemeClr val="accent2">
                                        <a:lumMod val="50000"/>
                                      </a:schemeClr>
                                    </a:solidFill>
                                    <a:latin typeface="Cambria Math" panose="02040503050406030204" pitchFamily="18" charset="0"/>
                                    <a:ea typeface="+mn-ea"/>
                                    <a:cs typeface="+mn-cs"/>
                                  </a:rPr>
                                  <m:t>𝒔</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e>
                                </m:d>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𝒔</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𝑺</m:t>
                                    </m:r>
                                  </m:e>
                                </m:d>
                              </m:oMath>
                            </m:oMathPara>
                          </a14:m>
                          <a:endParaRPr lang="zh-CN" altLang="en-US" sz="1400" b="1" kern="1200">
                            <a:solidFill>
                              <a:srgbClr val="FF0000"/>
                            </a:solidFill>
                            <a:latin typeface="+mn-lt"/>
                            <a:ea typeface="+mn-ea"/>
                            <a:cs typeface="+mn-cs"/>
                          </a:endParaRPr>
                        </a:p>
                      </a:txBody>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1" i="1" kern="1200" smtClean="0">
                                    <a:solidFill>
                                      <a:schemeClr val="accent2">
                                        <a:lumMod val="50000"/>
                                      </a:schemeClr>
                                    </a:solidFill>
                                    <a:latin typeface="Cambria Math" panose="02040503050406030204" pitchFamily="18" charset="0"/>
                                    <a:ea typeface="+mn-ea"/>
                                    <a:cs typeface="+mn-cs"/>
                                  </a:rPr>
                                  <m:t>𝒕</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e>
                                </m:d>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𝒕</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𝑺</m:t>
                                    </m:r>
                                  </m:e>
                                </m:d>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𝒕</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𝑺</m:t>
                                    </m:r>
                                  </m:e>
                                </m:d>
                                <m:r>
                                  <a:rPr lang="en-US" altLang="zh-CN" sz="1400" b="1" i="1" kern="1200" smtClean="0">
                                    <a:solidFill>
                                      <a:schemeClr val="accent2">
                                        <a:lumMod val="50000"/>
                                      </a:schemeClr>
                                    </a:solidFill>
                                    <a:latin typeface="Cambria Math" panose="02040503050406030204" pitchFamily="18" charset="0"/>
                                    <a:ea typeface="+mn-ea"/>
                                    <a:cs typeface="+mn-cs"/>
                                  </a:rPr>
                                  <m:t> </m:t>
                                </m:r>
                              </m:oMath>
                            </m:oMathPara>
                          </a14:m>
                          <a:endParaRPr lang="zh-CN" altLang="en-US" sz="1400" b="1" kern="1200">
                            <a:solidFill>
                              <a:srgbClr val="FF0000"/>
                            </a:solidFill>
                            <a:latin typeface="+mn-lt"/>
                            <a:ea typeface="+mn-ea"/>
                            <a:cs typeface="+mn-cs"/>
                          </a:endParaRPr>
                        </a:p>
                      </a:txBody>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altLang="zh-CN" sz="1400" b="1" i="1" kern="1200" smtClean="0">
                                        <a:solidFill>
                                          <a:schemeClr val="accent2">
                                            <a:lumMod val="50000"/>
                                          </a:schemeClr>
                                        </a:solidFill>
                                        <a:latin typeface="Cambria Math" panose="02040503050406030204" pitchFamily="18" charset="0"/>
                                        <a:ea typeface="+mn-ea"/>
                                        <a:cs typeface="+mn-cs"/>
                                      </a:rPr>
                                    </m:ctrlPr>
                                  </m:sSupPr>
                                  <m:e>
                                    <m:r>
                                      <a:rPr lang="en-US" altLang="zh-CN" sz="1400" b="1" i="1" kern="1200" smtClean="0">
                                        <a:solidFill>
                                          <a:schemeClr val="accent2">
                                            <a:lumMod val="50000"/>
                                          </a:schemeClr>
                                        </a:solidFill>
                                        <a:latin typeface="Cambria Math" panose="02040503050406030204" pitchFamily="18" charset="0"/>
                                        <a:ea typeface="+mn-ea"/>
                                        <a:cs typeface="+mn-cs"/>
                                      </a:rPr>
                                      <m:t>𝑹</m:t>
                                    </m:r>
                                  </m:e>
                                  <m:sup>
                                    <m:r>
                                      <a:rPr lang="en-US" altLang="zh-CN" sz="1400" b="1" i="1" kern="1200" smtClean="0">
                                        <a:solidFill>
                                          <a:schemeClr val="accent2">
                                            <a:lumMod val="50000"/>
                                          </a:schemeClr>
                                        </a:solidFill>
                                        <a:latin typeface="Cambria Math" panose="02040503050406030204" pitchFamily="18" charset="0"/>
                                        <a:ea typeface="+mn-ea"/>
                                        <a:cs typeface="+mn-cs"/>
                                      </a:rPr>
                                      <m:t>𝒏</m:t>
                                    </m:r>
                                  </m:sup>
                                </m:sSup>
                                <m:r>
                                  <a:rPr lang="en-US" altLang="zh-CN" sz="1400" b="1" i="1" kern="1200" smtClean="0">
                                    <a:solidFill>
                                      <a:schemeClr val="accent2">
                                        <a:lumMod val="50000"/>
                                      </a:schemeClr>
                                    </a:solidFill>
                                    <a:latin typeface="Cambria Math" panose="02040503050406030204" pitchFamily="18" charset="0"/>
                                    <a:ea typeface="+mn-ea"/>
                                    <a:cs typeface="+mn-cs"/>
                                  </a:rPr>
                                  <m:t>∪</m:t>
                                </m:r>
                                <m:sSup>
                                  <m:sSupPr>
                                    <m:ctrlPr>
                                      <a:rPr lang="en-US" altLang="zh-CN" sz="1400" b="1" i="1" kern="1200" smtClean="0">
                                        <a:solidFill>
                                          <a:schemeClr val="accent2">
                                            <a:lumMod val="50000"/>
                                          </a:schemeClr>
                                        </a:solidFill>
                                        <a:latin typeface="Cambria Math" panose="02040503050406030204" pitchFamily="18" charset="0"/>
                                        <a:ea typeface="+mn-ea"/>
                                        <a:cs typeface="+mn-cs"/>
                                      </a:rPr>
                                    </m:ctrlPr>
                                  </m:sSupPr>
                                  <m:e>
                                    <m:r>
                                      <a:rPr lang="en-US" altLang="zh-CN" sz="1400" b="1" i="1" kern="1200" smtClean="0">
                                        <a:solidFill>
                                          <a:schemeClr val="accent2">
                                            <a:lumMod val="50000"/>
                                          </a:schemeClr>
                                        </a:solidFill>
                                        <a:latin typeface="Cambria Math" panose="02040503050406030204" pitchFamily="18" charset="0"/>
                                        <a:ea typeface="+mn-ea"/>
                                        <a:cs typeface="+mn-cs"/>
                                      </a:rPr>
                                      <m:t>𝑺</m:t>
                                    </m:r>
                                  </m:e>
                                  <m:sup>
                                    <m:r>
                                      <a:rPr lang="en-US" altLang="zh-CN" sz="1400" b="1" i="1" kern="1200" smtClean="0">
                                        <a:solidFill>
                                          <a:schemeClr val="accent2">
                                            <a:lumMod val="50000"/>
                                          </a:schemeClr>
                                        </a:solidFill>
                                        <a:latin typeface="Cambria Math" panose="02040503050406030204" pitchFamily="18" charset="0"/>
                                        <a:ea typeface="+mn-ea"/>
                                        <a:cs typeface="+mn-cs"/>
                                      </a:rPr>
                                      <m:t>𝒏</m:t>
                                    </m:r>
                                  </m:sup>
                                </m:sSup>
                                <m:r>
                                  <a:rPr lang="en-US" altLang="zh-CN" sz="1400" b="1" i="1" kern="1200" smtClean="0">
                                    <a:solidFill>
                                      <a:schemeClr val="accent2">
                                        <a:lumMod val="50000"/>
                                      </a:schemeClr>
                                    </a:solidFill>
                                    <a:latin typeface="Cambria Math" panose="02040503050406030204" pitchFamily="18" charset="0"/>
                                    <a:ea typeface="+mn-ea"/>
                                    <a:cs typeface="+mn-cs"/>
                                  </a:rPr>
                                  <m:t>⊆</m:t>
                                </m:r>
                                <m:sSup>
                                  <m:sSupPr>
                                    <m:ctrlPr>
                                      <a:rPr lang="en-US" altLang="zh-CN" sz="1400" b="1" i="1" kern="1200" smtClean="0">
                                        <a:solidFill>
                                          <a:schemeClr val="accent2">
                                            <a:lumMod val="50000"/>
                                          </a:schemeClr>
                                        </a:solidFill>
                                        <a:latin typeface="Cambria Math" panose="02040503050406030204" pitchFamily="18" charset="0"/>
                                        <a:ea typeface="+mn-ea"/>
                                        <a:cs typeface="+mn-cs"/>
                                      </a:rPr>
                                    </m:ctrlPr>
                                  </m:sSupPr>
                                  <m:e>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𝑺</m:t>
                                        </m:r>
                                      </m:e>
                                    </m:d>
                                  </m:e>
                                  <m:sup>
                                    <m:r>
                                      <a:rPr lang="en-US" altLang="zh-CN" sz="1400" b="1" i="1" kern="1200" smtClean="0">
                                        <a:solidFill>
                                          <a:schemeClr val="accent2">
                                            <a:lumMod val="50000"/>
                                          </a:schemeClr>
                                        </a:solidFill>
                                        <a:latin typeface="Cambria Math" panose="02040503050406030204" pitchFamily="18" charset="0"/>
                                        <a:ea typeface="+mn-ea"/>
                                        <a:cs typeface="+mn-cs"/>
                                      </a:rPr>
                                      <m:t>𝒏</m:t>
                                    </m:r>
                                  </m:sup>
                                </m:sSup>
                              </m:oMath>
                            </m:oMathPara>
                          </a14:m>
                          <a:endParaRPr lang="zh-CN" altLang="en-US" sz="1400" b="1" kern="1200">
                            <a:solidFill>
                              <a:srgbClr val="FF0000"/>
                            </a:solidFill>
                            <a:latin typeface="+mn-lt"/>
                            <a:ea typeface="+mn-ea"/>
                            <a:cs typeface="+mn-cs"/>
                          </a:endParaRPr>
                        </a:p>
                      </a:txBody>
                      <a:tcPr/>
                    </a:tc>
                  </a:tr>
                  <a:tr h="370840">
                    <a:tc>
                      <a:txBody>
                        <a:bodyPr/>
                        <a:lstStyle/>
                        <a:p>
                          <a:pPr algn="ctr"/>
                          <a:r>
                            <a:rPr lang="zh-CN" altLang="en-US" b="1">
                              <a:solidFill>
                                <a:schemeClr val="accent2">
                                  <a:lumMod val="50000"/>
                                </a:schemeClr>
                              </a:solidFill>
                            </a:rPr>
                            <a:t>关系交</a:t>
                          </a:r>
                          <a:endParaRPr lang="zh-CN" altLang="en-US" b="1">
                            <a:solidFill>
                              <a:schemeClr val="accent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𝑺</m:t>
                                        </m:r>
                                      </m:e>
                                    </m:d>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r>
                                  <a:rPr lang="en-US" altLang="zh-CN" sz="1400" b="1" i="1" smtClean="0">
                                    <a:solidFill>
                                      <a:schemeClr val="accent2">
                                        <a:lumMod val="50000"/>
                                      </a:schemeClr>
                                    </a:solidFill>
                                    <a:latin typeface="Cambria Math" panose="02040503050406030204" pitchFamily="18" charset="0"/>
                                  </a:rPr>
                                  <m:t>= </m:t>
                                </m:r>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r>
                                  <a:rPr lang="en-US" altLang="zh-CN" sz="1400" b="1" i="1" smtClean="0">
                                    <a:solidFill>
                                      <a:schemeClr val="accent2">
                                        <a:lumMod val="50000"/>
                                      </a:schemeClr>
                                    </a:solidFill>
                                    <a:latin typeface="Cambria Math" panose="02040503050406030204" pitchFamily="18" charset="0"/>
                                  </a:rPr>
                                  <m:t>∩</m:t>
                                </m:r>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𝑺</m:t>
                                    </m:r>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oMath>
                            </m:oMathPara>
                          </a14:m>
                          <a:endParaRPr lang="zh-CN" altLang="en-US" sz="1400" b="1">
                            <a:solidFill>
                              <a:schemeClr val="accent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𝑺</m:t>
                                    </m:r>
                                  </m:e>
                                </m:d>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𝑻</m:t>
                                </m:r>
                                <m:r>
                                  <a:rPr lang="en-US" altLang="zh-CN" sz="1400" b="1" i="1" smtClean="0">
                                    <a:solidFill>
                                      <a:schemeClr val="accent2">
                                        <a:lumMod val="50000"/>
                                      </a:schemeClr>
                                    </a:solidFill>
                                    <a:latin typeface="Cambria Math" panose="02040503050406030204" pitchFamily="18" charset="0"/>
                                  </a:rPr>
                                  <m:t>⊆</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𝑻</m:t>
                                    </m:r>
                                  </m:e>
                                </m:d>
                                <m:r>
                                  <a:rPr lang="en-US" altLang="zh-CN" sz="1400" b="1" i="1" smtClean="0">
                                    <a:solidFill>
                                      <a:schemeClr val="accent2">
                                        <a:lumMod val="50000"/>
                                      </a:schemeClr>
                                    </a:solidFill>
                                    <a:latin typeface="Cambria Math" panose="02040503050406030204" pitchFamily="18" charset="0"/>
                                  </a:rPr>
                                  <m:t>∩</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𝑺</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𝑻</m:t>
                                    </m:r>
                                  </m:e>
                                </m:d>
                              </m:oMath>
                            </m:oMathPara>
                          </a14:m>
                          <a:endParaRPr lang="zh-CN" altLang="en-US" sz="1400" b="1">
                            <a:solidFill>
                              <a:schemeClr val="accent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1400" b="1" i="1" kern="1200" smtClean="0">
                                    <a:solidFill>
                                      <a:schemeClr val="accent2">
                                        <a:lumMod val="50000"/>
                                      </a:schemeClr>
                                    </a:solidFill>
                                    <a:latin typeface="Cambria Math" panose="02040503050406030204" pitchFamily="18" charset="0"/>
                                    <a:ea typeface="+mn-ea"/>
                                    <a:cs typeface="+mn-cs"/>
                                  </a:rPr>
                                  <m:t>𝒓</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𝑺</m:t>
                                    </m:r>
                                  </m:e>
                                </m:d>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𝒓</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e>
                                </m:d>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𝒓</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𝑺</m:t>
                                    </m:r>
                                  </m:e>
                                </m:d>
                              </m:oMath>
                            </m:oMathPara>
                          </a14:m>
                          <a:endParaRPr lang="zh-CN" altLang="en-US" sz="1400" b="1" i="1" kern="1200">
                            <a:solidFill>
                              <a:schemeClr val="accent2">
                                <a:lumMod val="50000"/>
                              </a:schemeClr>
                            </a:solidFill>
                            <a:latin typeface="Cambria Math" panose="02040503050406030204" pitchFamily="18" charset="0"/>
                            <a:ea typeface="+mn-ea"/>
                            <a:cs typeface="+mn-cs"/>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kern="1200" smtClean="0">
                                    <a:solidFill>
                                      <a:schemeClr val="accent2">
                                        <a:lumMod val="50000"/>
                                      </a:schemeClr>
                                    </a:solidFill>
                                    <a:latin typeface="Cambria Math" panose="02040503050406030204" pitchFamily="18" charset="0"/>
                                    <a:ea typeface="+mn-ea"/>
                                    <a:cs typeface="+mn-cs"/>
                                  </a:rPr>
                                  <m:t>𝒔</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𝑺</m:t>
                                    </m:r>
                                  </m:e>
                                </m:d>
                                <m:r>
                                  <a:rPr lang="en-US" altLang="zh-CN" sz="1400" b="1" i="1" kern="1200" smtClean="0">
                                    <a:solidFill>
                                      <a:schemeClr val="accent2">
                                        <a:lumMod val="50000"/>
                                      </a:schemeClr>
                                    </a:solidFill>
                                    <a:latin typeface="Cambria Math" panose="02040503050406030204" pitchFamily="18" charset="0"/>
                                    <a:ea typeface="+mn-ea"/>
                                    <a:cs typeface="+mn-cs"/>
                                  </a:rPr>
                                  <m:t>⊆ </m:t>
                                </m:r>
                                <m:r>
                                  <a:rPr lang="en-US" altLang="zh-CN" sz="1400" b="1" i="1" kern="1200" smtClean="0">
                                    <a:solidFill>
                                      <a:schemeClr val="accent2">
                                        <a:lumMod val="50000"/>
                                      </a:schemeClr>
                                    </a:solidFill>
                                    <a:latin typeface="Cambria Math" panose="02040503050406030204" pitchFamily="18" charset="0"/>
                                    <a:ea typeface="+mn-ea"/>
                                    <a:cs typeface="+mn-cs"/>
                                  </a:rPr>
                                  <m:t>𝒔</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e>
                                </m:d>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𝒔</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𝑺</m:t>
                                    </m:r>
                                  </m:e>
                                </m:d>
                              </m:oMath>
                            </m:oMathPara>
                          </a14:m>
                          <a:endParaRPr lang="zh-CN" altLang="en-US" sz="1400" b="1">
                            <a:solidFill>
                              <a:schemeClr val="accent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1400" b="1" i="1" kern="1200" smtClean="0">
                                    <a:solidFill>
                                      <a:schemeClr val="accent2">
                                        <a:lumMod val="50000"/>
                                      </a:schemeClr>
                                    </a:solidFill>
                                    <a:latin typeface="Cambria Math" panose="02040503050406030204" pitchFamily="18" charset="0"/>
                                    <a:ea typeface="+mn-ea"/>
                                    <a:cs typeface="+mn-cs"/>
                                  </a:rPr>
                                  <m:t>𝒕</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𝑺</m:t>
                                    </m:r>
                                  </m:e>
                                </m:d>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𝒕</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e>
                                </m:d>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𝒕</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𝑺</m:t>
                                    </m:r>
                                  </m:e>
                                </m:d>
                              </m:oMath>
                            </m:oMathPara>
                          </a14:m>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𝑺</m:t>
                                        </m:r>
                                      </m:e>
                                    </m:d>
                                  </m:e>
                                  <m:sup>
                                    <m:r>
                                      <a:rPr lang="en-US" altLang="zh-CN" sz="1400" b="1" i="1" smtClean="0">
                                        <a:solidFill>
                                          <a:schemeClr val="accent2">
                                            <a:lumMod val="50000"/>
                                          </a:schemeClr>
                                        </a:solidFill>
                                        <a:latin typeface="Cambria Math" panose="02040503050406030204" pitchFamily="18" charset="0"/>
                                      </a:rPr>
                                      <m:t>𝒏</m:t>
                                    </m:r>
                                  </m:sup>
                                </m:sSup>
                                <m:r>
                                  <a:rPr lang="en-US" altLang="zh-CN" sz="1400" b="1" i="1" smtClean="0">
                                    <a:solidFill>
                                      <a:schemeClr val="accent2">
                                        <a:lumMod val="50000"/>
                                      </a:schemeClr>
                                    </a:solidFill>
                                    <a:latin typeface="Cambria Math" panose="02040503050406030204" pitchFamily="18" charset="0"/>
                                  </a:rPr>
                                  <m:t>⊆</m:t>
                                </m:r>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𝒏</m:t>
                                    </m:r>
                                  </m:sup>
                                </m:sSup>
                                <m:r>
                                  <a:rPr lang="en-US" altLang="zh-CN" sz="1400" b="1" i="1" smtClean="0">
                                    <a:solidFill>
                                      <a:schemeClr val="accent2">
                                        <a:lumMod val="50000"/>
                                      </a:schemeClr>
                                    </a:solidFill>
                                    <a:latin typeface="Cambria Math" panose="02040503050406030204" pitchFamily="18" charset="0"/>
                                  </a:rPr>
                                  <m:t>∩</m:t>
                                </m:r>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𝑺</m:t>
                                    </m:r>
                                  </m:e>
                                  <m:sup>
                                    <m:r>
                                      <a:rPr lang="en-US" altLang="zh-CN" sz="1400" b="1" i="1" smtClean="0">
                                        <a:solidFill>
                                          <a:schemeClr val="accent2">
                                            <a:lumMod val="50000"/>
                                          </a:schemeClr>
                                        </a:solidFill>
                                        <a:latin typeface="Cambria Math" panose="02040503050406030204" pitchFamily="18" charset="0"/>
                                      </a:rPr>
                                      <m:t>𝒏</m:t>
                                    </m:r>
                                  </m:sup>
                                </m:sSup>
                              </m:oMath>
                            </m:oMathPara>
                          </a14:m>
                          <a:endParaRPr lang="zh-CN" altLang="en-US" sz="1400" b="1">
                            <a:solidFill>
                              <a:schemeClr val="accent2">
                                <a:lumMod val="50000"/>
                              </a:schemeClr>
                            </a:solidFill>
                          </a:endParaRPr>
                        </a:p>
                      </a:txBody>
                      <a:tcPr/>
                    </a:tc>
                  </a:tr>
                  <a:tr h="370840">
                    <a:tc>
                      <a:txBody>
                        <a:bodyPr/>
                        <a:lstStyle/>
                        <a:p>
                          <a:pPr algn="ctr"/>
                          <a:r>
                            <a:rPr lang="zh-CN" altLang="en-US" b="1">
                              <a:solidFill>
                                <a:schemeClr val="accent2">
                                  <a:lumMod val="50000"/>
                                </a:schemeClr>
                              </a:solidFill>
                            </a:rPr>
                            <a:t>关系逆</a:t>
                          </a:r>
                          <a:endParaRPr lang="zh-CN" altLang="en-US"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e>
                                    </m:d>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𝑹</m:t>
                                </m:r>
                              </m:oMath>
                            </m:oMathPara>
                          </a14:m>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𝑺</m:t>
                                        </m:r>
                                      </m:e>
                                    </m:d>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r>
                                  <a:rPr lang="en-US" altLang="zh-CN" sz="1400" b="1" i="1" smtClean="0">
                                    <a:solidFill>
                                      <a:schemeClr val="accent2">
                                        <a:lumMod val="50000"/>
                                      </a:schemeClr>
                                    </a:solidFill>
                                    <a:latin typeface="Cambria Math" panose="02040503050406030204" pitchFamily="18" charset="0"/>
                                  </a:rPr>
                                  <m:t>= </m:t>
                                </m:r>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𝑺</m:t>
                                    </m:r>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r>
                                  <a:rPr lang="en-US" altLang="zh-CN" sz="1400" b="1" i="1" smtClean="0">
                                    <a:solidFill>
                                      <a:schemeClr val="accent2">
                                        <a:lumMod val="50000"/>
                                      </a:schemeClr>
                                    </a:solidFill>
                                    <a:latin typeface="Cambria Math" panose="02040503050406030204" pitchFamily="18" charset="0"/>
                                  </a:rPr>
                                  <m:t>∘</m:t>
                                </m:r>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oMath>
                            </m:oMathPara>
                          </a14:m>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chemeClr val="accent2">
                                        <a:lumMod val="50000"/>
                                      </a:schemeClr>
                                    </a:solidFill>
                                    <a:latin typeface="Cambria Math" panose="02040503050406030204" pitchFamily="18" charset="0"/>
                                  </a:rPr>
                                  <m:t>𝒓</m:t>
                                </m:r>
                                <m:d>
                                  <m:dPr>
                                    <m:ctrlPr>
                                      <a:rPr lang="en-US" altLang="zh-CN" sz="1400" b="1" i="1" smtClean="0">
                                        <a:solidFill>
                                          <a:schemeClr val="accent2">
                                            <a:lumMod val="50000"/>
                                          </a:schemeClr>
                                        </a:solidFill>
                                        <a:latin typeface="Cambria Math" panose="02040503050406030204" pitchFamily="18" charset="0"/>
                                      </a:rPr>
                                    </m:ctrlPr>
                                  </m:dPr>
                                  <m:e>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e>
                                </m:d>
                                <m:r>
                                  <a:rPr lang="en-US" altLang="zh-CN" sz="1400" b="1" i="1" smtClean="0">
                                    <a:solidFill>
                                      <a:schemeClr val="accent2">
                                        <a:lumMod val="50000"/>
                                      </a:schemeClr>
                                    </a:solidFill>
                                    <a:latin typeface="Cambria Math" panose="02040503050406030204" pitchFamily="18" charset="0"/>
                                  </a:rPr>
                                  <m:t>= </m:t>
                                </m:r>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𝒓</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e>
                                    </m:d>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oMath>
                            </m:oMathPara>
                          </a14:m>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chemeClr val="accent2">
                                        <a:lumMod val="50000"/>
                                      </a:schemeClr>
                                    </a:solidFill>
                                    <a:latin typeface="Cambria Math" panose="02040503050406030204" pitchFamily="18" charset="0"/>
                                  </a:rPr>
                                  <m:t>𝒔</m:t>
                                </m:r>
                                <m:d>
                                  <m:dPr>
                                    <m:ctrlPr>
                                      <a:rPr lang="en-US" altLang="zh-CN" sz="1400" b="1" i="1" smtClean="0">
                                        <a:solidFill>
                                          <a:schemeClr val="accent2">
                                            <a:lumMod val="50000"/>
                                          </a:schemeClr>
                                        </a:solidFill>
                                        <a:latin typeface="Cambria Math" panose="02040503050406030204" pitchFamily="18" charset="0"/>
                                      </a:rPr>
                                    </m:ctrlPr>
                                  </m:dPr>
                                  <m:e>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e>
                                </m:d>
                                <m:r>
                                  <a:rPr lang="en-US" altLang="zh-CN" sz="1400" b="1" i="1" smtClean="0">
                                    <a:solidFill>
                                      <a:schemeClr val="accent2">
                                        <a:lumMod val="50000"/>
                                      </a:schemeClr>
                                    </a:solidFill>
                                    <a:latin typeface="Cambria Math" panose="02040503050406030204" pitchFamily="18" charset="0"/>
                                  </a:rPr>
                                  <m:t>= </m:t>
                                </m:r>
                                <m:r>
                                  <a:rPr lang="en-US" altLang="zh-CN" sz="1400" b="1" i="1" smtClean="0">
                                    <a:solidFill>
                                      <a:schemeClr val="accent2">
                                        <a:lumMod val="50000"/>
                                      </a:schemeClr>
                                    </a:solidFill>
                                    <a:latin typeface="Cambria Math" panose="02040503050406030204" pitchFamily="18" charset="0"/>
                                  </a:rPr>
                                  <m:t>𝒔</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r>
                                  <a:rPr lang="en-US" altLang="zh-CN" sz="1400" b="1" i="1" smtClean="0">
                                    <a:solidFill>
                                      <a:schemeClr val="accent2">
                                        <a:lumMod val="50000"/>
                                      </a:schemeClr>
                                    </a:solidFill>
                                    <a:latin typeface="Cambria Math" panose="02040503050406030204" pitchFamily="18" charset="0"/>
                                  </a:rPr>
                                  <m:t>= </m:t>
                                </m:r>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𝒔</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e>
                                    </m:d>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oMath>
                            </m:oMathPara>
                          </a14:m>
                          <a:endParaRPr lang="zh-CN" altLang="en-US" sz="1400" b="1">
                            <a:solidFill>
                              <a:schemeClr val="accent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1400" b="1" i="1" smtClean="0">
                                    <a:solidFill>
                                      <a:schemeClr val="accent2">
                                        <a:lumMod val="50000"/>
                                      </a:schemeClr>
                                    </a:solidFill>
                                    <a:latin typeface="Cambria Math" panose="02040503050406030204" pitchFamily="18" charset="0"/>
                                  </a:rPr>
                                  <m:t>𝒕</m:t>
                                </m:r>
                                <m:d>
                                  <m:dPr>
                                    <m:ctrlPr>
                                      <a:rPr lang="en-US" altLang="zh-CN" sz="1400" b="1" i="1" smtClean="0">
                                        <a:solidFill>
                                          <a:schemeClr val="accent2">
                                            <a:lumMod val="50000"/>
                                          </a:schemeClr>
                                        </a:solidFill>
                                        <a:latin typeface="Cambria Math" panose="02040503050406030204" pitchFamily="18" charset="0"/>
                                      </a:rPr>
                                    </m:ctrlPr>
                                  </m:dPr>
                                  <m:e>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e>
                                </m:d>
                                <m:r>
                                  <a:rPr lang="en-US" altLang="zh-CN" sz="1400" b="1" i="1" smtClean="0">
                                    <a:solidFill>
                                      <a:schemeClr val="accent2">
                                        <a:lumMod val="50000"/>
                                      </a:schemeClr>
                                    </a:solidFill>
                                    <a:latin typeface="Cambria Math" panose="02040503050406030204" pitchFamily="18" charset="0"/>
                                  </a:rPr>
                                  <m:t>=</m:t>
                                </m:r>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𝒕</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e>
                                    </m:d>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oMath>
                            </m:oMathPara>
                          </a14:m>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e>
                                    </m:d>
                                  </m:e>
                                  <m:sup>
                                    <m:r>
                                      <a:rPr lang="en-US" altLang="zh-CN" sz="1400" b="1" i="1" smtClean="0">
                                        <a:solidFill>
                                          <a:schemeClr val="accent2">
                                            <a:lumMod val="50000"/>
                                          </a:schemeClr>
                                        </a:solidFill>
                                        <a:latin typeface="Cambria Math" panose="02040503050406030204" pitchFamily="18" charset="0"/>
                                      </a:rPr>
                                      <m:t>𝒏</m:t>
                                    </m:r>
                                  </m:sup>
                                </m:sSup>
                                <m:r>
                                  <a:rPr lang="en-US" altLang="zh-CN" sz="1400" b="1" i="1" smtClean="0">
                                    <a:solidFill>
                                      <a:schemeClr val="accent2">
                                        <a:lumMod val="50000"/>
                                      </a:schemeClr>
                                    </a:solidFill>
                                    <a:latin typeface="Cambria Math" panose="02040503050406030204" pitchFamily="18" charset="0"/>
                                  </a:rPr>
                                  <m:t>= </m:t>
                                </m:r>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𝒏</m:t>
                                            </m:r>
                                          </m:sup>
                                        </m:sSup>
                                      </m:e>
                                    </m:d>
                                  </m:e>
                                  <m: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𝟏</m:t>
                                    </m:r>
                                  </m:sup>
                                </m:sSup>
                              </m:oMath>
                            </m:oMathPara>
                          </a14:m>
                          <a:endParaRPr lang="zh-CN" altLang="en-US" sz="1400" b="1">
                            <a:solidFill>
                              <a:schemeClr val="accent2">
                                <a:lumMod val="50000"/>
                              </a:schemeClr>
                            </a:solidFill>
                          </a:endParaRPr>
                        </a:p>
                      </a:txBody>
                      <a:tcPr/>
                    </a:tc>
                  </a:tr>
                  <a:tr h="370840">
                    <a:tc>
                      <a:txBody>
                        <a:bodyPr/>
                        <a:lstStyle/>
                        <a:p>
                          <a:pPr algn="ctr"/>
                          <a:r>
                            <a:rPr lang="zh-CN" altLang="en-US" b="1">
                              <a:solidFill>
                                <a:schemeClr val="accent2">
                                  <a:lumMod val="50000"/>
                                </a:schemeClr>
                              </a:solidFill>
                            </a:rPr>
                            <a:t>关系复合</a:t>
                          </a:r>
                          <a:endParaRPr lang="zh-CN" altLang="en-US" b="1">
                            <a:solidFill>
                              <a:schemeClr val="accent2">
                                <a:lumMod val="50000"/>
                              </a:schemeClr>
                            </a:solidFill>
                          </a:endParaRPr>
                        </a:p>
                      </a:txBody>
                      <a:tcPr/>
                    </a:tc>
                    <a:tc>
                      <a:txBody>
                        <a:bodyPr/>
                        <a:lstStyle/>
                        <a:p>
                          <a:pPr marL="0" algn="ctr" defTabSz="914400" rtl="0" eaLnBrk="1" latinLnBrk="0" hangingPunct="1"/>
                          <a:endParaRPr lang="zh-CN" altLang="en-US" sz="1400" b="1" kern="1200">
                            <a:solidFill>
                              <a:srgbClr val="FF0000"/>
                            </a:solidFill>
                            <a:latin typeface="+mn-lt"/>
                            <a:ea typeface="+mn-ea"/>
                            <a:cs typeface="+mn-cs"/>
                          </a:endParaRPr>
                        </a:p>
                      </a:txBody>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𝑹</m:t>
                                    </m:r>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𝑺</m:t>
                                    </m:r>
                                  </m:e>
                                </m:d>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𝑻</m:t>
                                </m:r>
                                <m:r>
                                  <a:rPr lang="en-US" altLang="zh-CN" sz="1400" b="1" i="1" kern="1200" smtClean="0">
                                    <a:solidFill>
                                      <a:schemeClr val="accent2">
                                        <a:lumMod val="50000"/>
                                      </a:schemeClr>
                                    </a:solidFill>
                                    <a:latin typeface="Cambria Math" panose="02040503050406030204" pitchFamily="18" charset="0"/>
                                    <a:ea typeface="+mn-ea"/>
                                    <a:cs typeface="+mn-cs"/>
                                  </a:rPr>
                                  <m:t> = </m:t>
                                </m:r>
                                <m:r>
                                  <a:rPr lang="en-US" altLang="zh-CN" sz="1400" b="1" i="1" kern="1200" smtClean="0">
                                    <a:solidFill>
                                      <a:schemeClr val="accent2">
                                        <a:lumMod val="50000"/>
                                      </a:schemeClr>
                                    </a:solidFill>
                                    <a:latin typeface="Cambria Math" panose="02040503050406030204" pitchFamily="18" charset="0"/>
                                    <a:ea typeface="+mn-ea"/>
                                    <a:cs typeface="+mn-cs"/>
                                  </a:rPr>
                                  <m:t>𝑹</m:t>
                                </m:r>
                                <m:r>
                                  <a:rPr lang="en-US" altLang="zh-CN" sz="1400" b="1" i="1" kern="1200" smtClean="0">
                                    <a:solidFill>
                                      <a:schemeClr val="accent2">
                                        <a:lumMod val="50000"/>
                                      </a:schemeClr>
                                    </a:solidFill>
                                    <a:latin typeface="Cambria Math" panose="02040503050406030204" pitchFamily="18" charset="0"/>
                                    <a:ea typeface="+mn-ea"/>
                                    <a:cs typeface="+mn-cs"/>
                                  </a:rPr>
                                  <m:t>∘</m:t>
                                </m:r>
                                <m:d>
                                  <m:dPr>
                                    <m:ctrlPr>
                                      <a:rPr lang="en-US" altLang="zh-CN" sz="1400" b="1" i="1" kern="1200" smtClean="0">
                                        <a:solidFill>
                                          <a:schemeClr val="accent2">
                                            <a:lumMod val="50000"/>
                                          </a:schemeClr>
                                        </a:solidFill>
                                        <a:latin typeface="Cambria Math" panose="02040503050406030204" pitchFamily="18" charset="0"/>
                                        <a:ea typeface="+mn-ea"/>
                                        <a:cs typeface="+mn-cs"/>
                                      </a:rPr>
                                    </m:ctrlPr>
                                  </m:dPr>
                                  <m:e>
                                    <m:r>
                                      <a:rPr lang="en-US" altLang="zh-CN" sz="1400" b="1" i="1" kern="1200" smtClean="0">
                                        <a:solidFill>
                                          <a:schemeClr val="accent2">
                                            <a:lumMod val="50000"/>
                                          </a:schemeClr>
                                        </a:solidFill>
                                        <a:latin typeface="Cambria Math" panose="02040503050406030204" pitchFamily="18" charset="0"/>
                                        <a:ea typeface="+mn-ea"/>
                                        <a:cs typeface="+mn-cs"/>
                                      </a:rPr>
                                      <m:t>𝑺</m:t>
                                    </m:r>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𝑻</m:t>
                                    </m:r>
                                  </m:e>
                                </m:d>
                              </m:oMath>
                            </m:oMathPara>
                          </a14:m>
                          <a:endParaRPr lang="zh-CN" altLang="en-US" sz="1400" b="1" kern="1200">
                            <a:solidFill>
                              <a:srgbClr val="FF0000"/>
                            </a:solidFill>
                            <a:latin typeface="+mn-lt"/>
                            <a:ea typeface="+mn-ea"/>
                            <a:cs typeface="+mn-cs"/>
                          </a:endParaRPr>
                        </a:p>
                      </a:txBody>
                      <a:tcPr/>
                    </a:tc>
                    <a:tc>
                      <a:txBody>
                        <a:bodyPr/>
                        <a:lstStyle/>
                        <a:p>
                          <a:pPr marL="0" algn="ctr" defTabSz="914400" rtl="0" eaLnBrk="1" latinLnBrk="0" hangingPunct="1"/>
                          <a:endParaRPr lang="zh-CN" altLang="en-US" sz="1400" b="1" kern="1200">
                            <a:solidFill>
                              <a:srgbClr val="FF0000"/>
                            </a:solidFill>
                            <a:latin typeface="+mn-lt"/>
                            <a:ea typeface="+mn-ea"/>
                            <a:cs typeface="+mn-cs"/>
                          </a:endParaRPr>
                        </a:p>
                      </a:txBody>
                      <a:tcPr/>
                    </a:tc>
                    <a:tc>
                      <a:txBody>
                        <a:bodyPr/>
                        <a:lstStyle/>
                        <a:p>
                          <a:pPr marL="0" algn="ctr" defTabSz="914400" rtl="0" eaLnBrk="1" latinLnBrk="0" hangingPunct="1"/>
                          <a:endParaRPr lang="zh-CN" altLang="en-US" sz="1400" b="1" kern="1200">
                            <a:solidFill>
                              <a:srgbClr val="FF0000"/>
                            </a:solidFill>
                            <a:latin typeface="+mn-lt"/>
                            <a:ea typeface="+mn-ea"/>
                            <a:cs typeface="+mn-cs"/>
                          </a:endParaRPr>
                        </a:p>
                      </a:txBody>
                      <a:tcPr/>
                    </a:tc>
                    <a:tc>
                      <a:txBody>
                        <a:bodyPr/>
                        <a:lstStyle/>
                        <a:p>
                          <a:pPr marL="0" algn="ctr" defTabSz="914400" rtl="0" eaLnBrk="1" latinLnBrk="0" hangingPunct="1"/>
                          <a:endParaRPr lang="zh-CN" altLang="en-US" sz="1400" b="1" kern="1200">
                            <a:solidFill>
                              <a:srgbClr val="FF0000"/>
                            </a:solidFill>
                            <a:latin typeface="+mn-lt"/>
                            <a:ea typeface="+mn-ea"/>
                            <a:cs typeface="+mn-cs"/>
                          </a:endParaRPr>
                        </a:p>
                      </a:txBody>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altLang="zh-CN" sz="1400" b="1" i="1" kern="1200" smtClean="0">
                                        <a:solidFill>
                                          <a:schemeClr val="accent2">
                                            <a:lumMod val="50000"/>
                                          </a:schemeClr>
                                        </a:solidFill>
                                        <a:latin typeface="Cambria Math" panose="02040503050406030204" pitchFamily="18" charset="0"/>
                                        <a:ea typeface="+mn-ea"/>
                                        <a:cs typeface="+mn-cs"/>
                                      </a:rPr>
                                    </m:ctrlPr>
                                  </m:sSupPr>
                                  <m:e>
                                    <m:r>
                                      <a:rPr lang="en-US" altLang="zh-CN" sz="1400" b="1" i="1" kern="1200" smtClean="0">
                                        <a:solidFill>
                                          <a:schemeClr val="accent2">
                                            <a:lumMod val="50000"/>
                                          </a:schemeClr>
                                        </a:solidFill>
                                        <a:latin typeface="Cambria Math" panose="02040503050406030204" pitchFamily="18" charset="0"/>
                                        <a:ea typeface="+mn-ea"/>
                                        <a:cs typeface="+mn-cs"/>
                                      </a:rPr>
                                      <m:t>𝑹</m:t>
                                    </m:r>
                                  </m:e>
                                  <m:sup>
                                    <m:r>
                                      <a:rPr lang="en-US" altLang="zh-CN" sz="1400" b="1" i="1" kern="1200" smtClean="0">
                                        <a:solidFill>
                                          <a:schemeClr val="accent2">
                                            <a:lumMod val="50000"/>
                                          </a:schemeClr>
                                        </a:solidFill>
                                        <a:latin typeface="Cambria Math" panose="02040503050406030204" pitchFamily="18" charset="0"/>
                                        <a:ea typeface="+mn-ea"/>
                                        <a:cs typeface="+mn-cs"/>
                                      </a:rPr>
                                      <m:t>𝒏</m:t>
                                    </m:r>
                                  </m:sup>
                                </m:sSup>
                                <m:r>
                                  <a:rPr lang="en-US" altLang="zh-CN" sz="1400" b="1" i="1" kern="1200" smtClean="0">
                                    <a:solidFill>
                                      <a:schemeClr val="accent2">
                                        <a:lumMod val="50000"/>
                                      </a:schemeClr>
                                    </a:solidFill>
                                    <a:latin typeface="Cambria Math" panose="02040503050406030204" pitchFamily="18" charset="0"/>
                                    <a:ea typeface="+mn-ea"/>
                                    <a:cs typeface="+mn-cs"/>
                                  </a:rPr>
                                  <m:t>∘</m:t>
                                </m:r>
                                <m:sSup>
                                  <m:sSupPr>
                                    <m:ctrlPr>
                                      <a:rPr lang="en-US" altLang="zh-CN" sz="1400" b="1" i="1" kern="1200" smtClean="0">
                                        <a:solidFill>
                                          <a:schemeClr val="accent2">
                                            <a:lumMod val="50000"/>
                                          </a:schemeClr>
                                        </a:solidFill>
                                        <a:latin typeface="Cambria Math" panose="02040503050406030204" pitchFamily="18" charset="0"/>
                                        <a:ea typeface="+mn-ea"/>
                                        <a:cs typeface="+mn-cs"/>
                                      </a:rPr>
                                    </m:ctrlPr>
                                  </m:sSupPr>
                                  <m:e>
                                    <m:r>
                                      <a:rPr lang="en-US" altLang="zh-CN" sz="1400" b="1" i="1" kern="1200" smtClean="0">
                                        <a:solidFill>
                                          <a:schemeClr val="accent2">
                                            <a:lumMod val="50000"/>
                                          </a:schemeClr>
                                        </a:solidFill>
                                        <a:latin typeface="Cambria Math" panose="02040503050406030204" pitchFamily="18" charset="0"/>
                                        <a:ea typeface="+mn-ea"/>
                                        <a:cs typeface="+mn-cs"/>
                                      </a:rPr>
                                      <m:t>𝑹</m:t>
                                    </m:r>
                                  </m:e>
                                  <m:sup>
                                    <m:r>
                                      <a:rPr lang="en-US" altLang="zh-CN" sz="1400" b="1" i="1" kern="1200" smtClean="0">
                                        <a:solidFill>
                                          <a:schemeClr val="accent2">
                                            <a:lumMod val="50000"/>
                                          </a:schemeClr>
                                        </a:solidFill>
                                        <a:latin typeface="Cambria Math" panose="02040503050406030204" pitchFamily="18" charset="0"/>
                                        <a:ea typeface="+mn-ea"/>
                                        <a:cs typeface="+mn-cs"/>
                                      </a:rPr>
                                      <m:t>𝒎</m:t>
                                    </m:r>
                                  </m:sup>
                                </m:sSup>
                                <m:r>
                                  <a:rPr lang="en-US" altLang="zh-CN" sz="1400" b="1" i="1" kern="1200" smtClean="0">
                                    <a:solidFill>
                                      <a:schemeClr val="accent2">
                                        <a:lumMod val="50000"/>
                                      </a:schemeClr>
                                    </a:solidFill>
                                    <a:latin typeface="Cambria Math" panose="02040503050406030204" pitchFamily="18" charset="0"/>
                                    <a:ea typeface="+mn-ea"/>
                                    <a:cs typeface="+mn-cs"/>
                                  </a:rPr>
                                  <m:t>= </m:t>
                                </m:r>
                                <m:sSup>
                                  <m:sSupPr>
                                    <m:ctrlPr>
                                      <a:rPr lang="en-US" altLang="zh-CN" sz="1400" b="1" i="1" kern="1200" smtClean="0">
                                        <a:solidFill>
                                          <a:schemeClr val="accent2">
                                            <a:lumMod val="50000"/>
                                          </a:schemeClr>
                                        </a:solidFill>
                                        <a:latin typeface="Cambria Math" panose="02040503050406030204" pitchFamily="18" charset="0"/>
                                        <a:ea typeface="+mn-ea"/>
                                        <a:cs typeface="+mn-cs"/>
                                      </a:rPr>
                                    </m:ctrlPr>
                                  </m:sSupPr>
                                  <m:e>
                                    <m:r>
                                      <a:rPr lang="en-US" altLang="zh-CN" sz="1400" b="1" i="1" kern="1200" smtClean="0">
                                        <a:solidFill>
                                          <a:schemeClr val="accent2">
                                            <a:lumMod val="50000"/>
                                          </a:schemeClr>
                                        </a:solidFill>
                                        <a:latin typeface="Cambria Math" panose="02040503050406030204" pitchFamily="18" charset="0"/>
                                        <a:ea typeface="+mn-ea"/>
                                        <a:cs typeface="+mn-cs"/>
                                      </a:rPr>
                                      <m:t>𝑹</m:t>
                                    </m:r>
                                  </m:e>
                                  <m:sup>
                                    <m:r>
                                      <a:rPr lang="en-US" altLang="zh-CN" sz="1400" b="1" i="1" kern="1200" smtClean="0">
                                        <a:solidFill>
                                          <a:schemeClr val="accent2">
                                            <a:lumMod val="50000"/>
                                          </a:schemeClr>
                                        </a:solidFill>
                                        <a:latin typeface="Cambria Math" panose="02040503050406030204" pitchFamily="18" charset="0"/>
                                        <a:ea typeface="+mn-ea"/>
                                        <a:cs typeface="+mn-cs"/>
                                      </a:rPr>
                                      <m:t>𝒏</m:t>
                                    </m:r>
                                    <m:r>
                                      <a:rPr lang="en-US" altLang="zh-CN" sz="1400" b="1" i="1" kern="1200" smtClean="0">
                                        <a:solidFill>
                                          <a:schemeClr val="accent2">
                                            <a:lumMod val="50000"/>
                                          </a:schemeClr>
                                        </a:solidFill>
                                        <a:latin typeface="Cambria Math" panose="02040503050406030204" pitchFamily="18" charset="0"/>
                                        <a:ea typeface="+mn-ea"/>
                                        <a:cs typeface="+mn-cs"/>
                                      </a:rPr>
                                      <m:t>+</m:t>
                                    </m:r>
                                    <m:r>
                                      <a:rPr lang="en-US" altLang="zh-CN" sz="1400" b="1" i="1" kern="1200" smtClean="0">
                                        <a:solidFill>
                                          <a:schemeClr val="accent2">
                                            <a:lumMod val="50000"/>
                                          </a:schemeClr>
                                        </a:solidFill>
                                        <a:latin typeface="Cambria Math" panose="02040503050406030204" pitchFamily="18" charset="0"/>
                                        <a:ea typeface="+mn-ea"/>
                                        <a:cs typeface="+mn-cs"/>
                                      </a:rPr>
                                      <m:t>𝒎</m:t>
                                    </m:r>
                                  </m:sup>
                                </m:sSup>
                              </m:oMath>
                            </m:oMathPara>
                          </a14:m>
                          <a:endParaRPr lang="zh-CN" altLang="en-US" sz="1400" b="1" kern="1200">
                            <a:solidFill>
                              <a:srgbClr val="FF0000"/>
                            </a:solidFill>
                            <a:latin typeface="+mn-lt"/>
                            <a:ea typeface="+mn-ea"/>
                            <a:cs typeface="+mn-cs"/>
                          </a:endParaRPr>
                        </a:p>
                      </a:txBody>
                      <a:tcPr/>
                    </a:tc>
                  </a:tr>
                  <a:tr h="370840">
                    <a:tc>
                      <a:txBody>
                        <a:bodyPr/>
                        <a:lstStyle/>
                        <a:p>
                          <a:pPr algn="ctr"/>
                          <a:r>
                            <a:rPr lang="zh-CN" altLang="en-US" b="1">
                              <a:solidFill>
                                <a:schemeClr val="accent2">
                                  <a:lumMod val="50000"/>
                                </a:schemeClr>
                              </a:solidFill>
                            </a:rPr>
                            <a:t>自反闭包</a:t>
                          </a:r>
                          <a:endParaRPr lang="zh-CN" altLang="en-US"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chemeClr val="accent2">
                                        <a:lumMod val="50000"/>
                                      </a:schemeClr>
                                    </a:solidFill>
                                    <a:latin typeface="Cambria Math" panose="02040503050406030204" pitchFamily="18" charset="0"/>
                                  </a:rPr>
                                  <m:t>𝒓𝒔</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r>
                                  <a:rPr lang="en-US" altLang="zh-CN" sz="1400" b="1" i="1" smtClean="0">
                                    <a:solidFill>
                                      <a:schemeClr val="accent2">
                                        <a:lumMod val="50000"/>
                                      </a:schemeClr>
                                    </a:solidFill>
                                    <a:latin typeface="Cambria Math" panose="02040503050406030204" pitchFamily="18" charset="0"/>
                                  </a:rPr>
                                  <m:t>= </m:t>
                                </m:r>
                                <m:r>
                                  <a:rPr lang="en-US" altLang="zh-CN" sz="1400" b="1" i="1" smtClean="0">
                                    <a:solidFill>
                                      <a:schemeClr val="accent2">
                                        <a:lumMod val="50000"/>
                                      </a:schemeClr>
                                    </a:solidFill>
                                    <a:latin typeface="Cambria Math" panose="02040503050406030204" pitchFamily="18" charset="0"/>
                                  </a:rPr>
                                  <m:t>𝒔𝒓</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oMath>
                            </m:oMathPara>
                          </a14:m>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chemeClr val="accent2">
                                        <a:lumMod val="50000"/>
                                      </a:schemeClr>
                                    </a:solidFill>
                                    <a:latin typeface="Cambria Math" panose="02040503050406030204" pitchFamily="18" charset="0"/>
                                  </a:rPr>
                                  <m:t>𝒓𝒕</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r>
                                  <a:rPr lang="en-US" altLang="zh-CN" sz="1400" b="1" i="1" smtClean="0">
                                    <a:solidFill>
                                      <a:schemeClr val="accent2">
                                        <a:lumMod val="50000"/>
                                      </a:schemeClr>
                                    </a:solidFill>
                                    <a:latin typeface="Cambria Math" panose="02040503050406030204" pitchFamily="18" charset="0"/>
                                  </a:rPr>
                                  <m:t>= </m:t>
                                </m:r>
                                <m:r>
                                  <a:rPr lang="en-US" altLang="zh-CN" sz="1400" b="1" i="1" smtClean="0">
                                    <a:solidFill>
                                      <a:schemeClr val="accent2">
                                        <a:lumMod val="50000"/>
                                      </a:schemeClr>
                                    </a:solidFill>
                                    <a:latin typeface="Cambria Math" panose="02040503050406030204" pitchFamily="18" charset="0"/>
                                  </a:rPr>
                                  <m:t>𝒕𝒓</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oMath>
                            </m:oMathPara>
                          </a14:m>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chemeClr val="accent2">
                                        <a:lumMod val="50000"/>
                                      </a:schemeClr>
                                    </a:solidFill>
                                    <a:latin typeface="Cambria Math" panose="02040503050406030204" pitchFamily="18" charset="0"/>
                                  </a:rPr>
                                  <m:t>𝒓</m:t>
                                </m:r>
                                <m:d>
                                  <m:dPr>
                                    <m:ctrlPr>
                                      <a:rPr lang="en-US" altLang="zh-CN" sz="1400" b="1" i="1" smtClean="0">
                                        <a:solidFill>
                                          <a:schemeClr val="accent2">
                                            <a:lumMod val="50000"/>
                                          </a:schemeClr>
                                        </a:solidFill>
                                        <a:latin typeface="Cambria Math" panose="02040503050406030204" pitchFamily="18" charset="0"/>
                                      </a:rPr>
                                    </m:ctrlPr>
                                  </m:dPr>
                                  <m:e>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𝒏</m:t>
                                        </m:r>
                                      </m:sup>
                                    </m:sSup>
                                  </m:e>
                                </m:d>
                                <m:r>
                                  <a:rPr lang="en-US" altLang="zh-CN" sz="1400" b="1" i="1" smtClean="0">
                                    <a:solidFill>
                                      <a:schemeClr val="accent2">
                                        <a:lumMod val="50000"/>
                                      </a:schemeClr>
                                    </a:solidFill>
                                    <a:latin typeface="Cambria Math" panose="02040503050406030204" pitchFamily="18" charset="0"/>
                                  </a:rPr>
                                  <m:t>⊆</m:t>
                                </m:r>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𝒓</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e>
                                    </m:d>
                                  </m:e>
                                  <m:sup>
                                    <m:r>
                                      <a:rPr lang="en-US" altLang="zh-CN" sz="1400" b="1" i="1" smtClean="0">
                                        <a:solidFill>
                                          <a:schemeClr val="accent2">
                                            <a:lumMod val="50000"/>
                                          </a:schemeClr>
                                        </a:solidFill>
                                        <a:latin typeface="Cambria Math" panose="02040503050406030204" pitchFamily="18" charset="0"/>
                                      </a:rPr>
                                      <m:t>𝒏</m:t>
                                    </m:r>
                                  </m:sup>
                                </m:sSup>
                              </m:oMath>
                            </m:oMathPara>
                          </a14:m>
                          <a:endParaRPr lang="zh-CN" altLang="en-US" sz="1400" b="1">
                            <a:solidFill>
                              <a:schemeClr val="accent2">
                                <a:lumMod val="50000"/>
                              </a:schemeClr>
                            </a:solidFill>
                          </a:endParaRPr>
                        </a:p>
                      </a:txBody>
                      <a:tcPr/>
                    </a:tc>
                  </a:tr>
                  <a:tr h="370840">
                    <a:tc>
                      <a:txBody>
                        <a:bodyPr/>
                        <a:lstStyle/>
                        <a:p>
                          <a:pPr algn="ctr"/>
                          <a:r>
                            <a:rPr lang="zh-CN" altLang="en-US" b="1">
                              <a:solidFill>
                                <a:schemeClr val="accent2">
                                  <a:lumMod val="50000"/>
                                </a:schemeClr>
                              </a:solidFill>
                            </a:rPr>
                            <a:t>对称闭包</a:t>
                          </a:r>
                          <a:endParaRPr lang="zh-CN" altLang="en-US"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chemeClr val="accent2">
                                        <a:lumMod val="50000"/>
                                      </a:schemeClr>
                                    </a:solidFill>
                                    <a:latin typeface="Cambria Math" panose="02040503050406030204" pitchFamily="18" charset="0"/>
                                  </a:rPr>
                                  <m:t>𝒔𝒕</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𝒕𝒔</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oMath>
                            </m:oMathPara>
                          </a14:m>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chemeClr val="accent2">
                                        <a:lumMod val="50000"/>
                                      </a:schemeClr>
                                    </a:solidFill>
                                    <a:latin typeface="Cambria Math" panose="02040503050406030204" pitchFamily="18" charset="0"/>
                                  </a:rPr>
                                  <m:t>𝒔</m:t>
                                </m:r>
                                <m:d>
                                  <m:dPr>
                                    <m:ctrlPr>
                                      <a:rPr lang="en-US" altLang="zh-CN" sz="1400" b="1" i="1" smtClean="0">
                                        <a:solidFill>
                                          <a:schemeClr val="accent2">
                                            <a:lumMod val="50000"/>
                                          </a:schemeClr>
                                        </a:solidFill>
                                        <a:latin typeface="Cambria Math" panose="02040503050406030204" pitchFamily="18" charset="0"/>
                                      </a:rPr>
                                    </m:ctrlPr>
                                  </m:dPr>
                                  <m:e>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𝒏</m:t>
                                        </m:r>
                                      </m:sup>
                                    </m:sSup>
                                  </m:e>
                                </m:d>
                                <m:r>
                                  <a:rPr lang="en-US" altLang="zh-CN" sz="1400" b="1" i="1" smtClean="0">
                                    <a:solidFill>
                                      <a:schemeClr val="accent2">
                                        <a:lumMod val="50000"/>
                                      </a:schemeClr>
                                    </a:solidFill>
                                    <a:latin typeface="Cambria Math" panose="02040503050406030204" pitchFamily="18" charset="0"/>
                                  </a:rPr>
                                  <m:t>⊆</m:t>
                                </m:r>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𝒔</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e>
                                    </m:d>
                                  </m:e>
                                  <m:sup>
                                    <m:r>
                                      <a:rPr lang="en-US" altLang="zh-CN" sz="1400" b="1" i="1" smtClean="0">
                                        <a:solidFill>
                                          <a:schemeClr val="accent2">
                                            <a:lumMod val="50000"/>
                                          </a:schemeClr>
                                        </a:solidFill>
                                        <a:latin typeface="Cambria Math" panose="02040503050406030204" pitchFamily="18" charset="0"/>
                                      </a:rPr>
                                      <m:t>𝒏</m:t>
                                    </m:r>
                                  </m:sup>
                                </m:sSup>
                              </m:oMath>
                            </m:oMathPara>
                          </a14:m>
                          <a:endParaRPr lang="zh-CN" altLang="en-US" sz="1400" b="1">
                            <a:solidFill>
                              <a:schemeClr val="accent2">
                                <a:lumMod val="50000"/>
                              </a:schemeClr>
                            </a:solidFill>
                          </a:endParaRPr>
                        </a:p>
                      </a:txBody>
                      <a:tcPr/>
                    </a:tc>
                  </a:tr>
                  <a:tr h="370840">
                    <a:tc>
                      <a:txBody>
                        <a:bodyPr/>
                        <a:lstStyle/>
                        <a:p>
                          <a:pPr algn="ctr"/>
                          <a:r>
                            <a:rPr lang="zh-CN" altLang="en-US" b="1">
                              <a:solidFill>
                                <a:schemeClr val="accent2">
                                  <a:lumMod val="50000"/>
                                </a:schemeClr>
                              </a:solidFill>
                            </a:rPr>
                            <a:t>传递闭包</a:t>
                          </a:r>
                          <a:endParaRPr lang="zh-CN" altLang="en-US"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oMath>
                          </a14:m>
                          <a:r>
                            <a:rPr lang="zh-CN" altLang="en-US" sz="1400" b="1">
                              <a:solidFill>
                                <a:schemeClr val="accent2">
                                  <a:lumMod val="50000"/>
                                </a:schemeClr>
                              </a:solidFill>
                            </a:rPr>
                            <a:t>和</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𝑺</m:t>
                              </m:r>
                            </m:oMath>
                          </a14:m>
                          <a:r>
                            <a:rPr lang="zh-CN" altLang="en-US" sz="1400" b="1">
                              <a:solidFill>
                                <a:schemeClr val="accent2">
                                  <a:lumMod val="50000"/>
                                </a:schemeClr>
                              </a:solidFill>
                            </a:rPr>
                            <a:t>都自反和传递且</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𝑺</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𝑺</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𝑹</m:t>
                              </m:r>
                            </m:oMath>
                          </a14:m>
                          <a:r>
                            <a:rPr lang="zh-CN" altLang="en-US" sz="1400" b="1">
                              <a:solidFill>
                                <a:schemeClr val="accent2">
                                  <a:lumMod val="50000"/>
                                </a:schemeClr>
                              </a:solidFill>
                            </a:rPr>
                            <a:t>，则</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𝒕</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𝑺</m:t>
                                  </m:r>
                                </m:e>
                              </m:d>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𝑺</m:t>
                              </m:r>
                            </m:oMath>
                          </a14:m>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chemeClr val="accent2">
                                        <a:lumMod val="50000"/>
                                      </a:schemeClr>
                                    </a:solidFill>
                                    <a:latin typeface="Cambria Math" panose="02040503050406030204" pitchFamily="18" charset="0"/>
                                  </a:rPr>
                                  <m:t>𝒕</m:t>
                                </m:r>
                                <m:d>
                                  <m:dPr>
                                    <m:ctrlPr>
                                      <a:rPr lang="en-US" altLang="zh-CN" sz="1400" b="1" i="1" smtClean="0">
                                        <a:solidFill>
                                          <a:schemeClr val="accent2">
                                            <a:lumMod val="50000"/>
                                          </a:schemeClr>
                                        </a:solidFill>
                                        <a:latin typeface="Cambria Math" panose="02040503050406030204" pitchFamily="18" charset="0"/>
                                      </a:rPr>
                                    </m:ctrlPr>
                                  </m:dPr>
                                  <m:e>
                                    <m:sSup>
                                      <m:sSupPr>
                                        <m:ctrlPr>
                                          <a:rPr lang="en-US" altLang="zh-CN" sz="1400" b="1" i="1" smtClean="0">
                                            <a:solidFill>
                                              <a:schemeClr val="accent2">
                                                <a:lumMod val="50000"/>
                                              </a:schemeClr>
                                            </a:solidFill>
                                            <a:latin typeface="Cambria Math" panose="02040503050406030204" pitchFamily="18" charset="0"/>
                                          </a:rPr>
                                        </m:ctrlPr>
                                      </m:sSupPr>
                                      <m:e>
                                        <m:r>
                                          <a:rPr lang="en-US" altLang="zh-CN" sz="1400" b="1" i="1" smtClean="0">
                                            <a:solidFill>
                                              <a:schemeClr val="accent2">
                                                <a:lumMod val="50000"/>
                                              </a:schemeClr>
                                            </a:solidFill>
                                            <a:latin typeface="Cambria Math" panose="02040503050406030204" pitchFamily="18" charset="0"/>
                                          </a:rPr>
                                          <m:t>𝑹</m:t>
                                        </m:r>
                                      </m:e>
                                      <m:sup>
                                        <m:r>
                                          <a:rPr lang="en-US" altLang="zh-CN" sz="1400" b="1" i="1" smtClean="0">
                                            <a:solidFill>
                                              <a:schemeClr val="accent2">
                                                <a:lumMod val="50000"/>
                                              </a:schemeClr>
                                            </a:solidFill>
                                            <a:latin typeface="Cambria Math" panose="02040503050406030204" pitchFamily="18" charset="0"/>
                                          </a:rPr>
                                          <m:t>𝒏</m:t>
                                        </m:r>
                                      </m:sup>
                                    </m:sSup>
                                  </m:e>
                                </m:d>
                                <m:r>
                                  <a:rPr lang="en-US" altLang="zh-CN" sz="1400" b="1" i="1" smtClean="0">
                                    <a:solidFill>
                                      <a:schemeClr val="accent2">
                                        <a:lumMod val="50000"/>
                                      </a:schemeClr>
                                    </a:solidFill>
                                    <a:latin typeface="Cambria Math" panose="02040503050406030204" pitchFamily="18" charset="0"/>
                                  </a:rPr>
                                  <m:t>⊆</m:t>
                                </m:r>
                                <m:sSup>
                                  <m:sSupPr>
                                    <m:ctrlPr>
                                      <a:rPr lang="en-US" altLang="zh-CN" sz="1400" b="1" i="1" smtClean="0">
                                        <a:solidFill>
                                          <a:schemeClr val="accent2">
                                            <a:lumMod val="50000"/>
                                          </a:schemeClr>
                                        </a:solidFill>
                                        <a:latin typeface="Cambria Math" panose="02040503050406030204" pitchFamily="18" charset="0"/>
                                      </a:rPr>
                                    </m:ctrlPr>
                                  </m:sSupPr>
                                  <m:e>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𝒕</m:t>
                                        </m:r>
                                        <m:d>
                                          <m:dPr>
                                            <m:ctrlPr>
                                              <a:rPr lang="en-US" altLang="zh-CN" sz="1400" b="1" i="1" smtClean="0">
                                                <a:solidFill>
                                                  <a:schemeClr val="accent2">
                                                    <a:lumMod val="50000"/>
                                                  </a:schemeClr>
                                                </a:solidFill>
                                                <a:latin typeface="Cambria Math" panose="02040503050406030204" pitchFamily="18" charset="0"/>
                                              </a:rPr>
                                            </m:ctrlPr>
                                          </m:dPr>
                                          <m:e>
                                            <m:r>
                                              <a:rPr lang="en-US" altLang="zh-CN" sz="1400" b="1" i="1" smtClean="0">
                                                <a:solidFill>
                                                  <a:schemeClr val="accent2">
                                                    <a:lumMod val="50000"/>
                                                  </a:schemeClr>
                                                </a:solidFill>
                                                <a:latin typeface="Cambria Math" panose="02040503050406030204" pitchFamily="18" charset="0"/>
                                              </a:rPr>
                                              <m:t>𝑹</m:t>
                                            </m:r>
                                          </m:e>
                                        </m:d>
                                      </m:e>
                                    </m:d>
                                  </m:e>
                                  <m:sup>
                                    <m:r>
                                      <a:rPr lang="en-US" altLang="zh-CN" sz="1400" b="1" i="1" smtClean="0">
                                        <a:solidFill>
                                          <a:schemeClr val="accent2">
                                            <a:lumMod val="50000"/>
                                          </a:schemeClr>
                                        </a:solidFill>
                                        <a:latin typeface="Cambria Math" panose="02040503050406030204" pitchFamily="18" charset="0"/>
                                      </a:rPr>
                                      <m:t>𝒏</m:t>
                                    </m:r>
                                  </m:sup>
                                </m:sSup>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𝒕</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oMath>
                            </m:oMathPara>
                          </a14:m>
                          <a:endParaRPr lang="zh-CN" altLang="en-US" sz="1400" b="1">
                            <a:solidFill>
                              <a:schemeClr val="accent2">
                                <a:lumMod val="50000"/>
                              </a:schemeClr>
                            </a:solidFill>
                          </a:endParaRPr>
                        </a:p>
                      </a:txBody>
                      <a:tcPr/>
                    </a:tc>
                  </a:tr>
                </a:tbl>
              </a:graphicData>
            </a:graphic>
          </p:graphicFrame>
        </mc:Choice>
        <mc:Fallback xmlns="">
          <p:graphicFrame>
            <p:nvGraphicFramePr>
              <p:cNvPr id="13" name="表格 12"/>
              <p:cNvGraphicFramePr>
                <a:graphicFrameLocks noGrp="1"/>
              </p:cNvGraphicFramePr>
              <p:nvPr/>
            </p:nvGraphicFramePr>
            <p:xfrm>
              <a:off x="960758" y="1929806"/>
              <a:ext cx="10245372" cy="4033267"/>
            </p:xfrm>
            <a:graphic>
              <a:graphicData uri="http://schemas.openxmlformats.org/drawingml/2006/table">
                <a:tbl>
                  <a:tblPr firstRow="1" bandRow="1">
                    <a:tableStyleId>{5C22544A-7EE6-4342-B048-85BDC9FD1C3A}</a:tableStyleId>
                  </a:tblPr>
                  <a:tblGrid>
                    <a:gridCol w="1164434"/>
                    <a:gridCol w="1336916"/>
                    <a:gridCol w="1847846"/>
                    <a:gridCol w="1361160"/>
                    <a:gridCol w="1427589"/>
                    <a:gridCol w="1427589"/>
                    <a:gridCol w="1679838"/>
                  </a:tblGrid>
                  <a:tr h="370840">
                    <a:tc>
                      <a:txBody>
                        <a:bodyPr/>
                        <a:lstStyle/>
                        <a:p>
                          <a:pPr algn="ctr"/>
                          <a:r>
                            <a:rPr lang="zh-CN" altLang="en-US"/>
                            <a:t>关系运算</a:t>
                          </a:r>
                          <a:endParaRPr lang="zh-CN" altLang="en-US"/>
                        </a:p>
                      </a:txBody>
                      <a:tcPr anchor="ctr"/>
                    </a:tc>
                    <a:tc>
                      <a:txBody>
                        <a:bodyPr/>
                        <a:lstStyle/>
                        <a:p>
                          <a:pPr algn="ctr"/>
                          <a:r>
                            <a:rPr lang="zh-CN" altLang="en-US"/>
                            <a:t>关系逆</a:t>
                          </a:r>
                          <a:endParaRPr lang="zh-CN" altLang="en-US"/>
                        </a:p>
                      </a:txBody>
                      <a:tcPr anchor="ctr"/>
                    </a:tc>
                    <a:tc>
                      <a:txBody>
                        <a:bodyPr/>
                        <a:lstStyle/>
                        <a:p>
                          <a:pPr algn="ctr"/>
                          <a:r>
                            <a:rPr lang="zh-CN" altLang="en-US"/>
                            <a:t>关系复合</a:t>
                          </a:r>
                          <a:endParaRPr lang="zh-CN" altLang="en-US"/>
                        </a:p>
                      </a:txBody>
                      <a:tcPr anchor="ctr"/>
                    </a:tc>
                    <a:tc>
                      <a:txBody>
                        <a:bodyPr/>
                        <a:lstStyle/>
                        <a:p>
                          <a:pPr algn="ctr"/>
                          <a:r>
                            <a:rPr lang="zh-CN" altLang="en-US"/>
                            <a:t>自反闭包</a:t>
                          </a:r>
                          <a:endParaRPr lang="zh-CN" altLang="en-US"/>
                        </a:p>
                      </a:txBody>
                      <a:tcPr anchor="ctr"/>
                    </a:tc>
                    <a:tc>
                      <a:txBody>
                        <a:bodyPr/>
                        <a:lstStyle/>
                        <a:p>
                          <a:pPr algn="ctr"/>
                          <a:r>
                            <a:rPr lang="zh-CN" altLang="en-US"/>
                            <a:t>对称闭包</a:t>
                          </a:r>
                          <a:endParaRPr lang="zh-CN" altLang="en-US"/>
                        </a:p>
                      </a:txBody>
                      <a:tcPr anchor="ctr"/>
                    </a:tc>
                    <a:tc>
                      <a:txBody>
                        <a:bodyPr/>
                        <a:lstStyle/>
                        <a:p>
                          <a:pPr algn="ctr"/>
                          <a:r>
                            <a:rPr lang="zh-CN" altLang="en-US"/>
                            <a:t>传递闭包</a:t>
                          </a:r>
                          <a:endParaRPr lang="zh-CN" altLang="en-US"/>
                        </a:p>
                      </a:txBody>
                      <a:tcPr anchor="ctr"/>
                    </a:tc>
                    <a:tc>
                      <a:txBody>
                        <a:bodyPr/>
                        <a:lstStyle/>
                        <a:p>
                          <a:endParaRPr lang="zh-CN"/>
                        </a:p>
                      </a:txBody>
                      <a:tcPr anchor="ctr">
                        <a:blipFill>
                          <a:blip r:embed="rId2"/>
                        </a:blipFill>
                      </a:tcPr>
                    </a:tc>
                  </a:tr>
                  <a:tr h="518160">
                    <a:tc>
                      <a:txBody>
                        <a:bodyPr/>
                        <a:lstStyle/>
                        <a:p>
                          <a:pPr algn="ctr"/>
                          <a:r>
                            <a:rPr lang="zh-CN" altLang="en-US" b="1">
                              <a:solidFill>
                                <a:schemeClr val="accent2">
                                  <a:lumMod val="50000"/>
                                </a:schemeClr>
                              </a:solidFill>
                            </a:rPr>
                            <a:t>关系并</a:t>
                          </a:r>
                          <a:endParaRPr lang="zh-CN" altLang="en-US" b="1">
                            <a:solidFill>
                              <a:schemeClr val="accent2">
                                <a:lumMod val="50000"/>
                              </a:schemeClr>
                            </a:solidFill>
                          </a:endParaRPr>
                        </a:p>
                      </a:txBody>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r>
                  <a:tr h="518160">
                    <a:tc>
                      <a:txBody>
                        <a:bodyPr/>
                        <a:lstStyle/>
                        <a:p>
                          <a:pPr algn="ctr"/>
                          <a:r>
                            <a:rPr lang="zh-CN" altLang="en-US" b="1">
                              <a:solidFill>
                                <a:schemeClr val="accent2">
                                  <a:lumMod val="50000"/>
                                </a:schemeClr>
                              </a:solidFill>
                            </a:rPr>
                            <a:t>关系交</a:t>
                          </a:r>
                          <a:endParaRPr lang="zh-CN" altLang="en-US" b="1">
                            <a:solidFill>
                              <a:schemeClr val="accent2">
                                <a:lumMod val="50000"/>
                              </a:schemeClr>
                            </a:solidFill>
                          </a:endParaRPr>
                        </a:p>
                      </a:txBody>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r>
                  <a:tr h="613410">
                    <a:tc>
                      <a:txBody>
                        <a:bodyPr/>
                        <a:lstStyle/>
                        <a:p>
                          <a:pPr algn="ctr"/>
                          <a:r>
                            <a:rPr lang="zh-CN" altLang="en-US" b="1">
                              <a:solidFill>
                                <a:schemeClr val="accent2">
                                  <a:lumMod val="50000"/>
                                </a:schemeClr>
                              </a:solidFill>
                            </a:rPr>
                            <a:t>关系逆</a:t>
                          </a:r>
                          <a:endParaRPr lang="zh-CN" altLang="en-US" b="1">
                            <a:solidFill>
                              <a:schemeClr val="accent2">
                                <a:lumMod val="50000"/>
                              </a:schemeClr>
                            </a:solidFill>
                          </a:endParaRPr>
                        </a:p>
                      </a:txBody>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r>
                  <a:tr h="518160">
                    <a:tc>
                      <a:txBody>
                        <a:bodyPr/>
                        <a:lstStyle/>
                        <a:p>
                          <a:pPr algn="ctr"/>
                          <a:r>
                            <a:rPr lang="zh-CN" altLang="en-US" b="1">
                              <a:solidFill>
                                <a:schemeClr val="accent2">
                                  <a:lumMod val="50000"/>
                                </a:schemeClr>
                              </a:solidFill>
                            </a:rPr>
                            <a:t>关系复合</a:t>
                          </a:r>
                          <a:endParaRPr lang="zh-CN" altLang="en-US" b="1">
                            <a:solidFill>
                              <a:schemeClr val="accent2">
                                <a:lumMod val="50000"/>
                              </a:schemeClr>
                            </a:solidFill>
                          </a:endParaRPr>
                        </a:p>
                      </a:txBody>
                      <a:tcPr/>
                    </a:tc>
                    <a:tc>
                      <a:txBody>
                        <a:bodyPr/>
                        <a:lstStyle/>
                        <a:p>
                          <a:pPr marL="0" algn="ctr" defTabSz="914400" rtl="0" eaLnBrk="1" latinLnBrk="0" hangingPunct="1"/>
                          <a:endParaRPr lang="zh-CN" altLang="en-US" sz="1400" b="1" kern="1200">
                            <a:solidFill>
                              <a:srgbClr val="FF0000"/>
                            </a:solidFill>
                            <a:latin typeface="+mn-lt"/>
                            <a:ea typeface="+mn-ea"/>
                            <a:cs typeface="+mn-cs"/>
                          </a:endParaRPr>
                        </a:p>
                      </a:txBody>
                      <a:tcPr/>
                    </a:tc>
                    <a:tc>
                      <a:txBody>
                        <a:bodyPr/>
                        <a:lstStyle/>
                        <a:p>
                          <a:endParaRPr lang="zh-CN"/>
                        </a:p>
                      </a:txBody>
                      <a:tcPr>
                        <a:blipFill>
                          <a:blip r:embed="rId2"/>
                        </a:blipFill>
                      </a:tcPr>
                    </a:tc>
                    <a:tc>
                      <a:txBody>
                        <a:bodyPr/>
                        <a:lstStyle/>
                        <a:p>
                          <a:pPr marL="0" algn="ctr" defTabSz="914400" rtl="0" eaLnBrk="1" latinLnBrk="0" hangingPunct="1"/>
                          <a:endParaRPr lang="zh-CN" altLang="en-US" sz="1400" b="1" kern="1200">
                            <a:solidFill>
                              <a:srgbClr val="FF0000"/>
                            </a:solidFill>
                            <a:latin typeface="+mn-lt"/>
                            <a:ea typeface="+mn-ea"/>
                            <a:cs typeface="+mn-cs"/>
                          </a:endParaRPr>
                        </a:p>
                      </a:txBody>
                      <a:tcPr/>
                    </a:tc>
                    <a:tc>
                      <a:txBody>
                        <a:bodyPr/>
                        <a:lstStyle/>
                        <a:p>
                          <a:pPr marL="0" algn="ctr" defTabSz="914400" rtl="0" eaLnBrk="1" latinLnBrk="0" hangingPunct="1"/>
                          <a:endParaRPr lang="zh-CN" altLang="en-US" sz="1400" b="1" kern="1200">
                            <a:solidFill>
                              <a:srgbClr val="FF0000"/>
                            </a:solidFill>
                            <a:latin typeface="+mn-lt"/>
                            <a:ea typeface="+mn-ea"/>
                            <a:cs typeface="+mn-cs"/>
                          </a:endParaRPr>
                        </a:p>
                      </a:txBody>
                      <a:tcPr/>
                    </a:tc>
                    <a:tc>
                      <a:txBody>
                        <a:bodyPr/>
                        <a:lstStyle/>
                        <a:p>
                          <a:pPr marL="0" algn="ctr" defTabSz="914400" rtl="0" eaLnBrk="1" latinLnBrk="0" hangingPunct="1"/>
                          <a:endParaRPr lang="zh-CN" altLang="en-US" sz="1400" b="1" kern="1200">
                            <a:solidFill>
                              <a:srgbClr val="FF0000"/>
                            </a:solidFill>
                            <a:latin typeface="+mn-lt"/>
                            <a:ea typeface="+mn-ea"/>
                            <a:cs typeface="+mn-cs"/>
                          </a:endParaRPr>
                        </a:p>
                      </a:txBody>
                      <a:tcPr/>
                    </a:tc>
                    <a:tc>
                      <a:txBody>
                        <a:bodyPr/>
                        <a:lstStyle/>
                        <a:p>
                          <a:endParaRPr lang="zh-CN"/>
                        </a:p>
                      </a:txBody>
                      <a:tcPr>
                        <a:blipFill>
                          <a:blip r:embed="rId2"/>
                        </a:blipFill>
                      </a:tcPr>
                    </a:tc>
                  </a:tr>
                  <a:tr h="370840">
                    <a:tc>
                      <a:txBody>
                        <a:bodyPr/>
                        <a:lstStyle/>
                        <a:p>
                          <a:pPr algn="ctr"/>
                          <a:r>
                            <a:rPr lang="zh-CN" altLang="en-US" b="1">
                              <a:solidFill>
                                <a:schemeClr val="accent2">
                                  <a:lumMod val="50000"/>
                                </a:schemeClr>
                              </a:solidFill>
                            </a:rPr>
                            <a:t>自反闭包</a:t>
                          </a:r>
                          <a:endParaRPr lang="zh-CN" altLang="en-US"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endParaRPr lang="zh-CN"/>
                        </a:p>
                      </a:txBody>
                      <a:tcPr>
                        <a:blipFill>
                          <a:blip r:embed="rId2"/>
                        </a:blipFill>
                      </a:tcPr>
                    </a:tc>
                    <a:tc>
                      <a:txBody>
                        <a:bodyPr/>
                        <a:lstStyle/>
                        <a:p>
                          <a:endParaRPr lang="zh-CN"/>
                        </a:p>
                      </a:txBody>
                      <a:tcPr>
                        <a:blipFill>
                          <a:blip r:embed="rId2"/>
                        </a:blipFill>
                      </a:tcPr>
                    </a:tc>
                    <a:tc>
                      <a:txBody>
                        <a:bodyPr/>
                        <a:lstStyle/>
                        <a:p>
                          <a:endParaRPr lang="zh-CN"/>
                        </a:p>
                      </a:txBody>
                      <a:tcPr>
                        <a:blipFill>
                          <a:blip r:embed="rId2"/>
                        </a:blipFill>
                      </a:tcPr>
                    </a:tc>
                  </a:tr>
                  <a:tr h="370840">
                    <a:tc>
                      <a:txBody>
                        <a:bodyPr/>
                        <a:lstStyle/>
                        <a:p>
                          <a:pPr algn="ctr"/>
                          <a:r>
                            <a:rPr lang="zh-CN" altLang="en-US" b="1">
                              <a:solidFill>
                                <a:schemeClr val="accent2">
                                  <a:lumMod val="50000"/>
                                </a:schemeClr>
                              </a:solidFill>
                            </a:rPr>
                            <a:t>对称闭包</a:t>
                          </a:r>
                          <a:endParaRPr lang="zh-CN" altLang="en-US"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endParaRPr lang="zh-CN"/>
                        </a:p>
                      </a:txBody>
                      <a:tcPr>
                        <a:blipFill>
                          <a:blip r:embed="rId2"/>
                        </a:blipFill>
                      </a:tcPr>
                    </a:tc>
                    <a:tc>
                      <a:txBody>
                        <a:bodyPr/>
                        <a:lstStyle/>
                        <a:p>
                          <a:endParaRPr lang="zh-CN"/>
                        </a:p>
                      </a:txBody>
                      <a:tcPr>
                        <a:blipFill>
                          <a:blip r:embed="rId2"/>
                        </a:blipFill>
                      </a:tcPr>
                    </a:tc>
                  </a:tr>
                  <a:tr h="731520">
                    <a:tc>
                      <a:txBody>
                        <a:bodyPr/>
                        <a:lstStyle/>
                        <a:p>
                          <a:pPr algn="ctr"/>
                          <a:r>
                            <a:rPr lang="zh-CN" altLang="en-US" b="1">
                              <a:solidFill>
                                <a:schemeClr val="accent2">
                                  <a:lumMod val="50000"/>
                                </a:schemeClr>
                              </a:solidFill>
                            </a:rPr>
                            <a:t>传递闭包</a:t>
                          </a:r>
                          <a:endParaRPr lang="zh-CN" altLang="en-US"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endParaRPr lang="zh-CN"/>
                        </a:p>
                      </a:txBody>
                      <a:tcPr>
                        <a:blipFill>
                          <a:blip r:embed="rId2"/>
                        </a:blipFill>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pPr algn="ctr"/>
                          <a:endParaRPr lang="zh-CN" altLang="en-US" sz="1400" b="1">
                            <a:solidFill>
                              <a:schemeClr val="accent2">
                                <a:lumMod val="50000"/>
                              </a:schemeClr>
                            </a:solidFill>
                          </a:endParaRPr>
                        </a:p>
                      </a:txBody>
                      <a:tcPr/>
                    </a:tc>
                    <a:tc>
                      <a:txBody>
                        <a:bodyPr/>
                        <a:lstStyle/>
                        <a:p>
                          <a:endParaRPr lang="zh-CN"/>
                        </a:p>
                      </a:txBody>
                      <a:tcPr>
                        <a:blipFill>
                          <a:blip r:embed="rId2"/>
                        </a:blipFill>
                      </a:tcPr>
                    </a:tc>
                  </a:tr>
                </a:tbl>
              </a:graphicData>
            </a:graphic>
          </p:graphicFrame>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11" name="文本框 10"/>
          <p:cNvSpPr txBox="1"/>
          <p:nvPr/>
        </p:nvSpPr>
        <p:spPr>
          <a:xfrm>
            <a:off x="1239662" y="1361983"/>
            <a:ext cx="4733731" cy="3854901"/>
          </a:xfrm>
          <a:prstGeom prst="rect">
            <a:avLst/>
          </a:prstGeom>
          <a:noFill/>
        </p:spPr>
        <p:txBody>
          <a:bodyPr wrap="square" rtlCol="0">
            <a:spAutoFit/>
          </a:bodyPr>
          <a:lstStyle/>
          <a:p>
            <a:pPr>
              <a:lnSpc>
                <a:spcPct val="200000"/>
              </a:lnSpc>
            </a:pPr>
            <a:r>
              <a:rPr lang="zh-CN" altLang="en-US" sz="3200" b="1" dirty="0">
                <a:solidFill>
                  <a:schemeClr val="bg2"/>
                </a:solidFill>
                <a:latin typeface="仿宋" panose="02010609060101010101" pitchFamily="49" charset="-122"/>
                <a:ea typeface="仿宋" panose="02010609060101010101" pitchFamily="49" charset="-122"/>
              </a:rPr>
              <a:t>逻辑语言</a:t>
            </a:r>
            <a:endParaRPr lang="en-US" altLang="zh-CN" sz="3200" b="1" dirty="0">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bg2"/>
                </a:solidFill>
                <a:latin typeface="仿宋" panose="02010609060101010101" pitchFamily="49" charset="-122"/>
                <a:ea typeface="仿宋" panose="02010609060101010101" pitchFamily="49" charset="-122"/>
              </a:rPr>
              <a:t>集合语言</a:t>
            </a:r>
            <a:endParaRPr lang="en-US" altLang="zh-CN" sz="3200" b="1" dirty="0">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组合计数</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图论语言</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组合计数</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组合计数部分内容框架</a:t>
            </a:r>
            <a:endParaRPr lang="zh-CN" altLang="en-US"/>
          </a:p>
        </p:txBody>
      </p:sp>
      <p:pic>
        <p:nvPicPr>
          <p:cNvPr id="2" name="图片 1"/>
          <p:cNvPicPr>
            <a:picLocks noChangeAspect="1"/>
          </p:cNvPicPr>
          <p:nvPr/>
        </p:nvPicPr>
        <p:blipFill>
          <a:blip r:embed="rId1"/>
          <a:stretch>
            <a:fillRect/>
          </a:stretch>
        </p:blipFill>
        <p:spPr>
          <a:xfrm>
            <a:off x="1784058" y="1440809"/>
            <a:ext cx="8623883" cy="397638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组合计数</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组合计数部分学习目标</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2146481" y="1227176"/>
                <a:ext cx="7899036" cy="4821833"/>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400"/>
                  </a:spcAft>
                </a:pPr>
                <a:r>
                  <a:rPr lang="zh-CN" altLang="en-US" sz="2400" b="1">
                    <a:solidFill>
                      <a:schemeClr val="accent2">
                        <a:lumMod val="50000"/>
                      </a:schemeClr>
                    </a:solidFill>
                    <a:latin typeface="楷体" panose="02010609060101010101" pitchFamily="49" charset="-122"/>
                    <a:ea typeface="楷体" panose="02010609060101010101" pitchFamily="49" charset="-122"/>
                  </a:rPr>
                  <a:t>组合计数部分学习目标</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4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加法法则</a:t>
                </a:r>
                <a:r>
                  <a:rPr lang="zh-CN" altLang="en-US" sz="2000" b="1">
                    <a:solidFill>
                      <a:srgbClr val="002060"/>
                    </a:solidFill>
                  </a:rPr>
                  <a:t>和</a:t>
                </a:r>
                <a:r>
                  <a:rPr lang="zh-CN" altLang="en-US" sz="2000" b="1">
                    <a:solidFill>
                      <a:srgbClr val="C00000"/>
                    </a:solidFill>
                  </a:rPr>
                  <a:t>乘法法则</a:t>
                </a:r>
                <a:r>
                  <a:rPr lang="zh-CN" altLang="en-US" sz="2000" b="1">
                    <a:solidFill>
                      <a:srgbClr val="002060"/>
                    </a:solidFill>
                  </a:rPr>
                  <a:t>求解计数问题</a:t>
                </a:r>
                <a:endParaRPr lang="zh-CN" altLang="en-US" sz="2000" b="1">
                  <a:solidFill>
                    <a:srgbClr val="002060"/>
                  </a:solidFill>
                </a:endParaRPr>
              </a:p>
              <a:p>
                <a:pPr marL="342900" indent="-342900">
                  <a:spcBef>
                    <a:spcPts val="600"/>
                  </a:spcBef>
                  <a:spcAft>
                    <a:spcPts val="4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容斥原理</a:t>
                </a:r>
                <a:r>
                  <a:rPr lang="zh-CN" altLang="en-US" sz="2000" b="1">
                    <a:solidFill>
                      <a:srgbClr val="002060"/>
                    </a:solidFill>
                  </a:rPr>
                  <a:t>求解与有限个集合并相关的计数问题</a:t>
                </a:r>
                <a:endParaRPr lang="zh-CN" altLang="en-US" sz="2000" b="1">
                  <a:solidFill>
                    <a:srgbClr val="002060"/>
                  </a:solidFill>
                </a:endParaRPr>
              </a:p>
              <a:p>
                <a:pPr marL="342900" indent="-342900">
                  <a:spcBef>
                    <a:spcPts val="600"/>
                  </a:spcBef>
                  <a:spcAft>
                    <a:spcPts val="4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排列组合</a:t>
                </a:r>
                <a:r>
                  <a:rPr lang="zh-CN" altLang="en-US" sz="2000" b="1">
                    <a:solidFill>
                      <a:srgbClr val="002060"/>
                    </a:solidFill>
                  </a:rPr>
                  <a:t>求解不允许重复的集合元素排列组合计数问题</a:t>
                </a:r>
                <a:endParaRPr lang="zh-CN" altLang="en-US" sz="2000" b="1">
                  <a:solidFill>
                    <a:srgbClr val="002060"/>
                  </a:solidFill>
                </a:endParaRPr>
              </a:p>
              <a:p>
                <a:pPr marL="342900" indent="-342900">
                  <a:spcBef>
                    <a:spcPts val="600"/>
                  </a:spcBef>
                  <a:spcAft>
                    <a:spcPts val="400"/>
                  </a:spcAft>
                  <a:buFont typeface="Arial" panose="020B0604020202020204" pitchFamily="34" charset="0"/>
                  <a:buChar char="•"/>
                </a:pPr>
                <a:r>
                  <a:rPr lang="zh-CN" altLang="en-US" sz="2000" b="1">
                    <a:solidFill>
                      <a:srgbClr val="002060"/>
                    </a:solidFill>
                  </a:rPr>
                  <a:t>使用排列组合求解</a:t>
                </a:r>
                <a:r>
                  <a:rPr lang="zh-CN" altLang="en-US" sz="2000" b="1">
                    <a:solidFill>
                      <a:srgbClr val="C00000"/>
                    </a:solidFill>
                  </a:rPr>
                  <a:t>允许重复</a:t>
                </a:r>
                <a:r>
                  <a:rPr lang="zh-CN" altLang="en-US" sz="2000" b="1">
                    <a:solidFill>
                      <a:srgbClr val="002060"/>
                    </a:solidFill>
                  </a:rPr>
                  <a:t>的集合元素排列组合计数问题</a:t>
                </a:r>
                <a:endParaRPr lang="zh-CN" altLang="en-US" sz="2000" b="1">
                  <a:solidFill>
                    <a:srgbClr val="002060"/>
                  </a:solidFill>
                </a:endParaRPr>
              </a:p>
              <a:p>
                <a:pPr marL="342900" indent="-342900">
                  <a:spcBef>
                    <a:spcPts val="600"/>
                  </a:spcBef>
                  <a:spcAft>
                    <a:spcPts val="400"/>
                  </a:spcAft>
                  <a:buFont typeface="Arial" panose="020B0604020202020204" pitchFamily="34" charset="0"/>
                  <a:buChar char="•"/>
                </a:pPr>
                <a:r>
                  <a:rPr lang="zh-CN" altLang="en-US" sz="2000" b="1">
                    <a:solidFill>
                      <a:srgbClr val="002060"/>
                    </a:solidFill>
                  </a:rPr>
                  <a:t>使用代数方法证明</a:t>
                </a:r>
                <a:r>
                  <a:rPr lang="zh-CN" altLang="en-US" sz="2000" b="1">
                    <a:solidFill>
                      <a:srgbClr val="C00000"/>
                    </a:solidFill>
                  </a:rPr>
                  <a:t>二项式系数恒等式</a:t>
                </a:r>
                <a:endParaRPr lang="zh-CN" altLang="en-US" sz="2000" b="1">
                  <a:solidFill>
                    <a:srgbClr val="C00000"/>
                  </a:solidFill>
                </a:endParaRPr>
              </a:p>
              <a:p>
                <a:pPr marL="342900" indent="-342900">
                  <a:spcBef>
                    <a:spcPts val="600"/>
                  </a:spcBef>
                  <a:spcAft>
                    <a:spcPts val="4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组合论证方法</a:t>
                </a:r>
                <a:r>
                  <a:rPr lang="zh-CN" altLang="en-US" sz="2000" b="1">
                    <a:solidFill>
                      <a:srgbClr val="002060"/>
                    </a:solidFill>
                  </a:rPr>
                  <a:t>证明二项式系数恒等式</a:t>
                </a:r>
                <a:endParaRPr lang="zh-CN" altLang="en-US" sz="2000" b="1">
                  <a:solidFill>
                    <a:srgbClr val="002060"/>
                  </a:solidFill>
                </a:endParaRPr>
              </a:p>
              <a:p>
                <a:pPr marL="342900" indent="-342900">
                  <a:spcBef>
                    <a:spcPts val="600"/>
                  </a:spcBef>
                  <a:spcAft>
                    <a:spcPts val="400"/>
                  </a:spcAft>
                  <a:buFont typeface="Arial" panose="020B0604020202020204" pitchFamily="34" charset="0"/>
                  <a:buChar char="•"/>
                </a:pPr>
                <a:r>
                  <a:rPr lang="zh-CN" altLang="en-US" sz="2000" b="1">
                    <a:solidFill>
                      <a:srgbClr val="002060"/>
                    </a:solidFill>
                  </a:rPr>
                  <a:t>使用容斥原理求解同时不满足某些性质的元素的计数问题</a:t>
                </a:r>
                <a:endParaRPr lang="zh-CN" altLang="en-US" sz="2000" b="1">
                  <a:solidFill>
                    <a:srgbClr val="002060"/>
                  </a:solidFill>
                </a:endParaRPr>
              </a:p>
              <a:p>
                <a:pPr marL="342900" indent="-342900">
                  <a:spcBef>
                    <a:spcPts val="600"/>
                  </a:spcBef>
                  <a:spcAft>
                    <a:spcPts val="400"/>
                  </a:spcAft>
                  <a:buFont typeface="Arial" panose="020B0604020202020204" pitchFamily="34" charset="0"/>
                  <a:buChar char="•"/>
                </a:pPr>
                <a:r>
                  <a:rPr lang="zh-CN" altLang="en-US" sz="2000" b="1">
                    <a:solidFill>
                      <a:srgbClr val="002060"/>
                    </a:solidFill>
                  </a:rPr>
                  <a:t>使用</a:t>
                </a:r>
                <a:r>
                  <a:rPr lang="zh-CN" altLang="en-US" sz="2000" b="1">
                    <a:solidFill>
                      <a:srgbClr val="C00000"/>
                    </a:solidFill>
                  </a:rPr>
                  <a:t>递推式建模</a:t>
                </a:r>
                <a:r>
                  <a:rPr lang="zh-CN" altLang="en-US" sz="2000" b="1">
                    <a:solidFill>
                      <a:srgbClr val="002060"/>
                    </a:solidFill>
                  </a:rPr>
                  <a:t>二进制串或三进制串满足某种条件的串的计数问题</a:t>
                </a:r>
                <a:endParaRPr lang="zh-CN" altLang="en-US" sz="2000" b="1">
                  <a:solidFill>
                    <a:srgbClr val="002060"/>
                  </a:solidFill>
                </a:endParaRPr>
              </a:p>
              <a:p>
                <a:pPr marL="342900" indent="-342900">
                  <a:spcBef>
                    <a:spcPts val="600"/>
                  </a:spcBef>
                  <a:spcAft>
                    <a:spcPts val="400"/>
                  </a:spcAft>
                  <a:buFont typeface="Arial" panose="020B0604020202020204" pitchFamily="34" charset="0"/>
                  <a:buChar char="•"/>
                </a:pPr>
                <a:r>
                  <a:rPr lang="zh-CN" altLang="en-US" sz="2000" b="1">
                    <a:solidFill>
                      <a:srgbClr val="002060"/>
                    </a:solidFill>
                  </a:rPr>
                  <a:t>求解</a:t>
                </a:r>
                <a14:m>
                  <m:oMath xmlns:m="http://schemas.openxmlformats.org/officeDocument/2006/math">
                    <m:r>
                      <a:rPr lang="en-US" altLang="zh-CN" sz="2000" b="1" i="1" smtClean="0">
                        <a:solidFill>
                          <a:srgbClr val="002060"/>
                        </a:solidFill>
                        <a:latin typeface="Cambria Math" panose="02040503050406030204" pitchFamily="18" charset="0"/>
                      </a:rPr>
                      <m:t>𝒌</m:t>
                    </m:r>
                  </m:oMath>
                </a14:m>
                <a:r>
                  <a:rPr lang="zh-CN" altLang="en-US" sz="2000" b="1">
                    <a:solidFill>
                      <a:srgbClr val="002060"/>
                    </a:solidFill>
                  </a:rPr>
                  <a:t>阶常系数线性齐次递推式的通项公式</a:t>
                </a:r>
                <a:endParaRPr lang="zh-CN" altLang="en-US" sz="2000" b="1">
                  <a:solidFill>
                    <a:srgbClr val="002060"/>
                  </a:solidFill>
                </a:endParaRPr>
              </a:p>
              <a:p>
                <a:pPr marL="342900" indent="-342900">
                  <a:spcBef>
                    <a:spcPts val="600"/>
                  </a:spcBef>
                  <a:spcAft>
                    <a:spcPts val="400"/>
                  </a:spcAft>
                  <a:buFont typeface="Arial" panose="020B0604020202020204" pitchFamily="34" charset="0"/>
                  <a:buChar char="•"/>
                </a:pPr>
                <a:r>
                  <a:rPr lang="zh-CN" altLang="en-US" sz="2000" b="1">
                    <a:solidFill>
                      <a:srgbClr val="002060"/>
                    </a:solidFill>
                  </a:rPr>
                  <a:t>求解特定形式的</a:t>
                </a:r>
                <a14:m>
                  <m:oMath xmlns:m="http://schemas.openxmlformats.org/officeDocument/2006/math">
                    <m:r>
                      <a:rPr lang="en-US" altLang="zh-CN" sz="2000" b="1" i="1" smtClean="0">
                        <a:solidFill>
                          <a:srgbClr val="002060"/>
                        </a:solidFill>
                        <a:latin typeface="Cambria Math" panose="02040503050406030204" pitchFamily="18" charset="0"/>
                      </a:rPr>
                      <m:t>𝒌</m:t>
                    </m:r>
                  </m:oMath>
                </a14:m>
                <a:r>
                  <a:rPr lang="zh-CN" altLang="en-US" sz="2000" b="1">
                    <a:solidFill>
                      <a:srgbClr val="002060"/>
                    </a:solidFill>
                  </a:rPr>
                  <a:t>阶常系数线性非齐次递推式的通项公式</a:t>
                </a:r>
                <a:endParaRPr lang="zh-CN" altLang="en-US" sz="2000" b="1">
                  <a:solidFill>
                    <a:srgbClr val="C0000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2146481" y="1227176"/>
                <a:ext cx="7899036" cy="4821833"/>
              </a:xfrm>
              <a:prstGeom prst="rect">
                <a:avLst/>
              </a:prstGeom>
              <a:blipFill rotWithShape="1">
                <a:blip r:embed="rId1"/>
                <a:stretch>
                  <a:fillRect l="-2" t="-7" r="6" b="13"/>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组合计数</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组合计数部分重要问题及其求解思路</a:t>
            </a:r>
            <a:endParaRPr lang="zh-CN" altLang="en-US"/>
          </a:p>
        </p:txBody>
      </p:sp>
      <p:pic>
        <p:nvPicPr>
          <p:cNvPr id="2" name="图片 1"/>
          <p:cNvPicPr>
            <a:picLocks noChangeAspect="1"/>
          </p:cNvPicPr>
          <p:nvPr/>
        </p:nvPicPr>
        <p:blipFill>
          <a:blip r:embed="rId1"/>
          <a:stretch>
            <a:fillRect/>
          </a:stretch>
        </p:blipFill>
        <p:spPr>
          <a:xfrm>
            <a:off x="1247163" y="1361114"/>
            <a:ext cx="9697673" cy="413577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组合计数</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一些重要的基本计数问题</a:t>
            </a:r>
            <a:endParaRPr lang="zh-CN" altLang="en-US"/>
          </a:p>
        </p:txBody>
      </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612936" y="1103964"/>
              <a:ext cx="10966126" cy="5074920"/>
            </p:xfrm>
            <a:graphic>
              <a:graphicData uri="http://schemas.openxmlformats.org/drawingml/2006/table">
                <a:tbl>
                  <a:tblPr firstRow="1" bandRow="1">
                    <a:tableStyleId>{5C22544A-7EE6-4342-B048-85BDC9FD1C3A}</a:tableStyleId>
                  </a:tblPr>
                  <a:tblGrid>
                    <a:gridCol w="6494243"/>
                    <a:gridCol w="4471883"/>
                  </a:tblGrid>
                  <a:tr h="370840">
                    <a:tc>
                      <a:txBody>
                        <a:bodyPr/>
                        <a:lstStyle/>
                        <a:p>
                          <a:r>
                            <a:rPr lang="zh-CN" altLang="en-US" sz="1600"/>
                            <a:t>计数问题</a:t>
                          </a:r>
                          <a:endParaRPr lang="zh-CN" altLang="en-US" sz="1600"/>
                        </a:p>
                      </a:txBody>
                      <a:tcPr/>
                    </a:tc>
                    <a:tc>
                      <a:txBody>
                        <a:bodyPr/>
                        <a:lstStyle/>
                        <a:p>
                          <a:r>
                            <a:rPr lang="zh-CN" altLang="en-US" sz="1600"/>
                            <a:t>计数公式</a:t>
                          </a:r>
                          <a:endParaRPr lang="zh-CN" altLang="en-US" sz="1600"/>
                        </a:p>
                      </a:txBody>
                      <a:tcPr/>
                    </a:tc>
                  </a:tr>
                  <a:tr h="370840">
                    <a:tc>
                      <a:txBody>
                        <a:bodyPr/>
                        <a:lstStyle/>
                        <a:p>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𝒏</m:t>
                              </m:r>
                            </m:oMath>
                          </a14:m>
                          <a:r>
                            <a:rPr lang="zh-CN" altLang="en-US" sz="1600" b="1">
                              <a:solidFill>
                                <a:schemeClr val="accent2">
                                  <a:lumMod val="50000"/>
                                </a:schemeClr>
                              </a:solidFill>
                            </a:rPr>
                            <a:t>个字符的字符集上长度为</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𝒓</m:t>
                              </m:r>
                            </m:oMath>
                          </a14:m>
                          <a:r>
                            <a:rPr lang="zh-CN" altLang="en-US" sz="1600" b="1">
                              <a:solidFill>
                                <a:schemeClr val="accent2">
                                  <a:lumMod val="50000"/>
                                </a:schemeClr>
                              </a:solidFill>
                            </a:rPr>
                            <a:t>的允许字符重复的字符串个数</a:t>
                          </a:r>
                          <a:endParaRPr lang="zh-CN" altLang="en-US" sz="1600" b="1">
                            <a:solidFill>
                              <a:schemeClr val="accent2">
                                <a:lumMod val="50000"/>
                              </a:schemeClr>
                            </a:solidFill>
                          </a:endParaRPr>
                        </a:p>
                      </a:txBody>
                      <a:tcPr/>
                    </a:tc>
                    <a:tc>
                      <a:txBody>
                        <a:bodyPr/>
                        <a:lstStyle/>
                        <a:p>
                          <a14:m>
                            <m:oMathPara xmlns:m="http://schemas.openxmlformats.org/officeDocument/2006/math">
                              <m:oMathParaPr>
                                <m:jc m:val="centerGroup"/>
                              </m:oMathParaPr>
                              <m:oMath xmlns:m="http://schemas.openxmlformats.org/officeDocument/2006/math">
                                <m:sSup>
                                  <m:sSupPr>
                                    <m:ctrlPr>
                                      <a:rPr lang="en-US" altLang="zh-CN" sz="1600" b="1" i="1" smtClean="0">
                                        <a:solidFill>
                                          <a:srgbClr val="C00000"/>
                                        </a:solidFill>
                                        <a:latin typeface="Cambria Math" panose="02040503050406030204" pitchFamily="18" charset="0"/>
                                      </a:rPr>
                                    </m:ctrlPr>
                                  </m:sSupPr>
                                  <m:e>
                                    <m:r>
                                      <a:rPr lang="en-US" altLang="zh-CN" sz="1600" b="1" i="1" smtClean="0">
                                        <a:solidFill>
                                          <a:srgbClr val="C00000"/>
                                        </a:solidFill>
                                        <a:latin typeface="Cambria Math" panose="02040503050406030204" pitchFamily="18" charset="0"/>
                                      </a:rPr>
                                      <m:t>𝒏</m:t>
                                    </m:r>
                                  </m:e>
                                  <m:sup>
                                    <m:r>
                                      <a:rPr lang="en-US" altLang="zh-CN" sz="1600" b="1" i="1" smtClean="0">
                                        <a:solidFill>
                                          <a:srgbClr val="C00000"/>
                                        </a:solidFill>
                                        <a:latin typeface="Cambria Math" panose="02040503050406030204" pitchFamily="18" charset="0"/>
                                      </a:rPr>
                                      <m:t>𝒓</m:t>
                                    </m:r>
                                  </m:sup>
                                </m:sSup>
                              </m:oMath>
                            </m:oMathPara>
                          </a14:m>
                          <a:endParaRPr lang="zh-CN" altLang="en-US" sz="1600" b="1"/>
                        </a:p>
                      </a:txBody>
                      <a:tcPr anchor="ct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𝒏</m:t>
                              </m:r>
                            </m:oMath>
                          </a14:m>
                          <a:r>
                            <a:rPr lang="zh-CN" altLang="en-US" sz="1600" b="1">
                              <a:solidFill>
                                <a:schemeClr val="accent2">
                                  <a:lumMod val="50000"/>
                                </a:schemeClr>
                              </a:solidFill>
                            </a:rPr>
                            <a:t>个字符的字符集上长度为</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𝒓</m:t>
                              </m:r>
                            </m:oMath>
                          </a14:m>
                          <a:r>
                            <a:rPr lang="zh-CN" altLang="en-US" sz="1600" b="1">
                              <a:solidFill>
                                <a:schemeClr val="accent2">
                                  <a:lumMod val="50000"/>
                                </a:schemeClr>
                              </a:solidFill>
                            </a:rPr>
                            <a:t>的字符不重复的字符串个数</a:t>
                          </a:r>
                          <a:endParaRPr lang="zh-CN" altLang="en-US" sz="1600" b="1">
                            <a:solidFill>
                              <a:schemeClr val="accent2">
                                <a:lumMod val="50000"/>
                              </a:schemeClr>
                            </a:solidFill>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𝑷</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𝒏</m:t>
                                    </m:r>
                                    <m:r>
                                      <a:rPr lang="en-US" altLang="zh-CN" sz="1600" b="1" i="1" smtClean="0">
                                        <a:solidFill>
                                          <a:srgbClr val="C00000"/>
                                        </a:solidFill>
                                        <a:latin typeface="Cambria Math" panose="02040503050406030204" pitchFamily="18" charset="0"/>
                                      </a:rPr>
                                      <m:t>, </m:t>
                                    </m:r>
                                    <m:r>
                                      <a:rPr lang="en-US" altLang="zh-CN" sz="1600" b="1" i="1" smtClean="0">
                                        <a:solidFill>
                                          <a:srgbClr val="C00000"/>
                                        </a:solidFill>
                                        <a:latin typeface="Cambria Math" panose="02040503050406030204" pitchFamily="18" charset="0"/>
                                      </a:rPr>
                                      <m:t>𝒓</m:t>
                                    </m:r>
                                  </m:e>
                                </m:d>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𝒏</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𝒏</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𝟏</m:t>
                                    </m:r>
                                  </m:e>
                                </m:d>
                                <m:r>
                                  <a:rPr lang="en-US" altLang="zh-CN" sz="1600" b="1" i="1" smtClean="0">
                                    <a:solidFill>
                                      <a:srgbClr val="C00000"/>
                                    </a:solidFill>
                                    <a:latin typeface="Cambria Math" panose="02040503050406030204" pitchFamily="18" charset="0"/>
                                  </a:rPr>
                                  <m:t>⋯</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𝒏</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𝒓</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𝟏</m:t>
                                    </m:r>
                                  </m:e>
                                </m:d>
                              </m:oMath>
                            </m:oMathPara>
                          </a14:m>
                          <a:endParaRPr lang="zh-CN" altLang="en-US" sz="1600" b="1"/>
                        </a:p>
                      </a:txBody>
                      <a:tcPr anchor="ctr"/>
                    </a:tc>
                  </a:tr>
                  <a:tr h="370840">
                    <a:tc>
                      <a:txBody>
                        <a:bodyPr/>
                        <a:lstStyle/>
                        <a:p>
                          <a:r>
                            <a:rPr lang="zh-CN" altLang="en-US" sz="1600" b="1">
                              <a:solidFill>
                                <a:schemeClr val="accent2">
                                  <a:lumMod val="50000"/>
                                </a:schemeClr>
                              </a:solidFill>
                            </a:rPr>
                            <a:t>大于等于</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𝒎</m:t>
                              </m:r>
                            </m:oMath>
                          </a14:m>
                          <a:r>
                            <a:rPr lang="zh-CN" altLang="en-US" sz="1600" b="1">
                              <a:solidFill>
                                <a:schemeClr val="accent2">
                                  <a:lumMod val="50000"/>
                                </a:schemeClr>
                              </a:solidFill>
                            </a:rPr>
                            <a:t>小于等于</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𝒏</m:t>
                              </m:r>
                            </m:oMath>
                          </a14:m>
                          <a:r>
                            <a:rPr lang="zh-CN" altLang="en-US" sz="1600" b="1">
                              <a:solidFill>
                                <a:schemeClr val="accent2">
                                  <a:lumMod val="50000"/>
                                </a:schemeClr>
                              </a:solidFill>
                            </a:rPr>
                            <a:t>范围内能被正整数</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𝒅</m:t>
                              </m:r>
                            </m:oMath>
                          </a14:m>
                          <a:r>
                            <a:rPr lang="zh-CN" altLang="en-US" sz="1600" b="1">
                              <a:solidFill>
                                <a:schemeClr val="accent2">
                                  <a:lumMod val="50000"/>
                                </a:schemeClr>
                              </a:solidFill>
                            </a:rPr>
                            <a:t>的整除的正整数个数</a:t>
                          </a:r>
                          <a:endParaRPr lang="zh-CN" altLang="en-US" sz="1600"/>
                        </a:p>
                      </a:txBody>
                      <a:tcPr/>
                    </a:tc>
                    <a:tc>
                      <a:txBody>
                        <a:bodyPr/>
                        <a:lstStyle/>
                        <a:p>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𝒏</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𝒅</m:t>
                                </m:r>
                                <m:r>
                                  <a:rPr lang="en-US" altLang="zh-CN" sz="1600" b="1" i="1" smtClean="0">
                                    <a:solidFill>
                                      <a:srgbClr val="C00000"/>
                                    </a:solidFill>
                                    <a:latin typeface="Cambria Math" panose="02040503050406030204" pitchFamily="18" charset="0"/>
                                  </a:rPr>
                                  <m:t>⌋− ⌊(</m:t>
                                </m:r>
                                <m:r>
                                  <a:rPr lang="en-US" altLang="zh-CN" sz="1600" b="1" i="1" smtClean="0">
                                    <a:solidFill>
                                      <a:srgbClr val="C00000"/>
                                    </a:solidFill>
                                    <a:latin typeface="Cambria Math" panose="02040503050406030204" pitchFamily="18" charset="0"/>
                                  </a:rPr>
                                  <m:t>𝒎</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𝟏</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𝒅</m:t>
                                </m:r>
                                <m:r>
                                  <a:rPr lang="en-US" altLang="zh-CN" sz="1600" b="1" i="1" smtClean="0">
                                    <a:solidFill>
                                      <a:srgbClr val="C00000"/>
                                    </a:solidFill>
                                    <a:latin typeface="Cambria Math" panose="02040503050406030204" pitchFamily="18" charset="0"/>
                                  </a:rPr>
                                  <m:t>⌋</m:t>
                                </m:r>
                              </m:oMath>
                            </m:oMathPara>
                          </a14:m>
                          <a:endParaRPr lang="zh-CN" altLang="en-US" sz="1600" b="1"/>
                        </a:p>
                      </a:txBody>
                      <a:tcPr anchor="ctr"/>
                    </a:tc>
                  </a:tr>
                  <a:tr h="370840">
                    <a:tc>
                      <a:txBody>
                        <a:bodyPr/>
                        <a:lstStyle/>
                        <a:p>
                          <a:r>
                            <a:rPr lang="zh-CN" altLang="en-US" sz="1600" b="1" kern="1200">
                              <a:solidFill>
                                <a:schemeClr val="accent2">
                                  <a:lumMod val="50000"/>
                                </a:schemeClr>
                              </a:solidFill>
                              <a:latin typeface="+mn-lt"/>
                              <a:ea typeface="+mn-ea"/>
                              <a:cs typeface="+mn-cs"/>
                            </a:rPr>
                            <a:t>长度为</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𝒏</m:t>
                              </m:r>
                            </m:oMath>
                          </a14:m>
                          <a:r>
                            <a:rPr lang="zh-CN" altLang="en-US" sz="1600" b="1" kern="1200">
                              <a:solidFill>
                                <a:schemeClr val="accent2">
                                  <a:lumMod val="50000"/>
                                </a:schemeClr>
                              </a:solidFill>
                              <a:latin typeface="+mn-lt"/>
                              <a:ea typeface="+mn-ea"/>
                              <a:cs typeface="+mn-cs"/>
                            </a:rPr>
                            <a:t>恰好含有</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𝒓</m:t>
                              </m:r>
                            </m:oMath>
                          </a14:m>
                          <a:r>
                            <a:rPr lang="zh-CN" altLang="en-US" sz="1600" b="1" kern="1200">
                              <a:solidFill>
                                <a:schemeClr val="accent2">
                                  <a:lumMod val="50000"/>
                                </a:schemeClr>
                              </a:solidFill>
                              <a:latin typeface="+mn-lt"/>
                              <a:ea typeface="+mn-ea"/>
                              <a:cs typeface="+mn-cs"/>
                            </a:rPr>
                            <a:t>个</a:t>
                          </a:r>
                          <a:r>
                            <a:rPr lang="en-US" altLang="zh-CN" sz="1600" b="1" kern="1200">
                              <a:solidFill>
                                <a:schemeClr val="accent2">
                                  <a:lumMod val="50000"/>
                                </a:schemeClr>
                              </a:solidFill>
                              <a:latin typeface="+mn-lt"/>
                              <a:ea typeface="+mn-ea"/>
                              <a:cs typeface="+mn-cs"/>
                            </a:rPr>
                            <a:t>1</a:t>
                          </a:r>
                          <a:r>
                            <a:rPr lang="zh-CN" altLang="en-US" sz="1600" b="1" kern="1200">
                              <a:solidFill>
                                <a:schemeClr val="accent2">
                                  <a:lumMod val="50000"/>
                                </a:schemeClr>
                              </a:solidFill>
                              <a:latin typeface="+mn-lt"/>
                              <a:ea typeface="+mn-ea"/>
                              <a:cs typeface="+mn-cs"/>
                            </a:rPr>
                            <a:t>的二进制串个数</a:t>
                          </a:r>
                          <a:endParaRPr lang="zh-CN" altLang="en-US" sz="1600" b="1" kern="1200">
                            <a:solidFill>
                              <a:schemeClr val="accent2">
                                <a:lumMod val="50000"/>
                              </a:schemeClr>
                            </a:solidFill>
                            <a:latin typeface="+mn-lt"/>
                            <a:ea typeface="+mn-ea"/>
                            <a:cs typeface="+mn-cs"/>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𝑪</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𝒏</m:t>
                                </m:r>
                                <m:r>
                                  <a:rPr lang="en-US" altLang="zh-CN" sz="1600" b="1" i="1" kern="1200" smtClean="0">
                                    <a:solidFill>
                                      <a:srgbClr val="C00000"/>
                                    </a:solidFill>
                                    <a:latin typeface="Cambria Math" panose="02040503050406030204" pitchFamily="18" charset="0"/>
                                    <a:ea typeface="+mn-ea"/>
                                    <a:cs typeface="+mn-cs"/>
                                  </a:rPr>
                                  <m:t>, </m:t>
                                </m:r>
                                <m:r>
                                  <a:rPr lang="en-US" altLang="zh-CN" sz="1600" b="1" i="1" kern="1200" smtClean="0">
                                    <a:solidFill>
                                      <a:srgbClr val="C00000"/>
                                    </a:solidFill>
                                    <a:latin typeface="Cambria Math" panose="02040503050406030204" pitchFamily="18" charset="0"/>
                                    <a:ea typeface="+mn-ea"/>
                                    <a:cs typeface="+mn-cs"/>
                                  </a:rPr>
                                  <m:t>𝒓</m:t>
                                </m:r>
                                <m:r>
                                  <a:rPr lang="en-US" altLang="zh-CN" sz="1600" b="1" i="1" kern="1200" smtClean="0">
                                    <a:solidFill>
                                      <a:srgbClr val="C00000"/>
                                    </a:solidFill>
                                    <a:latin typeface="Cambria Math" panose="02040503050406030204" pitchFamily="18" charset="0"/>
                                    <a:ea typeface="+mn-ea"/>
                                    <a:cs typeface="+mn-cs"/>
                                  </a:rPr>
                                  <m:t>)</m:t>
                                </m:r>
                              </m:oMath>
                            </m:oMathPara>
                          </a14:m>
                          <a:endParaRPr lang="zh-CN" altLang="en-US" sz="1600" b="1" i="1" kern="1200">
                            <a:solidFill>
                              <a:srgbClr val="C00000"/>
                            </a:solidFill>
                            <a:latin typeface="Cambria Math" panose="02040503050406030204" pitchFamily="18" charset="0"/>
                            <a:ea typeface="+mn-ea"/>
                            <a:cs typeface="+mn-cs"/>
                          </a:endParaRPr>
                        </a:p>
                      </a:txBody>
                      <a:tcPr anchor="ct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𝒏</m:t>
                              </m:r>
                            </m:oMath>
                          </a14:m>
                          <a:r>
                            <a:rPr lang="zh-CN" altLang="en-US" sz="1600" b="1" kern="1200">
                              <a:solidFill>
                                <a:schemeClr val="accent2">
                                  <a:lumMod val="50000"/>
                                </a:schemeClr>
                              </a:solidFill>
                              <a:latin typeface="+mn-lt"/>
                              <a:ea typeface="+mn-ea"/>
                              <a:cs typeface="+mn-cs"/>
                            </a:rPr>
                            <a:t>位学生推选</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𝒓</m:t>
                              </m:r>
                            </m:oMath>
                          </a14:m>
                          <a:r>
                            <a:rPr lang="zh-CN" altLang="en-US" sz="1600" b="1" kern="1200">
                              <a:solidFill>
                                <a:schemeClr val="accent2">
                                  <a:lumMod val="50000"/>
                                </a:schemeClr>
                              </a:solidFill>
                              <a:latin typeface="+mn-lt"/>
                              <a:ea typeface="+mn-ea"/>
                              <a:cs typeface="+mn-cs"/>
                            </a:rPr>
                            <a:t>位学生会干部的方法数</a:t>
                          </a:r>
                          <a:endParaRPr lang="zh-CN" altLang="en-US" sz="1600" b="1" kern="1200">
                            <a:solidFill>
                              <a:schemeClr val="accent2">
                                <a:lumMod val="50000"/>
                              </a:schemeClr>
                            </a:solidFill>
                            <a:latin typeface="+mn-lt"/>
                            <a:ea typeface="+mn-ea"/>
                            <a:cs typeface="+mn-cs"/>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𝑪</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𝒏</m:t>
                                </m:r>
                                <m:r>
                                  <a:rPr lang="en-US" altLang="zh-CN" sz="1600" b="1" i="1" kern="1200" smtClean="0">
                                    <a:solidFill>
                                      <a:srgbClr val="C00000"/>
                                    </a:solidFill>
                                    <a:latin typeface="Cambria Math" panose="02040503050406030204" pitchFamily="18" charset="0"/>
                                    <a:ea typeface="+mn-ea"/>
                                    <a:cs typeface="+mn-cs"/>
                                  </a:rPr>
                                  <m:t>, </m:t>
                                </m:r>
                                <m:r>
                                  <a:rPr lang="en-US" altLang="zh-CN" sz="1600" b="1" i="1" kern="1200" smtClean="0">
                                    <a:solidFill>
                                      <a:srgbClr val="C00000"/>
                                    </a:solidFill>
                                    <a:latin typeface="Cambria Math" panose="02040503050406030204" pitchFamily="18" charset="0"/>
                                    <a:ea typeface="+mn-ea"/>
                                    <a:cs typeface="+mn-cs"/>
                                  </a:rPr>
                                  <m:t>𝒓</m:t>
                                </m:r>
                                <m:r>
                                  <a:rPr lang="en-US" altLang="zh-CN" sz="1600" b="1" i="1" kern="1200" smtClean="0">
                                    <a:solidFill>
                                      <a:srgbClr val="C00000"/>
                                    </a:solidFill>
                                    <a:latin typeface="Cambria Math" panose="02040503050406030204" pitchFamily="18" charset="0"/>
                                    <a:ea typeface="+mn-ea"/>
                                    <a:cs typeface="+mn-cs"/>
                                  </a:rPr>
                                  <m:t>)</m:t>
                                </m:r>
                              </m:oMath>
                            </m:oMathPara>
                          </a14:m>
                          <a:endParaRPr lang="zh-CN" altLang="en-US" sz="1600" b="1" i="1" kern="1200">
                            <a:solidFill>
                              <a:srgbClr val="C00000"/>
                            </a:solidFill>
                            <a:latin typeface="Cambria Math" panose="02040503050406030204" pitchFamily="18" charset="0"/>
                            <a:ea typeface="+mn-ea"/>
                            <a:cs typeface="+mn-cs"/>
                          </a:endParaRPr>
                        </a:p>
                      </a:txBody>
                      <a:tcPr anchor="ctr"/>
                    </a:tc>
                  </a:tr>
                  <a:tr h="370840">
                    <a:tc>
                      <a:txBody>
                        <a:bodyPr/>
                        <a:lstStyle/>
                        <a:p>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𝒎</m:t>
                              </m:r>
                            </m:oMath>
                          </a14:m>
                          <a:r>
                            <a:rPr lang="zh-CN" altLang="en-US" sz="1600" b="1" kern="1200">
                              <a:solidFill>
                                <a:schemeClr val="accent2">
                                  <a:lumMod val="50000"/>
                                </a:schemeClr>
                              </a:solidFill>
                              <a:latin typeface="+mn-lt"/>
                              <a:ea typeface="+mn-ea"/>
                              <a:cs typeface="+mn-cs"/>
                            </a:rPr>
                            <a:t>个</a:t>
                          </a:r>
                          <a:r>
                            <a:rPr lang="en-US" altLang="zh-CN" sz="1600" b="1" kern="1200">
                              <a:solidFill>
                                <a:schemeClr val="accent2">
                                  <a:lumMod val="50000"/>
                                </a:schemeClr>
                              </a:solidFill>
                              <a:latin typeface="+mn-lt"/>
                              <a:ea typeface="+mn-ea"/>
                              <a:cs typeface="+mn-cs"/>
                            </a:rPr>
                            <a:t>A</a:t>
                          </a:r>
                          <a:r>
                            <a:rPr lang="zh-CN" altLang="en-US" sz="1600" b="1" kern="1200">
                              <a:solidFill>
                                <a:schemeClr val="accent2">
                                  <a:lumMod val="50000"/>
                                </a:schemeClr>
                              </a:solidFill>
                              <a:latin typeface="+mn-lt"/>
                              <a:ea typeface="+mn-ea"/>
                              <a:cs typeface="+mn-cs"/>
                            </a:rPr>
                            <a:t>类字符，</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𝒌</m:t>
                              </m:r>
                            </m:oMath>
                          </a14:m>
                          <a:r>
                            <a:rPr lang="zh-CN" altLang="en-US" sz="1600" b="1" kern="1200">
                              <a:solidFill>
                                <a:schemeClr val="accent2">
                                  <a:lumMod val="50000"/>
                                </a:schemeClr>
                              </a:solidFill>
                              <a:latin typeface="+mn-lt"/>
                              <a:ea typeface="+mn-ea"/>
                              <a:cs typeface="+mn-cs"/>
                            </a:rPr>
                            <a:t>个</a:t>
                          </a:r>
                          <a:r>
                            <a:rPr lang="en-US" altLang="zh-CN" sz="1600" b="1" kern="1200">
                              <a:solidFill>
                                <a:schemeClr val="accent2">
                                  <a:lumMod val="50000"/>
                                </a:schemeClr>
                              </a:solidFill>
                              <a:latin typeface="+mn-lt"/>
                              <a:ea typeface="+mn-ea"/>
                              <a:cs typeface="+mn-cs"/>
                            </a:rPr>
                            <a:t>B</a:t>
                          </a:r>
                          <a:r>
                            <a:rPr lang="zh-CN" altLang="en-US" sz="1600" b="1" kern="1200">
                              <a:solidFill>
                                <a:schemeClr val="accent2">
                                  <a:lumMod val="50000"/>
                                </a:schemeClr>
                              </a:solidFill>
                              <a:latin typeface="+mn-lt"/>
                              <a:ea typeface="+mn-ea"/>
                              <a:cs typeface="+mn-cs"/>
                            </a:rPr>
                            <a:t>类字符构成的字符集上长度为</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𝒏</m:t>
                              </m:r>
                            </m:oMath>
                          </a14:m>
                          <a:r>
                            <a:rPr lang="zh-CN" altLang="en-US" sz="1600" b="1" kern="1200">
                              <a:solidFill>
                                <a:schemeClr val="accent2">
                                  <a:lumMod val="50000"/>
                                </a:schemeClr>
                              </a:solidFill>
                              <a:latin typeface="+mn-lt"/>
                              <a:ea typeface="+mn-ea"/>
                              <a:cs typeface="+mn-cs"/>
                            </a:rPr>
                            <a:t>且恰好含有</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𝒓</m:t>
                              </m:r>
                            </m:oMath>
                          </a14:m>
                          <a:r>
                            <a:rPr lang="zh-CN" altLang="en-US" sz="1600" b="1" kern="1200">
                              <a:solidFill>
                                <a:schemeClr val="accent2">
                                  <a:lumMod val="50000"/>
                                </a:schemeClr>
                              </a:solidFill>
                              <a:latin typeface="+mn-lt"/>
                              <a:ea typeface="+mn-ea"/>
                              <a:cs typeface="+mn-cs"/>
                            </a:rPr>
                            <a:t>个</a:t>
                          </a:r>
                          <a:r>
                            <a:rPr lang="en-US" altLang="zh-CN" sz="1600" b="1" kern="1200">
                              <a:solidFill>
                                <a:schemeClr val="accent2">
                                  <a:lumMod val="50000"/>
                                </a:schemeClr>
                              </a:solidFill>
                              <a:latin typeface="+mn-lt"/>
                              <a:ea typeface="+mn-ea"/>
                              <a:cs typeface="+mn-cs"/>
                            </a:rPr>
                            <a:t>A</a:t>
                          </a:r>
                          <a:r>
                            <a:rPr lang="zh-CN" altLang="en-US" sz="1600" b="1" kern="1200">
                              <a:solidFill>
                                <a:schemeClr val="accent2">
                                  <a:lumMod val="50000"/>
                                </a:schemeClr>
                              </a:solidFill>
                              <a:latin typeface="+mn-lt"/>
                              <a:ea typeface="+mn-ea"/>
                              <a:cs typeface="+mn-cs"/>
                            </a:rPr>
                            <a:t>类字符的允许字符重复的字符串数</a:t>
                          </a:r>
                          <a:endParaRPr lang="zh-CN" altLang="en-US" sz="1600" b="1" kern="1200">
                            <a:solidFill>
                              <a:schemeClr val="accent2">
                                <a:lumMod val="50000"/>
                              </a:schemeClr>
                            </a:solidFill>
                            <a:latin typeface="+mn-lt"/>
                            <a:ea typeface="+mn-ea"/>
                            <a:cs typeface="+mn-cs"/>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 </m:t>
                                </m:r>
                                <m:r>
                                  <a:rPr lang="en-US" altLang="zh-CN" sz="1600" b="1" i="1" kern="1200" smtClean="0">
                                    <a:solidFill>
                                      <a:srgbClr val="C00000"/>
                                    </a:solidFill>
                                    <a:latin typeface="Cambria Math" panose="02040503050406030204" pitchFamily="18" charset="0"/>
                                    <a:ea typeface="+mn-ea"/>
                                    <a:cs typeface="+mn-cs"/>
                                  </a:rPr>
                                  <m:t>𝑪</m:t>
                                </m:r>
                                <m:d>
                                  <m:dPr>
                                    <m:ctrlPr>
                                      <a:rPr lang="en-US" altLang="zh-CN" sz="1600" b="1" i="1" kern="1200" smtClean="0">
                                        <a:solidFill>
                                          <a:srgbClr val="C00000"/>
                                        </a:solidFill>
                                        <a:latin typeface="Cambria Math" panose="02040503050406030204" pitchFamily="18" charset="0"/>
                                        <a:ea typeface="+mn-ea"/>
                                        <a:cs typeface="+mn-cs"/>
                                      </a:rPr>
                                    </m:ctrlPr>
                                  </m:dPr>
                                  <m:e>
                                    <m:r>
                                      <a:rPr lang="en-US" altLang="zh-CN" sz="1600" b="1" i="1" kern="1200" smtClean="0">
                                        <a:solidFill>
                                          <a:srgbClr val="C00000"/>
                                        </a:solidFill>
                                        <a:latin typeface="Cambria Math" panose="02040503050406030204" pitchFamily="18" charset="0"/>
                                        <a:ea typeface="+mn-ea"/>
                                        <a:cs typeface="+mn-cs"/>
                                      </a:rPr>
                                      <m:t>𝒏</m:t>
                                    </m:r>
                                    <m:r>
                                      <a:rPr lang="en-US" altLang="zh-CN" sz="1600" b="1" i="1" kern="1200" smtClean="0">
                                        <a:solidFill>
                                          <a:srgbClr val="C00000"/>
                                        </a:solidFill>
                                        <a:latin typeface="Cambria Math" panose="02040503050406030204" pitchFamily="18" charset="0"/>
                                        <a:ea typeface="+mn-ea"/>
                                        <a:cs typeface="+mn-cs"/>
                                      </a:rPr>
                                      <m:t>, </m:t>
                                    </m:r>
                                    <m:r>
                                      <a:rPr lang="en-US" altLang="zh-CN" sz="1600" b="1" i="1" kern="1200" smtClean="0">
                                        <a:solidFill>
                                          <a:srgbClr val="C00000"/>
                                        </a:solidFill>
                                        <a:latin typeface="Cambria Math" panose="02040503050406030204" pitchFamily="18" charset="0"/>
                                        <a:ea typeface="+mn-ea"/>
                                        <a:cs typeface="+mn-cs"/>
                                      </a:rPr>
                                      <m:t>𝒓</m:t>
                                    </m:r>
                                  </m:e>
                                </m:d>
                                <m:sSup>
                                  <m:sSupPr>
                                    <m:ctrlPr>
                                      <a:rPr lang="en-US" altLang="zh-CN" sz="1600" b="1" i="1" kern="1200" smtClean="0">
                                        <a:solidFill>
                                          <a:srgbClr val="C00000"/>
                                        </a:solidFill>
                                        <a:latin typeface="Cambria Math" panose="02040503050406030204" pitchFamily="18" charset="0"/>
                                        <a:ea typeface="+mn-ea"/>
                                        <a:cs typeface="+mn-cs"/>
                                      </a:rPr>
                                    </m:ctrlPr>
                                  </m:sSupPr>
                                  <m:e>
                                    <m:r>
                                      <a:rPr lang="en-US" altLang="zh-CN" sz="1600" b="1" i="1" kern="1200" smtClean="0">
                                        <a:solidFill>
                                          <a:srgbClr val="C00000"/>
                                        </a:solidFill>
                                        <a:latin typeface="Cambria Math" panose="02040503050406030204" pitchFamily="18" charset="0"/>
                                        <a:ea typeface="+mn-ea"/>
                                        <a:cs typeface="+mn-cs"/>
                                      </a:rPr>
                                      <m:t>𝒎</m:t>
                                    </m:r>
                                  </m:e>
                                  <m:sup>
                                    <m:r>
                                      <a:rPr lang="en-US" altLang="zh-CN" sz="1600" b="1" i="1" kern="1200" smtClean="0">
                                        <a:solidFill>
                                          <a:srgbClr val="C00000"/>
                                        </a:solidFill>
                                        <a:latin typeface="Cambria Math" panose="02040503050406030204" pitchFamily="18" charset="0"/>
                                        <a:ea typeface="+mn-ea"/>
                                        <a:cs typeface="+mn-cs"/>
                                      </a:rPr>
                                      <m:t>𝒓</m:t>
                                    </m:r>
                                  </m:sup>
                                </m:sSup>
                                <m:sSup>
                                  <m:sSupPr>
                                    <m:ctrlPr>
                                      <a:rPr lang="en-US" altLang="zh-CN" sz="1600" b="1" i="1" kern="1200" smtClean="0">
                                        <a:solidFill>
                                          <a:srgbClr val="C00000"/>
                                        </a:solidFill>
                                        <a:latin typeface="Cambria Math" panose="02040503050406030204" pitchFamily="18" charset="0"/>
                                        <a:ea typeface="+mn-ea"/>
                                        <a:cs typeface="+mn-cs"/>
                                      </a:rPr>
                                    </m:ctrlPr>
                                  </m:sSupPr>
                                  <m:e>
                                    <m:r>
                                      <a:rPr lang="en-US" altLang="zh-CN" sz="1600" b="1" i="1" kern="1200" smtClean="0">
                                        <a:solidFill>
                                          <a:srgbClr val="C00000"/>
                                        </a:solidFill>
                                        <a:latin typeface="Cambria Math" panose="02040503050406030204" pitchFamily="18" charset="0"/>
                                        <a:ea typeface="+mn-ea"/>
                                        <a:cs typeface="+mn-cs"/>
                                      </a:rPr>
                                      <m:t>𝒌</m:t>
                                    </m:r>
                                  </m:e>
                                  <m:sup>
                                    <m:r>
                                      <a:rPr lang="en-US" altLang="zh-CN" sz="1600" b="1" i="1" kern="1200" smtClean="0">
                                        <a:solidFill>
                                          <a:srgbClr val="C00000"/>
                                        </a:solidFill>
                                        <a:latin typeface="Cambria Math" panose="02040503050406030204" pitchFamily="18" charset="0"/>
                                        <a:ea typeface="+mn-ea"/>
                                        <a:cs typeface="+mn-cs"/>
                                      </a:rPr>
                                      <m:t>𝒏</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𝒓</m:t>
                                    </m:r>
                                  </m:sup>
                                </m:sSup>
                              </m:oMath>
                            </m:oMathPara>
                          </a14:m>
                          <a:endParaRPr lang="zh-CN" altLang="en-US" sz="1600" b="1" i="1" kern="1200">
                            <a:solidFill>
                              <a:srgbClr val="C00000"/>
                            </a:solidFill>
                            <a:latin typeface="Cambria Math" panose="02040503050406030204" pitchFamily="18" charset="0"/>
                            <a:ea typeface="+mn-ea"/>
                            <a:cs typeface="+mn-cs"/>
                          </a:endParaRPr>
                        </a:p>
                      </a:txBody>
                      <a:tcPr anchor="ctr"/>
                    </a:tc>
                  </a:tr>
                  <a:tr h="370840">
                    <a:tc>
                      <a:txBody>
                        <a:bodyPr/>
                        <a:lstStyle/>
                        <a:p>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𝒎</m:t>
                              </m:r>
                            </m:oMath>
                          </a14:m>
                          <a:r>
                            <a:rPr lang="zh-CN" altLang="en-US" sz="1600" b="1" kern="1200">
                              <a:solidFill>
                                <a:schemeClr val="accent2">
                                  <a:lumMod val="50000"/>
                                </a:schemeClr>
                              </a:solidFill>
                              <a:latin typeface="+mn-lt"/>
                              <a:ea typeface="+mn-ea"/>
                              <a:cs typeface="+mn-cs"/>
                            </a:rPr>
                            <a:t>个</a:t>
                          </a:r>
                          <a:r>
                            <a:rPr lang="en-US" altLang="zh-CN" sz="1600" b="1" kern="1200">
                              <a:solidFill>
                                <a:schemeClr val="accent2">
                                  <a:lumMod val="50000"/>
                                </a:schemeClr>
                              </a:solidFill>
                              <a:latin typeface="+mn-lt"/>
                              <a:ea typeface="+mn-ea"/>
                              <a:cs typeface="+mn-cs"/>
                            </a:rPr>
                            <a:t>A</a:t>
                          </a:r>
                          <a:r>
                            <a:rPr lang="zh-CN" altLang="en-US" sz="1600" b="1" kern="1200">
                              <a:solidFill>
                                <a:schemeClr val="accent2">
                                  <a:lumMod val="50000"/>
                                </a:schemeClr>
                              </a:solidFill>
                              <a:latin typeface="+mn-lt"/>
                              <a:ea typeface="+mn-ea"/>
                              <a:cs typeface="+mn-cs"/>
                            </a:rPr>
                            <a:t>类字符，</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𝒌</m:t>
                              </m:r>
                            </m:oMath>
                          </a14:m>
                          <a:r>
                            <a:rPr lang="zh-CN" altLang="en-US" sz="1600" b="1" kern="1200">
                              <a:solidFill>
                                <a:schemeClr val="accent2">
                                  <a:lumMod val="50000"/>
                                </a:schemeClr>
                              </a:solidFill>
                              <a:latin typeface="+mn-lt"/>
                              <a:ea typeface="+mn-ea"/>
                              <a:cs typeface="+mn-cs"/>
                            </a:rPr>
                            <a:t>个</a:t>
                          </a:r>
                          <a:r>
                            <a:rPr lang="en-US" altLang="zh-CN" sz="1600" b="1" kern="1200">
                              <a:solidFill>
                                <a:schemeClr val="accent2">
                                  <a:lumMod val="50000"/>
                                </a:schemeClr>
                              </a:solidFill>
                              <a:latin typeface="+mn-lt"/>
                              <a:ea typeface="+mn-ea"/>
                              <a:cs typeface="+mn-cs"/>
                            </a:rPr>
                            <a:t>B</a:t>
                          </a:r>
                          <a:r>
                            <a:rPr lang="zh-CN" altLang="en-US" sz="1600" b="1" kern="1200">
                              <a:solidFill>
                                <a:schemeClr val="accent2">
                                  <a:lumMod val="50000"/>
                                </a:schemeClr>
                              </a:solidFill>
                              <a:latin typeface="+mn-lt"/>
                              <a:ea typeface="+mn-ea"/>
                              <a:cs typeface="+mn-cs"/>
                            </a:rPr>
                            <a:t>类字符构成的字符集上长度为</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𝒏</m:t>
                              </m:r>
                            </m:oMath>
                          </a14:m>
                          <a:r>
                            <a:rPr lang="zh-CN" altLang="en-US" sz="1600" b="1" kern="1200">
                              <a:solidFill>
                                <a:schemeClr val="accent2">
                                  <a:lumMod val="50000"/>
                                </a:schemeClr>
                              </a:solidFill>
                              <a:latin typeface="+mn-lt"/>
                              <a:ea typeface="+mn-ea"/>
                              <a:cs typeface="+mn-cs"/>
                            </a:rPr>
                            <a:t>且恰好含有</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𝒓</m:t>
                              </m:r>
                            </m:oMath>
                          </a14:m>
                          <a:r>
                            <a:rPr lang="zh-CN" altLang="en-US" sz="1600" b="1" kern="1200">
                              <a:solidFill>
                                <a:schemeClr val="accent2">
                                  <a:lumMod val="50000"/>
                                </a:schemeClr>
                              </a:solidFill>
                              <a:latin typeface="+mn-lt"/>
                              <a:ea typeface="+mn-ea"/>
                              <a:cs typeface="+mn-cs"/>
                            </a:rPr>
                            <a:t>个</a:t>
                          </a:r>
                          <a:r>
                            <a:rPr lang="en-US" altLang="zh-CN" sz="1600" b="1" kern="1200">
                              <a:solidFill>
                                <a:schemeClr val="accent2">
                                  <a:lumMod val="50000"/>
                                </a:schemeClr>
                              </a:solidFill>
                              <a:latin typeface="+mn-lt"/>
                              <a:ea typeface="+mn-ea"/>
                              <a:cs typeface="+mn-cs"/>
                            </a:rPr>
                            <a:t>A</a:t>
                          </a:r>
                          <a:r>
                            <a:rPr lang="zh-CN" altLang="en-US" sz="1600" b="1" kern="1200">
                              <a:solidFill>
                                <a:schemeClr val="accent2">
                                  <a:lumMod val="50000"/>
                                </a:schemeClr>
                              </a:solidFill>
                              <a:latin typeface="+mn-lt"/>
                              <a:ea typeface="+mn-ea"/>
                              <a:cs typeface="+mn-cs"/>
                            </a:rPr>
                            <a:t>类字符的字符不重复的字符串数</a:t>
                          </a:r>
                          <a:endParaRPr lang="zh-CN" altLang="en-US" sz="1600" b="1" kern="1200">
                            <a:solidFill>
                              <a:schemeClr val="accent2">
                                <a:lumMod val="50000"/>
                              </a:schemeClr>
                            </a:solidFill>
                            <a:latin typeface="+mn-lt"/>
                            <a:ea typeface="+mn-ea"/>
                            <a:cs typeface="+mn-cs"/>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𝑪</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𝒏</m:t>
                                </m:r>
                                <m:r>
                                  <a:rPr lang="en-US" altLang="zh-CN" sz="1600" b="1" i="1" kern="1200" smtClean="0">
                                    <a:solidFill>
                                      <a:srgbClr val="C00000"/>
                                    </a:solidFill>
                                    <a:latin typeface="Cambria Math" panose="02040503050406030204" pitchFamily="18" charset="0"/>
                                    <a:ea typeface="+mn-ea"/>
                                    <a:cs typeface="+mn-cs"/>
                                  </a:rPr>
                                  <m:t>, </m:t>
                                </m:r>
                                <m:r>
                                  <a:rPr lang="en-US" altLang="zh-CN" sz="1600" b="1" i="1" kern="1200" smtClean="0">
                                    <a:solidFill>
                                      <a:srgbClr val="C00000"/>
                                    </a:solidFill>
                                    <a:latin typeface="Cambria Math" panose="02040503050406030204" pitchFamily="18" charset="0"/>
                                    <a:ea typeface="+mn-ea"/>
                                    <a:cs typeface="+mn-cs"/>
                                  </a:rPr>
                                  <m:t>𝒓</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𝑷</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𝒎</m:t>
                                </m:r>
                                <m:r>
                                  <a:rPr lang="en-US" altLang="zh-CN" sz="1600" b="1" i="1" kern="1200" smtClean="0">
                                    <a:solidFill>
                                      <a:srgbClr val="C00000"/>
                                    </a:solidFill>
                                    <a:latin typeface="Cambria Math" panose="02040503050406030204" pitchFamily="18" charset="0"/>
                                    <a:ea typeface="+mn-ea"/>
                                    <a:cs typeface="+mn-cs"/>
                                  </a:rPr>
                                  <m:t>, </m:t>
                                </m:r>
                                <m:r>
                                  <a:rPr lang="en-US" altLang="zh-CN" sz="1600" b="1" i="1" kern="1200" smtClean="0">
                                    <a:solidFill>
                                      <a:srgbClr val="C00000"/>
                                    </a:solidFill>
                                    <a:latin typeface="Cambria Math" panose="02040503050406030204" pitchFamily="18" charset="0"/>
                                    <a:ea typeface="+mn-ea"/>
                                    <a:cs typeface="+mn-cs"/>
                                  </a:rPr>
                                  <m:t>𝒓</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𝑷</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𝒌</m:t>
                                </m:r>
                                <m:r>
                                  <a:rPr lang="en-US" altLang="zh-CN" sz="1600" b="1" i="1" kern="1200" smtClean="0">
                                    <a:solidFill>
                                      <a:srgbClr val="C00000"/>
                                    </a:solidFill>
                                    <a:latin typeface="Cambria Math" panose="02040503050406030204" pitchFamily="18" charset="0"/>
                                    <a:ea typeface="+mn-ea"/>
                                    <a:cs typeface="+mn-cs"/>
                                  </a:rPr>
                                  <m:t>, </m:t>
                                </m:r>
                                <m:r>
                                  <a:rPr lang="en-US" altLang="zh-CN" sz="1600" b="1" i="1" kern="1200" smtClean="0">
                                    <a:solidFill>
                                      <a:srgbClr val="C00000"/>
                                    </a:solidFill>
                                    <a:latin typeface="Cambria Math" panose="02040503050406030204" pitchFamily="18" charset="0"/>
                                    <a:ea typeface="+mn-ea"/>
                                    <a:cs typeface="+mn-cs"/>
                                  </a:rPr>
                                  <m:t>𝒏</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𝒓</m:t>
                                </m:r>
                                <m:r>
                                  <a:rPr lang="en-US" altLang="zh-CN" sz="1600" b="1" i="1" kern="1200" smtClean="0">
                                    <a:solidFill>
                                      <a:srgbClr val="C00000"/>
                                    </a:solidFill>
                                    <a:latin typeface="Cambria Math" panose="02040503050406030204" pitchFamily="18" charset="0"/>
                                    <a:ea typeface="+mn-ea"/>
                                    <a:cs typeface="+mn-cs"/>
                                  </a:rPr>
                                  <m:t>)</m:t>
                                </m:r>
                              </m:oMath>
                            </m:oMathPara>
                          </a14:m>
                          <a:endParaRPr lang="zh-CN" altLang="en-US" sz="1600" b="1" i="1" kern="1200">
                            <a:solidFill>
                              <a:srgbClr val="C00000"/>
                            </a:solidFill>
                            <a:latin typeface="Cambria Math" panose="02040503050406030204" pitchFamily="18" charset="0"/>
                            <a:ea typeface="+mn-ea"/>
                            <a:cs typeface="+mn-cs"/>
                          </a:endParaRPr>
                        </a:p>
                      </a:txBody>
                      <a:tcPr anchor="ctr"/>
                    </a:tc>
                  </a:tr>
                  <a:tr h="370840">
                    <a:tc>
                      <a:txBody>
                        <a:bodyPr/>
                        <a:lstStyle/>
                        <a:p>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𝒎</m:t>
                              </m:r>
                            </m:oMath>
                          </a14:m>
                          <a:r>
                            <a:rPr lang="zh-CN" altLang="en-US" sz="1600" b="1" kern="1200">
                              <a:solidFill>
                                <a:schemeClr val="accent2">
                                  <a:lumMod val="50000"/>
                                </a:schemeClr>
                              </a:solidFill>
                              <a:latin typeface="+mn-lt"/>
                              <a:ea typeface="+mn-ea"/>
                              <a:cs typeface="+mn-cs"/>
                            </a:rPr>
                            <a:t>个</a:t>
                          </a:r>
                          <a:r>
                            <a:rPr lang="en-US" altLang="zh-CN" sz="1600" b="1" kern="1200">
                              <a:solidFill>
                                <a:schemeClr val="accent2">
                                  <a:lumMod val="50000"/>
                                </a:schemeClr>
                              </a:solidFill>
                              <a:latin typeface="+mn-lt"/>
                              <a:ea typeface="+mn-ea"/>
                              <a:cs typeface="+mn-cs"/>
                            </a:rPr>
                            <a:t>A</a:t>
                          </a:r>
                          <a:r>
                            <a:rPr lang="zh-CN" altLang="en-US" sz="1600" b="1" kern="1200">
                              <a:solidFill>
                                <a:schemeClr val="accent2">
                                  <a:lumMod val="50000"/>
                                </a:schemeClr>
                              </a:solidFill>
                              <a:latin typeface="+mn-lt"/>
                              <a:ea typeface="+mn-ea"/>
                              <a:cs typeface="+mn-cs"/>
                            </a:rPr>
                            <a:t>类人，</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𝒌</m:t>
                              </m:r>
                            </m:oMath>
                          </a14:m>
                          <a:r>
                            <a:rPr lang="zh-CN" altLang="en-US" sz="1600" b="1" kern="1200">
                              <a:solidFill>
                                <a:schemeClr val="accent2">
                                  <a:lumMod val="50000"/>
                                </a:schemeClr>
                              </a:solidFill>
                              <a:latin typeface="+mn-lt"/>
                              <a:ea typeface="+mn-ea"/>
                              <a:cs typeface="+mn-cs"/>
                            </a:rPr>
                            <a:t>个</a:t>
                          </a:r>
                          <a:r>
                            <a:rPr lang="en-US" altLang="zh-CN" sz="1600" b="1" kern="1200">
                              <a:solidFill>
                                <a:schemeClr val="accent2">
                                  <a:lumMod val="50000"/>
                                </a:schemeClr>
                              </a:solidFill>
                              <a:latin typeface="+mn-lt"/>
                              <a:ea typeface="+mn-ea"/>
                              <a:cs typeface="+mn-cs"/>
                            </a:rPr>
                            <a:t>B</a:t>
                          </a:r>
                          <a:r>
                            <a:rPr lang="zh-CN" altLang="en-US" sz="1600" b="1" kern="1200">
                              <a:solidFill>
                                <a:schemeClr val="accent2">
                                  <a:lumMod val="50000"/>
                                </a:schemeClr>
                              </a:solidFill>
                              <a:latin typeface="+mn-lt"/>
                              <a:ea typeface="+mn-ea"/>
                              <a:cs typeface="+mn-cs"/>
                            </a:rPr>
                            <a:t>类人推选</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𝒏</m:t>
                              </m:r>
                            </m:oMath>
                          </a14:m>
                          <a:r>
                            <a:rPr lang="zh-CN" altLang="en-US" sz="1600" b="1" kern="1200">
                              <a:solidFill>
                                <a:schemeClr val="accent2">
                                  <a:lumMod val="50000"/>
                                </a:schemeClr>
                              </a:solidFill>
                              <a:latin typeface="+mn-lt"/>
                              <a:ea typeface="+mn-ea"/>
                              <a:cs typeface="+mn-cs"/>
                            </a:rPr>
                            <a:t>位代表且恰好含有</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𝒓</m:t>
                              </m:r>
                            </m:oMath>
                          </a14:m>
                          <a:r>
                            <a:rPr lang="zh-CN" altLang="en-US" sz="1600" b="1" kern="1200">
                              <a:solidFill>
                                <a:schemeClr val="accent2">
                                  <a:lumMod val="50000"/>
                                </a:schemeClr>
                              </a:solidFill>
                              <a:latin typeface="+mn-lt"/>
                              <a:ea typeface="+mn-ea"/>
                              <a:cs typeface="+mn-cs"/>
                            </a:rPr>
                            <a:t>个</a:t>
                          </a:r>
                          <a:r>
                            <a:rPr lang="en-US" altLang="zh-CN" sz="1600" b="1" kern="1200">
                              <a:solidFill>
                                <a:schemeClr val="accent2">
                                  <a:lumMod val="50000"/>
                                </a:schemeClr>
                              </a:solidFill>
                              <a:latin typeface="+mn-lt"/>
                              <a:ea typeface="+mn-ea"/>
                              <a:cs typeface="+mn-cs"/>
                            </a:rPr>
                            <a:t>A</a:t>
                          </a:r>
                          <a:r>
                            <a:rPr lang="zh-CN" altLang="en-US" sz="1600" b="1" kern="1200">
                              <a:solidFill>
                                <a:schemeClr val="accent2">
                                  <a:lumMod val="50000"/>
                                </a:schemeClr>
                              </a:solidFill>
                              <a:latin typeface="+mn-lt"/>
                              <a:ea typeface="+mn-ea"/>
                              <a:cs typeface="+mn-cs"/>
                            </a:rPr>
                            <a:t>类人的推选方法数</a:t>
                          </a:r>
                          <a:endParaRPr lang="zh-CN" altLang="en-US" sz="1600" b="1" kern="1200">
                            <a:solidFill>
                              <a:schemeClr val="accent2">
                                <a:lumMod val="50000"/>
                              </a:schemeClr>
                            </a:solidFill>
                            <a:latin typeface="+mn-lt"/>
                            <a:ea typeface="+mn-ea"/>
                            <a:cs typeface="+mn-cs"/>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𝑪</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𝒎</m:t>
                                </m:r>
                                <m:r>
                                  <a:rPr lang="en-US" altLang="zh-CN" sz="1600" b="1" i="1" kern="1200" smtClean="0">
                                    <a:solidFill>
                                      <a:srgbClr val="C00000"/>
                                    </a:solidFill>
                                    <a:latin typeface="Cambria Math" panose="02040503050406030204" pitchFamily="18" charset="0"/>
                                    <a:ea typeface="+mn-ea"/>
                                    <a:cs typeface="+mn-cs"/>
                                  </a:rPr>
                                  <m:t>, </m:t>
                                </m:r>
                                <m:r>
                                  <a:rPr lang="en-US" altLang="zh-CN" sz="1600" b="1" i="1" kern="1200" smtClean="0">
                                    <a:solidFill>
                                      <a:srgbClr val="C00000"/>
                                    </a:solidFill>
                                    <a:latin typeface="Cambria Math" panose="02040503050406030204" pitchFamily="18" charset="0"/>
                                    <a:ea typeface="+mn-ea"/>
                                    <a:cs typeface="+mn-cs"/>
                                  </a:rPr>
                                  <m:t>𝒓</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𝑪</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𝒌</m:t>
                                </m:r>
                                <m:r>
                                  <a:rPr lang="en-US" altLang="zh-CN" sz="1600" b="1" i="1" kern="1200" smtClean="0">
                                    <a:solidFill>
                                      <a:srgbClr val="C00000"/>
                                    </a:solidFill>
                                    <a:latin typeface="Cambria Math" panose="02040503050406030204" pitchFamily="18" charset="0"/>
                                    <a:ea typeface="+mn-ea"/>
                                    <a:cs typeface="+mn-cs"/>
                                  </a:rPr>
                                  <m:t>, </m:t>
                                </m:r>
                                <m:r>
                                  <a:rPr lang="en-US" altLang="zh-CN" sz="1600" b="1" i="1" kern="1200" smtClean="0">
                                    <a:solidFill>
                                      <a:srgbClr val="C00000"/>
                                    </a:solidFill>
                                    <a:latin typeface="Cambria Math" panose="02040503050406030204" pitchFamily="18" charset="0"/>
                                    <a:ea typeface="+mn-ea"/>
                                    <a:cs typeface="+mn-cs"/>
                                  </a:rPr>
                                  <m:t>𝒏</m:t>
                                </m:r>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𝒓</m:t>
                                </m:r>
                                <m:r>
                                  <a:rPr lang="en-US" altLang="zh-CN" sz="1600" b="1" i="1" kern="1200" smtClean="0">
                                    <a:solidFill>
                                      <a:srgbClr val="C00000"/>
                                    </a:solidFill>
                                    <a:latin typeface="Cambria Math" panose="02040503050406030204" pitchFamily="18" charset="0"/>
                                    <a:ea typeface="+mn-ea"/>
                                    <a:cs typeface="+mn-cs"/>
                                  </a:rPr>
                                  <m:t>)</m:t>
                                </m:r>
                              </m:oMath>
                            </m:oMathPara>
                          </a14:m>
                          <a:endParaRPr lang="zh-CN" altLang="en-US" sz="1600" b="1" i="1" kern="1200">
                            <a:solidFill>
                              <a:srgbClr val="C00000"/>
                            </a:solidFill>
                            <a:latin typeface="Cambria Math" panose="02040503050406030204" pitchFamily="18" charset="0"/>
                            <a:ea typeface="+mn-ea"/>
                            <a:cs typeface="+mn-cs"/>
                          </a:endParaRPr>
                        </a:p>
                      </a:txBody>
                      <a:tcPr anchor="ctr"/>
                    </a:tc>
                  </a:tr>
                  <a:tr h="370840">
                    <a:tc>
                      <a:txBody>
                        <a:bodyPr/>
                        <a:lstStyle/>
                        <a:p>
                          <a14:m>
                            <m:oMath xmlns:m="http://schemas.openxmlformats.org/officeDocument/2006/math">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𝒎</m:t>
                                  </m:r>
                                </m:e>
                                <m:sub>
                                  <m:r>
                                    <a:rPr lang="en-US" altLang="zh-CN" sz="1600" b="1" i="1" kern="1200" smtClean="0">
                                      <a:solidFill>
                                        <a:schemeClr val="accent2">
                                          <a:lumMod val="50000"/>
                                        </a:schemeClr>
                                      </a:solidFill>
                                      <a:latin typeface="Cambria Math" panose="02040503050406030204" pitchFamily="18" charset="0"/>
                                      <a:ea typeface="+mn-ea"/>
                                      <a:cs typeface="+mn-cs"/>
                                    </a:rPr>
                                    <m:t>𝟏</m:t>
                                  </m:r>
                                </m:sub>
                              </m:sSub>
                            </m:oMath>
                          </a14:m>
                          <a:r>
                            <a:rPr lang="zh-CN" altLang="en-US" sz="1600" b="1" kern="1200">
                              <a:solidFill>
                                <a:schemeClr val="accent2">
                                  <a:lumMod val="50000"/>
                                </a:schemeClr>
                              </a:solidFill>
                              <a:latin typeface="+mn-lt"/>
                              <a:ea typeface="+mn-ea"/>
                              <a:cs typeface="+mn-cs"/>
                            </a:rPr>
                            <a:t>个字符</a:t>
                          </a:r>
                          <a14:m>
                            <m:oMath xmlns:m="http://schemas.openxmlformats.org/officeDocument/2006/math">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𝒂</m:t>
                                  </m:r>
                                </m:e>
                                <m:sub>
                                  <m:r>
                                    <a:rPr lang="en-US" altLang="zh-CN" sz="1600" b="1" i="1" kern="1200" smtClean="0">
                                      <a:solidFill>
                                        <a:schemeClr val="accent2">
                                          <a:lumMod val="50000"/>
                                        </a:schemeClr>
                                      </a:solidFill>
                                      <a:latin typeface="Cambria Math" panose="02040503050406030204" pitchFamily="18" charset="0"/>
                                      <a:ea typeface="+mn-ea"/>
                                      <a:cs typeface="+mn-cs"/>
                                    </a:rPr>
                                    <m:t>𝟏</m:t>
                                  </m:r>
                                </m:sub>
                              </m:sSub>
                            </m:oMath>
                          </a14:m>
                          <a:r>
                            <a:rPr lang="en-US" altLang="zh-CN" sz="1600" b="1" kern="1200">
                              <a:solidFill>
                                <a:schemeClr val="accent2">
                                  <a:lumMod val="50000"/>
                                </a:schemeClr>
                              </a:solidFill>
                              <a:latin typeface="+mn-lt"/>
                              <a:ea typeface="+mn-ea"/>
                              <a:cs typeface="+mn-cs"/>
                            </a:rPr>
                            <a:t>, </a:t>
                          </a:r>
                          <a14:m>
                            <m:oMath xmlns:m="http://schemas.openxmlformats.org/officeDocument/2006/math">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𝒎</m:t>
                                  </m:r>
                                </m:e>
                                <m:sub>
                                  <m:r>
                                    <a:rPr lang="en-US" altLang="zh-CN" sz="1600" b="1" i="1" kern="1200" smtClean="0">
                                      <a:solidFill>
                                        <a:schemeClr val="accent2">
                                          <a:lumMod val="50000"/>
                                        </a:schemeClr>
                                      </a:solidFill>
                                      <a:latin typeface="Cambria Math" panose="02040503050406030204" pitchFamily="18" charset="0"/>
                                      <a:ea typeface="+mn-ea"/>
                                      <a:cs typeface="+mn-cs"/>
                                    </a:rPr>
                                    <m:t>𝟐</m:t>
                                  </m:r>
                                </m:sub>
                              </m:sSub>
                            </m:oMath>
                          </a14:m>
                          <a:r>
                            <a:rPr lang="zh-CN" altLang="en-US" sz="1600" b="1" kern="1200">
                              <a:solidFill>
                                <a:schemeClr val="accent2">
                                  <a:lumMod val="50000"/>
                                </a:schemeClr>
                              </a:solidFill>
                              <a:latin typeface="+mn-lt"/>
                              <a:ea typeface="+mn-ea"/>
                              <a:cs typeface="+mn-cs"/>
                            </a:rPr>
                            <a:t>个字符</a:t>
                          </a:r>
                          <a14:m>
                            <m:oMath xmlns:m="http://schemas.openxmlformats.org/officeDocument/2006/math">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𝒂</m:t>
                                  </m:r>
                                </m:e>
                                <m:sub>
                                  <m:r>
                                    <a:rPr lang="en-US" altLang="zh-CN" sz="1600" b="1" i="1" kern="1200" smtClean="0">
                                      <a:solidFill>
                                        <a:schemeClr val="accent2">
                                          <a:lumMod val="50000"/>
                                        </a:schemeClr>
                                      </a:solidFill>
                                      <a:latin typeface="Cambria Math" panose="02040503050406030204" pitchFamily="18" charset="0"/>
                                      <a:ea typeface="+mn-ea"/>
                                      <a:cs typeface="+mn-cs"/>
                                    </a:rPr>
                                    <m:t>𝟐</m:t>
                                  </m:r>
                                </m:sub>
                              </m:sSub>
                            </m:oMath>
                          </a14:m>
                          <a:r>
                            <a:rPr lang="en-US" altLang="zh-CN" sz="1600" b="1" kern="1200">
                              <a:solidFill>
                                <a:schemeClr val="accent2">
                                  <a:lumMod val="50000"/>
                                </a:schemeClr>
                              </a:solidFill>
                              <a:latin typeface="+mn-lt"/>
                              <a:ea typeface="+mn-ea"/>
                              <a:cs typeface="+mn-cs"/>
                            </a:rPr>
                            <a:t>, </a:t>
                          </a:r>
                          <a14:m>
                            <m:oMath xmlns:m="http://schemas.openxmlformats.org/officeDocument/2006/math">
                              <m:r>
                                <a:rPr lang="en-US" altLang="zh-CN" sz="1600" b="1" i="1" kern="1200" smtClean="0">
                                  <a:solidFill>
                                    <a:schemeClr val="accent2">
                                      <a:lumMod val="50000"/>
                                    </a:schemeClr>
                                  </a:solidFill>
                                  <a:latin typeface="Cambria Math" panose="02040503050406030204" pitchFamily="18" charset="0"/>
                                  <a:ea typeface="+mn-ea"/>
                                  <a:cs typeface="+mn-cs"/>
                                </a:rPr>
                                <m:t>⋯, </m:t>
                              </m:r>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𝒎</m:t>
                                  </m:r>
                                </m:e>
                                <m:sub>
                                  <m:r>
                                    <a:rPr lang="en-US" altLang="zh-CN" sz="1600" b="1" i="1" kern="1200" smtClean="0">
                                      <a:solidFill>
                                        <a:schemeClr val="accent2">
                                          <a:lumMod val="50000"/>
                                        </a:schemeClr>
                                      </a:solidFill>
                                      <a:latin typeface="Cambria Math" panose="02040503050406030204" pitchFamily="18" charset="0"/>
                                      <a:ea typeface="+mn-ea"/>
                                      <a:cs typeface="+mn-cs"/>
                                    </a:rPr>
                                    <m:t>𝒏</m:t>
                                  </m:r>
                                </m:sub>
                              </m:sSub>
                            </m:oMath>
                          </a14:m>
                          <a:r>
                            <a:rPr lang="zh-CN" altLang="en-US" sz="1600" b="1" kern="1200">
                              <a:solidFill>
                                <a:schemeClr val="accent2">
                                  <a:lumMod val="50000"/>
                                </a:schemeClr>
                              </a:solidFill>
                              <a:latin typeface="+mn-lt"/>
                              <a:ea typeface="+mn-ea"/>
                              <a:cs typeface="+mn-cs"/>
                            </a:rPr>
                            <a:t>个字符</a:t>
                          </a:r>
                          <a14:m>
                            <m:oMath xmlns:m="http://schemas.openxmlformats.org/officeDocument/2006/math">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𝒂</m:t>
                                  </m:r>
                                </m:e>
                                <m:sub>
                                  <m:r>
                                    <a:rPr lang="en-US" altLang="zh-CN" sz="1600" b="1" i="1" kern="1200" smtClean="0">
                                      <a:solidFill>
                                        <a:schemeClr val="accent2">
                                          <a:lumMod val="50000"/>
                                        </a:schemeClr>
                                      </a:solidFill>
                                      <a:latin typeface="Cambria Math" panose="02040503050406030204" pitchFamily="18" charset="0"/>
                                      <a:ea typeface="+mn-ea"/>
                                      <a:cs typeface="+mn-cs"/>
                                    </a:rPr>
                                    <m:t>𝒏</m:t>
                                  </m:r>
                                </m:sub>
                              </m:sSub>
                            </m:oMath>
                          </a14:m>
                          <a:r>
                            <a:rPr lang="zh-CN" altLang="en-US" sz="1600" b="1" kern="1200">
                              <a:solidFill>
                                <a:schemeClr val="accent2">
                                  <a:lumMod val="50000"/>
                                </a:schemeClr>
                              </a:solidFill>
                              <a:latin typeface="+mn-lt"/>
                              <a:ea typeface="+mn-ea"/>
                              <a:cs typeface="+mn-cs"/>
                            </a:rPr>
                            <a:t>构成长度为</a:t>
                          </a:r>
                          <a14:m>
                            <m:oMath xmlns:m="http://schemas.openxmlformats.org/officeDocument/2006/math">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𝒎</m:t>
                                  </m:r>
                                </m:e>
                                <m:sub>
                                  <m:r>
                                    <a:rPr lang="en-US" altLang="zh-CN" sz="1600" b="1" i="1" kern="1200" smtClean="0">
                                      <a:solidFill>
                                        <a:schemeClr val="accent2">
                                          <a:lumMod val="50000"/>
                                        </a:schemeClr>
                                      </a:solidFill>
                                      <a:latin typeface="Cambria Math" panose="02040503050406030204" pitchFamily="18" charset="0"/>
                                      <a:ea typeface="+mn-ea"/>
                                      <a:cs typeface="+mn-cs"/>
                                    </a:rPr>
                                    <m:t>𝟏</m:t>
                                  </m:r>
                                </m:sub>
                              </m:sSub>
                              <m:r>
                                <a:rPr lang="en-US" altLang="zh-CN" sz="1600" b="1" i="1" kern="1200" smtClean="0">
                                  <a:solidFill>
                                    <a:schemeClr val="accent2">
                                      <a:lumMod val="50000"/>
                                    </a:schemeClr>
                                  </a:solidFill>
                                  <a:latin typeface="Cambria Math" panose="02040503050406030204" pitchFamily="18" charset="0"/>
                                  <a:ea typeface="+mn-ea"/>
                                  <a:cs typeface="+mn-cs"/>
                                </a:rPr>
                                <m:t>+⋯+</m:t>
                              </m:r>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𝒎</m:t>
                                  </m:r>
                                </m:e>
                                <m:sub>
                                  <m:r>
                                    <a:rPr lang="en-US" altLang="zh-CN" sz="1600" b="1" i="1" kern="1200" smtClean="0">
                                      <a:solidFill>
                                        <a:schemeClr val="accent2">
                                          <a:lumMod val="50000"/>
                                        </a:schemeClr>
                                      </a:solidFill>
                                      <a:latin typeface="Cambria Math" panose="02040503050406030204" pitchFamily="18" charset="0"/>
                                      <a:ea typeface="+mn-ea"/>
                                      <a:cs typeface="+mn-cs"/>
                                    </a:rPr>
                                    <m:t>𝒏</m:t>
                                  </m:r>
                                </m:sub>
                              </m:sSub>
                              <m:r>
                                <a:rPr lang="en-US" altLang="zh-CN" sz="1600" b="1" i="1" kern="1200" smtClean="0">
                                  <a:solidFill>
                                    <a:schemeClr val="accent2">
                                      <a:lumMod val="50000"/>
                                    </a:schemeClr>
                                  </a:solidFill>
                                  <a:latin typeface="Cambria Math" panose="02040503050406030204" pitchFamily="18" charset="0"/>
                                  <a:ea typeface="+mn-ea"/>
                                  <a:cs typeface="+mn-cs"/>
                                </a:rPr>
                                <m:t>=</m:t>
                              </m:r>
                              <m:r>
                                <a:rPr lang="en-US" altLang="zh-CN" sz="1600" b="1" i="1" kern="1200" smtClean="0">
                                  <a:solidFill>
                                    <a:schemeClr val="accent2">
                                      <a:lumMod val="50000"/>
                                    </a:schemeClr>
                                  </a:solidFill>
                                  <a:latin typeface="Cambria Math" panose="02040503050406030204" pitchFamily="18" charset="0"/>
                                  <a:ea typeface="+mn-ea"/>
                                  <a:cs typeface="+mn-cs"/>
                                </a:rPr>
                                <m:t>𝒓</m:t>
                              </m:r>
                            </m:oMath>
                          </a14:m>
                          <a:r>
                            <a:rPr lang="zh-CN" altLang="en-US" sz="1600" b="1" kern="1200">
                              <a:solidFill>
                                <a:schemeClr val="accent2">
                                  <a:lumMod val="50000"/>
                                </a:schemeClr>
                              </a:solidFill>
                              <a:latin typeface="+mn-lt"/>
                              <a:ea typeface="+mn-ea"/>
                              <a:cs typeface="+mn-cs"/>
                            </a:rPr>
                            <a:t>的字符串个数</a:t>
                          </a:r>
                          <a:endParaRPr lang="zh-CN" altLang="en-US" sz="1600" b="1" kern="1200">
                            <a:solidFill>
                              <a:schemeClr val="accent2">
                                <a:lumMod val="50000"/>
                              </a:schemeClr>
                            </a:solidFill>
                            <a:latin typeface="+mn-lt"/>
                            <a:ea typeface="+mn-ea"/>
                            <a:cs typeface="+mn-cs"/>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𝑪</m:t>
                                </m:r>
                                <m:d>
                                  <m:dPr>
                                    <m:ctrlPr>
                                      <a:rPr lang="en-US" altLang="zh-CN" sz="1600" b="1" i="1" kern="1200" smtClean="0">
                                        <a:solidFill>
                                          <a:srgbClr val="C00000"/>
                                        </a:solidFill>
                                        <a:latin typeface="Cambria Math" panose="02040503050406030204" pitchFamily="18" charset="0"/>
                                        <a:ea typeface="+mn-ea"/>
                                        <a:cs typeface="+mn-cs"/>
                                      </a:rPr>
                                    </m:ctrlPr>
                                  </m:dPr>
                                  <m:e>
                                    <m:r>
                                      <a:rPr lang="en-US" altLang="zh-CN" sz="1600" b="1" i="1" kern="1200" smtClean="0">
                                        <a:solidFill>
                                          <a:srgbClr val="C00000"/>
                                        </a:solidFill>
                                        <a:latin typeface="Cambria Math" panose="02040503050406030204" pitchFamily="18" charset="0"/>
                                        <a:ea typeface="+mn-ea"/>
                                        <a:cs typeface="+mn-cs"/>
                                      </a:rPr>
                                      <m:t>𝒓</m:t>
                                    </m:r>
                                    <m:r>
                                      <a:rPr lang="en-US" altLang="zh-CN" sz="1600" b="1" i="1" kern="1200" smtClean="0">
                                        <a:solidFill>
                                          <a:srgbClr val="C00000"/>
                                        </a:solidFill>
                                        <a:latin typeface="Cambria Math" panose="02040503050406030204" pitchFamily="18" charset="0"/>
                                        <a:ea typeface="+mn-ea"/>
                                        <a:cs typeface="+mn-cs"/>
                                      </a:rPr>
                                      <m:t>, </m:t>
                                    </m:r>
                                    <m:sSub>
                                      <m:sSubPr>
                                        <m:ctrlPr>
                                          <a:rPr lang="en-US" altLang="zh-CN" sz="1600" b="1" i="1" kern="1200" smtClean="0">
                                            <a:solidFill>
                                              <a:srgbClr val="C00000"/>
                                            </a:solidFill>
                                            <a:latin typeface="Cambria Math" panose="02040503050406030204" pitchFamily="18" charset="0"/>
                                            <a:ea typeface="+mn-ea"/>
                                            <a:cs typeface="+mn-cs"/>
                                          </a:rPr>
                                        </m:ctrlPr>
                                      </m:sSubPr>
                                      <m:e>
                                        <m:r>
                                          <a:rPr lang="en-US" altLang="zh-CN" sz="1600" b="1" i="1" kern="1200" smtClean="0">
                                            <a:solidFill>
                                              <a:srgbClr val="C00000"/>
                                            </a:solidFill>
                                            <a:latin typeface="Cambria Math" panose="02040503050406030204" pitchFamily="18" charset="0"/>
                                            <a:ea typeface="+mn-ea"/>
                                            <a:cs typeface="+mn-cs"/>
                                          </a:rPr>
                                          <m:t>𝒎</m:t>
                                        </m:r>
                                      </m:e>
                                      <m:sub>
                                        <m:r>
                                          <a:rPr lang="en-US" altLang="zh-CN" sz="1600" b="1" i="1" kern="1200" smtClean="0">
                                            <a:solidFill>
                                              <a:srgbClr val="C00000"/>
                                            </a:solidFill>
                                            <a:latin typeface="Cambria Math" panose="02040503050406030204" pitchFamily="18" charset="0"/>
                                            <a:ea typeface="+mn-ea"/>
                                            <a:cs typeface="+mn-cs"/>
                                          </a:rPr>
                                          <m:t>𝟏</m:t>
                                        </m:r>
                                      </m:sub>
                                    </m:sSub>
                                  </m:e>
                                </m:d>
                                <m:r>
                                  <a:rPr lang="en-US" altLang="zh-CN" sz="1600" b="1" i="1" kern="1200" smtClean="0">
                                    <a:solidFill>
                                      <a:srgbClr val="C00000"/>
                                    </a:solidFill>
                                    <a:latin typeface="Cambria Math" panose="02040503050406030204" pitchFamily="18" charset="0"/>
                                    <a:ea typeface="+mn-ea"/>
                                    <a:cs typeface="+mn-cs"/>
                                  </a:rPr>
                                  <m:t>𝑪</m:t>
                                </m:r>
                                <m:d>
                                  <m:dPr>
                                    <m:ctrlPr>
                                      <a:rPr lang="en-US" altLang="zh-CN" sz="1600" b="1" i="1" kern="1200" smtClean="0">
                                        <a:solidFill>
                                          <a:srgbClr val="C00000"/>
                                        </a:solidFill>
                                        <a:latin typeface="Cambria Math" panose="02040503050406030204" pitchFamily="18" charset="0"/>
                                        <a:ea typeface="+mn-ea"/>
                                        <a:cs typeface="+mn-cs"/>
                                      </a:rPr>
                                    </m:ctrlPr>
                                  </m:dPr>
                                  <m:e>
                                    <m:r>
                                      <a:rPr lang="en-US" altLang="zh-CN" sz="1600" b="1" i="1" kern="1200" smtClean="0">
                                        <a:solidFill>
                                          <a:srgbClr val="C00000"/>
                                        </a:solidFill>
                                        <a:latin typeface="Cambria Math" panose="02040503050406030204" pitchFamily="18" charset="0"/>
                                        <a:ea typeface="+mn-ea"/>
                                        <a:cs typeface="+mn-cs"/>
                                      </a:rPr>
                                      <m:t>𝒓</m:t>
                                    </m:r>
                                    <m:r>
                                      <a:rPr lang="en-US" altLang="zh-CN" sz="1600" b="1" i="1" kern="1200" smtClean="0">
                                        <a:solidFill>
                                          <a:srgbClr val="C00000"/>
                                        </a:solidFill>
                                        <a:latin typeface="Cambria Math" panose="02040503050406030204" pitchFamily="18" charset="0"/>
                                        <a:ea typeface="+mn-ea"/>
                                        <a:cs typeface="+mn-cs"/>
                                      </a:rPr>
                                      <m:t>−</m:t>
                                    </m:r>
                                    <m:sSub>
                                      <m:sSubPr>
                                        <m:ctrlPr>
                                          <a:rPr lang="en-US" altLang="zh-CN" sz="1600" b="1" i="1" kern="1200" smtClean="0">
                                            <a:solidFill>
                                              <a:srgbClr val="C00000"/>
                                            </a:solidFill>
                                            <a:latin typeface="Cambria Math" panose="02040503050406030204" pitchFamily="18" charset="0"/>
                                            <a:ea typeface="+mn-ea"/>
                                            <a:cs typeface="+mn-cs"/>
                                          </a:rPr>
                                        </m:ctrlPr>
                                      </m:sSubPr>
                                      <m:e>
                                        <m:r>
                                          <a:rPr lang="en-US" altLang="zh-CN" sz="1600" b="1" i="1" kern="1200" smtClean="0">
                                            <a:solidFill>
                                              <a:srgbClr val="C00000"/>
                                            </a:solidFill>
                                            <a:latin typeface="Cambria Math" panose="02040503050406030204" pitchFamily="18" charset="0"/>
                                            <a:ea typeface="+mn-ea"/>
                                            <a:cs typeface="+mn-cs"/>
                                          </a:rPr>
                                          <m:t>𝒎</m:t>
                                        </m:r>
                                      </m:e>
                                      <m:sub>
                                        <m:r>
                                          <a:rPr lang="en-US" altLang="zh-CN" sz="1600" b="1" i="1" kern="1200" smtClean="0">
                                            <a:solidFill>
                                              <a:srgbClr val="C00000"/>
                                            </a:solidFill>
                                            <a:latin typeface="Cambria Math" panose="02040503050406030204" pitchFamily="18" charset="0"/>
                                            <a:ea typeface="+mn-ea"/>
                                            <a:cs typeface="+mn-cs"/>
                                          </a:rPr>
                                          <m:t>𝟏</m:t>
                                        </m:r>
                                      </m:sub>
                                    </m:sSub>
                                    <m:r>
                                      <a:rPr lang="en-US" altLang="zh-CN" sz="1600" b="1" i="1" kern="1200" smtClean="0">
                                        <a:solidFill>
                                          <a:srgbClr val="C00000"/>
                                        </a:solidFill>
                                        <a:latin typeface="Cambria Math" panose="02040503050406030204" pitchFamily="18" charset="0"/>
                                        <a:ea typeface="+mn-ea"/>
                                        <a:cs typeface="+mn-cs"/>
                                      </a:rPr>
                                      <m:t>, </m:t>
                                    </m:r>
                                    <m:sSub>
                                      <m:sSubPr>
                                        <m:ctrlPr>
                                          <a:rPr lang="en-US" altLang="zh-CN" sz="1600" b="1" i="1" kern="1200" smtClean="0">
                                            <a:solidFill>
                                              <a:srgbClr val="C00000"/>
                                            </a:solidFill>
                                            <a:latin typeface="Cambria Math" panose="02040503050406030204" pitchFamily="18" charset="0"/>
                                            <a:ea typeface="+mn-ea"/>
                                            <a:cs typeface="+mn-cs"/>
                                          </a:rPr>
                                        </m:ctrlPr>
                                      </m:sSubPr>
                                      <m:e>
                                        <m:r>
                                          <a:rPr lang="en-US" altLang="zh-CN" sz="1600" b="1" i="1" kern="1200" smtClean="0">
                                            <a:solidFill>
                                              <a:srgbClr val="C00000"/>
                                            </a:solidFill>
                                            <a:latin typeface="Cambria Math" panose="02040503050406030204" pitchFamily="18" charset="0"/>
                                            <a:ea typeface="+mn-ea"/>
                                            <a:cs typeface="+mn-cs"/>
                                          </a:rPr>
                                          <m:t>𝒎</m:t>
                                        </m:r>
                                      </m:e>
                                      <m:sub>
                                        <m:r>
                                          <a:rPr lang="en-US" altLang="zh-CN" sz="1600" b="1" i="1" kern="1200" smtClean="0">
                                            <a:solidFill>
                                              <a:srgbClr val="C00000"/>
                                            </a:solidFill>
                                            <a:latin typeface="Cambria Math" panose="02040503050406030204" pitchFamily="18" charset="0"/>
                                            <a:ea typeface="+mn-ea"/>
                                            <a:cs typeface="+mn-cs"/>
                                          </a:rPr>
                                          <m:t>𝟐</m:t>
                                        </m:r>
                                      </m:sub>
                                    </m:sSub>
                                  </m:e>
                                </m:d>
                                <m:r>
                                  <a:rPr lang="en-US" altLang="zh-CN" sz="1600" b="1" i="1" kern="1200" smtClean="0">
                                    <a:solidFill>
                                      <a:srgbClr val="C00000"/>
                                    </a:solidFill>
                                    <a:latin typeface="Cambria Math" panose="02040503050406030204" pitchFamily="18" charset="0"/>
                                    <a:ea typeface="+mn-ea"/>
                                    <a:cs typeface="+mn-cs"/>
                                  </a:rPr>
                                  <m:t>⋯</m:t>
                                </m:r>
                                <m:r>
                                  <a:rPr lang="en-US" altLang="zh-CN" sz="1600" b="1" i="1" kern="1200" smtClean="0">
                                    <a:solidFill>
                                      <a:srgbClr val="C00000"/>
                                    </a:solidFill>
                                    <a:latin typeface="Cambria Math" panose="02040503050406030204" pitchFamily="18" charset="0"/>
                                    <a:ea typeface="+mn-ea"/>
                                    <a:cs typeface="+mn-cs"/>
                                  </a:rPr>
                                  <m:t>𝑪</m:t>
                                </m:r>
                                <m:d>
                                  <m:dPr>
                                    <m:ctrlPr>
                                      <a:rPr lang="en-US" altLang="zh-CN" sz="1600" b="1" i="1" kern="1200" smtClean="0">
                                        <a:solidFill>
                                          <a:srgbClr val="C00000"/>
                                        </a:solidFill>
                                        <a:latin typeface="Cambria Math" panose="02040503050406030204" pitchFamily="18" charset="0"/>
                                        <a:ea typeface="+mn-ea"/>
                                        <a:cs typeface="+mn-cs"/>
                                      </a:rPr>
                                    </m:ctrlPr>
                                  </m:dPr>
                                  <m:e>
                                    <m:sSub>
                                      <m:sSubPr>
                                        <m:ctrlPr>
                                          <a:rPr lang="en-US" altLang="zh-CN" sz="1600" b="1" i="1" kern="1200" smtClean="0">
                                            <a:solidFill>
                                              <a:srgbClr val="C00000"/>
                                            </a:solidFill>
                                            <a:latin typeface="Cambria Math" panose="02040503050406030204" pitchFamily="18" charset="0"/>
                                            <a:ea typeface="+mn-ea"/>
                                            <a:cs typeface="+mn-cs"/>
                                          </a:rPr>
                                        </m:ctrlPr>
                                      </m:sSubPr>
                                      <m:e>
                                        <m:r>
                                          <a:rPr lang="en-US" altLang="zh-CN" sz="1600" b="1" i="1" kern="1200" smtClean="0">
                                            <a:solidFill>
                                              <a:srgbClr val="C00000"/>
                                            </a:solidFill>
                                            <a:latin typeface="Cambria Math" panose="02040503050406030204" pitchFamily="18" charset="0"/>
                                            <a:ea typeface="+mn-ea"/>
                                            <a:cs typeface="+mn-cs"/>
                                          </a:rPr>
                                          <m:t>𝒎</m:t>
                                        </m:r>
                                      </m:e>
                                      <m:sub>
                                        <m:r>
                                          <a:rPr lang="en-US" altLang="zh-CN" sz="1600" b="1" i="1" kern="1200" smtClean="0">
                                            <a:solidFill>
                                              <a:srgbClr val="C00000"/>
                                            </a:solidFill>
                                            <a:latin typeface="Cambria Math" panose="02040503050406030204" pitchFamily="18" charset="0"/>
                                            <a:ea typeface="+mn-ea"/>
                                            <a:cs typeface="+mn-cs"/>
                                          </a:rPr>
                                          <m:t>𝒏</m:t>
                                        </m:r>
                                      </m:sub>
                                    </m:sSub>
                                    <m:r>
                                      <a:rPr lang="en-US" altLang="zh-CN" sz="1600" b="1" i="1" kern="1200" smtClean="0">
                                        <a:solidFill>
                                          <a:srgbClr val="C00000"/>
                                        </a:solidFill>
                                        <a:latin typeface="Cambria Math" panose="02040503050406030204" pitchFamily="18" charset="0"/>
                                        <a:ea typeface="+mn-ea"/>
                                        <a:cs typeface="+mn-cs"/>
                                      </a:rPr>
                                      <m:t>, </m:t>
                                    </m:r>
                                    <m:sSub>
                                      <m:sSubPr>
                                        <m:ctrlPr>
                                          <a:rPr lang="en-US" altLang="zh-CN" sz="1600" b="1" i="1" kern="1200" smtClean="0">
                                            <a:solidFill>
                                              <a:srgbClr val="C00000"/>
                                            </a:solidFill>
                                            <a:latin typeface="Cambria Math" panose="02040503050406030204" pitchFamily="18" charset="0"/>
                                            <a:ea typeface="+mn-ea"/>
                                            <a:cs typeface="+mn-cs"/>
                                          </a:rPr>
                                        </m:ctrlPr>
                                      </m:sSubPr>
                                      <m:e>
                                        <m:r>
                                          <a:rPr lang="en-US" altLang="zh-CN" sz="1600" b="1" i="1" kern="1200" smtClean="0">
                                            <a:solidFill>
                                              <a:srgbClr val="C00000"/>
                                            </a:solidFill>
                                            <a:latin typeface="Cambria Math" panose="02040503050406030204" pitchFamily="18" charset="0"/>
                                            <a:ea typeface="+mn-ea"/>
                                            <a:cs typeface="+mn-cs"/>
                                          </a:rPr>
                                          <m:t>𝒎</m:t>
                                        </m:r>
                                      </m:e>
                                      <m:sub>
                                        <m:r>
                                          <a:rPr lang="en-US" altLang="zh-CN" sz="1600" b="1" i="1" kern="1200" smtClean="0">
                                            <a:solidFill>
                                              <a:srgbClr val="C00000"/>
                                            </a:solidFill>
                                            <a:latin typeface="Cambria Math" panose="02040503050406030204" pitchFamily="18" charset="0"/>
                                            <a:ea typeface="+mn-ea"/>
                                            <a:cs typeface="+mn-cs"/>
                                          </a:rPr>
                                          <m:t>𝒏</m:t>
                                        </m:r>
                                      </m:sub>
                                    </m:sSub>
                                  </m:e>
                                </m:d>
                              </m:oMath>
                            </m:oMathPara>
                          </a14:m>
                          <a:endParaRPr lang="zh-CN" altLang="en-US" sz="1600" b="1" i="1" kern="1200">
                            <a:solidFill>
                              <a:srgbClr val="C00000"/>
                            </a:solidFill>
                            <a:latin typeface="Cambria Math" panose="02040503050406030204" pitchFamily="18" charset="0"/>
                            <a:ea typeface="+mn-ea"/>
                            <a:cs typeface="+mn-cs"/>
                          </a:endParaRPr>
                        </a:p>
                      </a:txBody>
                      <a:tcPr anchor="ctr"/>
                    </a:tc>
                  </a:tr>
                  <a:tr h="370840">
                    <a:tc>
                      <a:txBody>
                        <a:bodyPr/>
                        <a:lstStyle/>
                        <a:p>
                          <a:r>
                            <a:rPr lang="zh-CN" altLang="en-US" sz="1600" b="1" kern="1200">
                              <a:solidFill>
                                <a:schemeClr val="accent2">
                                  <a:lumMod val="50000"/>
                                </a:schemeClr>
                              </a:solidFill>
                              <a:latin typeface="+mn-lt"/>
                              <a:ea typeface="+mn-ea"/>
                              <a:cs typeface="+mn-cs"/>
                            </a:rPr>
                            <a:t>不定方程</a:t>
                          </a:r>
                          <a14:m>
                            <m:oMath xmlns:m="http://schemas.openxmlformats.org/officeDocument/2006/math">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𝒙</m:t>
                                  </m:r>
                                </m:e>
                                <m:sub>
                                  <m:r>
                                    <a:rPr lang="en-US" altLang="zh-CN" sz="1600" b="1" i="1" kern="1200" smtClean="0">
                                      <a:solidFill>
                                        <a:schemeClr val="accent2">
                                          <a:lumMod val="50000"/>
                                        </a:schemeClr>
                                      </a:solidFill>
                                      <a:latin typeface="Cambria Math" panose="02040503050406030204" pitchFamily="18" charset="0"/>
                                      <a:ea typeface="+mn-ea"/>
                                      <a:cs typeface="+mn-cs"/>
                                    </a:rPr>
                                    <m:t>𝟏</m:t>
                                  </m:r>
                                </m:sub>
                              </m:sSub>
                              <m:r>
                                <a:rPr lang="en-US" altLang="zh-CN" sz="1600" b="1" i="1" kern="1200" smtClean="0">
                                  <a:solidFill>
                                    <a:schemeClr val="accent2">
                                      <a:lumMod val="50000"/>
                                    </a:schemeClr>
                                  </a:solidFill>
                                  <a:latin typeface="Cambria Math" panose="02040503050406030204" pitchFamily="18" charset="0"/>
                                  <a:ea typeface="+mn-ea"/>
                                  <a:cs typeface="+mn-cs"/>
                                </a:rPr>
                                <m:t>+⋯+</m:t>
                              </m:r>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𝒙</m:t>
                                  </m:r>
                                </m:e>
                                <m:sub>
                                  <m:r>
                                    <a:rPr lang="en-US" altLang="zh-CN" sz="1600" b="1" i="1" kern="1200" smtClean="0">
                                      <a:solidFill>
                                        <a:schemeClr val="accent2">
                                          <a:lumMod val="50000"/>
                                        </a:schemeClr>
                                      </a:solidFill>
                                      <a:latin typeface="Cambria Math" panose="02040503050406030204" pitchFamily="18" charset="0"/>
                                      <a:ea typeface="+mn-ea"/>
                                      <a:cs typeface="+mn-cs"/>
                                    </a:rPr>
                                    <m:t>𝒏</m:t>
                                  </m:r>
                                </m:sub>
                              </m:sSub>
                              <m:r>
                                <a:rPr lang="en-US" altLang="zh-CN" sz="1600" b="1" i="1" kern="1200" smtClean="0">
                                  <a:solidFill>
                                    <a:schemeClr val="accent2">
                                      <a:lumMod val="50000"/>
                                    </a:schemeClr>
                                  </a:solidFill>
                                  <a:latin typeface="Cambria Math" panose="02040503050406030204" pitchFamily="18" charset="0"/>
                                  <a:ea typeface="+mn-ea"/>
                                  <a:cs typeface="+mn-cs"/>
                                </a:rPr>
                                <m:t>=</m:t>
                              </m:r>
                              <m:r>
                                <a:rPr lang="en-US" altLang="zh-CN" sz="1600" b="1" i="1" kern="1200" smtClean="0">
                                  <a:solidFill>
                                    <a:schemeClr val="accent2">
                                      <a:lumMod val="50000"/>
                                    </a:schemeClr>
                                  </a:solidFill>
                                  <a:latin typeface="Cambria Math" panose="02040503050406030204" pitchFamily="18" charset="0"/>
                                  <a:ea typeface="+mn-ea"/>
                                  <a:cs typeface="+mn-cs"/>
                                </a:rPr>
                                <m:t>𝒓</m:t>
                              </m:r>
                            </m:oMath>
                          </a14:m>
                          <a:r>
                            <a:rPr lang="zh-CN" altLang="en-US" sz="1600" b="1" kern="1200">
                              <a:solidFill>
                                <a:schemeClr val="accent2">
                                  <a:lumMod val="50000"/>
                                </a:schemeClr>
                              </a:solidFill>
                              <a:latin typeface="+mn-lt"/>
                              <a:ea typeface="+mn-ea"/>
                              <a:cs typeface="+mn-cs"/>
                            </a:rPr>
                            <a:t>满足</a:t>
                          </a:r>
                          <a14:m>
                            <m:oMath xmlns:m="http://schemas.openxmlformats.org/officeDocument/2006/math">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𝒙</m:t>
                                  </m:r>
                                </m:e>
                                <m:sub>
                                  <m:r>
                                    <a:rPr lang="en-US" altLang="zh-CN" sz="1600" b="1" i="1" kern="1200" smtClean="0">
                                      <a:solidFill>
                                        <a:schemeClr val="accent2">
                                          <a:lumMod val="50000"/>
                                        </a:schemeClr>
                                      </a:solidFill>
                                      <a:latin typeface="Cambria Math" panose="02040503050406030204" pitchFamily="18" charset="0"/>
                                      <a:ea typeface="+mn-ea"/>
                                      <a:cs typeface="+mn-cs"/>
                                    </a:rPr>
                                    <m:t>𝟏</m:t>
                                  </m:r>
                                </m:sub>
                              </m:sSub>
                              <m:r>
                                <a:rPr lang="en-US" altLang="zh-CN" sz="1600" b="1" i="1" kern="1200" smtClean="0">
                                  <a:solidFill>
                                    <a:schemeClr val="accent2">
                                      <a:lumMod val="50000"/>
                                    </a:schemeClr>
                                  </a:solidFill>
                                  <a:latin typeface="Cambria Math" panose="02040503050406030204" pitchFamily="18" charset="0"/>
                                  <a:ea typeface="+mn-ea"/>
                                  <a:cs typeface="+mn-cs"/>
                                </a:rPr>
                                <m:t>≥</m:t>
                              </m:r>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𝒌</m:t>
                                  </m:r>
                                </m:e>
                                <m:sub>
                                  <m:r>
                                    <a:rPr lang="en-US" altLang="zh-CN" sz="1600" b="1" i="1" kern="1200" smtClean="0">
                                      <a:solidFill>
                                        <a:schemeClr val="accent2">
                                          <a:lumMod val="50000"/>
                                        </a:schemeClr>
                                      </a:solidFill>
                                      <a:latin typeface="Cambria Math" panose="02040503050406030204" pitchFamily="18" charset="0"/>
                                      <a:ea typeface="+mn-ea"/>
                                      <a:cs typeface="+mn-cs"/>
                                    </a:rPr>
                                    <m:t>𝟏</m:t>
                                  </m:r>
                                </m:sub>
                              </m:sSub>
                            </m:oMath>
                          </a14:m>
                          <a:r>
                            <a:rPr lang="zh-CN" altLang="en-US" sz="1600" b="1" kern="1200">
                              <a:solidFill>
                                <a:schemeClr val="accent2">
                                  <a:lumMod val="50000"/>
                                </a:schemeClr>
                              </a:solidFill>
                              <a:latin typeface="+mn-lt"/>
                              <a:ea typeface="+mn-ea"/>
                              <a:cs typeface="+mn-cs"/>
                            </a:rPr>
                            <a:t>的非负整数解个数</a:t>
                          </a:r>
                          <a:endParaRPr lang="zh-CN" altLang="en-US" sz="1600" b="1" kern="1200">
                            <a:solidFill>
                              <a:schemeClr val="accent2">
                                <a:lumMod val="50000"/>
                              </a:schemeClr>
                            </a:solidFill>
                            <a:latin typeface="+mn-lt"/>
                            <a:ea typeface="+mn-ea"/>
                            <a:cs typeface="+mn-cs"/>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1400" b="1" i="1" kern="1200" smtClean="0">
                                    <a:solidFill>
                                      <a:srgbClr val="C00000"/>
                                    </a:solidFill>
                                    <a:latin typeface="Cambria Math" panose="02040503050406030204" pitchFamily="18" charset="0"/>
                                    <a:ea typeface="+mn-ea"/>
                                    <a:cs typeface="+mn-cs"/>
                                  </a:rPr>
                                  <m:t>𝑪</m:t>
                                </m:r>
                                <m:d>
                                  <m:dPr>
                                    <m:ctrlPr>
                                      <a:rPr lang="en-US" altLang="zh-CN" sz="1400" b="1" i="1" kern="1200" smtClean="0">
                                        <a:solidFill>
                                          <a:srgbClr val="C00000"/>
                                        </a:solidFill>
                                        <a:latin typeface="Cambria Math" panose="02040503050406030204" pitchFamily="18" charset="0"/>
                                        <a:ea typeface="+mn-ea"/>
                                        <a:cs typeface="+mn-cs"/>
                                      </a:rPr>
                                    </m:ctrlPr>
                                  </m:dPr>
                                  <m:e>
                                    <m:r>
                                      <a:rPr lang="en-US" altLang="zh-CN" sz="1400" b="1" i="1" kern="1200" smtClean="0">
                                        <a:solidFill>
                                          <a:srgbClr val="C00000"/>
                                        </a:solidFill>
                                        <a:latin typeface="Cambria Math" panose="02040503050406030204" pitchFamily="18" charset="0"/>
                                        <a:ea typeface="+mn-ea"/>
                                        <a:cs typeface="+mn-cs"/>
                                      </a:rPr>
                                      <m:t>𝒏</m:t>
                                    </m:r>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𝟏</m:t>
                                    </m:r>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𝒓</m:t>
                                    </m:r>
                                    <m:r>
                                      <a:rPr lang="en-US" altLang="zh-CN" sz="1400" b="1" i="1" kern="1200" smtClean="0">
                                        <a:solidFill>
                                          <a:srgbClr val="C00000"/>
                                        </a:solidFill>
                                        <a:latin typeface="Cambria Math" panose="02040503050406030204" pitchFamily="18" charset="0"/>
                                        <a:ea typeface="+mn-ea"/>
                                        <a:cs typeface="+mn-cs"/>
                                      </a:rPr>
                                      <m:t>−</m:t>
                                    </m:r>
                                    <m:sSub>
                                      <m:sSubPr>
                                        <m:ctrlPr>
                                          <a:rPr lang="en-US" altLang="zh-CN" sz="1400" b="1" i="1" kern="1200" smtClean="0">
                                            <a:solidFill>
                                              <a:srgbClr val="C00000"/>
                                            </a:solidFill>
                                            <a:latin typeface="Cambria Math" panose="02040503050406030204" pitchFamily="18" charset="0"/>
                                            <a:ea typeface="+mn-ea"/>
                                            <a:cs typeface="+mn-cs"/>
                                          </a:rPr>
                                        </m:ctrlPr>
                                      </m:sSubPr>
                                      <m:e>
                                        <m:r>
                                          <a:rPr lang="en-US" altLang="zh-CN" sz="1400" b="1" i="1" kern="1200" smtClean="0">
                                            <a:solidFill>
                                              <a:srgbClr val="C00000"/>
                                            </a:solidFill>
                                            <a:latin typeface="Cambria Math" panose="02040503050406030204" pitchFamily="18" charset="0"/>
                                            <a:ea typeface="+mn-ea"/>
                                            <a:cs typeface="+mn-cs"/>
                                          </a:rPr>
                                          <m:t>𝒌</m:t>
                                        </m:r>
                                      </m:e>
                                      <m:sub>
                                        <m:r>
                                          <a:rPr lang="en-US" altLang="zh-CN" sz="1400" b="1" i="1" kern="1200" smtClean="0">
                                            <a:solidFill>
                                              <a:srgbClr val="C00000"/>
                                            </a:solidFill>
                                            <a:latin typeface="Cambria Math" panose="02040503050406030204" pitchFamily="18" charset="0"/>
                                            <a:ea typeface="+mn-ea"/>
                                            <a:cs typeface="+mn-cs"/>
                                          </a:rPr>
                                          <m:t>𝟏</m:t>
                                        </m:r>
                                      </m:sub>
                                    </m:sSub>
                                    <m:r>
                                      <a:rPr lang="en-US" altLang="zh-CN" sz="1400" b="1" i="1" kern="1200" smtClean="0">
                                        <a:solidFill>
                                          <a:srgbClr val="C00000"/>
                                        </a:solidFill>
                                        <a:latin typeface="Cambria Math" panose="02040503050406030204" pitchFamily="18" charset="0"/>
                                        <a:ea typeface="+mn-ea"/>
                                        <a:cs typeface="+mn-cs"/>
                                      </a:rPr>
                                      <m:t>, </m:t>
                                    </m:r>
                                    <m:r>
                                      <a:rPr lang="en-US" altLang="zh-CN" sz="1400" b="1" i="1" kern="1200" smtClean="0">
                                        <a:solidFill>
                                          <a:srgbClr val="C00000"/>
                                        </a:solidFill>
                                        <a:latin typeface="Cambria Math" panose="02040503050406030204" pitchFamily="18" charset="0"/>
                                        <a:ea typeface="+mn-ea"/>
                                        <a:cs typeface="+mn-cs"/>
                                      </a:rPr>
                                      <m:t>𝒓</m:t>
                                    </m:r>
                                    <m:r>
                                      <a:rPr lang="en-US" altLang="zh-CN" sz="1400" b="1" i="1" kern="1200" smtClean="0">
                                        <a:solidFill>
                                          <a:srgbClr val="C00000"/>
                                        </a:solidFill>
                                        <a:latin typeface="Cambria Math" panose="02040503050406030204" pitchFamily="18" charset="0"/>
                                        <a:ea typeface="+mn-ea"/>
                                        <a:cs typeface="+mn-cs"/>
                                      </a:rPr>
                                      <m:t>−</m:t>
                                    </m:r>
                                    <m:sSub>
                                      <m:sSubPr>
                                        <m:ctrlPr>
                                          <a:rPr lang="en-US" altLang="zh-CN" sz="1400" b="1" i="1" kern="1200" smtClean="0">
                                            <a:solidFill>
                                              <a:srgbClr val="C00000"/>
                                            </a:solidFill>
                                            <a:latin typeface="Cambria Math" panose="02040503050406030204" pitchFamily="18" charset="0"/>
                                            <a:ea typeface="+mn-ea"/>
                                            <a:cs typeface="+mn-cs"/>
                                          </a:rPr>
                                        </m:ctrlPr>
                                      </m:sSubPr>
                                      <m:e>
                                        <m:r>
                                          <a:rPr lang="en-US" altLang="zh-CN" sz="1400" b="1" i="1" kern="1200" smtClean="0">
                                            <a:solidFill>
                                              <a:srgbClr val="C00000"/>
                                            </a:solidFill>
                                            <a:latin typeface="Cambria Math" panose="02040503050406030204" pitchFamily="18" charset="0"/>
                                            <a:ea typeface="+mn-ea"/>
                                            <a:cs typeface="+mn-cs"/>
                                          </a:rPr>
                                          <m:t>𝒌</m:t>
                                        </m:r>
                                      </m:e>
                                      <m:sub>
                                        <m:r>
                                          <a:rPr lang="en-US" altLang="zh-CN" sz="1400" b="1" i="1" kern="1200" smtClean="0">
                                            <a:solidFill>
                                              <a:srgbClr val="C00000"/>
                                            </a:solidFill>
                                            <a:latin typeface="Cambria Math" panose="02040503050406030204" pitchFamily="18" charset="0"/>
                                            <a:ea typeface="+mn-ea"/>
                                            <a:cs typeface="+mn-cs"/>
                                          </a:rPr>
                                          <m:t>𝟏</m:t>
                                        </m:r>
                                      </m:sub>
                                    </m:sSub>
                                  </m:e>
                                </m:d>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𝑪</m:t>
                                </m:r>
                                <m:d>
                                  <m:dPr>
                                    <m:ctrlPr>
                                      <a:rPr lang="en-US" altLang="zh-CN" sz="1400" b="1" i="1" kern="1200" smtClean="0">
                                        <a:solidFill>
                                          <a:srgbClr val="C00000"/>
                                        </a:solidFill>
                                        <a:latin typeface="Cambria Math" panose="02040503050406030204" pitchFamily="18" charset="0"/>
                                        <a:ea typeface="+mn-ea"/>
                                        <a:cs typeface="+mn-cs"/>
                                      </a:rPr>
                                    </m:ctrlPr>
                                  </m:dPr>
                                  <m:e>
                                    <m:r>
                                      <a:rPr lang="en-US" altLang="zh-CN" sz="1400" b="1" i="1" kern="1200" smtClean="0">
                                        <a:solidFill>
                                          <a:srgbClr val="C00000"/>
                                        </a:solidFill>
                                        <a:latin typeface="Cambria Math" panose="02040503050406030204" pitchFamily="18" charset="0"/>
                                        <a:ea typeface="+mn-ea"/>
                                        <a:cs typeface="+mn-cs"/>
                                      </a:rPr>
                                      <m:t>𝒏</m:t>
                                    </m:r>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𝟏</m:t>
                                    </m:r>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𝒓</m:t>
                                    </m:r>
                                    <m:r>
                                      <a:rPr lang="en-US" altLang="zh-CN" sz="1400" b="1" i="1" kern="1200" smtClean="0">
                                        <a:solidFill>
                                          <a:srgbClr val="C00000"/>
                                        </a:solidFill>
                                        <a:latin typeface="Cambria Math" panose="02040503050406030204" pitchFamily="18" charset="0"/>
                                        <a:ea typeface="+mn-ea"/>
                                        <a:cs typeface="+mn-cs"/>
                                      </a:rPr>
                                      <m:t>−</m:t>
                                    </m:r>
                                    <m:sSub>
                                      <m:sSubPr>
                                        <m:ctrlPr>
                                          <a:rPr lang="en-US" altLang="zh-CN" sz="1400" b="1" i="1" kern="1200" smtClean="0">
                                            <a:solidFill>
                                              <a:srgbClr val="C00000"/>
                                            </a:solidFill>
                                            <a:latin typeface="Cambria Math" panose="02040503050406030204" pitchFamily="18" charset="0"/>
                                            <a:ea typeface="+mn-ea"/>
                                            <a:cs typeface="+mn-cs"/>
                                          </a:rPr>
                                        </m:ctrlPr>
                                      </m:sSubPr>
                                      <m:e>
                                        <m:r>
                                          <a:rPr lang="en-US" altLang="zh-CN" sz="1400" b="1" i="1" kern="1200" smtClean="0">
                                            <a:solidFill>
                                              <a:srgbClr val="C00000"/>
                                            </a:solidFill>
                                            <a:latin typeface="Cambria Math" panose="02040503050406030204" pitchFamily="18" charset="0"/>
                                            <a:ea typeface="+mn-ea"/>
                                            <a:cs typeface="+mn-cs"/>
                                          </a:rPr>
                                          <m:t>𝒌</m:t>
                                        </m:r>
                                      </m:e>
                                      <m:sub>
                                        <m:r>
                                          <a:rPr lang="en-US" altLang="zh-CN" sz="1400" b="1" i="1" kern="1200" smtClean="0">
                                            <a:solidFill>
                                              <a:srgbClr val="C00000"/>
                                            </a:solidFill>
                                            <a:latin typeface="Cambria Math" panose="02040503050406030204" pitchFamily="18" charset="0"/>
                                            <a:ea typeface="+mn-ea"/>
                                            <a:cs typeface="+mn-cs"/>
                                          </a:rPr>
                                          <m:t>𝟏</m:t>
                                        </m:r>
                                      </m:sub>
                                    </m:sSub>
                                    <m:r>
                                      <a:rPr lang="en-US" altLang="zh-CN" sz="1400" b="1" i="1" kern="1200" smtClean="0">
                                        <a:solidFill>
                                          <a:srgbClr val="C00000"/>
                                        </a:solidFill>
                                        <a:latin typeface="Cambria Math" panose="02040503050406030204" pitchFamily="18" charset="0"/>
                                        <a:ea typeface="+mn-ea"/>
                                        <a:cs typeface="+mn-cs"/>
                                      </a:rPr>
                                      <m:t>, </m:t>
                                    </m:r>
                                    <m:r>
                                      <a:rPr lang="en-US" altLang="zh-CN" sz="1400" b="1" i="1" kern="1200" smtClean="0">
                                        <a:solidFill>
                                          <a:srgbClr val="C00000"/>
                                        </a:solidFill>
                                        <a:latin typeface="Cambria Math" panose="02040503050406030204" pitchFamily="18" charset="0"/>
                                        <a:ea typeface="+mn-ea"/>
                                        <a:cs typeface="+mn-cs"/>
                                      </a:rPr>
                                      <m:t>𝒏</m:t>
                                    </m:r>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𝟏</m:t>
                                    </m:r>
                                  </m:e>
                                </m:d>
                              </m:oMath>
                            </m:oMathPara>
                          </a14:m>
                          <a:endParaRPr lang="zh-CN" altLang="en-US" sz="1400" b="1" i="1" kern="1200">
                            <a:solidFill>
                              <a:srgbClr val="C00000"/>
                            </a:solidFill>
                            <a:latin typeface="Cambria Math" panose="02040503050406030204" pitchFamily="18" charset="0"/>
                            <a:ea typeface="+mn-ea"/>
                            <a:cs typeface="+mn-cs"/>
                          </a:endParaRPr>
                        </a:p>
                      </a:txBody>
                      <a:tcPr anchor="ct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kern="1200">
                              <a:solidFill>
                                <a:schemeClr val="accent2">
                                  <a:lumMod val="50000"/>
                                </a:schemeClr>
                              </a:solidFill>
                              <a:latin typeface="+mn-lt"/>
                              <a:ea typeface="+mn-ea"/>
                              <a:cs typeface="+mn-cs"/>
                            </a:rPr>
                            <a:t>不定方程</a:t>
                          </a:r>
                          <a14:m>
                            <m:oMath xmlns:m="http://schemas.openxmlformats.org/officeDocument/2006/math">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𝒙</m:t>
                                  </m:r>
                                </m:e>
                                <m:sub>
                                  <m:r>
                                    <a:rPr lang="en-US" altLang="zh-CN" sz="1600" b="1" i="1" kern="1200" smtClean="0">
                                      <a:solidFill>
                                        <a:schemeClr val="accent2">
                                          <a:lumMod val="50000"/>
                                        </a:schemeClr>
                                      </a:solidFill>
                                      <a:latin typeface="Cambria Math" panose="02040503050406030204" pitchFamily="18" charset="0"/>
                                      <a:ea typeface="+mn-ea"/>
                                      <a:cs typeface="+mn-cs"/>
                                    </a:rPr>
                                    <m:t>𝟏</m:t>
                                  </m:r>
                                </m:sub>
                              </m:sSub>
                              <m:r>
                                <a:rPr lang="en-US" altLang="zh-CN" sz="1600" b="1" i="1" kern="1200" smtClean="0">
                                  <a:solidFill>
                                    <a:schemeClr val="accent2">
                                      <a:lumMod val="50000"/>
                                    </a:schemeClr>
                                  </a:solidFill>
                                  <a:latin typeface="Cambria Math" panose="02040503050406030204" pitchFamily="18" charset="0"/>
                                  <a:ea typeface="+mn-ea"/>
                                  <a:cs typeface="+mn-cs"/>
                                </a:rPr>
                                <m:t>+⋯+</m:t>
                              </m:r>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𝒙</m:t>
                                  </m:r>
                                </m:e>
                                <m:sub>
                                  <m:r>
                                    <a:rPr lang="en-US" altLang="zh-CN" sz="1600" b="1" i="1" kern="1200" smtClean="0">
                                      <a:solidFill>
                                        <a:schemeClr val="accent2">
                                          <a:lumMod val="50000"/>
                                        </a:schemeClr>
                                      </a:solidFill>
                                      <a:latin typeface="Cambria Math" panose="02040503050406030204" pitchFamily="18" charset="0"/>
                                      <a:ea typeface="+mn-ea"/>
                                      <a:cs typeface="+mn-cs"/>
                                    </a:rPr>
                                    <m:t>𝒏</m:t>
                                  </m:r>
                                </m:sub>
                              </m:sSub>
                              <m:r>
                                <a:rPr lang="en-US" altLang="zh-CN" sz="1600" b="1" i="1" kern="1200" smtClean="0">
                                  <a:solidFill>
                                    <a:schemeClr val="accent2">
                                      <a:lumMod val="50000"/>
                                    </a:schemeClr>
                                  </a:solidFill>
                                  <a:latin typeface="Cambria Math" panose="02040503050406030204" pitchFamily="18" charset="0"/>
                                  <a:ea typeface="+mn-ea"/>
                                  <a:cs typeface="+mn-cs"/>
                                </a:rPr>
                                <m:t>=</m:t>
                              </m:r>
                              <m:r>
                                <a:rPr lang="en-US" altLang="zh-CN" sz="1600" b="1" i="1" kern="1200" smtClean="0">
                                  <a:solidFill>
                                    <a:schemeClr val="accent2">
                                      <a:lumMod val="50000"/>
                                    </a:schemeClr>
                                  </a:solidFill>
                                  <a:latin typeface="Cambria Math" panose="02040503050406030204" pitchFamily="18" charset="0"/>
                                  <a:ea typeface="+mn-ea"/>
                                  <a:cs typeface="+mn-cs"/>
                                </a:rPr>
                                <m:t>𝒓</m:t>
                              </m:r>
                            </m:oMath>
                          </a14:m>
                          <a:r>
                            <a:rPr lang="zh-CN" altLang="en-US" sz="1600" b="1" kern="1200">
                              <a:solidFill>
                                <a:schemeClr val="accent2">
                                  <a:lumMod val="50000"/>
                                </a:schemeClr>
                              </a:solidFill>
                              <a:latin typeface="+mn-lt"/>
                              <a:ea typeface="+mn-ea"/>
                              <a:cs typeface="+mn-cs"/>
                            </a:rPr>
                            <a:t>满足</a:t>
                          </a:r>
                          <a14:m>
                            <m:oMath xmlns:m="http://schemas.openxmlformats.org/officeDocument/2006/math">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𝒙</m:t>
                                  </m:r>
                                </m:e>
                                <m:sub>
                                  <m:r>
                                    <a:rPr lang="en-US" altLang="zh-CN" sz="1600" b="1" i="1" kern="1200" smtClean="0">
                                      <a:solidFill>
                                        <a:schemeClr val="accent2">
                                          <a:lumMod val="50000"/>
                                        </a:schemeClr>
                                      </a:solidFill>
                                      <a:latin typeface="Cambria Math" panose="02040503050406030204" pitchFamily="18" charset="0"/>
                                      <a:ea typeface="+mn-ea"/>
                                      <a:cs typeface="+mn-cs"/>
                                    </a:rPr>
                                    <m:t>𝟏</m:t>
                                  </m:r>
                                </m:sub>
                              </m:sSub>
                              <m:r>
                                <a:rPr lang="en-US" altLang="zh-CN" sz="1600" b="1" i="1" kern="1200" smtClean="0">
                                  <a:solidFill>
                                    <a:schemeClr val="accent2">
                                      <a:lumMod val="50000"/>
                                    </a:schemeClr>
                                  </a:solidFill>
                                  <a:latin typeface="Cambria Math" panose="02040503050406030204" pitchFamily="18" charset="0"/>
                                  <a:ea typeface="+mn-ea"/>
                                  <a:cs typeface="+mn-cs"/>
                                </a:rPr>
                                <m:t>≤</m:t>
                              </m:r>
                              <m:sSub>
                                <m:sSubPr>
                                  <m:ctrlPr>
                                    <a:rPr lang="en-US" altLang="zh-CN" sz="1600" b="1" i="1" kern="1200" smtClean="0">
                                      <a:solidFill>
                                        <a:schemeClr val="accent2">
                                          <a:lumMod val="50000"/>
                                        </a:schemeClr>
                                      </a:solidFill>
                                      <a:latin typeface="Cambria Math" panose="02040503050406030204" pitchFamily="18" charset="0"/>
                                      <a:ea typeface="+mn-ea"/>
                                      <a:cs typeface="+mn-cs"/>
                                    </a:rPr>
                                  </m:ctrlPr>
                                </m:sSubPr>
                                <m:e>
                                  <m:r>
                                    <a:rPr lang="en-US" altLang="zh-CN" sz="1600" b="1" i="1" kern="1200" smtClean="0">
                                      <a:solidFill>
                                        <a:schemeClr val="accent2">
                                          <a:lumMod val="50000"/>
                                        </a:schemeClr>
                                      </a:solidFill>
                                      <a:latin typeface="Cambria Math" panose="02040503050406030204" pitchFamily="18" charset="0"/>
                                      <a:ea typeface="+mn-ea"/>
                                      <a:cs typeface="+mn-cs"/>
                                    </a:rPr>
                                    <m:t>𝒌</m:t>
                                  </m:r>
                                </m:e>
                                <m:sub>
                                  <m:r>
                                    <a:rPr lang="en-US" altLang="zh-CN" sz="1600" b="1" i="1" kern="1200" smtClean="0">
                                      <a:solidFill>
                                        <a:schemeClr val="accent2">
                                          <a:lumMod val="50000"/>
                                        </a:schemeClr>
                                      </a:solidFill>
                                      <a:latin typeface="Cambria Math" panose="02040503050406030204" pitchFamily="18" charset="0"/>
                                      <a:ea typeface="+mn-ea"/>
                                      <a:cs typeface="+mn-cs"/>
                                    </a:rPr>
                                    <m:t>𝟏</m:t>
                                  </m:r>
                                </m:sub>
                              </m:sSub>
                            </m:oMath>
                          </a14:m>
                          <a:r>
                            <a:rPr lang="zh-CN" altLang="en-US" sz="1600" b="1" kern="1200">
                              <a:solidFill>
                                <a:schemeClr val="accent2">
                                  <a:lumMod val="50000"/>
                                </a:schemeClr>
                              </a:solidFill>
                              <a:latin typeface="+mn-lt"/>
                              <a:ea typeface="+mn-ea"/>
                              <a:cs typeface="+mn-cs"/>
                            </a:rPr>
                            <a:t>的非负整数解个数</a:t>
                          </a:r>
                          <a:endParaRPr lang="zh-CN" altLang="en-US" sz="1600" b="1" kern="1200">
                            <a:solidFill>
                              <a:schemeClr val="accent2">
                                <a:lumMod val="50000"/>
                              </a:schemeClr>
                            </a:solidFill>
                            <a:latin typeface="+mn-lt"/>
                            <a:ea typeface="+mn-ea"/>
                            <a:cs typeface="+mn-cs"/>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1400" b="1" i="1" kern="1200" smtClean="0">
                                    <a:solidFill>
                                      <a:srgbClr val="C00000"/>
                                    </a:solidFill>
                                    <a:latin typeface="Cambria Math" panose="02040503050406030204" pitchFamily="18" charset="0"/>
                                    <a:ea typeface="+mn-ea"/>
                                    <a:cs typeface="+mn-cs"/>
                                  </a:rPr>
                                  <m:t>𝑪</m:t>
                                </m:r>
                                <m:d>
                                  <m:dPr>
                                    <m:ctrlPr>
                                      <a:rPr lang="en-US" altLang="zh-CN" sz="1400" b="1" i="1" kern="1200" smtClean="0">
                                        <a:solidFill>
                                          <a:srgbClr val="C00000"/>
                                        </a:solidFill>
                                        <a:latin typeface="Cambria Math" panose="02040503050406030204" pitchFamily="18" charset="0"/>
                                        <a:ea typeface="+mn-ea"/>
                                        <a:cs typeface="+mn-cs"/>
                                      </a:rPr>
                                    </m:ctrlPr>
                                  </m:dPr>
                                  <m:e>
                                    <m:r>
                                      <a:rPr lang="en-US" altLang="zh-CN" sz="1400" b="1" i="1" kern="1200" smtClean="0">
                                        <a:solidFill>
                                          <a:srgbClr val="C00000"/>
                                        </a:solidFill>
                                        <a:latin typeface="Cambria Math" panose="02040503050406030204" pitchFamily="18" charset="0"/>
                                        <a:ea typeface="+mn-ea"/>
                                        <a:cs typeface="+mn-cs"/>
                                      </a:rPr>
                                      <m:t>𝒏</m:t>
                                    </m:r>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𝟏</m:t>
                                    </m:r>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𝒓</m:t>
                                    </m:r>
                                    <m:r>
                                      <a:rPr lang="en-US" altLang="zh-CN" sz="1400" b="1" i="1" kern="1200" smtClean="0">
                                        <a:solidFill>
                                          <a:srgbClr val="C00000"/>
                                        </a:solidFill>
                                        <a:latin typeface="Cambria Math" panose="02040503050406030204" pitchFamily="18" charset="0"/>
                                        <a:ea typeface="+mn-ea"/>
                                        <a:cs typeface="+mn-cs"/>
                                      </a:rPr>
                                      <m:t>, </m:t>
                                    </m:r>
                                    <m:r>
                                      <a:rPr lang="en-US" altLang="zh-CN" sz="1400" b="1" i="1" kern="1200" smtClean="0">
                                        <a:solidFill>
                                          <a:srgbClr val="C00000"/>
                                        </a:solidFill>
                                        <a:latin typeface="Cambria Math" panose="02040503050406030204" pitchFamily="18" charset="0"/>
                                        <a:ea typeface="+mn-ea"/>
                                        <a:cs typeface="+mn-cs"/>
                                      </a:rPr>
                                      <m:t>𝒏</m:t>
                                    </m:r>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𝟏</m:t>
                                    </m:r>
                                  </m:e>
                                </m:d>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𝑪</m:t>
                                </m:r>
                                <m:d>
                                  <m:dPr>
                                    <m:ctrlPr>
                                      <a:rPr lang="en-US" altLang="zh-CN" sz="1400" b="1" i="1" kern="1200" smtClean="0">
                                        <a:solidFill>
                                          <a:srgbClr val="C00000"/>
                                        </a:solidFill>
                                        <a:latin typeface="Cambria Math" panose="02040503050406030204" pitchFamily="18" charset="0"/>
                                        <a:ea typeface="+mn-ea"/>
                                        <a:cs typeface="+mn-cs"/>
                                      </a:rPr>
                                    </m:ctrlPr>
                                  </m:dPr>
                                  <m:e>
                                    <m:r>
                                      <a:rPr lang="en-US" altLang="zh-CN" sz="1400" b="1" i="1" kern="1200" smtClean="0">
                                        <a:solidFill>
                                          <a:srgbClr val="C00000"/>
                                        </a:solidFill>
                                        <a:latin typeface="Cambria Math" panose="02040503050406030204" pitchFamily="18" charset="0"/>
                                        <a:ea typeface="+mn-ea"/>
                                        <a:cs typeface="+mn-cs"/>
                                      </a:rPr>
                                      <m:t>𝒏</m:t>
                                    </m:r>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𝟏</m:t>
                                    </m:r>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𝒓</m:t>
                                    </m:r>
                                    <m:r>
                                      <a:rPr lang="en-US" altLang="zh-CN" sz="1400" b="1" i="1" kern="1200" smtClean="0">
                                        <a:solidFill>
                                          <a:srgbClr val="C00000"/>
                                        </a:solidFill>
                                        <a:latin typeface="Cambria Math" panose="02040503050406030204" pitchFamily="18" charset="0"/>
                                        <a:ea typeface="+mn-ea"/>
                                        <a:cs typeface="+mn-cs"/>
                                      </a:rPr>
                                      <m:t>−</m:t>
                                    </m:r>
                                    <m:d>
                                      <m:dPr>
                                        <m:ctrlPr>
                                          <a:rPr lang="en-US" altLang="zh-CN" sz="1400" b="1" i="1" kern="1200" smtClean="0">
                                            <a:solidFill>
                                              <a:srgbClr val="C00000"/>
                                            </a:solidFill>
                                            <a:latin typeface="Cambria Math" panose="02040503050406030204" pitchFamily="18" charset="0"/>
                                            <a:ea typeface="+mn-ea"/>
                                            <a:cs typeface="+mn-cs"/>
                                          </a:rPr>
                                        </m:ctrlPr>
                                      </m:dPr>
                                      <m:e>
                                        <m:sSub>
                                          <m:sSubPr>
                                            <m:ctrlPr>
                                              <a:rPr lang="en-US" altLang="zh-CN" sz="1400" b="1" i="1" kern="1200" smtClean="0">
                                                <a:solidFill>
                                                  <a:srgbClr val="C00000"/>
                                                </a:solidFill>
                                                <a:latin typeface="Cambria Math" panose="02040503050406030204" pitchFamily="18" charset="0"/>
                                                <a:ea typeface="+mn-ea"/>
                                                <a:cs typeface="+mn-cs"/>
                                              </a:rPr>
                                            </m:ctrlPr>
                                          </m:sSubPr>
                                          <m:e>
                                            <m:r>
                                              <a:rPr lang="en-US" altLang="zh-CN" sz="1400" b="1" i="1" kern="1200" smtClean="0">
                                                <a:solidFill>
                                                  <a:srgbClr val="C00000"/>
                                                </a:solidFill>
                                                <a:latin typeface="Cambria Math" panose="02040503050406030204" pitchFamily="18" charset="0"/>
                                                <a:ea typeface="+mn-ea"/>
                                                <a:cs typeface="+mn-cs"/>
                                              </a:rPr>
                                              <m:t>𝒌</m:t>
                                            </m:r>
                                          </m:e>
                                          <m:sub>
                                            <m:r>
                                              <a:rPr lang="en-US" altLang="zh-CN" sz="1400" b="1" i="1" kern="1200" smtClean="0">
                                                <a:solidFill>
                                                  <a:srgbClr val="C00000"/>
                                                </a:solidFill>
                                                <a:latin typeface="Cambria Math" panose="02040503050406030204" pitchFamily="18" charset="0"/>
                                                <a:ea typeface="+mn-ea"/>
                                                <a:cs typeface="+mn-cs"/>
                                              </a:rPr>
                                              <m:t>𝟏</m:t>
                                            </m:r>
                                          </m:sub>
                                        </m:sSub>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𝟏</m:t>
                                        </m:r>
                                      </m:e>
                                    </m:d>
                                    <m:r>
                                      <a:rPr lang="en-US" altLang="zh-CN" sz="1400" b="1" i="1" kern="1200" smtClean="0">
                                        <a:solidFill>
                                          <a:srgbClr val="C00000"/>
                                        </a:solidFill>
                                        <a:latin typeface="Cambria Math" panose="02040503050406030204" pitchFamily="18" charset="0"/>
                                        <a:ea typeface="+mn-ea"/>
                                        <a:cs typeface="+mn-cs"/>
                                      </a:rPr>
                                      <m:t>, </m:t>
                                    </m:r>
                                    <m:r>
                                      <a:rPr lang="en-US" altLang="zh-CN" sz="1400" b="1" i="1" kern="1200" smtClean="0">
                                        <a:solidFill>
                                          <a:srgbClr val="C00000"/>
                                        </a:solidFill>
                                        <a:latin typeface="Cambria Math" panose="02040503050406030204" pitchFamily="18" charset="0"/>
                                        <a:ea typeface="+mn-ea"/>
                                        <a:cs typeface="+mn-cs"/>
                                      </a:rPr>
                                      <m:t>𝒏</m:t>
                                    </m:r>
                                    <m:r>
                                      <a:rPr lang="en-US" altLang="zh-CN" sz="1400" b="1" i="1" kern="1200" smtClean="0">
                                        <a:solidFill>
                                          <a:srgbClr val="C00000"/>
                                        </a:solidFill>
                                        <a:latin typeface="Cambria Math" panose="02040503050406030204" pitchFamily="18" charset="0"/>
                                        <a:ea typeface="+mn-ea"/>
                                        <a:cs typeface="+mn-cs"/>
                                      </a:rPr>
                                      <m:t>−</m:t>
                                    </m:r>
                                    <m:r>
                                      <a:rPr lang="en-US" altLang="zh-CN" sz="1400" b="1" i="1" kern="1200" smtClean="0">
                                        <a:solidFill>
                                          <a:srgbClr val="C00000"/>
                                        </a:solidFill>
                                        <a:latin typeface="Cambria Math" panose="02040503050406030204" pitchFamily="18" charset="0"/>
                                        <a:ea typeface="+mn-ea"/>
                                        <a:cs typeface="+mn-cs"/>
                                      </a:rPr>
                                      <m:t>𝟏</m:t>
                                    </m:r>
                                  </m:e>
                                </m:d>
                              </m:oMath>
                            </m:oMathPara>
                          </a14:m>
                          <a:endParaRPr lang="zh-CN" altLang="en-US" sz="1400" b="1" i="1" kern="1200">
                            <a:solidFill>
                              <a:srgbClr val="C00000"/>
                            </a:solidFill>
                            <a:latin typeface="Cambria Math" panose="02040503050406030204" pitchFamily="18" charset="0"/>
                            <a:ea typeface="+mn-ea"/>
                            <a:cs typeface="+mn-cs"/>
                          </a:endParaRPr>
                        </a:p>
                      </a:txBody>
                      <a:tcPr anchor="ctr"/>
                    </a:tc>
                  </a:tr>
                </a:tbl>
              </a:graphicData>
            </a:graphic>
          </p:graphicFrame>
        </mc:Choice>
        <mc:Fallback xmlns="">
          <p:graphicFrame>
            <p:nvGraphicFramePr>
              <p:cNvPr id="2" name="表格 1"/>
              <p:cNvGraphicFramePr>
                <a:graphicFrameLocks noGrp="1"/>
              </p:cNvGraphicFramePr>
              <p:nvPr/>
            </p:nvGraphicFramePr>
            <p:xfrm>
              <a:off x="612936" y="1103964"/>
              <a:ext cx="10966126" cy="5074920"/>
            </p:xfrm>
            <a:graphic>
              <a:graphicData uri="http://schemas.openxmlformats.org/drawingml/2006/table">
                <a:tbl>
                  <a:tblPr firstRow="1" bandRow="1">
                    <a:tableStyleId>{5C22544A-7EE6-4342-B048-85BDC9FD1C3A}</a:tableStyleId>
                  </a:tblPr>
                  <a:tblGrid>
                    <a:gridCol w="6494243"/>
                    <a:gridCol w="4471883"/>
                  </a:tblGrid>
                  <a:tr h="370840">
                    <a:tc>
                      <a:txBody>
                        <a:bodyPr/>
                        <a:lstStyle/>
                        <a:p>
                          <a:r>
                            <a:rPr lang="zh-CN" altLang="en-US" sz="1600"/>
                            <a:t>计数问题</a:t>
                          </a:r>
                          <a:endParaRPr lang="zh-CN" altLang="en-US" sz="1600"/>
                        </a:p>
                      </a:txBody>
                      <a:tcPr/>
                    </a:tc>
                    <a:tc>
                      <a:txBody>
                        <a:bodyPr/>
                        <a:lstStyle/>
                        <a:p>
                          <a:r>
                            <a:rPr lang="zh-CN" altLang="en-US" sz="1600"/>
                            <a:t>计数公式</a:t>
                          </a:r>
                          <a:endParaRPr lang="zh-CN" altLang="en-US" sz="1600"/>
                        </a:p>
                      </a:txBody>
                      <a:tcPr/>
                    </a:tc>
                  </a:tr>
                  <a:tr h="370840">
                    <a:tc>
                      <a:txBody>
                        <a:bodyPr/>
                        <a:lstStyle/>
                        <a:p>
                          <a:endParaRPr lang="zh-CN"/>
                        </a:p>
                      </a:txBody>
                      <a:tcPr>
                        <a:blipFill>
                          <a:blip r:embed="rId1"/>
                        </a:blipFill>
                      </a:tcPr>
                    </a:tc>
                    <a:tc>
                      <a:txBody>
                        <a:bodyPr/>
                        <a:lstStyle/>
                        <a:p>
                          <a:endParaRPr lang="zh-CN"/>
                        </a:p>
                      </a:txBody>
                      <a:tcPr anchor="ctr">
                        <a:blipFill>
                          <a:blip r:embed="rId1"/>
                        </a:blipFill>
                      </a:tcPr>
                    </a:tc>
                  </a:tr>
                  <a:tr h="370840">
                    <a:tc>
                      <a:txBody>
                        <a:bodyPr/>
                        <a:lstStyle/>
                        <a:p>
                          <a:endParaRPr lang="zh-CN"/>
                        </a:p>
                      </a:txBody>
                      <a:tcPr>
                        <a:blipFill>
                          <a:blip r:embed="rId1"/>
                        </a:blipFill>
                      </a:tcPr>
                    </a:tc>
                    <a:tc>
                      <a:txBody>
                        <a:bodyPr/>
                        <a:lstStyle/>
                        <a:p>
                          <a:endParaRPr lang="zh-CN"/>
                        </a:p>
                      </a:txBody>
                      <a:tcPr anchor="ctr">
                        <a:blipFill>
                          <a:blip r:embed="rId1"/>
                        </a:blipFill>
                      </a:tcPr>
                    </a:tc>
                  </a:tr>
                  <a:tr h="370840">
                    <a:tc>
                      <a:txBody>
                        <a:bodyPr/>
                        <a:lstStyle/>
                        <a:p>
                          <a:endParaRPr lang="zh-CN"/>
                        </a:p>
                      </a:txBody>
                      <a:tcPr>
                        <a:blipFill>
                          <a:blip r:embed="rId1"/>
                        </a:blipFill>
                      </a:tcPr>
                    </a:tc>
                    <a:tc>
                      <a:txBody>
                        <a:bodyPr/>
                        <a:lstStyle/>
                        <a:p>
                          <a:endParaRPr lang="zh-CN"/>
                        </a:p>
                      </a:txBody>
                      <a:tcPr anchor="ctr">
                        <a:blipFill>
                          <a:blip r:embed="rId1"/>
                        </a:blipFill>
                      </a:tcPr>
                    </a:tc>
                  </a:tr>
                  <a:tr h="370840">
                    <a:tc>
                      <a:txBody>
                        <a:bodyPr/>
                        <a:lstStyle/>
                        <a:p>
                          <a:endParaRPr lang="zh-CN"/>
                        </a:p>
                      </a:txBody>
                      <a:tcPr>
                        <a:blipFill>
                          <a:blip r:embed="rId1"/>
                        </a:blipFill>
                      </a:tcPr>
                    </a:tc>
                    <a:tc>
                      <a:txBody>
                        <a:bodyPr/>
                        <a:lstStyle/>
                        <a:p>
                          <a:endParaRPr lang="zh-CN"/>
                        </a:p>
                      </a:txBody>
                      <a:tcPr anchor="ctr">
                        <a:blipFill>
                          <a:blip r:embed="rId1"/>
                        </a:blipFill>
                      </a:tcPr>
                    </a:tc>
                  </a:tr>
                  <a:tr h="370840">
                    <a:tc>
                      <a:txBody>
                        <a:bodyPr/>
                        <a:lstStyle/>
                        <a:p>
                          <a:endParaRPr lang="zh-CN"/>
                        </a:p>
                      </a:txBody>
                      <a:tcPr>
                        <a:blipFill>
                          <a:blip r:embed="rId1"/>
                        </a:blipFill>
                      </a:tcPr>
                    </a:tc>
                    <a:tc>
                      <a:txBody>
                        <a:bodyPr/>
                        <a:lstStyle/>
                        <a:p>
                          <a:endParaRPr lang="zh-CN"/>
                        </a:p>
                      </a:txBody>
                      <a:tcPr anchor="ctr">
                        <a:blipFill>
                          <a:blip r:embed="rId1"/>
                        </a:blipFill>
                      </a:tcPr>
                    </a:tc>
                  </a:tr>
                  <a:tr h="579120">
                    <a:tc>
                      <a:txBody>
                        <a:bodyPr/>
                        <a:lstStyle/>
                        <a:p>
                          <a:endParaRPr lang="zh-CN"/>
                        </a:p>
                      </a:txBody>
                      <a:tcPr>
                        <a:blipFill>
                          <a:blip r:embed="rId1"/>
                        </a:blipFill>
                      </a:tcPr>
                    </a:tc>
                    <a:tc>
                      <a:txBody>
                        <a:bodyPr/>
                        <a:lstStyle/>
                        <a:p>
                          <a:endParaRPr lang="zh-CN"/>
                        </a:p>
                      </a:txBody>
                      <a:tcPr anchor="ctr">
                        <a:blipFill>
                          <a:blip r:embed="rId1"/>
                        </a:blipFill>
                      </a:tcPr>
                    </a:tc>
                  </a:tr>
                  <a:tr h="579120">
                    <a:tc>
                      <a:txBody>
                        <a:bodyPr/>
                        <a:lstStyle/>
                        <a:p>
                          <a:endParaRPr lang="zh-CN"/>
                        </a:p>
                      </a:txBody>
                      <a:tcPr>
                        <a:blipFill>
                          <a:blip r:embed="rId1"/>
                        </a:blipFill>
                      </a:tcPr>
                    </a:tc>
                    <a:tc>
                      <a:txBody>
                        <a:bodyPr/>
                        <a:lstStyle/>
                        <a:p>
                          <a:endParaRPr lang="zh-CN"/>
                        </a:p>
                      </a:txBody>
                      <a:tcPr anchor="ctr">
                        <a:blipFill>
                          <a:blip r:embed="rId1"/>
                        </a:blipFill>
                      </a:tcPr>
                    </a:tc>
                  </a:tr>
                  <a:tr h="370840">
                    <a:tc>
                      <a:txBody>
                        <a:bodyPr/>
                        <a:lstStyle/>
                        <a:p>
                          <a:endParaRPr lang="zh-CN"/>
                        </a:p>
                      </a:txBody>
                      <a:tcPr>
                        <a:blipFill>
                          <a:blip r:embed="rId1"/>
                        </a:blipFill>
                      </a:tcPr>
                    </a:tc>
                    <a:tc>
                      <a:txBody>
                        <a:bodyPr/>
                        <a:lstStyle/>
                        <a:p>
                          <a:endParaRPr lang="zh-CN"/>
                        </a:p>
                      </a:txBody>
                      <a:tcPr anchor="ctr">
                        <a:blipFill>
                          <a:blip r:embed="rId1"/>
                        </a:blipFill>
                      </a:tcPr>
                    </a:tc>
                  </a:tr>
                  <a:tr h="579120">
                    <a:tc>
                      <a:txBody>
                        <a:bodyPr/>
                        <a:lstStyle/>
                        <a:p>
                          <a:endParaRPr lang="zh-CN"/>
                        </a:p>
                      </a:txBody>
                      <a:tcPr>
                        <a:blipFill>
                          <a:blip r:embed="rId1"/>
                        </a:blipFill>
                      </a:tcPr>
                    </a:tc>
                    <a:tc>
                      <a:txBody>
                        <a:bodyPr/>
                        <a:lstStyle/>
                        <a:p>
                          <a:endParaRPr lang="zh-CN"/>
                        </a:p>
                      </a:txBody>
                      <a:tcPr anchor="ctr">
                        <a:blipFill>
                          <a:blip r:embed="rId1"/>
                        </a:blipFill>
                      </a:tcPr>
                    </a:tc>
                  </a:tr>
                  <a:tr h="370840">
                    <a:tc>
                      <a:txBody>
                        <a:bodyPr/>
                        <a:lstStyle/>
                        <a:p>
                          <a:endParaRPr lang="zh-CN"/>
                        </a:p>
                      </a:txBody>
                      <a:tcPr>
                        <a:blipFill>
                          <a:blip r:embed="rId1"/>
                        </a:blipFill>
                      </a:tcPr>
                    </a:tc>
                    <a:tc>
                      <a:txBody>
                        <a:bodyPr/>
                        <a:lstStyle/>
                        <a:p>
                          <a:endParaRPr lang="zh-CN"/>
                        </a:p>
                      </a:txBody>
                      <a:tcPr anchor="ctr">
                        <a:blipFill>
                          <a:blip r:embed="rId1"/>
                        </a:blipFill>
                      </a:tcPr>
                    </a:tc>
                  </a:tr>
                  <a:tr h="370840">
                    <a:tc>
                      <a:txBody>
                        <a:bodyPr/>
                        <a:lstStyle/>
                        <a:p>
                          <a:endParaRPr lang="zh-CN"/>
                        </a:p>
                      </a:txBody>
                      <a:tcPr>
                        <a:blipFill>
                          <a:blip r:embed="rId1"/>
                        </a:blipFill>
                      </a:tcPr>
                    </a:tc>
                    <a:tc>
                      <a:txBody>
                        <a:bodyPr/>
                        <a:lstStyle/>
                        <a:p>
                          <a:endParaRPr lang="zh-CN"/>
                        </a:p>
                      </a:txBody>
                      <a:tcPr anchor="ctr">
                        <a:blipFill>
                          <a:blip r:embed="rId1"/>
                        </a:blipFill>
                      </a:tcPr>
                    </a:tc>
                  </a:tr>
                </a:tbl>
              </a:graphicData>
            </a:graphic>
          </p:graphicFrame>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组合计数</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容斥原理及一些相关公式</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1181379" y="1604518"/>
                <a:ext cx="10125144" cy="2641236"/>
              </a:xfrm>
              <a:prstGeom prst="rect">
                <a:avLst/>
              </a:prstGeom>
              <a:solidFill>
                <a:schemeClr val="accent4">
                  <a:lumMod val="20000"/>
                  <a:lumOff val="80000"/>
                </a:schemeClr>
              </a:solidFill>
            </p:spPr>
            <p:txBody>
              <a:bodyPr wrap="square" rtlCol="0">
                <a:spAutoFit/>
              </a:bodyPr>
              <a:lstStyle/>
              <a:p>
                <a:pPr>
                  <a:spcBef>
                    <a:spcPts val="600"/>
                  </a:spcBef>
                  <a:spcAft>
                    <a:spcPts val="400"/>
                  </a:spcAft>
                </a:pP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𝑨</m:t>
                            </m:r>
                          </m:e>
                        </m:ba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𝑼</m:t>
                        </m: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e>
                    </m:d>
                  </m:oMath>
                </a14:m>
                <a:r>
                  <a:rPr lang="en-US" altLang="zh-CN" b="1">
                    <a:solidFill>
                      <a:schemeClr val="accent2">
                        <a:lumMod val="50000"/>
                      </a:schemeClr>
                    </a:solidFill>
                    <a:latin typeface="等线" panose="02010600030101010101" charset="-122"/>
                    <a:ea typeface="等线" panose="02010600030101010101" charset="-122"/>
                  </a:rPr>
                  <a:t>                </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e>
                    </m:d>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𝑩</m:t>
                        </m:r>
                      </m:e>
                    </m:bar>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e>
                    </m:d>
                  </m:oMath>
                </a14:m>
                <a:r>
                  <a:rPr lang="en-US" altLang="zh-CN" b="1">
                    <a:solidFill>
                      <a:schemeClr val="accent2">
                        <a:lumMod val="50000"/>
                      </a:schemeClr>
                    </a:solidFill>
                    <a:latin typeface="等线" panose="02010600030101010101" charset="-122"/>
                    <a:ea typeface="等线" panose="02010600030101010101" charset="-122"/>
                  </a:rPr>
                  <a:t>               </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𝑨</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𝑩</m:t>
                        </m:r>
                      </m:e>
                    </m:d>
                    <m:r>
                      <a:rPr lang="en-US" altLang="zh-CN" b="1" i="1">
                        <a:solidFill>
                          <a:schemeClr val="accent2">
                            <a:lumMod val="50000"/>
                          </a:schemeClr>
                        </a:solidFill>
                        <a:latin typeface="Cambria Math" panose="02040503050406030204" pitchFamily="18" charset="0"/>
                      </a:rPr>
                      <m:t>= </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𝑨</m:t>
                        </m:r>
                      </m:e>
                    </m:d>
                    <m:r>
                      <a:rPr lang="en-US" altLang="zh-CN" b="1" i="1">
                        <a:solidFill>
                          <a:schemeClr val="accent2">
                            <a:lumMod val="50000"/>
                          </a:schemeClr>
                        </a:solidFill>
                        <a:latin typeface="Cambria Math" panose="02040503050406030204" pitchFamily="18" charset="0"/>
                      </a:rPr>
                      <m:t>+</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𝑩</m:t>
                        </m:r>
                      </m:e>
                    </m:d>
                    <m:r>
                      <a:rPr lang="en-US" altLang="zh-CN" b="1" i="1">
                        <a:solidFill>
                          <a:schemeClr val="accent2">
                            <a:lumMod val="50000"/>
                          </a:schemeClr>
                        </a:solidFill>
                        <a:latin typeface="Cambria Math" panose="02040503050406030204" pitchFamily="18" charset="0"/>
                      </a:rPr>
                      <m:t>−</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𝑨</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𝑩</m:t>
                        </m:r>
                      </m:e>
                    </m:d>
                  </m:oMath>
                </a14:m>
                <a:endParaRPr lang="en-US" altLang="zh-CN" b="1">
                  <a:solidFill>
                    <a:schemeClr val="accent2">
                      <a:lumMod val="50000"/>
                    </a:schemeClr>
                  </a:solidFill>
                  <a:latin typeface="等线" panose="02010600030101010101" charset="-122"/>
                  <a:ea typeface="等线" panose="02010600030101010101" charset="-122"/>
                </a:endParaRPr>
              </a:p>
              <a:p>
                <a:pPr>
                  <a:spcBef>
                    <a:spcPts val="600"/>
                  </a:spcBef>
                  <a:spcAft>
                    <a:spcPts val="400"/>
                  </a:spcAft>
                </a:pP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𝑪</m:t>
                        </m: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𝑩</m:t>
                        </m: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𝑪</m:t>
                        </m: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𝑪</m:t>
                        </m: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𝑩</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𝑪</m:t>
                        </m: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𝑪</m:t>
                        </m:r>
                      </m:e>
                    </m:d>
                  </m:oMath>
                </a14:m>
                <a:r>
                  <a:rPr lang="en-US" altLang="zh-CN" b="1">
                    <a:solidFill>
                      <a:schemeClr val="accent2">
                        <a:lumMod val="50000"/>
                      </a:schemeClr>
                    </a:solidFill>
                    <a:latin typeface="等线" panose="02010600030101010101" charset="-122"/>
                    <a:ea typeface="等线" panose="02010600030101010101" charset="-122"/>
                  </a:rPr>
                  <a:t> </a:t>
                </a:r>
                <a:endParaRPr lang="en-US" altLang="zh-CN" b="1">
                  <a:solidFill>
                    <a:schemeClr val="accent2">
                      <a:lumMod val="50000"/>
                    </a:schemeClr>
                  </a:solidFill>
                  <a:latin typeface="等线" panose="02010600030101010101" charset="-122"/>
                  <a:ea typeface="等线" panose="02010600030101010101" charset="-122"/>
                </a:endParaRPr>
              </a:p>
              <a:p>
                <a:pPr>
                  <a:spcBef>
                    <a:spcPts val="600"/>
                  </a:spcBef>
                  <a:spcAft>
                    <a:spcPts val="400"/>
                  </a:spcAft>
                </a:pP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𝑨</m:t>
                            </m:r>
                          </m:e>
                        </m:bar>
                        <m:r>
                          <a:rPr lang="en-US" altLang="zh-CN" b="1" i="1" smtClean="0">
                            <a:solidFill>
                              <a:schemeClr val="accent2">
                                <a:lumMod val="50000"/>
                              </a:schemeClr>
                            </a:solidFill>
                            <a:latin typeface="Cambria Math" panose="02040503050406030204" pitchFamily="18" charset="0"/>
                            <a:ea typeface="等线" panose="02010600030101010101" charset="-122"/>
                          </a:rPr>
                          <m:t>∩</m:t>
                        </m:r>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𝑩</m:t>
                            </m:r>
                          </m:e>
                        </m:ba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e>
                        </m:ba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𝑼</m:t>
                        </m: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𝑼</m:t>
                        </m: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𝑩</m:t>
                        </m: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e>
                    </m:d>
                  </m:oMath>
                </a14:m>
                <a:r>
                  <a:rPr lang="en-US" altLang="zh-CN" b="1">
                    <a:solidFill>
                      <a:schemeClr val="accent2">
                        <a:lumMod val="50000"/>
                      </a:schemeClr>
                    </a:solidFill>
                    <a:latin typeface="等线" panose="02010600030101010101" charset="-122"/>
                    <a:ea typeface="等线" panose="02010600030101010101" charset="-122"/>
                  </a:rPr>
                  <a:t> </a:t>
                </a:r>
                <a:endParaRPr lang="en-US" altLang="zh-CN" b="1">
                  <a:solidFill>
                    <a:schemeClr val="accent2">
                      <a:lumMod val="50000"/>
                    </a:schemeClr>
                  </a:solidFill>
                  <a:latin typeface="等线" panose="02010600030101010101" charset="-122"/>
                  <a:ea typeface="等线" panose="02010600030101010101" charset="-122"/>
                </a:endParaRPr>
              </a:p>
              <a:p>
                <a:pPr>
                  <a:spcBef>
                    <a:spcPts val="600"/>
                  </a:spcBef>
                  <a:spcAft>
                    <a:spcPts val="400"/>
                  </a:spcAft>
                </a:pP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𝑨</m:t>
                            </m:r>
                          </m:e>
                        </m:bar>
                        <m:r>
                          <a:rPr lang="en-US" altLang="zh-CN" b="1" i="1" smtClean="0">
                            <a:solidFill>
                              <a:schemeClr val="accent2">
                                <a:lumMod val="50000"/>
                              </a:schemeClr>
                            </a:solidFill>
                            <a:latin typeface="Cambria Math" panose="02040503050406030204" pitchFamily="18" charset="0"/>
                            <a:ea typeface="等线" panose="02010600030101010101" charset="-122"/>
                          </a:rPr>
                          <m:t>∪</m:t>
                        </m:r>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𝑩</m:t>
                            </m:r>
                          </m:e>
                        </m:ba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e>
                        </m:ba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𝑼</m:t>
                        </m: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e>
                    </m:d>
                  </m:oMath>
                </a14:m>
                <a:r>
                  <a:rPr lang="en-US" altLang="zh-CN" b="1">
                    <a:solidFill>
                      <a:schemeClr val="accent2">
                        <a:lumMod val="50000"/>
                      </a:schemeClr>
                    </a:solidFill>
                    <a:latin typeface="等线" panose="02010600030101010101" charset="-122"/>
                    <a:ea typeface="等线" panose="02010600030101010101" charset="-122"/>
                  </a:rPr>
                  <a:t>         </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𝑨</m:t>
                        </m:r>
                        <m:r>
                          <a:rPr lang="en-US" altLang="zh-CN" b="1" i="1">
                            <a:solidFill>
                              <a:schemeClr val="accent2">
                                <a:lumMod val="50000"/>
                              </a:schemeClr>
                            </a:solidFill>
                            <a:latin typeface="Cambria Math" panose="02040503050406030204" pitchFamily="18" charset="0"/>
                          </a:rPr>
                          <m:t>∪</m:t>
                        </m:r>
                        <m:bar>
                          <m:barPr>
                            <m:pos m:val="top"/>
                            <m:ctrlPr>
                              <a:rPr lang="en-US" altLang="zh-CN" b="1" i="1">
                                <a:solidFill>
                                  <a:schemeClr val="accent2">
                                    <a:lumMod val="50000"/>
                                  </a:schemeClr>
                                </a:solidFill>
                                <a:latin typeface="Cambria Math" panose="02040503050406030204" pitchFamily="18" charset="0"/>
                              </a:rPr>
                            </m:ctrlPr>
                          </m:barPr>
                          <m:e>
                            <m:r>
                              <a:rPr lang="en-US" altLang="zh-CN" b="1" i="1">
                                <a:solidFill>
                                  <a:schemeClr val="accent2">
                                    <a:lumMod val="50000"/>
                                  </a:schemeClr>
                                </a:solidFill>
                                <a:latin typeface="Cambria Math" panose="02040503050406030204" pitchFamily="18" charset="0"/>
                              </a:rPr>
                              <m:t>𝑩</m:t>
                            </m:r>
                          </m:e>
                        </m:bar>
                      </m:e>
                    </m:d>
                    <m:r>
                      <a:rPr lang="en-US" altLang="zh-CN" b="1" i="1">
                        <a:solidFill>
                          <a:schemeClr val="accent2">
                            <a:lumMod val="50000"/>
                          </a:schemeClr>
                        </a:solidFill>
                        <a:latin typeface="Cambria Math" panose="02040503050406030204" pitchFamily="18" charset="0"/>
                      </a:rPr>
                      <m:t>=</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𝑨</m:t>
                        </m:r>
                      </m:e>
                    </m:d>
                    <m:r>
                      <a:rPr lang="en-US" altLang="zh-CN" b="1" i="1">
                        <a:solidFill>
                          <a:schemeClr val="accent2">
                            <a:lumMod val="50000"/>
                          </a:schemeClr>
                        </a:solidFill>
                        <a:latin typeface="Cambria Math" panose="02040503050406030204" pitchFamily="18" charset="0"/>
                      </a:rPr>
                      <m:t>+</m:t>
                    </m:r>
                    <m:d>
                      <m:dPr>
                        <m:begChr m:val="|"/>
                        <m:endChr m:val="|"/>
                        <m:ctrlPr>
                          <a:rPr lang="en-US" altLang="zh-CN" b="1" i="1">
                            <a:solidFill>
                              <a:schemeClr val="accent2">
                                <a:lumMod val="50000"/>
                              </a:schemeClr>
                            </a:solidFill>
                            <a:latin typeface="Cambria Math" panose="02040503050406030204" pitchFamily="18" charset="0"/>
                          </a:rPr>
                        </m:ctrlPr>
                      </m:dPr>
                      <m:e>
                        <m:bar>
                          <m:barPr>
                            <m:pos m:val="top"/>
                            <m:ctrlPr>
                              <a:rPr lang="en-US" altLang="zh-CN" b="1" i="1">
                                <a:solidFill>
                                  <a:schemeClr val="accent2">
                                    <a:lumMod val="50000"/>
                                  </a:schemeClr>
                                </a:solidFill>
                                <a:latin typeface="Cambria Math" panose="02040503050406030204" pitchFamily="18" charset="0"/>
                              </a:rPr>
                            </m:ctrlPr>
                          </m:barPr>
                          <m:e>
                            <m:r>
                              <a:rPr lang="en-US" altLang="zh-CN" b="1" i="1">
                                <a:solidFill>
                                  <a:schemeClr val="accent2">
                                    <a:lumMod val="50000"/>
                                  </a:schemeClr>
                                </a:solidFill>
                                <a:latin typeface="Cambria Math" panose="02040503050406030204" pitchFamily="18" charset="0"/>
                              </a:rPr>
                              <m:t>𝑩</m:t>
                            </m:r>
                          </m:e>
                        </m:bar>
                      </m:e>
                    </m:d>
                    <m:r>
                      <a:rPr lang="en-US" altLang="zh-CN" b="1" i="1">
                        <a:solidFill>
                          <a:schemeClr val="accent2">
                            <a:lumMod val="50000"/>
                          </a:schemeClr>
                        </a:solidFill>
                        <a:latin typeface="Cambria Math" panose="02040503050406030204" pitchFamily="18" charset="0"/>
                      </a:rPr>
                      <m:t>−</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𝑨</m:t>
                        </m:r>
                        <m:r>
                          <a:rPr lang="en-US" altLang="zh-CN" b="1" i="1">
                            <a:solidFill>
                              <a:schemeClr val="accent2">
                                <a:lumMod val="50000"/>
                              </a:schemeClr>
                            </a:solidFill>
                            <a:latin typeface="Cambria Math" panose="02040503050406030204" pitchFamily="18" charset="0"/>
                          </a:rPr>
                          <m:t>∩</m:t>
                        </m:r>
                        <m:bar>
                          <m:barPr>
                            <m:pos m:val="top"/>
                            <m:ctrlPr>
                              <a:rPr lang="en-US" altLang="zh-CN" b="1" i="1">
                                <a:solidFill>
                                  <a:schemeClr val="accent2">
                                    <a:lumMod val="50000"/>
                                  </a:schemeClr>
                                </a:solidFill>
                                <a:latin typeface="Cambria Math" panose="02040503050406030204" pitchFamily="18" charset="0"/>
                              </a:rPr>
                            </m:ctrlPr>
                          </m:barPr>
                          <m:e>
                            <m:r>
                              <a:rPr lang="en-US" altLang="zh-CN" b="1" i="1">
                                <a:solidFill>
                                  <a:schemeClr val="accent2">
                                    <a:lumMod val="50000"/>
                                  </a:schemeClr>
                                </a:solidFill>
                                <a:latin typeface="Cambria Math" panose="02040503050406030204" pitchFamily="18" charset="0"/>
                              </a:rPr>
                              <m:t>𝑩</m:t>
                            </m:r>
                          </m:e>
                        </m:bar>
                      </m:e>
                    </m:d>
                    <m:r>
                      <a:rPr lang="en-US" altLang="zh-CN" b="1" i="1">
                        <a:solidFill>
                          <a:schemeClr val="accent2">
                            <a:lumMod val="50000"/>
                          </a:schemeClr>
                        </a:solidFill>
                        <a:latin typeface="Cambria Math" panose="02040503050406030204" pitchFamily="18" charset="0"/>
                      </a:rPr>
                      <m:t>=</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𝑼</m:t>
                        </m:r>
                      </m:e>
                    </m:d>
                    <m:r>
                      <a:rPr lang="en-US" altLang="zh-CN" b="1" i="1">
                        <a:solidFill>
                          <a:schemeClr val="accent2">
                            <a:lumMod val="50000"/>
                          </a:schemeClr>
                        </a:solidFill>
                        <a:latin typeface="Cambria Math" panose="02040503050406030204" pitchFamily="18" charset="0"/>
                      </a:rPr>
                      <m:t>−</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𝑩</m:t>
                        </m:r>
                      </m:e>
                    </m:d>
                    <m:r>
                      <a:rPr lang="en-US" altLang="zh-CN" b="1" i="1">
                        <a:solidFill>
                          <a:schemeClr val="accent2">
                            <a:lumMod val="50000"/>
                          </a:schemeClr>
                        </a:solidFill>
                        <a:latin typeface="Cambria Math" panose="02040503050406030204" pitchFamily="18" charset="0"/>
                      </a:rPr>
                      <m:t>+</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𝑨</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𝑩</m:t>
                        </m:r>
                      </m:e>
                    </m:d>
                  </m:oMath>
                </a14:m>
                <a:endParaRPr lang="en-US" altLang="zh-CN" b="1">
                  <a:solidFill>
                    <a:schemeClr val="accent2">
                      <a:lumMod val="50000"/>
                    </a:schemeClr>
                  </a:solidFill>
                  <a:latin typeface="等线" panose="02010600030101010101" charset="-122"/>
                  <a:ea typeface="等线" panose="02010600030101010101" charset="-122"/>
                </a:endParaRPr>
              </a:p>
              <a:p>
                <a:pPr>
                  <a:spcBef>
                    <a:spcPts val="600"/>
                  </a:spcBef>
                  <a:spcAft>
                    <a:spcPts val="400"/>
                  </a:spcAft>
                </a:pP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𝑩</m:t>
                            </m:r>
                          </m:e>
                        </m:bar>
                        <m:r>
                          <a:rPr lang="en-US" altLang="zh-CN" b="1" i="1" smtClean="0">
                            <a:solidFill>
                              <a:schemeClr val="accent2">
                                <a:lumMod val="50000"/>
                              </a:schemeClr>
                            </a:solidFill>
                            <a:latin typeface="Cambria Math" panose="02040503050406030204" pitchFamily="18" charset="0"/>
                            <a:ea typeface="等线" panose="02010600030101010101" charset="-122"/>
                          </a:rPr>
                          <m:t>∩</m:t>
                        </m:r>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𝑪</m:t>
                            </m:r>
                          </m:e>
                        </m:ba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𝑩</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𝑪</m:t>
                            </m:r>
                          </m:e>
                        </m:ba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d>
                          <m:dPr>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e>
                        </m:d>
                        <m:r>
                          <a:rPr lang="en-US" altLang="zh-CN" b="1" i="1" smtClean="0">
                            <a:solidFill>
                              <a:schemeClr val="accent2">
                                <a:lumMod val="50000"/>
                              </a:schemeClr>
                            </a:solidFill>
                            <a:latin typeface="Cambria Math" panose="02040503050406030204" pitchFamily="18" charset="0"/>
                            <a:ea typeface="等线" panose="02010600030101010101" charset="-122"/>
                          </a:rPr>
                          <m:t>∪</m:t>
                        </m:r>
                        <m:d>
                          <m:dPr>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𝑪</m:t>
                            </m:r>
                          </m:e>
                        </m:d>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𝑪</m:t>
                        </m: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𝑪</m:t>
                        </m:r>
                      </m:e>
                    </m:d>
                  </m:oMath>
                </a14:m>
                <a:r>
                  <a:rPr lang="en-US" altLang="zh-CN" b="1">
                    <a:solidFill>
                      <a:schemeClr val="accent2">
                        <a:lumMod val="50000"/>
                      </a:schemeClr>
                    </a:solidFill>
                    <a:latin typeface="等线" panose="02010600030101010101" charset="-122"/>
                    <a:ea typeface="等线" panose="02010600030101010101" charset="-122"/>
                  </a:rPr>
                  <a:t> </a:t>
                </a:r>
                <a:endParaRPr lang="en-US" altLang="zh-CN" b="1">
                  <a:solidFill>
                    <a:schemeClr val="accent2">
                      <a:lumMod val="50000"/>
                    </a:schemeClr>
                  </a:solidFill>
                  <a:latin typeface="等线" panose="02010600030101010101" charset="-122"/>
                  <a:ea typeface="等线" panose="02010600030101010101" charset="-122"/>
                </a:endParaRPr>
              </a:p>
              <a:p>
                <a:pPr>
                  <a:spcBef>
                    <a:spcPts val="600"/>
                  </a:spcBef>
                  <a:spcAft>
                    <a:spcPts val="400"/>
                  </a:spcAft>
                </a:pP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r>
                          <a:rPr lang="en-US" altLang="zh-CN" b="1" i="1" smtClean="0">
                            <a:solidFill>
                              <a:schemeClr val="accent2">
                                <a:lumMod val="50000"/>
                              </a:schemeClr>
                            </a:solidFill>
                            <a:latin typeface="Cambria Math" panose="02040503050406030204" pitchFamily="18" charset="0"/>
                            <a:ea typeface="等线" panose="02010600030101010101" charset="-122"/>
                          </a:rPr>
                          <m:t>∩</m:t>
                        </m:r>
                        <m:bar>
                          <m:barPr>
                            <m:pos m:val="top"/>
                            <m:ctrlPr>
                              <a:rPr lang="en-US" altLang="zh-CN" b="1" i="1" smtClean="0">
                                <a:solidFill>
                                  <a:schemeClr val="accent2">
                                    <a:lumMod val="50000"/>
                                  </a:schemeClr>
                                </a:solidFill>
                                <a:latin typeface="Cambria Math" panose="02040503050406030204" pitchFamily="18" charset="0"/>
                                <a:ea typeface="等线" panose="02010600030101010101" charset="-122"/>
                              </a:rPr>
                            </m:ctrlPr>
                          </m:barPr>
                          <m:e>
                            <m:r>
                              <a:rPr lang="en-US" altLang="zh-CN" b="1" i="1" smtClean="0">
                                <a:solidFill>
                                  <a:schemeClr val="accent2">
                                    <a:lumMod val="50000"/>
                                  </a:schemeClr>
                                </a:solidFill>
                                <a:latin typeface="Cambria Math" panose="02040503050406030204" pitchFamily="18" charset="0"/>
                                <a:ea typeface="等线" panose="02010600030101010101" charset="-122"/>
                              </a:rPr>
                              <m:t>𝑪</m:t>
                            </m:r>
                          </m:e>
                        </m:ba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e>
                    </m:d>
                    <m:r>
                      <a:rPr lang="en-US" altLang="zh-CN" b="1" i="1" smtClean="0">
                        <a:solidFill>
                          <a:schemeClr val="accent2">
                            <a:lumMod val="50000"/>
                          </a:schemeClr>
                        </a:solidFill>
                        <a:latin typeface="Cambria Math" panose="02040503050406030204" pitchFamily="18" charset="0"/>
                        <a:ea typeface="等线" panose="02010600030101010101" charset="-122"/>
                      </a:rPr>
                      <m:t>− </m:t>
                    </m:r>
                    <m:d>
                      <m:dPr>
                        <m:begChr m:val="|"/>
                        <m:endChr m:val="|"/>
                        <m:ctrlPr>
                          <a:rPr lang="en-US" altLang="zh-CN" b="1" i="1" smtClean="0">
                            <a:solidFill>
                              <a:schemeClr val="accent2">
                                <a:lumMod val="50000"/>
                              </a:schemeClr>
                            </a:solidFill>
                            <a:latin typeface="Cambria Math" panose="02040503050406030204" pitchFamily="18" charset="0"/>
                            <a:ea typeface="等线" panose="02010600030101010101" charset="-122"/>
                          </a:rPr>
                        </m:ctrlPr>
                      </m:dPr>
                      <m:e>
                        <m:r>
                          <a:rPr lang="en-US" altLang="zh-CN" b="1" i="1" smtClean="0">
                            <a:solidFill>
                              <a:schemeClr val="accent2">
                                <a:lumMod val="50000"/>
                              </a:schemeClr>
                            </a:solidFill>
                            <a:latin typeface="Cambria Math" panose="02040503050406030204" pitchFamily="18" charset="0"/>
                            <a:ea typeface="等线" panose="02010600030101010101" charset="-122"/>
                          </a:rPr>
                          <m:t>𝑨</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𝑩</m:t>
                        </m:r>
                        <m:r>
                          <a:rPr lang="en-US" altLang="zh-CN" b="1" i="1" smtClean="0">
                            <a:solidFill>
                              <a:schemeClr val="accent2">
                                <a:lumMod val="50000"/>
                              </a:schemeClr>
                            </a:solidFill>
                            <a:latin typeface="Cambria Math" panose="02040503050406030204" pitchFamily="18" charset="0"/>
                            <a:ea typeface="等线" panose="02010600030101010101" charset="-122"/>
                          </a:rPr>
                          <m:t>∩</m:t>
                        </m:r>
                        <m:r>
                          <a:rPr lang="en-US" altLang="zh-CN" b="1" i="1" smtClean="0">
                            <a:solidFill>
                              <a:schemeClr val="accent2">
                                <a:lumMod val="50000"/>
                              </a:schemeClr>
                            </a:solidFill>
                            <a:latin typeface="Cambria Math" panose="02040503050406030204" pitchFamily="18" charset="0"/>
                            <a:ea typeface="等线" panose="02010600030101010101" charset="-122"/>
                          </a:rPr>
                          <m:t>𝑪</m:t>
                        </m:r>
                      </m:e>
                    </m:d>
                  </m:oMath>
                </a14:m>
                <a:r>
                  <a:rPr lang="en-US" altLang="zh-CN" b="1">
                    <a:solidFill>
                      <a:schemeClr val="accent2">
                        <a:lumMod val="50000"/>
                      </a:schemeClr>
                    </a:solidFill>
                    <a:latin typeface="等线" panose="02010600030101010101" charset="-122"/>
                    <a:ea typeface="等线" panose="02010600030101010101" charset="-122"/>
                  </a:rPr>
                  <a:t> </a:t>
                </a:r>
                <a:endParaRPr lang="en-US" altLang="zh-CN" b="1">
                  <a:solidFill>
                    <a:schemeClr val="accent2">
                      <a:lumMod val="50000"/>
                    </a:schemeClr>
                  </a:solidFill>
                  <a:latin typeface="等线" panose="02010600030101010101" charset="-122"/>
                  <a:ea typeface="等线" panose="02010600030101010101"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1181379" y="1604518"/>
                <a:ext cx="10125144" cy="2641236"/>
              </a:xfrm>
              <a:prstGeom prst="rect">
                <a:avLst/>
              </a:prstGeom>
              <a:blipFill rotWithShape="1">
                <a:blip r:embed="rId1"/>
                <a:stretch>
                  <a:fillRect l="-3" t="-19" r="3" b="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181380" y="4444422"/>
                <a:ext cx="9811444" cy="971869"/>
              </a:xfrm>
              <a:prstGeom prst="rect">
                <a:avLst/>
              </a:prstGeom>
              <a:solidFill>
                <a:schemeClr val="accent4">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bar>
                            <m:barPr>
                              <m:pos m:val="top"/>
                              <m:ctrlPr>
                                <a:rPr lang="en-US" altLang="zh-CN" b="1" i="1" smtClean="0">
                                  <a:solidFill>
                                    <a:schemeClr val="accent2">
                                      <a:lumMod val="50000"/>
                                    </a:schemeClr>
                                  </a:solidFill>
                                  <a:latin typeface="Cambria Math" panose="02040503050406030204" pitchFamily="18" charset="0"/>
                                </a:rPr>
                              </m:ctrlPr>
                            </m:barPr>
                            <m:e>
                              <m:r>
                                <a:rPr lang="en-US" altLang="zh-CN" b="1" i="1" smtClean="0">
                                  <a:solidFill>
                                    <a:schemeClr val="accent2">
                                      <a:lumMod val="50000"/>
                                    </a:schemeClr>
                                  </a:solidFill>
                                  <a:latin typeface="Cambria Math" panose="02040503050406030204" pitchFamily="18" charset="0"/>
                                </a:rPr>
                                <m:t>𝑪</m:t>
                              </m:r>
                            </m:e>
                          </m:bar>
                        </m:e>
                      </m:d>
                      <m:r>
                        <a:rPr lang="en-US" altLang="zh-CN" b="1" i="1" smtClean="0">
                          <a:solidFill>
                            <a:schemeClr val="accent2">
                              <a:lumMod val="50000"/>
                            </a:schemeClr>
                          </a:solidFill>
                          <a:latin typeface="Cambria Math" panose="02040503050406030204" pitchFamily="18" charset="0"/>
                        </a:rPr>
                        <m:t>= </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bar>
                            <m:barPr>
                              <m:pos m:val="top"/>
                              <m:ctrlPr>
                                <a:rPr lang="en-US" altLang="zh-CN" b="1" i="1" smtClean="0">
                                  <a:solidFill>
                                    <a:schemeClr val="accent2">
                                      <a:lumMod val="50000"/>
                                    </a:schemeClr>
                                  </a:solidFill>
                                  <a:latin typeface="Cambria Math" panose="02040503050406030204" pitchFamily="18" charset="0"/>
                                </a:rPr>
                              </m:ctrlPr>
                            </m:barPr>
                            <m:e>
                              <m:r>
                                <a:rPr lang="en-US" altLang="zh-CN" b="1" i="1" smtClean="0">
                                  <a:solidFill>
                                    <a:schemeClr val="accent2">
                                      <a:lumMod val="50000"/>
                                    </a:schemeClr>
                                  </a:solidFill>
                                  <a:latin typeface="Cambria Math" panose="02040503050406030204" pitchFamily="18" charset="0"/>
                                </a:rPr>
                                <m:t>𝑪</m:t>
                              </m:r>
                            </m:e>
                          </m:ba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bar>
                            <m:barPr>
                              <m:pos m:val="top"/>
                              <m:ctrlPr>
                                <a:rPr lang="en-US" altLang="zh-CN" b="1" i="1" smtClean="0">
                                  <a:solidFill>
                                    <a:schemeClr val="accent2">
                                      <a:lumMod val="50000"/>
                                    </a:schemeClr>
                                  </a:solidFill>
                                  <a:latin typeface="Cambria Math" panose="02040503050406030204" pitchFamily="18" charset="0"/>
                                </a:rPr>
                              </m:ctrlPr>
                            </m:barPr>
                            <m:e>
                              <m:r>
                                <a:rPr lang="en-US" altLang="zh-CN" b="1" i="1" smtClean="0">
                                  <a:solidFill>
                                    <a:schemeClr val="accent2">
                                      <a:lumMod val="50000"/>
                                    </a:schemeClr>
                                  </a:solidFill>
                                  <a:latin typeface="Cambria Math" panose="02040503050406030204" pitchFamily="18" charset="0"/>
                                </a:rPr>
                                <m:t>𝑪</m:t>
                              </m:r>
                            </m:e>
                          </m:ba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bar>
                            <m:barPr>
                              <m:pos m:val="top"/>
                              <m:ctrlPr>
                                <a:rPr lang="en-US" altLang="zh-CN" b="1" i="1" smtClean="0">
                                  <a:solidFill>
                                    <a:schemeClr val="accent2">
                                      <a:lumMod val="50000"/>
                                    </a:schemeClr>
                                  </a:solidFill>
                                  <a:latin typeface="Cambria Math" panose="02040503050406030204" pitchFamily="18" charset="0"/>
                                </a:rPr>
                              </m:ctrlPr>
                            </m:barPr>
                            <m:e>
                              <m:r>
                                <a:rPr lang="en-US" altLang="zh-CN" b="1" i="1" smtClean="0">
                                  <a:solidFill>
                                    <a:schemeClr val="accent2">
                                      <a:lumMod val="50000"/>
                                    </a:schemeClr>
                                  </a:solidFill>
                                  <a:latin typeface="Cambria Math" panose="02040503050406030204" pitchFamily="18" charset="0"/>
                                </a:rPr>
                                <m:t>𝑪</m:t>
                              </m:r>
                            </m:e>
                          </m:ba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bar>
                            <m:barPr>
                              <m:pos m:val="top"/>
                              <m:ctrlPr>
                                <a:rPr lang="en-US" altLang="zh-CN" b="1" i="1" smtClean="0">
                                  <a:solidFill>
                                    <a:schemeClr val="accent2">
                                      <a:lumMod val="50000"/>
                                    </a:schemeClr>
                                  </a:solidFill>
                                  <a:latin typeface="Cambria Math" panose="02040503050406030204" pitchFamily="18" charset="0"/>
                                </a:rPr>
                              </m:ctrlPr>
                            </m:barPr>
                            <m:e>
                              <m:r>
                                <a:rPr lang="en-US" altLang="zh-CN" b="1" i="1" smtClean="0">
                                  <a:solidFill>
                                    <a:schemeClr val="accent2">
                                      <a:lumMod val="50000"/>
                                    </a:schemeClr>
                                  </a:solidFill>
                                  <a:latin typeface="Cambria Math" panose="02040503050406030204" pitchFamily="18" charset="0"/>
                                </a:rPr>
                                <m:t>𝑪</m:t>
                              </m:r>
                            </m:e>
                          </m:bar>
                        </m:e>
                      </m:d>
                      <m:r>
                        <a:rPr lang="en-US" altLang="zh-CN" b="1" i="1" smtClean="0">
                          <a:solidFill>
                            <a:schemeClr val="accent2">
                              <a:lumMod val="50000"/>
                            </a:schemeClr>
                          </a:solidFill>
                          <a:latin typeface="Cambria Math" panose="02040503050406030204" pitchFamily="18" charset="0"/>
                        </a:rPr>
                        <m:t>= </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𝑼</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𝑪</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 </m:t>
                      </m:r>
                      <m:d>
                        <m:dPr>
                          <m:ctrlPr>
                            <a:rPr lang="en-US" altLang="zh-CN" b="1" i="1" smtClean="0">
                              <a:solidFill>
                                <a:schemeClr val="accent2">
                                  <a:lumMod val="50000"/>
                                </a:schemeClr>
                              </a:solidFill>
                              <a:latin typeface="Cambria Math" panose="02040503050406030204" pitchFamily="18" charset="0"/>
                            </a:rPr>
                          </m:ctrlPr>
                        </m:dPr>
                        <m:e>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e>
                      </m:d>
                      <m:r>
                        <a:rPr lang="en-US" altLang="zh-CN" b="1" i="1" smtClean="0">
                          <a:solidFill>
                            <a:schemeClr val="accent2">
                              <a:lumMod val="50000"/>
                            </a:schemeClr>
                          </a:solidFill>
                          <a:latin typeface="Cambria Math" panose="02040503050406030204" pitchFamily="18" charset="0"/>
                        </a:rPr>
                        <m:t>– </m:t>
                      </m:r>
                      <m:d>
                        <m:dPr>
                          <m:ctrlPr>
                            <a:rPr lang="en-US" altLang="zh-CN" b="1" i="1" smtClean="0">
                              <a:solidFill>
                                <a:schemeClr val="accent2">
                                  <a:lumMod val="50000"/>
                                </a:schemeClr>
                              </a:solidFill>
                              <a:latin typeface="Cambria Math" panose="02040503050406030204" pitchFamily="18" charset="0"/>
                            </a:rPr>
                          </m:ctrlPr>
                        </m:dPr>
                        <m:e>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e>
                      </m:d>
                      <m:r>
                        <a:rPr lang="en-US" altLang="zh-CN" b="1" i="1" smtClean="0">
                          <a:solidFill>
                            <a:schemeClr val="accent2">
                              <a:lumMod val="50000"/>
                            </a:schemeClr>
                          </a:solidFill>
                          <a:latin typeface="Cambria Math" panose="02040503050406030204" pitchFamily="18" charset="0"/>
                        </a:rPr>
                        <m:t>+ </m:t>
                      </m:r>
                      <m:d>
                        <m:dPr>
                          <m:ctrlPr>
                            <a:rPr lang="en-US" altLang="zh-CN" b="1" i="1" smtClean="0">
                              <a:solidFill>
                                <a:schemeClr val="accent2">
                                  <a:lumMod val="50000"/>
                                </a:schemeClr>
                              </a:solidFill>
                              <a:latin typeface="Cambria Math" panose="02040503050406030204" pitchFamily="18" charset="0"/>
                            </a:rPr>
                          </m:ctrlPr>
                        </m:dPr>
                        <m:e>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e>
                      </m:d>
                      <m:r>
                        <a:rPr lang="en-US" altLang="zh-CN" b="1" i="1" smtClean="0">
                          <a:solidFill>
                            <a:schemeClr val="accent2">
                              <a:lumMod val="50000"/>
                            </a:schemeClr>
                          </a:solidFill>
                          <a:latin typeface="Cambria Math" panose="02040503050406030204" pitchFamily="18" charset="0"/>
                        </a:rPr>
                        <m:t>= </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𝑼</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𝑪</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oMath>
                  </m:oMathPara>
                </a14:m>
                <a:endParaRPr lang="zh-CN" altLang="en-US"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1181380" y="4444422"/>
                <a:ext cx="9811444" cy="971869"/>
              </a:xfrm>
              <a:prstGeom prst="rect">
                <a:avLst/>
              </a:prstGeom>
              <a:blipFill rotWithShape="1">
                <a:blip r:embed="rId2"/>
                <a:stretch>
                  <a:fillRect l="-3" t="-6" r="3"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1181379" y="5518537"/>
                <a:ext cx="7765446" cy="701218"/>
              </a:xfrm>
              <a:prstGeom prst="rect">
                <a:avLst/>
              </a:prstGeom>
              <a:solidFill>
                <a:schemeClr val="accent4">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bar>
                            <m:barPr>
                              <m:pos m:val="top"/>
                              <m:ctrlPr>
                                <a:rPr lang="en-US" altLang="zh-CN" b="1" i="1" smtClean="0">
                                  <a:solidFill>
                                    <a:schemeClr val="accent2">
                                      <a:lumMod val="50000"/>
                                    </a:schemeClr>
                                  </a:solidFill>
                                  <a:latin typeface="Cambria Math" panose="02040503050406030204" pitchFamily="18" charset="0"/>
                                </a:rPr>
                              </m:ctrlPr>
                            </m:barPr>
                            <m:e>
                              <m:r>
                                <a:rPr lang="en-US" altLang="zh-CN" b="1" i="1" smtClean="0">
                                  <a:solidFill>
                                    <a:schemeClr val="accent2">
                                      <a:lumMod val="50000"/>
                                    </a:schemeClr>
                                  </a:solidFill>
                                  <a:latin typeface="Cambria Math" panose="02040503050406030204" pitchFamily="18" charset="0"/>
                                </a:rPr>
                                <m:t>𝑩</m:t>
                              </m:r>
                            </m:e>
                          </m:bar>
                          <m:r>
                            <a:rPr lang="en-US" altLang="zh-CN" b="1" i="1" smtClean="0">
                              <a:solidFill>
                                <a:schemeClr val="accent2">
                                  <a:lumMod val="50000"/>
                                </a:schemeClr>
                              </a:solidFill>
                              <a:latin typeface="Cambria Math" panose="02040503050406030204" pitchFamily="18" charset="0"/>
                            </a:rPr>
                            <m:t>∪</m:t>
                          </m:r>
                          <m:bar>
                            <m:barPr>
                              <m:pos m:val="top"/>
                              <m:ctrlPr>
                                <a:rPr lang="en-US" altLang="zh-CN" b="1" i="1" smtClean="0">
                                  <a:solidFill>
                                    <a:schemeClr val="accent2">
                                      <a:lumMod val="50000"/>
                                    </a:schemeClr>
                                  </a:solidFill>
                                  <a:latin typeface="Cambria Math" panose="02040503050406030204" pitchFamily="18" charset="0"/>
                                </a:rPr>
                              </m:ctrlPr>
                            </m:barPr>
                            <m:e>
                              <m:r>
                                <a:rPr lang="en-US" altLang="zh-CN" b="1" i="1" smtClean="0">
                                  <a:solidFill>
                                    <a:schemeClr val="accent2">
                                      <a:lumMod val="50000"/>
                                    </a:schemeClr>
                                  </a:solidFill>
                                  <a:latin typeface="Cambria Math" panose="02040503050406030204" pitchFamily="18" charset="0"/>
                                </a:rPr>
                                <m:t>𝑪</m:t>
                              </m:r>
                            </m:e>
                          </m:ba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bar>
                            <m:barPr>
                              <m:pos m:val="top"/>
                              <m:ctrlPr>
                                <a:rPr lang="en-US" altLang="zh-CN" b="1" i="1" smtClean="0">
                                  <a:solidFill>
                                    <a:schemeClr val="accent2">
                                      <a:lumMod val="50000"/>
                                    </a:schemeClr>
                                  </a:solidFill>
                                  <a:latin typeface="Cambria Math" panose="02040503050406030204" pitchFamily="18" charset="0"/>
                                </a:rPr>
                              </m:ctrlPr>
                            </m:barPr>
                            <m:e>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bar>
                        </m:e>
                      </m:d>
                      <m:r>
                        <a:rPr lang="en-US" altLang="zh-CN" b="1" i="1" smtClean="0">
                          <a:solidFill>
                            <a:schemeClr val="accent2">
                              <a:lumMod val="50000"/>
                            </a:schemeClr>
                          </a:solidFill>
                          <a:latin typeface="Cambria Math" panose="02040503050406030204" pitchFamily="18" charset="0"/>
                        </a:rPr>
                        <m:t>= </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bar>
                            <m:barPr>
                              <m:pos m:val="top"/>
                              <m:ctrlPr>
                                <a:rPr lang="en-US" altLang="zh-CN" b="1" i="1" smtClean="0">
                                  <a:solidFill>
                                    <a:schemeClr val="accent2">
                                      <a:lumMod val="50000"/>
                                    </a:schemeClr>
                                  </a:solidFill>
                                  <a:latin typeface="Cambria Math" panose="02040503050406030204" pitchFamily="18" charset="0"/>
                                </a:rPr>
                              </m:ctrlPr>
                            </m:barPr>
                            <m:e>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ba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bar>
                            <m:barPr>
                              <m:pos m:val="top"/>
                              <m:ctrlPr>
                                <a:rPr lang="en-US" altLang="zh-CN" b="1" i="1" smtClean="0">
                                  <a:solidFill>
                                    <a:schemeClr val="accent2">
                                      <a:lumMod val="50000"/>
                                    </a:schemeClr>
                                  </a:solidFill>
                                  <a:latin typeface="Cambria Math" panose="02040503050406030204" pitchFamily="18" charset="0"/>
                                </a:rPr>
                              </m:ctrlPr>
                            </m:barPr>
                            <m:e>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bar>
                        </m:e>
                      </m:d>
                      <m:r>
                        <a:rPr lang="en-US" altLang="zh-CN" b="1" i="1" smtClean="0">
                          <a:solidFill>
                            <a:schemeClr val="accent2">
                              <a:lumMod val="50000"/>
                            </a:schemeClr>
                          </a:solidFill>
                          <a:latin typeface="Cambria Math" panose="02040503050406030204" pitchFamily="18" charset="0"/>
                        </a:rPr>
                        <m:t>= </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𝑼</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e>
                      </m:d>
                      <m:r>
                        <a:rPr lang="en-US" altLang="zh-CN" b="1" i="1" smtClean="0">
                          <a:solidFill>
                            <a:schemeClr val="accent2">
                              <a:lumMod val="50000"/>
                            </a:schemeClr>
                          </a:solidFill>
                          <a:latin typeface="Cambria Math" panose="02040503050406030204" pitchFamily="18" charset="0"/>
                        </a:rPr>
                        <m:t>= </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𝑼</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oMath>
                  </m:oMathPara>
                </a14:m>
                <a:endParaRPr lang="zh-CN" altLang="en-US" b="1">
                  <a:solidFill>
                    <a:schemeClr val="accent2">
                      <a:lumMod val="50000"/>
                    </a:schemeClr>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1181379" y="5518537"/>
                <a:ext cx="7765446" cy="701218"/>
              </a:xfrm>
              <a:prstGeom prst="rect">
                <a:avLst/>
              </a:prstGeom>
              <a:blipFill rotWithShape="1">
                <a:blip r:embed="rId3"/>
                <a:stretch>
                  <a:fillRect l="-4" t="-55" r="4" b="8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1181379" y="1034156"/>
                <a:ext cx="3116968" cy="370754"/>
              </a:xfrm>
              <a:prstGeom prst="rect">
                <a:avLst/>
              </a:prstGeom>
              <a:solidFill>
                <a:schemeClr val="accent4">
                  <a:lumMod val="40000"/>
                  <a:lumOff val="60000"/>
                </a:schemeClr>
              </a:solidFill>
            </p:spPr>
            <p:txBody>
              <a:bodyPr wrap="square" rtlCol="0">
                <a:spAutoFit/>
              </a:bodyPr>
              <a:lstStyle/>
              <a:p>
                <a14:m>
                  <m:oMath xmlns:m="http://schemas.openxmlformats.org/officeDocument/2006/math">
                    <m:r>
                      <a:rPr lang="en-US" altLang="zh-CN" b="1" i="1" smtClean="0">
                        <a:solidFill>
                          <a:schemeClr val="accent2">
                            <a:lumMod val="50000"/>
                          </a:schemeClr>
                        </a:solidFill>
                        <a:latin typeface="Cambria Math" panose="02040503050406030204" pitchFamily="18" charset="0"/>
                      </a:rPr>
                      <m:t>𝑼</m:t>
                    </m:r>
                  </m:oMath>
                </a14:m>
                <a:r>
                  <a:rPr lang="zh-CN" altLang="en-US" b="1">
                    <a:solidFill>
                      <a:schemeClr val="accent2">
                        <a:lumMod val="50000"/>
                      </a:schemeClr>
                    </a:solidFill>
                  </a:rPr>
                  <a:t>是全集，</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𝑪</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𝑼</m:t>
                    </m:r>
                  </m:oMath>
                </a14:m>
                <a:r>
                  <a:rPr lang="zh-CN" altLang="en-US" b="1">
                    <a:solidFill>
                      <a:schemeClr val="accent2">
                        <a:lumMod val="50000"/>
                      </a:schemeClr>
                    </a:solidFill>
                  </a:rPr>
                  <a:t>的子集</a:t>
                </a:r>
                <a:endParaRPr lang="zh-CN" altLang="en-US" b="1">
                  <a:solidFill>
                    <a:schemeClr val="accent2">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1181379" y="1034156"/>
                <a:ext cx="3116968" cy="370754"/>
              </a:xfrm>
              <a:prstGeom prst="rect">
                <a:avLst/>
              </a:prstGeom>
              <a:blipFill rotWithShape="1">
                <a:blip r:embed="rId4"/>
                <a:stretch>
                  <a:fillRect l="-9" t="-101" r="1" b="7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组合计数</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一些重要的组合等式</a:t>
            </a:r>
            <a:endParaRPr lang="zh-CN" altLang="en-US"/>
          </a:p>
        </p:txBody>
      </p:sp>
      <mc:AlternateContent xmlns:mc="http://schemas.openxmlformats.org/markup-compatibility/2006">
        <mc:Choice xmlns:a14="http://schemas.microsoft.com/office/drawing/2010/main" Requires="a14">
          <p:sp>
            <p:nvSpPr>
              <p:cNvPr id="14" name="文本框 13"/>
              <p:cNvSpPr txBox="1"/>
              <p:nvPr/>
            </p:nvSpPr>
            <p:spPr>
              <a:xfrm>
                <a:off x="862484" y="1395664"/>
                <a:ext cx="3743394" cy="1999586"/>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1200"/>
                  </a:spcAft>
                </a:pPr>
                <a:r>
                  <a:rPr lang="zh-CN" altLang="en-US" sz="2400" b="1">
                    <a:solidFill>
                      <a:srgbClr val="C00000"/>
                    </a:solidFill>
                    <a:latin typeface="+mn-ea"/>
                  </a:rPr>
                  <a:t>帕斯卡等式</a:t>
                </a:r>
                <a:endParaRPr lang="en-US" altLang="zh-CN" sz="2400" b="1">
                  <a:solidFill>
                    <a:srgbClr val="C00000"/>
                  </a:solidFill>
                  <a:latin typeface="+mn-ea"/>
                </a:endParaRPr>
              </a:p>
              <a:p>
                <a:pPr>
                  <a:spcBef>
                    <a:spcPts val="600"/>
                  </a:spcBef>
                  <a:spcAft>
                    <a:spcPts val="1200"/>
                  </a:spcAft>
                </a:pPr>
                <a14:m>
                  <m:oMath xmlns:m="http://schemas.openxmlformats.org/officeDocument/2006/math">
                    <m:r>
                      <a:rPr lang="en-US" altLang="zh-CN" sz="2000" b="1" i="1" smtClean="0">
                        <a:solidFill>
                          <a:srgbClr val="002060"/>
                        </a:solidFill>
                        <a:latin typeface="Cambria Math" panose="02040503050406030204" pitchFamily="18" charset="0"/>
                      </a:rPr>
                      <m:t>𝒏</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𝒌</m:t>
                    </m:r>
                  </m:oMath>
                </a14:m>
                <a:r>
                  <a:rPr lang="zh-CN" altLang="en-US" sz="2000" b="1">
                    <a:solidFill>
                      <a:srgbClr val="002060"/>
                    </a:solidFill>
                    <a:latin typeface="楷体" panose="02010609060101010101" pitchFamily="49" charset="-122"/>
                    <a:ea typeface="楷体" panose="02010609060101010101" pitchFamily="49" charset="-122"/>
                  </a:rPr>
                  <a:t>是自然数且</a:t>
                </a:r>
                <a14:m>
                  <m:oMath xmlns:m="http://schemas.openxmlformats.org/officeDocument/2006/math">
                    <m:r>
                      <a:rPr lang="en-US" altLang="zh-CN" sz="2000" b="1" i="1" smtClean="0">
                        <a:solidFill>
                          <a:srgbClr val="002060"/>
                        </a:solidFill>
                        <a:latin typeface="Cambria Math" panose="02040503050406030204" pitchFamily="18" charset="0"/>
                      </a:rPr>
                      <m:t>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𝒌</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oMath>
                </a14:m>
                <a:r>
                  <a:rPr lang="zh-CN" altLang="en-US" sz="2000" b="1">
                    <a:solidFill>
                      <a:srgbClr val="002060"/>
                    </a:solidFill>
                    <a:latin typeface="楷体" panose="02010609060101010101" pitchFamily="49" charset="-122"/>
                    <a:ea typeface="楷体" panose="02010609060101010101" pitchFamily="49" charset="-122"/>
                  </a:rPr>
                  <a:t>，</a:t>
                </a:r>
                <a:endParaRPr lang="en-US" altLang="zh-CN" sz="2000" b="1">
                  <a:solidFill>
                    <a:srgbClr val="002060"/>
                  </a:solidFill>
                  <a:latin typeface="楷体" panose="02010609060101010101" pitchFamily="49" charset="-122"/>
                  <a:ea typeface="楷体" panose="02010609060101010101" pitchFamily="49" charset="-122"/>
                </a:endParaRPr>
              </a:p>
              <a:p>
                <a:pPr>
                  <a:spcBef>
                    <a:spcPts val="600"/>
                  </a:spcBef>
                  <a:spcAft>
                    <a:spcPts val="1200"/>
                  </a:spcAft>
                </a:pPr>
                <a14:m>
                  <m:oMathPara xmlns:m="http://schemas.openxmlformats.org/officeDocument/2006/math">
                    <m:oMathParaPr>
                      <m:jc m:val="centerGroup"/>
                    </m:oMathParaPr>
                    <m:oMath xmlns:m="http://schemas.openxmlformats.org/officeDocument/2006/math">
                      <m:d>
                        <m:dPr>
                          <m:ctrlPr>
                            <a:rPr lang="en-US" altLang="zh-CN" sz="2000" b="1" i="1" smtClean="0">
                              <a:solidFill>
                                <a:srgbClr val="C00000"/>
                              </a:solidFill>
                              <a:latin typeface="Cambria Math" panose="02040503050406030204" pitchFamily="18" charset="0"/>
                            </a:rPr>
                          </m:ctrlPr>
                        </m:dPr>
                        <m:e>
                          <m:f>
                            <m:fPr>
                              <m:type m:val="noBar"/>
                              <m:ctrlPr>
                                <a:rPr lang="en-US" altLang="zh-CN" sz="2000" b="1" i="1" smtClean="0">
                                  <a:solidFill>
                                    <a:srgbClr val="C00000"/>
                                  </a:solidFill>
                                  <a:latin typeface="Cambria Math" panose="02040503050406030204" pitchFamily="18" charset="0"/>
                                </a:rPr>
                              </m:ctrlPr>
                            </m:fPr>
                            <m:num>
                              <m:r>
                                <a:rPr lang="en-US" altLang="zh-CN" sz="2000" b="1" i="1" smtClean="0">
                                  <a:solidFill>
                                    <a:srgbClr val="C00000"/>
                                  </a:solidFill>
                                  <a:latin typeface="Cambria Math" panose="02040503050406030204" pitchFamily="18" charset="0"/>
                                </a:rPr>
                                <m:t>𝒏</m:t>
                              </m:r>
                            </m:num>
                            <m:den>
                              <m:r>
                                <a:rPr lang="en-US" altLang="zh-CN" sz="2000" b="1" i="1" smtClean="0">
                                  <a:solidFill>
                                    <a:srgbClr val="C00000"/>
                                  </a:solidFill>
                                  <a:latin typeface="Cambria Math" panose="02040503050406030204" pitchFamily="18" charset="0"/>
                                </a:rPr>
                                <m:t>𝒌</m:t>
                              </m:r>
                            </m:den>
                          </m:f>
                        </m:e>
                      </m:d>
                      <m:r>
                        <a:rPr lang="en-US" altLang="zh-CN" sz="2000" b="1" i="1" smtClean="0">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rPr>
                          </m:ctrlPr>
                        </m:dPr>
                        <m:e>
                          <m:f>
                            <m:fPr>
                              <m:type m:val="noBar"/>
                              <m:ctrlPr>
                                <a:rPr lang="en-US" altLang="zh-CN" sz="2000" b="1" i="1" smtClean="0">
                                  <a:solidFill>
                                    <a:srgbClr val="C00000"/>
                                  </a:solidFill>
                                  <a:latin typeface="Cambria Math" panose="02040503050406030204" pitchFamily="18" charset="0"/>
                                </a:rPr>
                              </m:ctrlPr>
                            </m:fPr>
                            <m:num>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num>
                            <m:den>
                              <m:r>
                                <a:rPr lang="en-US" altLang="zh-CN" sz="2000" b="1" i="1" smtClean="0">
                                  <a:solidFill>
                                    <a:srgbClr val="C00000"/>
                                  </a:solidFill>
                                  <a:latin typeface="Cambria Math" panose="02040503050406030204" pitchFamily="18" charset="0"/>
                                </a:rPr>
                                <m:t>𝒌</m:t>
                              </m:r>
                            </m:den>
                          </m:f>
                        </m:e>
                      </m:d>
                      <m:r>
                        <a:rPr lang="en-US" altLang="zh-CN" sz="2000" b="1" i="1" smtClean="0">
                          <a:solidFill>
                            <a:srgbClr val="C00000"/>
                          </a:solidFill>
                          <a:latin typeface="Cambria Math" panose="02040503050406030204" pitchFamily="18" charset="0"/>
                        </a:rPr>
                        <m:t>+</m:t>
                      </m:r>
                      <m:d>
                        <m:dPr>
                          <m:ctrlPr>
                            <a:rPr lang="en-US" altLang="zh-CN" sz="2000" b="1" i="1">
                              <a:solidFill>
                                <a:srgbClr val="C00000"/>
                              </a:solidFill>
                              <a:latin typeface="Cambria Math" panose="02040503050406030204" pitchFamily="18" charset="0"/>
                            </a:rPr>
                          </m:ctrlPr>
                        </m:dPr>
                        <m:e>
                          <m:f>
                            <m:fPr>
                              <m:type m:val="noBar"/>
                              <m:ctrlPr>
                                <a:rPr lang="en-US" altLang="zh-CN" sz="2000" b="1" i="1">
                                  <a:solidFill>
                                    <a:srgbClr val="C00000"/>
                                  </a:solidFill>
                                  <a:latin typeface="Cambria Math" panose="02040503050406030204" pitchFamily="18" charset="0"/>
                                </a:rPr>
                              </m:ctrlPr>
                            </m:fPr>
                            <m:num>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num>
                            <m:den>
                              <m:r>
                                <a:rPr lang="en-US" altLang="zh-CN" sz="2000" b="1" i="1">
                                  <a:solidFill>
                                    <a:srgbClr val="C00000"/>
                                  </a:solidFill>
                                  <a:latin typeface="Cambria Math" panose="02040503050406030204" pitchFamily="18" charset="0"/>
                                </a:rPr>
                                <m:t>𝒌</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den>
                          </m:f>
                        </m:e>
                      </m:d>
                    </m:oMath>
                  </m:oMathPara>
                </a14:m>
                <a:endParaRPr lang="en-US" altLang="zh-CN" sz="2000" b="1"/>
              </a:p>
            </p:txBody>
          </p:sp>
        </mc:Choice>
        <mc:Fallback>
          <p:sp>
            <p:nvSpPr>
              <p:cNvPr id="14" name="文本框 13"/>
              <p:cNvSpPr txBox="1">
                <a:spLocks noRot="1" noChangeAspect="1" noMove="1" noResize="1" noEditPoints="1" noAdjustHandles="1" noChangeArrowheads="1" noChangeShapeType="1" noTextEdit="1"/>
              </p:cNvSpPr>
              <p:nvPr/>
            </p:nvSpPr>
            <p:spPr>
              <a:xfrm>
                <a:off x="862484" y="1395664"/>
                <a:ext cx="3743394" cy="1999586"/>
              </a:xfrm>
              <a:prstGeom prst="rect">
                <a:avLst/>
              </a:prstGeom>
              <a:blipFill rotWithShape="1">
                <a:blip r:embed="rId1"/>
                <a:stretch>
                  <a:fillRect l="-4" t="-28" r="6" b="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862484" y="3799587"/>
                <a:ext cx="3190533" cy="2253053"/>
              </a:xfrm>
              <a:prstGeom prst="rect">
                <a:avLst/>
              </a:prstGeom>
              <a:solidFill>
                <a:schemeClr val="accent4">
                  <a:lumMod val="20000"/>
                  <a:lumOff val="80000"/>
                  <a:alpha val="25000"/>
                </a:schemeClr>
              </a:solidFill>
            </p:spPr>
            <p:txBody>
              <a:bodyPr wrap="square" rtlCol="0">
                <a:spAutoFit/>
              </a:bodyPr>
              <a:lstStyle/>
              <a:p>
                <a:pPr algn="ctr"/>
                <a:r>
                  <a:rPr lang="zh-CN" altLang="en-US" sz="2400" b="1">
                    <a:solidFill>
                      <a:srgbClr val="C00000"/>
                    </a:solidFill>
                  </a:rPr>
                  <a:t>递推式</a:t>
                </a:r>
                <a:endParaRPr lang="en-US" altLang="zh-CN" sz="2400" b="1">
                  <a:solidFill>
                    <a:srgbClr val="C00000"/>
                  </a:solidFill>
                </a:endParaRPr>
              </a:p>
              <a:p>
                <a:pPr>
                  <a:spcBef>
                    <a:spcPts val="600"/>
                  </a:spcBef>
                  <a:spcAft>
                    <a:spcPts val="600"/>
                  </a:spcAft>
                </a:pP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 </m:t>
                    </m:r>
                    <m:r>
                      <a:rPr lang="en-US" altLang="zh-CN" sz="2000" b="1" i="1" smtClean="0">
                        <a:solidFill>
                          <a:srgbClr val="002060"/>
                        </a:solidFill>
                        <a:latin typeface="Cambria Math" panose="02040503050406030204" pitchFamily="18" charset="0"/>
                        <a:ea typeface="楷体" panose="02010609060101010101" pitchFamily="49" charset="-122"/>
                      </a:rPr>
                      <m:t>𝒓</m:t>
                    </m:r>
                  </m:oMath>
                </a14:m>
                <a:r>
                  <a:rPr lang="zh-CN" altLang="en-US" sz="2000" b="1">
                    <a:solidFill>
                      <a:srgbClr val="002060"/>
                    </a:solidFill>
                    <a:latin typeface="楷体" panose="02010609060101010101" pitchFamily="49" charset="-122"/>
                    <a:ea typeface="楷体" panose="02010609060101010101" pitchFamily="49" charset="-122"/>
                  </a:rPr>
                  <a:t>是自然数，</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𝒓</m:t>
                    </m:r>
                    <m:r>
                      <a:rPr lang="en-US" altLang="zh-CN" sz="2000" b="1" i="1" smtClean="0">
                        <a:solidFill>
                          <a:srgbClr val="002060"/>
                        </a:solidFill>
                        <a:latin typeface="Cambria Math" panose="02040503050406030204" pitchFamily="18" charset="0"/>
                        <a:ea typeface="楷体" panose="02010609060101010101" pitchFamily="49" charset="-122"/>
                      </a:rPr>
                      <m:t>&lt;</m:t>
                    </m:r>
                    <m:r>
                      <a:rPr lang="en-US" altLang="zh-CN" sz="2000" b="1" i="1" smtClean="0">
                        <a:solidFill>
                          <a:srgbClr val="002060"/>
                        </a:solidFill>
                        <a:latin typeface="Cambria Math" panose="02040503050406030204" pitchFamily="18" charset="0"/>
                        <a:ea typeface="楷体" panose="02010609060101010101" pitchFamily="49" charset="-122"/>
                      </a:rPr>
                      <m:t>𝒏</m:t>
                    </m:r>
                  </m:oMath>
                </a14:m>
                <a:r>
                  <a:rPr lang="zh-CN" altLang="en-US" b="1">
                    <a:solidFill>
                      <a:srgbClr val="002060"/>
                    </a:solidFill>
                    <a:latin typeface="楷体" panose="02010609060101010101" pitchFamily="49" charset="-122"/>
                    <a:ea typeface="楷体" panose="02010609060101010101" pitchFamily="49" charset="-122"/>
                  </a:rPr>
                  <a:t>，</a:t>
                </a:r>
                <a:endParaRPr lang="zh-CN" altLang="en-US" b="1">
                  <a:solidFill>
                    <a:srgbClr val="002060"/>
                  </a:solidFill>
                  <a:latin typeface="楷体" panose="02010609060101010101" pitchFamily="49" charset="-122"/>
                  <a:ea typeface="楷体" panose="02010609060101010101" pitchFamily="49" charset="-122"/>
                </a:endParaRPr>
              </a:p>
              <a:p>
                <a:pPr algn="ctr">
                  <a:spcBef>
                    <a:spcPts val="600"/>
                  </a:spcBef>
                  <a:spcAft>
                    <a:spcPts val="1200"/>
                  </a:spcAft>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𝒓</m:t>
                      </m:r>
                      <m:d>
                        <m:dPr>
                          <m:ctrlPr>
                            <a:rPr lang="en-US" altLang="zh-CN" b="1" i="1" smtClean="0">
                              <a:solidFill>
                                <a:schemeClr val="accent2">
                                  <a:lumMod val="50000"/>
                                </a:schemeClr>
                              </a:solidFill>
                              <a:latin typeface="Cambria Math" panose="02040503050406030204" pitchFamily="18" charset="0"/>
                            </a:rPr>
                          </m:ctrlPr>
                        </m:dPr>
                        <m:e>
                          <m:f>
                            <m:fPr>
                              <m:type m:val="noBar"/>
                              <m:ctrlPr>
                                <a:rPr lang="en-US" altLang="zh-CN" b="1" i="1" smtClean="0">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𝒏</m:t>
                              </m:r>
                            </m:num>
                            <m:den>
                              <m:r>
                                <a:rPr lang="en-US" altLang="zh-CN" b="1" i="1" smtClean="0">
                                  <a:solidFill>
                                    <a:schemeClr val="accent2">
                                      <a:lumMod val="50000"/>
                                    </a:schemeClr>
                                  </a:solidFill>
                                  <a:latin typeface="Cambria Math" panose="02040503050406030204" pitchFamily="18" charset="0"/>
                                </a:rPr>
                                <m:t>𝒓</m:t>
                              </m:r>
                            </m:den>
                          </m:f>
                        </m:e>
                      </m:d>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𝒓</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f>
                            <m:fPr>
                              <m:type m:val="noBar"/>
                              <m:ctrlPr>
                                <a:rPr lang="en-US" altLang="zh-CN" b="1" i="1" smtClean="0">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𝒏</m:t>
                              </m:r>
                            </m:num>
                            <m:den>
                              <m:r>
                                <a:rPr lang="en-US" altLang="zh-CN" b="1" i="1" smtClean="0">
                                  <a:solidFill>
                                    <a:schemeClr val="accent2">
                                      <a:lumMod val="50000"/>
                                    </a:schemeClr>
                                  </a:solidFill>
                                  <a:latin typeface="Cambria Math" panose="02040503050406030204" pitchFamily="18" charset="0"/>
                                </a:rPr>
                                <m:t>𝒓</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den>
                          </m:f>
                        </m:e>
                      </m:d>
                    </m:oMath>
                  </m:oMathPara>
                </a14:m>
                <a:endParaRPr lang="en-US" altLang="zh-CN" b="1">
                  <a:solidFill>
                    <a:schemeClr val="accent2">
                      <a:lumMod val="50000"/>
                    </a:schemeClr>
                  </a:solidFill>
                </a:endParaRPr>
              </a:p>
              <a:p>
                <a:pPr algn="ct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𝒓</m:t>
                      </m:r>
                      <m:d>
                        <m:dPr>
                          <m:ctrlPr>
                            <a:rPr lang="en-US" altLang="zh-CN" b="1" i="1" smtClean="0">
                              <a:solidFill>
                                <a:schemeClr val="accent2">
                                  <a:lumMod val="50000"/>
                                </a:schemeClr>
                              </a:solidFill>
                              <a:latin typeface="Cambria Math" panose="02040503050406030204" pitchFamily="18" charset="0"/>
                            </a:rPr>
                          </m:ctrlPr>
                        </m:dPr>
                        <m:e>
                          <m:f>
                            <m:fPr>
                              <m:type m:val="noBar"/>
                              <m:ctrlPr>
                                <a:rPr lang="en-US" altLang="zh-CN" b="1" i="1" smtClean="0">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𝒏</m:t>
                              </m:r>
                            </m:num>
                            <m:den>
                              <m:r>
                                <a:rPr lang="en-US" altLang="zh-CN" b="1" i="1" smtClean="0">
                                  <a:solidFill>
                                    <a:schemeClr val="accent2">
                                      <a:lumMod val="50000"/>
                                    </a:schemeClr>
                                  </a:solidFill>
                                  <a:latin typeface="Cambria Math" panose="02040503050406030204" pitchFamily="18" charset="0"/>
                                </a:rPr>
                                <m:t>𝒓</m:t>
                              </m:r>
                            </m:den>
                          </m:f>
                        </m:e>
                      </m:d>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𝒏</m:t>
                      </m:r>
                      <m:d>
                        <m:dPr>
                          <m:ctrlPr>
                            <a:rPr lang="en-US" altLang="zh-CN" b="1" i="1" smtClean="0">
                              <a:solidFill>
                                <a:schemeClr val="accent2">
                                  <a:lumMod val="50000"/>
                                </a:schemeClr>
                              </a:solidFill>
                              <a:latin typeface="Cambria Math" panose="02040503050406030204" pitchFamily="18" charset="0"/>
                            </a:rPr>
                          </m:ctrlPr>
                        </m:dPr>
                        <m:e>
                          <m:f>
                            <m:fPr>
                              <m:type m:val="noBar"/>
                              <m:ctrlPr>
                                <a:rPr lang="en-US" altLang="zh-CN" b="1" i="1" smtClean="0">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num>
                            <m:den>
                              <m:r>
                                <a:rPr lang="en-US" altLang="zh-CN" b="1" i="1" smtClean="0">
                                  <a:solidFill>
                                    <a:schemeClr val="accent2">
                                      <a:lumMod val="50000"/>
                                    </a:schemeClr>
                                  </a:solidFill>
                                  <a:latin typeface="Cambria Math" panose="02040503050406030204" pitchFamily="18" charset="0"/>
                                </a:rPr>
                                <m:t>𝒓</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den>
                          </m:f>
                        </m:e>
                      </m:d>
                    </m:oMath>
                  </m:oMathPara>
                </a14:m>
                <a:endParaRPr lang="en-US" altLang="zh-CN" b="1"/>
              </a:p>
            </p:txBody>
          </p:sp>
        </mc:Choice>
        <mc:Fallback>
          <p:sp>
            <p:nvSpPr>
              <p:cNvPr id="15" name="文本框 14"/>
              <p:cNvSpPr txBox="1">
                <a:spLocks noRot="1" noChangeAspect="1" noMove="1" noResize="1" noEditPoints="1" noAdjustHandles="1" noChangeArrowheads="1" noChangeShapeType="1" noTextEdit="1"/>
              </p:cNvSpPr>
              <p:nvPr/>
            </p:nvSpPr>
            <p:spPr>
              <a:xfrm>
                <a:off x="862484" y="3799587"/>
                <a:ext cx="3190533" cy="2253053"/>
              </a:xfrm>
              <a:prstGeom prst="rect">
                <a:avLst/>
              </a:prstGeom>
              <a:blipFill rotWithShape="1">
                <a:blip r:embed="rId2"/>
                <a:stretch>
                  <a:fillRect l="-5" t="-17" r="14" b="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4881680" y="1207688"/>
                <a:ext cx="6696830" cy="2510174"/>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上下标求和式</a:t>
                </a:r>
                <a:endParaRPr lang="en-US" altLang="zh-CN" sz="2400" b="1">
                  <a:solidFill>
                    <a:srgbClr val="C00000"/>
                  </a:solidFill>
                </a:endParaRPr>
              </a:p>
              <a:p>
                <a:pPr>
                  <a:spcAft>
                    <a:spcPts val="600"/>
                  </a:spcAft>
                </a:pP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𝒎</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是自然数，</a:t>
                </a:r>
                <a:endParaRPr lang="zh-CN" altLang="en-US" sz="2000"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nary>
                        <m:naryPr>
                          <m:chr m:val="∑"/>
                          <m:ctrlPr>
                            <a:rPr lang="en-US" altLang="zh-CN" b="1" i="1" smtClean="0">
                              <a:solidFill>
                                <a:schemeClr val="accent2">
                                  <a:lumMod val="50000"/>
                                </a:schemeClr>
                              </a:solidFill>
                              <a:latin typeface="Cambria Math" panose="02040503050406030204" pitchFamily="18" charset="0"/>
                            </a:rPr>
                          </m:ctrlPr>
                        </m:naryPr>
                        <m:sub>
                          <m:r>
                            <a:rPr lang="en-US" altLang="zh-CN" b="1" i="1" smtClean="0">
                              <a:solidFill>
                                <a:schemeClr val="accent2">
                                  <a:lumMod val="50000"/>
                                </a:schemeClr>
                              </a:solidFill>
                              <a:latin typeface="Cambria Math" panose="02040503050406030204" pitchFamily="18" charset="0"/>
                            </a:rPr>
                            <m:t>𝒌</m:t>
                          </m:r>
                          <m:r>
                            <a:rPr lang="en-US" altLang="zh-CN" b="1" i="1" smtClean="0">
                              <a:solidFill>
                                <a:schemeClr val="accent2">
                                  <a:lumMod val="50000"/>
                                </a:schemeClr>
                              </a:solidFill>
                              <a:latin typeface="Cambria Math" panose="02040503050406030204" pitchFamily="18" charset="0"/>
                            </a:rPr>
                            <m:t> = </m:t>
                          </m:r>
                          <m:r>
                            <a:rPr lang="en-US" altLang="zh-CN" b="1" i="1" smtClean="0">
                              <a:solidFill>
                                <a:schemeClr val="accent2">
                                  <a:lumMod val="50000"/>
                                </a:schemeClr>
                              </a:solidFill>
                              <a:latin typeface="Cambria Math" panose="02040503050406030204" pitchFamily="18" charset="0"/>
                            </a:rPr>
                            <m:t>𝟎</m:t>
                          </m:r>
                        </m:sub>
                        <m:sup>
                          <m:r>
                            <a:rPr lang="en-US" altLang="zh-CN" b="1" i="1">
                              <a:solidFill>
                                <a:schemeClr val="accent2">
                                  <a:lumMod val="50000"/>
                                </a:schemeClr>
                              </a:solidFill>
                              <a:latin typeface="Cambria Math" panose="02040503050406030204" pitchFamily="18" charset="0"/>
                            </a:rPr>
                            <m:t>𝒓</m:t>
                          </m:r>
                        </m:sup>
                        <m:e>
                          <m:d>
                            <m:dPr>
                              <m:ctrlPr>
                                <a:rPr lang="en-US" altLang="zh-CN" b="1" i="1" smtClean="0">
                                  <a:solidFill>
                                    <a:schemeClr val="accent2">
                                      <a:lumMod val="50000"/>
                                    </a:schemeClr>
                                  </a:solidFill>
                                  <a:latin typeface="Cambria Math" panose="02040503050406030204" pitchFamily="18" charset="0"/>
                                </a:rPr>
                              </m:ctrlPr>
                            </m:dPr>
                            <m:e>
                              <m:f>
                                <m:fPr>
                                  <m:type m:val="noBar"/>
                                  <m:ctrlPr>
                                    <a:rPr lang="en-US" altLang="zh-CN" b="1" i="1" smtClean="0">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𝒌</m:t>
                                  </m:r>
                                </m:num>
                                <m:den>
                                  <m:r>
                                    <a:rPr lang="en-US" altLang="zh-CN" b="1" i="1" smtClean="0">
                                      <a:solidFill>
                                        <a:schemeClr val="accent2">
                                          <a:lumMod val="50000"/>
                                        </a:schemeClr>
                                      </a:solidFill>
                                      <a:latin typeface="Cambria Math" panose="02040503050406030204" pitchFamily="18" charset="0"/>
                                    </a:rPr>
                                    <m:t>𝒌</m:t>
                                  </m:r>
                                </m:den>
                              </m:f>
                            </m:e>
                          </m:d>
                        </m:e>
                      </m:nary>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f>
                            <m:fPr>
                              <m:type m:val="noBar"/>
                              <m:ctrlPr>
                                <a:rPr lang="en-US" altLang="zh-CN" b="1" i="1" smtClean="0">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𝒎</m:t>
                              </m:r>
                            </m:num>
                            <m:den>
                              <m:r>
                                <a:rPr lang="en-US" altLang="zh-CN" b="1" i="1" smtClean="0">
                                  <a:solidFill>
                                    <a:schemeClr val="accent2">
                                      <a:lumMod val="50000"/>
                                    </a:schemeClr>
                                  </a:solidFill>
                                  <a:latin typeface="Cambria Math" panose="02040503050406030204" pitchFamily="18" charset="0"/>
                                </a:rPr>
                                <m:t>𝟎</m:t>
                              </m:r>
                            </m:den>
                          </m:f>
                        </m:e>
                      </m:d>
                      <m:r>
                        <a:rPr lang="en-US" altLang="zh-CN" b="1" i="1" smtClean="0">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num>
                            <m:den>
                              <m:r>
                                <a:rPr lang="en-US" altLang="zh-CN" b="1" i="1" smtClean="0">
                                  <a:solidFill>
                                    <a:schemeClr val="accent2">
                                      <a:lumMod val="50000"/>
                                    </a:schemeClr>
                                  </a:solidFill>
                                  <a:latin typeface="Cambria Math" panose="02040503050406030204" pitchFamily="18" charset="0"/>
                                </a:rPr>
                                <m:t>𝟏</m:t>
                              </m:r>
                            </m:den>
                          </m:f>
                        </m:e>
                      </m:d>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num>
                            <m:den>
                              <m:r>
                                <a:rPr lang="en-US" altLang="zh-CN" b="1" i="1" smtClean="0">
                                  <a:solidFill>
                                    <a:schemeClr val="accent2">
                                      <a:lumMod val="50000"/>
                                    </a:schemeClr>
                                  </a:solidFill>
                                  <a:latin typeface="Cambria Math" panose="02040503050406030204" pitchFamily="18" charset="0"/>
                                </a:rPr>
                                <m:t>𝒓</m:t>
                              </m:r>
                            </m:den>
                          </m:f>
                        </m:e>
                      </m:d>
                      <m:r>
                        <a:rPr lang="en-US" altLang="zh-CN" b="1" i="1" smtClean="0">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num>
                            <m:den>
                              <m:r>
                                <a:rPr lang="en-US" altLang="zh-CN" b="1" i="1" smtClean="0">
                                  <a:solidFill>
                                    <a:schemeClr val="accent2">
                                      <a:lumMod val="50000"/>
                                    </a:schemeClr>
                                  </a:solidFill>
                                  <a:latin typeface="Cambria Math" panose="02040503050406030204" pitchFamily="18" charset="0"/>
                                </a:rPr>
                                <m:t>𝒓</m:t>
                              </m:r>
                            </m:den>
                          </m:f>
                        </m:e>
                      </m:d>
                    </m:oMath>
                  </m:oMathPara>
                </a14:m>
                <a:endParaRPr lang="en-US" altLang="zh-CN" b="1">
                  <a:solidFill>
                    <a:schemeClr val="accent2">
                      <a:lumMod val="50000"/>
                    </a:schemeClr>
                  </a:solidFill>
                </a:endParaRPr>
              </a:p>
              <a:p>
                <a:pPr>
                  <a:spcBef>
                    <a:spcPts val="600"/>
                  </a:spcBef>
                </a:pPr>
                <a14:m>
                  <m:oMathPara xmlns:m="http://schemas.openxmlformats.org/officeDocument/2006/math">
                    <m:oMathParaPr>
                      <m:jc m:val="centerGroup"/>
                    </m:oMathParaPr>
                    <m:oMath xmlns:m="http://schemas.openxmlformats.org/officeDocument/2006/math">
                      <m:nary>
                        <m:naryPr>
                          <m:chr m:val="∑"/>
                          <m:ctrlPr>
                            <a:rPr lang="en-US" altLang="zh-CN" b="1" i="1" smtClean="0">
                              <a:solidFill>
                                <a:schemeClr val="accent2">
                                  <a:lumMod val="50000"/>
                                </a:schemeClr>
                              </a:solidFill>
                              <a:latin typeface="Cambria Math" panose="02040503050406030204" pitchFamily="18" charset="0"/>
                            </a:rPr>
                          </m:ctrlPr>
                        </m:naryPr>
                        <m:sub>
                          <m:r>
                            <a:rPr lang="en-US" altLang="zh-CN" b="1" i="1" smtClean="0">
                              <a:solidFill>
                                <a:schemeClr val="accent2">
                                  <a:lumMod val="50000"/>
                                </a:schemeClr>
                              </a:solidFill>
                              <a:latin typeface="Cambria Math" panose="02040503050406030204" pitchFamily="18" charset="0"/>
                            </a:rPr>
                            <m:t>𝒌</m:t>
                          </m:r>
                          <m:r>
                            <a:rPr lang="en-US" altLang="zh-CN" b="1" i="1" smtClean="0">
                              <a:solidFill>
                                <a:schemeClr val="accent2">
                                  <a:lumMod val="50000"/>
                                </a:schemeClr>
                              </a:solidFill>
                              <a:latin typeface="Cambria Math" panose="02040503050406030204" pitchFamily="18" charset="0"/>
                            </a:rPr>
                            <m:t> = </m:t>
                          </m:r>
                          <m:r>
                            <a:rPr lang="en-US" altLang="zh-CN" b="1" i="1" smtClean="0">
                              <a:solidFill>
                                <a:schemeClr val="accent2">
                                  <a:lumMod val="50000"/>
                                </a:schemeClr>
                              </a:solidFill>
                              <a:latin typeface="Cambria Math" panose="02040503050406030204" pitchFamily="18" charset="0"/>
                            </a:rPr>
                            <m:t>𝟎</m:t>
                          </m:r>
                        </m:sub>
                        <m:sup>
                          <m:r>
                            <a:rPr lang="en-US" altLang="zh-CN" b="1" i="1">
                              <a:solidFill>
                                <a:schemeClr val="accent2">
                                  <a:lumMod val="50000"/>
                                </a:schemeClr>
                              </a:solidFill>
                              <a:latin typeface="Cambria Math" panose="02040503050406030204" pitchFamily="18" charset="0"/>
                            </a:rPr>
                            <m:t>𝒏</m:t>
                          </m:r>
                        </m:sup>
                        <m:e>
                          <m:d>
                            <m:dPr>
                              <m:ctrlPr>
                                <a:rPr lang="en-US" altLang="zh-CN" b="1" i="1" smtClean="0">
                                  <a:solidFill>
                                    <a:schemeClr val="accent2">
                                      <a:lumMod val="50000"/>
                                    </a:schemeClr>
                                  </a:solidFill>
                                  <a:latin typeface="Cambria Math" panose="02040503050406030204" pitchFamily="18" charset="0"/>
                                </a:rPr>
                              </m:ctrlPr>
                            </m:dPr>
                            <m:e>
                              <m:f>
                                <m:fPr>
                                  <m:type m:val="noBar"/>
                                  <m:ctrlPr>
                                    <a:rPr lang="en-US" altLang="zh-CN" b="1" i="1" smtClean="0">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𝒌</m:t>
                                  </m:r>
                                </m:num>
                                <m:den>
                                  <m:r>
                                    <a:rPr lang="en-US" altLang="zh-CN" b="1" i="1" smtClean="0">
                                      <a:solidFill>
                                        <a:schemeClr val="accent2">
                                          <a:lumMod val="50000"/>
                                        </a:schemeClr>
                                      </a:solidFill>
                                      <a:latin typeface="Cambria Math" panose="02040503050406030204" pitchFamily="18" charset="0"/>
                                    </a:rPr>
                                    <m:t>𝒎</m:t>
                                  </m:r>
                                </m:den>
                              </m:f>
                            </m:e>
                          </m:d>
                        </m:e>
                      </m:nary>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f>
                            <m:fPr>
                              <m:type m:val="noBar"/>
                              <m:ctrlPr>
                                <a:rPr lang="en-US" altLang="zh-CN" b="1" i="1" smtClean="0">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𝟎</m:t>
                              </m:r>
                            </m:num>
                            <m:den>
                              <m:r>
                                <a:rPr lang="en-US" altLang="zh-CN" b="1" i="1" smtClean="0">
                                  <a:solidFill>
                                    <a:schemeClr val="accent2">
                                      <a:lumMod val="50000"/>
                                    </a:schemeClr>
                                  </a:solidFill>
                                  <a:latin typeface="Cambria Math" panose="02040503050406030204" pitchFamily="18" charset="0"/>
                                </a:rPr>
                                <m:t>𝒎</m:t>
                              </m:r>
                            </m:den>
                          </m:f>
                        </m:e>
                      </m:d>
                      <m:r>
                        <a:rPr lang="en-US" altLang="zh-CN" b="1" i="1" smtClean="0">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𝟏</m:t>
                              </m:r>
                            </m:num>
                            <m:den>
                              <m:r>
                                <a:rPr lang="en-US" altLang="zh-CN" b="1" i="1">
                                  <a:solidFill>
                                    <a:schemeClr val="accent2">
                                      <a:lumMod val="50000"/>
                                    </a:schemeClr>
                                  </a:solidFill>
                                  <a:latin typeface="Cambria Math" panose="02040503050406030204" pitchFamily="18" charset="0"/>
                                </a:rPr>
                                <m:t>𝒎</m:t>
                              </m:r>
                            </m:den>
                          </m:f>
                        </m:e>
                      </m:d>
                      <m:r>
                        <a:rPr lang="en-US" altLang="zh-CN" b="1" i="1" smtClean="0">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𝒏</m:t>
                              </m:r>
                            </m:num>
                            <m:den>
                              <m:r>
                                <a:rPr lang="en-US" altLang="zh-CN" b="1" i="1">
                                  <a:solidFill>
                                    <a:schemeClr val="accent2">
                                      <a:lumMod val="50000"/>
                                    </a:schemeClr>
                                  </a:solidFill>
                                  <a:latin typeface="Cambria Math" panose="02040503050406030204" pitchFamily="18" charset="0"/>
                                </a:rPr>
                                <m:t>𝒎</m:t>
                              </m:r>
                            </m:den>
                          </m:f>
                        </m:e>
                      </m:d>
                      <m:r>
                        <a:rPr lang="en-US" altLang="zh-CN" b="1" i="1" smtClean="0">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num>
                            <m:den>
                              <m:r>
                                <a:rPr lang="en-US" altLang="zh-CN" b="1" i="1">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den>
                          </m:f>
                        </m:e>
                      </m:d>
                    </m:oMath>
                  </m:oMathPara>
                </a14:m>
                <a:endParaRPr lang="en-US" altLang="zh-CN" b="1"/>
              </a:p>
            </p:txBody>
          </p:sp>
        </mc:Choice>
        <mc:Fallback>
          <p:sp>
            <p:nvSpPr>
              <p:cNvPr id="16" name="文本框 15"/>
              <p:cNvSpPr txBox="1">
                <a:spLocks noRot="1" noChangeAspect="1" noMove="1" noResize="1" noEditPoints="1" noAdjustHandles="1" noChangeArrowheads="1" noChangeShapeType="1" noTextEdit="1"/>
              </p:cNvSpPr>
              <p:nvPr/>
            </p:nvSpPr>
            <p:spPr>
              <a:xfrm>
                <a:off x="4881680" y="1207688"/>
                <a:ext cx="6696830" cy="2510174"/>
              </a:xfrm>
              <a:prstGeom prst="rect">
                <a:avLst/>
              </a:prstGeom>
              <a:blipFill rotWithShape="1">
                <a:blip r:embed="rId3"/>
                <a:stretch>
                  <a:fillRect l="-6" t="-22" r="8" b="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4467242" y="4020374"/>
                <a:ext cx="7111268" cy="1833643"/>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朱世杰</a:t>
                </a:r>
                <a:r>
                  <a:rPr lang="en-US" altLang="zh-CN" sz="2400" b="1">
                    <a:solidFill>
                      <a:srgbClr val="C00000"/>
                    </a:solidFill>
                  </a:rPr>
                  <a:t>-</a:t>
                </a:r>
                <a:r>
                  <a:rPr lang="zh-CN" altLang="en-US" sz="2400" b="1">
                    <a:solidFill>
                      <a:srgbClr val="C00000"/>
                    </a:solidFill>
                  </a:rPr>
                  <a:t>范德蒙等式</a:t>
                </a:r>
                <a:r>
                  <a:rPr lang="en-US" altLang="zh-CN" sz="2400" b="1">
                    <a:solidFill>
                      <a:srgbClr val="C00000"/>
                    </a:solidFill>
                  </a:rPr>
                  <a:t>(Zhu-Vandermonde identity)</a:t>
                </a:r>
                <a:endParaRPr lang="en-US" altLang="zh-CN" sz="2400" b="1">
                  <a:solidFill>
                    <a:srgbClr val="C00000"/>
                  </a:solidFill>
                </a:endParaRPr>
              </a:p>
              <a:p>
                <a:pPr>
                  <a:spcBef>
                    <a:spcPts val="600"/>
                  </a:spcBef>
                  <a:spcAft>
                    <a:spcPts val="1200"/>
                  </a:spcAft>
                </a:pP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𝒎</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𝒏</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𝒓</m:t>
                    </m:r>
                  </m:oMath>
                </a14:m>
                <a:r>
                  <a:rPr lang="zh-CN" altLang="en-US" sz="2000" b="1">
                    <a:solidFill>
                      <a:srgbClr val="002060"/>
                    </a:solidFill>
                    <a:latin typeface="楷体" panose="02010609060101010101" pitchFamily="49" charset="-122"/>
                    <a:ea typeface="楷体" panose="02010609060101010101" pitchFamily="49" charset="-122"/>
                  </a:rPr>
                  <a:t>是自然数</a:t>
                </a:r>
                <a:r>
                  <a:rPr lang="en-US" altLang="zh-CN" sz="2000"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𝒓</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𝒎</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𝒓</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𝒏</m:t>
                    </m:r>
                  </m:oMath>
                </a14:m>
                <a:r>
                  <a:rPr lang="en-US" altLang="zh-CN" sz="2000" b="1">
                    <a:solidFill>
                      <a:srgbClr val="002060"/>
                    </a:solidFill>
                    <a:latin typeface="楷体" panose="02010609060101010101" pitchFamily="49" charset="-122"/>
                    <a:ea typeface="楷体" panose="02010609060101010101" pitchFamily="49" charset="-122"/>
                  </a:rPr>
                  <a:t>,</a:t>
                </a:r>
                <a:endParaRPr lang="zh-CN" altLang="en-US" sz="2000" b="1">
                  <a:solidFill>
                    <a:srgbClr val="002060"/>
                  </a:solidFill>
                  <a:latin typeface="楷体" panose="02010609060101010101" pitchFamily="49" charset="-122"/>
                  <a:ea typeface="楷体" panose="02010609060101010101" pitchFamily="49" charset="-122"/>
                </a:endParaRPr>
              </a:p>
              <a:p>
                <a14:m>
                  <m:oMathPara xmlns:m="http://schemas.openxmlformats.org/officeDocument/2006/math">
                    <m:oMathParaPr>
                      <m:jc m:val="centerGroup"/>
                    </m:oMathParaPr>
                    <m:oMath xmlns:m="http://schemas.openxmlformats.org/officeDocument/2006/math">
                      <m:nary>
                        <m:naryPr>
                          <m:chr m:val="∑"/>
                          <m:ctrlPr>
                            <a:rPr lang="en-US" altLang="zh-CN" b="1" i="1" smtClean="0">
                              <a:solidFill>
                                <a:schemeClr val="accent2">
                                  <a:lumMod val="50000"/>
                                </a:schemeClr>
                              </a:solidFill>
                              <a:latin typeface="Cambria Math" panose="02040503050406030204" pitchFamily="18" charset="0"/>
                            </a:rPr>
                          </m:ctrlPr>
                        </m:naryPr>
                        <m:sub>
                          <m:r>
                            <a:rPr lang="en-US" altLang="zh-CN" b="1" i="1" smtClean="0">
                              <a:solidFill>
                                <a:schemeClr val="accent2">
                                  <a:lumMod val="50000"/>
                                </a:schemeClr>
                              </a:solidFill>
                              <a:latin typeface="Cambria Math" panose="02040503050406030204" pitchFamily="18" charset="0"/>
                            </a:rPr>
                            <m:t>𝒌</m:t>
                          </m:r>
                          <m:r>
                            <a:rPr lang="en-US" altLang="zh-CN" b="1" i="1" smtClean="0">
                              <a:solidFill>
                                <a:schemeClr val="accent2">
                                  <a:lumMod val="50000"/>
                                </a:schemeClr>
                              </a:solidFill>
                              <a:latin typeface="Cambria Math" panose="02040503050406030204" pitchFamily="18" charset="0"/>
                            </a:rPr>
                            <m:t> = </m:t>
                          </m:r>
                          <m:r>
                            <a:rPr lang="en-US" altLang="zh-CN" b="1" i="1" smtClean="0">
                              <a:solidFill>
                                <a:schemeClr val="accent2">
                                  <a:lumMod val="50000"/>
                                </a:schemeClr>
                              </a:solidFill>
                              <a:latin typeface="Cambria Math" panose="02040503050406030204" pitchFamily="18" charset="0"/>
                            </a:rPr>
                            <m:t>𝟎</m:t>
                          </m:r>
                        </m:sub>
                        <m:sup>
                          <m:r>
                            <a:rPr lang="en-US" altLang="zh-CN" b="1" i="1">
                              <a:solidFill>
                                <a:schemeClr val="accent2">
                                  <a:lumMod val="50000"/>
                                </a:schemeClr>
                              </a:solidFill>
                              <a:latin typeface="Cambria Math" panose="02040503050406030204" pitchFamily="18" charset="0"/>
                            </a:rPr>
                            <m:t>𝒓</m:t>
                          </m:r>
                        </m:sup>
                        <m:e>
                          <m:d>
                            <m:dPr>
                              <m:ctrlPr>
                                <a:rPr lang="en-US" altLang="zh-CN" b="1" i="1" smtClean="0">
                                  <a:solidFill>
                                    <a:schemeClr val="accent2">
                                      <a:lumMod val="50000"/>
                                    </a:schemeClr>
                                  </a:solidFill>
                                  <a:latin typeface="Cambria Math" panose="02040503050406030204" pitchFamily="18" charset="0"/>
                                </a:rPr>
                              </m:ctrlPr>
                            </m:dPr>
                            <m:e>
                              <m:f>
                                <m:fPr>
                                  <m:type m:val="noBar"/>
                                  <m:ctrlPr>
                                    <a:rPr lang="en-US" altLang="zh-CN" b="1" i="1" smtClean="0">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𝒎</m:t>
                                  </m:r>
                                </m:num>
                                <m:den>
                                  <m:r>
                                    <a:rPr lang="en-US" altLang="zh-CN" b="1" i="1" smtClean="0">
                                      <a:solidFill>
                                        <a:schemeClr val="accent2">
                                          <a:lumMod val="50000"/>
                                        </a:schemeClr>
                                      </a:solidFill>
                                      <a:latin typeface="Cambria Math" panose="02040503050406030204" pitchFamily="18" charset="0"/>
                                    </a:rPr>
                                    <m:t>𝒓</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𝒌</m:t>
                                  </m:r>
                                </m:den>
                              </m:f>
                            </m:e>
                          </m:d>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smtClean="0">
                                      <a:solidFill>
                                        <a:schemeClr val="accent2">
                                          <a:lumMod val="50000"/>
                                        </a:schemeClr>
                                      </a:solidFill>
                                      <a:latin typeface="Cambria Math" panose="02040503050406030204" pitchFamily="18" charset="0"/>
                                    </a:rPr>
                                    <m:t>𝒏</m:t>
                                  </m:r>
                                </m:num>
                                <m:den>
                                  <m:r>
                                    <a:rPr lang="en-US" altLang="zh-CN" b="1" i="1">
                                      <a:solidFill>
                                        <a:schemeClr val="accent2">
                                          <a:lumMod val="50000"/>
                                        </a:schemeClr>
                                      </a:solidFill>
                                      <a:latin typeface="Cambria Math" panose="02040503050406030204" pitchFamily="18" charset="0"/>
                                    </a:rPr>
                                    <m:t>𝒌</m:t>
                                  </m:r>
                                </m:den>
                              </m:f>
                            </m:e>
                          </m:d>
                        </m:e>
                      </m:nary>
                      <m:r>
                        <a:rPr lang="en-US" altLang="zh-CN" b="1" i="1" smtClean="0">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a:solidFill>
                                    <a:schemeClr val="accent2">
                                      <a:lumMod val="50000"/>
                                    </a:schemeClr>
                                  </a:solidFill>
                                  <a:latin typeface="Cambria Math" panose="02040503050406030204" pitchFamily="18" charset="0"/>
                                </a:rPr>
                                <m:t>𝒎</m:t>
                              </m:r>
                            </m:num>
                            <m:den>
                              <m:r>
                                <a:rPr lang="en-US" altLang="zh-CN" b="1" i="1">
                                  <a:solidFill>
                                    <a:schemeClr val="accent2">
                                      <a:lumMod val="50000"/>
                                    </a:schemeClr>
                                  </a:solidFill>
                                  <a:latin typeface="Cambria Math" panose="02040503050406030204" pitchFamily="18" charset="0"/>
                                </a:rPr>
                                <m:t>𝒓</m:t>
                              </m:r>
                            </m:den>
                          </m:f>
                        </m:e>
                      </m:d>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a:solidFill>
                                    <a:schemeClr val="accent2">
                                      <a:lumMod val="50000"/>
                                    </a:schemeClr>
                                  </a:solidFill>
                                  <a:latin typeface="Cambria Math" panose="02040503050406030204" pitchFamily="18" charset="0"/>
                                </a:rPr>
                                <m:t>𝒏</m:t>
                              </m:r>
                            </m:num>
                            <m:den>
                              <m:r>
                                <a:rPr lang="en-US" altLang="zh-CN" b="1" i="1" smtClean="0">
                                  <a:solidFill>
                                    <a:schemeClr val="accent2">
                                      <a:lumMod val="50000"/>
                                    </a:schemeClr>
                                  </a:solidFill>
                                  <a:latin typeface="Cambria Math" panose="02040503050406030204" pitchFamily="18" charset="0"/>
                                </a:rPr>
                                <m:t>𝟎</m:t>
                              </m:r>
                            </m:den>
                          </m:f>
                        </m:e>
                      </m:d>
                      <m:r>
                        <a:rPr lang="en-US" altLang="zh-CN" b="1" i="1" smtClean="0">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a:solidFill>
                                    <a:schemeClr val="accent2">
                                      <a:lumMod val="50000"/>
                                    </a:schemeClr>
                                  </a:solidFill>
                                  <a:latin typeface="Cambria Math" panose="02040503050406030204" pitchFamily="18" charset="0"/>
                                </a:rPr>
                                <m:t>𝒎</m:t>
                              </m:r>
                            </m:num>
                            <m:den>
                              <m:r>
                                <a:rPr lang="en-US" altLang="zh-CN" b="1" i="1">
                                  <a:solidFill>
                                    <a:schemeClr val="accent2">
                                      <a:lumMod val="50000"/>
                                    </a:schemeClr>
                                  </a:solidFill>
                                  <a:latin typeface="Cambria Math" panose="02040503050406030204" pitchFamily="18" charset="0"/>
                                </a:rPr>
                                <m:t>𝒓</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den>
                          </m:f>
                        </m:e>
                      </m:d>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a:solidFill>
                                    <a:schemeClr val="accent2">
                                      <a:lumMod val="50000"/>
                                    </a:schemeClr>
                                  </a:solidFill>
                                  <a:latin typeface="Cambria Math" panose="02040503050406030204" pitchFamily="18" charset="0"/>
                                </a:rPr>
                                <m:t>𝒏</m:t>
                              </m:r>
                            </m:num>
                            <m:den>
                              <m:r>
                                <a:rPr lang="en-US" altLang="zh-CN" b="1" i="1" smtClean="0">
                                  <a:solidFill>
                                    <a:schemeClr val="accent2">
                                      <a:lumMod val="50000"/>
                                    </a:schemeClr>
                                  </a:solidFill>
                                  <a:latin typeface="Cambria Math" panose="02040503050406030204" pitchFamily="18" charset="0"/>
                                </a:rPr>
                                <m:t>𝟏</m:t>
                              </m:r>
                            </m:den>
                          </m:f>
                        </m:e>
                      </m:d>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a:solidFill>
                                    <a:schemeClr val="accent2">
                                      <a:lumMod val="50000"/>
                                    </a:schemeClr>
                                  </a:solidFill>
                                  <a:latin typeface="Cambria Math" panose="02040503050406030204" pitchFamily="18" charset="0"/>
                                </a:rPr>
                                <m:t>𝒎</m:t>
                              </m:r>
                            </m:num>
                            <m:den>
                              <m:r>
                                <a:rPr lang="en-US" altLang="zh-CN" b="1" i="1" smtClean="0">
                                  <a:solidFill>
                                    <a:schemeClr val="accent2">
                                      <a:lumMod val="50000"/>
                                    </a:schemeClr>
                                  </a:solidFill>
                                  <a:latin typeface="Cambria Math" panose="02040503050406030204" pitchFamily="18" charset="0"/>
                                </a:rPr>
                                <m:t>𝟎</m:t>
                              </m:r>
                            </m:den>
                          </m:f>
                        </m:e>
                      </m:d>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a:solidFill>
                                    <a:schemeClr val="accent2">
                                      <a:lumMod val="50000"/>
                                    </a:schemeClr>
                                  </a:solidFill>
                                  <a:latin typeface="Cambria Math" panose="02040503050406030204" pitchFamily="18" charset="0"/>
                                </a:rPr>
                                <m:t>𝒏</m:t>
                              </m:r>
                            </m:num>
                            <m:den>
                              <m:r>
                                <a:rPr lang="en-US" altLang="zh-CN" b="1" i="1" smtClean="0">
                                  <a:solidFill>
                                    <a:schemeClr val="accent2">
                                      <a:lumMod val="50000"/>
                                    </a:schemeClr>
                                  </a:solidFill>
                                  <a:latin typeface="Cambria Math" panose="02040503050406030204" pitchFamily="18" charset="0"/>
                                </a:rPr>
                                <m:t>𝒓</m:t>
                              </m:r>
                            </m:den>
                          </m:f>
                        </m:e>
                      </m:d>
                      <m:r>
                        <a:rPr lang="en-US" altLang="zh-CN" b="1" i="1" smtClean="0">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f>
                            <m:fPr>
                              <m:type m:val="noBar"/>
                              <m:ctrlPr>
                                <a:rPr lang="en-US" altLang="zh-CN" b="1" i="1">
                                  <a:solidFill>
                                    <a:schemeClr val="accent2">
                                      <a:lumMod val="50000"/>
                                    </a:schemeClr>
                                  </a:solidFill>
                                  <a:latin typeface="Cambria Math" panose="02040503050406030204" pitchFamily="18" charset="0"/>
                                </a:rPr>
                              </m:ctrlPr>
                            </m:fPr>
                            <m:num>
                              <m:r>
                                <a:rPr lang="en-US" altLang="zh-CN" b="1" i="1">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𝒏</m:t>
                              </m:r>
                            </m:num>
                            <m:den>
                              <m:r>
                                <a:rPr lang="en-US" altLang="zh-CN" b="1" i="1">
                                  <a:solidFill>
                                    <a:schemeClr val="accent2">
                                      <a:lumMod val="50000"/>
                                    </a:schemeClr>
                                  </a:solidFill>
                                  <a:latin typeface="Cambria Math" panose="02040503050406030204" pitchFamily="18" charset="0"/>
                                </a:rPr>
                                <m:t>𝒓</m:t>
                              </m:r>
                            </m:den>
                          </m:f>
                        </m:e>
                      </m:d>
                    </m:oMath>
                  </m:oMathPara>
                </a14:m>
                <a:endParaRPr lang="en-US" altLang="zh-CN" b="1"/>
              </a:p>
            </p:txBody>
          </p:sp>
        </mc:Choice>
        <mc:Fallback>
          <p:sp>
            <p:nvSpPr>
              <p:cNvPr id="18" name="文本框 17"/>
              <p:cNvSpPr txBox="1">
                <a:spLocks noRot="1" noChangeAspect="1" noMove="1" noResize="1" noEditPoints="1" noAdjustHandles="1" noChangeArrowheads="1" noChangeShapeType="1" noTextEdit="1"/>
              </p:cNvSpPr>
              <p:nvPr/>
            </p:nvSpPr>
            <p:spPr>
              <a:xfrm>
                <a:off x="4467242" y="4020374"/>
                <a:ext cx="7111268" cy="1833643"/>
              </a:xfrm>
              <a:prstGeom prst="rect">
                <a:avLst/>
              </a:prstGeom>
              <a:blipFill rotWithShape="1">
                <a:blip r:embed="rId4"/>
                <a:stretch>
                  <a:fillRect t="-10" r="8" b="32"/>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组合计数</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线性齐次递推关系式求解</a:t>
            </a: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3255218" y="1047754"/>
                <a:ext cx="5681560" cy="984885"/>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常系数</a:t>
                </a:r>
                <a14:m>
                  <m:oMath xmlns:m="http://schemas.openxmlformats.org/officeDocument/2006/math">
                    <m:r>
                      <a:rPr lang="en-US" altLang="zh-CN" sz="2400" b="1" i="1" smtClean="0">
                        <a:solidFill>
                          <a:srgbClr val="002060"/>
                        </a:solidFill>
                        <a:latin typeface="Cambria Math" panose="02040503050406030204" pitchFamily="18" charset="0"/>
                      </a:rPr>
                      <m:t>𝒌</m:t>
                    </m:r>
                  </m:oMath>
                </a14:m>
                <a:r>
                  <a:rPr lang="zh-CN" altLang="en-US" sz="2400" b="1">
                    <a:solidFill>
                      <a:srgbClr val="002060"/>
                    </a:solidFill>
                    <a:latin typeface="楷体" panose="02010609060101010101" pitchFamily="49" charset="-122"/>
                    <a:ea typeface="楷体" panose="02010609060101010101" pitchFamily="49" charset="-122"/>
                  </a:rPr>
                  <a:t>阶线性齐次递推关系式</a:t>
                </a:r>
                <a:endParaRPr lang="en-US" altLang="zh-CN" sz="2400"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sub>
                      </m:sSub>
                      <m:r>
                        <a:rPr lang="en-US" altLang="zh-CN" sz="2400" b="1" i="1" smtClean="0">
                          <a:solidFill>
                            <a:schemeClr val="accent2">
                              <a:lumMod val="50000"/>
                            </a:schemeClr>
                          </a:solidFill>
                          <a:latin typeface="Cambria Math" panose="02040503050406030204" pitchFamily="18" charset="0"/>
                        </a:rPr>
                        <m:t>=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𝟏</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sub>
                      </m:sSub>
                      <m:r>
                        <a:rPr lang="en-US" altLang="zh-CN" sz="2400" b="1" i="1" smtClean="0">
                          <a:solidFill>
                            <a:schemeClr val="accent2">
                              <a:lumMod val="50000"/>
                            </a:schemeClr>
                          </a:solidFill>
                          <a:latin typeface="Cambria Math" panose="02040503050406030204" pitchFamily="18" charset="0"/>
                        </a:rPr>
                        <m:t>+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𝟐</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𝟐</m:t>
                          </m:r>
                        </m:sub>
                      </m:sSub>
                      <m:r>
                        <a:rPr lang="en-US" altLang="zh-CN" sz="2400" b="1" i="1" smtClean="0">
                          <a:solidFill>
                            <a:schemeClr val="accent2">
                              <a:lumMod val="50000"/>
                            </a:schemeClr>
                          </a:solidFill>
                          <a:latin typeface="Cambria Math" panose="02040503050406030204" pitchFamily="18" charset="0"/>
                        </a:rPr>
                        <m:t>+ ⋯+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𝒌</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𝒌</m:t>
                          </m:r>
                        </m:sub>
                      </m:sSub>
                    </m:oMath>
                  </m:oMathPara>
                </a14:m>
                <a:endParaRPr lang="en-US" altLang="zh-CN" sz="2400" b="1"/>
              </a:p>
            </p:txBody>
          </p:sp>
        </mc:Choice>
        <mc:Fallback>
          <p:sp>
            <p:nvSpPr>
              <p:cNvPr id="12" name="文本框 11"/>
              <p:cNvSpPr txBox="1">
                <a:spLocks noRot="1" noChangeAspect="1" noMove="1" noResize="1" noEditPoints="1" noAdjustHandles="1" noChangeArrowheads="1" noChangeShapeType="1" noTextEdit="1"/>
              </p:cNvSpPr>
              <p:nvPr/>
            </p:nvSpPr>
            <p:spPr>
              <a:xfrm>
                <a:off x="3255218" y="1047754"/>
                <a:ext cx="5681560" cy="984885"/>
              </a:xfrm>
              <a:prstGeom prst="rect">
                <a:avLst/>
              </a:prstGeom>
              <a:blipFill rotWithShape="1">
                <a:blip r:embed="rId1"/>
                <a:stretch>
                  <a:fillRect l="-4" r="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890098" y="2207587"/>
                <a:ext cx="10549769" cy="411779"/>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方程</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smtClean="0">
                            <a:solidFill>
                              <a:srgbClr val="C00000"/>
                            </a:solidFill>
                            <a:latin typeface="Cambria Math" panose="02040503050406030204" pitchFamily="18" charset="0"/>
                          </a:rPr>
                          <m:t>𝒌</m:t>
                        </m:r>
                      </m:sup>
                    </m:sSup>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𝒄</m:t>
                        </m:r>
                      </m:e>
                      <m:sub>
                        <m:r>
                          <a:rPr lang="en-US" altLang="zh-CN" sz="2000" b="1" i="1" smtClean="0">
                            <a:solidFill>
                              <a:srgbClr val="C00000"/>
                            </a:solidFill>
                            <a:latin typeface="Cambria Math" panose="02040503050406030204" pitchFamily="18" charset="0"/>
                          </a:rPr>
                          <m:t>𝟏</m:t>
                        </m:r>
                      </m:sub>
                    </m:sSub>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a:solidFill>
                              <a:srgbClr val="C00000"/>
                            </a:solidFill>
                            <a:latin typeface="Cambria Math" panose="02040503050406030204" pitchFamily="18" charset="0"/>
                          </a:rPr>
                          <m:t>𝒌</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sup>
                    </m:sSup>
                    <m:r>
                      <a:rPr lang="en-US" altLang="zh-CN" sz="2000" b="1" i="1">
                        <a:solidFill>
                          <a:srgbClr val="C00000"/>
                        </a:solidFill>
                        <a:latin typeface="Cambria Math" panose="02040503050406030204" pitchFamily="18" charset="0"/>
                      </a:rPr>
                      <m:t>+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𝒄</m:t>
                        </m:r>
                      </m:e>
                      <m:sub>
                        <m:r>
                          <a:rPr lang="en-US" altLang="zh-CN" sz="2000" b="1" i="1" smtClean="0">
                            <a:solidFill>
                              <a:srgbClr val="C00000"/>
                            </a:solidFill>
                            <a:latin typeface="Cambria Math" panose="02040503050406030204" pitchFamily="18" charset="0"/>
                          </a:rPr>
                          <m:t>𝟐</m:t>
                        </m:r>
                      </m:sub>
                    </m:sSub>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a:solidFill>
                              <a:srgbClr val="C00000"/>
                            </a:solidFill>
                            <a:latin typeface="Cambria Math" panose="02040503050406030204" pitchFamily="18" charset="0"/>
                          </a:rPr>
                          <m:t>𝒌</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𝟐</m:t>
                        </m:r>
                      </m:sup>
                    </m:sSup>
                    <m:r>
                      <a:rPr lang="en-US" altLang="zh-CN" sz="2000" b="1" i="1">
                        <a:solidFill>
                          <a:srgbClr val="C00000"/>
                        </a:solidFill>
                        <a:latin typeface="Cambria Math" panose="02040503050406030204" pitchFamily="18" charset="0"/>
                      </a:rPr>
                      <m:t>+ ⋯+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𝒄</m:t>
                        </m:r>
                      </m:e>
                      <m:sub>
                        <m:r>
                          <a:rPr lang="en-US" altLang="zh-CN" sz="2000" b="1" i="1" smtClean="0">
                            <a:solidFill>
                              <a:srgbClr val="C00000"/>
                            </a:solidFill>
                            <a:latin typeface="Cambria Math" panose="02040503050406030204" pitchFamily="18" charset="0"/>
                          </a:rPr>
                          <m:t>𝒌</m:t>
                        </m:r>
                      </m:sub>
                    </m:sSub>
                  </m:oMath>
                </a14:m>
                <a:r>
                  <a:rPr lang="zh-CN" altLang="en-US" sz="2000" b="1">
                    <a:solidFill>
                      <a:schemeClr val="accent2">
                        <a:lumMod val="50000"/>
                      </a:schemeClr>
                    </a:solidFill>
                  </a:rPr>
                  <a:t>称为该递推关系式的</a:t>
                </a:r>
                <a:r>
                  <a:rPr lang="zh-CN" altLang="en-US" sz="2000" b="1">
                    <a:solidFill>
                      <a:srgbClr val="C00000"/>
                    </a:solidFill>
                  </a:rPr>
                  <a:t>特征方程</a:t>
                </a:r>
                <a:r>
                  <a:rPr lang="en-US" altLang="zh-CN" sz="2000" b="1">
                    <a:solidFill>
                      <a:schemeClr val="accent2">
                        <a:lumMod val="50000"/>
                      </a:schemeClr>
                    </a:solidFill>
                  </a:rPr>
                  <a:t>(characteristic equation)</a:t>
                </a:r>
                <a:endParaRPr lang="en-US" altLang="zh-CN" sz="2000" b="1">
                  <a:solidFill>
                    <a:schemeClr val="accent2">
                      <a:lumMod val="50000"/>
                    </a:schemeClr>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890098" y="2207587"/>
                <a:ext cx="10549769" cy="411779"/>
              </a:xfrm>
              <a:prstGeom prst="rect">
                <a:avLst/>
              </a:prstGeom>
              <a:blipFill rotWithShape="1">
                <a:blip r:embed="rId2"/>
                <a:stretch>
                  <a:fillRect l="-4" t="-79" r="3" b="152"/>
                </a:stretch>
              </a:blipFill>
            </p:spPr>
            <p:txBody>
              <a:bodyPr/>
              <a:lstStyle/>
              <a:p>
                <a:r>
                  <a:rPr lang="zh-CN" altLang="en-US">
                    <a:noFill/>
                  </a:rPr>
                  <a:t> </a:t>
                </a:r>
              </a:p>
            </p:txBody>
          </p:sp>
        </mc:Fallback>
      </mc:AlternateContent>
      <p:grpSp>
        <p:nvGrpSpPr>
          <p:cNvPr id="19" name="组合 18"/>
          <p:cNvGrpSpPr/>
          <p:nvPr/>
        </p:nvGrpSpPr>
        <p:grpSpPr>
          <a:xfrm>
            <a:off x="611793" y="2794314"/>
            <a:ext cx="10979378" cy="2165813"/>
            <a:chOff x="611793" y="2794314"/>
            <a:chExt cx="10979378" cy="2165813"/>
          </a:xfrm>
        </p:grpSpPr>
        <p:sp>
          <p:nvSpPr>
            <p:cNvPr id="20" name="矩形 19"/>
            <p:cNvSpPr/>
            <p:nvPr/>
          </p:nvSpPr>
          <p:spPr>
            <a:xfrm>
              <a:off x="611793" y="2794314"/>
              <a:ext cx="10979378" cy="2165813"/>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1" name="文本框 20"/>
                <p:cNvSpPr txBox="1"/>
                <p:nvPr/>
              </p:nvSpPr>
              <p:spPr>
                <a:xfrm>
                  <a:off x="668810" y="3148282"/>
                  <a:ext cx="2379192" cy="1426031"/>
                </a:xfrm>
                <a:prstGeom prst="rect">
                  <a:avLst/>
                </a:prstGeom>
                <a:solidFill>
                  <a:schemeClr val="accent5">
                    <a:lumMod val="20000"/>
                    <a:lumOff val="80000"/>
                  </a:schemeClr>
                </a:solidFill>
              </p:spPr>
              <p:txBody>
                <a:bodyPr wrap="square" rtlCol="0">
                  <a:spAutoFit/>
                </a:bodyPr>
                <a:lstStyle/>
                <a:p>
                  <a:pPr>
                    <a:lnSpc>
                      <a:spcPts val="2600"/>
                    </a:lnSpc>
                  </a:pPr>
                  <a:r>
                    <a:rPr lang="zh-CN" altLang="en-US" b="1">
                      <a:solidFill>
                        <a:schemeClr val="accent6">
                          <a:lumMod val="50000"/>
                        </a:schemeClr>
                      </a:solidFill>
                    </a:rPr>
                    <a:t>特征方程</a:t>
                  </a:r>
                  <a:r>
                    <a:rPr lang="en-US" altLang="zh-CN" b="1">
                      <a:solidFill>
                        <a:schemeClr val="accent6">
                          <a:lumMod val="50000"/>
                        </a:schemeClr>
                      </a:solidFill>
                    </a:rPr>
                    <a:t>(</a:t>
                  </a:r>
                  <a:r>
                    <a:rPr lang="zh-CN" altLang="en-US" b="1">
                      <a:solidFill>
                        <a:schemeClr val="accent6">
                          <a:lumMod val="50000"/>
                        </a:schemeClr>
                      </a:solidFill>
                    </a:rPr>
                    <a:t>在复数域内</a:t>
                  </a:r>
                  <a:r>
                    <a:rPr lang="en-US" altLang="zh-CN" b="1">
                      <a:solidFill>
                        <a:schemeClr val="accent6">
                          <a:lumMod val="50000"/>
                        </a:schemeClr>
                      </a:solidFill>
                    </a:rPr>
                    <a:t>)</a:t>
                  </a:r>
                  <a:r>
                    <a:rPr lang="zh-CN" altLang="en-US" b="1">
                      <a:solidFill>
                        <a:schemeClr val="accent6">
                          <a:lumMod val="50000"/>
                        </a:schemeClr>
                      </a:solidFill>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𝒕</m:t>
                      </m:r>
                    </m:oMath>
                  </a14:m>
                  <a:r>
                    <a:rPr lang="zh-CN" altLang="en-US" b="1">
                      <a:solidFill>
                        <a:schemeClr val="accent6">
                          <a:lumMod val="50000"/>
                        </a:schemeClr>
                      </a:solidFill>
                    </a:rPr>
                    <a:t>个</a:t>
                  </a:r>
                  <a:r>
                    <a:rPr lang="zh-CN" altLang="en-US" b="1">
                      <a:solidFill>
                        <a:srgbClr val="C00000"/>
                      </a:solidFill>
                    </a:rPr>
                    <a:t>不同根</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𝒓</m:t>
                          </m:r>
                        </m:e>
                        <m:sub>
                          <m:r>
                            <a:rPr lang="en-US" altLang="zh-CN" b="1" i="1" smtClean="0">
                              <a:solidFill>
                                <a:schemeClr val="accent6">
                                  <a:lumMod val="50000"/>
                                </a:schemeClr>
                              </a:solidFill>
                              <a:latin typeface="Cambria Math" panose="02040503050406030204" pitchFamily="18" charset="0"/>
                            </a:rPr>
                            <m:t>𝟏</m:t>
                          </m:r>
                        </m:sub>
                      </m:sSub>
                      <m:r>
                        <a:rPr lang="en-US" altLang="zh-CN" b="1" i="1" smtClean="0">
                          <a:solidFill>
                            <a:schemeClr val="accent6">
                              <a:lumMod val="50000"/>
                            </a:schemeClr>
                          </a:solidFill>
                          <a:latin typeface="Cambria Math" panose="02040503050406030204" pitchFamily="18" charset="0"/>
                        </a:rPr>
                        <m:t>, ⋯, </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𝒓</m:t>
                          </m:r>
                        </m:e>
                        <m:sub>
                          <m:r>
                            <a:rPr lang="en-US" altLang="zh-CN" b="1" i="1" smtClean="0">
                              <a:solidFill>
                                <a:schemeClr val="accent6">
                                  <a:lumMod val="50000"/>
                                </a:schemeClr>
                              </a:solidFill>
                              <a:latin typeface="Cambria Math" panose="02040503050406030204" pitchFamily="18" charset="0"/>
                            </a:rPr>
                            <m:t>𝒕</m:t>
                          </m:r>
                        </m:sub>
                      </m:sSub>
                    </m:oMath>
                  </a14:m>
                  <a:r>
                    <a:rPr lang="zh-CN" altLang="en-US" b="1">
                      <a:solidFill>
                        <a:schemeClr val="accent6">
                          <a:lumMod val="50000"/>
                        </a:schemeClr>
                      </a:solidFill>
                    </a:rPr>
                    <a:t>，</a:t>
                  </a:r>
                  <a:r>
                    <a:rPr lang="zh-CN" altLang="en-US" b="1">
                      <a:solidFill>
                        <a:srgbClr val="C00000"/>
                      </a:solidFill>
                    </a:rPr>
                    <a:t>重数</a:t>
                  </a:r>
                  <a:r>
                    <a:rPr lang="zh-CN" altLang="en-US" b="1">
                      <a:solidFill>
                        <a:schemeClr val="accent6">
                          <a:lumMod val="50000"/>
                        </a:schemeClr>
                      </a:solidFill>
                    </a:rPr>
                    <a:t>分别是</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𝒎</m:t>
                          </m:r>
                        </m:e>
                        <m:sub>
                          <m:r>
                            <a:rPr lang="en-US" altLang="zh-CN" b="1" i="1" smtClean="0">
                              <a:solidFill>
                                <a:schemeClr val="accent6">
                                  <a:lumMod val="50000"/>
                                </a:schemeClr>
                              </a:solidFill>
                              <a:latin typeface="Cambria Math" panose="02040503050406030204" pitchFamily="18" charset="0"/>
                            </a:rPr>
                            <m:t>𝟏</m:t>
                          </m:r>
                        </m:sub>
                      </m:sSub>
                      <m:r>
                        <a:rPr lang="en-US" altLang="zh-CN" b="1" i="1" smtClean="0">
                          <a:solidFill>
                            <a:schemeClr val="accent6">
                              <a:lumMod val="50000"/>
                            </a:schemeClr>
                          </a:solidFill>
                          <a:latin typeface="Cambria Math" panose="02040503050406030204" pitchFamily="18" charset="0"/>
                        </a:rPr>
                        <m:t>, ⋯, </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𝒎</m:t>
                          </m:r>
                        </m:e>
                        <m:sub>
                          <m:r>
                            <a:rPr lang="en-US" altLang="zh-CN" b="1" i="1" smtClean="0">
                              <a:solidFill>
                                <a:schemeClr val="accent6">
                                  <a:lumMod val="50000"/>
                                </a:schemeClr>
                              </a:solidFill>
                              <a:latin typeface="Cambria Math" panose="02040503050406030204" pitchFamily="18" charset="0"/>
                            </a:rPr>
                            <m:t>𝒕</m:t>
                          </m:r>
                        </m:sub>
                      </m:sSub>
                    </m:oMath>
                  </a14:m>
                  <a:r>
                    <a:rPr lang="zh-CN" altLang="en-US" b="1">
                      <a:solidFill>
                        <a:schemeClr val="accent6">
                          <a:lumMod val="50000"/>
                        </a:schemeClr>
                      </a:solidFill>
                    </a:rPr>
                    <a:t>，</a:t>
                  </a:r>
                  <a:endParaRPr lang="en-US" altLang="zh-CN" b="1">
                    <a:solidFill>
                      <a:schemeClr val="accent6">
                        <a:lumMod val="50000"/>
                      </a:schemeClr>
                    </a:solidFill>
                  </a:endParaRPr>
                </a:p>
                <a:p>
                  <a:pPr>
                    <a:lnSpc>
                      <a:spcPts val="2600"/>
                    </a:lnSpc>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𝒎</m:t>
                            </m:r>
                          </m:e>
                          <m:sub>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𝒎</m:t>
                            </m:r>
                          </m:e>
                          <m:sub>
                            <m:r>
                              <a:rPr lang="en-US" altLang="zh-CN" b="1" i="1">
                                <a:solidFill>
                                  <a:srgbClr val="C00000"/>
                                </a:solidFill>
                                <a:latin typeface="Cambria Math" panose="02040503050406030204" pitchFamily="18" charset="0"/>
                              </a:rPr>
                              <m:t>𝒕</m:t>
                            </m:r>
                          </m:sub>
                        </m:sSub>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𝒌</m:t>
                        </m:r>
                      </m:oMath>
                    </m:oMathPara>
                  </a14:m>
                  <a:endParaRPr lang="zh-CN" altLang="en-US" b="1">
                    <a:solidFill>
                      <a:schemeClr val="accent6">
                        <a:lumMod val="50000"/>
                      </a:schemeClr>
                    </a:solidFill>
                  </a:endParaRPr>
                </a:p>
              </p:txBody>
            </p:sp>
          </mc:Choice>
          <mc:Fallback>
            <p:sp>
              <p:nvSpPr>
                <p:cNvPr id="21" name="文本框 20"/>
                <p:cNvSpPr txBox="1">
                  <a:spLocks noRot="1" noChangeAspect="1" noMove="1" noResize="1" noEditPoints="1" noAdjustHandles="1" noChangeArrowheads="1" noChangeShapeType="1" noTextEdit="1"/>
                </p:cNvSpPr>
                <p:nvPr/>
              </p:nvSpPr>
              <p:spPr>
                <a:xfrm>
                  <a:off x="668810" y="3148282"/>
                  <a:ext cx="2379192" cy="1426031"/>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3428996" y="3148283"/>
                  <a:ext cx="5334000" cy="1426031"/>
                </a:xfrm>
                <a:prstGeom prst="rect">
                  <a:avLst/>
                </a:prstGeom>
                <a:solidFill>
                  <a:schemeClr val="accent2">
                    <a:lumMod val="20000"/>
                    <a:lumOff val="80000"/>
                  </a:schemeClr>
                </a:solidFill>
              </p:spPr>
              <p:txBody>
                <a:bodyPr wrap="square" rtlCol="0">
                  <a:spAutoFit/>
                </a:bodyPr>
                <a:lstStyle/>
                <a:p>
                  <a:pPr>
                    <a:lnSpc>
                      <a:spcPts val="2600"/>
                    </a:lnSpc>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𝒏</m:t>
                            </m:r>
                          </m:sub>
                        </m:sSub>
                        <m:r>
                          <a:rPr lang="en-US" altLang="zh-CN" b="1" i="1" smtClean="0">
                            <a:solidFill>
                              <a:srgbClr val="C00000"/>
                            </a:solidFill>
                            <a:latin typeface="Cambria Math" panose="02040503050406030204" pitchFamily="18" charset="0"/>
                          </a:rPr>
                          <m:t>= </m:t>
                        </m:r>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𝟎</m:t>
                                </m:r>
                              </m:sub>
                            </m:sSub>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 + ⋯+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𝒏</m:t>
                                </m:r>
                              </m:e>
                              <m:sup>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e>
                        </m:d>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𝟏</m:t>
                            </m:r>
                          </m:sub>
                          <m:sup>
                            <m:r>
                              <a:rPr lang="en-US" altLang="zh-CN" b="1" i="1" smtClean="0">
                                <a:solidFill>
                                  <a:srgbClr val="C00000"/>
                                </a:solidFill>
                                <a:latin typeface="Cambria Math" panose="02040503050406030204" pitchFamily="18" charset="0"/>
                              </a:rPr>
                              <m:t>𝒏</m:t>
                            </m:r>
                          </m:sup>
                        </m:sSubSup>
                        <m:r>
                          <a:rPr lang="en-US" altLang="zh-CN" b="1" i="1" smtClean="0">
                            <a:solidFill>
                              <a:srgbClr val="C00000"/>
                            </a:solidFill>
                            <a:latin typeface="Cambria Math" panose="02040503050406030204" pitchFamily="18" charset="0"/>
                          </a:rPr>
                          <m:t>+ </m:t>
                        </m:r>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𝟎</m:t>
                                </m:r>
                              </m:sub>
                            </m:sSub>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 + ⋯+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𝒏</m:t>
                                </m:r>
                              </m:e>
                              <m:sup>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e>
                        </m:d>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𝟐</m:t>
                            </m:r>
                          </m:sub>
                          <m:sup>
                            <m:r>
                              <a:rPr lang="en-US" altLang="zh-CN" b="1" i="1" smtClean="0">
                                <a:solidFill>
                                  <a:srgbClr val="C00000"/>
                                </a:solidFill>
                                <a:latin typeface="Cambria Math" panose="02040503050406030204" pitchFamily="18" charset="0"/>
                              </a:rPr>
                              <m:t>𝒏</m:t>
                            </m:r>
                          </m:sup>
                        </m:sSubSup>
                        <m:r>
                          <a:rPr lang="en-US" altLang="zh-CN" b="1" i="1" smtClean="0">
                            <a:solidFill>
                              <a:srgbClr val="C00000"/>
                            </a:solidFill>
                            <a:latin typeface="Cambria Math" panose="02040503050406030204" pitchFamily="18" charset="0"/>
                          </a:rPr>
                          <m:t>+ ⋯+ </m:t>
                        </m:r>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𝒕</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𝟎</m:t>
                                </m:r>
                              </m:sub>
                            </m:sSub>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𝒕</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 + ⋯+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𝒕</m:t>
                                </m:r>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𝒕</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𝒏</m:t>
                                </m:r>
                              </m:e>
                              <m:sup>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𝒕</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e>
                        </m:d>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𝒕</m:t>
                            </m:r>
                          </m:sub>
                          <m:sup>
                            <m:r>
                              <a:rPr lang="en-US" altLang="zh-CN" b="1" i="1" smtClean="0">
                                <a:solidFill>
                                  <a:srgbClr val="C00000"/>
                                </a:solidFill>
                                <a:latin typeface="Cambria Math" panose="02040503050406030204" pitchFamily="18" charset="0"/>
                              </a:rPr>
                              <m:t>𝒏</m:t>
                            </m:r>
                          </m:sup>
                        </m:sSubSup>
                      </m:oMath>
                    </m:oMathPara>
                  </a14:m>
                  <a:endParaRPr lang="en-US" altLang="zh-CN" b="1">
                    <a:solidFill>
                      <a:schemeClr val="accent6">
                        <a:lumMod val="50000"/>
                      </a:schemeClr>
                    </a:solidFill>
                  </a:endParaRPr>
                </a:p>
              </p:txBody>
            </p:sp>
          </mc:Choice>
          <mc:Fallback>
            <p:sp>
              <p:nvSpPr>
                <p:cNvPr id="22" name="文本框 21"/>
                <p:cNvSpPr txBox="1">
                  <a:spLocks noRot="1" noChangeAspect="1" noMove="1" noResize="1" noEditPoints="1" noAdjustHandles="1" noChangeArrowheads="1" noChangeShapeType="1" noTextEdit="1"/>
                </p:cNvSpPr>
                <p:nvPr/>
              </p:nvSpPr>
              <p:spPr>
                <a:xfrm>
                  <a:off x="3428996" y="3148283"/>
                  <a:ext cx="5334000" cy="1426031"/>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9143994" y="2825693"/>
                  <a:ext cx="2379192" cy="2071208"/>
                </a:xfrm>
                <a:prstGeom prst="rect">
                  <a:avLst/>
                </a:prstGeom>
                <a:solidFill>
                  <a:schemeClr val="accent5">
                    <a:lumMod val="20000"/>
                    <a:lumOff val="80000"/>
                  </a:schemeClr>
                </a:solidFill>
              </p:spPr>
              <p:txBody>
                <a:bodyPr wrap="square" rtlCol="0">
                  <a:spAutoFit/>
                </a:bodyPr>
                <a:lstStyle/>
                <a:p>
                  <a:pPr algn="just">
                    <a:lnSpc>
                      <a:spcPts val="2600"/>
                    </a:lnSpc>
                  </a:pP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𝜷</m:t>
                          </m:r>
                        </m:e>
                        <m:sub>
                          <m:r>
                            <a:rPr lang="en-US" altLang="zh-CN" b="1" i="1" smtClean="0">
                              <a:solidFill>
                                <a:schemeClr val="accent6">
                                  <a:lumMod val="50000"/>
                                </a:schemeClr>
                              </a:solidFill>
                              <a:latin typeface="Cambria Math" panose="02040503050406030204" pitchFamily="18" charset="0"/>
                            </a:rPr>
                            <m:t>𝒊</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𝒋</m:t>
                          </m:r>
                        </m:sub>
                      </m:sSub>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𝒊</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𝒕</m:t>
                      </m:r>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𝒋</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 ⋯, </m:t>
                      </m:r>
                      <m:sSub>
                        <m:sSubPr>
                          <m:ctrlPr>
                            <a:rPr lang="en-US" altLang="zh-CN" b="1" i="1">
                              <a:solidFill>
                                <a:schemeClr val="accent6">
                                  <a:lumMod val="50000"/>
                                </a:schemeClr>
                              </a:solidFill>
                              <a:latin typeface="Cambria Math" panose="02040503050406030204" pitchFamily="18" charset="0"/>
                            </a:rPr>
                          </m:ctrlPr>
                        </m:sSubPr>
                        <m:e>
                          <m:r>
                            <a:rPr lang="en-US" altLang="zh-CN" b="1" i="1">
                              <a:solidFill>
                                <a:schemeClr val="accent6">
                                  <a:lumMod val="50000"/>
                                </a:schemeClr>
                              </a:solidFill>
                              <a:latin typeface="Cambria Math" panose="02040503050406030204" pitchFamily="18" charset="0"/>
                            </a:rPr>
                            <m:t>𝒎</m:t>
                          </m:r>
                        </m:e>
                        <m:sub>
                          <m:r>
                            <a:rPr lang="en-US" altLang="zh-CN" b="1" i="1">
                              <a:solidFill>
                                <a:schemeClr val="accent6">
                                  <a:lumMod val="50000"/>
                                </a:schemeClr>
                              </a:solidFill>
                              <a:latin typeface="Cambria Math" panose="02040503050406030204" pitchFamily="18" charset="0"/>
                            </a:rPr>
                            <m:t>𝒊</m:t>
                          </m:r>
                        </m:sub>
                      </m:sSub>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是</a:t>
                  </a:r>
                  <a:r>
                    <a:rPr lang="zh-CN" altLang="en-US" b="1">
                      <a:solidFill>
                        <a:srgbClr val="C00000"/>
                      </a:solidFill>
                    </a:rPr>
                    <a:t>待定系数</a:t>
                  </a:r>
                  <a:r>
                    <a:rPr lang="zh-CN" altLang="en-US" b="1">
                      <a:solidFill>
                        <a:schemeClr val="accent6">
                          <a:lumMod val="50000"/>
                        </a:schemeClr>
                      </a:solidFill>
                    </a:rPr>
                    <a:t>，共</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个，由递推关系式</a:t>
                  </a:r>
                  <a14:m>
                    <m:oMath xmlns:m="http://schemas.openxmlformats.org/officeDocument/2006/math">
                      <m:r>
                        <a:rPr lang="en-US" altLang="zh-CN" b="1" i="1">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个初始条件，即序列</a:t>
                  </a:r>
                  <a14:m>
                    <m:oMath xmlns:m="http://schemas.openxmlformats.org/officeDocument/2006/math">
                      <m:r>
                        <m:rPr>
                          <m:lit/>
                        </m:rPr>
                        <a:rPr lang="en-US" altLang="zh-CN" b="1" i="1" smtClean="0">
                          <a:solidFill>
                            <a:schemeClr val="accent6">
                              <a:lumMod val="50000"/>
                            </a:schemeClr>
                          </a:solidFill>
                          <a:latin typeface="Cambria Math" panose="02040503050406030204" pitchFamily="18" charset="0"/>
                        </a:rPr>
                        <m:t>{</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𝒏</m:t>
                          </m:r>
                        </m:sub>
                      </m:sSub>
                      <m:r>
                        <m:rPr>
                          <m:lit/>
                        </m:rP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的</a:t>
                  </a:r>
                  <a14:m>
                    <m:oMath xmlns:m="http://schemas.openxmlformats.org/officeDocument/2006/math">
                      <m:r>
                        <a:rPr lang="en-US" altLang="zh-CN" b="1" i="1" smtClean="0">
                          <a:solidFill>
                            <a:srgbClr val="C00000"/>
                          </a:solidFill>
                          <a:latin typeface="Cambria Math" panose="02040503050406030204" pitchFamily="18" charset="0"/>
                        </a:rPr>
                        <m:t>𝒌</m:t>
                      </m:r>
                    </m:oMath>
                  </a14:m>
                  <a:r>
                    <a:rPr lang="zh-CN" altLang="en-US" b="1">
                      <a:solidFill>
                        <a:srgbClr val="C00000"/>
                      </a:solidFill>
                    </a:rPr>
                    <a:t>个初值</a:t>
                  </a:r>
                  <a:r>
                    <a:rPr lang="en-US" altLang="zh-CN" b="1">
                      <a:solidFill>
                        <a:schemeClr val="accent6">
                          <a:lumMod val="50000"/>
                        </a:schemeClr>
                      </a:solidFill>
                    </a:rPr>
                    <a:t>,</a:t>
                  </a:r>
                  <a:r>
                    <a:rPr lang="zh-CN" altLang="en-US" b="1">
                      <a:solidFill>
                        <a:schemeClr val="accent6">
                          <a:lumMod val="50000"/>
                        </a:schemeClr>
                      </a:solidFill>
                    </a:rPr>
                    <a:t>列</a:t>
                  </a:r>
                  <a:r>
                    <a:rPr lang="zh-CN" altLang="en-US" b="1">
                      <a:solidFill>
                        <a:srgbClr val="C00000"/>
                      </a:solidFill>
                    </a:rPr>
                    <a:t>线性方程组</a:t>
                  </a:r>
                  <a:r>
                    <a:rPr lang="zh-CN" altLang="en-US" b="1">
                      <a:solidFill>
                        <a:schemeClr val="accent6">
                          <a:lumMod val="50000"/>
                        </a:schemeClr>
                      </a:solidFill>
                    </a:rPr>
                    <a:t>求解</a:t>
                  </a:r>
                  <a:endParaRPr lang="zh-CN" altLang="en-US" b="1">
                    <a:solidFill>
                      <a:schemeClr val="accent6">
                        <a:lumMod val="50000"/>
                      </a:schemeClr>
                    </a:solidFill>
                  </a:endParaRPr>
                </a:p>
              </p:txBody>
            </p:sp>
          </mc:Choice>
          <mc:Fallback>
            <p:sp>
              <p:nvSpPr>
                <p:cNvPr id="23" name="文本框 22"/>
                <p:cNvSpPr txBox="1">
                  <a:spLocks noRot="1" noChangeAspect="1" noMove="1" noResize="1" noEditPoints="1" noAdjustHandles="1" noChangeArrowheads="1" noChangeShapeType="1" noTextEdit="1"/>
                </p:cNvSpPr>
                <p:nvPr/>
              </p:nvSpPr>
              <p:spPr>
                <a:xfrm>
                  <a:off x="9143994" y="2825693"/>
                  <a:ext cx="2379192" cy="2071208"/>
                </a:xfrm>
                <a:prstGeom prst="rect">
                  <a:avLst/>
                </a:prstGeom>
                <a:blipFill rotWithShape="1">
                  <a:blip r:embed="rId5"/>
                </a:blipFill>
              </p:spPr>
              <p:txBody>
                <a:bodyPr/>
                <a:lstStyle/>
                <a:p>
                  <a:r>
                    <a:rPr lang="zh-CN" altLang="en-US">
                      <a:noFill/>
                    </a:rPr>
                    <a:t> </a:t>
                  </a:r>
                </a:p>
              </p:txBody>
            </p:sp>
          </mc:Fallback>
        </mc:AlternateContent>
        <p:sp>
          <p:nvSpPr>
            <p:cNvPr id="24" name="箭头: 右 23"/>
            <p:cNvSpPr/>
            <p:nvPr/>
          </p:nvSpPr>
          <p:spPr>
            <a:xfrm>
              <a:off x="3048002" y="3795748"/>
              <a:ext cx="380994" cy="1776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右 24"/>
            <p:cNvSpPr/>
            <p:nvPr/>
          </p:nvSpPr>
          <p:spPr>
            <a:xfrm>
              <a:off x="8762996" y="3782592"/>
              <a:ext cx="380994" cy="1776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箭头: 下 25"/>
          <p:cNvSpPr/>
          <p:nvPr/>
        </p:nvSpPr>
        <p:spPr>
          <a:xfrm>
            <a:off x="6067311" y="2619366"/>
            <a:ext cx="111833" cy="1749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611793" y="5221778"/>
            <a:ext cx="10979378" cy="889352"/>
            <a:chOff x="611793" y="3416222"/>
            <a:chExt cx="10979378" cy="889352"/>
          </a:xfrm>
        </p:grpSpPr>
        <p:sp>
          <p:nvSpPr>
            <p:cNvPr id="28" name="矩形 27"/>
            <p:cNvSpPr/>
            <p:nvPr/>
          </p:nvSpPr>
          <p:spPr>
            <a:xfrm>
              <a:off x="611793" y="3416222"/>
              <a:ext cx="10979378" cy="889352"/>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9" name="文本框 28"/>
                <p:cNvSpPr txBox="1"/>
                <p:nvPr/>
              </p:nvSpPr>
              <p:spPr>
                <a:xfrm>
                  <a:off x="668807" y="3493625"/>
                  <a:ext cx="3094048" cy="736612"/>
                </a:xfrm>
                <a:prstGeom prst="rect">
                  <a:avLst/>
                </a:prstGeom>
                <a:solidFill>
                  <a:schemeClr val="accent5">
                    <a:lumMod val="20000"/>
                    <a:lumOff val="80000"/>
                  </a:schemeClr>
                </a:solidFill>
              </p:spPr>
              <p:txBody>
                <a:bodyPr wrap="square" rtlCol="0">
                  <a:spAutoFit/>
                </a:bodyPr>
                <a:lstStyle/>
                <a:p>
                  <a:pPr>
                    <a:lnSpc>
                      <a:spcPts val="2600"/>
                    </a:lnSpc>
                  </a:pPr>
                  <a:r>
                    <a:rPr lang="zh-CN" altLang="en-US" b="1">
                      <a:solidFill>
                        <a:schemeClr val="accent6">
                          <a:lumMod val="50000"/>
                        </a:schemeClr>
                      </a:solidFill>
                    </a:rPr>
                    <a:t>特征方程</a:t>
                  </a:r>
                  <a:r>
                    <a:rPr lang="en-US" altLang="zh-CN" b="1">
                      <a:solidFill>
                        <a:schemeClr val="accent6">
                          <a:lumMod val="50000"/>
                        </a:schemeClr>
                      </a:solidFill>
                    </a:rPr>
                    <a:t>(</a:t>
                  </a:r>
                  <a:r>
                    <a:rPr lang="zh-CN" altLang="en-US" b="1">
                      <a:solidFill>
                        <a:schemeClr val="accent6">
                          <a:lumMod val="50000"/>
                        </a:schemeClr>
                      </a:solidFill>
                    </a:rPr>
                    <a:t>在复数域内</a:t>
                  </a:r>
                  <a:r>
                    <a:rPr lang="en-US" altLang="zh-CN" b="1">
                      <a:solidFill>
                        <a:schemeClr val="accent6">
                          <a:lumMod val="50000"/>
                        </a:schemeClr>
                      </a:solidFill>
                    </a:rPr>
                    <a:t>)</a:t>
                  </a:r>
                  <a:r>
                    <a:rPr lang="zh-CN" altLang="en-US" b="1">
                      <a:solidFill>
                        <a:schemeClr val="accent6">
                          <a:lumMod val="50000"/>
                        </a:schemeClr>
                      </a:solidFill>
                    </a:rPr>
                    <a:t>没有重根，即有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个</a:t>
                  </a:r>
                  <a:r>
                    <a:rPr lang="zh-CN" altLang="en-US" b="1">
                      <a:solidFill>
                        <a:srgbClr val="C00000"/>
                      </a:solidFill>
                    </a:rPr>
                    <a:t>不同根</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𝒓</m:t>
                          </m:r>
                        </m:e>
                        <m:sub>
                          <m:r>
                            <a:rPr lang="en-US" altLang="zh-CN" b="1" i="1" smtClean="0">
                              <a:solidFill>
                                <a:schemeClr val="accent6">
                                  <a:lumMod val="50000"/>
                                </a:schemeClr>
                              </a:solidFill>
                              <a:latin typeface="Cambria Math" panose="02040503050406030204" pitchFamily="18" charset="0"/>
                            </a:rPr>
                            <m:t>𝟏</m:t>
                          </m:r>
                        </m:sub>
                      </m:sSub>
                      <m:r>
                        <a:rPr lang="en-US" altLang="zh-CN" b="1" i="1" smtClean="0">
                          <a:solidFill>
                            <a:schemeClr val="accent6">
                              <a:lumMod val="50000"/>
                            </a:schemeClr>
                          </a:solidFill>
                          <a:latin typeface="Cambria Math" panose="02040503050406030204" pitchFamily="18" charset="0"/>
                        </a:rPr>
                        <m:t>, ⋯, </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𝒓</m:t>
                          </m:r>
                        </m:e>
                        <m:sub>
                          <m:r>
                            <a:rPr lang="en-US" altLang="zh-CN" b="1" i="1" smtClean="0">
                              <a:solidFill>
                                <a:schemeClr val="accent6">
                                  <a:lumMod val="50000"/>
                                </a:schemeClr>
                              </a:solidFill>
                              <a:latin typeface="Cambria Math" panose="02040503050406030204" pitchFamily="18" charset="0"/>
                            </a:rPr>
                            <m:t>𝒌</m:t>
                          </m:r>
                        </m:sub>
                      </m:sSub>
                    </m:oMath>
                  </a14:m>
                  <a:endParaRPr lang="zh-CN" altLang="en-US" b="1">
                    <a:solidFill>
                      <a:schemeClr val="accent6">
                        <a:lumMod val="50000"/>
                      </a:schemeClr>
                    </a:solidFill>
                  </a:endParaRPr>
                </a:p>
              </p:txBody>
            </p:sp>
          </mc:Choice>
          <mc:Fallback>
            <p:sp>
              <p:nvSpPr>
                <p:cNvPr id="29" name="文本框 28"/>
                <p:cNvSpPr txBox="1">
                  <a:spLocks noRot="1" noChangeAspect="1" noMove="1" noResize="1" noEditPoints="1" noAdjustHandles="1" noChangeArrowheads="1" noChangeShapeType="1" noTextEdit="1"/>
                </p:cNvSpPr>
                <p:nvPr/>
              </p:nvSpPr>
              <p:spPr>
                <a:xfrm>
                  <a:off x="668807" y="3493625"/>
                  <a:ext cx="3094048" cy="73661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p:cNvSpPr txBox="1"/>
                <p:nvPr/>
              </p:nvSpPr>
              <p:spPr>
                <a:xfrm>
                  <a:off x="4172914" y="3671676"/>
                  <a:ext cx="3361571" cy="425758"/>
                </a:xfrm>
                <a:prstGeom prst="rect">
                  <a:avLst/>
                </a:prstGeom>
                <a:solidFill>
                  <a:schemeClr val="accent2">
                    <a:lumMod val="20000"/>
                    <a:lumOff val="80000"/>
                  </a:schemeClr>
                </a:solidFill>
              </p:spPr>
              <p:txBody>
                <a:bodyPr wrap="square" rtlCol="0">
                  <a:spAutoFit/>
                </a:bodyPr>
                <a:lstStyle/>
                <a:p>
                  <a:pPr>
                    <a:lnSpc>
                      <a:spcPts val="2600"/>
                    </a:lnSpc>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𝒏</m:t>
                            </m:r>
                          </m:sub>
                        </m:sSub>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sub>
                        </m:sSub>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𝟏</m:t>
                            </m:r>
                          </m:sub>
                          <m:sup>
                            <m:r>
                              <a:rPr lang="en-US" altLang="zh-CN" b="1" i="1" smtClean="0">
                                <a:solidFill>
                                  <a:srgbClr val="C00000"/>
                                </a:solidFill>
                                <a:latin typeface="Cambria Math" panose="02040503050406030204" pitchFamily="18" charset="0"/>
                              </a:rPr>
                              <m:t>𝒏</m:t>
                            </m:r>
                          </m:sup>
                        </m:sSubSup>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sub>
                        </m:sSub>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𝟐</m:t>
                            </m:r>
                          </m:sub>
                          <m:sup>
                            <m:r>
                              <a:rPr lang="en-US" altLang="zh-CN" b="1" i="1" smtClean="0">
                                <a:solidFill>
                                  <a:srgbClr val="C00000"/>
                                </a:solidFill>
                                <a:latin typeface="Cambria Math" panose="02040503050406030204" pitchFamily="18" charset="0"/>
                              </a:rPr>
                              <m:t>𝒏</m:t>
                            </m:r>
                          </m:sup>
                        </m:sSubSup>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𝒌</m:t>
                            </m:r>
                          </m:sub>
                        </m:sSub>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𝒌</m:t>
                            </m:r>
                          </m:sub>
                          <m:sup>
                            <m:r>
                              <a:rPr lang="en-US" altLang="zh-CN" b="1" i="1" smtClean="0">
                                <a:solidFill>
                                  <a:srgbClr val="C00000"/>
                                </a:solidFill>
                                <a:latin typeface="Cambria Math" panose="02040503050406030204" pitchFamily="18" charset="0"/>
                              </a:rPr>
                              <m:t>𝒏</m:t>
                            </m:r>
                          </m:sup>
                        </m:sSubSup>
                      </m:oMath>
                    </m:oMathPara>
                  </a14:m>
                  <a:endParaRPr lang="en-US" altLang="zh-CN" b="1">
                    <a:solidFill>
                      <a:schemeClr val="accent6">
                        <a:lumMod val="50000"/>
                      </a:schemeClr>
                    </a:solidFill>
                  </a:endParaRPr>
                </a:p>
              </p:txBody>
            </p:sp>
          </mc:Choice>
          <mc:Fallback>
            <p:sp>
              <p:nvSpPr>
                <p:cNvPr id="30" name="文本框 29"/>
                <p:cNvSpPr txBox="1">
                  <a:spLocks noRot="1" noChangeAspect="1" noMove="1" noResize="1" noEditPoints="1" noAdjustHandles="1" noChangeArrowheads="1" noChangeShapeType="1" noTextEdit="1"/>
                </p:cNvSpPr>
                <p:nvPr/>
              </p:nvSpPr>
              <p:spPr>
                <a:xfrm>
                  <a:off x="4172914" y="3671676"/>
                  <a:ext cx="3361571" cy="425758"/>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7981817" y="3502415"/>
                  <a:ext cx="3541365" cy="736612"/>
                </a:xfrm>
                <a:prstGeom prst="rect">
                  <a:avLst/>
                </a:prstGeom>
                <a:solidFill>
                  <a:schemeClr val="accent5">
                    <a:lumMod val="20000"/>
                    <a:lumOff val="80000"/>
                  </a:schemeClr>
                </a:solidFill>
              </p:spPr>
              <p:txBody>
                <a:bodyPr wrap="square" rtlCol="0">
                  <a:spAutoFit/>
                </a:bodyPr>
                <a:lstStyle/>
                <a:p>
                  <a:pPr algn="just">
                    <a:lnSpc>
                      <a:spcPts val="2600"/>
                    </a:lnSpc>
                  </a:pP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𝜷</m:t>
                          </m:r>
                        </m:e>
                        <m:sub>
                          <m:r>
                            <a:rPr lang="en-US" altLang="zh-CN" b="1" i="1" smtClean="0">
                              <a:solidFill>
                                <a:schemeClr val="accent6">
                                  <a:lumMod val="50000"/>
                                </a:schemeClr>
                              </a:solidFill>
                              <a:latin typeface="Cambria Math" panose="02040503050406030204" pitchFamily="18" charset="0"/>
                            </a:rPr>
                            <m:t>𝒊</m:t>
                          </m:r>
                        </m:sub>
                      </m:sSub>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𝒊</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是</a:t>
                  </a:r>
                  <a14:m>
                    <m:oMath xmlns:m="http://schemas.openxmlformats.org/officeDocument/2006/math">
                      <m:r>
                        <a:rPr lang="en-US" altLang="zh-CN" b="1" i="1">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个</a:t>
                  </a:r>
                  <a:r>
                    <a:rPr lang="zh-CN" altLang="en-US" b="1">
                      <a:solidFill>
                        <a:srgbClr val="C00000"/>
                      </a:solidFill>
                    </a:rPr>
                    <a:t>待定系数</a:t>
                  </a:r>
                  <a:r>
                    <a:rPr lang="zh-CN" altLang="en-US" b="1">
                      <a:solidFill>
                        <a:schemeClr val="accent6">
                          <a:lumMod val="50000"/>
                        </a:schemeClr>
                      </a:solidFill>
                    </a:rPr>
                    <a:t>，由序列</a:t>
                  </a:r>
                  <a14:m>
                    <m:oMath xmlns:m="http://schemas.openxmlformats.org/officeDocument/2006/math">
                      <m:r>
                        <a:rPr lang="en-US" altLang="zh-CN" b="1" i="1" smtClean="0">
                          <a:solidFill>
                            <a:srgbClr val="C00000"/>
                          </a:solidFill>
                          <a:latin typeface="Cambria Math" panose="02040503050406030204" pitchFamily="18" charset="0"/>
                        </a:rPr>
                        <m:t>𝒌</m:t>
                      </m:r>
                    </m:oMath>
                  </a14:m>
                  <a:r>
                    <a:rPr lang="zh-CN" altLang="en-US" b="1">
                      <a:solidFill>
                        <a:srgbClr val="C00000"/>
                      </a:solidFill>
                    </a:rPr>
                    <a:t>个初值</a:t>
                  </a:r>
                  <a:r>
                    <a:rPr lang="zh-CN" altLang="en-US" b="1">
                      <a:solidFill>
                        <a:schemeClr val="accent6">
                          <a:lumMod val="50000"/>
                        </a:schemeClr>
                      </a:solidFill>
                    </a:rPr>
                    <a:t>列</a:t>
                  </a:r>
                  <a:r>
                    <a:rPr lang="zh-CN" altLang="en-US" b="1">
                      <a:solidFill>
                        <a:srgbClr val="C00000"/>
                      </a:solidFill>
                    </a:rPr>
                    <a:t>线性方程组</a:t>
                  </a:r>
                  <a:r>
                    <a:rPr lang="zh-CN" altLang="en-US" b="1">
                      <a:solidFill>
                        <a:schemeClr val="accent6">
                          <a:lumMod val="50000"/>
                        </a:schemeClr>
                      </a:solidFill>
                    </a:rPr>
                    <a:t>求解</a:t>
                  </a:r>
                  <a:endParaRPr lang="zh-CN" altLang="en-US" b="1">
                    <a:solidFill>
                      <a:schemeClr val="accent6">
                        <a:lumMod val="50000"/>
                      </a:schemeClr>
                    </a:solidFill>
                  </a:endParaRPr>
                </a:p>
              </p:txBody>
            </p:sp>
          </mc:Choice>
          <mc:Fallback>
            <p:sp>
              <p:nvSpPr>
                <p:cNvPr id="31" name="文本框 30"/>
                <p:cNvSpPr txBox="1">
                  <a:spLocks noRot="1" noChangeAspect="1" noMove="1" noResize="1" noEditPoints="1" noAdjustHandles="1" noChangeArrowheads="1" noChangeShapeType="1" noTextEdit="1"/>
                </p:cNvSpPr>
                <p:nvPr/>
              </p:nvSpPr>
              <p:spPr>
                <a:xfrm>
                  <a:off x="7981817" y="3502415"/>
                  <a:ext cx="3541365" cy="736612"/>
                </a:xfrm>
                <a:prstGeom prst="rect">
                  <a:avLst/>
                </a:prstGeom>
                <a:blipFill rotWithShape="1">
                  <a:blip r:embed="rId8"/>
                </a:blipFill>
              </p:spPr>
              <p:txBody>
                <a:bodyPr/>
                <a:lstStyle/>
                <a:p>
                  <a:r>
                    <a:rPr lang="zh-CN" altLang="en-US">
                      <a:noFill/>
                    </a:rPr>
                    <a:t> </a:t>
                  </a:r>
                </a:p>
              </p:txBody>
            </p:sp>
          </mc:Fallback>
        </mc:AlternateContent>
        <p:sp>
          <p:nvSpPr>
            <p:cNvPr id="32" name="箭头: 右 31"/>
            <p:cNvSpPr/>
            <p:nvPr/>
          </p:nvSpPr>
          <p:spPr>
            <a:xfrm>
              <a:off x="3765056" y="3795747"/>
              <a:ext cx="407858" cy="1776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右 32"/>
            <p:cNvSpPr/>
            <p:nvPr/>
          </p:nvSpPr>
          <p:spPr>
            <a:xfrm>
              <a:off x="7534485" y="3795746"/>
              <a:ext cx="447332" cy="1776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箭头: 下 33"/>
          <p:cNvSpPr/>
          <p:nvPr/>
        </p:nvSpPr>
        <p:spPr>
          <a:xfrm>
            <a:off x="6123227" y="4971117"/>
            <a:ext cx="111833" cy="2554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6235060" y="4909814"/>
            <a:ext cx="1144645" cy="372190"/>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简化情形</a:t>
            </a:r>
            <a:endParaRPr lang="zh-CN" altLang="en-US" b="1">
              <a:solidFill>
                <a:schemeClr val="accent2">
                  <a:lumMod val="5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组合计数</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线性齐次非递推关系式求解</a:t>
            </a:r>
            <a:endParaRPr lang="zh-CN" altLang="en-US"/>
          </a:p>
        </p:txBody>
      </p:sp>
      <mc:AlternateContent xmlns:mc="http://schemas.openxmlformats.org/markup-compatibility/2006">
        <mc:Choice xmlns:a14="http://schemas.microsoft.com/office/drawing/2010/main" Requires="a14">
          <p:sp>
            <p:nvSpPr>
              <p:cNvPr id="36" name="文本框 35"/>
              <p:cNvSpPr txBox="1"/>
              <p:nvPr/>
            </p:nvSpPr>
            <p:spPr>
              <a:xfrm>
                <a:off x="2760192" y="1175658"/>
                <a:ext cx="6671614" cy="984885"/>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常系数</a:t>
                </a:r>
                <a14:m>
                  <m:oMath xmlns:m="http://schemas.openxmlformats.org/officeDocument/2006/math">
                    <m:r>
                      <a:rPr lang="en-US" altLang="zh-CN" sz="2400" b="1" i="1" smtClean="0">
                        <a:solidFill>
                          <a:srgbClr val="002060"/>
                        </a:solidFill>
                        <a:latin typeface="Cambria Math" panose="02040503050406030204" pitchFamily="18" charset="0"/>
                      </a:rPr>
                      <m:t>𝒌</m:t>
                    </m:r>
                  </m:oMath>
                </a14:m>
                <a:r>
                  <a:rPr lang="zh-CN" altLang="en-US" sz="2400" b="1">
                    <a:solidFill>
                      <a:srgbClr val="002060"/>
                    </a:solidFill>
                    <a:latin typeface="楷体" panose="02010609060101010101" pitchFamily="49" charset="-122"/>
                    <a:ea typeface="楷体" panose="02010609060101010101" pitchFamily="49" charset="-122"/>
                  </a:rPr>
                  <a:t>阶线性非齐次递推关系式</a:t>
                </a:r>
                <a:endParaRPr lang="en-US" altLang="zh-CN" sz="2400"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sub>
                      </m:sSub>
                      <m:r>
                        <a:rPr lang="en-US" altLang="zh-CN" sz="2400" b="1" i="1" smtClean="0">
                          <a:solidFill>
                            <a:schemeClr val="accent2">
                              <a:lumMod val="50000"/>
                            </a:schemeClr>
                          </a:solidFill>
                          <a:latin typeface="Cambria Math" panose="02040503050406030204" pitchFamily="18" charset="0"/>
                        </a:rPr>
                        <m:t>=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𝟏</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sub>
                      </m:sSub>
                      <m:r>
                        <a:rPr lang="en-US" altLang="zh-CN" sz="2400" b="1" i="1" smtClean="0">
                          <a:solidFill>
                            <a:schemeClr val="accent2">
                              <a:lumMod val="50000"/>
                            </a:schemeClr>
                          </a:solidFill>
                          <a:latin typeface="Cambria Math" panose="02040503050406030204" pitchFamily="18" charset="0"/>
                        </a:rPr>
                        <m:t>+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𝟐</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𝟐</m:t>
                          </m:r>
                        </m:sub>
                      </m:sSub>
                      <m:r>
                        <a:rPr lang="en-US" altLang="zh-CN" sz="2400" b="1" i="1" smtClean="0">
                          <a:solidFill>
                            <a:schemeClr val="accent2">
                              <a:lumMod val="50000"/>
                            </a:schemeClr>
                          </a:solidFill>
                          <a:latin typeface="Cambria Math" panose="02040503050406030204" pitchFamily="18" charset="0"/>
                        </a:rPr>
                        <m:t>+ ⋯+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𝒌</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𝒌</m:t>
                          </m:r>
                        </m:sub>
                      </m:sSub>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𝑭</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oMath>
                  </m:oMathPara>
                </a14:m>
                <a:endParaRPr lang="en-US" altLang="zh-CN" sz="2400" b="1"/>
              </a:p>
            </p:txBody>
          </p:sp>
        </mc:Choice>
        <mc:Fallback>
          <p:sp>
            <p:nvSpPr>
              <p:cNvPr id="36" name="文本框 35"/>
              <p:cNvSpPr txBox="1">
                <a:spLocks noRot="1" noChangeAspect="1" noMove="1" noResize="1" noEditPoints="1" noAdjustHandles="1" noChangeArrowheads="1" noChangeShapeType="1" noTextEdit="1"/>
              </p:cNvSpPr>
              <p:nvPr/>
            </p:nvSpPr>
            <p:spPr>
              <a:xfrm>
                <a:off x="2760192" y="1175658"/>
                <a:ext cx="6671614" cy="984885"/>
              </a:xfrm>
              <a:prstGeom prst="rect">
                <a:avLst/>
              </a:prstGeom>
              <a:blipFill rotWithShape="1">
                <a:blip r:embed="rId1"/>
                <a:stretch>
                  <a:fillRect l="-7" t="-28" r="2"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矩形 36"/>
              <p:cNvSpPr/>
              <p:nvPr/>
            </p:nvSpPr>
            <p:spPr>
              <a:xfrm>
                <a:off x="1321072" y="2334711"/>
                <a:ext cx="9549854" cy="439736"/>
              </a:xfrm>
              <a:prstGeom prst="rect">
                <a:avLst/>
              </a:prstGeom>
              <a:solidFill>
                <a:schemeClr val="accent4">
                  <a:lumMod val="20000"/>
                  <a:lumOff val="80000"/>
                </a:schemeClr>
              </a:solidFill>
            </p:spPr>
            <p:txBody>
              <a:bodyPr wrap="square">
                <a:spAutoFit/>
              </a:bodyPr>
              <a:lstStyle/>
              <a:p>
                <a:pPr>
                  <a:spcBef>
                    <a:spcPts val="600"/>
                  </a:spcBef>
                </a:pPr>
                <a:r>
                  <a:rPr lang="zh-CN" altLang="en-US" sz="2000" b="1">
                    <a:solidFill>
                      <a:schemeClr val="accent2">
                        <a:lumMod val="50000"/>
                      </a:schemeClr>
                    </a:solidFill>
                  </a:rPr>
                  <a:t>若</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𝒏</m:t>
                        </m:r>
                      </m:e>
                    </m:d>
                    <m:r>
                      <a:rPr lang="en-US" altLang="zh-CN" sz="2000" b="1" i="1">
                        <a:solidFill>
                          <a:schemeClr val="accent2">
                            <a:lumMod val="50000"/>
                          </a:schemeClr>
                        </a:solidFill>
                        <a:latin typeface="Cambria Math" panose="02040503050406030204" pitchFamily="18" charset="0"/>
                      </a:rPr>
                      <m:t>= </m:t>
                    </m:r>
                    <m:d>
                      <m:dPr>
                        <m:ctrlPr>
                          <a:rPr lang="en-US" altLang="zh-CN" sz="2000" b="1" i="1">
                            <a:solidFill>
                              <a:schemeClr val="accent2">
                                <a:lumMod val="50000"/>
                              </a:schemeClr>
                            </a:solidFill>
                            <a:latin typeface="Cambria Math" panose="02040503050406030204" pitchFamily="18" charset="0"/>
                          </a:rPr>
                        </m:ctrlPr>
                      </m:dPr>
                      <m:e>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𝒕</m:t>
                            </m:r>
                          </m:sub>
                        </m:sSub>
                        <m:r>
                          <a:rPr lang="en-US" altLang="zh-CN" sz="2000" b="1" i="1">
                            <a:solidFill>
                              <a:schemeClr val="accent2">
                                <a:lumMod val="50000"/>
                              </a:schemeClr>
                            </a:solidFill>
                            <a:latin typeface="Cambria Math" panose="02040503050406030204" pitchFamily="18" charset="0"/>
                          </a:rPr>
                          <m:t>⋅</m:t>
                        </m:r>
                        <m:sSup>
                          <m:sSupPr>
                            <m:ctrlPr>
                              <a:rPr lang="en-US" altLang="zh-CN" sz="2000" b="1" i="1">
                                <a:solidFill>
                                  <a:schemeClr val="accent2">
                                    <a:lumMod val="50000"/>
                                  </a:schemeClr>
                                </a:solidFill>
                                <a:latin typeface="Cambria Math" panose="02040503050406030204" pitchFamily="18" charset="0"/>
                              </a:rPr>
                            </m:ctrlPr>
                          </m:sSupPr>
                          <m:e>
                            <m:r>
                              <a:rPr lang="en-US" altLang="zh-CN" sz="2000" b="1" i="1">
                                <a:solidFill>
                                  <a:schemeClr val="accent2">
                                    <a:lumMod val="50000"/>
                                  </a:schemeClr>
                                </a:solidFill>
                                <a:latin typeface="Cambria Math" panose="02040503050406030204" pitchFamily="18" charset="0"/>
                              </a:rPr>
                              <m:t>𝒏</m:t>
                            </m:r>
                          </m:e>
                          <m:sup>
                            <m:r>
                              <a:rPr lang="en-US" altLang="zh-CN" sz="2000" b="1" i="1">
                                <a:solidFill>
                                  <a:schemeClr val="accent2">
                                    <a:lumMod val="50000"/>
                                  </a:schemeClr>
                                </a:solidFill>
                                <a:latin typeface="Cambria Math" panose="02040503050406030204" pitchFamily="18" charset="0"/>
                              </a:rPr>
                              <m:t>𝒕</m:t>
                            </m:r>
                          </m:sup>
                        </m:sSup>
                        <m:r>
                          <a:rPr lang="en-US" altLang="zh-CN" sz="2000" b="1" i="1">
                            <a:solidFill>
                              <a:schemeClr val="accent2">
                                <a:lumMod val="50000"/>
                              </a:schemeClr>
                            </a:solidFill>
                            <a:latin typeface="Cambria Math" panose="02040503050406030204" pitchFamily="18" charset="0"/>
                          </a:rPr>
                          <m:t>+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𝒕</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𝟏</m:t>
                            </m:r>
                          </m:sub>
                        </m:sSub>
                        <m:r>
                          <a:rPr lang="en-US" altLang="zh-CN" sz="2000" b="1" i="1">
                            <a:solidFill>
                              <a:schemeClr val="accent2">
                                <a:lumMod val="50000"/>
                              </a:schemeClr>
                            </a:solidFill>
                            <a:latin typeface="Cambria Math" panose="02040503050406030204" pitchFamily="18" charset="0"/>
                          </a:rPr>
                          <m:t>⋅</m:t>
                        </m:r>
                        <m:sSup>
                          <m:sSupPr>
                            <m:ctrlPr>
                              <a:rPr lang="en-US" altLang="zh-CN" sz="2000" b="1" i="1">
                                <a:solidFill>
                                  <a:schemeClr val="accent2">
                                    <a:lumMod val="50000"/>
                                  </a:schemeClr>
                                </a:solidFill>
                                <a:latin typeface="Cambria Math" panose="02040503050406030204" pitchFamily="18" charset="0"/>
                              </a:rPr>
                            </m:ctrlPr>
                          </m:sSupPr>
                          <m:e>
                            <m:r>
                              <a:rPr lang="en-US" altLang="zh-CN" sz="2000" b="1" i="1">
                                <a:solidFill>
                                  <a:schemeClr val="accent2">
                                    <a:lumMod val="50000"/>
                                  </a:schemeClr>
                                </a:solidFill>
                                <a:latin typeface="Cambria Math" panose="02040503050406030204" pitchFamily="18" charset="0"/>
                              </a:rPr>
                              <m:t>𝒏</m:t>
                            </m:r>
                          </m:e>
                          <m:sup>
                            <m:r>
                              <a:rPr lang="en-US" altLang="zh-CN" sz="2000" b="1" i="1">
                                <a:solidFill>
                                  <a:schemeClr val="accent2">
                                    <a:lumMod val="50000"/>
                                  </a:schemeClr>
                                </a:solidFill>
                                <a:latin typeface="Cambria Math" panose="02040503050406030204" pitchFamily="18" charset="0"/>
                              </a:rPr>
                              <m:t>𝒕</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𝟏</m:t>
                            </m:r>
                          </m:sup>
                        </m:sSup>
                        <m:r>
                          <a:rPr lang="en-US" altLang="zh-CN" sz="2000" b="1" i="1">
                            <a:solidFill>
                              <a:schemeClr val="accent2">
                                <a:lumMod val="50000"/>
                              </a:schemeClr>
                            </a:solidFill>
                            <a:latin typeface="Cambria Math" panose="02040503050406030204" pitchFamily="18" charset="0"/>
                          </a:rPr>
                          <m:t>+ ⋯+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𝟏</m:t>
                            </m:r>
                          </m:sub>
                        </m:sSub>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 +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𝟎</m:t>
                            </m:r>
                          </m:sub>
                        </m:sSub>
                      </m:e>
                    </m:d>
                    <m:sSup>
                      <m:sSupPr>
                        <m:ctrlPr>
                          <a:rPr lang="en-US" altLang="zh-CN" sz="2000" b="1" i="1">
                            <a:solidFill>
                              <a:schemeClr val="accent2">
                                <a:lumMod val="50000"/>
                              </a:schemeClr>
                            </a:solidFill>
                            <a:latin typeface="Cambria Math" panose="02040503050406030204" pitchFamily="18" charset="0"/>
                          </a:rPr>
                        </m:ctrlPr>
                      </m:sSupPr>
                      <m:e>
                        <m:r>
                          <a:rPr lang="en-US" altLang="zh-CN" sz="2000" b="1" i="1">
                            <a:solidFill>
                              <a:schemeClr val="accent2">
                                <a:lumMod val="50000"/>
                              </a:schemeClr>
                            </a:solidFill>
                            <a:latin typeface="Cambria Math" panose="02040503050406030204" pitchFamily="18" charset="0"/>
                          </a:rPr>
                          <m:t>𝒔</m:t>
                        </m:r>
                      </m:e>
                      <m:sup>
                        <m:r>
                          <a:rPr lang="en-US" altLang="zh-CN" sz="2000" b="1" i="1">
                            <a:solidFill>
                              <a:schemeClr val="accent2">
                                <a:lumMod val="50000"/>
                              </a:schemeClr>
                            </a:solidFill>
                            <a:latin typeface="Cambria Math" panose="02040503050406030204" pitchFamily="18" charset="0"/>
                          </a:rPr>
                          <m:t>𝒏</m:t>
                        </m:r>
                      </m:sup>
                    </m:sSup>
                  </m:oMath>
                </a14:m>
                <a:r>
                  <a:rPr lang="zh-CN" altLang="en-US" sz="2000" b="1">
                    <a:solidFill>
                      <a:schemeClr val="accent2">
                        <a:lumMod val="50000"/>
                      </a:schemeClr>
                    </a:solidFill>
                  </a:rPr>
                  <a:t>，这里</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𝟎</m:t>
                        </m:r>
                      </m:sub>
                    </m:sSub>
                    <m:r>
                      <a:rPr lang="en-US" altLang="zh-CN" sz="2000" b="1" i="1">
                        <a:solidFill>
                          <a:schemeClr val="accent2">
                            <a:lumMod val="50000"/>
                          </a:schemeClr>
                        </a:solidFill>
                        <a:latin typeface="Cambria Math" panose="02040503050406030204" pitchFamily="18" charset="0"/>
                      </a:rPr>
                      <m:t>,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𝟏</m:t>
                        </m:r>
                      </m:sub>
                    </m:sSub>
                    <m:r>
                      <a:rPr lang="en-US" altLang="zh-CN" sz="2000" b="1" i="1">
                        <a:solidFill>
                          <a:schemeClr val="accent2">
                            <a:lumMod val="50000"/>
                          </a:schemeClr>
                        </a:solidFill>
                        <a:latin typeface="Cambria Math" panose="02040503050406030204" pitchFamily="18" charset="0"/>
                      </a:rPr>
                      <m:t>, ⋯,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𝒕</m:t>
                        </m:r>
                      </m:sub>
                    </m:sSub>
                  </m:oMath>
                </a14:m>
                <a:r>
                  <a:rPr lang="zh-CN" altLang="en-US" sz="2000" b="1">
                    <a:solidFill>
                      <a:schemeClr val="accent2">
                        <a:lumMod val="50000"/>
                      </a:schemeClr>
                    </a:solidFill>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𝒔</m:t>
                    </m:r>
                  </m:oMath>
                </a14:m>
                <a:r>
                  <a:rPr lang="zh-CN" altLang="en-US" sz="2000" b="1">
                    <a:solidFill>
                      <a:schemeClr val="accent2">
                        <a:lumMod val="50000"/>
                      </a:schemeClr>
                    </a:solidFill>
                  </a:rPr>
                  <a:t>是实数</a:t>
                </a:r>
                <a:endParaRPr lang="zh-CN" altLang="en-US" sz="2000" b="1">
                  <a:solidFill>
                    <a:schemeClr val="accent2">
                      <a:lumMod val="50000"/>
                    </a:schemeClr>
                  </a:solidFill>
                </a:endParaRPr>
              </a:p>
            </p:txBody>
          </p:sp>
        </mc:Choice>
        <mc:Fallback>
          <p:sp>
            <p:nvSpPr>
              <p:cNvPr id="37" name="矩形 36"/>
              <p:cNvSpPr>
                <a:spLocks noRot="1" noChangeAspect="1" noMove="1" noResize="1" noEditPoints="1" noAdjustHandles="1" noChangeArrowheads="1" noChangeShapeType="1" noTextEdit="1"/>
              </p:cNvSpPr>
              <p:nvPr/>
            </p:nvSpPr>
            <p:spPr>
              <a:xfrm>
                <a:off x="1321072" y="2334711"/>
                <a:ext cx="9549854" cy="439736"/>
              </a:xfrm>
              <a:prstGeom prst="rect">
                <a:avLst/>
              </a:prstGeom>
              <a:blipFill rotWithShape="1">
                <a:blip r:embed="rId2"/>
                <a:stretch>
                  <a:fillRect l="-3" t="-103" r="4" b="-568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文本框 37"/>
              <p:cNvSpPr txBox="1"/>
              <p:nvPr/>
            </p:nvSpPr>
            <p:spPr>
              <a:xfrm>
                <a:off x="869458" y="4986346"/>
                <a:ext cx="6854682" cy="1224310"/>
              </a:xfrm>
              <a:prstGeom prst="rect">
                <a:avLst/>
              </a:prstGeom>
              <a:solidFill>
                <a:schemeClr val="accent2">
                  <a:lumMod val="20000"/>
                  <a:lumOff val="80000"/>
                  <a:alpha val="50000"/>
                </a:schemeClr>
              </a:solidFill>
            </p:spPr>
            <p:txBody>
              <a:bodyPr wrap="square" rtlCol="0">
                <a:spAutoFit/>
              </a:bodyPr>
              <a:lstStyle/>
              <a:p>
                <a:pPr>
                  <a:lnSpc>
                    <a:spcPts val="2800"/>
                  </a:lnSpc>
                  <a:spcBef>
                    <a:spcPts val="600"/>
                  </a:spcBef>
                </a:pP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𝒑</m:t>
                        </m:r>
                      </m:e>
                      <m:sub>
                        <m:r>
                          <a:rPr lang="en-US" altLang="zh-CN" sz="2000" b="1" i="1">
                            <a:solidFill>
                              <a:srgbClr val="002060"/>
                            </a:solidFill>
                            <a:latin typeface="Cambria Math" panose="02040503050406030204" pitchFamily="18" charset="0"/>
                          </a:rPr>
                          <m:t>𝒕</m:t>
                        </m:r>
                      </m:sub>
                    </m:sSub>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𝒑</m:t>
                        </m:r>
                      </m:e>
                      <m:sub>
                        <m:r>
                          <a:rPr lang="en-US" altLang="zh-CN" sz="2000" b="1" i="1">
                            <a:solidFill>
                              <a:srgbClr val="002060"/>
                            </a:solidFill>
                            <a:latin typeface="Cambria Math" panose="02040503050406030204" pitchFamily="18" charset="0"/>
                          </a:rPr>
                          <m:t>𝒕</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𝒑</m:t>
                        </m:r>
                      </m:e>
                      <m:sub>
                        <m:r>
                          <a:rPr lang="en-US" altLang="zh-CN" sz="2000" b="1" i="1">
                            <a:solidFill>
                              <a:srgbClr val="002060"/>
                            </a:solidFill>
                            <a:latin typeface="Cambria Math" panose="02040503050406030204" pitchFamily="18" charset="0"/>
                          </a:rPr>
                          <m:t>𝟎</m:t>
                        </m:r>
                      </m:sub>
                    </m:sSub>
                  </m:oMath>
                </a14:m>
                <a:r>
                  <a:rPr lang="zh-CN" altLang="en-US" sz="2000" b="1">
                    <a:solidFill>
                      <a:srgbClr val="002060"/>
                    </a:solidFill>
                    <a:latin typeface="楷体" panose="02010609060101010101" pitchFamily="49" charset="-122"/>
                    <a:ea typeface="楷体" panose="02010609060101010101" pitchFamily="49" charset="-122"/>
                  </a:rPr>
                  <a:t>是待定系数，</a:t>
                </a:r>
                <a:r>
                  <a:rPr lang="zh-CN" altLang="en-US" sz="2000" b="1">
                    <a:solidFill>
                      <a:srgbClr val="0000FF"/>
                    </a:solidFill>
                    <a:latin typeface="楷体" panose="02010609060101010101" pitchFamily="49" charset="-122"/>
                    <a:ea typeface="楷体" panose="02010609060101010101" pitchFamily="49" charset="-122"/>
                  </a:rPr>
                  <a:t>与</a:t>
                </a:r>
                <a14:m>
                  <m:oMath xmlns:m="http://schemas.openxmlformats.org/officeDocument/2006/math">
                    <m:r>
                      <a:rPr lang="en-US" altLang="zh-CN" sz="2000" b="1" i="1" smtClean="0">
                        <a:solidFill>
                          <a:srgbClr val="0000FF"/>
                        </a:solidFill>
                        <a:latin typeface="Cambria Math" panose="02040503050406030204" pitchFamily="18" charset="0"/>
                      </a:rPr>
                      <m:t>𝑭</m:t>
                    </m:r>
                    <m:r>
                      <a:rPr lang="en-US" altLang="zh-CN" sz="2000" b="1" i="1" smtClean="0">
                        <a:solidFill>
                          <a:srgbClr val="0000FF"/>
                        </a:solidFill>
                        <a:latin typeface="Cambria Math" panose="02040503050406030204" pitchFamily="18" charset="0"/>
                      </a:rPr>
                      <m:t>(</m:t>
                    </m:r>
                    <m:r>
                      <a:rPr lang="en-US" altLang="zh-CN" sz="2000" b="1" i="1" smtClean="0">
                        <a:solidFill>
                          <a:srgbClr val="0000FF"/>
                        </a:solidFill>
                        <a:latin typeface="Cambria Math" panose="02040503050406030204" pitchFamily="18" charset="0"/>
                      </a:rPr>
                      <m:t>𝒏</m:t>
                    </m:r>
                    <m:r>
                      <a:rPr lang="en-US" altLang="zh-CN" sz="2000" b="1" i="1" smtClean="0">
                        <a:solidFill>
                          <a:srgbClr val="0000FF"/>
                        </a:solidFill>
                        <a:latin typeface="Cambria Math" panose="02040503050406030204" pitchFamily="18" charset="0"/>
                      </a:rPr>
                      <m:t>)</m:t>
                    </m:r>
                  </m:oMath>
                </a14:m>
                <a:r>
                  <a:rPr lang="zh-CN" altLang="en-US" sz="2000" b="1">
                    <a:solidFill>
                      <a:srgbClr val="0000FF"/>
                    </a:solidFill>
                    <a:latin typeface="楷体" panose="02010609060101010101" pitchFamily="49" charset="-122"/>
                    <a:ea typeface="楷体" panose="02010609060101010101" pitchFamily="49" charset="-122"/>
                  </a:rPr>
                  <a:t>中的</a:t>
                </a:r>
                <a14:m>
                  <m:oMath xmlns:m="http://schemas.openxmlformats.org/officeDocument/2006/math">
                    <m:sSub>
                      <m:sSubPr>
                        <m:ctrlPr>
                          <a:rPr lang="en-US" altLang="zh-CN" sz="2000" b="1" i="1" smtClean="0">
                            <a:solidFill>
                              <a:srgbClr val="0000FF"/>
                            </a:solidFill>
                            <a:latin typeface="Cambria Math" panose="02040503050406030204" pitchFamily="18" charset="0"/>
                          </a:rPr>
                        </m:ctrlPr>
                      </m:sSubPr>
                      <m:e>
                        <m:r>
                          <a:rPr lang="en-US" altLang="zh-CN" sz="2000" b="1" i="1" smtClean="0">
                            <a:solidFill>
                              <a:srgbClr val="0000FF"/>
                            </a:solidFill>
                            <a:latin typeface="Cambria Math" panose="02040503050406030204" pitchFamily="18" charset="0"/>
                          </a:rPr>
                          <m:t>𝒃</m:t>
                        </m:r>
                      </m:e>
                      <m:sub>
                        <m:r>
                          <a:rPr lang="en-US" altLang="zh-CN" sz="2000" b="1" i="1" smtClean="0">
                            <a:solidFill>
                              <a:srgbClr val="0000FF"/>
                            </a:solidFill>
                            <a:latin typeface="Cambria Math" panose="02040503050406030204" pitchFamily="18" charset="0"/>
                          </a:rPr>
                          <m:t>𝒕</m:t>
                        </m:r>
                      </m:sub>
                    </m:sSub>
                    <m:r>
                      <a:rPr lang="en-US" altLang="zh-CN" sz="2000" b="1" i="1" smtClean="0">
                        <a:solidFill>
                          <a:srgbClr val="0000FF"/>
                        </a:solidFill>
                        <a:latin typeface="Cambria Math" panose="02040503050406030204" pitchFamily="18" charset="0"/>
                      </a:rPr>
                      <m:t>, ⋯, </m:t>
                    </m:r>
                    <m:sSub>
                      <m:sSubPr>
                        <m:ctrlPr>
                          <a:rPr lang="en-US" altLang="zh-CN" sz="2000" b="1" i="1" smtClean="0">
                            <a:solidFill>
                              <a:srgbClr val="0000FF"/>
                            </a:solidFill>
                            <a:latin typeface="Cambria Math" panose="02040503050406030204" pitchFamily="18" charset="0"/>
                          </a:rPr>
                        </m:ctrlPr>
                      </m:sSubPr>
                      <m:e>
                        <m:r>
                          <a:rPr lang="en-US" altLang="zh-CN" sz="2000" b="1" i="1" smtClean="0">
                            <a:solidFill>
                              <a:srgbClr val="0000FF"/>
                            </a:solidFill>
                            <a:latin typeface="Cambria Math" panose="02040503050406030204" pitchFamily="18" charset="0"/>
                          </a:rPr>
                          <m:t>𝒃</m:t>
                        </m:r>
                      </m:e>
                      <m:sub>
                        <m:r>
                          <a:rPr lang="en-US" altLang="zh-CN" sz="2000" b="1" i="1" smtClean="0">
                            <a:solidFill>
                              <a:srgbClr val="0000FF"/>
                            </a:solidFill>
                            <a:latin typeface="Cambria Math" panose="02040503050406030204" pitchFamily="18" charset="0"/>
                          </a:rPr>
                          <m:t>𝟎</m:t>
                        </m:r>
                      </m:sub>
                    </m:sSub>
                  </m:oMath>
                </a14:m>
                <a:r>
                  <a:rPr lang="zh-CN" altLang="en-US" sz="2000" b="1">
                    <a:solidFill>
                      <a:srgbClr val="0000FF"/>
                    </a:solidFill>
                    <a:latin typeface="楷体" panose="02010609060101010101" pitchFamily="49" charset="-122"/>
                    <a:ea typeface="楷体" panose="02010609060101010101" pitchFamily="49" charset="-122"/>
                  </a:rPr>
                  <a:t>不同</a:t>
                </a:r>
                <a:endParaRPr lang="zh-CN" altLang="en-US" sz="2000" b="1">
                  <a:solidFill>
                    <a:srgbClr val="002060"/>
                  </a:solidFill>
                  <a:latin typeface="楷体" panose="02010609060101010101" pitchFamily="49" charset="-122"/>
                  <a:ea typeface="楷体" panose="02010609060101010101" pitchFamily="49" charset="-122"/>
                </a:endParaRPr>
              </a:p>
              <a:p>
                <a:pPr marL="342900" indent="-342900">
                  <a:lnSpc>
                    <a:spcPts val="2800"/>
                  </a:lnSpc>
                  <a:spcBef>
                    <a:spcPts val="600"/>
                  </a:spcBef>
                  <a:buFont typeface="Arial" panose="020B0604020202020204" pitchFamily="34" charset="0"/>
                  <a:buChar char="•"/>
                </a:pPr>
                <a:r>
                  <a:rPr lang="zh-CN" altLang="en-US" sz="2000" b="1">
                    <a:solidFill>
                      <a:schemeClr val="accent6">
                        <a:lumMod val="50000"/>
                      </a:schemeClr>
                    </a:solidFill>
                  </a:rPr>
                  <a:t>通过将</a:t>
                </a:r>
                <a:r>
                  <a:rPr lang="zh-CN" altLang="en-US" sz="2000" b="1">
                    <a:solidFill>
                      <a:srgbClr val="C00000"/>
                    </a:solidFill>
                  </a:rPr>
                  <a:t>特解代入递推关系式</a:t>
                </a:r>
                <a:r>
                  <a:rPr lang="zh-CN" altLang="en-US" sz="2000" b="1">
                    <a:solidFill>
                      <a:schemeClr val="accent6">
                        <a:lumMod val="50000"/>
                      </a:schemeClr>
                    </a:solidFill>
                  </a:rPr>
                  <a:t>，得到关于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的多项式等式，然后</a:t>
                </a:r>
                <a:r>
                  <a:rPr lang="zh-CN" altLang="en-US" sz="2000" b="1">
                    <a:solidFill>
                      <a:srgbClr val="C00000"/>
                    </a:solidFill>
                  </a:rPr>
                  <a:t>比较等式两边</a:t>
                </a:r>
                <a14:m>
                  <m:oMath xmlns:m="http://schemas.openxmlformats.org/officeDocument/2006/math">
                    <m:r>
                      <a:rPr lang="en-US" altLang="zh-CN" sz="2000" b="1" i="1" smtClean="0">
                        <a:solidFill>
                          <a:srgbClr val="C00000"/>
                        </a:solidFill>
                        <a:latin typeface="Cambria Math" panose="02040503050406030204" pitchFamily="18" charset="0"/>
                      </a:rPr>
                      <m:t>𝒏</m:t>
                    </m:r>
                  </m:oMath>
                </a14:m>
                <a:r>
                  <a:rPr lang="zh-CN" altLang="en-US" sz="2000" b="1">
                    <a:solidFill>
                      <a:srgbClr val="C00000"/>
                    </a:solidFill>
                  </a:rPr>
                  <a:t>相同幂次前的系数</a:t>
                </a:r>
                <a:r>
                  <a:rPr lang="zh-CN" altLang="en-US" sz="2000" b="1">
                    <a:solidFill>
                      <a:schemeClr val="accent6">
                        <a:lumMod val="50000"/>
                      </a:schemeClr>
                    </a:solidFill>
                  </a:rPr>
                  <a:t>而确定</a:t>
                </a:r>
                <a:endParaRPr lang="zh-CN" altLang="en-US" sz="2000" b="1">
                  <a:solidFill>
                    <a:schemeClr val="accent6">
                      <a:lumMod val="50000"/>
                    </a:schemeClr>
                  </a:solidFill>
                </a:endParaRPr>
              </a:p>
            </p:txBody>
          </p:sp>
        </mc:Choice>
        <mc:Fallback>
          <p:sp>
            <p:nvSpPr>
              <p:cNvPr id="38" name="文本框 37"/>
              <p:cNvSpPr txBox="1">
                <a:spLocks noRot="1" noChangeAspect="1" noMove="1" noResize="1" noEditPoints="1" noAdjustHandles="1" noChangeArrowheads="1" noChangeShapeType="1" noTextEdit="1"/>
              </p:cNvSpPr>
              <p:nvPr/>
            </p:nvSpPr>
            <p:spPr>
              <a:xfrm>
                <a:off x="869458" y="4986346"/>
                <a:ext cx="6854682" cy="1224310"/>
              </a:xfrm>
              <a:prstGeom prst="rect">
                <a:avLst/>
              </a:prstGeom>
              <a:blipFill rotWithShape="1">
                <a:blip r:embed="rId3"/>
                <a:stretch>
                  <a:fillRect l="-2" t="-27" b="29"/>
                </a:stretch>
              </a:blipFill>
            </p:spPr>
            <p:txBody>
              <a:bodyPr/>
              <a:lstStyle/>
              <a:p>
                <a:r>
                  <a:rPr lang="zh-CN" altLang="en-US">
                    <a:noFill/>
                  </a:rPr>
                  <a:t> </a:t>
                </a:r>
              </a:p>
            </p:txBody>
          </p:sp>
        </mc:Fallback>
      </mc:AlternateContent>
      <p:sp>
        <p:nvSpPr>
          <p:cNvPr id="39" name="矩形 38"/>
          <p:cNvSpPr/>
          <p:nvPr/>
        </p:nvSpPr>
        <p:spPr>
          <a:xfrm>
            <a:off x="8288075" y="5229746"/>
            <a:ext cx="3034467" cy="737510"/>
          </a:xfrm>
          <a:prstGeom prst="rect">
            <a:avLst/>
          </a:prstGeom>
          <a:solidFill>
            <a:schemeClr val="accent4">
              <a:lumMod val="40000"/>
              <a:lumOff val="60000"/>
            </a:schemeClr>
          </a:solidFill>
        </p:spPr>
        <p:txBody>
          <a:bodyPr wrap="square">
            <a:spAutoFit/>
          </a:bodyPr>
          <a:lstStyle/>
          <a:p>
            <a:pPr>
              <a:lnSpc>
                <a:spcPts val="2600"/>
              </a:lnSpc>
            </a:pPr>
            <a:r>
              <a:rPr lang="zh-CN" altLang="en-US" b="1">
                <a:solidFill>
                  <a:schemeClr val="accent2">
                    <a:lumMod val="50000"/>
                  </a:schemeClr>
                </a:solidFill>
              </a:rPr>
              <a:t>这些待定系数的确定</a:t>
            </a:r>
            <a:r>
              <a:rPr lang="zh-CN" altLang="en-US" b="1">
                <a:solidFill>
                  <a:srgbClr val="C00000"/>
                </a:solidFill>
              </a:rPr>
              <a:t>不需要</a:t>
            </a:r>
            <a:r>
              <a:rPr lang="zh-CN" altLang="en-US" b="1">
                <a:solidFill>
                  <a:schemeClr val="accent2">
                    <a:lumMod val="50000"/>
                  </a:schemeClr>
                </a:solidFill>
              </a:rPr>
              <a:t>用到递推关系式的初始条件</a:t>
            </a:r>
            <a:endParaRPr lang="zh-CN" altLang="en-US" b="1">
              <a:solidFill>
                <a:schemeClr val="accent2">
                  <a:lumMod val="50000"/>
                </a:schemeClr>
              </a:solidFill>
            </a:endParaRPr>
          </a:p>
        </p:txBody>
      </p:sp>
      <p:grpSp>
        <p:nvGrpSpPr>
          <p:cNvPr id="40" name="组合 39"/>
          <p:cNvGrpSpPr/>
          <p:nvPr/>
        </p:nvGrpSpPr>
        <p:grpSpPr>
          <a:xfrm>
            <a:off x="1356249" y="2948615"/>
            <a:ext cx="9479499" cy="1907741"/>
            <a:chOff x="1782751" y="3032650"/>
            <a:chExt cx="9479499" cy="1907741"/>
          </a:xfrm>
        </p:grpSpPr>
        <p:sp>
          <p:nvSpPr>
            <p:cNvPr id="41" name="矩形 40"/>
            <p:cNvSpPr/>
            <p:nvPr/>
          </p:nvSpPr>
          <p:spPr>
            <a:xfrm>
              <a:off x="1782751" y="3032650"/>
              <a:ext cx="9479499" cy="1907741"/>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2" name="矩形 41"/>
                <p:cNvSpPr/>
                <p:nvPr/>
              </p:nvSpPr>
              <p:spPr>
                <a:xfrm>
                  <a:off x="1863192" y="3084282"/>
                  <a:ext cx="2831463" cy="789255"/>
                </a:xfrm>
                <a:prstGeom prst="rect">
                  <a:avLst/>
                </a:prstGeom>
                <a:solidFill>
                  <a:schemeClr val="accent5">
                    <a:lumMod val="20000"/>
                    <a:lumOff val="80000"/>
                  </a:schemeClr>
                </a:solidFill>
              </p:spPr>
              <p:txBody>
                <a:bodyPr wrap="square">
                  <a:spAutoFit/>
                </a:bodyPr>
                <a:lstStyle/>
                <a:p>
                  <a:pPr>
                    <a:lnSpc>
                      <a:spcPts val="2800"/>
                    </a:lnSpc>
                  </a:pPr>
                  <a14:m>
                    <m:oMath xmlns:m="http://schemas.openxmlformats.org/officeDocument/2006/math">
                      <m:r>
                        <a:rPr lang="zh-CN" altLang="en-US" sz="2000" b="1" i="1" smtClean="0">
                          <a:solidFill>
                            <a:schemeClr val="accent6">
                              <a:lumMod val="50000"/>
                            </a:schemeClr>
                          </a:solidFill>
                          <a:latin typeface="Cambria Math" panose="02040503050406030204" pitchFamily="18" charset="0"/>
                        </a:rPr>
                        <m:t>𝒔</m:t>
                      </m:r>
                    </m:oMath>
                  </a14:m>
                  <a:r>
                    <a:rPr lang="zh-CN" altLang="en-US" sz="2000" b="1">
                      <a:solidFill>
                        <a:srgbClr val="C00000"/>
                      </a:solidFill>
                    </a:rPr>
                    <a:t>不是</a:t>
                  </a:r>
                  <a:r>
                    <a:rPr lang="zh-CN" altLang="en-US" sz="2000" b="1">
                      <a:solidFill>
                        <a:schemeClr val="accent6">
                          <a:lumMod val="50000"/>
                        </a:schemeClr>
                      </a:solidFill>
                    </a:rPr>
                    <a:t>伴随线性齐次递推关系式特征方程的根</a:t>
                  </a:r>
                  <a:endParaRPr lang="zh-CN" altLang="en-US" sz="2000" b="1">
                    <a:solidFill>
                      <a:schemeClr val="accent6">
                        <a:lumMod val="50000"/>
                      </a:schemeClr>
                    </a:solidFill>
                  </a:endParaRPr>
                </a:p>
              </p:txBody>
            </p:sp>
          </mc:Choice>
          <mc:Fallback>
            <p:sp>
              <p:nvSpPr>
                <p:cNvPr id="42" name="矩形 41"/>
                <p:cNvSpPr>
                  <a:spLocks noRot="1" noChangeAspect="1" noMove="1" noResize="1" noEditPoints="1" noAdjustHandles="1" noChangeArrowheads="1" noChangeShapeType="1" noTextEdit="1"/>
                </p:cNvSpPr>
                <p:nvPr/>
              </p:nvSpPr>
              <p:spPr>
                <a:xfrm>
                  <a:off x="1863192" y="3084282"/>
                  <a:ext cx="2831463" cy="789255"/>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5900839" y="3126442"/>
                  <a:ext cx="4970087" cy="74514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zh-CN" altLang="en-US" b="1" i="1" smtClean="0">
                                <a:solidFill>
                                  <a:srgbClr val="C00000"/>
                                </a:solidFill>
                                <a:latin typeface="Cambria Math" panose="02040503050406030204" pitchFamily="18" charset="0"/>
                              </a:rPr>
                            </m:ctrlPr>
                          </m:sSubSupPr>
                          <m:e>
                            <m:r>
                              <a:rPr lang="zh-CN" altLang="en-US" b="1" i="1" smtClean="0">
                                <a:solidFill>
                                  <a:srgbClr val="C00000"/>
                                </a:solidFill>
                                <a:latin typeface="Cambria Math" panose="02040503050406030204" pitchFamily="18" charset="0"/>
                              </a:rPr>
                              <m:t>𝒂</m:t>
                            </m:r>
                          </m:e>
                          <m:sub>
                            <m:r>
                              <a:rPr lang="zh-CN" altLang="en-US" b="1" i="1">
                                <a:solidFill>
                                  <a:srgbClr val="C00000"/>
                                </a:solidFill>
                                <a:latin typeface="Cambria Math" panose="02040503050406030204" pitchFamily="18" charset="0"/>
                              </a:rPr>
                              <m:t>𝒏</m:t>
                            </m:r>
                          </m:sub>
                          <m:sup>
                            <m:d>
                              <m:dPr>
                                <m:ctrlPr>
                                  <a:rPr lang="zh-CN" altLang="en-US" b="1" i="1">
                                    <a:solidFill>
                                      <a:srgbClr val="C00000"/>
                                    </a:solidFill>
                                    <a:latin typeface="Cambria Math" panose="02040503050406030204" pitchFamily="18" charset="0"/>
                                  </a:rPr>
                                </m:ctrlPr>
                              </m:dPr>
                              <m:e>
                                <m:r>
                                  <a:rPr lang="zh-CN" altLang="en-US" b="1" i="1">
                                    <a:solidFill>
                                      <a:srgbClr val="C00000"/>
                                    </a:solidFill>
                                    <a:latin typeface="Cambria Math" panose="02040503050406030204" pitchFamily="18" charset="0"/>
                                  </a:rPr>
                                  <m:t>𝒑</m:t>
                                </m:r>
                              </m:e>
                            </m:d>
                          </m:sup>
                        </m:sSubSup>
                        <m:r>
                          <a:rPr lang="zh-CN" altLang="en-US" b="1" i="1" smtClean="0">
                            <a:solidFill>
                              <a:srgbClr val="C00000"/>
                            </a:solidFill>
                            <a:latin typeface="Cambria Math" panose="02040503050406030204" pitchFamily="18" charset="0"/>
                          </a:rPr>
                          <m:t>=</m:t>
                        </m:r>
                        <m:d>
                          <m:dPr>
                            <m:ctrlPr>
                              <a:rPr lang="zh-CN" altLang="en-US" b="1" i="1" smtClean="0">
                                <a:solidFill>
                                  <a:srgbClr val="C00000"/>
                                </a:solidFill>
                                <a:latin typeface="Cambria Math" panose="02040503050406030204" pitchFamily="18" charset="0"/>
                              </a:rPr>
                            </m:ctrlPr>
                          </m:dPr>
                          <m:e>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𝒕</m:t>
                                </m:r>
                              </m:sub>
                            </m:sSub>
                            <m:r>
                              <a:rPr lang="zh-CN" altLang="en-US" b="1" i="1">
                                <a:solidFill>
                                  <a:srgbClr val="C00000"/>
                                </a:solidFill>
                                <a:latin typeface="Cambria Math" panose="02040503050406030204" pitchFamily="18" charset="0"/>
                              </a:rPr>
                              <m:t>⋅</m:t>
                            </m:r>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𝒏</m:t>
                                </m:r>
                              </m:e>
                              <m:sup>
                                <m:r>
                                  <a:rPr lang="zh-CN" altLang="en-US" b="1" i="1">
                                    <a:solidFill>
                                      <a:srgbClr val="C00000"/>
                                    </a:solidFill>
                                    <a:latin typeface="Cambria Math" panose="02040503050406030204" pitchFamily="18" charset="0"/>
                                  </a:rPr>
                                  <m:t>𝒕</m:t>
                                </m:r>
                              </m:sup>
                            </m:sSup>
                            <m:r>
                              <a:rPr lang="zh-CN" altLang="en-US" b="1" i="1">
                                <a:solidFill>
                                  <a:srgbClr val="C00000"/>
                                </a:solidFill>
                                <a:latin typeface="Cambria Math" panose="02040503050406030204" pitchFamily="18" charset="0"/>
                              </a:rPr>
                              <m:t>+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𝒕</m:t>
                                </m:r>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𝟏</m:t>
                                </m:r>
                              </m:sub>
                            </m:sSub>
                            <m:r>
                              <a:rPr lang="zh-CN" altLang="en-US" b="1" i="1">
                                <a:solidFill>
                                  <a:srgbClr val="C00000"/>
                                </a:solidFill>
                                <a:latin typeface="Cambria Math" panose="02040503050406030204" pitchFamily="18" charset="0"/>
                              </a:rPr>
                              <m:t>⋅</m:t>
                            </m:r>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𝒏</m:t>
                                </m:r>
                              </m:e>
                              <m:sup>
                                <m:r>
                                  <a:rPr lang="zh-CN" altLang="en-US" b="1" i="1">
                                    <a:solidFill>
                                      <a:srgbClr val="C00000"/>
                                    </a:solidFill>
                                    <a:latin typeface="Cambria Math" panose="02040503050406030204" pitchFamily="18" charset="0"/>
                                  </a:rPr>
                                  <m:t>𝒕</m:t>
                                </m:r>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𝟏</m:t>
                                </m:r>
                              </m:sup>
                            </m:sSup>
                            <m:r>
                              <a:rPr lang="zh-CN" altLang="en-US" b="1" i="1">
                                <a:solidFill>
                                  <a:srgbClr val="C00000"/>
                                </a:solidFill>
                                <a:latin typeface="Cambria Math" panose="02040503050406030204" pitchFamily="18" charset="0"/>
                              </a:rPr>
                              <m:t>+ ⋯+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𝟏</m:t>
                                </m:r>
                              </m:sub>
                            </m:sSub>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𝒏</m:t>
                            </m:r>
                            <m:r>
                              <a:rPr lang="zh-CN" altLang="en-US" b="1" i="1">
                                <a:solidFill>
                                  <a:srgbClr val="C00000"/>
                                </a:solidFill>
                                <a:latin typeface="Cambria Math" panose="02040503050406030204" pitchFamily="18" charset="0"/>
                              </a:rPr>
                              <m:t> +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𝟎</m:t>
                                </m:r>
                              </m:sub>
                            </m:sSub>
                          </m:e>
                        </m:d>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𝒔</m:t>
                            </m:r>
                          </m:e>
                          <m:sup>
                            <m:r>
                              <a:rPr lang="zh-CN" altLang="en-US" b="1" i="1">
                                <a:solidFill>
                                  <a:srgbClr val="C00000"/>
                                </a:solidFill>
                                <a:latin typeface="Cambria Math" panose="02040503050406030204" pitchFamily="18" charset="0"/>
                              </a:rPr>
                              <m:t>𝒏</m:t>
                            </m:r>
                          </m:sup>
                        </m:sSup>
                      </m:oMath>
                    </m:oMathPara>
                  </a14:m>
                  <a:endParaRPr lang="zh-CN" altLang="en-US" b="1">
                    <a:solidFill>
                      <a:srgbClr val="C00000"/>
                    </a:solidFill>
                  </a:endParaRPr>
                </a:p>
              </p:txBody>
            </p:sp>
          </mc:Choice>
          <mc:Fallback>
            <p:sp>
              <p:nvSpPr>
                <p:cNvPr id="43" name="文本框 42"/>
                <p:cNvSpPr txBox="1">
                  <a:spLocks noRot="1" noChangeAspect="1" noMove="1" noResize="1" noEditPoints="1" noAdjustHandles="1" noChangeArrowheads="1" noChangeShapeType="1" noTextEdit="1"/>
                </p:cNvSpPr>
                <p:nvPr/>
              </p:nvSpPr>
              <p:spPr>
                <a:xfrm>
                  <a:off x="5900839" y="3126442"/>
                  <a:ext cx="4970087" cy="74514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矩形 43"/>
                <p:cNvSpPr/>
                <p:nvPr/>
              </p:nvSpPr>
              <p:spPr>
                <a:xfrm>
                  <a:off x="1834547" y="4041643"/>
                  <a:ext cx="2888754" cy="788293"/>
                </a:xfrm>
                <a:prstGeom prst="rect">
                  <a:avLst/>
                </a:prstGeom>
                <a:solidFill>
                  <a:schemeClr val="accent5">
                    <a:lumMod val="20000"/>
                    <a:lumOff val="80000"/>
                  </a:schemeClr>
                </a:solidFill>
              </p:spPr>
              <p:txBody>
                <a:bodyPr wrap="square">
                  <a:spAutoFit/>
                </a:bodyPr>
                <a:lstStyle/>
                <a:p>
                  <a:pPr>
                    <a:lnSpc>
                      <a:spcPts val="2800"/>
                    </a:lnSpc>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𝒔</m:t>
                      </m:r>
                    </m:oMath>
                  </a14:m>
                  <a:r>
                    <a:rPr lang="zh-CN" altLang="en-US" sz="2000" b="1">
                      <a:solidFill>
                        <a:srgbClr val="C00000"/>
                      </a:solidFill>
                    </a:rPr>
                    <a:t>是</a:t>
                  </a:r>
                  <a:r>
                    <a:rPr lang="zh-CN" altLang="en-US" sz="2000" b="1">
                      <a:solidFill>
                        <a:schemeClr val="accent6">
                          <a:lumMod val="50000"/>
                        </a:schemeClr>
                      </a:solidFill>
                    </a:rPr>
                    <a:t>伴随线性齐次递推关系式特征方程的</a:t>
                  </a:r>
                  <a14:m>
                    <m:oMath xmlns:m="http://schemas.openxmlformats.org/officeDocument/2006/math">
                      <m:r>
                        <a:rPr lang="en-US" altLang="zh-CN" sz="2000" b="1" i="1" smtClean="0">
                          <a:solidFill>
                            <a:srgbClr val="C00000"/>
                          </a:solidFill>
                          <a:latin typeface="Cambria Math" panose="02040503050406030204" pitchFamily="18" charset="0"/>
                        </a:rPr>
                        <m:t>𝒎</m:t>
                      </m:r>
                    </m:oMath>
                  </a14:m>
                  <a:r>
                    <a:rPr lang="zh-CN" altLang="en-US" sz="2000" b="1">
                      <a:solidFill>
                        <a:srgbClr val="C00000"/>
                      </a:solidFill>
                    </a:rPr>
                    <a:t>重根</a:t>
                  </a:r>
                  <a:endParaRPr lang="zh-CN" altLang="en-US" sz="2000" b="1">
                    <a:solidFill>
                      <a:schemeClr val="accent6">
                        <a:lumMod val="50000"/>
                      </a:schemeClr>
                    </a:solidFill>
                  </a:endParaRPr>
                </a:p>
              </p:txBody>
            </p:sp>
          </mc:Choice>
          <mc:Fallback>
            <p:sp>
              <p:nvSpPr>
                <p:cNvPr id="44" name="矩形 43"/>
                <p:cNvSpPr>
                  <a:spLocks noRot="1" noChangeAspect="1" noMove="1" noResize="1" noEditPoints="1" noAdjustHandles="1" noChangeArrowheads="1" noChangeShapeType="1" noTextEdit="1"/>
                </p:cNvSpPr>
                <p:nvPr/>
              </p:nvSpPr>
              <p:spPr>
                <a:xfrm>
                  <a:off x="1834547" y="4041643"/>
                  <a:ext cx="2888754" cy="788293"/>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 name="矩形 44"/>
                <p:cNvSpPr/>
                <p:nvPr/>
              </p:nvSpPr>
              <p:spPr>
                <a:xfrm>
                  <a:off x="5900839" y="4083322"/>
                  <a:ext cx="5242999" cy="745140"/>
                </a:xfrm>
                <a:prstGeom prst="rect">
                  <a:avLst/>
                </a:prstGeom>
                <a:solidFill>
                  <a:schemeClr val="accent2">
                    <a:lumMod val="20000"/>
                    <a:lumOff val="80000"/>
                  </a:schemeClr>
                </a:solidFill>
              </p:spPr>
              <p:txBody>
                <a:bodyPr wrap="square">
                  <a:spAutoFit/>
                </a:bodyPr>
                <a:lstStyle/>
                <a:p>
                  <a14:m>
                    <m:oMathPara xmlns:m="http://schemas.openxmlformats.org/officeDocument/2006/math">
                      <m:oMathParaPr>
                        <m:jc m:val="centerGroup"/>
                      </m:oMathParaPr>
                      <m:oMath xmlns:m="http://schemas.openxmlformats.org/officeDocument/2006/math">
                        <m:sSubSup>
                          <m:sSubSupPr>
                            <m:ctrlPr>
                              <a:rPr lang="zh-CN" altLang="en-US" b="1" i="1" smtClean="0">
                                <a:solidFill>
                                  <a:srgbClr val="C00000"/>
                                </a:solidFill>
                                <a:latin typeface="Cambria Math" panose="02040503050406030204" pitchFamily="18" charset="0"/>
                              </a:rPr>
                            </m:ctrlPr>
                          </m:sSubSupPr>
                          <m:e>
                            <m:r>
                              <a:rPr lang="zh-CN" altLang="en-US" b="1" i="1" smtClean="0">
                                <a:solidFill>
                                  <a:srgbClr val="C00000"/>
                                </a:solidFill>
                                <a:latin typeface="Cambria Math" panose="02040503050406030204" pitchFamily="18" charset="0"/>
                              </a:rPr>
                              <m:t>𝒂</m:t>
                            </m:r>
                          </m:e>
                          <m:sub>
                            <m:r>
                              <a:rPr lang="zh-CN" altLang="en-US" b="1" i="1" smtClean="0">
                                <a:solidFill>
                                  <a:srgbClr val="C00000"/>
                                </a:solidFill>
                                <a:latin typeface="Cambria Math" panose="02040503050406030204" pitchFamily="18" charset="0"/>
                              </a:rPr>
                              <m:t>𝒏</m:t>
                            </m:r>
                          </m:sub>
                          <m:sup>
                            <m:d>
                              <m:dPr>
                                <m:ctrlPr>
                                  <a:rPr lang="zh-CN" altLang="en-US" b="1" i="1" smtClean="0">
                                    <a:solidFill>
                                      <a:srgbClr val="C00000"/>
                                    </a:solidFill>
                                    <a:latin typeface="Cambria Math" panose="02040503050406030204" pitchFamily="18" charset="0"/>
                                  </a:rPr>
                                </m:ctrlPr>
                              </m:dPr>
                              <m:e>
                                <m:r>
                                  <a:rPr lang="zh-CN" altLang="en-US" b="1" i="1" smtClean="0">
                                    <a:solidFill>
                                      <a:srgbClr val="C00000"/>
                                    </a:solidFill>
                                    <a:latin typeface="Cambria Math" panose="02040503050406030204" pitchFamily="18" charset="0"/>
                                  </a:rPr>
                                  <m:t>𝒑</m:t>
                                </m:r>
                              </m:e>
                            </m:d>
                          </m:sup>
                        </m:sSubSup>
                        <m:r>
                          <a:rPr lang="zh-CN" altLang="en-US" b="1" i="1" smtClean="0">
                            <a:solidFill>
                              <a:srgbClr val="C00000"/>
                            </a:solidFill>
                            <a:latin typeface="Cambria Math" panose="02040503050406030204" pitchFamily="18" charset="0"/>
                          </a:rPr>
                          <m:t>= </m:t>
                        </m:r>
                        <m:sSup>
                          <m:sSupPr>
                            <m:ctrlPr>
                              <a:rPr lang="zh-CN" altLang="en-US" b="1" i="1" smtClean="0">
                                <a:solidFill>
                                  <a:srgbClr val="0000FF"/>
                                </a:solidFill>
                                <a:latin typeface="Cambria Math" panose="02040503050406030204" pitchFamily="18" charset="0"/>
                              </a:rPr>
                            </m:ctrlPr>
                          </m:sSupPr>
                          <m:e>
                            <m:r>
                              <a:rPr lang="zh-CN" altLang="en-US" b="1" i="1">
                                <a:solidFill>
                                  <a:srgbClr val="0000FF"/>
                                </a:solidFill>
                                <a:latin typeface="Cambria Math" panose="02040503050406030204" pitchFamily="18" charset="0"/>
                              </a:rPr>
                              <m:t>𝒏</m:t>
                            </m:r>
                          </m:e>
                          <m:sup>
                            <m:r>
                              <a:rPr lang="zh-CN" altLang="en-US" b="1" i="1" smtClean="0">
                                <a:solidFill>
                                  <a:srgbClr val="0000FF"/>
                                </a:solidFill>
                                <a:latin typeface="Cambria Math" panose="02040503050406030204" pitchFamily="18" charset="0"/>
                              </a:rPr>
                              <m:t>𝒎</m:t>
                            </m:r>
                          </m:sup>
                        </m:sSup>
                        <m:d>
                          <m:dPr>
                            <m:ctrlPr>
                              <a:rPr lang="zh-CN" altLang="en-US" b="1" i="1" smtClean="0">
                                <a:solidFill>
                                  <a:srgbClr val="C00000"/>
                                </a:solidFill>
                                <a:latin typeface="Cambria Math" panose="02040503050406030204" pitchFamily="18" charset="0"/>
                              </a:rPr>
                            </m:ctrlPr>
                          </m:dPr>
                          <m:e>
                            <m:sSub>
                              <m:sSubPr>
                                <m:ctrlPr>
                                  <a:rPr lang="zh-CN" altLang="en-US" b="1" i="1" smtClean="0">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𝒕</m:t>
                                </m:r>
                              </m:sub>
                            </m:sSub>
                            <m:r>
                              <a:rPr lang="zh-CN" altLang="en-US" b="1" i="1">
                                <a:solidFill>
                                  <a:srgbClr val="C00000"/>
                                </a:solidFill>
                                <a:latin typeface="Cambria Math" panose="02040503050406030204" pitchFamily="18" charset="0"/>
                              </a:rPr>
                              <m:t>⋅</m:t>
                            </m:r>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𝒏</m:t>
                                </m:r>
                              </m:e>
                              <m:sup>
                                <m:r>
                                  <a:rPr lang="zh-CN" altLang="en-US" b="1" i="1">
                                    <a:solidFill>
                                      <a:srgbClr val="C00000"/>
                                    </a:solidFill>
                                    <a:latin typeface="Cambria Math" panose="02040503050406030204" pitchFamily="18" charset="0"/>
                                  </a:rPr>
                                  <m:t>𝒕</m:t>
                                </m:r>
                              </m:sup>
                            </m:sSup>
                            <m:r>
                              <a:rPr lang="zh-CN" altLang="en-US" b="1" i="1">
                                <a:solidFill>
                                  <a:srgbClr val="C00000"/>
                                </a:solidFill>
                                <a:latin typeface="Cambria Math" panose="02040503050406030204" pitchFamily="18" charset="0"/>
                              </a:rPr>
                              <m:t>+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𝒕</m:t>
                                </m:r>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𝟏</m:t>
                                </m:r>
                              </m:sub>
                            </m:sSub>
                            <m:r>
                              <a:rPr lang="zh-CN" altLang="en-US" b="1" i="1">
                                <a:solidFill>
                                  <a:srgbClr val="C00000"/>
                                </a:solidFill>
                                <a:latin typeface="Cambria Math" panose="02040503050406030204" pitchFamily="18" charset="0"/>
                              </a:rPr>
                              <m:t>⋅</m:t>
                            </m:r>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𝒏</m:t>
                                </m:r>
                              </m:e>
                              <m:sup>
                                <m:r>
                                  <a:rPr lang="zh-CN" altLang="en-US" b="1" i="1">
                                    <a:solidFill>
                                      <a:srgbClr val="C00000"/>
                                    </a:solidFill>
                                    <a:latin typeface="Cambria Math" panose="02040503050406030204" pitchFamily="18" charset="0"/>
                                  </a:rPr>
                                  <m:t>𝒕</m:t>
                                </m:r>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𝟏</m:t>
                                </m:r>
                              </m:sup>
                            </m:sSup>
                            <m:r>
                              <a:rPr lang="zh-CN" altLang="en-US" b="1" i="1">
                                <a:solidFill>
                                  <a:srgbClr val="C00000"/>
                                </a:solidFill>
                                <a:latin typeface="Cambria Math" panose="02040503050406030204" pitchFamily="18" charset="0"/>
                              </a:rPr>
                              <m:t>+ ⋯+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𝟏</m:t>
                                </m:r>
                              </m:sub>
                            </m:sSub>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𝒏</m:t>
                            </m:r>
                            <m:r>
                              <a:rPr lang="zh-CN" altLang="en-US" b="1" i="1">
                                <a:solidFill>
                                  <a:srgbClr val="C00000"/>
                                </a:solidFill>
                                <a:latin typeface="Cambria Math" panose="02040503050406030204" pitchFamily="18" charset="0"/>
                              </a:rPr>
                              <m:t> +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𝟎</m:t>
                                </m:r>
                              </m:sub>
                            </m:sSub>
                          </m:e>
                        </m:d>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𝒔</m:t>
                            </m:r>
                          </m:e>
                          <m:sup>
                            <m:r>
                              <a:rPr lang="zh-CN" altLang="en-US" b="1" i="1">
                                <a:solidFill>
                                  <a:srgbClr val="C00000"/>
                                </a:solidFill>
                                <a:latin typeface="Cambria Math" panose="02040503050406030204" pitchFamily="18" charset="0"/>
                              </a:rPr>
                              <m:t>𝒏</m:t>
                            </m:r>
                          </m:sup>
                        </m:sSup>
                      </m:oMath>
                    </m:oMathPara>
                  </a14:m>
                  <a:endParaRPr lang="zh-CN" altLang="en-US" b="1">
                    <a:solidFill>
                      <a:srgbClr val="C00000"/>
                    </a:solidFill>
                  </a:endParaRPr>
                </a:p>
              </p:txBody>
            </p:sp>
          </mc:Choice>
          <mc:Fallback>
            <p:sp>
              <p:nvSpPr>
                <p:cNvPr id="45" name="矩形 44"/>
                <p:cNvSpPr>
                  <a:spLocks noRot="1" noChangeAspect="1" noMove="1" noResize="1" noEditPoints="1" noAdjustHandles="1" noChangeArrowheads="1" noChangeShapeType="1" noTextEdit="1"/>
                </p:cNvSpPr>
                <p:nvPr/>
              </p:nvSpPr>
              <p:spPr>
                <a:xfrm>
                  <a:off x="5900839" y="4083322"/>
                  <a:ext cx="5242999" cy="745140"/>
                </a:xfrm>
                <a:prstGeom prst="rect">
                  <a:avLst/>
                </a:prstGeom>
                <a:blipFill rotWithShape="1">
                  <a:blip r:embed="rId7"/>
                </a:blipFill>
              </p:spPr>
              <p:txBody>
                <a:bodyPr/>
                <a:lstStyle/>
                <a:p>
                  <a:r>
                    <a:rPr lang="zh-CN" altLang="en-US">
                      <a:noFill/>
                    </a:rPr>
                    <a:t> </a:t>
                  </a:r>
                </a:p>
              </p:txBody>
            </p:sp>
          </mc:Fallback>
        </mc:AlternateContent>
        <p:sp>
          <p:nvSpPr>
            <p:cNvPr id="46" name="箭头: 右 45"/>
            <p:cNvSpPr/>
            <p:nvPr/>
          </p:nvSpPr>
          <p:spPr>
            <a:xfrm>
              <a:off x="4694655" y="3429000"/>
              <a:ext cx="1206184" cy="1365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p:cNvSpPr/>
            <p:nvPr/>
          </p:nvSpPr>
          <p:spPr>
            <a:xfrm>
              <a:off x="4723301" y="4375853"/>
              <a:ext cx="1177538" cy="1347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箭头: 下 47"/>
          <p:cNvSpPr/>
          <p:nvPr/>
        </p:nvSpPr>
        <p:spPr>
          <a:xfrm>
            <a:off x="2806702" y="3827618"/>
            <a:ext cx="45719" cy="2117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2904217" y="3807864"/>
            <a:ext cx="635301" cy="246221"/>
          </a:xfrm>
          <a:prstGeom prst="rect">
            <a:avLst/>
          </a:prstGeom>
          <a:solidFill>
            <a:schemeClr val="accent4">
              <a:lumMod val="20000"/>
              <a:lumOff val="80000"/>
            </a:schemeClr>
          </a:solidFill>
        </p:spPr>
        <p:txBody>
          <a:bodyPr wrap="square" lIns="0" tIns="0" rIns="0" bIns="0" rtlCol="0">
            <a:spAutoFit/>
          </a:bodyPr>
          <a:lstStyle/>
          <a:p>
            <a:r>
              <a:rPr lang="zh-CN" altLang="en-US" sz="1600" b="1">
                <a:solidFill>
                  <a:schemeClr val="accent2">
                    <a:lumMod val="50000"/>
                  </a:schemeClr>
                </a:solidFill>
              </a:rPr>
              <a:t>一般化</a:t>
            </a:r>
            <a:endParaRPr lang="zh-CN" altLang="en-US" sz="1600" b="1">
              <a:solidFill>
                <a:schemeClr val="accent2">
                  <a:lumMod val="50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11" name="文本框 10"/>
          <p:cNvSpPr txBox="1"/>
          <p:nvPr/>
        </p:nvSpPr>
        <p:spPr>
          <a:xfrm>
            <a:off x="1239662" y="1361983"/>
            <a:ext cx="4733731" cy="3854901"/>
          </a:xfrm>
          <a:prstGeom prst="rect">
            <a:avLst/>
          </a:prstGeom>
          <a:noFill/>
        </p:spPr>
        <p:txBody>
          <a:bodyPr wrap="square" rtlCol="0">
            <a:spAutoFit/>
          </a:bodyPr>
          <a:lstStyle/>
          <a:p>
            <a:pPr>
              <a:lnSpc>
                <a:spcPct val="200000"/>
              </a:lnSpc>
            </a:pPr>
            <a:r>
              <a:rPr lang="zh-CN" altLang="en-US" sz="3200" b="1" dirty="0">
                <a:solidFill>
                  <a:schemeClr val="bg2"/>
                </a:solidFill>
                <a:latin typeface="仿宋" panose="02010609060101010101" pitchFamily="49" charset="-122"/>
                <a:ea typeface="仿宋" panose="02010609060101010101" pitchFamily="49" charset="-122"/>
              </a:rPr>
              <a:t>逻辑语言</a:t>
            </a:r>
            <a:endParaRPr lang="en-US" altLang="zh-CN" sz="3200" b="1" dirty="0">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bg2"/>
                </a:solidFill>
                <a:latin typeface="仿宋" panose="02010609060101010101" pitchFamily="49" charset="-122"/>
                <a:ea typeface="仿宋" panose="02010609060101010101" pitchFamily="49" charset="-122"/>
              </a:rPr>
              <a:t>集合语言</a:t>
            </a:r>
            <a:endParaRPr lang="en-US" altLang="zh-CN" sz="3200" b="1" dirty="0">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bg2"/>
                </a:solidFill>
                <a:latin typeface="仿宋" panose="02010609060101010101" pitchFamily="49" charset="-122"/>
                <a:ea typeface="仿宋" panose="02010609060101010101" pitchFamily="49" charset="-122"/>
              </a:rPr>
              <a:t>组合计数</a:t>
            </a:r>
            <a:endParaRPr lang="en-US" altLang="zh-CN" sz="3200" b="1" dirty="0">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图论语言</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图论语言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图与树部分内容框架</a:t>
            </a:r>
            <a:endParaRPr lang="zh-CN" altLang="en-US"/>
          </a:p>
        </p:txBody>
      </p:sp>
      <p:pic>
        <p:nvPicPr>
          <p:cNvPr id="2" name="图片 1"/>
          <p:cNvPicPr>
            <a:picLocks noChangeAspect="1"/>
          </p:cNvPicPr>
          <p:nvPr/>
        </p:nvPicPr>
        <p:blipFill>
          <a:blip r:embed="rId1"/>
          <a:stretch>
            <a:fillRect/>
          </a:stretch>
        </p:blipFill>
        <p:spPr>
          <a:xfrm>
            <a:off x="1469755" y="1103964"/>
            <a:ext cx="9252489" cy="510433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图论语言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图与树部分学习目标</a:t>
            </a:r>
            <a:endParaRPr lang="zh-CN" altLang="en-US"/>
          </a:p>
        </p:txBody>
      </p:sp>
      <p:sp>
        <p:nvSpPr>
          <p:cNvPr id="11" name="文本框 10"/>
          <p:cNvSpPr txBox="1"/>
          <p:nvPr/>
        </p:nvSpPr>
        <p:spPr>
          <a:xfrm>
            <a:off x="2146481" y="1443232"/>
            <a:ext cx="7899036" cy="4418454"/>
          </a:xfrm>
          <a:prstGeom prst="rect">
            <a:avLst/>
          </a:prstGeom>
          <a:solidFill>
            <a:schemeClr val="accent4">
              <a:lumMod val="20000"/>
              <a:lumOff val="80000"/>
              <a:alpha val="50000"/>
            </a:schemeClr>
          </a:solidFill>
        </p:spPr>
        <p:txBody>
          <a:bodyPr wrap="square" rtlCol="0">
            <a:spAutoFit/>
          </a:bodyPr>
          <a:lstStyle/>
          <a:p>
            <a:pPr algn="ctr">
              <a:lnSpc>
                <a:spcPts val="3200"/>
              </a:lnSpc>
              <a:spcBef>
                <a:spcPts val="600"/>
              </a:spcBef>
              <a:spcAft>
                <a:spcPts val="600"/>
              </a:spcAft>
            </a:pPr>
            <a:r>
              <a:rPr lang="zh-CN" altLang="en-US" sz="2400" b="1" dirty="0">
                <a:solidFill>
                  <a:schemeClr val="accent2">
                    <a:lumMod val="50000"/>
                  </a:schemeClr>
                </a:solidFill>
                <a:latin typeface="楷体" panose="02010609060101010101" pitchFamily="49" charset="-122"/>
                <a:ea typeface="楷体" panose="02010609060101010101" pitchFamily="49" charset="-122"/>
              </a:rPr>
              <a:t>图与树部分学习目标</a:t>
            </a:r>
            <a:endParaRPr lang="zh-CN" altLang="en-US" sz="2400" b="1" dirty="0">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200"/>
              </a:lnSpc>
              <a:spcBef>
                <a:spcPts val="600"/>
              </a:spcBef>
              <a:spcAft>
                <a:spcPts val="600"/>
              </a:spcAft>
              <a:buFont typeface="Arial" panose="020B0604020202020204" pitchFamily="34" charset="0"/>
              <a:buChar char="•"/>
            </a:pPr>
            <a:r>
              <a:rPr lang="zh-CN" altLang="en-US" sz="2000" b="1" dirty="0">
                <a:solidFill>
                  <a:srgbClr val="002060"/>
                </a:solidFill>
              </a:rPr>
              <a:t>利用</a:t>
            </a:r>
            <a:r>
              <a:rPr lang="zh-CN" altLang="en-US" sz="2000" b="1" dirty="0">
                <a:solidFill>
                  <a:srgbClr val="C00000"/>
                </a:solidFill>
              </a:rPr>
              <a:t>握手定理</a:t>
            </a:r>
            <a:r>
              <a:rPr lang="zh-CN" altLang="en-US" sz="2000" b="1" dirty="0">
                <a:solidFill>
                  <a:srgbClr val="002060"/>
                </a:solidFill>
              </a:rPr>
              <a:t>等证明有关图的连通性的简单命题</a:t>
            </a:r>
            <a:endParaRPr lang="zh-CN" altLang="en-US" sz="2000" b="1" dirty="0">
              <a:solidFill>
                <a:srgbClr val="002060"/>
              </a:solidFill>
            </a:endParaRPr>
          </a:p>
          <a:p>
            <a:pPr marL="342900" indent="-342900">
              <a:lnSpc>
                <a:spcPts val="3200"/>
              </a:lnSpc>
              <a:spcBef>
                <a:spcPts val="600"/>
              </a:spcBef>
              <a:spcAft>
                <a:spcPts val="600"/>
              </a:spcAft>
              <a:buFont typeface="Arial" panose="020B0604020202020204" pitchFamily="34" charset="0"/>
              <a:buChar char="•"/>
            </a:pPr>
            <a:r>
              <a:rPr lang="zh-CN" altLang="en-US" sz="2000" b="1" dirty="0">
                <a:solidFill>
                  <a:srgbClr val="002060"/>
                </a:solidFill>
              </a:rPr>
              <a:t>给出图的</a:t>
            </a:r>
            <a:r>
              <a:rPr lang="zh-CN" altLang="en-US" sz="2000" b="1" dirty="0">
                <a:solidFill>
                  <a:srgbClr val="C00000"/>
                </a:solidFill>
              </a:rPr>
              <a:t>邻接矩阵</a:t>
            </a:r>
            <a:r>
              <a:rPr lang="zh-CN" altLang="en-US" sz="2000" b="1" dirty="0">
                <a:solidFill>
                  <a:srgbClr val="002060"/>
                </a:solidFill>
              </a:rPr>
              <a:t>或</a:t>
            </a:r>
            <a:r>
              <a:rPr lang="zh-CN" altLang="en-US" sz="2000" b="1" dirty="0">
                <a:solidFill>
                  <a:srgbClr val="C00000"/>
                </a:solidFill>
              </a:rPr>
              <a:t>关联矩阵</a:t>
            </a:r>
            <a:r>
              <a:rPr lang="zh-CN" altLang="en-US" sz="2000" b="1" dirty="0">
                <a:solidFill>
                  <a:srgbClr val="002060"/>
                </a:solidFill>
              </a:rPr>
              <a:t>表示</a:t>
            </a:r>
            <a:endParaRPr lang="zh-CN" altLang="en-US" sz="2000" b="1" dirty="0">
              <a:solidFill>
                <a:srgbClr val="002060"/>
              </a:solidFill>
            </a:endParaRPr>
          </a:p>
          <a:p>
            <a:pPr marL="342900" indent="-342900">
              <a:lnSpc>
                <a:spcPts val="3200"/>
              </a:lnSpc>
              <a:spcBef>
                <a:spcPts val="600"/>
              </a:spcBef>
              <a:spcAft>
                <a:spcPts val="600"/>
              </a:spcAft>
              <a:buFont typeface="Arial" panose="020B0604020202020204" pitchFamily="34" charset="0"/>
              <a:buChar char="•"/>
            </a:pPr>
            <a:r>
              <a:rPr lang="zh-CN" altLang="en-US" sz="2000" b="1" dirty="0">
                <a:solidFill>
                  <a:srgbClr val="002060"/>
                </a:solidFill>
              </a:rPr>
              <a:t>基于图的邻接矩阵计算顶点之间道路或回路的条数</a:t>
            </a:r>
            <a:endParaRPr lang="zh-CN" altLang="en-US" sz="2000" b="1" dirty="0">
              <a:solidFill>
                <a:srgbClr val="002060"/>
              </a:solidFill>
            </a:endParaRPr>
          </a:p>
          <a:p>
            <a:pPr marL="342900" indent="-342900">
              <a:lnSpc>
                <a:spcPts val="3200"/>
              </a:lnSpc>
              <a:spcBef>
                <a:spcPts val="600"/>
              </a:spcBef>
              <a:spcAft>
                <a:spcPts val="600"/>
              </a:spcAft>
              <a:buFont typeface="Arial" panose="020B0604020202020204" pitchFamily="34" charset="0"/>
              <a:buChar char="•"/>
            </a:pPr>
            <a:r>
              <a:rPr lang="zh-CN" altLang="en-US" sz="2000" b="1" dirty="0">
                <a:solidFill>
                  <a:srgbClr val="002060"/>
                </a:solidFill>
              </a:rPr>
              <a:t>给出无向图的一个</a:t>
            </a:r>
            <a:r>
              <a:rPr lang="zh-CN" altLang="en-US" sz="2000" b="1" dirty="0">
                <a:solidFill>
                  <a:srgbClr val="C00000"/>
                </a:solidFill>
              </a:rPr>
              <a:t>深度优先</a:t>
            </a:r>
            <a:r>
              <a:rPr lang="zh-CN" altLang="en-US" sz="2000" b="1" dirty="0">
                <a:solidFill>
                  <a:srgbClr val="002060"/>
                </a:solidFill>
              </a:rPr>
              <a:t>或</a:t>
            </a:r>
            <a:r>
              <a:rPr lang="zh-CN" altLang="en-US" sz="2000" b="1" dirty="0">
                <a:solidFill>
                  <a:srgbClr val="C00000"/>
                </a:solidFill>
              </a:rPr>
              <a:t>广度优先</a:t>
            </a:r>
            <a:r>
              <a:rPr lang="zh-CN" altLang="en-US" sz="2000" b="1" dirty="0">
                <a:solidFill>
                  <a:srgbClr val="002060"/>
                </a:solidFill>
              </a:rPr>
              <a:t>遍历结果</a:t>
            </a:r>
            <a:endParaRPr lang="zh-CN" altLang="en-US" sz="2000" b="1" dirty="0">
              <a:solidFill>
                <a:srgbClr val="002060"/>
              </a:solidFill>
            </a:endParaRPr>
          </a:p>
          <a:p>
            <a:pPr marL="342900" indent="-342900">
              <a:lnSpc>
                <a:spcPts val="3200"/>
              </a:lnSpc>
              <a:spcBef>
                <a:spcPts val="600"/>
              </a:spcBef>
              <a:spcAft>
                <a:spcPts val="600"/>
              </a:spcAft>
              <a:buFont typeface="Arial" panose="020B0604020202020204" pitchFamily="34" charset="0"/>
              <a:buChar char="•"/>
            </a:pPr>
            <a:r>
              <a:rPr lang="zh-CN" altLang="en-US" sz="2000" b="1" dirty="0">
                <a:solidFill>
                  <a:srgbClr val="002060"/>
                </a:solidFill>
              </a:rPr>
              <a:t>利用握手定理、树的边数与顶点数之间的约束证明树的简单性质</a:t>
            </a:r>
            <a:endParaRPr lang="zh-CN" altLang="en-US" sz="2000" b="1" dirty="0">
              <a:solidFill>
                <a:srgbClr val="002060"/>
              </a:solidFill>
            </a:endParaRPr>
          </a:p>
          <a:p>
            <a:pPr marL="342900" indent="-342900">
              <a:lnSpc>
                <a:spcPts val="3200"/>
              </a:lnSpc>
              <a:spcBef>
                <a:spcPts val="600"/>
              </a:spcBef>
              <a:spcAft>
                <a:spcPts val="600"/>
              </a:spcAft>
              <a:buFont typeface="Arial" panose="020B0604020202020204" pitchFamily="34" charset="0"/>
              <a:buChar char="•"/>
            </a:pPr>
            <a:r>
              <a:rPr lang="zh-CN" altLang="en-US" sz="2000" b="1" dirty="0">
                <a:solidFill>
                  <a:srgbClr val="002060"/>
                </a:solidFill>
              </a:rPr>
              <a:t>给出二叉树的</a:t>
            </a:r>
            <a:r>
              <a:rPr lang="zh-CN" altLang="en-US" sz="2000" b="1" dirty="0">
                <a:solidFill>
                  <a:srgbClr val="C00000"/>
                </a:solidFill>
              </a:rPr>
              <a:t>中序</a:t>
            </a:r>
            <a:r>
              <a:rPr lang="zh-CN" altLang="en-US" sz="2000" b="1" dirty="0">
                <a:solidFill>
                  <a:srgbClr val="002060"/>
                </a:solidFill>
              </a:rPr>
              <a:t>、</a:t>
            </a:r>
            <a:r>
              <a:rPr lang="zh-CN" altLang="en-US" sz="2000" b="1" dirty="0">
                <a:solidFill>
                  <a:srgbClr val="C00000"/>
                </a:solidFill>
              </a:rPr>
              <a:t>前序</a:t>
            </a:r>
            <a:r>
              <a:rPr lang="zh-CN" altLang="en-US" sz="2000" b="1" dirty="0">
                <a:solidFill>
                  <a:srgbClr val="002060"/>
                </a:solidFill>
              </a:rPr>
              <a:t>、</a:t>
            </a:r>
            <a:r>
              <a:rPr lang="zh-CN" altLang="en-US" sz="2000" b="1" dirty="0">
                <a:solidFill>
                  <a:srgbClr val="C00000"/>
                </a:solidFill>
              </a:rPr>
              <a:t>后序</a:t>
            </a:r>
            <a:r>
              <a:rPr lang="zh-CN" altLang="en-US" sz="2000" b="1" dirty="0">
                <a:solidFill>
                  <a:srgbClr val="002060"/>
                </a:solidFill>
              </a:rPr>
              <a:t>遍历结果</a:t>
            </a:r>
            <a:endParaRPr lang="zh-CN" altLang="en-US" sz="2000" b="1" dirty="0">
              <a:solidFill>
                <a:srgbClr val="002060"/>
              </a:solidFill>
            </a:endParaRPr>
          </a:p>
          <a:p>
            <a:pPr marL="342900" indent="-342900">
              <a:lnSpc>
                <a:spcPts val="3200"/>
              </a:lnSpc>
              <a:spcBef>
                <a:spcPts val="600"/>
              </a:spcBef>
              <a:spcAft>
                <a:spcPts val="600"/>
              </a:spcAft>
              <a:buFont typeface="Arial" panose="020B0604020202020204" pitchFamily="34" charset="0"/>
              <a:buChar char="•"/>
            </a:pPr>
            <a:r>
              <a:rPr lang="zh-CN" altLang="en-US" sz="2000" b="1" dirty="0">
                <a:solidFill>
                  <a:srgbClr val="002060"/>
                </a:solidFill>
              </a:rPr>
              <a:t>利用</a:t>
            </a:r>
            <a:r>
              <a:rPr lang="zh-CN" altLang="en-US" sz="2000" b="1" dirty="0">
                <a:solidFill>
                  <a:srgbClr val="C00000"/>
                </a:solidFill>
              </a:rPr>
              <a:t>欧拉公式</a:t>
            </a:r>
            <a:r>
              <a:rPr lang="zh-CN" altLang="en-US" sz="2000" b="1" dirty="0">
                <a:solidFill>
                  <a:srgbClr val="002060"/>
                </a:solidFill>
              </a:rPr>
              <a:t>、握手定理等证明平面图的简单性质</a:t>
            </a:r>
            <a:endParaRPr lang="zh-CN" altLang="en-US" sz="2000" b="1" dirty="0">
              <a:solidFill>
                <a:srgbClr val="C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图论语言</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/31</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一些重要的结果</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029532" y="1190247"/>
                <a:ext cx="10132933" cy="4924425"/>
              </a:xfrm>
              <a:prstGeom prst="rect">
                <a:avLst/>
              </a:prstGeom>
              <a:solidFill>
                <a:schemeClr val="accent4">
                  <a:lumMod val="20000"/>
                  <a:lumOff val="80000"/>
                </a:schemeClr>
              </a:solidFill>
            </p:spPr>
            <p:txBody>
              <a:bodyPr wrap="square" rtlCol="0">
                <a:spAutoFit/>
              </a:bodyPr>
              <a:lstStyle/>
              <a:p>
                <a:pPr marL="285750" indent="-285750">
                  <a:spcBef>
                    <a:spcPts val="400"/>
                  </a:spcBef>
                  <a:spcAft>
                    <a:spcPts val="400"/>
                  </a:spcAft>
                  <a:buFont typeface="Arial" panose="020B0604020202020204" pitchFamily="34" charset="0"/>
                  <a:buChar char="•"/>
                </a:pPr>
                <a:r>
                  <a:rPr lang="zh-CN" altLang="en-US" b="1">
                    <a:solidFill>
                      <a:schemeClr val="accent2">
                        <a:lumMod val="50000"/>
                      </a:schemeClr>
                    </a:solidFill>
                  </a:rPr>
                  <a:t>握手定理：无向图顶点度数之和等于边数两倍、有向图顶点入度和等于出度和等于边数两倍</a:t>
                </a:r>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r>
                  <a:rPr lang="zh-CN" altLang="en-US" b="1">
                    <a:solidFill>
                      <a:schemeClr val="accent2">
                        <a:lumMod val="50000"/>
                      </a:schemeClr>
                    </a:solidFill>
                  </a:rPr>
                  <a:t>无向图是二部图当且仅当它没有奇数长的回路</a:t>
                </a:r>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r>
                  <a:rPr lang="zh-CN" altLang="en-US" b="1">
                    <a:solidFill>
                      <a:schemeClr val="accent2">
                        <a:lumMod val="50000"/>
                      </a:schemeClr>
                    </a:solidFill>
                  </a:rPr>
                  <a:t>连通简单无向图的边数大于等于顶点数减一</a:t>
                </a:r>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r>
                  <a:rPr lang="zh-CN" altLang="en-US" b="1">
                    <a:solidFill>
                      <a:schemeClr val="accent2">
                        <a:lumMod val="50000"/>
                      </a:schemeClr>
                    </a:solidFill>
                  </a:rPr>
                  <a:t>给定简单图顶点数是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rPr>
                  <a:t>，边数是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rPr>
                  <a:t>，则若</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&gt;(</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oMath>
                </a14:m>
                <a:r>
                  <a:rPr lang="zh-CN" altLang="en-US" b="1">
                    <a:solidFill>
                      <a:schemeClr val="accent2">
                        <a:lumMod val="50000"/>
                      </a:schemeClr>
                    </a:solidFill>
                  </a:rPr>
                  <a:t>，则这个图是连通图</a:t>
                </a:r>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r>
                  <a:rPr lang="zh-CN" altLang="en-US" b="1">
                    <a:solidFill>
                      <a:schemeClr val="accent2">
                        <a:lumMod val="50000"/>
                      </a:schemeClr>
                    </a:solidFill>
                  </a:rPr>
                  <a:t>有向图是强连通图当且仅当存在一个经过所有顶点的有向回路</a:t>
                </a:r>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r>
                  <a:rPr lang="zh-CN" altLang="en-US" b="1">
                    <a:solidFill>
                      <a:schemeClr val="accent2">
                        <a:lumMod val="50000"/>
                      </a:schemeClr>
                    </a:solidFill>
                  </a:rPr>
                  <a:t>无向树是连通无回路的无向图，任意两个顶点有唯一通路，任意边都是桥，边数等于顶点数减一</a:t>
                </a:r>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r>
                  <a:rPr lang="zh-CN" altLang="en-US" b="1">
                    <a:solidFill>
                      <a:schemeClr val="accent2">
                        <a:lumMod val="50000"/>
                      </a:schemeClr>
                    </a:solidFill>
                  </a:rPr>
                  <a:t>一棵满</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rPr>
                  <a:t>元树，</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rPr>
                  <a:t>个顶点，则有</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𝒊</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rPr>
                  <a:t>个内部顶点，</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rPr>
                  <a:t>片叶子</a:t>
                </a:r>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r>
                  <a:rPr lang="zh-CN" altLang="en-US" b="1">
                    <a:solidFill>
                      <a:schemeClr val="accent2">
                        <a:lumMod val="50000"/>
                      </a:schemeClr>
                    </a:solidFill>
                  </a:rPr>
                  <a:t>平面图面的度数之和是边数两倍</a:t>
                </a:r>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r>
                  <a:rPr lang="zh-CN" altLang="en-US" b="1">
                    <a:solidFill>
                      <a:schemeClr val="accent2">
                        <a:lumMod val="50000"/>
                      </a:schemeClr>
                    </a:solidFill>
                  </a:rPr>
                  <a:t>欧拉公式：连通平面图有</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rPr>
                  <a:t>个顶点，</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rPr>
                  <a:t>条边，</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𝒅</m:t>
                    </m:r>
                  </m:oMath>
                </a14:m>
                <a:r>
                  <a:rPr lang="zh-CN" altLang="en-US" b="1">
                    <a:solidFill>
                      <a:schemeClr val="accent2">
                        <a:lumMod val="50000"/>
                      </a:schemeClr>
                    </a:solidFill>
                  </a:rPr>
                  <a:t>个面，则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𝒅</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oMath>
                </a14:m>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rPr>
                  <a:t>阶连通平面图各个面度数大于等于</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𝒍</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𝒍</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𝟑</m:t>
                        </m:r>
                      </m:e>
                    </m:d>
                  </m:oMath>
                </a14:m>
                <a:r>
                  <a:rPr lang="zh-CN" altLang="en-US" b="1">
                    <a:solidFill>
                      <a:schemeClr val="accent2">
                        <a:lumMod val="50000"/>
                      </a:schemeClr>
                    </a:solidFill>
                  </a:rPr>
                  <a:t>，则边数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𝒍</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𝒍</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m:t>
                    </m:r>
                  </m:oMath>
                </a14:m>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r>
                  <a:rPr lang="zh-CN" altLang="en-US" b="1">
                    <a:solidFill>
                      <a:schemeClr val="accent2">
                        <a:lumMod val="50000"/>
                      </a:schemeClr>
                    </a:solidFill>
                  </a:rPr>
                  <a:t>连通简单平面图有</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rPr>
                  <a:t>个顶点，</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rPr>
                  <a:t>条边，</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𝒅</m:t>
                    </m:r>
                  </m:oMath>
                </a14:m>
                <a:r>
                  <a:rPr lang="zh-CN" altLang="en-US" b="1">
                    <a:solidFill>
                      <a:schemeClr val="accent2">
                        <a:lumMod val="50000"/>
                      </a:schemeClr>
                    </a:solidFill>
                  </a:rPr>
                  <a:t>个面，则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𝟑</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𝟔</m:t>
                    </m:r>
                  </m:oMath>
                </a14:m>
                <a:r>
                  <a:rPr lang="zh-CN" altLang="en-US" b="1">
                    <a:solidFill>
                      <a:schemeClr val="accent2">
                        <a:lumMod val="50000"/>
                      </a:schemeClr>
                    </a:solidFill>
                  </a:rPr>
                  <a:t>，</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𝒅</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𝟒</m:t>
                    </m:r>
                  </m:oMath>
                </a14:m>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r>
                  <a:rPr lang="zh-CN" altLang="en-US" b="1">
                    <a:solidFill>
                      <a:schemeClr val="accent2">
                        <a:lumMod val="50000"/>
                      </a:schemeClr>
                    </a:solidFill>
                  </a:rPr>
                  <a:t>一个连通无向图是欧拉图当且仅当它的任意顶点的度数都是偶数</a:t>
                </a:r>
                <a:endParaRPr lang="en-US" altLang="zh-CN" b="1">
                  <a:solidFill>
                    <a:schemeClr val="accent2">
                      <a:lumMod val="50000"/>
                    </a:schemeClr>
                  </a:solidFill>
                </a:endParaRPr>
              </a:p>
              <a:p>
                <a:pPr marL="285750" indent="-285750">
                  <a:spcBef>
                    <a:spcPts val="400"/>
                  </a:spcBef>
                  <a:spcAft>
                    <a:spcPts val="4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rPr>
                  <a:t>阶简单无向图的任意两个顶点的度数之和大于等于</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rPr>
                  <a:t>，则这个图存在哈密顿通路</a:t>
                </a:r>
                <a:endParaRPr lang="zh-CN" altLang="en-US" b="1">
                  <a:solidFill>
                    <a:schemeClr val="accent2">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1029532" y="1190247"/>
                <a:ext cx="10132933" cy="4924425"/>
              </a:xfrm>
              <a:prstGeom prst="rect">
                <a:avLst/>
              </a:prstGeom>
              <a:blipFill rotWithShape="1">
                <a:blip r:embed="rId1"/>
                <a:stretch>
                  <a:fillRect l="-2" t="-5" r="4" b="5"/>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第三十五讲  课程内容总结</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endParaRPr lang="zh-CN" altLang="en-US" sz="4000">
              <a:solidFill>
                <a:srgbClr val="C00000"/>
              </a:solidFill>
              <a:latin typeface="华文新魏" panose="02010800040101010101" pitchFamily="2" charset="-122"/>
              <a:ea typeface="华文新魏" panose="02010800040101010101" pitchFamily="2" charset="-122"/>
            </a:endParaRPr>
          </a:p>
        </p:txBody>
      </p:sp>
    </p:spTree>
  </p:cSld>
  <p:clrMapOvr>
    <a:masterClrMapping/>
  </p:clrMapOvr>
</p:sld>
</file>

<file path=ppt/tags/tag1.xml><?xml version="1.0" encoding="utf-8"?>
<p:tagLst xmlns:p="http://schemas.openxmlformats.org/presentationml/2006/main">
  <p:tag name="commondata" val="eyJoZGlkIjoiM2U4OGRhNmIyZDU4NjBkZGRhNTk5ZGMxZjVlYTc4Zm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9782</Words>
  <Application>WPS 演示</Application>
  <PresentationFormat>宽屏</PresentationFormat>
  <Paragraphs>825</Paragraphs>
  <Slides>32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32</vt:i4>
      </vt:variant>
    </vt:vector>
  </HeadingPairs>
  <TitlesOfParts>
    <vt:vector size="45" baseType="lpstr">
      <vt:lpstr>Arial</vt:lpstr>
      <vt:lpstr>宋体</vt:lpstr>
      <vt:lpstr>Wingdings</vt:lpstr>
      <vt:lpstr>楷体</vt:lpstr>
      <vt:lpstr>仿宋</vt:lpstr>
      <vt:lpstr>Cambria Math</vt:lpstr>
      <vt:lpstr>等线</vt:lpstr>
      <vt:lpstr>微软雅黑</vt:lpstr>
      <vt:lpstr>Arial Unicode MS</vt:lpstr>
      <vt:lpstr>等线 Light</vt:lpstr>
      <vt:lpstr>Calibri</vt:lpstr>
      <vt:lpstr>华文新魏</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李绿周</cp:lastModifiedBy>
  <cp:revision>41</cp:revision>
  <dcterms:created xsi:type="dcterms:W3CDTF">2022-01-01T06:39:00Z</dcterms:created>
  <dcterms:modified xsi:type="dcterms:W3CDTF">2024-12-30T16:00:27Z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4ADBEFD9B04444879672C2F4514100D5_12</vt:lpwstr>
  </property>
  <property fmtid="{D5CDD505-2E9C-101B-9397-08002B2CF9AE}" pid="3" name="KSOProductBuildVer">
    <vt:lpwstr>2052-12.1.0.16120</vt:lpwstr>
  </property>
</Properties>
</file>