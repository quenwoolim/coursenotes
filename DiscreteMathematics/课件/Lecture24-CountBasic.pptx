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57" r:id="rId4"/>
    <p:sldId id="284" r:id="rId5"/>
    <p:sldId id="281" r:id="rId6"/>
    <p:sldId id="286" r:id="rId7"/>
    <p:sldId id="285" r:id="rId8"/>
    <p:sldId id="287" r:id="rId9"/>
    <p:sldId id="288" r:id="rId10"/>
    <p:sldId id="289" r:id="rId11"/>
    <p:sldId id="292" r:id="rId12"/>
    <p:sldId id="293" r:id="rId13"/>
    <p:sldId id="290" r:id="rId14"/>
    <p:sldId id="294" r:id="rId15"/>
    <p:sldId id="295" r:id="rId16"/>
    <p:sldId id="296" r:id="rId17"/>
    <p:sldId id="299" r:id="rId18"/>
    <p:sldId id="300" r:id="rId19"/>
    <p:sldId id="297" r:id="rId20"/>
    <p:sldId id="302" r:id="rId21"/>
    <p:sldId id="301" r:id="rId22"/>
    <p:sldId id="304" r:id="rId23"/>
    <p:sldId id="303" r:id="rId24"/>
    <p:sldId id="298" r:id="rId25"/>
    <p:sldId id="305" r:id="rId26"/>
    <p:sldId id="306" r:id="rId27"/>
    <p:sldId id="307" r:id="rId28"/>
    <p:sldId id="291" r:id="rId29"/>
    <p:sldId id="261" r:id="rId30"/>
    <p:sldId id="308" r:id="rId31"/>
    <p:sldId id="310" r:id="rId32"/>
    <p:sldId id="309" r:id="rId33"/>
    <p:sldId id="312" r:id="rId34"/>
    <p:sldId id="313" r:id="rId35"/>
    <p:sldId id="314" r:id="rId36"/>
    <p:sldId id="282" r:id="rId37"/>
    <p:sldId id="315" r:id="rId38"/>
    <p:sldId id="260" r:id="rId39"/>
    <p:sldId id="317" r:id="rId40"/>
    <p:sldId id="316" r:id="rId41"/>
    <p:sldId id="283" r:id="rId42"/>
    <p:sldId id="319" r:id="rId43"/>
    <p:sldId id="318" r:id="rId44"/>
    <p:sldId id="272" r:id="rId45"/>
    <p:sldId id="280" r:id="rId46"/>
    <p:sldId id="262" r:id="rId47"/>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7EC"/>
    <a:srgbClr val="0000FF"/>
    <a:srgbClr val="210694"/>
    <a:srgbClr val="F0E5DC"/>
    <a:srgbClr val="E5EFE5"/>
    <a:srgbClr val="FEF8F5"/>
    <a:srgbClr val="F7F2ED"/>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35.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70.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69.png"/><Relationship Id="rId17" Type="http://schemas.openxmlformats.org/officeDocument/2006/relationships/image" Target="../media/image74.png"/><Relationship Id="rId2" Type="http://schemas.openxmlformats.org/officeDocument/2006/relationships/image" Target="../media/image63.png"/><Relationship Id="rId16"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59.png"/><Relationship Id="rId5" Type="http://schemas.openxmlformats.org/officeDocument/2006/relationships/image" Target="../media/image66.png"/><Relationship Id="rId15" Type="http://schemas.openxmlformats.org/officeDocument/2006/relationships/image" Target="../media/image72.png"/><Relationship Id="rId10" Type="http://schemas.openxmlformats.org/officeDocument/2006/relationships/image" Target="../media/image58.png"/><Relationship Id="rId4" Type="http://schemas.openxmlformats.org/officeDocument/2006/relationships/image" Target="../media/image65.png"/><Relationship Id="rId9" Type="http://schemas.openxmlformats.org/officeDocument/2006/relationships/image" Target="../media/image57.png"/><Relationship Id="rId14" Type="http://schemas.openxmlformats.org/officeDocument/2006/relationships/image" Target="../media/image71.png"/></Relationships>
</file>

<file path=ppt/slides/_rels/slide36.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68.png"/><Relationship Id="rId18" Type="http://schemas.openxmlformats.org/officeDocument/2006/relationships/image" Target="../media/image76.png"/><Relationship Id="rId3" Type="http://schemas.openxmlformats.org/officeDocument/2006/relationships/image" Target="../media/image56.png"/><Relationship Id="rId7" Type="http://schemas.openxmlformats.org/officeDocument/2006/relationships/image" Target="../media/image69.png"/><Relationship Id="rId12" Type="http://schemas.openxmlformats.org/officeDocument/2006/relationships/image" Target="../media/image67.png"/><Relationship Id="rId17" Type="http://schemas.openxmlformats.org/officeDocument/2006/relationships/image" Target="../media/image66.png"/><Relationship Id="rId2" Type="http://schemas.openxmlformats.org/officeDocument/2006/relationships/image" Target="../media/image74.png"/><Relationship Id="rId16"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73.png"/><Relationship Id="rId5" Type="http://schemas.openxmlformats.org/officeDocument/2006/relationships/image" Target="../media/image58.png"/><Relationship Id="rId15" Type="http://schemas.openxmlformats.org/officeDocument/2006/relationships/image" Target="../media/image64.png"/><Relationship Id="rId10" Type="http://schemas.openxmlformats.org/officeDocument/2006/relationships/image" Target="../media/image72.png"/><Relationship Id="rId4" Type="http://schemas.openxmlformats.org/officeDocument/2006/relationships/image" Target="../media/image57.png"/><Relationship Id="rId9" Type="http://schemas.openxmlformats.org/officeDocument/2006/relationships/image" Target="../media/image71.png"/><Relationship Id="rId14"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 Id="rId5" Type="http://schemas.openxmlformats.org/officeDocument/2006/relationships/image" Target="../media/image84.png"/><Relationship Id="rId4" Type="http://schemas.openxmlformats.org/officeDocument/2006/relationships/image" Target="../media/image83.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 Id="rId4" Type="http://schemas.openxmlformats.org/officeDocument/2006/relationships/image" Target="../media/image93.png"/></Relationships>
</file>

<file path=ppt/slides/_rels/slide43.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第二十四讲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组合计数基本原理</a:t>
            </a:r>
          </a:p>
        </p:txBody>
      </p:sp>
      <p:sp>
        <p:nvSpPr>
          <p:cNvPr id="13" name="文本框 12"/>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p:cNvSpPr txBox="1"/>
          <p:nvPr/>
        </p:nvSpPr>
        <p:spPr>
          <a:xfrm>
            <a:off x="4843849" y="4559643"/>
            <a:ext cx="2866767" cy="46037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11</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加乘原理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容斥原理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鸽笼原理</a:t>
            </a:r>
            <a:r>
              <a:rPr lang="en-US" altLang="zh-CN" sz="3200" b="1">
                <a:solidFill>
                  <a:schemeClr val="accent6">
                    <a:lumMod val="50000"/>
                  </a:schemeClr>
                </a:solidFill>
                <a:latin typeface="仿宋" panose="02010609060101010101" pitchFamily="49" charset="-122"/>
                <a:ea typeface="仿宋" panose="02010609060101010101" pitchFamily="49"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组合数学简介</a:t>
            </a:r>
          </a:p>
        </p:txBody>
      </p:sp>
      <p:sp>
        <p:nvSpPr>
          <p:cNvPr id="2" name="文本框 1"/>
          <p:cNvSpPr txBox="1"/>
          <p:nvPr/>
        </p:nvSpPr>
        <p:spPr>
          <a:xfrm>
            <a:off x="709122" y="1128934"/>
            <a:ext cx="10605797" cy="1785104"/>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dirty="0">
                <a:solidFill>
                  <a:srgbClr val="C00000"/>
                </a:solidFill>
              </a:rPr>
              <a:t>组合数学</a:t>
            </a:r>
            <a:r>
              <a:rPr lang="en-US" altLang="zh-CN" sz="2400" b="1" dirty="0">
                <a:solidFill>
                  <a:srgbClr val="C00000"/>
                </a:solidFill>
              </a:rPr>
              <a:t>(Combinatorics)</a:t>
            </a:r>
          </a:p>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研究按照一定规则或条件安排</a:t>
            </a:r>
            <a:r>
              <a:rPr lang="en-US" altLang="zh-CN" sz="2000" b="1" dirty="0">
                <a:solidFill>
                  <a:srgbClr val="002060"/>
                </a:solidFill>
                <a:latin typeface="+mn-ea"/>
              </a:rPr>
              <a:t>(arrangement)</a:t>
            </a:r>
            <a:r>
              <a:rPr lang="zh-CN" altLang="en-US" sz="2000" b="1" dirty="0">
                <a:solidFill>
                  <a:srgbClr val="002060"/>
                </a:solidFill>
                <a:latin typeface="楷体" panose="02010609060101010101" pitchFamily="49" charset="-122"/>
                <a:ea typeface="楷体" panose="02010609060101010101" pitchFamily="49" charset="-122"/>
              </a:rPr>
              <a:t>或配置</a:t>
            </a:r>
            <a:r>
              <a:rPr lang="en-US" altLang="zh-CN" sz="2000" b="1" dirty="0">
                <a:solidFill>
                  <a:srgbClr val="002060"/>
                </a:solidFill>
                <a:latin typeface="+mn-ea"/>
              </a:rPr>
              <a:t>(configuration)</a:t>
            </a:r>
            <a:r>
              <a:rPr lang="zh-CN" altLang="en-US" sz="2000" b="1" dirty="0">
                <a:solidFill>
                  <a:srgbClr val="002060"/>
                </a:solidFill>
                <a:latin typeface="楷体" panose="02010609060101010101" pitchFamily="49" charset="-122"/>
                <a:ea typeface="楷体" panose="02010609060101010101" pitchFamily="49" charset="-122"/>
              </a:rPr>
              <a:t>离散事物的相关问题</a:t>
            </a:r>
          </a:p>
          <a:p>
            <a:pPr marL="342900" indent="-342900">
              <a:spcBef>
                <a:spcPts val="600"/>
              </a:spcBef>
              <a:spcAft>
                <a:spcPts val="600"/>
              </a:spcAft>
              <a:buFont typeface="Arial" panose="020B0604020202020204" pitchFamily="34" charset="0"/>
              <a:buChar char="•"/>
            </a:pPr>
            <a:r>
              <a:rPr lang="zh-CN" altLang="en-US" b="1" dirty="0">
                <a:solidFill>
                  <a:schemeClr val="accent6">
                    <a:lumMod val="50000"/>
                  </a:schemeClr>
                </a:solidFill>
              </a:rPr>
              <a:t>安排的存在性、计数</a:t>
            </a:r>
            <a:r>
              <a:rPr lang="en-US" altLang="zh-CN" b="1" dirty="0">
                <a:solidFill>
                  <a:schemeClr val="accent6">
                    <a:lumMod val="50000"/>
                  </a:schemeClr>
                </a:solidFill>
              </a:rPr>
              <a:t>(counting)</a:t>
            </a:r>
            <a:r>
              <a:rPr lang="zh-CN" altLang="en-US" b="1" dirty="0">
                <a:solidFill>
                  <a:schemeClr val="accent6">
                    <a:lumMod val="50000"/>
                  </a:schemeClr>
                </a:solidFill>
              </a:rPr>
              <a:t>与枚举</a:t>
            </a:r>
            <a:r>
              <a:rPr lang="en-US" altLang="zh-CN" b="1" dirty="0">
                <a:solidFill>
                  <a:schemeClr val="accent6">
                    <a:lumMod val="50000"/>
                  </a:schemeClr>
                </a:solidFill>
              </a:rPr>
              <a:t>(enumeration)</a:t>
            </a:r>
            <a:r>
              <a:rPr lang="zh-CN" altLang="en-US" b="1" dirty="0">
                <a:solidFill>
                  <a:schemeClr val="accent6">
                    <a:lumMod val="50000"/>
                  </a:schemeClr>
                </a:solidFill>
              </a:rPr>
              <a:t>，安排的性质与分类，以及优化</a:t>
            </a:r>
            <a:r>
              <a:rPr lang="en-US" altLang="zh-CN" b="1" dirty="0">
                <a:solidFill>
                  <a:schemeClr val="accent6">
                    <a:lumMod val="50000"/>
                  </a:schemeClr>
                </a:solidFill>
              </a:rPr>
              <a:t>(optimization)</a:t>
            </a:r>
          </a:p>
          <a:p>
            <a:pPr marL="800100" lvl="1" indent="-342900">
              <a:spcBef>
                <a:spcPts val="600"/>
              </a:spcBef>
              <a:spcAft>
                <a:spcPts val="600"/>
              </a:spcAft>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rPr>
              <a:t>分别属于</a:t>
            </a:r>
            <a:r>
              <a:rPr lang="zh-CN" altLang="en-US" b="1" dirty="0">
                <a:solidFill>
                  <a:srgbClr val="C00000"/>
                </a:solidFill>
                <a:latin typeface="+mn-ea"/>
              </a:rPr>
              <a:t>组合存在性</a:t>
            </a:r>
            <a:r>
              <a:rPr lang="zh-CN" altLang="en-US" b="1" dirty="0">
                <a:solidFill>
                  <a:schemeClr val="accent2">
                    <a:lumMod val="50000"/>
                  </a:schemeClr>
                </a:solidFill>
                <a:latin typeface="楷体" panose="02010609060101010101" pitchFamily="49" charset="-122"/>
                <a:ea typeface="楷体" panose="02010609060101010101" pitchFamily="49" charset="-122"/>
              </a:rPr>
              <a:t>问题、</a:t>
            </a:r>
            <a:r>
              <a:rPr lang="zh-CN" altLang="en-US" b="1" dirty="0">
                <a:solidFill>
                  <a:srgbClr val="C00000"/>
                </a:solidFill>
                <a:latin typeface="+mn-ea"/>
              </a:rPr>
              <a:t>组合计数</a:t>
            </a:r>
            <a:r>
              <a:rPr lang="zh-CN" altLang="en-US" b="1" dirty="0">
                <a:solidFill>
                  <a:schemeClr val="accent2">
                    <a:lumMod val="50000"/>
                  </a:schemeClr>
                </a:solidFill>
                <a:latin typeface="楷体" panose="02010609060101010101" pitchFamily="49" charset="-122"/>
                <a:ea typeface="楷体" panose="02010609060101010101" pitchFamily="49" charset="-122"/>
              </a:rPr>
              <a:t>问题、</a:t>
            </a:r>
            <a:r>
              <a:rPr lang="zh-CN" altLang="en-US" b="1" dirty="0">
                <a:solidFill>
                  <a:srgbClr val="C00000"/>
                </a:solidFill>
                <a:latin typeface="+mn-ea"/>
              </a:rPr>
              <a:t>组合枚举</a:t>
            </a:r>
            <a:r>
              <a:rPr lang="zh-CN" altLang="en-US" b="1" dirty="0">
                <a:solidFill>
                  <a:schemeClr val="accent2">
                    <a:lumMod val="50000"/>
                  </a:schemeClr>
                </a:solidFill>
                <a:latin typeface="楷体" panose="02010609060101010101" pitchFamily="49" charset="-122"/>
                <a:ea typeface="楷体" panose="02010609060101010101" pitchFamily="49" charset="-122"/>
              </a:rPr>
              <a:t>问题和</a:t>
            </a:r>
            <a:r>
              <a:rPr lang="zh-CN" altLang="en-US" b="1" dirty="0">
                <a:solidFill>
                  <a:srgbClr val="C00000"/>
                </a:solidFill>
                <a:latin typeface="+mn-ea"/>
              </a:rPr>
              <a:t>组合优化</a:t>
            </a:r>
            <a:r>
              <a:rPr lang="zh-CN" altLang="en-US" b="1" dirty="0">
                <a:solidFill>
                  <a:schemeClr val="accent2">
                    <a:lumMod val="50000"/>
                  </a:schemeClr>
                </a:solidFill>
                <a:latin typeface="楷体" panose="02010609060101010101" pitchFamily="49" charset="-122"/>
                <a:ea typeface="楷体" panose="02010609060101010101" pitchFamily="49" charset="-122"/>
              </a:rPr>
              <a:t>问题</a:t>
            </a:r>
          </a:p>
        </p:txBody>
      </p:sp>
      <p:sp>
        <p:nvSpPr>
          <p:cNvPr id="3" name="文本框 2"/>
          <p:cNvSpPr txBox="1"/>
          <p:nvPr/>
        </p:nvSpPr>
        <p:spPr>
          <a:xfrm>
            <a:off x="2307765" y="3085898"/>
            <a:ext cx="7408509" cy="3093154"/>
          </a:xfrm>
          <a:prstGeom prst="rect">
            <a:avLst/>
          </a:prstGeom>
          <a:solidFill>
            <a:schemeClr val="accent5">
              <a:lumMod val="20000"/>
              <a:lumOff val="80000"/>
              <a:alpha val="25000"/>
            </a:schemeClr>
          </a:solidFill>
        </p:spPr>
        <p:txBody>
          <a:bodyPr wrap="square" rtlCol="0">
            <a:spAutoFit/>
          </a:bodyPr>
          <a:lstStyle/>
          <a:p>
            <a:pPr>
              <a:spcBef>
                <a:spcPts val="600"/>
              </a:spcBef>
              <a:spcAft>
                <a:spcPts val="300"/>
              </a:spcAft>
            </a:pPr>
            <a:r>
              <a:rPr lang="zh-CN" altLang="en-US" sz="2000" b="1" dirty="0">
                <a:latin typeface="楷体" panose="02010609060101010101" pitchFamily="49" charset="-122"/>
                <a:ea typeface="楷体" panose="02010609060101010101" pitchFamily="49" charset="-122"/>
              </a:rPr>
              <a:t>课程主要讨论</a:t>
            </a:r>
            <a:r>
              <a:rPr lang="zh-CN" altLang="en-US" sz="2000" b="1" dirty="0">
                <a:solidFill>
                  <a:srgbClr val="C00000"/>
                </a:solidFill>
                <a:latin typeface="+mn-ea"/>
              </a:rPr>
              <a:t>组合计数</a:t>
            </a:r>
            <a:r>
              <a:rPr lang="zh-CN" altLang="en-US" sz="2000" b="1" dirty="0">
                <a:latin typeface="楷体" panose="02010609060101010101" pitchFamily="49" charset="-122"/>
                <a:ea typeface="楷体" panose="02010609060101010101" pitchFamily="49" charset="-122"/>
              </a:rPr>
              <a:t>问题和</a:t>
            </a:r>
            <a:r>
              <a:rPr lang="zh-CN" altLang="en-US" sz="2000" b="1" dirty="0">
                <a:solidFill>
                  <a:srgbClr val="C00000"/>
                </a:solidFill>
                <a:latin typeface="+mn-ea"/>
              </a:rPr>
              <a:t>组合枚举</a:t>
            </a:r>
            <a:r>
              <a:rPr lang="zh-CN" altLang="en-US" sz="2000" b="1" dirty="0">
                <a:latin typeface="楷体" panose="02010609060101010101" pitchFamily="49" charset="-122"/>
                <a:ea typeface="楷体" panose="02010609060101010101" pitchFamily="49" charset="-122"/>
              </a:rPr>
              <a:t>问题</a:t>
            </a:r>
          </a:p>
          <a:p>
            <a:pPr marL="285750" indent="-285750">
              <a:spcBef>
                <a:spcPts val="600"/>
              </a:spcBef>
              <a:spcAft>
                <a:spcPts val="300"/>
              </a:spcAft>
              <a:buFont typeface="Arial" panose="020B0604020202020204" pitchFamily="34" charset="0"/>
              <a:buChar char="•"/>
            </a:pPr>
            <a:r>
              <a:rPr lang="zh-CN" altLang="en-US" b="1" dirty="0">
                <a:solidFill>
                  <a:schemeClr val="accent6">
                    <a:lumMod val="50000"/>
                  </a:schemeClr>
                </a:solidFill>
              </a:rPr>
              <a:t>基本计数原理和组合存在性原理</a:t>
            </a:r>
          </a:p>
          <a:p>
            <a:pPr marL="742950" lvl="1" indent="-285750">
              <a:lnSpc>
                <a:spcPts val="2400"/>
              </a:lnSpc>
              <a:spcBef>
                <a:spcPts val="600"/>
              </a:spcBef>
              <a:spcAft>
                <a:spcPts val="300"/>
              </a:spcAft>
              <a:buFont typeface="Arial" panose="020B0604020202020204" pitchFamily="34" charset="0"/>
              <a:buChar char="•"/>
            </a:pPr>
            <a:r>
              <a:rPr lang="zh-CN" altLang="en-US" b="1" dirty="0">
                <a:solidFill>
                  <a:srgbClr val="C00000"/>
                </a:solidFill>
                <a:latin typeface="+mn-ea"/>
              </a:rPr>
              <a:t>加法原理</a:t>
            </a:r>
            <a:r>
              <a:rPr lang="zh-CN" altLang="en-US" b="1" dirty="0">
                <a:solidFill>
                  <a:schemeClr val="accent2">
                    <a:lumMod val="50000"/>
                  </a:schemeClr>
                </a:solidFill>
                <a:latin typeface="楷体" panose="02010609060101010101" pitchFamily="49" charset="-122"/>
                <a:ea typeface="楷体" panose="02010609060101010101" pitchFamily="49" charset="-122"/>
              </a:rPr>
              <a:t>和</a:t>
            </a:r>
            <a:r>
              <a:rPr lang="zh-CN" altLang="en-US" b="1" dirty="0">
                <a:solidFill>
                  <a:srgbClr val="C00000"/>
                </a:solidFill>
                <a:latin typeface="+mn-ea"/>
              </a:rPr>
              <a:t>乘法原理</a:t>
            </a:r>
            <a:r>
              <a:rPr lang="zh-CN" altLang="en-US" b="1" dirty="0">
                <a:solidFill>
                  <a:schemeClr val="accent2">
                    <a:lumMod val="50000"/>
                  </a:schemeClr>
                </a:solidFill>
                <a:latin typeface="楷体" panose="02010609060101010101" pitchFamily="49" charset="-122"/>
                <a:ea typeface="楷体" panose="02010609060101010101" pitchFamily="49" charset="-122"/>
              </a:rPr>
              <a:t>给出对集合元素计数的基本思维方式，即分类处理和分步处理，从而将计数问题进行分解和模块化</a:t>
            </a:r>
          </a:p>
          <a:p>
            <a:pPr marL="742950" lvl="1" indent="-285750">
              <a:spcBef>
                <a:spcPts val="600"/>
              </a:spcBef>
              <a:spcAft>
                <a:spcPts val="300"/>
              </a:spcAft>
              <a:buFont typeface="Arial" panose="020B0604020202020204" pitchFamily="34" charset="0"/>
              <a:buChar char="•"/>
            </a:pPr>
            <a:r>
              <a:rPr lang="zh-CN" altLang="en-US" b="1" dirty="0">
                <a:solidFill>
                  <a:srgbClr val="C00000"/>
                </a:solidFill>
                <a:latin typeface="+mn-ea"/>
              </a:rPr>
              <a:t>容斥原理</a:t>
            </a:r>
            <a:r>
              <a:rPr lang="zh-CN" altLang="en-US" b="1" dirty="0">
                <a:solidFill>
                  <a:schemeClr val="accent2">
                    <a:lumMod val="50000"/>
                  </a:schemeClr>
                </a:solidFill>
                <a:latin typeface="楷体" panose="02010609060101010101" pitchFamily="49" charset="-122"/>
                <a:ea typeface="楷体" panose="02010609060101010101" pitchFamily="49" charset="-122"/>
              </a:rPr>
              <a:t>用于计数集合中满足某些性质或不满足某些性质的元素</a:t>
            </a:r>
          </a:p>
          <a:p>
            <a:pPr marL="742950" lvl="1" indent="-285750">
              <a:spcBef>
                <a:spcPts val="600"/>
              </a:spcBef>
              <a:spcAft>
                <a:spcPts val="300"/>
              </a:spcAft>
              <a:buFont typeface="Arial" panose="020B0604020202020204" pitchFamily="34" charset="0"/>
              <a:buChar char="•"/>
            </a:pPr>
            <a:r>
              <a:rPr lang="zh-CN" altLang="en-US" b="1" dirty="0">
                <a:solidFill>
                  <a:srgbClr val="C00000"/>
                </a:solidFill>
                <a:latin typeface="+mn-ea"/>
              </a:rPr>
              <a:t>抽屉原理</a:t>
            </a:r>
            <a:r>
              <a:rPr lang="zh-CN" altLang="en-US" b="1" dirty="0">
                <a:solidFill>
                  <a:schemeClr val="accent2">
                    <a:lumMod val="50000"/>
                  </a:schemeClr>
                </a:solidFill>
                <a:latin typeface="楷体" panose="02010609060101010101" pitchFamily="49" charset="-122"/>
                <a:ea typeface="楷体" panose="02010609060101010101" pitchFamily="49" charset="-122"/>
              </a:rPr>
              <a:t>是一种组合存在性原理，用于证明某种离散结构的存在</a:t>
            </a:r>
          </a:p>
          <a:p>
            <a:pPr marL="285750" indent="-285750">
              <a:spcBef>
                <a:spcPts val="600"/>
              </a:spcBef>
              <a:spcAft>
                <a:spcPts val="300"/>
              </a:spcAft>
              <a:buFont typeface="Arial" panose="020B0604020202020204" pitchFamily="34" charset="0"/>
              <a:buChar char="•"/>
            </a:pPr>
            <a:r>
              <a:rPr lang="zh-CN" altLang="en-US" b="1" dirty="0">
                <a:solidFill>
                  <a:schemeClr val="accent6">
                    <a:lumMod val="50000"/>
                  </a:schemeClr>
                </a:solidFill>
              </a:rPr>
              <a:t>基本的组合计数模型，即</a:t>
            </a:r>
            <a:r>
              <a:rPr lang="zh-CN" altLang="en-US" b="1" dirty="0">
                <a:solidFill>
                  <a:srgbClr val="C00000"/>
                </a:solidFill>
                <a:latin typeface="+mn-ea"/>
              </a:rPr>
              <a:t>排列与组合</a:t>
            </a:r>
          </a:p>
          <a:p>
            <a:pPr marL="285750" indent="-285750">
              <a:spcBef>
                <a:spcPts val="600"/>
              </a:spcBef>
              <a:spcAft>
                <a:spcPts val="300"/>
              </a:spcAft>
              <a:buFont typeface="Arial" panose="020B0604020202020204" pitchFamily="34" charset="0"/>
              <a:buChar char="•"/>
            </a:pPr>
            <a:r>
              <a:rPr lang="zh-CN" altLang="en-US" b="1" dirty="0">
                <a:solidFill>
                  <a:srgbClr val="C00000"/>
                </a:solidFill>
                <a:latin typeface="+mn-ea"/>
              </a:rPr>
              <a:t>递推关系式</a:t>
            </a:r>
            <a:r>
              <a:rPr lang="zh-CN" altLang="en-US" b="1" dirty="0">
                <a:solidFill>
                  <a:schemeClr val="accent6">
                    <a:lumMod val="50000"/>
                  </a:schemeClr>
                </a:solidFill>
              </a:rPr>
              <a:t>建模和线性递推关系式求解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导入计数原理的例子</a:t>
            </a:r>
          </a:p>
        </p:txBody>
      </p:sp>
      <p:sp>
        <p:nvSpPr>
          <p:cNvPr id="3" name="文本框 2"/>
          <p:cNvSpPr txBox="1"/>
          <p:nvPr/>
        </p:nvSpPr>
        <p:spPr>
          <a:xfrm>
            <a:off x="684151" y="2878705"/>
            <a:ext cx="10979381" cy="138499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小强晚饭准备选择中式快餐</a:t>
            </a:r>
            <a:r>
              <a:rPr lang="zh-CN" altLang="en-US" sz="2400" b="1">
                <a:solidFill>
                  <a:srgbClr val="C00000"/>
                </a:solidFill>
                <a:latin typeface="楷体" panose="02010609060101010101" pitchFamily="49" charset="-122"/>
                <a:ea typeface="楷体" panose="02010609060101010101" pitchFamily="49" charset="-122"/>
              </a:rPr>
              <a:t>或</a:t>
            </a:r>
            <a:r>
              <a:rPr lang="zh-CN" altLang="en-US" sz="2400" b="1">
                <a:solidFill>
                  <a:srgbClr val="002060"/>
                </a:solidFill>
                <a:latin typeface="楷体" panose="02010609060101010101" pitchFamily="49" charset="-122"/>
                <a:ea typeface="楷体" panose="02010609060101010101" pitchFamily="49" charset="-122"/>
              </a:rPr>
              <a:t>西式快餐，他共有几种可选方案？</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中式快餐附近可选粤式茶餐厅、湘菜馆、川菜馆、福建风味馆、陕西风味馆、山西风味馆之一</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西式快餐附近可选麦当劳、肯德基、必胜客、汉堡王之一</a:t>
            </a:r>
          </a:p>
        </p:txBody>
      </p:sp>
      <p:sp>
        <p:nvSpPr>
          <p:cNvPr id="11" name="文本框 10"/>
          <p:cNvSpPr txBox="1"/>
          <p:nvPr/>
        </p:nvSpPr>
        <p:spPr>
          <a:xfrm>
            <a:off x="684149" y="1302899"/>
            <a:ext cx="8665969" cy="92333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原理</a:t>
            </a:r>
            <a:r>
              <a:rPr lang="en-US" altLang="zh-CN" sz="2400" b="1">
                <a:solidFill>
                  <a:schemeClr val="accent2">
                    <a:lumMod val="50000"/>
                  </a:schemeClr>
                </a:solidFill>
              </a:rPr>
              <a:t>(principle)</a:t>
            </a:r>
            <a:r>
              <a:rPr lang="zh-CN" altLang="en-US" sz="2400" b="1">
                <a:solidFill>
                  <a:schemeClr val="accent2">
                    <a:lumMod val="50000"/>
                  </a:schemeClr>
                </a:solidFill>
              </a:rPr>
              <a:t>是指一种</a:t>
            </a:r>
            <a:r>
              <a:rPr lang="zh-CN" altLang="en-US" sz="2400" b="1">
                <a:solidFill>
                  <a:srgbClr val="C00000"/>
                </a:solidFill>
              </a:rPr>
              <a:t>行动法则</a:t>
            </a:r>
            <a:r>
              <a:rPr lang="en-US" altLang="zh-CN" sz="2400" b="1">
                <a:solidFill>
                  <a:schemeClr val="accent2">
                    <a:lumMod val="50000"/>
                  </a:schemeClr>
                </a:solidFill>
              </a:rPr>
              <a:t>(rule of action)</a:t>
            </a:r>
          </a:p>
          <a:p>
            <a:pPr>
              <a:spcBef>
                <a:spcPts val="600"/>
              </a:spcBef>
              <a:spcAft>
                <a:spcPts val="600"/>
              </a:spcAft>
            </a:pPr>
            <a:r>
              <a:rPr lang="zh-CN" altLang="en-US" sz="2000" b="1">
                <a:solidFill>
                  <a:srgbClr val="C00000"/>
                </a:solidFill>
                <a:latin typeface="+mn-ea"/>
              </a:rPr>
              <a:t>加法原理</a:t>
            </a:r>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C00000"/>
                </a:solidFill>
                <a:latin typeface="+mn-ea"/>
              </a:rPr>
              <a:t>乘法原理</a:t>
            </a:r>
            <a:r>
              <a:rPr lang="zh-CN" altLang="en-US" sz="2000" b="1">
                <a:solidFill>
                  <a:srgbClr val="002060"/>
                </a:solidFill>
                <a:latin typeface="楷体" panose="02010609060101010101" pitchFamily="49" charset="-122"/>
                <a:ea typeface="楷体" panose="02010609060101010101" pitchFamily="49" charset="-122"/>
              </a:rPr>
              <a:t>是求解计数问题最基本法则，体现计数的基本思维方式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导入计数原理的例子</a:t>
            </a:r>
          </a:p>
        </p:txBody>
      </p:sp>
      <p:sp>
        <p:nvSpPr>
          <p:cNvPr id="3" name="文本框 2"/>
          <p:cNvSpPr txBox="1"/>
          <p:nvPr/>
        </p:nvSpPr>
        <p:spPr>
          <a:xfrm>
            <a:off x="684151" y="2878705"/>
            <a:ext cx="10979381" cy="138499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小强晚饭准备选择中式快餐</a:t>
            </a:r>
            <a:r>
              <a:rPr lang="zh-CN" altLang="en-US" sz="2400" b="1">
                <a:solidFill>
                  <a:srgbClr val="C00000"/>
                </a:solidFill>
                <a:latin typeface="楷体" panose="02010609060101010101" pitchFamily="49" charset="-122"/>
                <a:ea typeface="楷体" panose="02010609060101010101" pitchFamily="49" charset="-122"/>
              </a:rPr>
              <a:t>或</a:t>
            </a:r>
            <a:r>
              <a:rPr lang="zh-CN" altLang="en-US" sz="2400" b="1">
                <a:solidFill>
                  <a:srgbClr val="002060"/>
                </a:solidFill>
                <a:latin typeface="楷体" panose="02010609060101010101" pitchFamily="49" charset="-122"/>
                <a:ea typeface="楷体" panose="02010609060101010101" pitchFamily="49" charset="-122"/>
              </a:rPr>
              <a:t>西式快餐，他共有几种可选方案？</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中式快餐附近可选粤式茶餐厅、湘菜馆、川菜馆、福建风味馆、陕西风味馆、山西风味馆之一</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西式快餐附近可选麦当劳、肯德基、必胜客、汉堡王之一</a:t>
            </a:r>
          </a:p>
        </p:txBody>
      </p:sp>
      <mc:AlternateContent xmlns:mc="http://schemas.openxmlformats.org/markup-compatibility/2006" xmlns:a14="http://schemas.microsoft.com/office/drawing/2010/main">
        <mc:Choice Requires="a14">
          <p:sp>
            <p:nvSpPr>
              <p:cNvPr id="4" name="文本框 3"/>
              <p:cNvSpPr txBox="1"/>
              <p:nvPr/>
            </p:nvSpPr>
            <p:spPr>
              <a:xfrm>
                <a:off x="684151" y="4494340"/>
                <a:ext cx="7769115" cy="1384995"/>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chemeClr val="accent4">
                        <a:lumMod val="50000"/>
                      </a:schemeClr>
                    </a:solidFill>
                  </a:rPr>
                  <a:t>使用</a:t>
                </a:r>
                <a:r>
                  <a:rPr lang="zh-CN" altLang="en-US" sz="2400" b="1">
                    <a:solidFill>
                      <a:srgbClr val="C00000"/>
                    </a:solidFill>
                  </a:rPr>
                  <a:t>加法原理</a:t>
                </a:r>
                <a:r>
                  <a:rPr lang="zh-CN" altLang="en-US" sz="2400" b="1">
                    <a:solidFill>
                      <a:schemeClr val="accent4">
                        <a:lumMod val="50000"/>
                      </a:schemeClr>
                    </a:solidFill>
                  </a:rPr>
                  <a:t>进行计数</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中式快餐有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𝟔</m:t>
                    </m:r>
                  </m:oMath>
                </a14:m>
                <a:r>
                  <a:rPr lang="zh-CN" altLang="en-US" sz="2000" b="1">
                    <a:solidFill>
                      <a:srgbClr val="002060"/>
                    </a:solidFill>
                    <a:latin typeface="楷体" panose="02010609060101010101" pitchFamily="49" charset="-122"/>
                    <a:ea typeface="楷体" panose="02010609060101010101" pitchFamily="49" charset="-122"/>
                  </a:rPr>
                  <a:t>种选择、西式快餐有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𝟒</m:t>
                    </m:r>
                  </m:oMath>
                </a14:m>
                <a:r>
                  <a:rPr lang="zh-CN" altLang="en-US" sz="2000" b="1">
                    <a:solidFill>
                      <a:srgbClr val="002060"/>
                    </a:solidFill>
                    <a:latin typeface="楷体" panose="02010609060101010101" pitchFamily="49" charset="-122"/>
                    <a:ea typeface="楷体" panose="02010609060101010101" pitchFamily="49" charset="-122"/>
                  </a:rPr>
                  <a:t>种选择</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选择中式快餐或西式快餐中的一种，因此共有</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𝟔</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𝟒</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𝟏𝟎</m:t>
                    </m:r>
                  </m:oMath>
                </a14:m>
                <a:r>
                  <a:rPr lang="zh-CN" altLang="en-US" sz="2000" b="1">
                    <a:solidFill>
                      <a:srgbClr val="002060"/>
                    </a:solidFill>
                    <a:latin typeface="楷体" panose="02010609060101010101" pitchFamily="49" charset="-122"/>
                    <a:ea typeface="楷体" panose="02010609060101010101" pitchFamily="49" charset="-122"/>
                  </a:rPr>
                  <a:t>种选择</a:t>
                </a:r>
              </a:p>
            </p:txBody>
          </p:sp>
        </mc:Choice>
        <mc:Fallback xmlns="">
          <p:sp>
            <p:nvSpPr>
              <p:cNvPr id="4" name="文本框 3"/>
              <p:cNvSpPr txBox="1">
                <a:spLocks noRot="1" noChangeAspect="1" noMove="1" noResize="1" noEditPoints="1" noAdjustHandles="1" noChangeArrowheads="1" noChangeShapeType="1" noTextEdit="1"/>
              </p:cNvSpPr>
              <p:nvPr/>
            </p:nvSpPr>
            <p:spPr>
              <a:xfrm>
                <a:off x="684151" y="4494340"/>
                <a:ext cx="7769115" cy="1384995"/>
              </a:xfrm>
              <a:prstGeom prst="rect">
                <a:avLst/>
              </a:prstGeom>
              <a:blipFill rotWithShape="1">
                <a:blip r:embed="rId2"/>
                <a:stretch>
                  <a:fillRect l="-3" t="-32" r="2" b="36"/>
                </a:stretch>
              </a:blipFill>
            </p:spPr>
            <p:txBody>
              <a:bodyPr/>
              <a:lstStyle/>
              <a:p>
                <a:r>
                  <a:rPr lang="zh-CN" altLang="en-US">
                    <a:noFill/>
                  </a:rPr>
                  <a:t> </a:t>
                </a:r>
              </a:p>
            </p:txBody>
          </p:sp>
        </mc:Fallback>
      </mc:AlternateContent>
      <p:sp>
        <p:nvSpPr>
          <p:cNvPr id="11" name="文本框 10"/>
          <p:cNvSpPr txBox="1"/>
          <p:nvPr/>
        </p:nvSpPr>
        <p:spPr>
          <a:xfrm>
            <a:off x="684149" y="1302899"/>
            <a:ext cx="8665969" cy="92333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原理</a:t>
            </a:r>
            <a:r>
              <a:rPr lang="en-US" altLang="zh-CN" sz="2400" b="1">
                <a:solidFill>
                  <a:schemeClr val="accent2">
                    <a:lumMod val="50000"/>
                  </a:schemeClr>
                </a:solidFill>
              </a:rPr>
              <a:t>(principle)</a:t>
            </a:r>
            <a:r>
              <a:rPr lang="zh-CN" altLang="en-US" sz="2400" b="1">
                <a:solidFill>
                  <a:schemeClr val="accent2">
                    <a:lumMod val="50000"/>
                  </a:schemeClr>
                </a:solidFill>
              </a:rPr>
              <a:t>是指一种</a:t>
            </a:r>
            <a:r>
              <a:rPr lang="zh-CN" altLang="en-US" sz="2400" b="1">
                <a:solidFill>
                  <a:srgbClr val="C00000"/>
                </a:solidFill>
              </a:rPr>
              <a:t>行动法则</a:t>
            </a:r>
            <a:r>
              <a:rPr lang="en-US" altLang="zh-CN" sz="2400" b="1">
                <a:solidFill>
                  <a:schemeClr val="accent2">
                    <a:lumMod val="50000"/>
                  </a:schemeClr>
                </a:solidFill>
              </a:rPr>
              <a:t>(rule of action)</a:t>
            </a:r>
          </a:p>
          <a:p>
            <a:pPr>
              <a:spcBef>
                <a:spcPts val="600"/>
              </a:spcBef>
              <a:spcAft>
                <a:spcPts val="600"/>
              </a:spcAft>
            </a:pPr>
            <a:r>
              <a:rPr lang="zh-CN" altLang="en-US" sz="2000" b="1">
                <a:solidFill>
                  <a:srgbClr val="C00000"/>
                </a:solidFill>
                <a:latin typeface="+mn-ea"/>
              </a:rPr>
              <a:t>加法原理</a:t>
            </a:r>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C00000"/>
                </a:solidFill>
                <a:latin typeface="+mn-ea"/>
              </a:rPr>
              <a:t>乘法原理</a:t>
            </a:r>
            <a:r>
              <a:rPr lang="zh-CN" altLang="en-US" sz="2000" b="1">
                <a:solidFill>
                  <a:srgbClr val="002060"/>
                </a:solidFill>
                <a:latin typeface="楷体" panose="02010609060101010101" pitchFamily="49" charset="-122"/>
                <a:ea typeface="楷体" panose="02010609060101010101" pitchFamily="49" charset="-122"/>
              </a:rPr>
              <a:t>是求解计数问题最基本法则，体现计数的基本思维方式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导入计数原理的例子</a:t>
            </a:r>
          </a:p>
        </p:txBody>
      </p:sp>
      <p:sp>
        <p:nvSpPr>
          <p:cNvPr id="2" name="文本框 1"/>
          <p:cNvSpPr txBox="1"/>
          <p:nvPr/>
        </p:nvSpPr>
        <p:spPr>
          <a:xfrm>
            <a:off x="684149" y="1302899"/>
            <a:ext cx="8665969" cy="92333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原理</a:t>
            </a:r>
            <a:r>
              <a:rPr lang="en-US" altLang="zh-CN" sz="2400" b="1">
                <a:solidFill>
                  <a:schemeClr val="accent2">
                    <a:lumMod val="50000"/>
                  </a:schemeClr>
                </a:solidFill>
              </a:rPr>
              <a:t>(principle)</a:t>
            </a:r>
            <a:r>
              <a:rPr lang="zh-CN" altLang="en-US" sz="2400" b="1">
                <a:solidFill>
                  <a:schemeClr val="accent2">
                    <a:lumMod val="50000"/>
                  </a:schemeClr>
                </a:solidFill>
              </a:rPr>
              <a:t>是指一种</a:t>
            </a:r>
            <a:r>
              <a:rPr lang="zh-CN" altLang="en-US" sz="2400" b="1">
                <a:solidFill>
                  <a:srgbClr val="C00000"/>
                </a:solidFill>
              </a:rPr>
              <a:t>行动法则</a:t>
            </a:r>
            <a:r>
              <a:rPr lang="en-US" altLang="zh-CN" sz="2400" b="1">
                <a:solidFill>
                  <a:schemeClr val="accent2">
                    <a:lumMod val="50000"/>
                  </a:schemeClr>
                </a:solidFill>
              </a:rPr>
              <a:t>(rule of action)</a:t>
            </a:r>
          </a:p>
          <a:p>
            <a:pPr>
              <a:spcBef>
                <a:spcPts val="600"/>
              </a:spcBef>
              <a:spcAft>
                <a:spcPts val="600"/>
              </a:spcAft>
            </a:pPr>
            <a:r>
              <a:rPr lang="zh-CN" altLang="en-US" sz="2000" b="1">
                <a:solidFill>
                  <a:srgbClr val="C00000"/>
                </a:solidFill>
                <a:latin typeface="+mn-ea"/>
              </a:rPr>
              <a:t>加法原理</a:t>
            </a:r>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C00000"/>
                </a:solidFill>
                <a:latin typeface="+mn-ea"/>
              </a:rPr>
              <a:t>乘法原理</a:t>
            </a:r>
            <a:r>
              <a:rPr lang="zh-CN" altLang="en-US" sz="2000" b="1">
                <a:solidFill>
                  <a:srgbClr val="002060"/>
                </a:solidFill>
                <a:latin typeface="楷体" panose="02010609060101010101" pitchFamily="49" charset="-122"/>
                <a:ea typeface="楷体" panose="02010609060101010101" pitchFamily="49" charset="-122"/>
              </a:rPr>
              <a:t>是求解计数问题最基本法则，体现计数的基本思维方式</a:t>
            </a:r>
          </a:p>
        </p:txBody>
      </p:sp>
      <p:sp>
        <p:nvSpPr>
          <p:cNvPr id="3" name="文本框 2"/>
          <p:cNvSpPr txBox="1"/>
          <p:nvPr/>
        </p:nvSpPr>
        <p:spPr>
          <a:xfrm>
            <a:off x="684149" y="2421031"/>
            <a:ext cx="10900444" cy="2092881"/>
          </a:xfrm>
          <a:prstGeom prst="rect">
            <a:avLst/>
          </a:prstGeom>
          <a:solidFill>
            <a:schemeClr val="accent6">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小强准备在粤式茶餐厅选择一肉、一素、一汤和一主食的自主搭配套餐，他共有几种搭配方案？</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肉菜可选烧鹅、烧鸭、白切鸡、叉烧和蒸鱼之一</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素菜可选卷心菜、通心菜、生菜和油麦菜之一</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汤可选排骨汤、土鸡汤和鱼头汤之一</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主食可选蛋炒饭、炒粉、炒面和白米饭之一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导入计数原理的例子</a:t>
            </a:r>
          </a:p>
        </p:txBody>
      </p:sp>
      <p:sp>
        <p:nvSpPr>
          <p:cNvPr id="2" name="文本框 1"/>
          <p:cNvSpPr txBox="1"/>
          <p:nvPr/>
        </p:nvSpPr>
        <p:spPr>
          <a:xfrm>
            <a:off x="684149" y="1302899"/>
            <a:ext cx="8665969" cy="92333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原理</a:t>
            </a:r>
            <a:r>
              <a:rPr lang="en-US" altLang="zh-CN" sz="2400" b="1">
                <a:solidFill>
                  <a:schemeClr val="accent2">
                    <a:lumMod val="50000"/>
                  </a:schemeClr>
                </a:solidFill>
              </a:rPr>
              <a:t>(principle)</a:t>
            </a:r>
            <a:r>
              <a:rPr lang="zh-CN" altLang="en-US" sz="2400" b="1">
                <a:solidFill>
                  <a:schemeClr val="accent2">
                    <a:lumMod val="50000"/>
                  </a:schemeClr>
                </a:solidFill>
              </a:rPr>
              <a:t>是指一种</a:t>
            </a:r>
            <a:r>
              <a:rPr lang="zh-CN" altLang="en-US" sz="2400" b="1">
                <a:solidFill>
                  <a:srgbClr val="C00000"/>
                </a:solidFill>
              </a:rPr>
              <a:t>行动法则</a:t>
            </a:r>
            <a:r>
              <a:rPr lang="en-US" altLang="zh-CN" sz="2400" b="1">
                <a:solidFill>
                  <a:schemeClr val="accent2">
                    <a:lumMod val="50000"/>
                  </a:schemeClr>
                </a:solidFill>
              </a:rPr>
              <a:t>(rule of action)</a:t>
            </a:r>
          </a:p>
          <a:p>
            <a:pPr>
              <a:spcBef>
                <a:spcPts val="600"/>
              </a:spcBef>
              <a:spcAft>
                <a:spcPts val="600"/>
              </a:spcAft>
            </a:pPr>
            <a:r>
              <a:rPr lang="zh-CN" altLang="en-US" sz="2000" b="1">
                <a:solidFill>
                  <a:srgbClr val="C00000"/>
                </a:solidFill>
                <a:latin typeface="+mn-ea"/>
              </a:rPr>
              <a:t>加法原理</a:t>
            </a:r>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C00000"/>
                </a:solidFill>
                <a:latin typeface="+mn-ea"/>
              </a:rPr>
              <a:t>乘法原理</a:t>
            </a:r>
            <a:r>
              <a:rPr lang="zh-CN" altLang="en-US" sz="2000" b="1">
                <a:solidFill>
                  <a:srgbClr val="002060"/>
                </a:solidFill>
                <a:latin typeface="楷体" panose="02010609060101010101" pitchFamily="49" charset="-122"/>
                <a:ea typeface="楷体" panose="02010609060101010101" pitchFamily="49" charset="-122"/>
              </a:rPr>
              <a:t>是求解计数问题最基本法则，体现计数的基本思维方式</a:t>
            </a:r>
          </a:p>
        </p:txBody>
      </p:sp>
      <p:sp>
        <p:nvSpPr>
          <p:cNvPr id="3" name="文本框 2"/>
          <p:cNvSpPr txBox="1"/>
          <p:nvPr/>
        </p:nvSpPr>
        <p:spPr>
          <a:xfrm>
            <a:off x="684149" y="2421031"/>
            <a:ext cx="10900444" cy="2092881"/>
          </a:xfrm>
          <a:prstGeom prst="rect">
            <a:avLst/>
          </a:prstGeom>
          <a:solidFill>
            <a:schemeClr val="accent6">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小强准备在粤式茶餐厅选择一肉、一素、一汤和一主食的自主搭配套餐，他共有几种搭配方案？</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肉菜可选烧鹅、烧鸭、白切鸡、叉烧和蒸鱼之一</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素菜可选卷心菜、通心菜、生菜和油麦菜之一</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汤可选排骨汤、土鸡汤和鱼头汤之一</a:t>
            </a:r>
          </a:p>
          <a:p>
            <a:pPr marL="342900" indent="-342900">
              <a:spcBef>
                <a:spcPts val="600"/>
              </a:spcBef>
              <a:spcAft>
                <a:spcPts val="300"/>
              </a:spcAft>
              <a:buFont typeface="Arial" panose="020B0604020202020204" pitchFamily="34" charset="0"/>
              <a:buChar char="•"/>
            </a:pPr>
            <a:r>
              <a:rPr lang="zh-CN" altLang="en-US" sz="2000" b="1">
                <a:solidFill>
                  <a:schemeClr val="tx2">
                    <a:lumMod val="50000"/>
                  </a:schemeClr>
                </a:solidFill>
              </a:rPr>
              <a:t>主食可选蛋炒饭、炒粉、炒面和白米饭之一</a:t>
            </a:r>
          </a:p>
        </p:txBody>
      </p:sp>
      <mc:AlternateContent xmlns:mc="http://schemas.openxmlformats.org/markup-compatibility/2006" xmlns:a14="http://schemas.microsoft.com/office/drawing/2010/main">
        <mc:Choice Requires="a14">
          <p:sp>
            <p:nvSpPr>
              <p:cNvPr id="4" name="文本框 3"/>
              <p:cNvSpPr txBox="1"/>
              <p:nvPr/>
            </p:nvSpPr>
            <p:spPr>
              <a:xfrm>
                <a:off x="684149" y="4679023"/>
                <a:ext cx="10578101" cy="1384995"/>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chemeClr val="accent4">
                        <a:lumMod val="50000"/>
                      </a:schemeClr>
                    </a:solidFill>
                  </a:rPr>
                  <a:t>使用</a:t>
                </a:r>
                <a:r>
                  <a:rPr lang="zh-CN" altLang="en-US" sz="2400" b="1">
                    <a:solidFill>
                      <a:srgbClr val="C00000"/>
                    </a:solidFill>
                  </a:rPr>
                  <a:t>乘法原理</a:t>
                </a:r>
                <a:r>
                  <a:rPr lang="zh-CN" altLang="en-US" sz="2400" b="1">
                    <a:solidFill>
                      <a:schemeClr val="accent4">
                        <a:lumMod val="50000"/>
                      </a:schemeClr>
                    </a:solidFill>
                  </a:rPr>
                  <a:t>进行计数</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肉菜有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𝟓</m:t>
                    </m:r>
                  </m:oMath>
                </a14:m>
                <a:r>
                  <a:rPr lang="zh-CN" altLang="en-US" sz="2000" b="1">
                    <a:solidFill>
                      <a:srgbClr val="002060"/>
                    </a:solidFill>
                    <a:latin typeface="楷体" panose="02010609060101010101" pitchFamily="49" charset="-122"/>
                    <a:ea typeface="楷体" panose="02010609060101010101" pitchFamily="49" charset="-122"/>
                  </a:rPr>
                  <a:t>种选择、素菜有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𝟒</m:t>
                    </m:r>
                  </m:oMath>
                </a14:m>
                <a:r>
                  <a:rPr lang="zh-CN" altLang="en-US" sz="2000" b="1">
                    <a:solidFill>
                      <a:srgbClr val="002060"/>
                    </a:solidFill>
                    <a:latin typeface="楷体" panose="02010609060101010101" pitchFamily="49" charset="-122"/>
                    <a:ea typeface="楷体" panose="02010609060101010101" pitchFamily="49" charset="-122"/>
                  </a:rPr>
                  <a:t>种选择，汤有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𝟑</m:t>
                    </m:r>
                  </m:oMath>
                </a14:m>
                <a:r>
                  <a:rPr lang="zh-CN" altLang="en-US" sz="2000" b="1">
                    <a:solidFill>
                      <a:srgbClr val="002060"/>
                    </a:solidFill>
                    <a:latin typeface="楷体" panose="02010609060101010101" pitchFamily="49" charset="-122"/>
                    <a:ea typeface="楷体" panose="02010609060101010101" pitchFamily="49" charset="-122"/>
                  </a:rPr>
                  <a:t>种选择，主食有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𝟒</m:t>
                    </m:r>
                  </m:oMath>
                </a14:m>
                <a:r>
                  <a:rPr lang="zh-CN" altLang="en-US" sz="2000" b="1">
                    <a:solidFill>
                      <a:srgbClr val="002060"/>
                    </a:solidFill>
                    <a:latin typeface="楷体" panose="02010609060101010101" pitchFamily="49" charset="-122"/>
                    <a:ea typeface="楷体" panose="02010609060101010101" pitchFamily="49" charset="-122"/>
                  </a:rPr>
                  <a:t>种选择</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每种搭配方案都包括一肉、一素、一汤和一主食，可能的搭配方案有</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𝟓</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𝟒</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𝟑</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𝟒</m:t>
                    </m:r>
                    <m:r>
                      <a:rPr lang="en-US" altLang="zh-CN" sz="2000" b="1" i="1" smtClean="0">
                        <a:solidFill>
                          <a:srgbClr val="C00000"/>
                        </a:solidFill>
                        <a:latin typeface="Cambria Math" panose="02040503050406030204" pitchFamily="18" charset="0"/>
                        <a:ea typeface="楷体" panose="02010609060101010101" pitchFamily="49" charset="-122"/>
                      </a:rPr>
                      <m:t> = </m:t>
                    </m:r>
                    <m:r>
                      <a:rPr lang="en-US" altLang="zh-CN" sz="2000" b="1" i="1" smtClean="0">
                        <a:solidFill>
                          <a:srgbClr val="C00000"/>
                        </a:solidFill>
                        <a:latin typeface="Cambria Math" panose="02040503050406030204" pitchFamily="18" charset="0"/>
                        <a:ea typeface="楷体" panose="02010609060101010101" pitchFamily="49" charset="-122"/>
                      </a:rPr>
                      <m:t>𝟐𝟒𝟎</m:t>
                    </m:r>
                  </m:oMath>
                </a14:m>
                <a:r>
                  <a:rPr lang="zh-CN" altLang="en-US" sz="2000" b="1">
                    <a:solidFill>
                      <a:srgbClr val="002060"/>
                    </a:solidFill>
                    <a:latin typeface="楷体" panose="02010609060101010101" pitchFamily="49" charset="-122"/>
                    <a:ea typeface="楷体" panose="02010609060101010101" pitchFamily="49" charset="-122"/>
                  </a:rPr>
                  <a:t>个</a:t>
                </a:r>
              </a:p>
            </p:txBody>
          </p:sp>
        </mc:Choice>
        <mc:Fallback xmlns="">
          <p:sp>
            <p:nvSpPr>
              <p:cNvPr id="4" name="文本框 3"/>
              <p:cNvSpPr txBox="1">
                <a:spLocks noRot="1" noChangeAspect="1" noMove="1" noResize="1" noEditPoints="1" noAdjustHandles="1" noChangeArrowheads="1" noChangeShapeType="1" noTextEdit="1"/>
              </p:cNvSpPr>
              <p:nvPr/>
            </p:nvSpPr>
            <p:spPr>
              <a:xfrm>
                <a:off x="684149" y="4679023"/>
                <a:ext cx="10578101" cy="1384995"/>
              </a:xfrm>
              <a:prstGeom prst="rect">
                <a:avLst/>
              </a:prstGeom>
              <a:blipFill rotWithShape="1">
                <a:blip r:embed="rId2"/>
                <a:stretch>
                  <a:fillRect l="-2" t="-25" r="5" b="29"/>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计数原理的导入</a:t>
            </a:r>
          </a:p>
        </p:txBody>
      </p:sp>
      <p:sp>
        <p:nvSpPr>
          <p:cNvPr id="2" name="文本框 1"/>
          <p:cNvSpPr txBox="1"/>
          <p:nvPr/>
        </p:nvSpPr>
        <p:spPr>
          <a:xfrm>
            <a:off x="947766" y="1697271"/>
            <a:ext cx="7558726" cy="584775"/>
          </a:xfrm>
          <a:prstGeom prst="rect">
            <a:avLst/>
          </a:prstGeom>
          <a:solidFill>
            <a:schemeClr val="accent4">
              <a:lumMod val="20000"/>
              <a:lumOff val="80000"/>
            </a:schemeClr>
          </a:solidFill>
        </p:spPr>
        <p:txBody>
          <a:bodyPr wrap="square" rtlCol="0">
            <a:spAutoFit/>
          </a:bodyPr>
          <a:lstStyle/>
          <a:p>
            <a:r>
              <a:rPr lang="zh-CN" altLang="en-US" sz="3200" b="1">
                <a:solidFill>
                  <a:schemeClr val="accent2">
                    <a:lumMod val="50000"/>
                  </a:schemeClr>
                </a:solidFill>
              </a:rPr>
              <a:t>如何更严谨地描述加法原理和乘法原理？</a:t>
            </a:r>
          </a:p>
        </p:txBody>
      </p:sp>
      <p:sp>
        <p:nvSpPr>
          <p:cNvPr id="4" name="文本框 3"/>
          <p:cNvSpPr txBox="1"/>
          <p:nvPr/>
        </p:nvSpPr>
        <p:spPr>
          <a:xfrm>
            <a:off x="947767" y="2901667"/>
            <a:ext cx="9775053" cy="1046440"/>
          </a:xfrm>
          <a:prstGeom prst="rect">
            <a:avLst/>
          </a:prstGeom>
          <a:solidFill>
            <a:schemeClr val="accent5">
              <a:lumMod val="20000"/>
              <a:lumOff val="80000"/>
              <a:alpha val="50000"/>
            </a:schemeClr>
          </a:solidFill>
        </p:spPr>
        <p:txBody>
          <a:bodyPr wrap="square" rtlCol="0">
            <a:spAutoFit/>
          </a:bodyPr>
          <a:lstStyle/>
          <a:p>
            <a:pPr>
              <a:spcBef>
                <a:spcPts val="1200"/>
              </a:spcBef>
              <a:spcAft>
                <a:spcPts val="600"/>
              </a:spcAft>
            </a:pPr>
            <a:r>
              <a:rPr lang="zh-CN" altLang="en-US" sz="2800" b="1">
                <a:solidFill>
                  <a:srgbClr val="002060"/>
                </a:solidFill>
                <a:latin typeface="楷体" panose="02010609060101010101" pitchFamily="49" charset="-122"/>
                <a:ea typeface="楷体" panose="02010609060101010101" pitchFamily="49" charset="-122"/>
              </a:rPr>
              <a:t>组合数学的</a:t>
            </a:r>
            <a:r>
              <a:rPr lang="zh-CN" altLang="en-US" sz="2800" b="1">
                <a:solidFill>
                  <a:srgbClr val="C00000"/>
                </a:solidFill>
                <a:latin typeface="+mn-ea"/>
              </a:rPr>
              <a:t>计数</a:t>
            </a:r>
            <a:r>
              <a:rPr lang="en-US" altLang="zh-CN" sz="2800" b="1">
                <a:solidFill>
                  <a:srgbClr val="002060"/>
                </a:solidFill>
                <a:latin typeface="+mn-ea"/>
              </a:rPr>
              <a:t>(counting)</a:t>
            </a:r>
            <a:r>
              <a:rPr lang="zh-CN" altLang="en-US" sz="2800" b="1">
                <a:solidFill>
                  <a:srgbClr val="002060"/>
                </a:solidFill>
                <a:latin typeface="楷体" panose="02010609060101010101" pitchFamily="49" charset="-122"/>
                <a:ea typeface="楷体" panose="02010609060101010101" pitchFamily="49" charset="-122"/>
              </a:rPr>
              <a:t>是指计算某个有限集合的元素个数</a:t>
            </a:r>
            <a:endParaRPr lang="en-US" altLang="zh-CN" sz="28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这个集合给出了按照一定规则或条件对离散事物的安排或配置方法</a:t>
            </a:r>
          </a:p>
        </p:txBody>
      </p:sp>
      <p:sp>
        <p:nvSpPr>
          <p:cNvPr id="6" name="文本框 5"/>
          <p:cNvSpPr txBox="1"/>
          <p:nvPr/>
        </p:nvSpPr>
        <p:spPr>
          <a:xfrm>
            <a:off x="947766" y="4837611"/>
            <a:ext cx="10283305" cy="584775"/>
          </a:xfrm>
          <a:prstGeom prst="rect">
            <a:avLst/>
          </a:prstGeom>
          <a:solidFill>
            <a:schemeClr val="accent2">
              <a:lumMod val="20000"/>
              <a:lumOff val="80000"/>
            </a:schemeClr>
          </a:solidFill>
        </p:spPr>
        <p:txBody>
          <a:bodyPr wrap="square" rtlCol="0">
            <a:spAutoFit/>
          </a:bodyPr>
          <a:lstStyle/>
          <a:p>
            <a:r>
              <a:rPr lang="zh-CN" altLang="en-US" sz="3200" b="1">
                <a:solidFill>
                  <a:schemeClr val="accent2">
                    <a:lumMod val="50000"/>
                  </a:schemeClr>
                </a:solidFill>
              </a:rPr>
              <a:t>求解计数问题时应尽量使用集合语言来进行描述与分析！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加法原理的集合语言描述</a:t>
            </a:r>
          </a:p>
        </p:txBody>
      </p:sp>
      <mc:AlternateContent xmlns:mc="http://schemas.openxmlformats.org/markup-compatibility/2006" xmlns:a14="http://schemas.microsoft.com/office/drawing/2010/main">
        <mc:Choice Requires="a14">
          <p:sp>
            <p:nvSpPr>
              <p:cNvPr id="2" name="文本框 1"/>
              <p:cNvSpPr txBox="1"/>
              <p:nvPr/>
            </p:nvSpPr>
            <p:spPr>
              <a:xfrm>
                <a:off x="1385852" y="1523350"/>
                <a:ext cx="9420293" cy="212910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800" b="1">
                    <a:solidFill>
                      <a:srgbClr val="C00000"/>
                    </a:solidFill>
                  </a:rPr>
                  <a:t>加法原理</a:t>
                </a:r>
                <a:r>
                  <a:rPr lang="en-US" altLang="zh-CN" sz="2800" b="1">
                    <a:solidFill>
                      <a:schemeClr val="accent2">
                        <a:lumMod val="50000"/>
                      </a:schemeClr>
                    </a:solidFill>
                  </a:rPr>
                  <a:t>(Addition Principle)</a:t>
                </a:r>
                <a:r>
                  <a:rPr lang="zh-CN" altLang="en-US" sz="2800" b="1">
                    <a:solidFill>
                      <a:schemeClr val="accent2">
                        <a:lumMod val="50000"/>
                      </a:schemeClr>
                    </a:solidFill>
                  </a:rPr>
                  <a:t>，或称为</a:t>
                </a:r>
                <a:r>
                  <a:rPr lang="zh-CN" altLang="en-US" sz="2800" b="1">
                    <a:solidFill>
                      <a:srgbClr val="C00000"/>
                    </a:solidFill>
                  </a:rPr>
                  <a:t>加法法则</a:t>
                </a:r>
                <a:r>
                  <a:rPr lang="en-US" altLang="zh-CN" sz="2800" b="1">
                    <a:solidFill>
                      <a:schemeClr val="accent2">
                        <a:lumMod val="50000"/>
                      </a:schemeClr>
                    </a:solidFill>
                  </a:rPr>
                  <a:t>(sum rule)</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若集合</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可被划分为集合族</a:t>
                </a:r>
                <a14:m>
                  <m:oMath xmlns:m="http://schemas.openxmlformats.org/officeDocument/2006/math">
                    <m:r>
                      <a:rPr lang="en-US" altLang="zh-CN" sz="2400" b="1" i="1" smtClean="0">
                        <a:solidFill>
                          <a:srgbClr val="002060"/>
                        </a:solidFill>
                        <a:latin typeface="Cambria Math" panose="02040503050406030204" pitchFamily="18" charset="0"/>
                      </a:rPr>
                      <m:t>𝓕</m:t>
                    </m:r>
                    <m:r>
                      <a:rPr lang="en-US" altLang="zh-CN" sz="2400" b="1" i="1" smtClean="0">
                        <a:solidFill>
                          <a:srgbClr val="002060"/>
                        </a:solidFill>
                        <a:latin typeface="Cambria Math" panose="02040503050406030204" pitchFamily="18" charset="0"/>
                      </a:rPr>
                      <m:t>= </m:t>
                    </m:r>
                    <m:r>
                      <m:rPr>
                        <m:lit/>
                      </m:rPr>
                      <a:rPr lang="en-US" altLang="zh-CN" sz="2400" b="1" i="1" smtClean="0">
                        <a:solidFill>
                          <a:srgbClr val="002060"/>
                        </a:solidFill>
                        <a:latin typeface="Cambria Math" panose="02040503050406030204" pitchFamily="18" charset="0"/>
                      </a:rPr>
                      <m:t>{</m:t>
                    </m:r>
                    <m:sSub>
                      <m:sSubPr>
                        <m:ctrlPr>
                          <a:rPr lang="en-US" altLang="zh-CN" sz="2400" b="1" i="1">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𝑺</m:t>
                        </m:r>
                      </m:e>
                      <m:sub>
                        <m:r>
                          <a:rPr lang="en-US" altLang="zh-CN" sz="2400" b="1" i="1" smtClean="0">
                            <a:solidFill>
                              <a:srgbClr val="002060"/>
                            </a:solidFill>
                            <a:latin typeface="Cambria Math" panose="02040503050406030204" pitchFamily="18" charset="0"/>
                          </a:rPr>
                          <m:t>𝟏</m:t>
                        </m:r>
                      </m:sub>
                    </m:sSub>
                    <m:r>
                      <a:rPr lang="en-US" altLang="zh-CN" sz="2400" b="1" i="1" smtClean="0">
                        <a:solidFill>
                          <a:srgbClr val="002060"/>
                        </a:solidFill>
                        <a:latin typeface="Cambria Math" panose="02040503050406030204" pitchFamily="18" charset="0"/>
                      </a:rPr>
                      <m:t>, </m:t>
                    </m:r>
                    <m:sSub>
                      <m:sSubPr>
                        <m:ctrlPr>
                          <a:rPr lang="en-US" altLang="zh-CN" sz="2400" b="1" i="1">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𝑺</m:t>
                        </m:r>
                      </m:e>
                      <m:sub>
                        <m:r>
                          <a:rPr lang="en-US" altLang="zh-CN" sz="2400" b="1" i="1" smtClean="0">
                            <a:solidFill>
                              <a:srgbClr val="002060"/>
                            </a:solidFill>
                            <a:latin typeface="Cambria Math" panose="02040503050406030204" pitchFamily="18" charset="0"/>
                          </a:rPr>
                          <m:t>𝟐</m:t>
                        </m:r>
                      </m:sub>
                    </m:sSub>
                    <m:r>
                      <a:rPr lang="en-US" altLang="zh-CN" sz="2400" b="1" i="1" smtClean="0">
                        <a:solidFill>
                          <a:srgbClr val="002060"/>
                        </a:solidFill>
                        <a:latin typeface="Cambria Math" panose="02040503050406030204" pitchFamily="18" charset="0"/>
                      </a:rPr>
                      <m:t>, ⋯, </m:t>
                    </m:r>
                    <m:sSub>
                      <m:sSubPr>
                        <m:ctrlPr>
                          <a:rPr lang="en-US" altLang="zh-CN" sz="2400" b="1" i="1">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𝑺</m:t>
                        </m:r>
                      </m:e>
                      <m:sub>
                        <m:r>
                          <a:rPr lang="en-US" altLang="zh-CN" sz="2400" b="1" i="1" smtClean="0">
                            <a:solidFill>
                              <a:srgbClr val="002060"/>
                            </a:solidFill>
                            <a:latin typeface="Cambria Math" panose="02040503050406030204" pitchFamily="18" charset="0"/>
                          </a:rPr>
                          <m:t>𝒏</m:t>
                        </m:r>
                        <m:r>
                          <m:rPr>
                            <m:lit/>
                          </m:rPr>
                          <a:rPr lang="en-US" altLang="zh-CN" sz="2400" b="1" i="1" smtClean="0">
                            <a:solidFill>
                              <a:srgbClr val="002060"/>
                            </a:solidFill>
                            <a:latin typeface="Cambria Math" panose="02040503050406030204" pitchFamily="18" charset="0"/>
                          </a:rPr>
                          <m:t>}</m:t>
                        </m:r>
                      </m:sub>
                    </m:sSub>
                  </m:oMath>
                </a14:m>
                <a:r>
                  <a:rPr lang="zh-CN" altLang="en-US" sz="2400" b="1">
                    <a:solidFill>
                      <a:srgbClr val="002060"/>
                    </a:solidFill>
                    <a:latin typeface="楷体" panose="02010609060101010101" pitchFamily="49" charset="-122"/>
                    <a:ea typeface="楷体" panose="02010609060101010101" pitchFamily="49" charset="-122"/>
                  </a:rPr>
                  <a:t>，也即</a:t>
                </a:r>
                <a14:m>
                  <m:oMath xmlns:m="http://schemas.openxmlformats.org/officeDocument/2006/math">
                    <m:r>
                      <a:rPr lang="en-US" altLang="zh-CN" sz="2400" b="1" i="1" smtClean="0">
                        <a:solidFill>
                          <a:srgbClr val="002060"/>
                        </a:solidFill>
                        <a:latin typeface="Cambria Math" panose="02040503050406030204" pitchFamily="18" charset="0"/>
                      </a:rPr>
                      <m:t>𝓕</m:t>
                    </m:r>
                  </m:oMath>
                </a14:m>
                <a:r>
                  <a:rPr lang="zh-CN" altLang="en-US" sz="24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400" b="1" i="1" smtClean="0">
                        <a:solidFill>
                          <a:srgbClr val="002060"/>
                        </a:solidFill>
                        <a:latin typeface="Cambria Math" panose="02040503050406030204" pitchFamily="18" charset="0"/>
                      </a:rPr>
                      <m:t>𝑺</m:t>
                    </m:r>
                  </m:oMath>
                </a14:m>
                <a:r>
                  <a:rPr lang="zh-CN" altLang="en-US" sz="2400" b="1">
                    <a:solidFill>
                      <a:srgbClr val="002060"/>
                    </a:solidFill>
                    <a:latin typeface="楷体" panose="02010609060101010101" pitchFamily="49" charset="-122"/>
                    <a:ea typeface="楷体" panose="02010609060101010101" pitchFamily="49" charset="-122"/>
                  </a:rPr>
                  <a:t>的划分，则</a:t>
                </a: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𝑺</m:t>
                    </m:r>
                  </m:oMath>
                </a14:m>
                <a:r>
                  <a:rPr lang="zh-CN" altLang="en-US" sz="2400" b="1">
                    <a:solidFill>
                      <a:schemeClr val="accent6">
                        <a:lumMod val="50000"/>
                      </a:schemeClr>
                    </a:solidFill>
                  </a:rPr>
                  <a:t>的元素个数是这些集合元素个数之和，即：</a:t>
                </a:r>
                <a:endParaRPr lang="en-US" altLang="zh-CN" sz="2400" b="1">
                  <a:solidFill>
                    <a:schemeClr val="accent6">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𝑺</m:t>
                          </m:r>
                        </m:e>
                      </m:d>
                      <m:r>
                        <a:rPr lang="en-US" altLang="zh-CN" sz="2400" b="1" i="1" smtClean="0">
                          <a:solidFill>
                            <a:schemeClr val="accent2">
                              <a:lumMod val="50000"/>
                            </a:schemeClr>
                          </a:solidFill>
                          <a:latin typeface="Cambria Math" panose="02040503050406030204" pitchFamily="18" charset="0"/>
                        </a:rPr>
                        <m:t>= </m:t>
                      </m:r>
                      <m:d>
                        <m:dPr>
                          <m:begChr m:val="|"/>
                          <m:endChr m:val="|"/>
                          <m:ctrlPr>
                            <a:rPr lang="en-US" altLang="zh-CN" sz="2400" b="1" i="1">
                              <a:solidFill>
                                <a:schemeClr val="accent2">
                                  <a:lumMod val="50000"/>
                                </a:schemeClr>
                              </a:solidFill>
                              <a:latin typeface="Cambria Math" panose="02040503050406030204" pitchFamily="18" charset="0"/>
                            </a:rPr>
                          </m:ctrlPr>
                        </m:dPr>
                        <m:e>
                          <m:sSub>
                            <m:sSubPr>
                              <m:ctrlPr>
                                <a:rPr lang="en-US" altLang="zh-CN" sz="2400" b="1" i="1">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𝑺</m:t>
                              </m:r>
                            </m:e>
                            <m:sub>
                              <m:r>
                                <a:rPr lang="en-US" altLang="zh-CN" sz="2400" b="1" i="1" smtClean="0">
                                  <a:solidFill>
                                    <a:schemeClr val="accent2">
                                      <a:lumMod val="50000"/>
                                    </a:schemeClr>
                                  </a:solidFill>
                                  <a:latin typeface="Cambria Math" panose="02040503050406030204" pitchFamily="18" charset="0"/>
                                </a:rPr>
                                <m:t>𝟏</m:t>
                              </m:r>
                            </m:sub>
                          </m:sSub>
                        </m:e>
                      </m:d>
                      <m:r>
                        <a:rPr lang="en-US" altLang="zh-CN" sz="2400" b="1" i="1" smtClean="0">
                          <a:solidFill>
                            <a:schemeClr val="accent2">
                              <a:lumMod val="50000"/>
                            </a:schemeClr>
                          </a:solidFill>
                          <a:latin typeface="Cambria Math" panose="02040503050406030204" pitchFamily="18" charset="0"/>
                        </a:rPr>
                        <m:t>+ </m:t>
                      </m:r>
                      <m:d>
                        <m:dPr>
                          <m:begChr m:val="|"/>
                          <m:endChr m:val="|"/>
                          <m:ctrlPr>
                            <a:rPr lang="en-US" altLang="zh-CN" sz="2400" b="1" i="1">
                              <a:solidFill>
                                <a:schemeClr val="accent2">
                                  <a:lumMod val="50000"/>
                                </a:schemeClr>
                              </a:solidFill>
                              <a:latin typeface="Cambria Math" panose="02040503050406030204" pitchFamily="18" charset="0"/>
                            </a:rPr>
                          </m:ctrlPr>
                        </m:dPr>
                        <m:e>
                          <m:sSub>
                            <m:sSubPr>
                              <m:ctrlPr>
                                <a:rPr lang="en-US" altLang="zh-CN" sz="2400" b="1" i="1">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𝑺</m:t>
                              </m:r>
                            </m:e>
                            <m:sub>
                              <m:r>
                                <a:rPr lang="en-US" altLang="zh-CN" sz="2400" b="1" i="1" smtClean="0">
                                  <a:solidFill>
                                    <a:schemeClr val="accent2">
                                      <a:lumMod val="50000"/>
                                    </a:schemeClr>
                                  </a:solidFill>
                                  <a:latin typeface="Cambria Math" panose="02040503050406030204" pitchFamily="18" charset="0"/>
                                </a:rPr>
                                <m:t>𝟐</m:t>
                              </m:r>
                            </m:sub>
                          </m:sSub>
                        </m:e>
                      </m:d>
                      <m:r>
                        <a:rPr lang="en-US" altLang="zh-CN" sz="2400" b="1" i="1" smtClean="0">
                          <a:solidFill>
                            <a:schemeClr val="accent2">
                              <a:lumMod val="50000"/>
                            </a:schemeClr>
                          </a:solidFill>
                          <a:latin typeface="Cambria Math" panose="02040503050406030204" pitchFamily="18" charset="0"/>
                        </a:rPr>
                        <m:t>+ ⋯+ </m:t>
                      </m:r>
                      <m:d>
                        <m:dPr>
                          <m:begChr m:val="|"/>
                          <m:endChr m:val="|"/>
                          <m:ctrlPr>
                            <a:rPr lang="en-US" altLang="zh-CN" sz="2400" b="1" i="1">
                              <a:solidFill>
                                <a:schemeClr val="accent2">
                                  <a:lumMod val="50000"/>
                                </a:schemeClr>
                              </a:solidFill>
                              <a:latin typeface="Cambria Math" panose="02040503050406030204" pitchFamily="18" charset="0"/>
                            </a:rPr>
                          </m:ctrlPr>
                        </m:dPr>
                        <m:e>
                          <m:sSub>
                            <m:sSubPr>
                              <m:ctrlPr>
                                <a:rPr lang="en-US" altLang="zh-CN" sz="2400" b="1" i="1">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𝑺</m:t>
                              </m:r>
                            </m:e>
                            <m:sub>
                              <m:r>
                                <a:rPr lang="en-US" altLang="zh-CN" sz="2400" b="1" i="1" smtClean="0">
                                  <a:solidFill>
                                    <a:schemeClr val="accent2">
                                      <a:lumMod val="50000"/>
                                    </a:schemeClr>
                                  </a:solidFill>
                                  <a:latin typeface="Cambria Math" panose="02040503050406030204" pitchFamily="18" charset="0"/>
                                </a:rPr>
                                <m:t>𝒏</m:t>
                              </m:r>
                            </m:sub>
                          </m:sSub>
                        </m:e>
                      </m:d>
                    </m:oMath>
                  </m:oMathPara>
                </a14:m>
                <a:endParaRPr lang="en-US" altLang="zh-CN" sz="2400" b="1"/>
              </a:p>
            </p:txBody>
          </p:sp>
        </mc:Choice>
        <mc:Fallback xmlns="">
          <p:sp>
            <p:nvSpPr>
              <p:cNvPr id="2" name="文本框 1"/>
              <p:cNvSpPr txBox="1">
                <a:spLocks noRot="1" noChangeAspect="1" noMove="1" noResize="1" noEditPoints="1" noAdjustHandles="1" noChangeArrowheads="1" noChangeShapeType="1" noTextEdit="1"/>
              </p:cNvSpPr>
              <p:nvPr/>
            </p:nvSpPr>
            <p:spPr>
              <a:xfrm>
                <a:off x="1385852" y="1523350"/>
                <a:ext cx="9420293" cy="2129109"/>
              </a:xfrm>
              <a:prstGeom prst="rect">
                <a:avLst/>
              </a:prstGeom>
              <a:blipFill rotWithShape="1">
                <a:blip r:embed="rId2"/>
                <a:stretch>
                  <a:fillRect l="-3" t="-29" r="4" b="-9964"/>
                </a:stretch>
              </a:blipFill>
            </p:spPr>
            <p:txBody>
              <a:bodyPr/>
              <a:lstStyle/>
              <a:p>
                <a:r>
                  <a:rPr lang="zh-CN" altLang="en-US">
                    <a:noFill/>
                  </a:rPr>
                  <a:t> </a:t>
                </a:r>
              </a:p>
            </p:txBody>
          </p:sp>
        </mc:Fallback>
      </mc:AlternateContent>
      <p:sp>
        <p:nvSpPr>
          <p:cNvPr id="3" name="文本框 2"/>
          <p:cNvSpPr txBox="1"/>
          <p:nvPr/>
        </p:nvSpPr>
        <p:spPr>
          <a:xfrm>
            <a:off x="1226873" y="4168807"/>
            <a:ext cx="9738252" cy="156966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800" b="1">
                <a:solidFill>
                  <a:schemeClr val="accent2">
                    <a:lumMod val="50000"/>
                  </a:schemeClr>
                </a:solidFill>
              </a:rPr>
              <a:t>加法原理体现计数时的</a:t>
            </a:r>
            <a:r>
              <a:rPr lang="zh-CN" altLang="en-US" sz="2800" b="1">
                <a:solidFill>
                  <a:srgbClr val="C00000"/>
                </a:solidFill>
              </a:rPr>
              <a:t>分类思维</a:t>
            </a:r>
            <a:r>
              <a:rPr lang="zh-CN" altLang="en-US" sz="2800" b="1">
                <a:solidFill>
                  <a:schemeClr val="accent2">
                    <a:lumMod val="50000"/>
                  </a:schemeClr>
                </a:solidFill>
              </a:rPr>
              <a:t>方式</a:t>
            </a:r>
            <a:endParaRPr lang="en-US" altLang="zh-CN" sz="2800" b="1">
              <a:solidFill>
                <a:schemeClr val="accent2">
                  <a:lumMod val="50000"/>
                </a:schemeClr>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应用加法原理的关键在于，基于</a:t>
            </a:r>
            <a:r>
              <a:rPr lang="zh-CN" altLang="en-US" sz="2400" b="1">
                <a:solidFill>
                  <a:srgbClr val="0000FF"/>
                </a:solidFill>
                <a:latin typeface="+mn-ea"/>
              </a:rPr>
              <a:t>不重复</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0000FF"/>
                </a:solidFill>
                <a:latin typeface="+mn-ea"/>
              </a:rPr>
              <a:t>不遗漏</a:t>
            </a:r>
            <a:r>
              <a:rPr lang="zh-CN" altLang="en-US" sz="2400" b="1">
                <a:solidFill>
                  <a:srgbClr val="002060"/>
                </a:solidFill>
                <a:latin typeface="楷体" panose="02010609060101010101" pitchFamily="49" charset="-122"/>
                <a:ea typeface="楷体" panose="02010609060101010101" pitchFamily="49" charset="-122"/>
              </a:rPr>
              <a:t>的原则确定分类的标准</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使得任意两个类没有重复元素，且每个元素都被分到某个类</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导入乘法原理集合语言描述的例子（一）</a:t>
            </a:r>
          </a:p>
        </p:txBody>
      </p:sp>
      <mc:AlternateContent xmlns:mc="http://schemas.openxmlformats.org/markup-compatibility/2006" xmlns:a14="http://schemas.microsoft.com/office/drawing/2010/main">
        <mc:Choice Requires="a14">
          <p:sp>
            <p:nvSpPr>
              <p:cNvPr id="2" name="文本框 1"/>
              <p:cNvSpPr txBox="1"/>
              <p:nvPr/>
            </p:nvSpPr>
            <p:spPr>
              <a:xfrm>
                <a:off x="1532768" y="1106571"/>
                <a:ext cx="9126459" cy="884858"/>
              </a:xfrm>
              <a:prstGeom prst="rect">
                <a:avLst/>
              </a:prstGeom>
              <a:solidFill>
                <a:schemeClr val="accent5">
                  <a:lumMod val="20000"/>
                  <a:lumOff val="80000"/>
                  <a:alpha val="50000"/>
                </a:schemeClr>
              </a:solidFill>
            </p:spPr>
            <p:txBody>
              <a:bodyPr wrap="square" rtlCol="0">
                <a:spAutoFit/>
              </a:bodyPr>
              <a:lstStyle/>
              <a:p>
                <a:pPr>
                  <a:spcBef>
                    <a:spcPts val="600"/>
                  </a:spcBef>
                  <a:spcAft>
                    <a:spcPts val="300"/>
                  </a:spcAft>
                </a:pPr>
                <a:r>
                  <a:rPr lang="zh-CN" altLang="en-US" sz="2400" b="1">
                    <a:solidFill>
                      <a:schemeClr val="accent2">
                        <a:lumMod val="50000"/>
                      </a:schemeClr>
                    </a:solidFill>
                  </a:rPr>
                  <a:t>使用乘法原理计数的对象是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oMath>
                </a14:m>
                <a:r>
                  <a:rPr lang="zh-CN" altLang="en-US" sz="2400" b="1">
                    <a:solidFill>
                      <a:schemeClr val="accent2">
                        <a:lumMod val="50000"/>
                      </a:schemeClr>
                    </a:solidFill>
                  </a:rPr>
                  <a:t>元组构成的集合</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粤式茶餐厅每个自主搭配套餐是由一肉、一素、一汤和一主食构成的</a:t>
                </a:r>
                <a14:m>
                  <m:oMath xmlns:m="http://schemas.openxmlformats.org/officeDocument/2006/math">
                    <m:r>
                      <a:rPr lang="en-US" altLang="zh-CN" sz="2000" b="1" i="1" smtClean="0">
                        <a:solidFill>
                          <a:srgbClr val="002060"/>
                        </a:solidFill>
                        <a:latin typeface="Cambria Math" panose="02040503050406030204" pitchFamily="18" charset="0"/>
                      </a:rPr>
                      <m:t>𝟒</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元组</a:t>
                </a:r>
              </a:p>
            </p:txBody>
          </p:sp>
        </mc:Choice>
        <mc:Fallback xmlns="">
          <p:sp>
            <p:nvSpPr>
              <p:cNvPr id="2" name="文本框 1"/>
              <p:cNvSpPr txBox="1">
                <a:spLocks noRot="1" noChangeAspect="1" noMove="1" noResize="1" noEditPoints="1" noAdjustHandles="1" noChangeArrowheads="1" noChangeShapeType="1" noTextEdit="1"/>
              </p:cNvSpPr>
              <p:nvPr/>
            </p:nvSpPr>
            <p:spPr>
              <a:xfrm>
                <a:off x="1532768" y="1106571"/>
                <a:ext cx="9126459" cy="884858"/>
              </a:xfrm>
              <a:prstGeom prst="rect">
                <a:avLst/>
              </a:prstGeom>
              <a:blipFill rotWithShape="1">
                <a:blip r:embed="rId2"/>
                <a:stretch>
                  <a:fillRect l="-6" t="-45" r="1" b="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2306830" y="2136441"/>
                <a:ext cx="7578337" cy="3000821"/>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两位数计数例子（一）</a:t>
                </a: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用集合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𝟐</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𝟑</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𝟒</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𝟓</m:t>
                    </m:r>
                    <m:r>
                      <m:rPr>
                        <m:lit/>
                      </m:rP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的数字可组成多少个两位数？</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每个两位数是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的两个数字构成的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元组，即</a:t>
                </a:r>
                <a:r>
                  <a:rPr lang="zh-CN" altLang="en-US" sz="2000" b="1">
                    <a:solidFill>
                      <a:srgbClr val="C00000"/>
                    </a:solidFill>
                  </a:rPr>
                  <a:t>有序对</a:t>
                </a: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两位数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𝟏𝟐</m:t>
                    </m:r>
                  </m:oMath>
                </a14:m>
                <a:r>
                  <a:rPr lang="zh-CN" altLang="en-US" b="1">
                    <a:solidFill>
                      <a:schemeClr val="accent2">
                        <a:lumMod val="50000"/>
                      </a:schemeClr>
                    </a:solidFill>
                    <a:latin typeface="楷体" panose="02010609060101010101" pitchFamily="49" charset="-122"/>
                    <a:ea typeface="楷体" panose="02010609060101010101" pitchFamily="49" charset="-122"/>
                  </a:rPr>
                  <a:t>可看做有序对</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𝟐</m:t>
                        </m:r>
                      </m:e>
                    </m:d>
                  </m:oMath>
                </a14:m>
                <a:r>
                  <a:rPr lang="zh-CN" altLang="en-US" b="1">
                    <a:solidFill>
                      <a:schemeClr val="accent2">
                        <a:lumMod val="50000"/>
                      </a:schemeClr>
                    </a:solidFill>
                    <a:latin typeface="楷体" panose="02010609060101010101" pitchFamily="49" charset="-122"/>
                    <a:ea typeface="楷体" panose="02010609060101010101" pitchFamily="49" charset="-122"/>
                  </a:rPr>
                  <a:t>，两位数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𝟒𝟓</m:t>
                    </m:r>
                  </m:oMath>
                </a14:m>
                <a:r>
                  <a:rPr lang="zh-CN" altLang="en-US" b="1">
                    <a:solidFill>
                      <a:schemeClr val="accent2">
                        <a:lumMod val="50000"/>
                      </a:schemeClr>
                    </a:solidFill>
                    <a:latin typeface="楷体" panose="02010609060101010101" pitchFamily="49" charset="-122"/>
                    <a:ea typeface="楷体" panose="02010609060101010101" pitchFamily="49" charset="-122"/>
                  </a:rPr>
                  <a:t>可看做有序对</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𝟒</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𝟓</m:t>
                        </m:r>
                      </m:e>
                    </m:d>
                  </m:oMath>
                </a14:m>
                <a:r>
                  <a:rPr lang="zh-CN" altLang="en-US" b="1">
                    <a:solidFill>
                      <a:schemeClr val="accent2">
                        <a:lumMod val="50000"/>
                      </a:schemeClr>
                    </a:solidFill>
                    <a:latin typeface="楷体" panose="02010609060101010101" pitchFamily="49" charset="-122"/>
                    <a:ea typeface="楷体" panose="02010609060101010101" pitchFamily="49" charset="-122"/>
                  </a:rPr>
                  <a:t>等等</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用集合</a:t>
                </a:r>
                <a14:m>
                  <m:oMath xmlns:m="http://schemas.openxmlformats.org/officeDocument/2006/math">
                    <m:r>
                      <a:rPr lang="en-US" altLang="zh-CN" sz="2000" b="1">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的数字组成的两位数构成的集合可看做笛卡尔积</a:t>
                </a:r>
                <a14:m>
                  <m:oMath xmlns:m="http://schemas.openxmlformats.org/officeDocument/2006/math">
                    <m:r>
                      <a:rPr lang="en-US" altLang="zh-CN" sz="2000" b="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𝑨</m:t>
                    </m:r>
                  </m:oMath>
                </a14:m>
                <a:endParaRPr lang="en-US" altLang="zh-CN" sz="2000" b="1">
                  <a:solidFill>
                    <a:schemeClr val="accent6">
                      <a:lumMod val="50000"/>
                    </a:schemeClr>
                  </a:solidFill>
                </a:endParaRP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用集合</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b="1">
                    <a:solidFill>
                      <a:schemeClr val="accent2">
                        <a:lumMod val="50000"/>
                      </a:schemeClr>
                    </a:solidFill>
                    <a:latin typeface="楷体" panose="02010609060101010101" pitchFamily="49" charset="-122"/>
                    <a:ea typeface="楷体" panose="02010609060101010101" pitchFamily="49" charset="-122"/>
                  </a:rPr>
                  <a:t>的数字组成的两位数个数等于</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𝑨</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𝑨</m:t>
                        </m:r>
                      </m:e>
                    </m:d>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300"/>
                  </a:spcAft>
                  <a:buFont typeface="Arial" panose="020B0604020202020204" pitchFamily="34" charset="0"/>
                  <a:buChar char="•"/>
                </a:pPr>
                <a:r>
                  <a:rPr lang="zh-CN" altLang="en-US" b="1">
                    <a:solidFill>
                      <a:srgbClr val="C00000"/>
                    </a:solidFill>
                    <a:latin typeface="+mn-ea"/>
                  </a:rPr>
                  <a:t>乘法原理</a:t>
                </a:r>
                <a:r>
                  <a:rPr lang="zh-CN" altLang="en-US" b="1">
                    <a:solidFill>
                      <a:schemeClr val="accent2">
                        <a:lumMod val="50000"/>
                      </a:schemeClr>
                    </a:solidFill>
                    <a:latin typeface="楷体" panose="02010609060101010101" pitchFamily="49" charset="-122"/>
                    <a:ea typeface="楷体" panose="02010609060101010101" pitchFamily="49" charset="-122"/>
                  </a:rPr>
                  <a:t>说这时</a:t>
                </a:r>
                <a14:m>
                  <m:oMath xmlns:m="http://schemas.openxmlformats.org/officeDocument/2006/math">
                    <m:d>
                      <m:dPr>
                        <m:begChr m:val="|"/>
                        <m:endChr m:val="|"/>
                        <m:ctrlPr>
                          <a:rPr lang="en-US" altLang="zh-CN" b="1" i="1" smtClean="0">
                            <a:solidFill>
                              <a:srgbClr val="C00000"/>
                            </a:solidFill>
                            <a:latin typeface="Cambria Math" panose="02040503050406030204" pitchFamily="18" charset="0"/>
                            <a:ea typeface="楷体" panose="02010609060101010101" pitchFamily="49" charset="-122"/>
                          </a:rPr>
                        </m:ctrlPr>
                      </m:dPr>
                      <m:e>
                        <m:r>
                          <a:rPr lang="en-US" altLang="zh-CN" b="1">
                            <a:solidFill>
                              <a:srgbClr val="C00000"/>
                            </a:solidFill>
                            <a:latin typeface="Cambria Math" panose="02040503050406030204" pitchFamily="18" charset="0"/>
                            <a:ea typeface="楷体" panose="02010609060101010101" pitchFamily="49" charset="-122"/>
                          </a:rPr>
                          <m:t>𝑨</m:t>
                        </m:r>
                        <m:r>
                          <a:rPr lang="en-US" altLang="zh-CN" b="1">
                            <a:solidFill>
                              <a:srgbClr val="C00000"/>
                            </a:solidFill>
                            <a:latin typeface="Cambria Math" panose="02040503050406030204" pitchFamily="18" charset="0"/>
                            <a:ea typeface="楷体" panose="02010609060101010101" pitchFamily="49" charset="-122"/>
                          </a:rPr>
                          <m:t>×</m:t>
                        </m:r>
                        <m:r>
                          <a:rPr lang="en-US" altLang="zh-CN" b="1">
                            <a:solidFill>
                              <a:srgbClr val="C00000"/>
                            </a:solidFill>
                            <a:latin typeface="Cambria Math" panose="02040503050406030204" pitchFamily="18" charset="0"/>
                            <a:ea typeface="楷体" panose="02010609060101010101" pitchFamily="49" charset="-122"/>
                          </a:rPr>
                          <m:t>𝑨</m:t>
                        </m:r>
                      </m:e>
                    </m:d>
                    <m:r>
                      <a:rPr lang="en-US" altLang="zh-CN" b="1">
                        <a:solidFill>
                          <a:srgbClr val="C00000"/>
                        </a:solidFill>
                        <a:latin typeface="Cambria Math" panose="02040503050406030204" pitchFamily="18" charset="0"/>
                        <a:ea typeface="楷体" panose="02010609060101010101" pitchFamily="49" charset="-122"/>
                      </a:rPr>
                      <m:t>= </m:t>
                    </m:r>
                    <m:d>
                      <m:dPr>
                        <m:begChr m:val="|"/>
                        <m:endChr m:val="|"/>
                        <m:ctrlPr>
                          <a:rPr lang="en-US" altLang="zh-CN" b="1" i="1">
                            <a:solidFill>
                              <a:srgbClr val="C00000"/>
                            </a:solidFill>
                            <a:latin typeface="Cambria Math" panose="02040503050406030204" pitchFamily="18" charset="0"/>
                            <a:ea typeface="楷体" panose="02010609060101010101" pitchFamily="49" charset="-122"/>
                          </a:rPr>
                        </m:ctrlPr>
                      </m:dPr>
                      <m:e>
                        <m:r>
                          <a:rPr lang="en-US" altLang="zh-CN" b="1">
                            <a:solidFill>
                              <a:srgbClr val="C00000"/>
                            </a:solidFill>
                            <a:latin typeface="Cambria Math" panose="02040503050406030204" pitchFamily="18" charset="0"/>
                            <a:ea typeface="楷体" panose="02010609060101010101" pitchFamily="49" charset="-122"/>
                          </a:rPr>
                          <m:t>𝑨</m:t>
                        </m:r>
                      </m:e>
                    </m:d>
                    <m:r>
                      <a:rPr lang="en-US" altLang="zh-CN" b="1">
                        <a:solidFill>
                          <a:srgbClr val="C00000"/>
                        </a:solidFill>
                        <a:latin typeface="Cambria Math" panose="02040503050406030204" pitchFamily="18" charset="0"/>
                        <a:ea typeface="楷体" panose="02010609060101010101" pitchFamily="49" charset="-122"/>
                      </a:rPr>
                      <m:t>×</m:t>
                    </m:r>
                    <m:d>
                      <m:dPr>
                        <m:begChr m:val="|"/>
                        <m:endChr m:val="|"/>
                        <m:ctrlPr>
                          <a:rPr lang="en-US" altLang="zh-CN" b="1" i="1">
                            <a:solidFill>
                              <a:srgbClr val="C00000"/>
                            </a:solidFill>
                            <a:latin typeface="Cambria Math" panose="02040503050406030204" pitchFamily="18" charset="0"/>
                            <a:ea typeface="楷体" panose="02010609060101010101" pitchFamily="49" charset="-122"/>
                          </a:rPr>
                        </m:ctrlPr>
                      </m:dPr>
                      <m:e>
                        <m:r>
                          <a:rPr lang="en-US" altLang="zh-CN" b="1">
                            <a:solidFill>
                              <a:srgbClr val="C00000"/>
                            </a:solidFill>
                            <a:latin typeface="Cambria Math" panose="02040503050406030204" pitchFamily="18" charset="0"/>
                            <a:ea typeface="楷体" panose="02010609060101010101" pitchFamily="49" charset="-122"/>
                          </a:rPr>
                          <m:t>𝑨</m:t>
                        </m:r>
                      </m:e>
                    </m:d>
                  </m:oMath>
                </a14:m>
                <a:r>
                  <a:rPr lang="zh-CN" altLang="en-US" b="1">
                    <a:solidFill>
                      <a:schemeClr val="accent2">
                        <a:lumMod val="50000"/>
                      </a:schemeClr>
                    </a:solidFill>
                    <a:latin typeface="楷体" panose="02010609060101010101" pitchFamily="49" charset="-122"/>
                    <a:ea typeface="楷体" panose="02010609060101010101" pitchFamily="49" charset="-122"/>
                  </a:rPr>
                  <a:t>（或</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𝑨</m:t>
                        </m:r>
                      </m:e>
                    </m:d>
                    <m:r>
                      <a:rPr lang="en-US" altLang="zh-CN" b="1">
                        <a:solidFill>
                          <a:schemeClr val="accent2">
                            <a:lumMod val="50000"/>
                          </a:schemeClr>
                        </a:solidFill>
                        <a:latin typeface="Cambria Math" panose="02040503050406030204" pitchFamily="18" charset="0"/>
                        <a:ea typeface="楷体" panose="02010609060101010101" pitchFamily="49" charset="-122"/>
                      </a:rPr>
                      <m:t>⋅</m:t>
                    </m:r>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𝑨</m:t>
                        </m:r>
                      </m:e>
                    </m:d>
                  </m:oMath>
                </a14:m>
                <a:r>
                  <a:rPr lang="zh-CN" altLang="en-US" b="1">
                    <a:solidFill>
                      <a:schemeClr val="accent2">
                        <a:lumMod val="50000"/>
                      </a:schemeClr>
                    </a:solidFill>
                    <a:latin typeface="楷体" panose="02010609060101010101" pitchFamily="49" charset="-122"/>
                    <a:ea typeface="楷体" panose="02010609060101010101" pitchFamily="49" charset="-122"/>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2306830" y="2136441"/>
                <a:ext cx="7578337" cy="3000821"/>
              </a:xfrm>
              <a:prstGeom prst="rect">
                <a:avLst/>
              </a:prstGeom>
              <a:blipFill rotWithShape="1">
                <a:blip r:embed="rId3"/>
                <a:stretch>
                  <a:fillRect l="-7" t="-10" r="2"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305814" y="5304322"/>
                <a:ext cx="9580370" cy="884858"/>
              </a:xfrm>
              <a:prstGeom prst="rect">
                <a:avLst/>
              </a:prstGeom>
              <a:solidFill>
                <a:schemeClr val="accent4">
                  <a:lumMod val="20000"/>
                  <a:lumOff val="80000"/>
                </a:schemeClr>
              </a:solidFill>
            </p:spPr>
            <p:txBody>
              <a:bodyPr wrap="square" rtlCol="0">
                <a:spAutoFit/>
              </a:bodyPr>
              <a:lstStyle/>
              <a:p>
                <a:pPr>
                  <a:spcBef>
                    <a:spcPts val="600"/>
                  </a:spcBef>
                  <a:spcAft>
                    <a:spcPts val="300"/>
                  </a:spcAft>
                </a:pPr>
                <a:r>
                  <a:rPr lang="zh-CN" altLang="en-US" sz="2400" b="1">
                    <a:solidFill>
                      <a:srgbClr val="002060"/>
                    </a:solidFill>
                    <a:latin typeface="楷体" panose="02010609060101010101" pitchFamily="49" charset="-122"/>
                    <a:ea typeface="楷体" panose="02010609060101010101" pitchFamily="49" charset="-122"/>
                  </a:rPr>
                  <a:t>但能否简单地认为乘法原理就是说</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rPr>
                  <a:t>对</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oMath>
                </a14:m>
                <a:r>
                  <a:rPr lang="zh-CN" altLang="en-US" sz="2000" b="1">
                    <a:solidFill>
                      <a:schemeClr val="accent2">
                        <a:lumMod val="50000"/>
                      </a:schemeClr>
                    </a:solidFill>
                  </a:rPr>
                  <a:t>个集合</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 ⋯,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的笛卡尔积</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有</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𝒏</m:t>
                            </m:r>
                          </m:sub>
                        </m:sSub>
                      </m:e>
                    </m:d>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𝟏</m:t>
                            </m:r>
                          </m:sub>
                        </m:sSub>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𝒏</m:t>
                            </m:r>
                          </m:sub>
                        </m:sSub>
                      </m:e>
                    </m:d>
                  </m:oMath>
                </a14:m>
                <a:r>
                  <a:rPr lang="zh-CN" altLang="en-US" sz="2000" b="1">
                    <a:solidFill>
                      <a:schemeClr val="accent2">
                        <a:lumMod val="50000"/>
                      </a:schemeClr>
                    </a:solidFill>
                  </a:rPr>
                  <a:t>？</a:t>
                </a:r>
              </a:p>
            </p:txBody>
          </p:sp>
        </mc:Choice>
        <mc:Fallback xmlns="">
          <p:sp>
            <p:nvSpPr>
              <p:cNvPr id="4" name="文本框 3"/>
              <p:cNvSpPr txBox="1">
                <a:spLocks noRot="1" noChangeAspect="1" noMove="1" noResize="1" noEditPoints="1" noAdjustHandles="1" noChangeArrowheads="1" noChangeShapeType="1" noTextEdit="1"/>
              </p:cNvSpPr>
              <p:nvPr/>
            </p:nvSpPr>
            <p:spPr>
              <a:xfrm>
                <a:off x="1305814" y="5304322"/>
                <a:ext cx="9580370" cy="884858"/>
              </a:xfrm>
              <a:prstGeom prst="rect">
                <a:avLst/>
              </a:prstGeom>
              <a:blipFill rotWithShape="1">
                <a:blip r:embed="rId4"/>
                <a:stretch>
                  <a:fillRect l="-3" t="-19" r="4" b="53"/>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导入乘法原理集合语言描述的例子（二）</a:t>
            </a:r>
          </a:p>
        </p:txBody>
      </p:sp>
      <mc:AlternateContent xmlns:mc="http://schemas.openxmlformats.org/markup-compatibility/2006" xmlns:a14="http://schemas.microsoft.com/office/drawing/2010/main">
        <mc:Choice Requires="a14">
          <p:sp>
            <p:nvSpPr>
              <p:cNvPr id="11" name="文本框 10"/>
              <p:cNvSpPr txBox="1"/>
              <p:nvPr/>
            </p:nvSpPr>
            <p:spPr>
              <a:xfrm>
                <a:off x="1753144" y="1224719"/>
                <a:ext cx="8685705" cy="4031873"/>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两位数计数例子（二）</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用集合</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𝟏</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𝟐</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𝟑</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𝟒</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𝟓</m:t>
                    </m:r>
                    <m:r>
                      <m:rPr>
                        <m:lit/>
                      </m:rPr>
                      <a:rPr lang="en-US" altLang="zh-CN" sz="2000" b="1" i="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的数字可组成多少个数字</a:t>
                </a:r>
                <a:r>
                  <a:rPr lang="zh-CN" altLang="en-US" sz="2000" b="1">
                    <a:solidFill>
                      <a:srgbClr val="0000FF"/>
                    </a:solidFill>
                    <a:latin typeface="+mn-ea"/>
                  </a:rPr>
                  <a:t>不同</a:t>
                </a:r>
                <a:r>
                  <a:rPr lang="zh-CN" altLang="en-US" sz="2000" b="1">
                    <a:solidFill>
                      <a:srgbClr val="002060"/>
                    </a:solidFill>
                    <a:latin typeface="楷体" panose="02010609060101010101" pitchFamily="49" charset="-122"/>
                    <a:ea typeface="楷体" panose="02010609060101010101" pitchFamily="49" charset="-122"/>
                  </a:rPr>
                  <a:t>的两位数？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每个两位数仍然是</a:t>
                </a:r>
                <a:r>
                  <a:rPr lang="en-US" altLang="zh-CN" sz="2000" b="1">
                    <a:solidFill>
                      <a:schemeClr val="accent6">
                        <a:lumMod val="50000"/>
                      </a:schemeClr>
                    </a:solidFill>
                  </a:rPr>
                  <a:t>A</a:t>
                </a:r>
                <a:r>
                  <a:rPr lang="zh-CN" altLang="en-US" sz="2000" b="1">
                    <a:solidFill>
                      <a:schemeClr val="accent6">
                        <a:lumMod val="50000"/>
                      </a:schemeClr>
                    </a:solidFill>
                  </a:rPr>
                  <a:t>的两个数字构成的</a:t>
                </a:r>
                <a:r>
                  <a:rPr lang="en-US" altLang="zh-CN" sz="2000" b="1">
                    <a:solidFill>
                      <a:schemeClr val="accent6">
                        <a:lumMod val="50000"/>
                      </a:schemeClr>
                    </a:solidFill>
                  </a:rPr>
                  <a:t>2-</a:t>
                </a:r>
                <a:r>
                  <a:rPr lang="zh-CN" altLang="en-US" sz="2000" b="1">
                    <a:solidFill>
                      <a:schemeClr val="accent6">
                        <a:lumMod val="50000"/>
                      </a:schemeClr>
                    </a:solidFill>
                  </a:rPr>
                  <a:t>元组，即有序对</a:t>
                </a:r>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但用集合</a:t>
                </a:r>
                <a:r>
                  <a:rPr lang="en-US" altLang="zh-CN" sz="2000" b="1">
                    <a:solidFill>
                      <a:schemeClr val="accent6">
                        <a:lumMod val="50000"/>
                      </a:schemeClr>
                    </a:solidFill>
                  </a:rPr>
                  <a:t>A</a:t>
                </a:r>
                <a:r>
                  <a:rPr lang="zh-CN" altLang="en-US" sz="2000" b="1">
                    <a:solidFill>
                      <a:schemeClr val="accent6">
                        <a:lumMod val="50000"/>
                      </a:schemeClr>
                    </a:solidFill>
                  </a:rPr>
                  <a:t>的数字组成的数字</a:t>
                </a:r>
                <a:r>
                  <a:rPr lang="zh-CN" altLang="en-US" sz="2000" b="1">
                    <a:solidFill>
                      <a:srgbClr val="0000FF"/>
                    </a:solidFill>
                    <a:latin typeface="+mn-ea"/>
                  </a:rPr>
                  <a:t>不同</a:t>
                </a:r>
                <a:r>
                  <a:rPr lang="zh-CN" altLang="en-US" sz="2000" b="1">
                    <a:solidFill>
                      <a:schemeClr val="accent6">
                        <a:lumMod val="50000"/>
                      </a:schemeClr>
                    </a:solidFill>
                  </a:rPr>
                  <a:t>的两位数构成的集合</a:t>
                </a:r>
                <a:r>
                  <a:rPr lang="zh-CN" altLang="en-US" sz="2000" b="1">
                    <a:solidFill>
                      <a:srgbClr val="C00000"/>
                    </a:solidFill>
                  </a:rPr>
                  <a:t>不等于</a:t>
                </a:r>
                <a14:m>
                  <m:oMath xmlns:m="http://schemas.openxmlformats.org/officeDocument/2006/math">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oMath>
                </a14:m>
                <a:endParaRPr lang="en-US" altLang="zh-CN" sz="20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准确地说应该等于</a:t>
                </a:r>
                <a14:m>
                  <m:oMath xmlns:m="http://schemas.openxmlformats.org/officeDocument/2006/math">
                    <m:r>
                      <m:rPr>
                        <m:lit/>
                      </m:rPr>
                      <a:rPr lang="en-US" altLang="zh-CN" b="1">
                        <a:solidFill>
                          <a:schemeClr val="accent2">
                            <a:lumMod val="50000"/>
                          </a:schemeClr>
                        </a:solidFill>
                        <a:latin typeface="Cambria Math" panose="02040503050406030204" pitchFamily="18" charset="0"/>
                        <a:ea typeface="楷体" panose="02010609060101010101" pitchFamily="49" charset="-122"/>
                      </a:rPr>
                      <m:t>{</m:t>
                    </m:r>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𝒂</m:t>
                        </m:r>
                        <m:r>
                          <a:rPr lang="en-US" altLang="zh-CN"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𝒃</m:t>
                        </m:r>
                      </m:e>
                    </m:d>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𝒂</m:t>
                    </m:r>
                    <m:r>
                      <a:rPr lang="en-US" altLang="zh-CN"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𝒃</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𝑨</m:t>
                    </m:r>
                    <m:r>
                      <a:rPr lang="en-US" altLang="zh-CN" b="1">
                        <a:solidFill>
                          <a:schemeClr val="accent2">
                            <a:lumMod val="50000"/>
                          </a:schemeClr>
                        </a:solidFill>
                        <a:latin typeface="Cambria Math" panose="02040503050406030204" pitchFamily="18" charset="0"/>
                        <a:ea typeface="楷体" panose="02010609060101010101" pitchFamily="49" charset="-122"/>
                      </a:rPr>
                      <m:t> </m:t>
                    </m:r>
                  </m:oMath>
                </a14:m>
                <a:r>
                  <a:rPr lang="zh-CN" altLang="en-US" b="1">
                    <a:solidFill>
                      <a:schemeClr val="accent2">
                        <a:lumMod val="50000"/>
                      </a:schemeClr>
                    </a:solidFill>
                    <a:latin typeface="楷体" panose="02010609060101010101" pitchFamily="49" charset="-122"/>
                    <a:ea typeface="楷体" panose="02010609060101010101" pitchFamily="49" charset="-122"/>
                  </a:rPr>
                  <a:t>且</a:t>
                </a:r>
                <a14:m>
                  <m:oMath xmlns:m="http://schemas.openxmlformats.org/officeDocument/2006/math">
                    <m:r>
                      <a:rPr lang="zh-CN" altLang="en-US"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𝒂</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𝒃</m:t>
                    </m:r>
                    <m:r>
                      <m:rPr>
                        <m:lit/>
                      </m:rPr>
                      <a:rPr lang="en-US" altLang="zh-CN" b="1">
                        <a:solidFill>
                          <a:schemeClr val="accent2">
                            <a:lumMod val="50000"/>
                          </a:schemeClr>
                        </a:solidFill>
                        <a:latin typeface="Cambria Math" panose="02040503050406030204" pitchFamily="18" charset="0"/>
                        <a:ea typeface="楷体" panose="02010609060101010101" pitchFamily="49" charset="-122"/>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b="1" smtClean="0">
                        <a:solidFill>
                          <a:srgbClr val="C00000"/>
                        </a:solidFill>
                        <a:latin typeface="Cambria Math" panose="02040503050406030204" pitchFamily="18" charset="0"/>
                      </a:rPr>
                      <m:t>𝑨</m:t>
                    </m:r>
                    <m:r>
                      <a:rPr lang="en-US" altLang="zh-CN" b="1" smtClean="0">
                        <a:solidFill>
                          <a:srgbClr val="C00000"/>
                        </a:solidFill>
                        <a:latin typeface="Cambria Math" panose="02040503050406030204" pitchFamily="18" charset="0"/>
                      </a:rPr>
                      <m:t>×</m:t>
                    </m:r>
                    <m:r>
                      <a:rPr lang="en-US" altLang="zh-CN" b="1" smtClean="0">
                        <a:solidFill>
                          <a:srgbClr val="C00000"/>
                        </a:solidFill>
                        <a:latin typeface="Cambria Math" panose="02040503050406030204" pitchFamily="18" charset="0"/>
                      </a:rPr>
                      <m:t>𝑨</m:t>
                    </m:r>
                  </m:oMath>
                </a14:m>
                <a:r>
                  <a:rPr lang="zh-CN" altLang="en-US" b="1">
                    <a:solidFill>
                      <a:srgbClr val="C00000"/>
                    </a:solidFill>
                    <a:latin typeface="+mn-ea"/>
                  </a:rPr>
                  <a:t>的一个子集</a:t>
                </a:r>
                <a:endParaRPr lang="zh-CN" altLang="en-US" b="1">
                  <a:solidFill>
                    <a:schemeClr val="accent2">
                      <a:lumMod val="50000"/>
                    </a:schemeClr>
                  </a:solidFill>
                  <a:latin typeface="+mn-ea"/>
                </a:endParaRP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无法简单地说这个子集等于某两个合适集合的笛卡尔积</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这时仍可以运用</a:t>
                </a:r>
                <a:r>
                  <a:rPr lang="zh-CN" altLang="en-US" sz="2000" b="1">
                    <a:solidFill>
                      <a:srgbClr val="C00000"/>
                    </a:solidFill>
                  </a:rPr>
                  <a:t>乘法原理</a:t>
                </a:r>
                <a:r>
                  <a:rPr lang="zh-CN" altLang="en-US" sz="2000" b="1">
                    <a:solidFill>
                      <a:schemeClr val="accent6">
                        <a:lumMod val="50000"/>
                      </a:schemeClr>
                    </a:solidFill>
                  </a:rPr>
                  <a:t>进行计数</a:t>
                </a:r>
                <a:endParaRPr lang="en-US" altLang="zh-CN" sz="20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先确定个位数字有</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𝟓</m:t>
                    </m:r>
                  </m:oMath>
                </a14:m>
                <a:r>
                  <a:rPr lang="zh-CN" altLang="en-US" b="1">
                    <a:solidFill>
                      <a:schemeClr val="accent2">
                        <a:lumMod val="50000"/>
                      </a:schemeClr>
                    </a:solidFill>
                    <a:latin typeface="楷体" panose="02010609060101010101" pitchFamily="49" charset="-122"/>
                    <a:ea typeface="楷体" panose="02010609060101010101" pitchFamily="49" charset="-122"/>
                  </a:rPr>
                  <a:t>种选择，对每个确定的个位数字，十位数字只有</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𝟒</m:t>
                    </m:r>
                  </m:oMath>
                </a14:m>
                <a:r>
                  <a:rPr lang="zh-CN" altLang="en-US" b="1">
                    <a:solidFill>
                      <a:schemeClr val="accent2">
                        <a:lumMod val="50000"/>
                      </a:schemeClr>
                    </a:solidFill>
                    <a:latin typeface="楷体" panose="02010609060101010101" pitchFamily="49" charset="-122"/>
                    <a:ea typeface="楷体" panose="02010609060101010101" pitchFamily="49" charset="-122"/>
                  </a:rPr>
                  <a:t>种选择</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因此总共有</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𝟓</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𝟒</m:t>
                    </m:r>
                    <m:r>
                      <a:rPr lang="en-US" altLang="zh-CN" b="1" i="1" smtClean="0">
                        <a:solidFill>
                          <a:schemeClr val="accent2">
                            <a:lumMod val="50000"/>
                          </a:schemeClr>
                        </a:solidFill>
                        <a:latin typeface="Cambria Math" panose="02040503050406030204" pitchFamily="18" charset="0"/>
                        <a:ea typeface="楷体" panose="02010609060101010101" pitchFamily="49" charset="-122"/>
                      </a:rPr>
                      <m:t> = </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𝟐𝟎</m:t>
                    </m:r>
                  </m:oMath>
                </a14:m>
                <a:r>
                  <a:rPr lang="zh-CN" altLang="en-US" b="1">
                    <a:solidFill>
                      <a:schemeClr val="accent2">
                        <a:lumMod val="50000"/>
                      </a:schemeClr>
                    </a:solidFill>
                    <a:latin typeface="楷体" panose="02010609060101010101" pitchFamily="49" charset="-122"/>
                    <a:ea typeface="楷体" panose="02010609060101010101" pitchFamily="49" charset="-122"/>
                  </a:rPr>
                  <a:t>个用集合</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b="1">
                    <a:solidFill>
                      <a:schemeClr val="accent2">
                        <a:lumMod val="50000"/>
                      </a:schemeClr>
                    </a:solidFill>
                    <a:latin typeface="楷体" panose="02010609060101010101" pitchFamily="49" charset="-122"/>
                    <a:ea typeface="楷体" panose="02010609060101010101" pitchFamily="49" charset="-122"/>
                  </a:rPr>
                  <a:t>的数字组成的数字不同的两位数</a:t>
                </a:r>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1753144" y="1224719"/>
                <a:ext cx="8685705" cy="4031873"/>
              </a:xfrm>
              <a:prstGeom prst="rect">
                <a:avLst/>
              </a:prstGeom>
              <a:blipFill rotWithShape="1">
                <a:blip r:embed="rId2"/>
                <a:stretch>
                  <a:fillRect l="-6" t="-11" r="1" b="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241346" y="5404394"/>
                <a:ext cx="9659092" cy="823302"/>
              </a:xfrm>
              <a:prstGeom prst="rect">
                <a:avLst/>
              </a:prstGeom>
              <a:solidFill>
                <a:schemeClr val="accent4">
                  <a:lumMod val="20000"/>
                  <a:lumOff val="80000"/>
                </a:schemeClr>
              </a:solidFill>
            </p:spPr>
            <p:txBody>
              <a:bodyPr wrap="square" rtlCol="0">
                <a:spAutoFit/>
              </a:bodyPr>
              <a:lstStyle/>
              <a:p>
                <a:pPr>
                  <a:spcBef>
                    <a:spcPts val="600"/>
                  </a:spcBef>
                  <a:spcAft>
                    <a:spcPts val="300"/>
                  </a:spcAft>
                </a:pPr>
                <a:r>
                  <a:rPr lang="zh-CN" altLang="en-US" sz="2000" b="1">
                    <a:solidFill>
                      <a:schemeClr val="accent2">
                        <a:lumMod val="50000"/>
                      </a:schemeClr>
                    </a:solidFill>
                  </a:rPr>
                  <a:t>乘法原理用于对</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oMath>
                </a14:m>
                <a:r>
                  <a:rPr lang="zh-CN" altLang="en-US" sz="2000" b="1">
                    <a:solidFill>
                      <a:schemeClr val="accent2">
                        <a:lumMod val="50000"/>
                      </a:schemeClr>
                    </a:solidFill>
                  </a:rPr>
                  <a:t>个集合</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 ⋯,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的笛卡尔积</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𝑨</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rPr>
                  <a:t>的</a:t>
                </a:r>
                <a:r>
                  <a:rPr lang="zh-CN" altLang="en-US" sz="2000" b="1">
                    <a:solidFill>
                      <a:srgbClr val="C00000"/>
                    </a:solidFill>
                  </a:rPr>
                  <a:t>某个子集</a:t>
                </a:r>
                <a:r>
                  <a:rPr lang="zh-CN" altLang="en-US" sz="2000" b="1">
                    <a:solidFill>
                      <a:schemeClr val="accent2">
                        <a:lumMod val="50000"/>
                      </a:schemeClr>
                    </a:solidFill>
                  </a:rPr>
                  <a:t>的元素进行计数</a:t>
                </a:r>
              </a:p>
              <a:p>
                <a:pPr marL="285750" indent="-28575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而且这个子集的元素要</a:t>
                </a:r>
                <a:r>
                  <a:rPr lang="zh-CN" altLang="en-US" sz="2000" b="1">
                    <a:solidFill>
                      <a:srgbClr val="C00000"/>
                    </a:solidFill>
                    <a:latin typeface="+mn-ea"/>
                  </a:rPr>
                  <a:t>满足一定的性质</a:t>
                </a:r>
                <a:r>
                  <a:rPr lang="zh-CN" altLang="en-US" sz="2000" b="1">
                    <a:solidFill>
                      <a:srgbClr val="002060"/>
                    </a:solidFill>
                    <a:latin typeface="楷体" panose="02010609060101010101" pitchFamily="49" charset="-122"/>
                    <a:ea typeface="楷体" panose="02010609060101010101" pitchFamily="49" charset="-122"/>
                  </a:rPr>
                  <a:t>才能直接运用乘法原理</a:t>
                </a:r>
              </a:p>
            </p:txBody>
          </p:sp>
        </mc:Choice>
        <mc:Fallback xmlns="">
          <p:sp>
            <p:nvSpPr>
              <p:cNvPr id="6" name="文本框 5"/>
              <p:cNvSpPr txBox="1">
                <a:spLocks noRot="1" noChangeAspect="1" noMove="1" noResize="1" noEditPoints="1" noAdjustHandles="1" noChangeArrowheads="1" noChangeShapeType="1" noTextEdit="1"/>
              </p:cNvSpPr>
              <p:nvPr/>
            </p:nvSpPr>
            <p:spPr>
              <a:xfrm>
                <a:off x="1241346" y="5404394"/>
                <a:ext cx="9659092" cy="823302"/>
              </a:xfrm>
              <a:prstGeom prst="rect">
                <a:avLst/>
              </a:prstGeom>
              <a:blipFill rotWithShape="1">
                <a:blip r:embed="rId3"/>
                <a:stretch>
                  <a:fillRect l="-6" t="-66" b="-30435"/>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导入乘法原理集合语言描述的例子（三）</a:t>
            </a:r>
          </a:p>
        </p:txBody>
      </p:sp>
      <mc:AlternateContent xmlns:mc="http://schemas.openxmlformats.org/markup-compatibility/2006" xmlns:a14="http://schemas.microsoft.com/office/drawing/2010/main">
        <mc:Choice Requires="a14">
          <p:sp>
            <p:nvSpPr>
              <p:cNvPr id="6" name="文本框 5"/>
              <p:cNvSpPr txBox="1"/>
              <p:nvPr/>
            </p:nvSpPr>
            <p:spPr>
              <a:xfrm>
                <a:off x="1389963" y="1230163"/>
                <a:ext cx="9412072" cy="3670236"/>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两位数计数例子（三）</a:t>
                </a: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用集合</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 = </m:t>
                    </m:r>
                    <m:r>
                      <m:rPr>
                        <m:lit/>
                      </m:rP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𝟎</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𝟏</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𝟐</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𝟑</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𝟒</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𝟓</m:t>
                    </m:r>
                    <m:r>
                      <m:rPr>
                        <m:lit/>
                      </m:rPr>
                      <a:rPr lang="en-US" altLang="zh-CN" sz="2000" b="1" i="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的数字可组成多少个数字不同的两位数？</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若先确定十位数字再确定个位数字，则十位数字不能选</a:t>
                </a:r>
                <a:r>
                  <a:rPr lang="en-US" altLang="zh-CN" sz="2000" b="1">
                    <a:solidFill>
                      <a:schemeClr val="accent6">
                        <a:lumMod val="50000"/>
                      </a:schemeClr>
                    </a:solidFill>
                  </a:rPr>
                  <a:t>0</a:t>
                </a:r>
                <a:r>
                  <a:rPr lang="zh-CN" altLang="en-US" sz="2000" b="1">
                    <a:solidFill>
                      <a:schemeClr val="accent6">
                        <a:lumMod val="50000"/>
                      </a:schemeClr>
                    </a:solidFill>
                  </a:rPr>
                  <a:t>而有</a:t>
                </a:r>
                <a:r>
                  <a:rPr lang="en-US" altLang="zh-CN" sz="2000" b="1">
                    <a:solidFill>
                      <a:schemeClr val="accent6">
                        <a:lumMod val="50000"/>
                      </a:schemeClr>
                    </a:solidFill>
                  </a:rPr>
                  <a:t>5</a:t>
                </a:r>
                <a:r>
                  <a:rPr lang="zh-CN" altLang="en-US" sz="2000" b="1">
                    <a:solidFill>
                      <a:schemeClr val="accent6">
                        <a:lumMod val="50000"/>
                      </a:schemeClr>
                    </a:solidFill>
                  </a:rPr>
                  <a:t>个可选数字</a:t>
                </a:r>
              </a:p>
              <a:p>
                <a:pPr marL="742950" lvl="1" indent="-285750">
                  <a:lnSpc>
                    <a:spcPts val="24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个位数字无论十位数字选什么都有</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𝟓</m:t>
                    </m:r>
                  </m:oMath>
                </a14:m>
                <a:r>
                  <a:rPr lang="zh-CN" altLang="en-US" b="1">
                    <a:solidFill>
                      <a:schemeClr val="accent2">
                        <a:lumMod val="50000"/>
                      </a:schemeClr>
                    </a:solidFill>
                    <a:latin typeface="楷体" panose="02010609060101010101" pitchFamily="49" charset="-122"/>
                    <a:ea typeface="楷体" panose="02010609060101010101" pitchFamily="49" charset="-122"/>
                  </a:rPr>
                  <a:t>个可选数字，由乘法原理，可组成</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𝟓</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𝟓</m:t>
                    </m:r>
                    <m:r>
                      <a:rPr lang="en-US" altLang="zh-CN" b="1" i="1" smtClean="0">
                        <a:solidFill>
                          <a:schemeClr val="accent2">
                            <a:lumMod val="50000"/>
                          </a:schemeClr>
                        </a:solidFill>
                        <a:latin typeface="Cambria Math" panose="02040503050406030204" pitchFamily="18" charset="0"/>
                        <a:ea typeface="楷体" panose="02010609060101010101" pitchFamily="49" charset="-122"/>
                      </a:rPr>
                      <m:t> = </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𝟐𝟓</m:t>
                    </m:r>
                  </m:oMath>
                </a14:m>
                <a:r>
                  <a:rPr lang="zh-CN" altLang="en-US" b="1">
                    <a:solidFill>
                      <a:schemeClr val="accent2">
                        <a:lumMod val="50000"/>
                      </a:schemeClr>
                    </a:solidFill>
                    <a:latin typeface="楷体" panose="02010609060101010101" pitchFamily="49" charset="-122"/>
                    <a:ea typeface="楷体" panose="02010609060101010101" pitchFamily="49" charset="-122"/>
                  </a:rPr>
                  <a:t>个数字不同的两位数</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但若先确定个位数字再确定十位数字，那</a:t>
                </a:r>
                <a:r>
                  <a:rPr lang="zh-CN" altLang="en-US" b="1"/>
                  <a:t>么</a:t>
                </a:r>
              </a:p>
              <a:p>
                <a:pPr marL="742950" lvl="1" indent="-28575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个位数字选</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和个位数字选其他数字，十位数字可选的数字个数不同</a:t>
                </a:r>
              </a:p>
              <a:p>
                <a:pPr marL="742950" lvl="1" indent="-285750">
                  <a:spcBef>
                    <a:spcPts val="600"/>
                  </a:spcBef>
                  <a:spcAft>
                    <a:spcPts val="300"/>
                  </a:spcAft>
                  <a:buFont typeface="Arial" panose="020B0604020202020204" pitchFamily="34" charset="0"/>
                  <a:buChar char="•"/>
                </a:pPr>
                <a:r>
                  <a:rPr lang="zh-CN" altLang="en-US" b="1">
                    <a:solidFill>
                      <a:srgbClr val="C00000"/>
                    </a:solidFill>
                    <a:latin typeface="+mn-ea"/>
                  </a:rPr>
                  <a:t>这时无法直接应用乘法原理！！</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所以，先确定十位数字还是先确定个位数字</a:t>
                </a:r>
                <a:r>
                  <a:rPr lang="zh-CN" altLang="en-US" sz="2000" b="1">
                    <a:solidFill>
                      <a:srgbClr val="C00000"/>
                    </a:solidFill>
                  </a:rPr>
                  <a:t>影响乘法原理的应用</a:t>
                </a:r>
                <a:endParaRPr lang="en-US" altLang="zh-CN" sz="2000" b="1">
                  <a:solidFill>
                    <a:srgbClr val="C00000"/>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389963" y="1230163"/>
                <a:ext cx="9412072" cy="3670236"/>
              </a:xfrm>
              <a:prstGeom prst="rect">
                <a:avLst/>
              </a:prstGeom>
              <a:blipFill rotWithShape="1">
                <a:blip r:embed="rId2"/>
                <a:stretch>
                  <a:fillRect l="-6" t="-5" r="1"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06857" y="5202244"/>
                <a:ext cx="10978283" cy="861774"/>
              </a:xfrm>
              <a:prstGeom prst="rect">
                <a:avLst/>
              </a:prstGeom>
              <a:solidFill>
                <a:schemeClr val="accent4">
                  <a:lumMod val="20000"/>
                  <a:lumOff val="80000"/>
                </a:schemeClr>
              </a:solidFill>
            </p:spPr>
            <p:txBody>
              <a:bodyPr wrap="square" rtlCol="0">
                <a:spAutoFit/>
              </a:bodyPr>
              <a:lstStyle/>
              <a:p>
                <a:pPr algn="ctr">
                  <a:spcBef>
                    <a:spcPts val="600"/>
                  </a:spcBef>
                  <a:spcAft>
                    <a:spcPts val="600"/>
                  </a:spcAft>
                </a:pPr>
                <a:r>
                  <a:rPr lang="zh-CN" altLang="en-US" sz="2000" b="1">
                    <a:solidFill>
                      <a:schemeClr val="accent2">
                        <a:lumMod val="50000"/>
                      </a:schemeClr>
                    </a:solidFill>
                  </a:rPr>
                  <a:t>使用乘法原理计数的对象是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oMath>
                </a14:m>
                <a:r>
                  <a:rPr lang="en-US" altLang="zh-CN" sz="2000" b="1">
                    <a:solidFill>
                      <a:schemeClr val="accent2">
                        <a:lumMod val="50000"/>
                      </a:schemeClr>
                    </a:solidFill>
                  </a:rPr>
                  <a:t>-</a:t>
                </a:r>
                <a:r>
                  <a:rPr lang="zh-CN" altLang="en-US" sz="2000" b="1">
                    <a:solidFill>
                      <a:schemeClr val="accent2">
                        <a:lumMod val="50000"/>
                      </a:schemeClr>
                    </a:solidFill>
                  </a:rPr>
                  <a:t>元组构成的集合</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元组的每个分量可看成一个个子任务，可看到，</a:t>
                </a:r>
                <a:r>
                  <a:rPr lang="zh-CN" altLang="en-US" sz="2000" b="1">
                    <a:solidFill>
                      <a:srgbClr val="C00000"/>
                    </a:solidFill>
                    <a:latin typeface="+mn-ea"/>
                  </a:rPr>
                  <a:t>子任务完成顺序</a:t>
                </a:r>
                <a:r>
                  <a:rPr lang="zh-CN" altLang="en-US" sz="2000" b="1">
                    <a:solidFill>
                      <a:srgbClr val="002060"/>
                    </a:solidFill>
                    <a:latin typeface="楷体" panose="02010609060101010101" pitchFamily="49" charset="-122"/>
                    <a:ea typeface="楷体" panose="02010609060101010101" pitchFamily="49" charset="-122"/>
                  </a:rPr>
                  <a:t>与能否应用乘法原理相关</a:t>
                </a:r>
              </a:p>
            </p:txBody>
          </p:sp>
        </mc:Choice>
        <mc:Fallback xmlns="">
          <p:sp>
            <p:nvSpPr>
              <p:cNvPr id="11" name="文本框 10"/>
              <p:cNvSpPr txBox="1">
                <a:spLocks noRot="1" noChangeAspect="1" noMove="1" noResize="1" noEditPoints="1" noAdjustHandles="1" noChangeArrowheads="1" noChangeShapeType="1" noTextEdit="1"/>
              </p:cNvSpPr>
              <p:nvPr/>
            </p:nvSpPr>
            <p:spPr>
              <a:xfrm>
                <a:off x="606857" y="5202244"/>
                <a:ext cx="10978283" cy="861774"/>
              </a:xfrm>
              <a:prstGeom prst="rect">
                <a:avLst/>
              </a:prstGeom>
              <a:blipFill rotWithShape="1">
                <a:blip r:embed="rId3"/>
                <a:stretch>
                  <a:fillRect l="-4" t="-38" r="2" b="47"/>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乘法原理的集合语言描述</a:t>
            </a:r>
          </a:p>
        </p:txBody>
      </p:sp>
      <mc:AlternateContent xmlns:mc="http://schemas.openxmlformats.org/markup-compatibility/2006" xmlns:a14="http://schemas.microsoft.com/office/drawing/2010/main">
        <mc:Choice Requires="a14">
          <p:sp>
            <p:nvSpPr>
              <p:cNvPr id="2" name="文本框 1"/>
              <p:cNvSpPr txBox="1"/>
              <p:nvPr/>
            </p:nvSpPr>
            <p:spPr>
              <a:xfrm>
                <a:off x="714854" y="1318238"/>
                <a:ext cx="10762290" cy="184665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乘法原理</a:t>
                </a:r>
                <a:r>
                  <a:rPr lang="en-US" altLang="zh-CN" sz="2400" b="1">
                    <a:solidFill>
                      <a:schemeClr val="accent2">
                        <a:lumMod val="50000"/>
                      </a:schemeClr>
                    </a:solidFill>
                  </a:rPr>
                  <a:t>(Multiplication Principle)</a:t>
                </a:r>
                <a:r>
                  <a:rPr lang="zh-CN" altLang="en-US" sz="2400" b="1">
                    <a:solidFill>
                      <a:schemeClr val="accent2">
                        <a:lumMod val="50000"/>
                      </a:schemeClr>
                    </a:solidFill>
                  </a:rPr>
                  <a:t>，或称为</a:t>
                </a:r>
                <a:r>
                  <a:rPr lang="zh-CN" altLang="en-US" sz="2400" b="1">
                    <a:solidFill>
                      <a:srgbClr val="C00000"/>
                    </a:solidFill>
                  </a:rPr>
                  <a:t>乘法法则</a:t>
                </a:r>
                <a:r>
                  <a:rPr lang="en-US" altLang="zh-CN" sz="2400" b="1">
                    <a:solidFill>
                      <a:schemeClr val="accent2">
                        <a:lumMod val="50000"/>
                      </a:schemeClr>
                    </a:solidFill>
                  </a:rPr>
                  <a:t>(product rule)</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若集合</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的每个元素都是</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个元素构成的序列（</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元组）</a:t>
                </a:r>
                <a14:m>
                  <m:oMath xmlns:m="http://schemas.openxmlformats.org/officeDocument/2006/math">
                    <m:d>
                      <m:dPr>
                        <m:begChr m:val="⟨"/>
                        <m:endChr m:val="⟩"/>
                        <m:ctrlPr>
                          <a:rPr lang="en-US" altLang="zh-CN" sz="2000" b="1" i="1" smtClean="0">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𝒔</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𝒔</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𝒔</m:t>
                            </m:r>
                          </m:e>
                          <m:sub>
                            <m:r>
                              <a:rPr lang="en-US" altLang="zh-CN" sz="2000" b="1" i="1" smtClean="0">
                                <a:solidFill>
                                  <a:srgbClr val="002060"/>
                                </a:solidFill>
                                <a:latin typeface="Cambria Math" panose="02040503050406030204" pitchFamily="18" charset="0"/>
                              </a:rPr>
                              <m:t>𝒏</m:t>
                            </m:r>
                          </m:sub>
                        </m:sSub>
                      </m:e>
                    </m:d>
                  </m:oMath>
                </a14:m>
                <a:endParaRPr lang="en-US" altLang="zh-CN" sz="2000" b="1">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每个元素</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𝒔</m:t>
                        </m:r>
                      </m:e>
                      <m:sub>
                        <m:r>
                          <a:rPr lang="en-US" altLang="zh-CN" sz="2000" b="1" i="1" smtClean="0">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可能取值有</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种，且</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𝒊</m:t>
                    </m:r>
                    <m:r>
                      <a:rPr lang="en-US" altLang="zh-CN" sz="2000" b="1" i="1" smtClean="0">
                        <a:solidFill>
                          <a:schemeClr val="accent6">
                            <a:lumMod val="50000"/>
                          </a:schemeClr>
                        </a:solidFill>
                        <a:latin typeface="Cambria Math" panose="02040503050406030204" pitchFamily="18" charset="0"/>
                      </a:rPr>
                      <m:t>&lt;</m:t>
                    </m:r>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a:t>
                </a:r>
                <a:r>
                  <a:rPr lang="zh-CN" altLang="en-US" sz="2000" b="1">
                    <a:solidFill>
                      <a:srgbClr val="C00000"/>
                    </a:solidFill>
                  </a:rPr>
                  <a:t>无论</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𝒔</m:t>
                        </m:r>
                      </m:e>
                      <m:sub>
                        <m:r>
                          <a:rPr lang="en-US" altLang="zh-CN" sz="2000" b="1" i="1" smtClean="0">
                            <a:solidFill>
                              <a:srgbClr val="C00000"/>
                            </a:solidFill>
                            <a:latin typeface="Cambria Math" panose="02040503050406030204" pitchFamily="18" charset="0"/>
                          </a:rPr>
                          <m:t>𝒊</m:t>
                        </m:r>
                      </m:sub>
                    </m:sSub>
                  </m:oMath>
                </a14:m>
                <a:r>
                  <a:rPr lang="zh-CN" altLang="en-US" sz="2000" b="1">
                    <a:solidFill>
                      <a:srgbClr val="C00000"/>
                    </a:solidFill>
                  </a:rPr>
                  <a:t>取</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𝒎</m:t>
                        </m:r>
                      </m:e>
                      <m:sub>
                        <m:r>
                          <a:rPr lang="en-US" altLang="zh-CN" sz="2000" b="1" i="1" smtClean="0">
                            <a:solidFill>
                              <a:srgbClr val="C00000"/>
                            </a:solidFill>
                            <a:latin typeface="Cambria Math" panose="02040503050406030204" pitchFamily="18" charset="0"/>
                          </a:rPr>
                          <m:t>𝒊</m:t>
                        </m:r>
                      </m:sub>
                    </m:sSub>
                  </m:oMath>
                </a14:m>
                <a:r>
                  <a:rPr lang="zh-CN" altLang="en-US" sz="2000" b="1">
                    <a:solidFill>
                      <a:srgbClr val="C00000"/>
                    </a:solidFill>
                  </a:rPr>
                  <a:t>种值哪个值，</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𝒔</m:t>
                        </m:r>
                      </m:e>
                      <m:sub>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oMath>
                </a14:m>
                <a:r>
                  <a:rPr lang="zh-CN" altLang="en-US" sz="2000" b="1">
                    <a:solidFill>
                      <a:srgbClr val="C00000"/>
                    </a:solidFill>
                  </a:rPr>
                  <a:t>都有</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𝒎</m:t>
                        </m:r>
                      </m:e>
                      <m:sub>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oMath>
                </a14:m>
                <a:r>
                  <a:rPr lang="zh-CN" altLang="en-US" sz="2000" b="1">
                    <a:solidFill>
                      <a:srgbClr val="C00000"/>
                    </a:solidFill>
                  </a:rPr>
                  <a:t>种可能取值</a:t>
                </a:r>
                <a:endParaRPr lang="zh-CN" altLang="en-US"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则集合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rPr>
                  <a:t>的元素个数</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𝑺</m:t>
                        </m:r>
                      </m:e>
                    </m:d>
                    <m:r>
                      <a:rPr lang="en-US" altLang="zh-CN" sz="2000" b="1" i="1" smtClean="0">
                        <a:solidFill>
                          <a:schemeClr val="accent2">
                            <a:lumMod val="50000"/>
                          </a:schemeClr>
                        </a:solidFill>
                        <a:latin typeface="Cambria Math" panose="02040503050406030204" pitchFamily="18" charset="0"/>
                      </a:rPr>
                      <m: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𝟏</m:t>
                        </m:r>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6">
                        <a:lumMod val="50000"/>
                      </a:schemeClr>
                    </a:solidFill>
                  </a:rPr>
                  <a:t>（或</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𝑺</m:t>
                        </m:r>
                      </m:e>
                    </m:d>
                    <m:r>
                      <a:rPr lang="en-US" altLang="zh-CN" sz="2000" b="1" i="1" smtClean="0">
                        <a:solidFill>
                          <a:schemeClr val="accent2">
                            <a:lumMod val="50000"/>
                          </a:schemeClr>
                        </a:solidFill>
                        <a:latin typeface="Cambria Math" panose="02040503050406030204" pitchFamily="18" charset="0"/>
                      </a:rPr>
                      <m:t>= </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6">
                        <a:lumMod val="50000"/>
                      </a:schemeClr>
                    </a:solidFill>
                  </a:rPr>
                  <a:t>）</a:t>
                </a:r>
              </a:p>
            </p:txBody>
          </p:sp>
        </mc:Choice>
        <mc:Fallback xmlns="">
          <p:sp>
            <p:nvSpPr>
              <p:cNvPr id="2" name="文本框 1"/>
              <p:cNvSpPr txBox="1">
                <a:spLocks noRot="1" noChangeAspect="1" noMove="1" noResize="1" noEditPoints="1" noAdjustHandles="1" noChangeArrowheads="1" noChangeShapeType="1" noTextEdit="1"/>
              </p:cNvSpPr>
              <p:nvPr/>
            </p:nvSpPr>
            <p:spPr>
              <a:xfrm>
                <a:off x="714854" y="1318238"/>
                <a:ext cx="10762290" cy="1846659"/>
              </a:xfrm>
              <a:prstGeom prst="rect">
                <a:avLst/>
              </a:prstGeom>
              <a:blipFill rotWithShape="1">
                <a:blip r:embed="rId2"/>
                <a:stretch>
                  <a:fillRect l="-4" t="-33" r="1"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552506" y="3678358"/>
                <a:ext cx="8433531" cy="2308324"/>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乘法原理体现计数的分步思维</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设想集合</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是完成一个任务的方法集，这个任务可分为</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个相继步骤</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每个步骤完成一个子任务，子任务完成方法数分别是</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𝒎</m:t>
                        </m:r>
                      </m:e>
                      <m:sub>
                        <m:r>
                          <a:rPr lang="en-US" altLang="zh-CN" sz="2000" b="1" i="1" smtClean="0">
                            <a:solidFill>
                              <a:schemeClr val="accent6">
                                <a:lumMod val="50000"/>
                              </a:schemeClr>
                            </a:solidFill>
                            <a:latin typeface="Cambria Math" panose="02040503050406030204" pitchFamily="18" charset="0"/>
                          </a:rPr>
                          <m:t>𝒏</m:t>
                        </m:r>
                      </m:sub>
                    </m:sSub>
                  </m:oMath>
                </a14:m>
                <a:r>
                  <a:rPr lang="zh-CN" altLang="en-US" sz="2000" b="1">
                    <a:solidFill>
                      <a:schemeClr val="accent6">
                        <a:lumMod val="50000"/>
                      </a:schemeClr>
                    </a:solidFill>
                  </a:rPr>
                  <a:t>，且</a:t>
                </a:r>
                <a:r>
                  <a:rPr lang="zh-CN" altLang="en-US" sz="2000" b="1">
                    <a:solidFill>
                      <a:srgbClr val="C00000"/>
                    </a:solidFill>
                  </a:rPr>
                  <a:t>无论第</a:t>
                </a:r>
                <a14:m>
                  <m:oMath xmlns:m="http://schemas.openxmlformats.org/officeDocument/2006/math">
                    <m:r>
                      <a:rPr lang="en-US" altLang="zh-CN" sz="2000" b="1" i="1" smtClean="0">
                        <a:solidFill>
                          <a:srgbClr val="C00000"/>
                        </a:solidFill>
                        <a:latin typeface="Cambria Math" panose="02040503050406030204" pitchFamily="18" charset="0"/>
                      </a:rPr>
                      <m:t>𝒊</m:t>
                    </m:r>
                  </m:oMath>
                </a14:m>
                <a:r>
                  <a:rPr lang="zh-CN" altLang="en-US" sz="2000" b="1">
                    <a:solidFill>
                      <a:srgbClr val="C00000"/>
                    </a:solidFill>
                  </a:rPr>
                  <a:t>个任务使用哪种方法完成，第</a:t>
                </a:r>
                <a14:m>
                  <m:oMath xmlns:m="http://schemas.openxmlformats.org/officeDocument/2006/math">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oMath>
                </a14:m>
                <a:r>
                  <a:rPr lang="zh-CN" altLang="en-US" sz="2000" b="1">
                    <a:solidFill>
                      <a:srgbClr val="C00000"/>
                    </a:solidFill>
                  </a:rPr>
                  <a:t>个任务都有</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𝒎</m:t>
                        </m:r>
                      </m:e>
                      <m:sub>
                        <m:r>
                          <a:rPr lang="en-US" altLang="zh-CN" sz="2000" b="1" i="1" smtClean="0">
                            <a:solidFill>
                              <a:srgbClr val="C00000"/>
                            </a:solidFill>
                            <a:latin typeface="Cambria Math" panose="02040503050406030204" pitchFamily="18" charset="0"/>
                          </a:rPr>
                          <m:t>𝒊</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oMath>
                </a14:m>
                <a:r>
                  <a:rPr lang="zh-CN" altLang="en-US" sz="2000" b="1">
                    <a:solidFill>
                      <a:srgbClr val="C00000"/>
                    </a:solidFill>
                  </a:rPr>
                  <a:t>种方法完成</a:t>
                </a:r>
                <a:endParaRPr lang="zh-CN" altLang="en-US"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则整个任务的完成方法数，即</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rPr>
                  <a:t>的元素个数是</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𝟏</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𝟐</m:t>
                        </m:r>
                      </m:sub>
                    </m:sSub>
                    <m:r>
                      <a:rPr lang="en-US" altLang="zh-CN" sz="2000" b="1" i="1" smtClean="0">
                        <a:solidFill>
                          <a:schemeClr val="accent2">
                            <a:lumMod val="50000"/>
                          </a:schemeClr>
                        </a:solidFill>
                        <a:latin typeface="Cambria Math" panose="02040503050406030204" pitchFamily="18" charset="0"/>
                      </a:rPr>
                      <m:t>×⋯×</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𝒎</m:t>
                        </m:r>
                      </m:e>
                      <m:sub>
                        <m:r>
                          <a:rPr lang="en-US" altLang="zh-CN" sz="2000" b="1" i="1" smtClean="0">
                            <a:solidFill>
                              <a:schemeClr val="accent2">
                                <a:lumMod val="50000"/>
                              </a:schemeClr>
                            </a:solidFill>
                            <a:latin typeface="Cambria Math" panose="02040503050406030204" pitchFamily="18" charset="0"/>
                          </a:rPr>
                          <m:t>𝒏</m:t>
                        </m:r>
                      </m:sub>
                    </m:sSub>
                  </m:oMath>
                </a14:m>
                <a:endParaRPr lang="en-US" altLang="zh-CN" sz="2000" b="1"/>
              </a:p>
            </p:txBody>
          </p:sp>
        </mc:Choice>
        <mc:Fallback xmlns="">
          <p:sp>
            <p:nvSpPr>
              <p:cNvPr id="3" name="文本框 2"/>
              <p:cNvSpPr txBox="1">
                <a:spLocks noRot="1" noChangeAspect="1" noMove="1" noResize="1" noEditPoints="1" noAdjustHandles="1" noChangeArrowheads="1" noChangeShapeType="1" noTextEdit="1"/>
              </p:cNvSpPr>
              <p:nvPr/>
            </p:nvSpPr>
            <p:spPr>
              <a:xfrm>
                <a:off x="1552506" y="3678358"/>
                <a:ext cx="8433531" cy="2308324"/>
              </a:xfrm>
              <a:prstGeom prst="rect">
                <a:avLst/>
              </a:prstGeom>
              <a:blipFill rotWithShape="1">
                <a:blip r:embed="rId3"/>
                <a:stretch>
                  <a:fillRect l="-7" t="-19" b="-13539"/>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相关性与独立性</a:t>
            </a:r>
          </a:p>
        </p:txBody>
      </p:sp>
      <p:sp>
        <p:nvSpPr>
          <p:cNvPr id="2" name="文本框 1"/>
          <p:cNvSpPr txBox="1"/>
          <p:nvPr/>
        </p:nvSpPr>
        <p:spPr>
          <a:xfrm>
            <a:off x="1475482" y="1120626"/>
            <a:ext cx="9241033" cy="138499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chemeClr val="accent2">
                    <a:lumMod val="50000"/>
                  </a:schemeClr>
                </a:solidFill>
              </a:rPr>
              <a:t>应用乘法原理时子任务之间的相关性与独立性</a:t>
            </a:r>
            <a:endParaRPr lang="en-US" altLang="zh-CN" sz="2400" b="1" dirty="0">
              <a:solidFill>
                <a:schemeClr val="accent2">
                  <a:lumMod val="50000"/>
                </a:schemeClr>
              </a:solidFill>
            </a:endParaRPr>
          </a:p>
          <a:p>
            <a:pPr marL="342900" indent="-342900">
              <a:spcBef>
                <a:spcPts val="600"/>
              </a:spcBef>
              <a:spcAft>
                <a:spcPts val="600"/>
              </a:spcAft>
              <a:buFont typeface="Arial" panose="020B0604020202020204" pitchFamily="34" charset="0"/>
              <a:buChar char="•"/>
            </a:pPr>
            <a:r>
              <a:rPr lang="zh-CN" altLang="en-US" sz="2000" b="1" dirty="0">
                <a:solidFill>
                  <a:srgbClr val="C00000"/>
                </a:solidFill>
                <a:latin typeface="+mn-ea"/>
              </a:rPr>
              <a:t>相关性</a:t>
            </a:r>
            <a:r>
              <a:rPr lang="zh-CN" altLang="en-US" sz="2000" b="1" dirty="0">
                <a:solidFill>
                  <a:srgbClr val="002060"/>
                </a:solidFill>
                <a:latin typeface="楷体" panose="02010609060101010101" pitchFamily="49" charset="-122"/>
                <a:ea typeface="楷体" panose="02010609060101010101" pitchFamily="49" charset="-122"/>
              </a:rPr>
              <a:t>：前一个任务选择不同的完成方法，后一个任务有</a:t>
            </a:r>
            <a:r>
              <a:rPr lang="zh-CN" altLang="en-US" sz="2000" b="1" dirty="0">
                <a:solidFill>
                  <a:srgbClr val="0000FF"/>
                </a:solidFill>
                <a:latin typeface="楷体" panose="02010609060101010101" pitchFamily="49" charset="-122"/>
                <a:ea typeface="楷体" panose="02010609060101010101" pitchFamily="49" charset="-122"/>
              </a:rPr>
              <a:t>不同的可选完成方法</a:t>
            </a:r>
          </a:p>
          <a:p>
            <a:pPr marL="342900" indent="-342900">
              <a:spcBef>
                <a:spcPts val="600"/>
              </a:spcBef>
              <a:spcAft>
                <a:spcPts val="600"/>
              </a:spcAft>
              <a:buFont typeface="Arial" panose="020B0604020202020204" pitchFamily="34" charset="0"/>
              <a:buChar char="•"/>
            </a:pPr>
            <a:r>
              <a:rPr lang="zh-CN" altLang="en-US" sz="2000" b="1" dirty="0">
                <a:solidFill>
                  <a:srgbClr val="C00000"/>
                </a:solidFill>
                <a:latin typeface="+mn-ea"/>
              </a:rPr>
              <a:t>独立性</a:t>
            </a:r>
            <a:r>
              <a:rPr lang="zh-CN" altLang="en-US" sz="2000" b="1" dirty="0">
                <a:solidFill>
                  <a:srgbClr val="002060"/>
                </a:solidFill>
                <a:latin typeface="楷体" panose="02010609060101010101" pitchFamily="49" charset="-122"/>
                <a:ea typeface="楷体" panose="02010609060101010101" pitchFamily="49" charset="-122"/>
              </a:rPr>
              <a:t>：无论前一个任务选择哪种完成方法，后一个任务的</a:t>
            </a:r>
            <a:r>
              <a:rPr lang="zh-CN" altLang="en-US" sz="2000" b="1" dirty="0">
                <a:solidFill>
                  <a:srgbClr val="0000FF"/>
                </a:solidFill>
                <a:latin typeface="楷体" panose="02010609060101010101" pitchFamily="49" charset="-122"/>
                <a:ea typeface="楷体" panose="02010609060101010101" pitchFamily="49" charset="-122"/>
              </a:rPr>
              <a:t>完成方法数相同</a:t>
            </a:r>
          </a:p>
        </p:txBody>
      </p:sp>
      <mc:AlternateContent xmlns:mc="http://schemas.openxmlformats.org/markup-compatibility/2006" xmlns:a14="http://schemas.microsoft.com/office/drawing/2010/main">
        <mc:Choice Requires="a14">
          <p:sp>
            <p:nvSpPr>
              <p:cNvPr id="3" name="文本框 2"/>
              <p:cNvSpPr txBox="1"/>
              <p:nvPr/>
            </p:nvSpPr>
            <p:spPr>
              <a:xfrm>
                <a:off x="973606" y="3206502"/>
                <a:ext cx="7670434"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用集合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m:rPr>
                        <m:lit/>
                      </m:rP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𝟎</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𝟑</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𝟒</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𝟓</m:t>
                    </m:r>
                    <m:r>
                      <m:rPr>
                        <m:lit/>
                      </m:rP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的数字可组成多少个数字不同的两位数？</a:t>
                </a:r>
              </a:p>
            </p:txBody>
          </p:sp>
        </mc:Choice>
        <mc:Fallback xmlns="">
          <p:sp>
            <p:nvSpPr>
              <p:cNvPr id="3" name="文本框 2"/>
              <p:cNvSpPr txBox="1">
                <a:spLocks noRot="1" noChangeAspect="1" noMove="1" noResize="1" noEditPoints="1" noAdjustHandles="1" noChangeArrowheads="1" noChangeShapeType="1" noTextEdit="1"/>
              </p:cNvSpPr>
              <p:nvPr/>
            </p:nvSpPr>
            <p:spPr>
              <a:xfrm>
                <a:off x="973606" y="3206502"/>
                <a:ext cx="7670434" cy="400110"/>
              </a:xfrm>
              <a:prstGeom prst="rect">
                <a:avLst/>
              </a:prstGeom>
              <a:blipFill rotWithShape="1">
                <a:blip r:embed="rId2"/>
                <a:stretch>
                  <a:fillRect l="-2" t="-97" r="-1890" b="1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973606" y="3725107"/>
                <a:ext cx="4797714" cy="2020361"/>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pPr>
                <a:r>
                  <a:rPr lang="zh-CN" altLang="en-US" b="1">
                    <a:solidFill>
                      <a:schemeClr val="accent2">
                        <a:lumMod val="50000"/>
                      </a:schemeClr>
                    </a:solidFill>
                  </a:rPr>
                  <a:t>若先确定十位数字再确定个位数字</a:t>
                </a:r>
              </a:p>
              <a:p>
                <a:pPr marL="342900" indent="-342900">
                  <a:lnSpc>
                    <a:spcPts val="2800"/>
                  </a:lnSpc>
                  <a:spcBef>
                    <a:spcPts val="600"/>
                  </a:spcBef>
                  <a:buFont typeface="Arial" panose="020B0604020202020204" pitchFamily="34" charset="0"/>
                  <a:buChar char="•"/>
                </a:pPr>
                <a:r>
                  <a:rPr lang="zh-CN" altLang="en-US" b="1">
                    <a:solidFill>
                      <a:schemeClr val="accent2">
                        <a:lumMod val="50000"/>
                      </a:schemeClr>
                    </a:solidFill>
                    <a:latin typeface="+mn-ea"/>
                  </a:rPr>
                  <a:t>具有相关性</a:t>
                </a:r>
                <a:r>
                  <a:rPr lang="zh-CN" altLang="en-US" b="1">
                    <a:solidFill>
                      <a:srgbClr val="002060"/>
                    </a:solidFill>
                    <a:latin typeface="楷体" panose="02010609060101010101" pitchFamily="49" charset="-122"/>
                    <a:ea typeface="楷体" panose="02010609060101010101" pitchFamily="49" charset="-122"/>
                  </a:rPr>
                  <a:t>：十位数字选</a:t>
                </a:r>
                <a14:m>
                  <m:oMath xmlns:m="http://schemas.openxmlformats.org/officeDocument/2006/math">
                    <m:r>
                      <a:rPr lang="en-US" altLang="zh-CN" b="1" i="1" smtClean="0">
                        <a:solidFill>
                          <a:srgbClr val="002060"/>
                        </a:solidFill>
                        <a:latin typeface="Cambria Math" panose="02040503050406030204" pitchFamily="18" charset="0"/>
                      </a:rPr>
                      <m:t>𝟏</m:t>
                    </m:r>
                  </m:oMath>
                </a14:m>
                <a:r>
                  <a:rPr lang="zh-CN" altLang="en-US"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b="1" i="1" smtClean="0">
                        <a:solidFill>
                          <a:srgbClr val="002060"/>
                        </a:solidFill>
                        <a:latin typeface="Cambria Math" panose="02040503050406030204" pitchFamily="18" charset="0"/>
                      </a:rPr>
                      <m:t>𝟓</m:t>
                    </m:r>
                  </m:oMath>
                </a14:m>
                <a:r>
                  <a:rPr lang="zh-CN" altLang="en-US" b="1">
                    <a:solidFill>
                      <a:srgbClr val="002060"/>
                    </a:solidFill>
                    <a:latin typeface="楷体" panose="02010609060101010101" pitchFamily="49" charset="-122"/>
                    <a:ea typeface="楷体" panose="02010609060101010101" pitchFamily="49" charset="-122"/>
                  </a:rPr>
                  <a:t>不同数字，个位数字</a:t>
                </a:r>
                <a:r>
                  <a:rPr lang="zh-CN" altLang="en-US" b="1">
                    <a:solidFill>
                      <a:srgbClr val="0000FF"/>
                    </a:solidFill>
                    <a:latin typeface="楷体" panose="02010609060101010101" pitchFamily="49" charset="-122"/>
                    <a:ea typeface="楷体" panose="02010609060101010101" pitchFamily="49" charset="-122"/>
                  </a:rPr>
                  <a:t>可选的数字不同</a:t>
                </a:r>
              </a:p>
              <a:p>
                <a:pPr marL="342900" indent="-342900">
                  <a:lnSpc>
                    <a:spcPts val="2800"/>
                  </a:lnSpc>
                  <a:spcBef>
                    <a:spcPts val="600"/>
                  </a:spcBef>
                  <a:buFont typeface="Arial" panose="020B0604020202020204" pitchFamily="34" charset="0"/>
                  <a:buChar char="•"/>
                </a:pPr>
                <a:r>
                  <a:rPr lang="zh-CN" altLang="en-US" b="1">
                    <a:solidFill>
                      <a:srgbClr val="C00000"/>
                    </a:solidFill>
                    <a:latin typeface="+mn-ea"/>
                  </a:rPr>
                  <a:t>具有</a:t>
                </a:r>
                <a:r>
                  <a:rPr lang="zh-CN" altLang="en-US" b="1">
                    <a:solidFill>
                      <a:schemeClr val="accent2">
                        <a:lumMod val="50000"/>
                      </a:schemeClr>
                    </a:solidFill>
                    <a:latin typeface="+mn-ea"/>
                  </a:rPr>
                  <a:t>独立性</a:t>
                </a:r>
                <a:r>
                  <a:rPr lang="zh-CN" altLang="en-US" b="1">
                    <a:solidFill>
                      <a:srgbClr val="002060"/>
                    </a:solidFill>
                    <a:latin typeface="楷体" panose="02010609060101010101" pitchFamily="49" charset="-122"/>
                    <a:ea typeface="楷体" panose="02010609060101010101" pitchFamily="49" charset="-122"/>
                  </a:rPr>
                  <a:t>：十位数字选</a:t>
                </a:r>
                <a14:m>
                  <m:oMath xmlns:m="http://schemas.openxmlformats.org/officeDocument/2006/math">
                    <m:r>
                      <a:rPr lang="en-US" altLang="zh-CN" b="1" i="1" smtClean="0">
                        <a:solidFill>
                          <a:srgbClr val="002060"/>
                        </a:solidFill>
                        <a:latin typeface="Cambria Math" panose="02040503050406030204" pitchFamily="18" charset="0"/>
                      </a:rPr>
                      <m:t>𝟏</m:t>
                    </m:r>
                  </m:oMath>
                </a14:m>
                <a:r>
                  <a:rPr lang="zh-CN" altLang="en-US"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𝟓</m:t>
                    </m:r>
                  </m:oMath>
                </a14:m>
                <a:r>
                  <a:rPr lang="zh-CN" altLang="en-US" b="1">
                    <a:solidFill>
                      <a:srgbClr val="002060"/>
                    </a:solidFill>
                    <a:latin typeface="楷体" panose="02010609060101010101" pitchFamily="49" charset="-122"/>
                    <a:ea typeface="楷体" panose="02010609060101010101" pitchFamily="49" charset="-122"/>
                  </a:rPr>
                  <a:t>某个数字，个位数字</a:t>
                </a:r>
                <a:r>
                  <a:rPr lang="zh-CN" altLang="en-US" b="1">
                    <a:solidFill>
                      <a:srgbClr val="0000FF"/>
                    </a:solidFill>
                    <a:latin typeface="楷体" panose="02010609060101010101" pitchFamily="49" charset="-122"/>
                    <a:ea typeface="楷体" panose="02010609060101010101" pitchFamily="49" charset="-122"/>
                  </a:rPr>
                  <a:t>可选的数字</a:t>
                </a:r>
                <a:r>
                  <a:rPr lang="zh-CN" altLang="en-US" b="1">
                    <a:solidFill>
                      <a:srgbClr val="C00000"/>
                    </a:solidFill>
                    <a:latin typeface="楷体" panose="02010609060101010101" pitchFamily="49" charset="-122"/>
                    <a:ea typeface="楷体" panose="02010609060101010101" pitchFamily="49" charset="-122"/>
                  </a:rPr>
                  <a:t>个数相同</a:t>
                </a:r>
              </a:p>
            </p:txBody>
          </p:sp>
        </mc:Choice>
        <mc:Fallback xmlns="">
          <p:sp>
            <p:nvSpPr>
              <p:cNvPr id="4" name="文本框 3"/>
              <p:cNvSpPr txBox="1">
                <a:spLocks noRot="1" noChangeAspect="1" noMove="1" noResize="1" noEditPoints="1" noAdjustHandles="1" noChangeArrowheads="1" noChangeShapeType="1" noTextEdit="1"/>
              </p:cNvSpPr>
              <p:nvPr/>
            </p:nvSpPr>
            <p:spPr>
              <a:xfrm>
                <a:off x="973606" y="3725107"/>
                <a:ext cx="4797714" cy="2020361"/>
              </a:xfrm>
              <a:prstGeom prst="rect">
                <a:avLst/>
              </a:prstGeom>
              <a:blipFill rotWithShape="1">
                <a:blip r:embed="rId3"/>
                <a:stretch>
                  <a:fillRect l="-3" t="-10" r="9" b="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6360231" y="3726300"/>
                <a:ext cx="4858163" cy="1969065"/>
              </a:xfrm>
              <a:prstGeom prst="rect">
                <a:avLst/>
              </a:prstGeom>
              <a:solidFill>
                <a:schemeClr val="accent5">
                  <a:lumMod val="20000"/>
                  <a:lumOff val="80000"/>
                  <a:alpha val="50000"/>
                </a:schemeClr>
              </a:solidFill>
            </p:spPr>
            <p:txBody>
              <a:bodyPr wrap="square" rtlCol="0">
                <a:spAutoFit/>
              </a:bodyPr>
              <a:lstStyle/>
              <a:p>
                <a:pPr>
                  <a:spcBef>
                    <a:spcPts val="600"/>
                  </a:spcBef>
                </a:pPr>
                <a:r>
                  <a:rPr lang="zh-CN" altLang="en-US" b="1">
                    <a:solidFill>
                      <a:schemeClr val="accent2">
                        <a:lumMod val="50000"/>
                      </a:schemeClr>
                    </a:solidFill>
                  </a:rPr>
                  <a:t>若先确定个位数字再确定十位数字</a:t>
                </a:r>
              </a:p>
              <a:p>
                <a:pPr marL="342900" indent="-342900">
                  <a:lnSpc>
                    <a:spcPts val="2800"/>
                  </a:lnSpc>
                  <a:spcBef>
                    <a:spcPts val="600"/>
                  </a:spcBef>
                  <a:buFont typeface="Arial" panose="020B0604020202020204" pitchFamily="34" charset="0"/>
                  <a:buChar char="•"/>
                </a:pPr>
                <a:r>
                  <a:rPr lang="zh-CN" altLang="en-US" b="1">
                    <a:solidFill>
                      <a:schemeClr val="accent2">
                        <a:lumMod val="50000"/>
                      </a:schemeClr>
                    </a:solidFill>
                    <a:latin typeface="+mn-ea"/>
                  </a:rPr>
                  <a:t>具有相关性</a:t>
                </a:r>
                <a:r>
                  <a:rPr lang="zh-CN" altLang="en-US" b="1">
                    <a:solidFill>
                      <a:srgbClr val="002060"/>
                    </a:solidFill>
                    <a:latin typeface="楷体" panose="02010609060101010101" pitchFamily="49" charset="-122"/>
                    <a:ea typeface="楷体" panose="02010609060101010101" pitchFamily="49" charset="-122"/>
                  </a:rPr>
                  <a:t>：个位数字选</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𝟎</m:t>
                    </m:r>
                  </m:oMath>
                </a14:m>
                <a:r>
                  <a:rPr lang="zh-CN" altLang="en-US" b="1">
                    <a:solidFill>
                      <a:srgbClr val="002060"/>
                    </a:solidFill>
                    <a:latin typeface="楷体" panose="02010609060101010101" pitchFamily="49" charset="-122"/>
                    <a:ea typeface="楷体" panose="02010609060101010101" pitchFamily="49" charset="-122"/>
                  </a:rPr>
                  <a:t>和选其他数字，十位数字</a:t>
                </a:r>
                <a:r>
                  <a:rPr lang="zh-CN" altLang="en-US" b="1">
                    <a:solidFill>
                      <a:srgbClr val="0000FF"/>
                    </a:solidFill>
                    <a:latin typeface="楷体" panose="02010609060101010101" pitchFamily="49" charset="-122"/>
                    <a:ea typeface="楷体" panose="02010609060101010101" pitchFamily="49" charset="-122"/>
                  </a:rPr>
                  <a:t>可选的数字不同</a:t>
                </a:r>
              </a:p>
              <a:p>
                <a:pPr marL="342900" indent="-342900">
                  <a:lnSpc>
                    <a:spcPts val="2800"/>
                  </a:lnSpc>
                  <a:spcBef>
                    <a:spcPts val="600"/>
                  </a:spcBef>
                  <a:buFont typeface="Arial" panose="020B0604020202020204" pitchFamily="34" charset="0"/>
                  <a:buChar char="•"/>
                </a:pPr>
                <a:r>
                  <a:rPr lang="zh-CN" altLang="en-US" b="1">
                    <a:solidFill>
                      <a:srgbClr val="C00000"/>
                    </a:solidFill>
                    <a:latin typeface="+mn-ea"/>
                  </a:rPr>
                  <a:t>没有</a:t>
                </a:r>
                <a:r>
                  <a:rPr lang="zh-CN" altLang="en-US" b="1">
                    <a:solidFill>
                      <a:schemeClr val="accent2">
                        <a:lumMod val="50000"/>
                      </a:schemeClr>
                    </a:solidFill>
                    <a:latin typeface="+mn-ea"/>
                  </a:rPr>
                  <a:t>独立性</a:t>
                </a:r>
                <a:r>
                  <a:rPr lang="zh-CN" altLang="en-US" b="1">
                    <a:solidFill>
                      <a:srgbClr val="002060"/>
                    </a:solidFill>
                    <a:latin typeface="楷体" panose="02010609060101010101" pitchFamily="49" charset="-122"/>
                    <a:ea typeface="楷体" panose="02010609060101010101" pitchFamily="49" charset="-122"/>
                  </a:rPr>
                  <a:t>：个位数字选</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𝟎</m:t>
                    </m:r>
                  </m:oMath>
                </a14:m>
                <a:r>
                  <a:rPr lang="zh-CN" altLang="en-US" b="1">
                    <a:solidFill>
                      <a:srgbClr val="002060"/>
                    </a:solidFill>
                    <a:latin typeface="楷体" panose="02010609060101010101" pitchFamily="49" charset="-122"/>
                    <a:ea typeface="楷体" panose="02010609060101010101" pitchFamily="49" charset="-122"/>
                  </a:rPr>
                  <a:t>和选其他数字，十位数字</a:t>
                </a:r>
                <a:r>
                  <a:rPr lang="zh-CN" altLang="en-US" b="1">
                    <a:solidFill>
                      <a:srgbClr val="0000FF"/>
                    </a:solidFill>
                    <a:latin typeface="楷体" panose="02010609060101010101" pitchFamily="49" charset="-122"/>
                    <a:ea typeface="楷体" panose="02010609060101010101" pitchFamily="49" charset="-122"/>
                  </a:rPr>
                  <a:t>可选的数字</a:t>
                </a:r>
                <a:r>
                  <a:rPr lang="zh-CN" altLang="en-US" b="1">
                    <a:solidFill>
                      <a:srgbClr val="C00000"/>
                    </a:solidFill>
                    <a:latin typeface="楷体" panose="02010609060101010101" pitchFamily="49" charset="-122"/>
                    <a:ea typeface="楷体" panose="02010609060101010101" pitchFamily="49" charset="-122"/>
                  </a:rPr>
                  <a:t>个数也不同</a:t>
                </a:r>
              </a:p>
            </p:txBody>
          </p:sp>
        </mc:Choice>
        <mc:Fallback xmlns="">
          <p:sp>
            <p:nvSpPr>
              <p:cNvPr id="6" name="文本框 5"/>
              <p:cNvSpPr txBox="1">
                <a:spLocks noRot="1" noChangeAspect="1" noMove="1" noResize="1" noEditPoints="1" noAdjustHandles="1" noChangeArrowheads="1" noChangeShapeType="1" noTextEdit="1"/>
              </p:cNvSpPr>
              <p:nvPr/>
            </p:nvSpPr>
            <p:spPr>
              <a:xfrm>
                <a:off x="6360231" y="3726300"/>
                <a:ext cx="4858163" cy="1969065"/>
              </a:xfrm>
              <a:prstGeom prst="rect">
                <a:avLst/>
              </a:prstGeom>
              <a:blipFill rotWithShape="1">
                <a:blip r:embed="rId4"/>
                <a:stretch>
                  <a:fillRect l="-1" t="-6" r="10" b="3"/>
                </a:stretch>
              </a:blipFill>
            </p:spPr>
            <p:txBody>
              <a:bodyPr/>
              <a:lstStyle/>
              <a:p>
                <a:r>
                  <a:rPr lang="zh-CN" altLang="en-US">
                    <a:noFill/>
                  </a:rPr>
                  <a:t> </a:t>
                </a:r>
              </a:p>
            </p:txBody>
          </p:sp>
        </mc:Fallback>
      </mc:AlternateContent>
      <p:sp>
        <p:nvSpPr>
          <p:cNvPr id="11" name="文本框 10"/>
          <p:cNvSpPr txBox="1"/>
          <p:nvPr/>
        </p:nvSpPr>
        <p:spPr>
          <a:xfrm>
            <a:off x="4288031" y="5863963"/>
            <a:ext cx="6930363" cy="400110"/>
          </a:xfrm>
          <a:prstGeom prst="rect">
            <a:avLst/>
          </a:prstGeom>
          <a:solidFill>
            <a:schemeClr val="accent4">
              <a:lumMod val="20000"/>
              <a:lumOff val="80000"/>
              <a:alpha val="50000"/>
            </a:schemeClr>
          </a:solidFill>
        </p:spPr>
        <p:txBody>
          <a:bodyPr wrap="square" rtlCol="0">
            <a:spAutoFit/>
          </a:bodyPr>
          <a:lstStyle/>
          <a:p>
            <a:r>
              <a:rPr lang="zh-CN" altLang="en-US" sz="2000" b="1">
                <a:solidFill>
                  <a:srgbClr val="C00000"/>
                </a:solidFill>
              </a:rPr>
              <a:t>相继任务间不满足独立性，不能直接应用乘法原理时怎么办？</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分类使得子任务具有独立性</a:t>
            </a:r>
          </a:p>
        </p:txBody>
      </p:sp>
      <mc:AlternateContent xmlns:mc="http://schemas.openxmlformats.org/markup-compatibility/2006" xmlns:a14="http://schemas.microsoft.com/office/drawing/2010/main">
        <mc:Choice Requires="a14">
          <p:sp>
            <p:nvSpPr>
              <p:cNvPr id="2" name="文本框 1"/>
              <p:cNvSpPr txBox="1"/>
              <p:nvPr/>
            </p:nvSpPr>
            <p:spPr>
              <a:xfrm>
                <a:off x="1718062" y="1197620"/>
                <a:ext cx="8754778" cy="4339650"/>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两位数计数例子（三）</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用集合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𝟎</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𝟑</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𝟒</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𝟓</m:t>
                    </m:r>
                    <m:r>
                      <m:rPr>
                        <m:lit/>
                      </m:rP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的数字可组成多少个数字不同的两位数？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若先确定个位数字再确定十位数字，那么</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个位数字选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和个位数字选其他数字，十位数字可选的数字个数不同</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相继任务之间</a:t>
                </a:r>
                <a:r>
                  <a:rPr lang="zh-CN" altLang="en-US" b="1">
                    <a:solidFill>
                      <a:srgbClr val="C00000"/>
                    </a:solidFill>
                    <a:latin typeface="+mn-ea"/>
                  </a:rPr>
                  <a:t>没有独立性</a:t>
                </a:r>
                <a:r>
                  <a:rPr lang="zh-CN" altLang="en-US" b="1">
                    <a:solidFill>
                      <a:schemeClr val="accent2">
                        <a:lumMod val="50000"/>
                      </a:schemeClr>
                    </a:solidFill>
                    <a:latin typeface="楷体" panose="02010609060101010101" pitchFamily="49" charset="-122"/>
                    <a:ea typeface="楷体" panose="02010609060101010101" pitchFamily="49" charset="-122"/>
                  </a:rPr>
                  <a:t>，</a:t>
                </a:r>
                <a:r>
                  <a:rPr lang="zh-CN" altLang="en-US" b="1">
                    <a:solidFill>
                      <a:srgbClr val="0000FF"/>
                    </a:solidFill>
                    <a:latin typeface="楷体" panose="02010609060101010101" pitchFamily="49" charset="-122"/>
                    <a:ea typeface="楷体" panose="02010609060101010101" pitchFamily="49" charset="-122"/>
                  </a:rPr>
                  <a:t>不能直接应用乘法原理</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为了能应用乘法原理，需要对前一个任务的可选方法进行</a:t>
                </a:r>
                <a:r>
                  <a:rPr lang="zh-CN" altLang="en-US" sz="2000" b="1">
                    <a:solidFill>
                      <a:srgbClr val="C00000"/>
                    </a:solidFill>
                  </a:rPr>
                  <a:t>分类处理</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若个位选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，则十位有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𝟓</m:t>
                    </m:r>
                  </m:oMath>
                </a14:m>
                <a:r>
                  <a:rPr lang="zh-CN" altLang="en-US" b="1">
                    <a:solidFill>
                      <a:schemeClr val="accent2">
                        <a:lumMod val="50000"/>
                      </a:schemeClr>
                    </a:solidFill>
                    <a:latin typeface="楷体" panose="02010609060101010101" pitchFamily="49" charset="-122"/>
                    <a:ea typeface="楷体" panose="02010609060101010101" pitchFamily="49" charset="-122"/>
                  </a:rPr>
                  <a:t>个可选数字，这时数字不同的两位数有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𝟏</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𝟓</m:t>
                    </m:r>
                    <m:r>
                      <a:rPr lang="en-US" altLang="zh-CN" b="1">
                        <a:solidFill>
                          <a:schemeClr val="accent2">
                            <a:lumMod val="50000"/>
                          </a:schemeClr>
                        </a:solidFill>
                        <a:latin typeface="Cambria Math" panose="02040503050406030204" pitchFamily="18" charset="0"/>
                        <a:ea typeface="楷体" panose="02010609060101010101" pitchFamily="49" charset="-122"/>
                      </a:rPr>
                      <m:t> = </m:t>
                    </m:r>
                    <m:r>
                      <a:rPr lang="en-US" altLang="zh-CN" b="1">
                        <a:solidFill>
                          <a:schemeClr val="accent2">
                            <a:lumMod val="50000"/>
                          </a:schemeClr>
                        </a:solidFill>
                        <a:latin typeface="Cambria Math" panose="02040503050406030204" pitchFamily="18" charset="0"/>
                        <a:ea typeface="楷体" panose="02010609060101010101" pitchFamily="49" charset="-122"/>
                      </a:rPr>
                      <m:t>𝟓</m:t>
                    </m:r>
                  </m:oMath>
                </a14:m>
                <a:r>
                  <a:rPr lang="zh-CN" altLang="en-US" b="1">
                    <a:solidFill>
                      <a:schemeClr val="accent2">
                        <a:lumMod val="50000"/>
                      </a:schemeClr>
                    </a:solidFill>
                    <a:latin typeface="楷体" panose="02010609060101010101" pitchFamily="49" charset="-122"/>
                    <a:ea typeface="楷体" panose="02010609060101010101" pitchFamily="49" charset="-122"/>
                  </a:rPr>
                  <a:t>个</a:t>
                </a:r>
              </a:p>
              <a:p>
                <a:pPr marL="800100" lvl="1" indent="-342900">
                  <a:lnSpc>
                    <a:spcPts val="24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若个位不选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，则无论个位选哪个数字，十位都有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𝟒</m:t>
                    </m:r>
                  </m:oMath>
                </a14:m>
                <a:r>
                  <a:rPr lang="zh-CN" altLang="en-US" b="1">
                    <a:solidFill>
                      <a:schemeClr val="accent2">
                        <a:lumMod val="50000"/>
                      </a:schemeClr>
                    </a:solidFill>
                    <a:latin typeface="楷体" panose="02010609060101010101" pitchFamily="49" charset="-122"/>
                    <a:ea typeface="楷体" panose="02010609060101010101" pitchFamily="49" charset="-122"/>
                  </a:rPr>
                  <a:t>个可选数字，这时数字不同的两位数有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𝟒</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𝟓</m:t>
                    </m:r>
                    <m:r>
                      <a:rPr lang="en-US" altLang="zh-CN" b="1">
                        <a:solidFill>
                          <a:schemeClr val="accent2">
                            <a:lumMod val="50000"/>
                          </a:schemeClr>
                        </a:solidFill>
                        <a:latin typeface="Cambria Math" panose="02040503050406030204" pitchFamily="18" charset="0"/>
                        <a:ea typeface="楷体" panose="02010609060101010101" pitchFamily="49" charset="-122"/>
                      </a:rPr>
                      <m:t> = </m:t>
                    </m:r>
                    <m:r>
                      <a:rPr lang="en-US" altLang="zh-CN" b="1">
                        <a:solidFill>
                          <a:schemeClr val="accent2">
                            <a:lumMod val="50000"/>
                          </a:schemeClr>
                        </a:solidFill>
                        <a:latin typeface="Cambria Math" panose="02040503050406030204" pitchFamily="18" charset="0"/>
                        <a:ea typeface="楷体" panose="02010609060101010101" pitchFamily="49" charset="-122"/>
                      </a:rPr>
                      <m:t>𝟐𝟎</m:t>
                    </m:r>
                  </m:oMath>
                </a14:m>
                <a:r>
                  <a:rPr lang="zh-CN" altLang="en-US" b="1">
                    <a:solidFill>
                      <a:schemeClr val="accent2">
                        <a:lumMod val="50000"/>
                      </a:schemeClr>
                    </a:solidFill>
                    <a:latin typeface="楷体" panose="02010609060101010101" pitchFamily="49" charset="-122"/>
                    <a:ea typeface="楷体" panose="02010609060101010101" pitchFamily="49" charset="-122"/>
                  </a:rPr>
                  <a:t>个</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最后用</a:t>
                </a:r>
                <a:r>
                  <a:rPr lang="zh-CN" altLang="en-US" b="1">
                    <a:solidFill>
                      <a:srgbClr val="C00000"/>
                    </a:solidFill>
                    <a:latin typeface="+mn-ea"/>
                  </a:rPr>
                  <a:t>加法原理</a:t>
                </a:r>
                <a:r>
                  <a:rPr lang="zh-CN" altLang="en-US" b="1">
                    <a:solidFill>
                      <a:schemeClr val="accent2">
                        <a:lumMod val="50000"/>
                      </a:schemeClr>
                    </a:solidFill>
                    <a:latin typeface="楷体" panose="02010609060101010101" pitchFamily="49" charset="-122"/>
                    <a:ea typeface="楷体" panose="02010609060101010101" pitchFamily="49" charset="-122"/>
                  </a:rPr>
                  <a:t>得到集合</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b="1">
                    <a:solidFill>
                      <a:schemeClr val="accent2">
                        <a:lumMod val="50000"/>
                      </a:schemeClr>
                    </a:solidFill>
                    <a:latin typeface="楷体" panose="02010609060101010101" pitchFamily="49" charset="-122"/>
                    <a:ea typeface="楷体" panose="02010609060101010101" pitchFamily="49" charset="-122"/>
                  </a:rPr>
                  <a:t>的数字能构成的数字不同的两位数共有</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𝟐𝟓</m:t>
                    </m:r>
                  </m:oMath>
                </a14:m>
                <a:r>
                  <a:rPr lang="zh-CN" altLang="en-US" b="1">
                    <a:solidFill>
                      <a:schemeClr val="accent2">
                        <a:lumMod val="50000"/>
                      </a:schemeClr>
                    </a:solidFill>
                    <a:latin typeface="楷体" panose="02010609060101010101" pitchFamily="49" charset="-122"/>
                    <a:ea typeface="楷体" panose="02010609060101010101" pitchFamily="49" charset="-122"/>
                  </a:rPr>
                  <a:t>个</a:t>
                </a:r>
              </a:p>
            </p:txBody>
          </p:sp>
        </mc:Choice>
        <mc:Fallback xmlns="">
          <p:sp>
            <p:nvSpPr>
              <p:cNvPr id="2" name="文本框 1"/>
              <p:cNvSpPr txBox="1">
                <a:spLocks noRot="1" noChangeAspect="1" noMove="1" noResize="1" noEditPoints="1" noAdjustHandles="1" noChangeArrowheads="1" noChangeShapeType="1" noTextEdit="1"/>
              </p:cNvSpPr>
              <p:nvPr/>
            </p:nvSpPr>
            <p:spPr>
              <a:xfrm>
                <a:off x="1718062" y="1197620"/>
                <a:ext cx="8754778" cy="4339650"/>
              </a:xfrm>
              <a:prstGeom prst="rect">
                <a:avLst/>
              </a:prstGeom>
              <a:blipFill rotWithShape="1">
                <a:blip r:embed="rId2"/>
                <a:stretch>
                  <a:fillRect l="-4" r="5" b="2"/>
                </a:stretch>
              </a:blipFill>
            </p:spPr>
            <p:txBody>
              <a:bodyPr/>
              <a:lstStyle/>
              <a:p>
                <a:r>
                  <a:rPr lang="zh-CN" altLang="en-US">
                    <a:noFill/>
                  </a:rPr>
                  <a:t> </a:t>
                </a:r>
              </a:p>
            </p:txBody>
          </p:sp>
        </mc:Fallback>
      </mc:AlternateContent>
      <p:sp>
        <p:nvSpPr>
          <p:cNvPr id="3" name="文本框 2"/>
          <p:cNvSpPr txBox="1"/>
          <p:nvPr/>
        </p:nvSpPr>
        <p:spPr>
          <a:xfrm>
            <a:off x="1718062" y="5660380"/>
            <a:ext cx="8084875" cy="461665"/>
          </a:xfrm>
          <a:prstGeom prst="rect">
            <a:avLst/>
          </a:prstGeom>
          <a:solidFill>
            <a:schemeClr val="accent4">
              <a:lumMod val="20000"/>
              <a:lumOff val="80000"/>
            </a:schemeClr>
          </a:solidFill>
        </p:spPr>
        <p:txBody>
          <a:bodyPr wrap="square" rtlCol="0">
            <a:spAutoFit/>
          </a:bodyPr>
          <a:lstStyle/>
          <a:p>
            <a:r>
              <a:rPr lang="zh-CN" altLang="en-US" sz="2400" b="1">
                <a:solidFill>
                  <a:srgbClr val="C00000"/>
                </a:solidFill>
              </a:rPr>
              <a:t>适当分类使得子任务之间满足应用乘法原理的独立性条件！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加法原理和乘法原理的运用要点</a:t>
            </a:r>
          </a:p>
        </p:txBody>
      </p:sp>
      <p:sp>
        <p:nvSpPr>
          <p:cNvPr id="2" name="文本框 1"/>
          <p:cNvSpPr txBox="1"/>
          <p:nvPr/>
        </p:nvSpPr>
        <p:spPr>
          <a:xfrm>
            <a:off x="1150092" y="1471476"/>
            <a:ext cx="9891812" cy="1957524"/>
          </a:xfrm>
          <a:prstGeom prst="rect">
            <a:avLst/>
          </a:prstGeom>
          <a:solidFill>
            <a:srgbClr val="F0E5DC">
              <a:alpha val="49804"/>
            </a:srgbClr>
          </a:solidFill>
        </p:spPr>
        <p:txBody>
          <a:bodyPr wrap="square" rtlCol="0">
            <a:spAutoFit/>
          </a:bodyPr>
          <a:lstStyle/>
          <a:p>
            <a:pPr algn="ctr">
              <a:spcBef>
                <a:spcPts val="600"/>
              </a:spcBef>
              <a:spcAft>
                <a:spcPts val="1200"/>
              </a:spcAft>
            </a:pPr>
            <a:r>
              <a:rPr lang="zh-CN" altLang="en-US" sz="2400" b="1">
                <a:solidFill>
                  <a:srgbClr val="C00000"/>
                </a:solidFill>
              </a:rPr>
              <a:t>子任务的完成顺序会影响乘法原理的应用</a:t>
            </a: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这时应该</a:t>
            </a:r>
            <a:r>
              <a:rPr lang="zh-CN" altLang="en-US" sz="2400" b="1">
                <a:solidFill>
                  <a:srgbClr val="0000FF"/>
                </a:solidFill>
                <a:latin typeface="楷体" panose="02010609060101010101" pitchFamily="49" charset="-122"/>
                <a:ea typeface="楷体" panose="02010609060101010101" pitchFamily="49" charset="-122"/>
              </a:rPr>
              <a:t>优先考虑约束条件多</a:t>
            </a:r>
            <a:r>
              <a:rPr lang="zh-CN" altLang="en-US" sz="2400" b="1">
                <a:solidFill>
                  <a:srgbClr val="002060"/>
                </a:solidFill>
                <a:latin typeface="楷体" panose="02010609060101010101" pitchFamily="49" charset="-122"/>
                <a:ea typeface="楷体" panose="02010609060101010101" pitchFamily="49" charset="-122"/>
              </a:rPr>
              <a:t>的子任务</a:t>
            </a:r>
          </a:p>
          <a:p>
            <a:pPr marL="800100" lvl="1"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约束条件少的子任务的可选方法数更不容易受到前面任务所选方法的影响，从而更容易保证相继任务之间的独立性，使得可直接应用乘法原理</a:t>
            </a:r>
          </a:p>
        </p:txBody>
      </p:sp>
      <p:sp>
        <p:nvSpPr>
          <p:cNvPr id="3" name="文本框 2"/>
          <p:cNvSpPr txBox="1"/>
          <p:nvPr/>
        </p:nvSpPr>
        <p:spPr>
          <a:xfrm>
            <a:off x="645780" y="3752957"/>
            <a:ext cx="10900437" cy="195752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1200"/>
              </a:spcAft>
            </a:pPr>
            <a:r>
              <a:rPr lang="zh-CN" altLang="en-US" sz="2400" b="1">
                <a:solidFill>
                  <a:schemeClr val="accent2">
                    <a:lumMod val="50000"/>
                  </a:schemeClr>
                </a:solidFill>
              </a:rPr>
              <a:t>若子任务完成顺序不能保证相继任务的独立性，则综合运用加法原理和乘法原理</a:t>
            </a: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这时不能直接运用乘法原理，通常要对完成子任务的方法进行</a:t>
            </a:r>
            <a:r>
              <a:rPr lang="zh-CN" altLang="en-US" sz="2400" b="1">
                <a:solidFill>
                  <a:srgbClr val="0000FF"/>
                </a:solidFill>
                <a:latin typeface="楷体" panose="02010609060101010101" pitchFamily="49" charset="-122"/>
                <a:ea typeface="楷体" panose="02010609060101010101" pitchFamily="49" charset="-122"/>
              </a:rPr>
              <a:t>分类处理</a:t>
            </a:r>
          </a:p>
          <a:p>
            <a:pPr marL="800100" lvl="1"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使得每个类的后继子任务的完成方法数不依赖于这个任务的完成方法，然后对每一类使用乘法原理得到每一类完成整个任务的方法数，最后再使用加法原理得到总的方法数</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计数元素的自动枚举</a:t>
            </a:r>
          </a:p>
        </p:txBody>
      </p:sp>
      <p:sp>
        <p:nvSpPr>
          <p:cNvPr id="2" name="文本框 1"/>
          <p:cNvSpPr txBox="1"/>
          <p:nvPr/>
        </p:nvSpPr>
        <p:spPr>
          <a:xfrm>
            <a:off x="1862787" y="1202420"/>
            <a:ext cx="8466423" cy="138499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编写计算机程序枚举所有满足条件的元素验证计数结果</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这时倾向于采用</a:t>
            </a:r>
            <a:r>
              <a:rPr lang="zh-CN" altLang="en-US" sz="2000" b="1">
                <a:solidFill>
                  <a:srgbClr val="0000FF"/>
                </a:solidFill>
                <a:latin typeface="楷体" panose="02010609060101010101" pitchFamily="49" charset="-122"/>
                <a:ea typeface="楷体" panose="02010609060101010101" pitchFamily="49" charset="-122"/>
              </a:rPr>
              <a:t>生成所有可能元素</a:t>
            </a:r>
            <a:r>
              <a:rPr lang="zh-CN" altLang="en-US" sz="2000" b="1">
                <a:solidFill>
                  <a:srgbClr val="002060"/>
                </a:solidFill>
                <a:latin typeface="楷体" panose="02010609060101010101" pitchFamily="49" charset="-122"/>
                <a:ea typeface="楷体" panose="02010609060101010101" pitchFamily="49" charset="-122"/>
              </a:rPr>
              <a:t>，再</a:t>
            </a:r>
            <a:r>
              <a:rPr lang="zh-CN" altLang="en-US" sz="2000" b="1">
                <a:solidFill>
                  <a:srgbClr val="0000FF"/>
                </a:solidFill>
                <a:latin typeface="楷体" panose="02010609060101010101" pitchFamily="49" charset="-122"/>
                <a:ea typeface="楷体" panose="02010609060101010101" pitchFamily="49" charset="-122"/>
              </a:rPr>
              <a:t>过滤出满足条件的元素</a:t>
            </a:r>
            <a:r>
              <a:rPr lang="zh-CN" altLang="en-US" sz="2000" b="1">
                <a:solidFill>
                  <a:srgbClr val="002060"/>
                </a:solidFill>
                <a:latin typeface="楷体" panose="02010609060101010101" pitchFamily="49" charset="-122"/>
                <a:ea typeface="楷体" panose="02010609060101010101" pitchFamily="49" charset="-122"/>
              </a:rPr>
              <a:t>的编程策略</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只生成满足条件的元素则会由于条件的复杂性而难以设计生成算法</a:t>
            </a:r>
          </a:p>
        </p:txBody>
      </p:sp>
      <mc:AlternateContent xmlns:mc="http://schemas.openxmlformats.org/markup-compatibility/2006" xmlns:a14="http://schemas.microsoft.com/office/drawing/2010/main">
        <mc:Choice Requires="a14">
          <p:sp>
            <p:nvSpPr>
              <p:cNvPr id="3" name="文本框 2"/>
              <p:cNvSpPr txBox="1"/>
              <p:nvPr/>
            </p:nvSpPr>
            <p:spPr>
              <a:xfrm>
                <a:off x="1977908" y="2792877"/>
                <a:ext cx="8466423" cy="1846659"/>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chemeClr val="accent2">
                        <a:lumMod val="50000"/>
                      </a:schemeClr>
                    </a:solidFill>
                  </a:rPr>
                  <a:t>两位数的枚举</a:t>
                </a:r>
              </a:p>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编程枚举集合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𝟎</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𝟑</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𝟒</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𝟓</m:t>
                    </m:r>
                    <m:r>
                      <m:rPr>
                        <m:lit/>
                      </m:rPr>
                      <a:rPr lang="en-US" altLang="zh-CN" sz="2000" b="1" i="1">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的数字组成的所有数字不同的两位数</a:t>
                </a:r>
              </a:p>
              <a:p>
                <a:pPr marL="342900" indent="-342900">
                  <a:spcBef>
                    <a:spcPts val="600"/>
                  </a:spcBef>
                  <a:spcAft>
                    <a:spcPts val="600"/>
                  </a:spcAft>
                  <a:buFont typeface="Arial" panose="020B0604020202020204" pitchFamily="34" charset="0"/>
                  <a:buChar char="•"/>
                </a:pPr>
                <a:r>
                  <a:rPr lang="zh-CN" altLang="en-US" sz="2000" b="1" dirty="0">
                    <a:solidFill>
                      <a:srgbClr val="C00000"/>
                    </a:solidFill>
                  </a:rPr>
                  <a:t>生成</a:t>
                </a:r>
                <a:r>
                  <a:rPr lang="zh-CN" altLang="en-US" sz="2000" b="1" dirty="0">
                    <a:solidFill>
                      <a:schemeClr val="accent6">
                        <a:lumMod val="50000"/>
                      </a:schemeClr>
                    </a:solidFill>
                  </a:rPr>
                  <a:t>集合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dirty="0">
                    <a:solidFill>
                      <a:schemeClr val="accent6">
                        <a:lumMod val="50000"/>
                      </a:schemeClr>
                    </a:solidFill>
                  </a:rPr>
                  <a:t>的数字能组成的</a:t>
                </a:r>
                <a:r>
                  <a:rPr lang="zh-CN" altLang="en-US" sz="2000" b="1" dirty="0">
                    <a:solidFill>
                      <a:srgbClr val="C00000"/>
                    </a:solidFill>
                  </a:rPr>
                  <a:t>所有两位数字串</a:t>
                </a:r>
                <a:r>
                  <a:rPr lang="zh-CN" altLang="en-US" sz="2000" b="1" dirty="0">
                    <a:solidFill>
                      <a:schemeClr val="accent6">
                        <a:lumMod val="50000"/>
                      </a:schemeClr>
                    </a:solidFill>
                  </a:rPr>
                  <a:t>，从</a:t>
                </a:r>
                <a:r>
                  <a:rPr lang="en-US" altLang="zh-CN" sz="2000" b="1" dirty="0">
                    <a:solidFill>
                      <a:schemeClr val="accent6">
                        <a:lumMod val="50000"/>
                      </a:schemeClr>
                    </a:solidFill>
                  </a:rPr>
                  <a:t>"</a:t>
                </a:r>
                <a14:m>
                  <m:oMath xmlns:m="http://schemas.openxmlformats.org/officeDocument/2006/math">
                    <m:r>
                      <a:rPr lang="en-US" altLang="zh-CN" sz="2000" b="1">
                        <a:solidFill>
                          <a:schemeClr val="accent6">
                            <a:lumMod val="50000"/>
                          </a:schemeClr>
                        </a:solidFill>
                        <a:latin typeface="Cambria Math" panose="02040503050406030204" pitchFamily="18" charset="0"/>
                      </a:rPr>
                      <m:t>𝟎𝟎</m:t>
                    </m:r>
                  </m:oMath>
                </a14:m>
                <a:r>
                  <a:rPr lang="en-US" altLang="zh-CN" sz="2000" b="1" dirty="0">
                    <a:solidFill>
                      <a:schemeClr val="accent6">
                        <a:lumMod val="50000"/>
                      </a:schemeClr>
                    </a:solidFill>
                  </a:rPr>
                  <a:t>"</a:t>
                </a:r>
                <a:r>
                  <a:rPr lang="zh-CN" altLang="en-US" sz="2000" b="1" dirty="0">
                    <a:solidFill>
                      <a:schemeClr val="accent6">
                        <a:lumMod val="50000"/>
                      </a:schemeClr>
                    </a:solidFill>
                  </a:rPr>
                  <a:t>到</a:t>
                </a:r>
                <a:r>
                  <a:rPr lang="en-US" altLang="zh-CN" sz="2000" b="1" dirty="0">
                    <a:solidFill>
                      <a:schemeClr val="accent6">
                        <a:lumMod val="50000"/>
                      </a:schemeClr>
                    </a:solidFill>
                  </a:rPr>
                  <a:t>"</a:t>
                </a:r>
                <a14:m>
                  <m:oMath xmlns:m="http://schemas.openxmlformats.org/officeDocument/2006/math">
                    <m:r>
                      <a:rPr lang="en-US" altLang="zh-CN" sz="2000" b="1">
                        <a:solidFill>
                          <a:schemeClr val="accent6">
                            <a:lumMod val="50000"/>
                          </a:schemeClr>
                        </a:solidFill>
                        <a:latin typeface="Cambria Math" panose="02040503050406030204" pitchFamily="18" charset="0"/>
                      </a:rPr>
                      <m:t>𝟓𝟓</m:t>
                    </m:r>
                  </m:oMath>
                </a14:m>
                <a:r>
                  <a:rPr lang="en-US" altLang="zh-CN" sz="2000" b="1" dirty="0">
                    <a:solidFill>
                      <a:schemeClr val="accent6">
                        <a:lumMod val="50000"/>
                      </a:schemeClr>
                    </a:solidFill>
                  </a:rPr>
                  <a:t>"</a:t>
                </a:r>
                <a:r>
                  <a:rPr lang="zh-CN" altLang="en-US" sz="2000" b="1" dirty="0">
                    <a:solidFill>
                      <a:schemeClr val="accent6">
                        <a:lumMod val="50000"/>
                      </a:schemeClr>
                    </a:solidFill>
                  </a:rPr>
                  <a:t>依次生成</a:t>
                </a:r>
              </a:p>
              <a:p>
                <a:pPr marL="342900" indent="-342900">
                  <a:spcBef>
                    <a:spcPts val="600"/>
                  </a:spcBef>
                  <a:spcAft>
                    <a:spcPts val="600"/>
                  </a:spcAft>
                  <a:buFont typeface="Arial" panose="020B0604020202020204" pitchFamily="34" charset="0"/>
                  <a:buChar char="•"/>
                </a:pPr>
                <a:r>
                  <a:rPr lang="zh-CN" altLang="en-US" sz="2000" b="1" dirty="0">
                    <a:solidFill>
                      <a:srgbClr val="FF0000"/>
                    </a:solidFill>
                  </a:rPr>
                  <a:t>检查</a:t>
                </a:r>
                <a:r>
                  <a:rPr lang="zh-CN" altLang="en-US" sz="2000" b="1" dirty="0">
                    <a:solidFill>
                      <a:schemeClr val="accent6">
                        <a:lumMod val="50000"/>
                      </a:schemeClr>
                    </a:solidFill>
                  </a:rPr>
                  <a:t>生成的两位数字串是否满足</a:t>
                </a:r>
                <a:r>
                  <a:rPr lang="zh-CN" altLang="en-US" sz="2000" b="1" dirty="0">
                    <a:solidFill>
                      <a:srgbClr val="C00000"/>
                    </a:solidFill>
                  </a:rPr>
                  <a:t>计数条件</a:t>
                </a:r>
                <a:r>
                  <a:rPr lang="zh-CN" altLang="en-US" sz="2000" b="1" dirty="0">
                    <a:solidFill>
                      <a:schemeClr val="accent6">
                        <a:lumMod val="50000"/>
                      </a:schemeClr>
                    </a:solidFill>
                  </a:rPr>
                  <a:t>：首位是否</a:t>
                </a:r>
                <a14:m>
                  <m:oMath xmlns:m="http://schemas.openxmlformats.org/officeDocument/2006/math">
                    <m:r>
                      <a:rPr lang="en-US" altLang="zh-CN" sz="2000" b="1">
                        <a:solidFill>
                          <a:schemeClr val="accent6">
                            <a:lumMod val="50000"/>
                          </a:schemeClr>
                        </a:solidFill>
                        <a:latin typeface="Cambria Math" panose="02040503050406030204" pitchFamily="18" charset="0"/>
                      </a:rPr>
                      <m:t>𝟎</m:t>
                    </m:r>
                  </m:oMath>
                </a14:m>
                <a:r>
                  <a:rPr lang="zh-CN" altLang="en-US" sz="2000" b="1" dirty="0">
                    <a:solidFill>
                      <a:schemeClr val="accent6">
                        <a:lumMod val="50000"/>
                      </a:schemeClr>
                    </a:solidFill>
                  </a:rPr>
                  <a:t>，是否数字不同</a:t>
                </a:r>
              </a:p>
            </p:txBody>
          </p:sp>
        </mc:Choice>
        <mc:Fallback xmlns="">
          <p:sp>
            <p:nvSpPr>
              <p:cNvPr id="3" name="文本框 2"/>
              <p:cNvSpPr txBox="1">
                <a:spLocks noRot="1" noChangeAspect="1" noMove="1" noResize="1" noEditPoints="1" noAdjustHandles="1" noChangeArrowheads="1" noChangeShapeType="1" noTextEdit="1"/>
              </p:cNvSpPr>
              <p:nvPr/>
            </p:nvSpPr>
            <p:spPr>
              <a:xfrm>
                <a:off x="1977908" y="2792877"/>
                <a:ext cx="8466423" cy="1846659"/>
              </a:xfrm>
              <a:prstGeom prst="rect">
                <a:avLst/>
              </a:prstGeom>
              <a:blipFill rotWithShape="1">
                <a:blip r:embed="rId2"/>
                <a:stretch>
                  <a:fillRect l="-6" t="-8" r="6" b="12"/>
                </a:stretch>
              </a:blipFill>
            </p:spPr>
            <p:txBody>
              <a:bodyPr/>
              <a:lstStyle/>
              <a:p>
                <a:r>
                  <a:rPr lang="zh-CN" altLang="en-US">
                    <a:noFill/>
                  </a:rPr>
                  <a:t> </a:t>
                </a:r>
              </a:p>
            </p:txBody>
          </p:sp>
        </mc:Fallback>
      </mc:AlternateContent>
      <p:sp>
        <p:nvSpPr>
          <p:cNvPr id="4" name="文本框 3"/>
          <p:cNvSpPr txBox="1"/>
          <p:nvPr/>
        </p:nvSpPr>
        <p:spPr>
          <a:xfrm>
            <a:off x="1393170" y="4786364"/>
            <a:ext cx="9405655" cy="1443280"/>
          </a:xfrm>
          <a:prstGeom prst="rect">
            <a:avLst/>
          </a:prstGeom>
          <a:solidFill>
            <a:schemeClr val="accent4">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chemeClr val="accent2">
                    <a:lumMod val="50000"/>
                  </a:schemeClr>
                </a:solidFill>
              </a:rPr>
              <a:t>生成</a:t>
            </a:r>
            <a:r>
              <a:rPr lang="en-US" altLang="zh-CN" sz="2400" b="1">
                <a:solidFill>
                  <a:schemeClr val="accent2">
                    <a:lumMod val="50000"/>
                  </a:schemeClr>
                </a:solidFill>
              </a:rPr>
              <a:t>+</a:t>
            </a:r>
            <a:r>
              <a:rPr lang="zh-CN" altLang="en-US" sz="2400" b="1">
                <a:solidFill>
                  <a:schemeClr val="accent2">
                    <a:lumMod val="50000"/>
                  </a:schemeClr>
                </a:solidFill>
              </a:rPr>
              <a:t>过滤策略是模块化思想的应用</a:t>
            </a:r>
          </a:p>
          <a:p>
            <a:pPr marL="342900" indent="-342900">
              <a:lnSpc>
                <a:spcPts val="32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软件设计模式</a:t>
            </a:r>
            <a:r>
              <a:rPr lang="zh-CN" altLang="en-US" sz="2000" b="1">
                <a:solidFill>
                  <a:srgbClr val="C00000"/>
                </a:solidFill>
                <a:latin typeface="+mn-ea"/>
              </a:rPr>
              <a:t>过滤器模式</a:t>
            </a:r>
            <a:r>
              <a:rPr lang="zh-CN" altLang="en-US" sz="2000" b="1">
                <a:solidFill>
                  <a:srgbClr val="002060"/>
                </a:solidFill>
                <a:latin typeface="楷体" panose="02010609060101010101" pitchFamily="49" charset="-122"/>
                <a:ea typeface="楷体" panose="02010609060101010101" pitchFamily="49" charset="-122"/>
              </a:rPr>
              <a:t>的应用，具有好的可扩充性，容易推广到</a:t>
            </a:r>
            <a:r>
              <a:rPr lang="zh-CN" altLang="en-US" sz="2000" b="1">
                <a:solidFill>
                  <a:srgbClr val="0000FF"/>
                </a:solidFill>
                <a:latin typeface="楷体" panose="02010609060101010101" pitchFamily="49" charset="-122"/>
                <a:ea typeface="楷体" panose="02010609060101010101" pitchFamily="49" charset="-122"/>
              </a:rPr>
              <a:t>对任意集合中字符生成的串按任意条件进行检查</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例题演示程序实现计数元素的自动枚举</a:t>
            </a:r>
          </a:p>
        </p:txBody>
      </p:sp>
      <p:pic>
        <p:nvPicPr>
          <p:cNvPr id="2" name="图片 1"/>
          <p:cNvPicPr>
            <a:picLocks noChangeAspect="1"/>
          </p:cNvPicPr>
          <p:nvPr/>
        </p:nvPicPr>
        <p:blipFill>
          <a:blip r:embed="rId2"/>
          <a:stretch>
            <a:fillRect/>
          </a:stretch>
        </p:blipFill>
        <p:spPr>
          <a:xfrm>
            <a:off x="434175" y="1561948"/>
            <a:ext cx="11231550" cy="4327859"/>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例题演示程序可枚举各种字符串</a:t>
            </a:r>
            <a:r>
              <a:rPr lang="en-US" altLang="zh-CN"/>
              <a:t>*</a:t>
            </a:r>
            <a:endParaRPr lang="zh-CN" altLang="en-US"/>
          </a:p>
        </p:txBody>
      </p:sp>
      <p:sp>
        <p:nvSpPr>
          <p:cNvPr id="2" name="文本框 1"/>
          <p:cNvSpPr txBox="1"/>
          <p:nvPr/>
        </p:nvSpPr>
        <p:spPr>
          <a:xfrm>
            <a:off x="1187669" y="1167951"/>
            <a:ext cx="9816660" cy="5077608"/>
          </a:xfrm>
          <a:prstGeom prst="rect">
            <a:avLst/>
          </a:prstGeom>
          <a:solidFill>
            <a:srgbClr val="F0E5DC">
              <a:alpha val="25000"/>
            </a:srgb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可生成指定集合上指定长度的所有允许重复或不允许重复的串</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不允许重复的串生成采用后面要学习的</a:t>
            </a:r>
            <a:r>
              <a:rPr lang="zh-CN" altLang="en-US" sz="2000" b="1">
                <a:solidFill>
                  <a:srgbClr val="C00000"/>
                </a:solidFill>
              </a:rPr>
              <a:t>全排列生成</a:t>
            </a:r>
            <a:r>
              <a:rPr lang="zh-CN" altLang="en-US" sz="2000" b="1">
                <a:solidFill>
                  <a:schemeClr val="accent6">
                    <a:lumMod val="50000"/>
                  </a:schemeClr>
                </a:solidFill>
              </a:rPr>
              <a:t>算法</a:t>
            </a: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在生成串的同时使用</a:t>
            </a:r>
            <a:r>
              <a:rPr lang="zh-CN" altLang="en-US" sz="2400" b="1">
                <a:solidFill>
                  <a:srgbClr val="0000FF"/>
                </a:solidFill>
                <a:latin typeface="楷体" panose="02010609060101010101" pitchFamily="49" charset="-122"/>
                <a:ea typeface="楷体" panose="02010609060101010101" pitchFamily="49" charset="-122"/>
              </a:rPr>
              <a:t>过滤器</a:t>
            </a:r>
            <a:r>
              <a:rPr lang="zh-CN" altLang="en-US" sz="2400" b="1">
                <a:solidFill>
                  <a:srgbClr val="002060"/>
                </a:solidFill>
                <a:latin typeface="楷体" panose="02010609060101010101" pitchFamily="49" charset="-122"/>
                <a:ea typeface="楷体" panose="02010609060101010101" pitchFamily="49" charset="-122"/>
              </a:rPr>
              <a:t>设置的条件对串进行过滤</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设置的条件可指定某个位置必须或不能出现某些字符</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设置的条件也可指定恰好、不能、至少或至多包含指定数目的某些子串</a:t>
            </a:r>
          </a:p>
          <a:p>
            <a:pPr marL="800100" lvl="1"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设置的条件分为三组，每组两个，组内两个是逻辑与关系，而组之间的关系可设置为逻辑与或者逻辑或关系</a:t>
            </a: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将字符串的生成和计数条件的检测（对生成的字符串过滤）分离使得</a:t>
            </a: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程序具有很好的</a:t>
            </a:r>
            <a:r>
              <a:rPr lang="zh-CN" altLang="en-US" sz="2000" b="1">
                <a:solidFill>
                  <a:srgbClr val="C00000"/>
                </a:solidFill>
              </a:rPr>
              <a:t>可扩充性</a:t>
            </a:r>
            <a:r>
              <a:rPr lang="zh-CN" altLang="en-US" sz="2000" b="1">
                <a:solidFill>
                  <a:schemeClr val="accent6">
                    <a:lumMod val="50000"/>
                  </a:schemeClr>
                </a:solidFill>
              </a:rPr>
              <a:t>：过滤条件的设置可以很灵活</a:t>
            </a:r>
          </a:p>
          <a:p>
            <a:pPr marL="800100" lvl="1"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能够使用</a:t>
            </a:r>
            <a:r>
              <a:rPr lang="zh-CN" altLang="en-US" sz="2000" b="1">
                <a:solidFill>
                  <a:srgbClr val="C00000"/>
                </a:solidFill>
              </a:rPr>
              <a:t>公理化</a:t>
            </a:r>
            <a:r>
              <a:rPr lang="zh-CN" altLang="en-US" sz="2000" b="1">
                <a:solidFill>
                  <a:schemeClr val="accent6">
                    <a:lumMod val="50000"/>
                  </a:schemeClr>
                </a:solidFill>
              </a:rPr>
              <a:t>思想抽取一些最基本的过滤条件，并将基本过滤条件进行组合以应对复杂的计数问题</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乘法原理运用练习（一）</a:t>
            </a:r>
          </a:p>
        </p:txBody>
      </p:sp>
      <p:sp>
        <p:nvSpPr>
          <p:cNvPr id="2" name="文本框 1"/>
          <p:cNvSpPr txBox="1"/>
          <p:nvPr/>
        </p:nvSpPr>
        <p:spPr>
          <a:xfrm>
            <a:off x="1092015" y="1260794"/>
            <a:ext cx="4269392"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求解有多少数字不同的四位数</a:t>
            </a:r>
          </a:p>
        </p:txBody>
      </p:sp>
      <mc:AlternateContent xmlns:mc="http://schemas.openxmlformats.org/markup-compatibility/2006" xmlns:a14="http://schemas.microsoft.com/office/drawing/2010/main">
        <mc:Choice Requires="a14">
          <p:sp>
            <p:nvSpPr>
              <p:cNvPr id="3" name="文本框 2"/>
              <p:cNvSpPr txBox="1"/>
              <p:nvPr/>
            </p:nvSpPr>
            <p:spPr>
              <a:xfrm>
                <a:off x="1115039" y="1845204"/>
                <a:ext cx="8995988" cy="2708434"/>
              </a:xfrm>
              <a:prstGeom prst="rect">
                <a:avLst/>
              </a:prstGeom>
              <a:solidFill>
                <a:schemeClr val="accent2">
                  <a:lumMod val="20000"/>
                  <a:lumOff val="80000"/>
                  <a:alpha val="25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确定个位、十位、百位和千位数字看做四个子任务，判断下面说法是否正确</a:t>
                </a:r>
              </a:p>
              <a:p>
                <a:pPr lvl="1">
                  <a:spcBef>
                    <a:spcPts val="600"/>
                  </a:spcBef>
                  <a:spcAft>
                    <a:spcPts val="600"/>
                  </a:spcAft>
                </a:pPr>
                <a:r>
                  <a:rPr lang="en-US" altLang="zh-CN" sz="2000" b="1">
                    <a:solidFill>
                      <a:schemeClr val="accent6">
                        <a:lumMod val="50000"/>
                      </a:schemeClr>
                    </a:solidFill>
                  </a:rPr>
                  <a:t>(1) </a:t>
                </a:r>
                <a:r>
                  <a:rPr lang="zh-CN" altLang="en-US" sz="2000" b="1">
                    <a:solidFill>
                      <a:schemeClr val="accent6">
                        <a:lumMod val="50000"/>
                      </a:schemeClr>
                    </a:solidFill>
                  </a:rPr>
                  <a:t>按确定个位、十位、百位、千位数字的顺序相继子任务间有相关性</a:t>
                </a:r>
              </a:p>
              <a:p>
                <a:pPr lvl="1">
                  <a:spcBef>
                    <a:spcPts val="600"/>
                  </a:spcBef>
                  <a:spcAft>
                    <a:spcPts val="600"/>
                  </a:spcAft>
                </a:pPr>
                <a:r>
                  <a:rPr lang="en-US" altLang="zh-CN" sz="2000" b="1">
                    <a:solidFill>
                      <a:schemeClr val="accent6">
                        <a:lumMod val="50000"/>
                      </a:schemeClr>
                    </a:solidFill>
                  </a:rPr>
                  <a:t>(2) </a:t>
                </a:r>
                <a:r>
                  <a:rPr lang="zh-CN" altLang="en-US" sz="2000" b="1">
                    <a:solidFill>
                      <a:schemeClr val="accent6">
                        <a:lumMod val="50000"/>
                      </a:schemeClr>
                    </a:solidFill>
                  </a:rPr>
                  <a:t>按确定千位、百位、十位、个位数字的顺序相继子任务间有相关性</a:t>
                </a:r>
              </a:p>
              <a:p>
                <a:pPr lvl="1">
                  <a:spcBef>
                    <a:spcPts val="600"/>
                  </a:spcBef>
                  <a:spcAft>
                    <a:spcPts val="600"/>
                  </a:spcAft>
                </a:pPr>
                <a:r>
                  <a:rPr lang="en-US" altLang="zh-CN" sz="2000" b="1">
                    <a:solidFill>
                      <a:schemeClr val="accent6">
                        <a:lumMod val="50000"/>
                      </a:schemeClr>
                    </a:solidFill>
                  </a:rPr>
                  <a:t>(3) </a:t>
                </a:r>
                <a:r>
                  <a:rPr lang="zh-CN" altLang="en-US" sz="2000" b="1">
                    <a:solidFill>
                      <a:schemeClr val="accent6">
                        <a:lumMod val="50000"/>
                      </a:schemeClr>
                    </a:solidFill>
                  </a:rPr>
                  <a:t>按确定个位、十位、百位、千位数字的顺序相继子任务间有独立性</a:t>
                </a:r>
              </a:p>
              <a:p>
                <a:pPr lvl="1">
                  <a:spcBef>
                    <a:spcPts val="600"/>
                  </a:spcBef>
                  <a:spcAft>
                    <a:spcPts val="600"/>
                  </a:spcAft>
                </a:pPr>
                <a:r>
                  <a:rPr lang="en-US" altLang="zh-CN" sz="2000" b="1">
                    <a:solidFill>
                      <a:schemeClr val="accent6">
                        <a:lumMod val="50000"/>
                      </a:schemeClr>
                    </a:solidFill>
                  </a:rPr>
                  <a:t>(4) </a:t>
                </a:r>
                <a:r>
                  <a:rPr lang="zh-CN" altLang="en-US" sz="2000" b="1">
                    <a:solidFill>
                      <a:schemeClr val="accent6">
                        <a:lumMod val="50000"/>
                      </a:schemeClr>
                    </a:solidFill>
                  </a:rPr>
                  <a:t>按确定千位、百位、十位、个位数字的顺序相继子任务间有独立性</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计数公式是：</a:t>
                </a:r>
                <a:r>
                  <a:rPr lang="zh-CN" altLang="en-US" sz="2000" b="1"/>
                  <a:t>  </a:t>
                </a:r>
                <a14:m>
                  <m:oMath xmlns:m="http://schemas.openxmlformats.org/officeDocument/2006/math">
                    <m:r>
                      <a:rPr lang="en-US" altLang="zh-CN" sz="2000" b="1" i="1" smtClean="0">
                        <a:solidFill>
                          <a:srgbClr val="C00000"/>
                        </a:solidFill>
                        <a:latin typeface="Cambria Math" panose="02040503050406030204" pitchFamily="18" charset="0"/>
                      </a:rPr>
                      <m:t>𝟗</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𝟗</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𝟖</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𝟕</m:t>
                    </m:r>
                  </m:oMath>
                </a14:m>
                <a:endParaRPr lang="en-US" altLang="zh-CN" sz="2000" b="1"/>
              </a:p>
            </p:txBody>
          </p:sp>
        </mc:Choice>
        <mc:Fallback xmlns="">
          <p:sp>
            <p:nvSpPr>
              <p:cNvPr id="3" name="文本框 2"/>
              <p:cNvSpPr txBox="1">
                <a:spLocks noRot="1" noChangeAspect="1" noMove="1" noResize="1" noEditPoints="1" noAdjustHandles="1" noChangeArrowheads="1" noChangeShapeType="1" noTextEdit="1"/>
              </p:cNvSpPr>
              <p:nvPr/>
            </p:nvSpPr>
            <p:spPr>
              <a:xfrm>
                <a:off x="1115039" y="1845204"/>
                <a:ext cx="8995988" cy="2708434"/>
              </a:xfrm>
              <a:prstGeom prst="rect">
                <a:avLst/>
              </a:prstGeom>
              <a:blipFill rotWithShape="1">
                <a:blip r:embed="rId2"/>
                <a:stretch>
                  <a:fillRect l="-7" t="-20" r="6" b="2"/>
                </a:stretch>
              </a:blipFill>
            </p:spPr>
            <p:txBody>
              <a:bodyPr/>
              <a:lstStyle/>
              <a:p>
                <a:r>
                  <a:rPr lang="zh-CN" altLang="en-US">
                    <a:noFill/>
                  </a:rPr>
                  <a:t> </a:t>
                </a:r>
              </a:p>
            </p:txBody>
          </p:sp>
        </mc:Fallback>
      </mc:AlternateContent>
      <p:cxnSp>
        <p:nvCxnSpPr>
          <p:cNvPr id="11" name="直接连接符 10"/>
          <p:cNvCxnSpPr/>
          <p:nvPr/>
        </p:nvCxnSpPr>
        <p:spPr>
          <a:xfrm>
            <a:off x="2703729" y="4440432"/>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599490" y="4428372"/>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67842" y="4428372"/>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03300" y="4441529"/>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750871" y="4144795"/>
            <a:ext cx="480225" cy="276999"/>
          </a:xfrm>
          <a:prstGeom prst="rect">
            <a:avLst/>
          </a:prstGeom>
          <a:solidFill>
            <a:srgbClr val="FEF8F5"/>
          </a:solidFill>
        </p:spPr>
        <p:txBody>
          <a:bodyPr wrap="square" tIns="0" bIns="0" rtlCol="0">
            <a:spAutoFit/>
          </a:bodyPr>
          <a:lstStyle/>
          <a:p>
            <a:r>
              <a:rPr lang="en-US" altLang="zh-CN" b="1">
                <a:solidFill>
                  <a:srgbClr val="C00000"/>
                </a:solidFill>
              </a:rPr>
              <a:t>(1)</a:t>
            </a:r>
            <a:endParaRPr lang="zh-CN" altLang="en-US" b="1">
              <a:solidFill>
                <a:srgbClr val="C00000"/>
              </a:solidFill>
            </a:endParaRPr>
          </a:p>
        </p:txBody>
      </p:sp>
      <p:sp>
        <p:nvSpPr>
          <p:cNvPr id="21" name="文本框 20"/>
          <p:cNvSpPr txBox="1"/>
          <p:nvPr/>
        </p:nvSpPr>
        <p:spPr>
          <a:xfrm>
            <a:off x="3642247" y="4138141"/>
            <a:ext cx="480225" cy="276999"/>
          </a:xfrm>
          <a:prstGeom prst="rect">
            <a:avLst/>
          </a:prstGeom>
          <a:solidFill>
            <a:srgbClr val="FEF8F5"/>
          </a:solidFill>
        </p:spPr>
        <p:txBody>
          <a:bodyPr wrap="square" tIns="0" bIns="0" rtlCol="0">
            <a:spAutoFit/>
          </a:bodyPr>
          <a:lstStyle/>
          <a:p>
            <a:r>
              <a:rPr lang="en-US" altLang="zh-CN" b="1">
                <a:solidFill>
                  <a:srgbClr val="C00000"/>
                </a:solidFill>
              </a:rPr>
              <a:t>(2)</a:t>
            </a:r>
            <a:endParaRPr lang="zh-CN" altLang="en-US"/>
          </a:p>
        </p:txBody>
      </p:sp>
      <p:sp>
        <p:nvSpPr>
          <p:cNvPr id="22" name="文本框 21"/>
          <p:cNvSpPr txBox="1"/>
          <p:nvPr/>
        </p:nvSpPr>
        <p:spPr>
          <a:xfrm>
            <a:off x="4500729" y="4144795"/>
            <a:ext cx="480225" cy="276999"/>
          </a:xfrm>
          <a:prstGeom prst="rect">
            <a:avLst/>
          </a:prstGeom>
          <a:solidFill>
            <a:srgbClr val="FEF8F5"/>
          </a:solidFill>
        </p:spPr>
        <p:txBody>
          <a:bodyPr wrap="square" tIns="0" bIns="0" rtlCol="0">
            <a:spAutoFit/>
          </a:bodyPr>
          <a:lstStyle/>
          <a:p>
            <a:r>
              <a:rPr lang="en-US" altLang="zh-CN" b="1">
                <a:solidFill>
                  <a:srgbClr val="C00000"/>
                </a:solidFill>
              </a:rPr>
              <a:t>(3)</a:t>
            </a:r>
            <a:endParaRPr lang="zh-CN" altLang="en-US"/>
          </a:p>
        </p:txBody>
      </p:sp>
      <p:sp>
        <p:nvSpPr>
          <p:cNvPr id="23" name="文本框 22"/>
          <p:cNvSpPr txBox="1"/>
          <p:nvPr/>
        </p:nvSpPr>
        <p:spPr>
          <a:xfrm>
            <a:off x="5342218" y="4151373"/>
            <a:ext cx="480225" cy="276999"/>
          </a:xfrm>
          <a:prstGeom prst="rect">
            <a:avLst/>
          </a:prstGeom>
          <a:solidFill>
            <a:srgbClr val="FEF8F5"/>
          </a:solidFill>
        </p:spPr>
        <p:txBody>
          <a:bodyPr wrap="square" tIns="0" bIns="0" rtlCol="0">
            <a:spAutoFit/>
          </a:bodyPr>
          <a:lstStyle/>
          <a:p>
            <a:r>
              <a:rPr lang="en-US" altLang="zh-CN" b="1">
                <a:solidFill>
                  <a:srgbClr val="C00000"/>
                </a:solidFill>
              </a:rPr>
              <a:t>(4)</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乘法原理运用练习（一）</a:t>
            </a:r>
          </a:p>
        </p:txBody>
      </p:sp>
      <p:sp>
        <p:nvSpPr>
          <p:cNvPr id="2" name="文本框 1"/>
          <p:cNvSpPr txBox="1"/>
          <p:nvPr/>
        </p:nvSpPr>
        <p:spPr>
          <a:xfrm>
            <a:off x="1092015" y="1260794"/>
            <a:ext cx="4269392"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求解有多少数字不同的四位数</a:t>
            </a:r>
          </a:p>
        </p:txBody>
      </p:sp>
      <mc:AlternateContent xmlns:mc="http://schemas.openxmlformats.org/markup-compatibility/2006" xmlns:a14="http://schemas.microsoft.com/office/drawing/2010/main">
        <mc:Choice Requires="a14">
          <p:sp>
            <p:nvSpPr>
              <p:cNvPr id="3" name="文本框 2"/>
              <p:cNvSpPr txBox="1"/>
              <p:nvPr/>
            </p:nvSpPr>
            <p:spPr>
              <a:xfrm>
                <a:off x="1115039" y="1845204"/>
                <a:ext cx="8995988" cy="2708434"/>
              </a:xfrm>
              <a:prstGeom prst="rect">
                <a:avLst/>
              </a:prstGeom>
              <a:solidFill>
                <a:schemeClr val="accent2">
                  <a:lumMod val="20000"/>
                  <a:lumOff val="80000"/>
                  <a:alpha val="25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确定个位、十位、百位和千位数字看做四个子任务，判断下面说法是否正确</a:t>
                </a:r>
              </a:p>
              <a:p>
                <a:pPr lvl="1">
                  <a:spcBef>
                    <a:spcPts val="600"/>
                  </a:spcBef>
                  <a:spcAft>
                    <a:spcPts val="600"/>
                  </a:spcAft>
                </a:pPr>
                <a:r>
                  <a:rPr lang="en-US" altLang="zh-CN" sz="2000" b="1">
                    <a:solidFill>
                      <a:schemeClr val="accent6">
                        <a:lumMod val="50000"/>
                      </a:schemeClr>
                    </a:solidFill>
                  </a:rPr>
                  <a:t>(1) </a:t>
                </a:r>
                <a:r>
                  <a:rPr lang="zh-CN" altLang="en-US" sz="2000" b="1">
                    <a:solidFill>
                      <a:schemeClr val="accent6">
                        <a:lumMod val="50000"/>
                      </a:schemeClr>
                    </a:solidFill>
                  </a:rPr>
                  <a:t>按确定个位、十位、百位、千位数字的顺序相继子任务间有相关性</a:t>
                </a:r>
              </a:p>
              <a:p>
                <a:pPr lvl="1">
                  <a:spcBef>
                    <a:spcPts val="600"/>
                  </a:spcBef>
                  <a:spcAft>
                    <a:spcPts val="600"/>
                  </a:spcAft>
                </a:pPr>
                <a:r>
                  <a:rPr lang="en-US" altLang="zh-CN" sz="2000" b="1">
                    <a:solidFill>
                      <a:schemeClr val="accent6">
                        <a:lumMod val="50000"/>
                      </a:schemeClr>
                    </a:solidFill>
                  </a:rPr>
                  <a:t>(2) </a:t>
                </a:r>
                <a:r>
                  <a:rPr lang="zh-CN" altLang="en-US" sz="2000" b="1">
                    <a:solidFill>
                      <a:schemeClr val="accent6">
                        <a:lumMod val="50000"/>
                      </a:schemeClr>
                    </a:solidFill>
                  </a:rPr>
                  <a:t>按确定千位、百位、十位、个位数字的顺序相继子任务间有相关性</a:t>
                </a:r>
              </a:p>
              <a:p>
                <a:pPr lvl="1">
                  <a:spcBef>
                    <a:spcPts val="600"/>
                  </a:spcBef>
                  <a:spcAft>
                    <a:spcPts val="600"/>
                  </a:spcAft>
                </a:pPr>
                <a:r>
                  <a:rPr lang="en-US" altLang="zh-CN" sz="2000" b="1">
                    <a:solidFill>
                      <a:schemeClr val="accent6">
                        <a:lumMod val="50000"/>
                      </a:schemeClr>
                    </a:solidFill>
                  </a:rPr>
                  <a:t>(3) </a:t>
                </a:r>
                <a:r>
                  <a:rPr lang="zh-CN" altLang="en-US" sz="2000" b="1">
                    <a:solidFill>
                      <a:schemeClr val="accent6">
                        <a:lumMod val="50000"/>
                      </a:schemeClr>
                    </a:solidFill>
                  </a:rPr>
                  <a:t>按确定个位、十位、百位、千位数字的顺序相继子任务间有独立性</a:t>
                </a:r>
              </a:p>
              <a:p>
                <a:pPr lvl="1">
                  <a:spcBef>
                    <a:spcPts val="600"/>
                  </a:spcBef>
                  <a:spcAft>
                    <a:spcPts val="600"/>
                  </a:spcAft>
                </a:pPr>
                <a:r>
                  <a:rPr lang="en-US" altLang="zh-CN" sz="2000" b="1">
                    <a:solidFill>
                      <a:schemeClr val="accent6">
                        <a:lumMod val="50000"/>
                      </a:schemeClr>
                    </a:solidFill>
                  </a:rPr>
                  <a:t>(4) </a:t>
                </a:r>
                <a:r>
                  <a:rPr lang="zh-CN" altLang="en-US" sz="2000" b="1">
                    <a:solidFill>
                      <a:schemeClr val="accent6">
                        <a:lumMod val="50000"/>
                      </a:schemeClr>
                    </a:solidFill>
                  </a:rPr>
                  <a:t>按确定千位、百位、十位、个位数字的顺序相继子任务间有独立性</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计数公式是：</a:t>
                </a:r>
                <a:r>
                  <a:rPr lang="zh-CN" altLang="en-US" sz="2000" b="1"/>
                  <a:t>  </a:t>
                </a:r>
                <a14:m>
                  <m:oMath xmlns:m="http://schemas.openxmlformats.org/officeDocument/2006/math">
                    <m:r>
                      <a:rPr lang="en-US" altLang="zh-CN" sz="2000" b="1" i="1" smtClean="0">
                        <a:solidFill>
                          <a:srgbClr val="C00000"/>
                        </a:solidFill>
                        <a:latin typeface="Cambria Math" panose="02040503050406030204" pitchFamily="18" charset="0"/>
                      </a:rPr>
                      <m:t>𝟗</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𝟗</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𝟖</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𝟕</m:t>
                    </m:r>
                  </m:oMath>
                </a14:m>
                <a:endParaRPr lang="en-US" altLang="zh-CN" sz="2000" b="1"/>
              </a:p>
            </p:txBody>
          </p:sp>
        </mc:Choice>
        <mc:Fallback xmlns="">
          <p:sp>
            <p:nvSpPr>
              <p:cNvPr id="3" name="文本框 2"/>
              <p:cNvSpPr txBox="1">
                <a:spLocks noRot="1" noChangeAspect="1" noMove="1" noResize="1" noEditPoints="1" noAdjustHandles="1" noChangeArrowheads="1" noChangeShapeType="1" noTextEdit="1"/>
              </p:cNvSpPr>
              <p:nvPr/>
            </p:nvSpPr>
            <p:spPr>
              <a:xfrm>
                <a:off x="1115039" y="1845204"/>
                <a:ext cx="8995988" cy="2708434"/>
              </a:xfrm>
              <a:prstGeom prst="rect">
                <a:avLst/>
              </a:prstGeom>
              <a:blipFill rotWithShape="1">
                <a:blip r:embed="rId2"/>
                <a:stretch>
                  <a:fillRect l="-7" t="-20" r="6" b="2"/>
                </a:stretch>
              </a:blipFill>
            </p:spPr>
            <p:txBody>
              <a:bodyPr/>
              <a:lstStyle/>
              <a:p>
                <a:r>
                  <a:rPr lang="zh-CN" altLang="en-US">
                    <a:noFill/>
                  </a:rPr>
                  <a:t> </a:t>
                </a:r>
              </a:p>
            </p:txBody>
          </p:sp>
        </mc:Fallback>
      </mc:AlternateContent>
      <p:sp>
        <p:nvSpPr>
          <p:cNvPr id="4" name="文本框 3"/>
          <p:cNvSpPr txBox="1"/>
          <p:nvPr/>
        </p:nvSpPr>
        <p:spPr>
          <a:xfrm>
            <a:off x="1115039" y="4676383"/>
            <a:ext cx="8788767" cy="1554272"/>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sz="2000" b="1">
                <a:solidFill>
                  <a:srgbClr val="C00000"/>
                </a:solidFill>
              </a:rPr>
              <a:t>相关性和独立性</a:t>
            </a:r>
          </a:p>
          <a:p>
            <a:pPr marL="342900" indent="-342900">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因为要求四位数的各位数字不同，因此无论按怎样顺序考虑都具有相关性</a:t>
            </a:r>
          </a:p>
          <a:p>
            <a:pPr marL="342900" indent="-342900">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先确定个位或十位或百位，则它们是否选</a:t>
            </a:r>
            <a:r>
              <a:rPr lang="en-US" altLang="zh-CN" sz="2000" b="1">
                <a:solidFill>
                  <a:srgbClr val="002060"/>
                </a:solidFill>
                <a:latin typeface="楷体" panose="02010609060101010101" pitchFamily="49" charset="-122"/>
                <a:ea typeface="楷体" panose="02010609060101010101" pitchFamily="49" charset="-122"/>
              </a:rPr>
              <a:t>0</a:t>
            </a:r>
            <a:r>
              <a:rPr lang="zh-CN" altLang="en-US" sz="2000" b="1">
                <a:solidFill>
                  <a:srgbClr val="002060"/>
                </a:solidFill>
                <a:latin typeface="楷体" panose="02010609060101010101" pitchFamily="49" charset="-122"/>
                <a:ea typeface="楷体" panose="02010609060101010101" pitchFamily="49" charset="-122"/>
              </a:rPr>
              <a:t>会影响千位可选数字个数</a:t>
            </a:r>
          </a:p>
          <a:p>
            <a:pPr marL="800100" lvl="1" indent="-342900">
              <a:spcBef>
                <a:spcPts val="600"/>
              </a:spcBef>
              <a:buFont typeface="Arial" panose="020B0604020202020204" pitchFamily="34" charset="0"/>
              <a:buChar char="•"/>
            </a:pPr>
            <a:r>
              <a:rPr lang="zh-CN" altLang="en-US" b="1">
                <a:solidFill>
                  <a:schemeClr val="accent2">
                    <a:lumMod val="50000"/>
                  </a:schemeClr>
                </a:solidFill>
              </a:rPr>
              <a:t>因此只有先考虑</a:t>
            </a:r>
            <a:r>
              <a:rPr lang="zh-CN" altLang="en-US" b="1">
                <a:solidFill>
                  <a:srgbClr val="C00000"/>
                </a:solidFill>
              </a:rPr>
              <a:t>约束条件多的千位数字</a:t>
            </a:r>
            <a:r>
              <a:rPr lang="zh-CN" altLang="en-US" b="1">
                <a:solidFill>
                  <a:schemeClr val="accent2">
                    <a:lumMod val="50000"/>
                  </a:schemeClr>
                </a:solidFill>
              </a:rPr>
              <a:t>才会具有独立性</a:t>
            </a:r>
          </a:p>
        </p:txBody>
      </p:sp>
      <p:cxnSp>
        <p:nvCxnSpPr>
          <p:cNvPr id="11" name="直接连接符 10"/>
          <p:cNvCxnSpPr/>
          <p:nvPr/>
        </p:nvCxnSpPr>
        <p:spPr>
          <a:xfrm>
            <a:off x="2703729" y="4440432"/>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599490" y="4428372"/>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67842" y="4428372"/>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03300" y="4441529"/>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308401" y="2367861"/>
            <a:ext cx="415500" cy="1720034"/>
            <a:chOff x="1308401" y="2367861"/>
            <a:chExt cx="415500" cy="1720034"/>
          </a:xfrm>
        </p:grpSpPr>
        <p:sp>
          <p:nvSpPr>
            <p:cNvPr id="16" name="文本框 15"/>
            <p:cNvSpPr txBox="1"/>
            <p:nvPr/>
          </p:nvSpPr>
          <p:spPr>
            <a:xfrm>
              <a:off x="1308402" y="2367861"/>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8" name="文本框 17"/>
            <p:cNvSpPr txBox="1"/>
            <p:nvPr/>
          </p:nvSpPr>
          <p:spPr>
            <a:xfrm>
              <a:off x="1308401" y="2812710"/>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9" name="文本框 18"/>
            <p:cNvSpPr txBox="1"/>
            <p:nvPr/>
          </p:nvSpPr>
          <p:spPr>
            <a:xfrm>
              <a:off x="1308401" y="3718563"/>
              <a:ext cx="415499" cy="369332"/>
            </a:xfrm>
            <a:prstGeom prst="rect">
              <a:avLst/>
            </a:prstGeom>
            <a:noFill/>
          </p:spPr>
          <p:txBody>
            <a:bodyPr wrap="square" rtlCol="0">
              <a:spAutoFit/>
            </a:bodyPr>
            <a:lstStyle/>
            <a:p>
              <a:pPr algn="ctr"/>
              <a:r>
                <a:rPr lang="zh-CN" altLang="en-US">
                  <a:solidFill>
                    <a:srgbClr val="C00000"/>
                  </a:solidFill>
                </a:rPr>
                <a:t>✔</a:t>
              </a:r>
            </a:p>
          </p:txBody>
        </p:sp>
        <p:sp>
          <p:nvSpPr>
            <p:cNvPr id="20" name="文本框 19"/>
            <p:cNvSpPr txBox="1"/>
            <p:nvPr/>
          </p:nvSpPr>
          <p:spPr>
            <a:xfrm>
              <a:off x="1308401" y="3252820"/>
              <a:ext cx="415498" cy="369332"/>
            </a:xfrm>
            <a:prstGeom prst="rect">
              <a:avLst/>
            </a:prstGeom>
            <a:noFill/>
          </p:spPr>
          <p:txBody>
            <a:bodyPr wrap="none" rtlCol="0">
              <a:spAutoFit/>
            </a:bodyPr>
            <a:lstStyle/>
            <a:p>
              <a:pPr algn="ctr"/>
              <a:r>
                <a:rPr lang="zh-CN" altLang="en-US">
                  <a:solidFill>
                    <a:srgbClr val="C00000"/>
                  </a:solidFill>
                </a:rPr>
                <a:t>✘</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乘法原理运用练习（二）</a:t>
            </a:r>
          </a:p>
        </p:txBody>
      </p:sp>
      <p:sp>
        <p:nvSpPr>
          <p:cNvPr id="2" name="文本框 1"/>
          <p:cNvSpPr txBox="1"/>
          <p:nvPr/>
        </p:nvSpPr>
        <p:spPr>
          <a:xfrm>
            <a:off x="1098592" y="1318806"/>
            <a:ext cx="4854875"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求解有多少数字不同的四位数奇数</a:t>
            </a:r>
          </a:p>
        </p:txBody>
      </p:sp>
      <p:sp>
        <p:nvSpPr>
          <p:cNvPr id="4" name="文本框 3"/>
          <p:cNvSpPr txBox="1"/>
          <p:nvPr/>
        </p:nvSpPr>
        <p:spPr>
          <a:xfrm>
            <a:off x="1098592" y="4008362"/>
            <a:ext cx="8788767" cy="203132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相关性和独立性</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因为要求四位数的各位数字不同，因此无论按怎样顺序考虑都具有相关性</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先确定千位数字，则千位所选数字是奇数数字会影响个位数字的可选个数</a:t>
            </a: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rPr>
              <a:t>而先确定个位数字，则因</a:t>
            </a:r>
            <a:r>
              <a:rPr lang="en-US" altLang="zh-CN" b="1">
                <a:solidFill>
                  <a:schemeClr val="accent2">
                    <a:lumMod val="50000"/>
                  </a:schemeClr>
                </a:solidFill>
              </a:rPr>
              <a:t>0</a:t>
            </a:r>
            <a:r>
              <a:rPr lang="zh-CN" altLang="en-US" b="1">
                <a:solidFill>
                  <a:schemeClr val="accent2">
                    <a:lumMod val="50000"/>
                  </a:schemeClr>
                </a:solidFill>
              </a:rPr>
              <a:t>不是奇数数字从而不影响千位数字的可选个数</a:t>
            </a:r>
            <a:endParaRPr lang="en-US" altLang="zh-CN" b="1">
              <a:solidFill>
                <a:schemeClr val="accent2">
                  <a:lumMod val="50000"/>
                </a:schemeClr>
              </a:solidFill>
            </a:endParaRP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rPr>
              <a:t>对个位数字的约束（不能是偶数数字）比对千位数字的约束（不能是</a:t>
            </a:r>
            <a:r>
              <a:rPr lang="en-US" altLang="zh-CN" b="1">
                <a:solidFill>
                  <a:schemeClr val="accent2">
                    <a:lumMod val="50000"/>
                  </a:schemeClr>
                </a:solidFill>
              </a:rPr>
              <a:t>0</a:t>
            </a:r>
            <a:r>
              <a:rPr lang="zh-CN" altLang="en-US" b="1">
                <a:solidFill>
                  <a:schemeClr val="accent2">
                    <a:lumMod val="50000"/>
                  </a:schemeClr>
                </a:solidFill>
              </a:rPr>
              <a:t>）更多</a:t>
            </a:r>
          </a:p>
        </p:txBody>
      </p:sp>
      <p:grpSp>
        <p:nvGrpSpPr>
          <p:cNvPr id="6" name="组合 5"/>
          <p:cNvGrpSpPr/>
          <p:nvPr/>
        </p:nvGrpSpPr>
        <p:grpSpPr>
          <a:xfrm>
            <a:off x="1098592" y="1915160"/>
            <a:ext cx="9259126" cy="1785104"/>
            <a:chOff x="1115038" y="1845204"/>
            <a:chExt cx="9259126" cy="1785104"/>
          </a:xfrm>
        </p:grpSpPr>
        <mc:AlternateContent xmlns:mc="http://schemas.openxmlformats.org/markup-compatibility/2006" xmlns:a14="http://schemas.microsoft.com/office/drawing/2010/main">
          <mc:Choice Requires="a14">
            <p:sp>
              <p:nvSpPr>
                <p:cNvPr id="3" name="文本框 2"/>
                <p:cNvSpPr txBox="1"/>
                <p:nvPr/>
              </p:nvSpPr>
              <p:spPr>
                <a:xfrm>
                  <a:off x="1115038" y="1845204"/>
                  <a:ext cx="9259126" cy="1785104"/>
                </a:xfrm>
                <a:prstGeom prst="rect">
                  <a:avLst/>
                </a:prstGeom>
                <a:solidFill>
                  <a:schemeClr val="accent2">
                    <a:lumMod val="20000"/>
                    <a:lumOff val="80000"/>
                    <a:alpha val="25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确定个位、十位、百位和千位数字看做四个子任务，判断下面说法是否正确</a:t>
                  </a:r>
                </a:p>
                <a:p>
                  <a:pPr lvl="1">
                    <a:spcBef>
                      <a:spcPts val="600"/>
                    </a:spcBef>
                    <a:spcAft>
                      <a:spcPts val="600"/>
                    </a:spcAft>
                  </a:pPr>
                  <a:r>
                    <a:rPr lang="en-US" altLang="zh-CN" sz="2000" b="1">
                      <a:solidFill>
                        <a:schemeClr val="accent6">
                          <a:lumMod val="50000"/>
                        </a:schemeClr>
                      </a:solidFill>
                    </a:rPr>
                    <a:t>(1) </a:t>
                  </a:r>
                  <a:r>
                    <a:rPr lang="zh-CN" altLang="en-US" sz="2000" b="1">
                      <a:solidFill>
                        <a:schemeClr val="accent6">
                          <a:lumMod val="50000"/>
                        </a:schemeClr>
                      </a:solidFill>
                    </a:rPr>
                    <a:t>按确定千位、个位、百位、十位数字顺序进行，相继子任务间具有独立性</a:t>
                  </a:r>
                </a:p>
                <a:p>
                  <a:pPr lvl="1">
                    <a:spcBef>
                      <a:spcPts val="600"/>
                    </a:spcBef>
                    <a:spcAft>
                      <a:spcPts val="600"/>
                    </a:spcAft>
                  </a:pPr>
                  <a:r>
                    <a:rPr lang="en-US" altLang="zh-CN" sz="2000" b="1">
                      <a:solidFill>
                        <a:schemeClr val="accent6">
                          <a:lumMod val="50000"/>
                        </a:schemeClr>
                      </a:solidFill>
                    </a:rPr>
                    <a:t>(2) </a:t>
                  </a:r>
                  <a:r>
                    <a:rPr lang="zh-CN" altLang="en-US" sz="2000" b="1">
                      <a:solidFill>
                        <a:schemeClr val="accent6">
                          <a:lumMod val="50000"/>
                        </a:schemeClr>
                      </a:solidFill>
                    </a:rPr>
                    <a:t>按确定个位、千位、百位、十位数字顺序进行，相继子任务间具有独立性</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计数公式是：</a:t>
                  </a:r>
                  <a:r>
                    <a:rPr lang="zh-CN" altLang="en-US" sz="2000" b="1"/>
                    <a:t>  </a:t>
                  </a:r>
                  <a14:m>
                    <m:oMath xmlns:m="http://schemas.openxmlformats.org/officeDocument/2006/math">
                      <m:r>
                        <a:rPr lang="en-US" altLang="zh-CN" sz="2000" b="1" i="1" smtClean="0">
                          <a:solidFill>
                            <a:srgbClr val="C00000"/>
                          </a:solidFill>
                          <a:latin typeface="Cambria Math" panose="02040503050406030204" pitchFamily="18" charset="0"/>
                        </a:rPr>
                        <m:t>𝟗</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𝟗</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𝟖</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𝟕</m:t>
                      </m:r>
                    </m:oMath>
                  </a14:m>
                  <a:endParaRPr lang="en-US" altLang="zh-CN" sz="2000" b="1"/>
                </a:p>
              </p:txBody>
            </p:sp>
          </mc:Choice>
          <mc:Fallback xmlns="">
            <p:sp>
              <p:nvSpPr>
                <p:cNvPr id="3" name="文本框 2"/>
                <p:cNvSpPr txBox="1">
                  <a:spLocks noRot="1" noChangeAspect="1" noMove="1" noResize="1" noEditPoints="1" noAdjustHandles="1" noChangeArrowheads="1" noChangeShapeType="1" noTextEdit="1"/>
                </p:cNvSpPr>
                <p:nvPr/>
              </p:nvSpPr>
              <p:spPr>
                <a:xfrm>
                  <a:off x="1115038" y="1845204"/>
                  <a:ext cx="9259126" cy="1785104"/>
                </a:xfrm>
                <a:prstGeom prst="rect">
                  <a:avLst/>
                </a:prstGeom>
                <a:blipFill rotWithShape="1">
                  <a:blip r:embed="rId2"/>
                </a:blipFill>
              </p:spPr>
              <p:txBody>
                <a:bodyPr/>
                <a:lstStyle/>
                <a:p>
                  <a:r>
                    <a:rPr lang="zh-CN" altLang="en-US">
                      <a:noFill/>
                    </a:rPr>
                    <a:t> </a:t>
                  </a:r>
                </a:p>
              </p:txBody>
            </p:sp>
          </mc:Fallback>
        </mc:AlternateContent>
        <p:cxnSp>
          <p:nvCxnSpPr>
            <p:cNvPr id="11" name="直接连接符 10"/>
            <p:cNvCxnSpPr/>
            <p:nvPr/>
          </p:nvCxnSpPr>
          <p:spPr>
            <a:xfrm>
              <a:off x="2697151" y="3545767"/>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592912" y="3533707"/>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61264" y="3533707"/>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296722" y="3546864"/>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19" name="文本框 18"/>
          <p:cNvSpPr txBox="1"/>
          <p:nvPr/>
        </p:nvSpPr>
        <p:spPr>
          <a:xfrm>
            <a:off x="2680705" y="3323175"/>
            <a:ext cx="480225" cy="276999"/>
          </a:xfrm>
          <a:prstGeom prst="rect">
            <a:avLst/>
          </a:prstGeom>
          <a:solidFill>
            <a:srgbClr val="FEF8F5"/>
          </a:solidFill>
        </p:spPr>
        <p:txBody>
          <a:bodyPr wrap="square" tIns="0" bIns="0" rtlCol="0">
            <a:spAutoFit/>
          </a:bodyPr>
          <a:lstStyle/>
          <a:p>
            <a:r>
              <a:rPr lang="en-US" altLang="zh-CN" b="1">
                <a:solidFill>
                  <a:srgbClr val="C00000"/>
                </a:solidFill>
              </a:rPr>
              <a:t>(1)</a:t>
            </a:r>
            <a:endParaRPr lang="zh-CN" altLang="en-US"/>
          </a:p>
        </p:txBody>
      </p:sp>
      <p:sp>
        <p:nvSpPr>
          <p:cNvPr id="21" name="文本框 20"/>
          <p:cNvSpPr txBox="1"/>
          <p:nvPr/>
        </p:nvSpPr>
        <p:spPr>
          <a:xfrm>
            <a:off x="3569885" y="3323175"/>
            <a:ext cx="480225" cy="276999"/>
          </a:xfrm>
          <a:prstGeom prst="rect">
            <a:avLst/>
          </a:prstGeom>
          <a:solidFill>
            <a:srgbClr val="FEF8F5"/>
          </a:solidFill>
        </p:spPr>
        <p:txBody>
          <a:bodyPr wrap="square" tIns="0" bIns="0" rtlCol="0">
            <a:spAutoFit/>
          </a:bodyPr>
          <a:lstStyle/>
          <a:p>
            <a:r>
              <a:rPr lang="en-US" altLang="zh-CN" b="1">
                <a:solidFill>
                  <a:srgbClr val="C00000"/>
                </a:solidFill>
              </a:rPr>
              <a:t>(2)</a:t>
            </a:r>
            <a:endParaRPr lang="zh-CN" altLang="en-US"/>
          </a:p>
        </p:txBody>
      </p:sp>
      <p:sp>
        <p:nvSpPr>
          <p:cNvPr id="22" name="文本框 21"/>
          <p:cNvSpPr txBox="1"/>
          <p:nvPr/>
        </p:nvSpPr>
        <p:spPr>
          <a:xfrm>
            <a:off x="4444266" y="3313738"/>
            <a:ext cx="480225" cy="276999"/>
          </a:xfrm>
          <a:prstGeom prst="rect">
            <a:avLst/>
          </a:prstGeom>
          <a:solidFill>
            <a:srgbClr val="FEF8F5"/>
          </a:solidFill>
        </p:spPr>
        <p:txBody>
          <a:bodyPr wrap="square" tIns="0" bIns="0" rtlCol="0">
            <a:spAutoFit/>
          </a:bodyPr>
          <a:lstStyle/>
          <a:p>
            <a:r>
              <a:rPr lang="en-US" altLang="zh-CN" b="1">
                <a:solidFill>
                  <a:srgbClr val="C00000"/>
                </a:solidFill>
              </a:rPr>
              <a:t>(3)</a:t>
            </a:r>
            <a:endParaRPr lang="zh-CN" altLang="en-US"/>
          </a:p>
        </p:txBody>
      </p:sp>
      <p:sp>
        <p:nvSpPr>
          <p:cNvPr id="23" name="文本框 22"/>
          <p:cNvSpPr txBox="1"/>
          <p:nvPr/>
        </p:nvSpPr>
        <p:spPr>
          <a:xfrm>
            <a:off x="5247930" y="3323174"/>
            <a:ext cx="480225" cy="276999"/>
          </a:xfrm>
          <a:prstGeom prst="rect">
            <a:avLst/>
          </a:prstGeom>
          <a:solidFill>
            <a:srgbClr val="FEF8F5"/>
          </a:solidFill>
        </p:spPr>
        <p:txBody>
          <a:bodyPr wrap="square" tIns="0" bIns="0" rtlCol="0">
            <a:spAutoFit/>
          </a:bodyPr>
          <a:lstStyle/>
          <a:p>
            <a:r>
              <a:rPr lang="en-US" altLang="zh-CN" b="1">
                <a:solidFill>
                  <a:srgbClr val="C00000"/>
                </a:solidFill>
              </a:rPr>
              <a:t>(4)</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乘法原理运用练习（二）</a:t>
            </a:r>
          </a:p>
        </p:txBody>
      </p:sp>
      <p:sp>
        <p:nvSpPr>
          <p:cNvPr id="2" name="文本框 1"/>
          <p:cNvSpPr txBox="1"/>
          <p:nvPr/>
        </p:nvSpPr>
        <p:spPr>
          <a:xfrm>
            <a:off x="1098592" y="1318806"/>
            <a:ext cx="4854875"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求解有多少数字不同的四位数奇数</a:t>
            </a:r>
          </a:p>
        </p:txBody>
      </p:sp>
      <p:sp>
        <p:nvSpPr>
          <p:cNvPr id="4" name="文本框 3"/>
          <p:cNvSpPr txBox="1"/>
          <p:nvPr/>
        </p:nvSpPr>
        <p:spPr>
          <a:xfrm>
            <a:off x="1098592" y="4008362"/>
            <a:ext cx="8788767" cy="203132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相关性和独立性</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因为要求四位数的各位数字不同，因此无论按怎样顺序考虑都具有相关性</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先确定千位数字，则千位所选数字是奇数数字会影响个位数字的可选个数</a:t>
            </a: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rPr>
              <a:t>而先确定个位数字，则因</a:t>
            </a:r>
            <a:r>
              <a:rPr lang="en-US" altLang="zh-CN" b="1">
                <a:solidFill>
                  <a:schemeClr val="accent2">
                    <a:lumMod val="50000"/>
                  </a:schemeClr>
                </a:solidFill>
              </a:rPr>
              <a:t>0</a:t>
            </a:r>
            <a:r>
              <a:rPr lang="zh-CN" altLang="en-US" b="1">
                <a:solidFill>
                  <a:schemeClr val="accent2">
                    <a:lumMod val="50000"/>
                  </a:schemeClr>
                </a:solidFill>
              </a:rPr>
              <a:t>不是奇数数字从而不影响千位数字的可选个数</a:t>
            </a:r>
            <a:endParaRPr lang="en-US" altLang="zh-CN" b="1">
              <a:solidFill>
                <a:schemeClr val="accent2">
                  <a:lumMod val="50000"/>
                </a:schemeClr>
              </a:solidFill>
            </a:endParaRP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rPr>
              <a:t>对个位数字的约束（不能是偶数数字）比对千位数字的约束（不能是</a:t>
            </a:r>
            <a:r>
              <a:rPr lang="en-US" altLang="zh-CN" b="1">
                <a:solidFill>
                  <a:schemeClr val="accent2">
                    <a:lumMod val="50000"/>
                  </a:schemeClr>
                </a:solidFill>
              </a:rPr>
              <a:t>0</a:t>
            </a:r>
            <a:r>
              <a:rPr lang="zh-CN" altLang="en-US" b="1">
                <a:solidFill>
                  <a:schemeClr val="accent2">
                    <a:lumMod val="50000"/>
                  </a:schemeClr>
                </a:solidFill>
              </a:rPr>
              <a:t>）更多</a:t>
            </a:r>
          </a:p>
        </p:txBody>
      </p:sp>
      <p:grpSp>
        <p:nvGrpSpPr>
          <p:cNvPr id="6" name="组合 5"/>
          <p:cNvGrpSpPr/>
          <p:nvPr/>
        </p:nvGrpSpPr>
        <p:grpSpPr>
          <a:xfrm>
            <a:off x="1098592" y="1915160"/>
            <a:ext cx="9259126" cy="1785104"/>
            <a:chOff x="1115038" y="1845204"/>
            <a:chExt cx="9259126" cy="1785104"/>
          </a:xfrm>
        </p:grpSpPr>
        <mc:AlternateContent xmlns:mc="http://schemas.openxmlformats.org/markup-compatibility/2006" xmlns:a14="http://schemas.microsoft.com/office/drawing/2010/main">
          <mc:Choice Requires="a14">
            <p:sp>
              <p:nvSpPr>
                <p:cNvPr id="3" name="文本框 2"/>
                <p:cNvSpPr txBox="1"/>
                <p:nvPr/>
              </p:nvSpPr>
              <p:spPr>
                <a:xfrm>
                  <a:off x="1115038" y="1845204"/>
                  <a:ext cx="9259126" cy="1785104"/>
                </a:xfrm>
                <a:prstGeom prst="rect">
                  <a:avLst/>
                </a:prstGeom>
                <a:solidFill>
                  <a:schemeClr val="accent2">
                    <a:lumMod val="20000"/>
                    <a:lumOff val="80000"/>
                    <a:alpha val="25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确定个位、十位、百位和千位数字看做四个子任务，判断下面说法是否正确</a:t>
                  </a:r>
                </a:p>
                <a:p>
                  <a:pPr lvl="1">
                    <a:spcBef>
                      <a:spcPts val="600"/>
                    </a:spcBef>
                    <a:spcAft>
                      <a:spcPts val="600"/>
                    </a:spcAft>
                  </a:pPr>
                  <a:r>
                    <a:rPr lang="en-US" altLang="zh-CN" sz="2000" b="1">
                      <a:solidFill>
                        <a:schemeClr val="accent6">
                          <a:lumMod val="50000"/>
                        </a:schemeClr>
                      </a:solidFill>
                    </a:rPr>
                    <a:t>(1) </a:t>
                  </a:r>
                  <a:r>
                    <a:rPr lang="zh-CN" altLang="en-US" sz="2000" b="1">
                      <a:solidFill>
                        <a:schemeClr val="accent6">
                          <a:lumMod val="50000"/>
                        </a:schemeClr>
                      </a:solidFill>
                    </a:rPr>
                    <a:t>按确定千位、个位、百位、十位数字顺序进行，相继子任务间具有独立性</a:t>
                  </a:r>
                </a:p>
                <a:p>
                  <a:pPr lvl="1">
                    <a:spcBef>
                      <a:spcPts val="600"/>
                    </a:spcBef>
                    <a:spcAft>
                      <a:spcPts val="600"/>
                    </a:spcAft>
                  </a:pPr>
                  <a:r>
                    <a:rPr lang="en-US" altLang="zh-CN" sz="2000" b="1">
                      <a:solidFill>
                        <a:schemeClr val="accent6">
                          <a:lumMod val="50000"/>
                        </a:schemeClr>
                      </a:solidFill>
                    </a:rPr>
                    <a:t>(2) </a:t>
                  </a:r>
                  <a:r>
                    <a:rPr lang="zh-CN" altLang="en-US" sz="2000" b="1">
                      <a:solidFill>
                        <a:schemeClr val="accent6">
                          <a:lumMod val="50000"/>
                        </a:schemeClr>
                      </a:solidFill>
                    </a:rPr>
                    <a:t>按确定个位、千位、百位、十位数字顺序进行，相继子任务间具有独立性</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计数公式是：</a:t>
                  </a:r>
                  <a:r>
                    <a:rPr lang="zh-CN" altLang="en-US" sz="2000" b="1"/>
                    <a:t>  </a:t>
                  </a:r>
                  <a14:m>
                    <m:oMath xmlns:m="http://schemas.openxmlformats.org/officeDocument/2006/math">
                      <m:r>
                        <a:rPr lang="en-US" altLang="zh-CN" sz="2000" b="1" i="1" smtClean="0">
                          <a:solidFill>
                            <a:srgbClr val="C00000"/>
                          </a:solidFill>
                          <a:latin typeface="Cambria Math" panose="02040503050406030204" pitchFamily="18" charset="0"/>
                        </a:rPr>
                        <m:t>𝟓</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𝟖</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𝟖</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m:t>
                      </m:r>
                    </m:oMath>
                  </a14:m>
                  <a:r>
                    <a:rPr lang="en-US" altLang="zh-CN" sz="2000" b="1">
                      <a:solidFill>
                        <a:srgbClr val="C00000"/>
                      </a:solidFill>
                    </a:rPr>
                    <a:t>   </a:t>
                  </a:r>
                  <a14:m>
                    <m:oMath xmlns:m="http://schemas.openxmlformats.org/officeDocument/2006/math">
                      <m:r>
                        <a:rPr lang="en-US" altLang="zh-CN" sz="2000" b="1" i="1" smtClean="0">
                          <a:solidFill>
                            <a:srgbClr val="C00000"/>
                          </a:solidFill>
                          <a:latin typeface="Cambria Math" panose="02040503050406030204" pitchFamily="18" charset="0"/>
                        </a:rPr>
                        <m:t>𝟕</m:t>
                      </m:r>
                    </m:oMath>
                  </a14:m>
                  <a:endParaRPr lang="en-US" altLang="zh-CN" sz="2000" b="1"/>
                </a:p>
              </p:txBody>
            </p:sp>
          </mc:Choice>
          <mc:Fallback xmlns="">
            <p:sp>
              <p:nvSpPr>
                <p:cNvPr id="3" name="文本框 2"/>
                <p:cNvSpPr txBox="1">
                  <a:spLocks noRot="1" noChangeAspect="1" noMove="1" noResize="1" noEditPoints="1" noAdjustHandles="1" noChangeArrowheads="1" noChangeShapeType="1" noTextEdit="1"/>
                </p:cNvSpPr>
                <p:nvPr/>
              </p:nvSpPr>
              <p:spPr>
                <a:xfrm>
                  <a:off x="1115038" y="1845204"/>
                  <a:ext cx="9259126" cy="1785104"/>
                </a:xfrm>
                <a:prstGeom prst="rect">
                  <a:avLst/>
                </a:prstGeom>
                <a:blipFill rotWithShape="1">
                  <a:blip r:embed="rId2"/>
                </a:blipFill>
              </p:spPr>
              <p:txBody>
                <a:bodyPr/>
                <a:lstStyle/>
                <a:p>
                  <a:r>
                    <a:rPr lang="zh-CN" altLang="en-US">
                      <a:noFill/>
                    </a:rPr>
                    <a:t> </a:t>
                  </a:r>
                </a:p>
              </p:txBody>
            </p:sp>
          </mc:Fallback>
        </mc:AlternateContent>
        <p:cxnSp>
          <p:nvCxnSpPr>
            <p:cNvPr id="11" name="直接连接符 10"/>
            <p:cNvCxnSpPr/>
            <p:nvPr/>
          </p:nvCxnSpPr>
          <p:spPr>
            <a:xfrm>
              <a:off x="2697151" y="3545767"/>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592912" y="3533707"/>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61264" y="3533707"/>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296722" y="3546864"/>
              <a:ext cx="52298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308401" y="2812710"/>
              <a:ext cx="415499" cy="369332"/>
            </a:xfrm>
            <a:prstGeom prst="rect">
              <a:avLst/>
            </a:prstGeom>
            <a:noFill/>
          </p:spPr>
          <p:txBody>
            <a:bodyPr wrap="square" rtlCol="0">
              <a:spAutoFit/>
            </a:bodyPr>
            <a:lstStyle/>
            <a:p>
              <a:pPr algn="ctr"/>
              <a:r>
                <a:rPr lang="zh-CN" altLang="en-US">
                  <a:solidFill>
                    <a:srgbClr val="C00000"/>
                  </a:solidFill>
                </a:rPr>
                <a:t>✔</a:t>
              </a:r>
            </a:p>
          </p:txBody>
        </p:sp>
        <p:sp>
          <p:nvSpPr>
            <p:cNvPr id="20" name="文本框 19"/>
            <p:cNvSpPr txBox="1"/>
            <p:nvPr/>
          </p:nvSpPr>
          <p:spPr>
            <a:xfrm>
              <a:off x="1308402" y="2350049"/>
              <a:ext cx="415498" cy="369332"/>
            </a:xfrm>
            <a:prstGeom prst="rect">
              <a:avLst/>
            </a:prstGeom>
            <a:noFill/>
          </p:spPr>
          <p:txBody>
            <a:bodyPr wrap="none" rtlCol="0">
              <a:spAutoFit/>
            </a:bodyPr>
            <a:lstStyle/>
            <a:p>
              <a:pPr algn="ctr"/>
              <a:r>
                <a:rPr lang="zh-CN" altLang="en-US">
                  <a:solidFill>
                    <a:srgbClr val="C00000"/>
                  </a:solidFill>
                </a:rPr>
                <a: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加乘原理综合运用例子</a:t>
            </a:r>
          </a:p>
        </p:txBody>
      </p:sp>
      <p:sp>
        <p:nvSpPr>
          <p:cNvPr id="2" name="文本框 1"/>
          <p:cNvSpPr txBox="1"/>
          <p:nvPr/>
        </p:nvSpPr>
        <p:spPr>
          <a:xfrm>
            <a:off x="749939" y="1170958"/>
            <a:ext cx="7880944" cy="789255"/>
          </a:xfrm>
          <a:prstGeom prst="rect">
            <a:avLst/>
          </a:prstGeom>
          <a:solidFill>
            <a:schemeClr val="accent6">
              <a:lumMod val="20000"/>
              <a:lumOff val="80000"/>
              <a:alpha val="50000"/>
            </a:schemeClr>
          </a:solidFill>
        </p:spPr>
        <p:txBody>
          <a:bodyPr wrap="square" rtlCol="0">
            <a:spAutoFit/>
          </a:bodyPr>
          <a:lstStyle/>
          <a:p>
            <a:pPr>
              <a:lnSpc>
                <a:spcPts val="2800"/>
              </a:lnSpc>
            </a:pPr>
            <a:r>
              <a:rPr lang="zh-CN" altLang="en-US" sz="2000" b="1">
                <a:solidFill>
                  <a:srgbClr val="002060"/>
                </a:solidFill>
                <a:latin typeface="楷体" panose="02010609060101010101" pitchFamily="49" charset="-122"/>
                <a:ea typeface="楷体" panose="02010609060101010101" pitchFamily="49" charset="-122"/>
              </a:rPr>
              <a:t>计算机学院有计算机系统、计算机软件和计算机应用三个专业的学生，三个专业分别有</a:t>
            </a:r>
            <a:r>
              <a:rPr lang="en-US" altLang="zh-CN" sz="2000" b="1">
                <a:solidFill>
                  <a:srgbClr val="002060"/>
                </a:solidFill>
                <a:latin typeface="楷体" panose="02010609060101010101" pitchFamily="49" charset="-122"/>
                <a:ea typeface="楷体" panose="02010609060101010101" pitchFamily="49" charset="-122"/>
              </a:rPr>
              <a:t>20</a:t>
            </a:r>
            <a:r>
              <a:rPr lang="zh-CN" altLang="en-US" sz="2000" b="1">
                <a:solidFill>
                  <a:srgbClr val="002060"/>
                </a:solidFill>
                <a:latin typeface="楷体" panose="02010609060101010101" pitchFamily="49" charset="-122"/>
                <a:ea typeface="楷体" panose="02010609060101010101" pitchFamily="49" charset="-122"/>
              </a:rPr>
              <a:t>、</a:t>
            </a:r>
            <a:r>
              <a:rPr lang="en-US" altLang="zh-CN" sz="2000" b="1">
                <a:solidFill>
                  <a:srgbClr val="002060"/>
                </a:solidFill>
                <a:latin typeface="楷体" panose="02010609060101010101" pitchFamily="49" charset="-122"/>
                <a:ea typeface="楷体" panose="02010609060101010101" pitchFamily="49" charset="-122"/>
              </a:rPr>
              <a:t>35</a:t>
            </a:r>
            <a:r>
              <a:rPr lang="zh-CN" altLang="en-US" sz="2000" b="1">
                <a:solidFill>
                  <a:srgbClr val="002060"/>
                </a:solidFill>
                <a:latin typeface="楷体" panose="02010609060101010101" pitchFamily="49" charset="-122"/>
                <a:ea typeface="楷体" panose="02010609060101010101" pitchFamily="49" charset="-122"/>
              </a:rPr>
              <a:t>和</a:t>
            </a:r>
            <a:r>
              <a:rPr lang="en-US" altLang="zh-CN" sz="2000" b="1">
                <a:solidFill>
                  <a:srgbClr val="002060"/>
                </a:solidFill>
                <a:latin typeface="楷体" panose="02010609060101010101" pitchFamily="49" charset="-122"/>
                <a:ea typeface="楷体" panose="02010609060101010101" pitchFamily="49" charset="-122"/>
              </a:rPr>
              <a:t>45</a:t>
            </a:r>
            <a:r>
              <a:rPr lang="zh-CN" altLang="en-US" sz="2000" b="1">
                <a:solidFill>
                  <a:srgbClr val="002060"/>
                </a:solidFill>
                <a:latin typeface="楷体" panose="02010609060101010101" pitchFamily="49" charset="-122"/>
                <a:ea typeface="楷体" panose="02010609060101010101" pitchFamily="49" charset="-122"/>
              </a:rPr>
              <a:t>位学生，每个学生都可任职学生会</a:t>
            </a:r>
          </a:p>
        </p:txBody>
      </p:sp>
      <mc:AlternateContent xmlns:mc="http://schemas.openxmlformats.org/markup-compatibility/2006" xmlns:a14="http://schemas.microsoft.com/office/drawing/2010/main">
        <mc:Choice Requires="a14">
          <p:sp>
            <p:nvSpPr>
              <p:cNvPr id="3" name="文本框 2"/>
              <p:cNvSpPr txBox="1"/>
              <p:nvPr/>
            </p:nvSpPr>
            <p:spPr>
              <a:xfrm>
                <a:off x="749939" y="2123195"/>
                <a:ext cx="7012593" cy="823302"/>
              </a:xfrm>
              <a:prstGeom prst="rect">
                <a:avLst/>
              </a:prstGeom>
              <a:solidFill>
                <a:srgbClr val="F7F2ED"/>
              </a:solidFill>
            </p:spPr>
            <p:txBody>
              <a:bodyPr wrap="square" rtlCol="0">
                <a:spAutoFit/>
              </a:bodyPr>
              <a:lstStyle/>
              <a:p>
                <a:pPr>
                  <a:spcBef>
                    <a:spcPts val="600"/>
                  </a:spcBef>
                  <a:spcAft>
                    <a:spcPts val="300"/>
                  </a:spcAft>
                </a:pPr>
                <a:r>
                  <a:rPr lang="zh-CN" altLang="en-US" sz="2000" b="1">
                    <a:solidFill>
                      <a:schemeClr val="accent6">
                        <a:lumMod val="50000"/>
                      </a:schemeClr>
                    </a:solidFill>
                  </a:rPr>
                  <a:t>现在要推选一位学生任学生会主席，有多少种推选方法？</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使用</a:t>
                </a:r>
                <a:r>
                  <a:rPr lang="zh-CN" altLang="en-US" sz="2000" b="1">
                    <a:solidFill>
                      <a:srgbClr val="C00000"/>
                    </a:solidFill>
                    <a:latin typeface="+mn-ea"/>
                  </a:rPr>
                  <a:t>加法原理</a:t>
                </a:r>
                <a:r>
                  <a:rPr lang="zh-CN" altLang="en-US" sz="2000" b="1">
                    <a:solidFill>
                      <a:schemeClr val="accent2">
                        <a:lumMod val="50000"/>
                      </a:schemeClr>
                    </a:solidFill>
                    <a:latin typeface="楷体" panose="02010609060101010101" pitchFamily="49" charset="-122"/>
                    <a:ea typeface="楷体" panose="02010609060101010101" pitchFamily="49" charset="-122"/>
                  </a:rPr>
                  <a:t>计数，共有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𝟐𝟎</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𝟑𝟓</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𝟒𝟓</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种推选方法</a:t>
                </a:r>
              </a:p>
            </p:txBody>
          </p:sp>
        </mc:Choice>
        <mc:Fallback xmlns="">
          <p:sp>
            <p:nvSpPr>
              <p:cNvPr id="3" name="文本框 2"/>
              <p:cNvSpPr txBox="1">
                <a:spLocks noRot="1" noChangeAspect="1" noMove="1" noResize="1" noEditPoints="1" noAdjustHandles="1" noChangeArrowheads="1" noChangeShapeType="1" noTextEdit="1"/>
              </p:cNvSpPr>
              <p:nvPr/>
            </p:nvSpPr>
            <p:spPr>
              <a:xfrm>
                <a:off x="749939" y="2123195"/>
                <a:ext cx="7012593" cy="823302"/>
              </a:xfrm>
              <a:prstGeom prst="rect">
                <a:avLst/>
              </a:prstGeom>
              <a:blipFill rotWithShape="1">
                <a:blip r:embed="rId2"/>
                <a:stretch>
                  <a:fillRect t="-47" r="4" b="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49939" y="3087593"/>
                <a:ext cx="8269071" cy="1246495"/>
              </a:xfrm>
              <a:prstGeom prst="rect">
                <a:avLst/>
              </a:prstGeom>
              <a:solidFill>
                <a:srgbClr val="F0E5DC">
                  <a:alpha val="50000"/>
                </a:srgbClr>
              </a:solidFill>
            </p:spPr>
            <p:txBody>
              <a:bodyPr wrap="square" rtlCol="0">
                <a:spAutoFit/>
              </a:bodyPr>
              <a:lstStyle/>
              <a:p>
                <a:pPr>
                  <a:spcBef>
                    <a:spcPts val="600"/>
                  </a:spcBef>
                  <a:spcAft>
                    <a:spcPts val="300"/>
                  </a:spcAft>
                </a:pPr>
                <a:r>
                  <a:rPr lang="zh-CN" altLang="en-US" sz="2000" b="1">
                    <a:solidFill>
                      <a:schemeClr val="accent6">
                        <a:lumMod val="50000"/>
                      </a:schemeClr>
                    </a:solidFill>
                  </a:rPr>
                  <a:t>若要推选一位学生任学生会主席，另一位任副主席，有多少种推选方法？</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将确定主席、确定副主席看做两个相继的任务，任务之间是</a:t>
                </a:r>
                <a:r>
                  <a:rPr lang="zh-CN" altLang="en-US" sz="2000" b="1">
                    <a:solidFill>
                      <a:srgbClr val="C00000"/>
                    </a:solidFill>
                    <a:latin typeface="+mn-ea"/>
                  </a:rPr>
                  <a:t>独立</a:t>
                </a:r>
                <a:r>
                  <a:rPr lang="zh-CN" altLang="en-US" sz="2000" b="1">
                    <a:solidFill>
                      <a:schemeClr val="accent2">
                        <a:lumMod val="50000"/>
                      </a:schemeClr>
                    </a:solidFill>
                    <a:latin typeface="楷体" panose="02010609060101010101" pitchFamily="49" charset="-122"/>
                    <a:ea typeface="楷体" panose="02010609060101010101" pitchFamily="49" charset="-122"/>
                  </a:rPr>
                  <a:t>的</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可</a:t>
                </a:r>
                <a:r>
                  <a:rPr lang="zh-CN" altLang="en-US" sz="2000" b="1">
                    <a:solidFill>
                      <a:srgbClr val="C00000"/>
                    </a:solidFill>
                    <a:latin typeface="+mn-ea"/>
                  </a:rPr>
                  <a:t>直接运用乘法原理</a:t>
                </a:r>
                <a:r>
                  <a:rPr lang="zh-CN" altLang="en-US" sz="2000" b="1">
                    <a:solidFill>
                      <a:schemeClr val="accent2">
                        <a:lumMod val="50000"/>
                      </a:schemeClr>
                    </a:solidFill>
                    <a:latin typeface="楷体" panose="02010609060101010101" pitchFamily="49" charset="-122"/>
                    <a:ea typeface="楷体" panose="02010609060101010101" pitchFamily="49" charset="-122"/>
                  </a:rPr>
                  <a:t>，共有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𝟏𝟎𝟎</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𝟗𝟗</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𝟗𝟗𝟎𝟎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种推选方法</a:t>
                </a:r>
              </a:p>
            </p:txBody>
          </p:sp>
        </mc:Choice>
        <mc:Fallback xmlns="">
          <p:sp>
            <p:nvSpPr>
              <p:cNvPr id="4" name="文本框 3"/>
              <p:cNvSpPr txBox="1">
                <a:spLocks noRot="1" noChangeAspect="1" noMove="1" noResize="1" noEditPoints="1" noAdjustHandles="1" noChangeArrowheads="1" noChangeShapeType="1" noTextEdit="1"/>
              </p:cNvSpPr>
              <p:nvPr/>
            </p:nvSpPr>
            <p:spPr>
              <a:xfrm>
                <a:off x="749939" y="3087593"/>
                <a:ext cx="8269071" cy="1246495"/>
              </a:xfrm>
              <a:prstGeom prst="rect">
                <a:avLst/>
              </a:prstGeom>
              <a:blipFill rotWithShape="1">
                <a:blip r:embed="rId3"/>
                <a:stretch>
                  <a:fillRect t="-18" r="1"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749939" y="4475184"/>
                <a:ext cx="8992697" cy="1669688"/>
              </a:xfrm>
              <a:prstGeom prst="rect">
                <a:avLst/>
              </a:prstGeom>
              <a:solidFill>
                <a:schemeClr val="accent2">
                  <a:lumMod val="20000"/>
                  <a:lumOff val="80000"/>
                  <a:alpha val="50000"/>
                </a:schemeClr>
              </a:solidFill>
            </p:spPr>
            <p:txBody>
              <a:bodyPr wrap="square" rtlCol="0">
                <a:spAutoFit/>
              </a:bodyPr>
              <a:lstStyle/>
              <a:p>
                <a:pPr>
                  <a:spcBef>
                    <a:spcPts val="600"/>
                  </a:spcBef>
                  <a:spcAft>
                    <a:spcPts val="300"/>
                  </a:spcAft>
                </a:pPr>
                <a:r>
                  <a:rPr lang="zh-CN" altLang="en-US" sz="2000" b="1">
                    <a:solidFill>
                      <a:schemeClr val="accent6">
                        <a:lumMod val="50000"/>
                      </a:schemeClr>
                    </a:solidFill>
                  </a:rPr>
                  <a:t>若要求任学生会主席和副主席的学生来自不同专业，则有多少种推选方法？</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将确定主席、确定副主席看做两个相继的任务，任务之间</a:t>
                </a:r>
                <a:r>
                  <a:rPr lang="zh-CN" altLang="en-US" sz="2000" b="1">
                    <a:solidFill>
                      <a:srgbClr val="C00000"/>
                    </a:solidFill>
                    <a:latin typeface="+mn-ea"/>
                  </a:rPr>
                  <a:t>不独立</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根据主席来自的专业进行</a:t>
                </a:r>
                <a:r>
                  <a:rPr lang="zh-CN" altLang="en-US" sz="2000" b="1">
                    <a:solidFill>
                      <a:srgbClr val="C00000"/>
                    </a:solidFill>
                    <a:latin typeface="+mn-ea"/>
                  </a:rPr>
                  <a:t>分类</a:t>
                </a:r>
                <a:r>
                  <a:rPr lang="zh-CN" altLang="en-US" sz="2000" b="1">
                    <a:solidFill>
                      <a:schemeClr val="accent2">
                        <a:lumMod val="50000"/>
                      </a:schemeClr>
                    </a:solidFill>
                    <a:latin typeface="楷体" panose="02010609060101010101" pitchFamily="49" charset="-122"/>
                    <a:ea typeface="楷体" panose="02010609060101010101" pitchFamily="49" charset="-122"/>
                  </a:rPr>
                  <a:t>，分类处理后，每个类别中任务之间有独立性</a:t>
                </a:r>
              </a:p>
              <a:p>
                <a:pPr marL="342900" indent="-342900">
                  <a:spcBef>
                    <a:spcPts val="600"/>
                  </a:spcBef>
                  <a:spcAft>
                    <a:spcPts val="3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共有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𝟐𝟎</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sz="20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𝟑𝟓</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𝟒𝟎</m:t>
                        </m:r>
                      </m:e>
                    </m:d>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𝟑𝟓</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sz="20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𝟐𝟎</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𝟒𝟎</m:t>
                        </m:r>
                      </m:e>
                    </m:d>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𝟒𝟎</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d>
                      <m:dPr>
                        <m:ctrlPr>
                          <a:rPr lang="en-US" altLang="zh-CN" sz="20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𝟐𝟎</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𝟒𝟎</m:t>
                        </m:r>
                      </m:e>
                    </m:d>
                  </m:oMath>
                </a14:m>
                <a:r>
                  <a:rPr lang="zh-CN" altLang="en-US" sz="2000" b="1">
                    <a:solidFill>
                      <a:schemeClr val="accent2">
                        <a:lumMod val="50000"/>
                      </a:schemeClr>
                    </a:solidFill>
                    <a:latin typeface="楷体" panose="02010609060101010101" pitchFamily="49" charset="-122"/>
                    <a:ea typeface="楷体" panose="02010609060101010101" pitchFamily="49" charset="-122"/>
                  </a:rPr>
                  <a:t>种推选方案</a:t>
                </a:r>
              </a:p>
            </p:txBody>
          </p:sp>
        </mc:Choice>
        <mc:Fallback xmlns="">
          <p:sp>
            <p:nvSpPr>
              <p:cNvPr id="6" name="文本框 5"/>
              <p:cNvSpPr txBox="1">
                <a:spLocks noRot="1" noChangeAspect="1" noMove="1" noResize="1" noEditPoints="1" noAdjustHandles="1" noChangeArrowheads="1" noChangeShapeType="1" noTextEdit="1"/>
              </p:cNvSpPr>
              <p:nvPr/>
            </p:nvSpPr>
            <p:spPr>
              <a:xfrm>
                <a:off x="749939" y="4475184"/>
                <a:ext cx="8992697" cy="1669688"/>
              </a:xfrm>
              <a:prstGeom prst="rect">
                <a:avLst/>
              </a:prstGeom>
              <a:blipFill rotWithShape="1">
                <a:blip r:embed="rId4"/>
                <a:stretch>
                  <a:fillRect t="-20" r="5" b="37"/>
                </a:stretch>
              </a:blipFill>
            </p:spPr>
            <p:txBody>
              <a:bodyPr/>
              <a:lstStyle/>
              <a:p>
                <a:r>
                  <a:rPr lang="zh-CN" altLang="en-US">
                    <a:noFill/>
                  </a:rPr>
                  <a:t> </a:t>
                </a:r>
              </a:p>
            </p:txBody>
          </p:sp>
        </mc:Fallback>
      </mc:AlternateContent>
      <p:sp>
        <p:nvSpPr>
          <p:cNvPr id="11" name="文本框 10"/>
          <p:cNvSpPr txBox="1"/>
          <p:nvPr/>
        </p:nvSpPr>
        <p:spPr>
          <a:xfrm>
            <a:off x="9144000" y="2123195"/>
            <a:ext cx="2552426" cy="2000676"/>
          </a:xfrm>
          <a:prstGeom prst="rect">
            <a:avLst/>
          </a:prstGeom>
          <a:solidFill>
            <a:schemeClr val="accent4">
              <a:lumMod val="20000"/>
              <a:lumOff val="80000"/>
            </a:schemeClr>
          </a:solidFill>
        </p:spPr>
        <p:txBody>
          <a:bodyPr wrap="square" rtlCol="0">
            <a:spAutoFit/>
          </a:bodyPr>
          <a:lstStyle/>
          <a:p>
            <a:pP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求解计数问题结果数值大又不允许使用计算器时可不写出最后结果</a:t>
            </a:r>
          </a:p>
          <a:p>
            <a:pPr marL="285750" indent="-285750">
              <a:lnSpc>
                <a:spcPts val="2400"/>
              </a:lnSpc>
              <a:spcBef>
                <a:spcPts val="600"/>
              </a:spcBef>
              <a:buFont typeface="Arial" panose="020B0604020202020204" pitchFamily="34" charset="0"/>
              <a:buChar char="•"/>
            </a:pPr>
            <a:r>
              <a:rPr lang="zh-CN" altLang="en-US" b="1">
                <a:solidFill>
                  <a:schemeClr val="accent2">
                    <a:lumMod val="50000"/>
                  </a:schemeClr>
                </a:solidFill>
              </a:rPr>
              <a:t>但必须写出计数方法和相应计数公式，不能只给出最后结果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其他计数原理</a:t>
            </a:r>
          </a:p>
        </p:txBody>
      </p:sp>
      <p:grpSp>
        <p:nvGrpSpPr>
          <p:cNvPr id="18" name="组合 17"/>
          <p:cNvGrpSpPr/>
          <p:nvPr/>
        </p:nvGrpSpPr>
        <p:grpSpPr>
          <a:xfrm>
            <a:off x="623855" y="1484097"/>
            <a:ext cx="10944291" cy="1494576"/>
            <a:chOff x="574516" y="1543490"/>
            <a:chExt cx="10944291" cy="1494576"/>
          </a:xfrm>
        </p:grpSpPr>
        <mc:AlternateContent xmlns:mc="http://schemas.openxmlformats.org/markup-compatibility/2006" xmlns:a14="http://schemas.microsoft.com/office/drawing/2010/main">
          <mc:Choice Requires="a14">
            <p:sp>
              <p:nvSpPr>
                <p:cNvPr id="2" name="文本框 1"/>
                <p:cNvSpPr txBox="1"/>
                <p:nvPr/>
              </p:nvSpPr>
              <p:spPr>
                <a:xfrm>
                  <a:off x="574516" y="1543490"/>
                  <a:ext cx="6407379" cy="1494576"/>
                </a:xfrm>
                <a:prstGeom prst="rect">
                  <a:avLst/>
                </a:prstGeom>
                <a:solidFill>
                  <a:schemeClr val="accent2">
                    <a:lumMod val="20000"/>
                    <a:lumOff val="80000"/>
                    <a:alpha val="50000"/>
                  </a:schemeClr>
                </a:solidFill>
              </p:spPr>
              <p:txBody>
                <a:bodyPr wrap="square" rtlCol="0">
                  <a:spAutoFit/>
                </a:bodyPr>
                <a:lstStyle/>
                <a:p>
                  <a:pPr algn="ctr">
                    <a:spcBef>
                      <a:spcPts val="600"/>
                    </a:spcBef>
                  </a:pPr>
                  <a:r>
                    <a:rPr lang="zh-CN" altLang="en-US" sz="2000" b="1">
                      <a:solidFill>
                        <a:srgbClr val="C00000"/>
                      </a:solidFill>
                    </a:rPr>
                    <a:t>减法原理：</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𝑼</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𝑼</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r>
                        <a:rPr lang="en-US" altLang="zh-CN" sz="2000" b="1" i="1" smtClean="0">
                          <a:solidFill>
                            <a:srgbClr val="C00000"/>
                          </a:solidFill>
                          <a:latin typeface="Cambria Math" panose="02040503050406030204" pitchFamily="18" charset="0"/>
                        </a:rPr>
                        <m:t>|</m:t>
                      </m:r>
                    </m:oMath>
                  </a14:m>
                  <a:endParaRPr lang="en-US" altLang="zh-CN" sz="2000" b="1">
                    <a:solidFill>
                      <a:srgbClr val="C00000"/>
                    </a:solidFill>
                  </a:endParaRPr>
                </a:p>
                <a:p>
                  <a:pPr>
                    <a:spcBef>
                      <a:spcPts val="600"/>
                    </a:spcBef>
                  </a:pPr>
                  <a14:m>
                    <m:oMath xmlns:m="http://schemas.openxmlformats.org/officeDocument/2006/math">
                      <m:r>
                        <a:rPr lang="en-US" altLang="zh-CN" b="1" i="1" smtClean="0">
                          <a:solidFill>
                            <a:srgbClr val="002060"/>
                          </a:solidFill>
                          <a:latin typeface="Cambria Math" panose="02040503050406030204" pitchFamily="18" charset="0"/>
                        </a:rPr>
                        <m:t>𝑼</m:t>
                      </m:r>
                    </m:oMath>
                  </a14:m>
                  <a:r>
                    <a:rPr lang="zh-CN" altLang="en-US" b="1">
                      <a:solidFill>
                        <a:srgbClr val="002060"/>
                      </a:solidFill>
                      <a:latin typeface="楷体" panose="02010609060101010101" pitchFamily="49" charset="-122"/>
                      <a:ea typeface="楷体" panose="02010609060101010101" pitchFamily="49" charset="-122"/>
                    </a:rPr>
                    <a:t>是包含</a:t>
                  </a:r>
                  <a14:m>
                    <m:oMath xmlns:m="http://schemas.openxmlformats.org/officeDocument/2006/math">
                      <m:r>
                        <a:rPr lang="en-US" altLang="zh-CN" b="1" i="1" smtClean="0">
                          <a:solidFill>
                            <a:srgbClr val="002060"/>
                          </a:solidFill>
                          <a:latin typeface="Cambria Math" panose="02040503050406030204" pitchFamily="18" charset="0"/>
                        </a:rPr>
                        <m:t>𝑺</m:t>
                      </m:r>
                    </m:oMath>
                  </a14:m>
                  <a:r>
                    <a:rPr lang="zh-CN" altLang="en-US" b="1">
                      <a:solidFill>
                        <a:srgbClr val="002060"/>
                      </a:solidFill>
                      <a:latin typeface="楷体" panose="02010609060101010101" pitchFamily="49" charset="-122"/>
                      <a:ea typeface="楷体" panose="02010609060101010101" pitchFamily="49" charset="-122"/>
                    </a:rPr>
                    <a:t>的更大集合，可看做全集，</a:t>
                  </a:r>
                  <a14:m>
                    <m:oMath xmlns:m="http://schemas.openxmlformats.org/officeDocument/2006/math">
                      <m:r>
                        <a:rPr lang="en-US" altLang="zh-CN" b="1" i="1" smtClean="0">
                          <a:solidFill>
                            <a:srgbClr val="002060"/>
                          </a:solidFill>
                          <a:latin typeface="Cambria Math" panose="02040503050406030204" pitchFamily="18" charset="0"/>
                        </a:rPr>
                        <m:t>𝑼</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𝑺</m:t>
                      </m:r>
                      <m:r>
                        <a:rPr lang="en-US" altLang="zh-CN" b="1" i="1" smtClean="0">
                          <a:solidFill>
                            <a:srgbClr val="002060"/>
                          </a:solidFill>
                          <a:latin typeface="Cambria Math" panose="02040503050406030204" pitchFamily="18" charset="0"/>
                        </a:rPr>
                        <m:t>=</m:t>
                      </m:r>
                      <m:bar>
                        <m:barPr>
                          <m:pos m:val="top"/>
                          <m:ctrlPr>
                            <a:rPr lang="en-US" altLang="zh-CN" b="1" i="1" smtClean="0">
                              <a:solidFill>
                                <a:srgbClr val="002060"/>
                              </a:solidFill>
                              <a:latin typeface="Cambria Math" panose="02040503050406030204" pitchFamily="18" charset="0"/>
                            </a:rPr>
                          </m:ctrlPr>
                        </m:barPr>
                        <m:e>
                          <m:r>
                            <a:rPr lang="en-US" altLang="zh-CN" b="1" i="1" smtClean="0">
                              <a:solidFill>
                                <a:srgbClr val="002060"/>
                              </a:solidFill>
                              <a:latin typeface="Cambria Math" panose="02040503050406030204" pitchFamily="18" charset="0"/>
                            </a:rPr>
                            <m:t>𝑺</m:t>
                          </m:r>
                        </m:e>
                      </m:bar>
                    </m:oMath>
                  </a14:m>
                  <a:endParaRPr lang="en-US" altLang="zh-CN" b="1">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rPr>
                    <a:t>减法原理是加法原理的补原理，</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𝑼</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𝑺</m:t>
                      </m:r>
                    </m:oMath>
                  </a14:m>
                  <a:r>
                    <a:rPr lang="zh-CN" altLang="en-US" b="1">
                      <a:solidFill>
                        <a:schemeClr val="accent6">
                          <a:lumMod val="50000"/>
                        </a:schemeClr>
                      </a:solidFill>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𝑺</m:t>
                      </m:r>
                    </m:oMath>
                  </a14:m>
                  <a:r>
                    <a:rPr lang="zh-CN" altLang="en-US" b="1">
                      <a:solidFill>
                        <a:schemeClr val="accent6">
                          <a:lumMod val="50000"/>
                        </a:schemeClr>
                      </a:solidFill>
                    </a:rPr>
                    <a:t>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𝑼</m:t>
                      </m:r>
                    </m:oMath>
                  </a14:m>
                  <a:r>
                    <a:rPr lang="zh-CN" altLang="en-US" b="1">
                      <a:solidFill>
                        <a:schemeClr val="accent6">
                          <a:lumMod val="50000"/>
                        </a:schemeClr>
                      </a:solidFill>
                    </a:rPr>
                    <a:t>的一个划分</a:t>
                  </a:r>
                </a:p>
                <a:p>
                  <a:pPr marL="285750" indent="-285750">
                    <a:spcBef>
                      <a:spcPts val="600"/>
                    </a:spcBef>
                    <a:buFont typeface="Arial" panose="020B0604020202020204" pitchFamily="34" charset="0"/>
                    <a:buChar char="•"/>
                  </a:pPr>
                  <a:r>
                    <a:rPr lang="zh-CN" altLang="en-US" b="1">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𝑼</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𝑼</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𝑺</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的计算比</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𝑺</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的计算更简单时适合用减法原理</a:t>
                  </a:r>
                </a:p>
              </p:txBody>
            </p:sp>
          </mc:Choice>
          <mc:Fallback xmlns="">
            <p:sp>
              <p:nvSpPr>
                <p:cNvPr id="2" name="文本框 1"/>
                <p:cNvSpPr txBox="1">
                  <a:spLocks noRot="1" noChangeAspect="1" noMove="1" noResize="1" noEditPoints="1" noAdjustHandles="1" noChangeArrowheads="1" noChangeShapeType="1" noTextEdit="1"/>
                </p:cNvSpPr>
                <p:nvPr/>
              </p:nvSpPr>
              <p:spPr>
                <a:xfrm>
                  <a:off x="574516" y="1543490"/>
                  <a:ext cx="6407379" cy="1494576"/>
                </a:xfrm>
                <a:prstGeom prst="rect">
                  <a:avLst/>
                </a:prstGeom>
                <a:blipFill rotWithShape="1">
                  <a:blip r:embed="rId2"/>
                </a:blipFill>
              </p:spPr>
              <p:txBody>
                <a:bodyPr/>
                <a:lstStyle/>
                <a:p>
                  <a:r>
                    <a:rPr lang="zh-CN" altLang="en-US">
                      <a:noFill/>
                    </a:rPr>
                    <a:t> </a:t>
                  </a:r>
                </a:p>
              </p:txBody>
            </p:sp>
          </mc:Fallback>
        </mc:AlternateContent>
        <p:sp>
          <p:nvSpPr>
            <p:cNvPr id="3" name="文本框 2"/>
            <p:cNvSpPr txBox="1"/>
            <p:nvPr/>
          </p:nvSpPr>
          <p:spPr>
            <a:xfrm>
              <a:off x="7282306" y="1862342"/>
              <a:ext cx="4236501" cy="669863"/>
            </a:xfrm>
            <a:prstGeom prst="rect">
              <a:avLst/>
            </a:prstGeom>
            <a:solidFill>
              <a:schemeClr val="accent6">
                <a:lumMod val="20000"/>
                <a:lumOff val="80000"/>
                <a:alpha val="50000"/>
              </a:schemeClr>
            </a:solidFill>
          </p:spPr>
          <p:txBody>
            <a:bodyPr wrap="square" rtlCol="0">
              <a:spAutoFit/>
            </a:bodyPr>
            <a:lstStyle/>
            <a:p>
              <a:pPr marL="285750" indent="-285750">
                <a:lnSpc>
                  <a:spcPts val="2400"/>
                </a:lnSpc>
                <a:spcBef>
                  <a:spcPts val="600"/>
                </a:spcBef>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来自相同专业主席副主席推选方法比来自不同专业的推选方法更容易计算</a:t>
              </a:r>
            </a:p>
          </p:txBody>
        </p:sp>
        <p:sp>
          <p:nvSpPr>
            <p:cNvPr id="13" name="箭头: 右 12"/>
            <p:cNvSpPr/>
            <p:nvPr/>
          </p:nvSpPr>
          <p:spPr>
            <a:xfrm>
              <a:off x="6981895" y="2213545"/>
              <a:ext cx="300412" cy="1544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624951" y="3562457"/>
            <a:ext cx="10943195" cy="830997"/>
            <a:chOff x="575613" y="3682722"/>
            <a:chExt cx="10943195" cy="830997"/>
          </a:xfrm>
        </p:grpSpPr>
        <mc:AlternateContent xmlns:mc="http://schemas.openxmlformats.org/markup-compatibility/2006" xmlns:a14="http://schemas.microsoft.com/office/drawing/2010/main">
          <mc:Choice Requires="a14">
            <p:sp>
              <p:nvSpPr>
                <p:cNvPr id="4" name="文本框 3"/>
                <p:cNvSpPr txBox="1"/>
                <p:nvPr/>
              </p:nvSpPr>
              <p:spPr>
                <a:xfrm>
                  <a:off x="575613" y="3682722"/>
                  <a:ext cx="5802164" cy="830997"/>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000" b="1" dirty="0">
                      <a:solidFill>
                        <a:srgbClr val="C00000"/>
                      </a:solidFill>
                    </a:rPr>
                    <a:t>除法原理：</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a:solidFill>
                                <a:srgbClr val="C00000"/>
                              </a:solidFill>
                              <a:latin typeface="Cambria Math" panose="02040503050406030204" pitchFamily="18" charset="0"/>
                            </a:rPr>
                            <m:t>𝑇</m:t>
                          </m:r>
                        </m:e>
                      </m:d>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𝑆</m:t>
                      </m:r>
                      <m:r>
                        <a:rPr lang="en-US" altLang="zh-CN" sz="2000" b="1">
                          <a:solidFill>
                            <a:srgbClr val="C00000"/>
                          </a:solidFill>
                          <a:latin typeface="Cambria Math" panose="02040503050406030204" pitchFamily="18" charset="0"/>
                        </a:rPr>
                        <m:t>|/</m:t>
                      </m:r>
                      <m:r>
                        <a:rPr lang="en-US" altLang="zh-CN" sz="2000" b="1">
                          <a:solidFill>
                            <a:srgbClr val="C00000"/>
                          </a:solidFill>
                          <a:latin typeface="Cambria Math" panose="02040503050406030204" pitchFamily="18" charset="0"/>
                        </a:rPr>
                        <m:t>𝑘</m:t>
                      </m:r>
                    </m:oMath>
                  </a14:m>
                  <a:endParaRPr lang="en-US" altLang="zh-CN" sz="2000" b="1" dirty="0">
                    <a:solidFill>
                      <a:srgbClr val="C00000"/>
                    </a:solidFill>
                  </a:endParaRPr>
                </a:p>
                <a:p>
                  <a:pP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有满函数</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𝑓</m:t>
                      </m:r>
                      <m:r>
                        <a:rPr lang="en-US" altLang="zh-CN" b="1">
                          <a:solidFill>
                            <a:srgbClr val="002060"/>
                          </a:solidFill>
                          <a:latin typeface="Cambria Math" panose="02040503050406030204" pitchFamily="18" charset="0"/>
                          <a:ea typeface="楷体" panose="02010609060101010101" pitchFamily="49" charset="-122"/>
                        </a:rPr>
                        <m:t>:</m:t>
                      </m:r>
                      <m:r>
                        <a:rPr lang="en-US" altLang="zh-CN" b="1">
                          <a:solidFill>
                            <a:srgbClr val="002060"/>
                          </a:solidFill>
                          <a:latin typeface="Cambria Math" panose="02040503050406030204" pitchFamily="18" charset="0"/>
                          <a:ea typeface="楷体" panose="02010609060101010101" pitchFamily="49" charset="-122"/>
                        </a:rPr>
                        <m:t>𝑆</m:t>
                      </m:r>
                      <m:r>
                        <a:rPr lang="en-US" altLang="zh-CN" b="1">
                          <a:solidFill>
                            <a:srgbClr val="002060"/>
                          </a:solidFill>
                          <a:latin typeface="Cambria Math" panose="02040503050406030204" pitchFamily="18" charset="0"/>
                          <a:ea typeface="楷体" panose="02010609060101010101" pitchFamily="49" charset="-122"/>
                        </a:rPr>
                        <m:t>→</m:t>
                      </m:r>
                      <m:r>
                        <a:rPr lang="en-US" altLang="zh-CN" b="1">
                          <a:solidFill>
                            <a:srgbClr val="002060"/>
                          </a:solidFill>
                          <a:latin typeface="Cambria Math" panose="02040503050406030204" pitchFamily="18" charset="0"/>
                          <a:ea typeface="楷体" panose="02010609060101010101" pitchFamily="49" charset="-122"/>
                        </a:rPr>
                        <m:t>𝑇</m:t>
                      </m:r>
                    </m:oMath>
                  </a14:m>
                  <a:r>
                    <a:rPr lang="zh-CN" altLang="en-US" b="1" dirty="0">
                      <a:solidFill>
                        <a:srgbClr val="002060"/>
                      </a:solidFill>
                      <a:latin typeface="楷体" panose="02010609060101010101" pitchFamily="49" charset="-122"/>
                      <a:ea typeface="楷体" panose="02010609060101010101" pitchFamily="49" charset="-122"/>
                    </a:rPr>
                    <a:t>，且</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𝑇</m:t>
                      </m:r>
                    </m:oMath>
                  </a14:m>
                  <a:r>
                    <a:rPr lang="zh-CN" altLang="en-US" b="1" dirty="0">
                      <a:solidFill>
                        <a:srgbClr val="002060"/>
                      </a:solidFill>
                      <a:latin typeface="楷体" panose="02010609060101010101" pitchFamily="49" charset="-122"/>
                      <a:ea typeface="楷体" panose="02010609060101010101" pitchFamily="49" charset="-122"/>
                    </a:rPr>
                    <a:t>的每个元素在</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𝑓</m:t>
                      </m:r>
                    </m:oMath>
                  </a14:m>
                  <a:r>
                    <a:rPr lang="zh-CN" altLang="en-US" b="1" dirty="0">
                      <a:solidFill>
                        <a:srgbClr val="002060"/>
                      </a:solidFill>
                      <a:latin typeface="楷体" panose="02010609060101010101" pitchFamily="49" charset="-122"/>
                      <a:ea typeface="楷体" panose="02010609060101010101" pitchFamily="49" charset="-122"/>
                    </a:rPr>
                    <a:t>下恰好有</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𝑘</m:t>
                      </m:r>
                    </m:oMath>
                  </a14:m>
                  <a:r>
                    <a:rPr lang="zh-CN" altLang="en-US" b="1" dirty="0">
                      <a:solidFill>
                        <a:srgbClr val="002060"/>
                      </a:solidFill>
                      <a:latin typeface="楷体" panose="02010609060101010101" pitchFamily="49" charset="-122"/>
                      <a:ea typeface="楷体" panose="02010609060101010101" pitchFamily="49" charset="-122"/>
                    </a:rPr>
                    <a:t>个原像</a:t>
                  </a:r>
                </a:p>
              </p:txBody>
            </p:sp>
          </mc:Choice>
          <mc:Fallback xmlns="">
            <p:sp>
              <p:nvSpPr>
                <p:cNvPr id="4" name="文本框 3"/>
                <p:cNvSpPr txBox="1">
                  <a:spLocks noRot="1" noChangeAspect="1" noMove="1" noResize="1" noEditPoints="1" noAdjustHandles="1" noChangeArrowheads="1" noChangeShapeType="1" noTextEdit="1"/>
                </p:cNvSpPr>
                <p:nvPr/>
              </p:nvSpPr>
              <p:spPr>
                <a:xfrm>
                  <a:off x="575613" y="3682722"/>
                  <a:ext cx="5802164" cy="830997"/>
                </a:xfrm>
                <a:prstGeom prst="rect">
                  <a:avLst/>
                </a:prstGeom>
                <a:blipFill rotWithShape="1">
                  <a:blip r:embed="rId3"/>
                </a:blipFill>
              </p:spPr>
              <p:txBody>
                <a:bodyPr/>
                <a:lstStyle/>
                <a:p>
                  <a:r>
                    <a:rPr lang="zh-CN" altLang="en-US">
                      <a:noFill/>
                    </a:rPr>
                    <a:t> </a:t>
                  </a:r>
                </a:p>
              </p:txBody>
            </p:sp>
          </mc:Fallback>
        </mc:AlternateContent>
        <p:sp>
          <p:nvSpPr>
            <p:cNvPr id="6" name="文本框 5"/>
            <p:cNvSpPr txBox="1"/>
            <p:nvPr/>
          </p:nvSpPr>
          <p:spPr>
            <a:xfrm>
              <a:off x="7282308" y="3691012"/>
              <a:ext cx="4236500" cy="800219"/>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b="1">
                  <a:solidFill>
                    <a:schemeClr val="accent2">
                      <a:lumMod val="50000"/>
                    </a:schemeClr>
                  </a:solidFill>
                </a:rPr>
                <a:t>圆排列与线排列</a:t>
              </a:r>
              <a:endParaRPr lang="en-US" altLang="zh-CN" b="1">
                <a:solidFill>
                  <a:schemeClr val="accent2">
                    <a:lumMod val="50000"/>
                  </a:schemeClr>
                </a:solidFill>
              </a:endParaRPr>
            </a:p>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四个人围着一张圆桌而坐有多少种坐法？</a:t>
              </a:r>
            </a:p>
          </p:txBody>
        </p:sp>
        <p:sp>
          <p:nvSpPr>
            <p:cNvPr id="14" name="箭头: 右 13"/>
            <p:cNvSpPr/>
            <p:nvPr/>
          </p:nvSpPr>
          <p:spPr>
            <a:xfrm>
              <a:off x="6377777" y="4037884"/>
              <a:ext cx="904530" cy="106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623855" y="4865445"/>
            <a:ext cx="10944291" cy="1054584"/>
            <a:chOff x="574516" y="4861303"/>
            <a:chExt cx="10944291" cy="1054584"/>
          </a:xfrm>
        </p:grpSpPr>
        <mc:AlternateContent xmlns:mc="http://schemas.openxmlformats.org/markup-compatibility/2006" xmlns:a14="http://schemas.microsoft.com/office/drawing/2010/main">
          <mc:Choice Requires="a14">
            <p:sp>
              <p:nvSpPr>
                <p:cNvPr id="11" name="文本框 10"/>
                <p:cNvSpPr txBox="1"/>
                <p:nvPr/>
              </p:nvSpPr>
              <p:spPr>
                <a:xfrm>
                  <a:off x="574516" y="4973097"/>
                  <a:ext cx="4453589" cy="830997"/>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一一对应原理</a:t>
                  </a:r>
                  <a:endParaRPr lang="en-US" altLang="zh-CN" sz="2000" b="1">
                    <a:solidFill>
                      <a:srgbClr val="C00000"/>
                    </a:solidFill>
                  </a:endParaRPr>
                </a:p>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若集合</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𝑺</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𝑻</m:t>
                      </m:r>
                    </m:oMath>
                  </a14:m>
                  <a:r>
                    <a:rPr lang="zh-CN" altLang="en-US" b="1">
                      <a:solidFill>
                        <a:srgbClr val="002060"/>
                      </a:solidFill>
                      <a:latin typeface="楷体" panose="02010609060101010101" pitchFamily="49" charset="-122"/>
                      <a:ea typeface="楷体" panose="02010609060101010101" pitchFamily="49" charset="-122"/>
                    </a:rPr>
                    <a:t>之间存在双函数，则</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𝑺</m:t>
                      </m:r>
                      <m:r>
                        <a:rPr lang="en-US" altLang="zh-CN" b="1" i="1" smtClean="0">
                          <a:solidFill>
                            <a:srgbClr val="002060"/>
                          </a:solidFill>
                          <a:latin typeface="Cambria Math" panose="02040503050406030204" pitchFamily="18" charset="0"/>
                          <a:ea typeface="楷体" panose="02010609060101010101" pitchFamily="49" charset="-122"/>
                        </a:rPr>
                        <m:t>| = |</m:t>
                      </m:r>
                      <m:r>
                        <a:rPr lang="en-US" altLang="zh-CN" b="1" i="1" smtClean="0">
                          <a:solidFill>
                            <a:srgbClr val="002060"/>
                          </a:solidFill>
                          <a:latin typeface="Cambria Math" panose="02040503050406030204" pitchFamily="18" charset="0"/>
                          <a:ea typeface="楷体" panose="02010609060101010101" pitchFamily="49" charset="-122"/>
                        </a:rPr>
                        <m:t>𝑻</m:t>
                      </m:r>
                      <m:r>
                        <a:rPr lang="en-US" altLang="zh-CN" b="1" i="1" smtClean="0">
                          <a:solidFill>
                            <a:srgbClr val="002060"/>
                          </a:solidFill>
                          <a:latin typeface="Cambria Math" panose="02040503050406030204" pitchFamily="18" charset="0"/>
                          <a:ea typeface="楷体" panose="02010609060101010101" pitchFamily="49" charset="-122"/>
                        </a:rPr>
                        <m:t>|</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574516" y="4973097"/>
                  <a:ext cx="4453589" cy="830997"/>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7282307" y="4861303"/>
                  <a:ext cx="4236500" cy="1054584"/>
                </a:xfrm>
                <a:prstGeom prst="rect">
                  <a:avLst/>
                </a:prstGeom>
                <a:solidFill>
                  <a:schemeClr val="accent6">
                    <a:lumMod val="20000"/>
                    <a:lumOff val="80000"/>
                    <a:alpha val="50000"/>
                  </a:schemeClr>
                </a:solidFill>
              </p:spPr>
              <p:txBody>
                <a:bodyPr wrap="square" rtlCol="0">
                  <a:spAutoFit/>
                </a:bodyPr>
                <a:lstStyle/>
                <a:p>
                  <a:pPr algn="ctr">
                    <a:lnSpc>
                      <a:spcPts val="2400"/>
                    </a:lnSpc>
                    <a:spcBef>
                      <a:spcPts val="600"/>
                    </a:spcBef>
                  </a:pPr>
                  <a:r>
                    <a:rPr lang="zh-CN" altLang="en-US" b="1">
                      <a:solidFill>
                        <a:schemeClr val="accent2">
                          <a:lumMod val="50000"/>
                        </a:schemeClr>
                      </a:solidFill>
                    </a:rPr>
                    <a:t>子集与二进制串一一对应</a:t>
                  </a:r>
                  <a:endParaRPr lang="en-US" altLang="zh-CN" b="1">
                    <a:solidFill>
                      <a:schemeClr val="accent2">
                        <a:lumMod val="50000"/>
                      </a:schemeClr>
                    </a:solidFill>
                  </a:endParaRPr>
                </a:p>
                <a:p>
                  <a:pP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元素个数为</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𝒏</m:t>
                      </m:r>
                    </m:oMath>
                  </a14:m>
                  <a:r>
                    <a:rPr lang="zh-CN" altLang="en-US" b="1">
                      <a:solidFill>
                        <a:srgbClr val="002060"/>
                      </a:solidFill>
                      <a:latin typeface="楷体" panose="02010609060101010101" pitchFamily="49" charset="-122"/>
                      <a:ea typeface="楷体" panose="02010609060101010101" pitchFamily="49" charset="-122"/>
                    </a:rPr>
                    <a:t>的集合</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𝑨</m:t>
                      </m:r>
                    </m:oMath>
                  </a14:m>
                  <a:r>
                    <a:rPr lang="zh-CN" altLang="en-US" b="1">
                      <a:solidFill>
                        <a:srgbClr val="002060"/>
                      </a:solidFill>
                      <a:latin typeface="楷体" panose="02010609060101010101" pitchFamily="49" charset="-122"/>
                      <a:ea typeface="楷体" panose="02010609060101010101" pitchFamily="49" charset="-122"/>
                    </a:rPr>
                    <a:t>的子集与长度为</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𝒏</m:t>
                      </m:r>
                    </m:oMath>
                  </a14:m>
                  <a:r>
                    <a:rPr lang="zh-CN" altLang="en-US" b="1">
                      <a:solidFill>
                        <a:srgbClr val="002060"/>
                      </a:solidFill>
                      <a:latin typeface="楷体" panose="02010609060101010101" pitchFamily="49" charset="-122"/>
                      <a:ea typeface="楷体" panose="02010609060101010101" pitchFamily="49" charset="-122"/>
                    </a:rPr>
                    <a:t>的二进制串一一对应</a:t>
                  </a:r>
                </a:p>
              </p:txBody>
            </p:sp>
          </mc:Choice>
          <mc:Fallback xmlns="">
            <p:sp>
              <p:nvSpPr>
                <p:cNvPr id="12" name="文本框 11"/>
                <p:cNvSpPr txBox="1">
                  <a:spLocks noRot="1" noChangeAspect="1" noMove="1" noResize="1" noEditPoints="1" noAdjustHandles="1" noChangeArrowheads="1" noChangeShapeType="1" noTextEdit="1"/>
                </p:cNvSpPr>
                <p:nvPr/>
              </p:nvSpPr>
              <p:spPr>
                <a:xfrm>
                  <a:off x="7282307" y="4861303"/>
                  <a:ext cx="4236500" cy="1054584"/>
                </a:xfrm>
                <a:prstGeom prst="rect">
                  <a:avLst/>
                </a:prstGeom>
                <a:blipFill rotWithShape="1">
                  <a:blip r:embed="rId5"/>
                </a:blipFill>
              </p:spPr>
              <p:txBody>
                <a:bodyPr/>
                <a:lstStyle/>
                <a:p>
                  <a:r>
                    <a:rPr lang="zh-CN" altLang="en-US">
                      <a:noFill/>
                    </a:rPr>
                    <a:t> </a:t>
                  </a:r>
                </a:p>
              </p:txBody>
            </p:sp>
          </mc:Fallback>
        </mc:AlternateContent>
        <p:sp>
          <p:nvSpPr>
            <p:cNvPr id="15" name="箭头: 右 14"/>
            <p:cNvSpPr/>
            <p:nvPr/>
          </p:nvSpPr>
          <p:spPr>
            <a:xfrm>
              <a:off x="5028105" y="5314510"/>
              <a:ext cx="2254202" cy="1067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7741735" y="961097"/>
            <a:ext cx="3416320" cy="523220"/>
          </a:xfrm>
          <a:prstGeom prst="rect">
            <a:avLst/>
          </a:prstGeom>
          <a:noFill/>
        </p:spPr>
        <p:txBody>
          <a:bodyPr wrap="none" rtlCol="0">
            <a:spAutoFit/>
          </a:bodyPr>
          <a:lstStyle/>
          <a:p>
            <a:r>
              <a:rPr lang="zh-CN" altLang="en-US" sz="2800" dirty="0">
                <a:solidFill>
                  <a:srgbClr val="FF0000"/>
                </a:solidFill>
              </a:rPr>
              <a:t>不讲，有兴趣自己看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加乘原理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程序语句执行次数的计数例子</a:t>
            </a:r>
            <a:r>
              <a:rPr lang="en-US" altLang="zh-CN"/>
              <a:t>*</a:t>
            </a:r>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1016364" y="1164380"/>
                <a:ext cx="7986198" cy="400110"/>
              </a:xfrm>
              <a:prstGeom prst="rect">
                <a:avLst/>
              </a:prstGeom>
              <a:solidFill>
                <a:srgbClr val="E5EFE5"/>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下面给出的两个程序片段执行完毕后，程序变量</a:t>
                </a:r>
                <a14:m>
                  <m:oMath xmlns:m="http://schemas.openxmlformats.org/officeDocument/2006/math">
                    <m:r>
                      <a:rPr lang="en-US" altLang="zh-CN" sz="2000" b="1" i="1" smtClean="0">
                        <a:solidFill>
                          <a:srgbClr val="002060"/>
                        </a:solidFill>
                        <a:latin typeface="Cambria Math" panose="02040503050406030204" pitchFamily="18" charset="0"/>
                      </a:rPr>
                      <m:t>𝒌</m:t>
                    </m:r>
                  </m:oMath>
                </a14:m>
                <a:r>
                  <a:rPr lang="zh-CN" altLang="en-US" sz="2000" b="1">
                    <a:solidFill>
                      <a:srgbClr val="002060"/>
                    </a:solidFill>
                    <a:latin typeface="楷体" panose="02010609060101010101" pitchFamily="49" charset="-122"/>
                    <a:ea typeface="楷体" panose="02010609060101010101" pitchFamily="49" charset="-122"/>
                  </a:rPr>
                  <a:t>的值分别是多少？</a:t>
                </a:r>
              </a:p>
            </p:txBody>
          </p:sp>
        </mc:Choice>
        <mc:Fallback xmlns="">
          <p:sp>
            <p:nvSpPr>
              <p:cNvPr id="2" name="文本框 1"/>
              <p:cNvSpPr txBox="1">
                <a:spLocks noRot="1" noChangeAspect="1" noMove="1" noResize="1" noEditPoints="1" noAdjustHandles="1" noChangeArrowheads="1" noChangeShapeType="1" noTextEdit="1"/>
              </p:cNvSpPr>
              <p:nvPr/>
            </p:nvSpPr>
            <p:spPr>
              <a:xfrm>
                <a:off x="1016364" y="1164380"/>
                <a:ext cx="7986198" cy="400110"/>
              </a:xfrm>
              <a:prstGeom prst="rect">
                <a:avLst/>
              </a:prstGeom>
              <a:blipFill rotWithShape="1">
                <a:blip r:embed="rId2"/>
                <a:stretch>
                  <a:fillRect l="-5" t="-106" r="2" b="121"/>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016364" y="1564490"/>
            <a:ext cx="10159269" cy="1784537"/>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1016364" y="3508974"/>
                <a:ext cx="10159269" cy="2677656"/>
              </a:xfrm>
              <a:prstGeom prst="rect">
                <a:avLst/>
              </a:prstGeom>
              <a:solidFill>
                <a:schemeClr val="accent5">
                  <a:lumMod val="20000"/>
                  <a:lumOff val="80000"/>
                  <a:alpha val="25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从完成任务角度看，</a:t>
                </a:r>
                <a:r>
                  <a:rPr lang="zh-CN" altLang="en-US" sz="2000" b="1">
                    <a:solidFill>
                      <a:srgbClr val="C00000"/>
                    </a:solidFill>
                    <a:latin typeface="+mn-ea"/>
                  </a:rPr>
                  <a:t>每个循环看做一个任务</a:t>
                </a:r>
                <a:r>
                  <a:rPr lang="zh-CN" altLang="en-US" sz="2000" b="1">
                    <a:solidFill>
                      <a:srgbClr val="002060"/>
                    </a:solidFill>
                    <a:latin typeface="楷体" panose="02010609060101010101" pitchFamily="49" charset="-122"/>
                    <a:ea typeface="楷体" panose="02010609060101010101" pitchFamily="49" charset="-122"/>
                  </a:rPr>
                  <a:t>，循环的执行次数看做完成任务的方法数</a:t>
                </a:r>
              </a:p>
              <a:p>
                <a:pPr marL="742950" lvl="1" indent="-285750">
                  <a:spcBef>
                    <a:spcPts val="600"/>
                  </a:spcBef>
                  <a:spcAft>
                    <a:spcPts val="600"/>
                  </a:spcAft>
                  <a:buFont typeface="Arial" panose="020B0604020202020204" pitchFamily="34" charset="0"/>
                  <a:buChar char="•"/>
                </a:pPr>
                <a:r>
                  <a:rPr lang="zh-CN" altLang="en-US" b="1">
                    <a:solidFill>
                      <a:srgbClr val="C00000"/>
                    </a:solidFill>
                  </a:rPr>
                  <a:t>嵌套循环</a:t>
                </a:r>
                <a:r>
                  <a:rPr lang="zh-CN" altLang="en-US" b="1">
                    <a:solidFill>
                      <a:schemeClr val="accent6">
                        <a:lumMod val="50000"/>
                      </a:schemeClr>
                    </a:solidFill>
                  </a:rPr>
                  <a:t>看做任务的</a:t>
                </a:r>
                <a:r>
                  <a:rPr lang="zh-CN" altLang="en-US" b="1">
                    <a:solidFill>
                      <a:srgbClr val="C00000"/>
                    </a:solidFill>
                  </a:rPr>
                  <a:t>分步完成</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程序片段</a:t>
                </a:r>
                <a:r>
                  <a:rPr lang="en-US" altLang="zh-CN" sz="2000" b="1">
                    <a:solidFill>
                      <a:srgbClr val="002060"/>
                    </a:solidFill>
                    <a:latin typeface="+mn-ea"/>
                  </a:rPr>
                  <a:t>(1)</a:t>
                </a:r>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0000FF"/>
                    </a:solidFill>
                    <a:latin typeface="楷体" panose="02010609060101010101" pitchFamily="49" charset="-122"/>
                    <a:ea typeface="楷体" panose="02010609060101010101" pitchFamily="49" charset="-122"/>
                  </a:rPr>
                  <a:t>两个循环不相关，因此独立</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显然内层循环执行次数是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𝒎</m:t>
                    </m:r>
                  </m:oMath>
                </a14:m>
                <a:endParaRPr lang="zh-CN" altLang="en-US"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程序片段</a:t>
                </a:r>
                <a:r>
                  <a:rPr lang="en-US" altLang="zh-CN" sz="2000" b="1">
                    <a:solidFill>
                      <a:srgbClr val="002060"/>
                    </a:solidFill>
                    <a:latin typeface="+mn-ea"/>
                  </a:rPr>
                  <a:t>(2)</a:t>
                </a:r>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0000FF"/>
                    </a:solidFill>
                    <a:latin typeface="楷体" panose="02010609060101010101" pitchFamily="49" charset="-122"/>
                    <a:ea typeface="楷体" panose="02010609060101010101" pitchFamily="49" charset="-122"/>
                  </a:rPr>
                  <a:t>两个循环相关且不独立</a:t>
                </a:r>
                <a:r>
                  <a:rPr lang="zh-CN" altLang="en-US" sz="2000" b="1">
                    <a:solidFill>
                      <a:srgbClr val="002060"/>
                    </a:solidFill>
                    <a:latin typeface="楷体" panose="02010609060101010101" pitchFamily="49" charset="-122"/>
                    <a:ea typeface="楷体" panose="02010609060101010101" pitchFamily="49" charset="-122"/>
                  </a:rPr>
                  <a:t>，需要分别考虑</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&gt;</m:t>
                    </m:r>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的两种情况</a:t>
                </a: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𝒎</m:t>
                    </m:r>
                  </m:oMath>
                </a14:m>
                <a:r>
                  <a:rPr lang="zh-CN" altLang="en-US" b="1">
                    <a:solidFill>
                      <a:schemeClr val="accent6">
                        <a:lumMod val="50000"/>
                      </a:schemeClr>
                    </a:solidFill>
                  </a:rPr>
                  <a:t>时，内层循环的执行次数是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oMath>
                </a14:m>
                <a:endParaRPr lang="en-US" altLang="zh-CN" b="1">
                  <a:solidFill>
                    <a:schemeClr val="accent6">
                      <a:lumMod val="50000"/>
                    </a:schemeClr>
                  </a:solidFill>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rPr>
                  <a:t>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&gt;</m:t>
                    </m:r>
                    <m:r>
                      <a:rPr lang="en-US" altLang="zh-CN" b="1" i="1" smtClean="0">
                        <a:solidFill>
                          <a:schemeClr val="accent6">
                            <a:lumMod val="50000"/>
                          </a:schemeClr>
                        </a:solidFill>
                        <a:latin typeface="Cambria Math" panose="02040503050406030204" pitchFamily="18" charset="0"/>
                      </a:rPr>
                      <m:t>𝒎</m:t>
                    </m:r>
                  </m:oMath>
                </a14:m>
                <a:r>
                  <a:rPr lang="zh-CN" altLang="en-US" b="1">
                    <a:solidFill>
                      <a:schemeClr val="accent6">
                        <a:lumMod val="50000"/>
                      </a:schemeClr>
                    </a:solidFill>
                  </a:rPr>
                  <a:t>时，内层循环的执行次数是</a:t>
                </a:r>
                <a14:m>
                  <m:oMath xmlns:m="http://schemas.openxmlformats.org/officeDocument/2006/math">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𝒎</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oMath>
                </a14:m>
                <a:endParaRPr lang="zh-CN" altLang="en-US" b="1" i="1">
                  <a:solidFill>
                    <a:schemeClr val="accent2">
                      <a:lumMod val="50000"/>
                    </a:schemeClr>
                  </a:solidFill>
                  <a:latin typeface="Cambria Math" panose="020405030504060302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016364" y="3508974"/>
                <a:ext cx="10159269" cy="2677656"/>
              </a:xfrm>
              <a:prstGeom prst="rect">
                <a:avLst/>
              </a:prstGeom>
              <a:blipFill rotWithShape="1">
                <a:blip r:embed="rId4"/>
                <a:stretch>
                  <a:fillRect l="-4" t="-22" r="3" b="17"/>
                </a:stretch>
              </a:blipFill>
            </p:spPr>
            <p:txBody>
              <a:bodyPr/>
              <a:lstStyle/>
              <a:p>
                <a:r>
                  <a:rPr lang="zh-CN" altLang="en-US">
                    <a:noFill/>
                  </a:rPr>
                  <a:t> </a:t>
                </a:r>
              </a:p>
            </p:txBody>
          </p:sp>
        </mc:Fallback>
      </mc:AlternateContent>
      <p:sp>
        <p:nvSpPr>
          <p:cNvPr id="11" name="文本框 10"/>
          <p:cNvSpPr txBox="1"/>
          <p:nvPr/>
        </p:nvSpPr>
        <p:spPr>
          <a:xfrm>
            <a:off x="8721450" y="961297"/>
            <a:ext cx="3416320" cy="523220"/>
          </a:xfrm>
          <a:prstGeom prst="rect">
            <a:avLst/>
          </a:prstGeom>
          <a:noFill/>
        </p:spPr>
        <p:txBody>
          <a:bodyPr wrap="none" rtlCol="0">
            <a:spAutoFit/>
          </a:bodyPr>
          <a:lstStyle/>
          <a:p>
            <a:r>
              <a:rPr lang="zh-CN" altLang="en-US" sz="2800" dirty="0">
                <a:solidFill>
                  <a:srgbClr val="FF0000"/>
                </a:solidFill>
              </a:rPr>
              <a:t>不讲，有兴趣自己看</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加乘原理</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容斥原理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鸽笼原理</a:t>
            </a:r>
            <a:r>
              <a:rPr lang="en-US" altLang="zh-CN" sz="3200" b="1">
                <a:solidFill>
                  <a:schemeClr val="bg2">
                    <a:lumMod val="90000"/>
                  </a:schemeClr>
                </a:solidFill>
                <a:latin typeface="仿宋" panose="02010609060101010101" pitchFamily="49" charset="-122"/>
                <a:ea typeface="仿宋" panose="02010609060101010101" pitchFamily="49" charset="-122"/>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容斥原理公式</a:t>
            </a:r>
          </a:p>
        </p:txBody>
      </p:sp>
      <mc:AlternateContent xmlns:mc="http://schemas.openxmlformats.org/markup-compatibility/2006" xmlns:a14="http://schemas.microsoft.com/office/drawing/2010/main">
        <mc:Choice Requires="a14">
          <p:sp>
            <p:nvSpPr>
              <p:cNvPr id="2" name="文本框 1"/>
              <p:cNvSpPr txBox="1"/>
              <p:nvPr/>
            </p:nvSpPr>
            <p:spPr>
              <a:xfrm>
                <a:off x="940714" y="1368048"/>
                <a:ext cx="4613931" cy="165429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集合差计数公式</a:t>
                </a:r>
                <a:endParaRPr lang="en-US" altLang="zh-CN" sz="2400" b="1">
                  <a:solidFill>
                    <a:srgbClr val="C00000"/>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是有穷集合，则：</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oMath>
                  </m:oMathPara>
                </a14:m>
                <a:endParaRPr lang="en-US" altLang="zh-CN" sz="2000" b="1">
                  <a:solidFill>
                    <a:schemeClr val="accent2">
                      <a:lumMod val="50000"/>
                    </a:schemeClr>
                  </a:solidFill>
                </a:endParaRP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集合族</a:t>
                </a:r>
                <a14:m>
                  <m:oMath xmlns:m="http://schemas.openxmlformats.org/officeDocument/2006/math">
                    <m:r>
                      <m:rPr>
                        <m:lit/>
                      </m:rPr>
                      <a:rPr lang="en-US" altLang="zh-CN" sz="2000" b="1" i="1" smtClean="0">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𝑨</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𝑩</m:t>
                    </m:r>
                    <m:r>
                      <m:rPr>
                        <m:lit/>
                      </m:rPr>
                      <a:rPr lang="en-US" altLang="zh-CN" sz="2000" b="1" i="1">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是集合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的划分</a:t>
                </a:r>
              </a:p>
            </p:txBody>
          </p:sp>
        </mc:Choice>
        <mc:Fallback xmlns="">
          <p:sp>
            <p:nvSpPr>
              <p:cNvPr id="2" name="文本框 1"/>
              <p:cNvSpPr txBox="1">
                <a:spLocks noRot="1" noChangeAspect="1" noMove="1" noResize="1" noEditPoints="1" noAdjustHandles="1" noChangeArrowheads="1" noChangeShapeType="1" noTextEdit="1"/>
              </p:cNvSpPr>
              <p:nvPr/>
            </p:nvSpPr>
            <p:spPr>
              <a:xfrm>
                <a:off x="940714" y="1368048"/>
                <a:ext cx="4613931" cy="1654299"/>
              </a:xfrm>
              <a:prstGeom prst="rect">
                <a:avLst/>
              </a:prstGeom>
              <a:blipFill rotWithShape="1">
                <a:blip r:embed="rId2"/>
                <a:stretch>
                  <a:fillRect l="-6" t="-16" r="7" b="-146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5929346" y="1368048"/>
                <a:ext cx="5321940" cy="165429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两集合容斥原理</a:t>
                </a:r>
                <a:endParaRPr lang="en-US" altLang="zh-CN" sz="2400" b="1">
                  <a:solidFill>
                    <a:srgbClr val="C00000"/>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是有穷集合，则：</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oMath>
                  </m:oMathPara>
                </a14:m>
                <a:endParaRPr lang="en-US" altLang="zh-CN" sz="2000" b="1" i="1">
                  <a:solidFill>
                    <a:schemeClr val="accent2">
                      <a:lumMod val="50000"/>
                    </a:schemeClr>
                  </a:solidFill>
                  <a:latin typeface="Cambria Math" panose="02040503050406030204" pitchFamily="18" charset="0"/>
                </a:endParaRP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集合族</a:t>
                </a:r>
                <a14:m>
                  <m:oMath xmlns:m="http://schemas.openxmlformats.org/officeDocument/2006/math">
                    <m:r>
                      <m:rPr>
                        <m:lit/>
                      </m:rP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𝑩</m:t>
                    </m:r>
                    <m:r>
                      <a:rPr lang="en-US" altLang="zh-CN" sz="2000" b="1">
                        <a:solidFill>
                          <a:schemeClr val="accent6">
                            <a:lumMod val="50000"/>
                          </a:schemeClr>
                        </a:solidFill>
                        <a:latin typeface="Cambria Math" panose="02040503050406030204" pitchFamily="18" charset="0"/>
                      </a:rPr>
                      <m:t>, </m:t>
                    </m:r>
                    <m:r>
                      <a:rPr lang="en-US" altLang="zh-CN" sz="2000" b="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𝑩</m:t>
                    </m:r>
                    <m:r>
                      <a:rPr lang="en-US" altLang="zh-CN" sz="2000" b="1">
                        <a:solidFill>
                          <a:schemeClr val="accent6">
                            <a:lumMod val="50000"/>
                          </a:schemeClr>
                        </a:solidFill>
                        <a:latin typeface="Cambria Math" panose="02040503050406030204" pitchFamily="18" charset="0"/>
                      </a:rPr>
                      <m:t>, </m:t>
                    </m:r>
                    <m:r>
                      <a:rPr lang="en-US" altLang="zh-CN" sz="2000" b="1">
                        <a:solidFill>
                          <a:schemeClr val="accent6">
                            <a:lumMod val="50000"/>
                          </a:schemeClr>
                        </a:solidFill>
                        <a:latin typeface="Cambria Math" panose="02040503050406030204" pitchFamily="18" charset="0"/>
                      </a:rPr>
                      <m:t>𝑩</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𝑨</m:t>
                    </m:r>
                    <m:r>
                      <m:rPr>
                        <m:lit/>
                      </m:rPr>
                      <a:rPr lang="en-US" altLang="zh-CN" sz="2000" b="1">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是</a:t>
                </a:r>
                <a14:m>
                  <m:oMath xmlns:m="http://schemas.openxmlformats.org/officeDocument/2006/math">
                    <m:r>
                      <a:rPr lang="en-US" altLang="zh-CN" sz="2000" b="1">
                        <a:solidFill>
                          <a:schemeClr val="accent6">
                            <a:lumMod val="50000"/>
                          </a:schemeClr>
                        </a:solidFill>
                        <a:latin typeface="Cambria Math" panose="02040503050406030204" pitchFamily="18" charset="0"/>
                      </a:rPr>
                      <m:t>𝑨</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的划分</a:t>
                </a:r>
              </a:p>
            </p:txBody>
          </p:sp>
        </mc:Choice>
        <mc:Fallback xmlns="">
          <p:sp>
            <p:nvSpPr>
              <p:cNvPr id="3" name="文本框 2"/>
              <p:cNvSpPr txBox="1">
                <a:spLocks noRot="1" noChangeAspect="1" noMove="1" noResize="1" noEditPoints="1" noAdjustHandles="1" noChangeArrowheads="1" noChangeShapeType="1" noTextEdit="1"/>
              </p:cNvSpPr>
              <p:nvPr/>
            </p:nvSpPr>
            <p:spPr>
              <a:xfrm>
                <a:off x="5929346" y="1368048"/>
                <a:ext cx="5321940" cy="1654299"/>
              </a:xfrm>
              <a:prstGeom prst="rect">
                <a:avLst/>
              </a:prstGeom>
              <a:blipFill rotWithShape="1">
                <a:blip r:embed="rId3"/>
                <a:stretch>
                  <a:fillRect l="-7" t="-16" r="7" b="-146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789327" y="3291738"/>
                <a:ext cx="8613342" cy="165429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三集合容斥原理</a:t>
                </a:r>
                <a:endParaRPr lang="en-US" altLang="zh-CN" sz="2400" b="1">
                  <a:solidFill>
                    <a:srgbClr val="C00000"/>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𝑩</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a:solidFill>
                          <a:srgbClr val="002060"/>
                        </a:solidFill>
                        <a:latin typeface="Cambria Math" panose="02040503050406030204" pitchFamily="18" charset="0"/>
                        <a:ea typeface="楷体" panose="02010609060101010101" pitchFamily="49" charset="-122"/>
                      </a:rPr>
                      <m:t>𝑪</m:t>
                    </m:r>
                  </m:oMath>
                </a14:m>
                <a:r>
                  <a:rPr lang="zh-CN" altLang="en-US" sz="2000" b="1">
                    <a:solidFill>
                      <a:srgbClr val="002060"/>
                    </a:solidFill>
                    <a:latin typeface="楷体" panose="02010609060101010101" pitchFamily="49" charset="-122"/>
                    <a:ea typeface="楷体" panose="02010609060101010101" pitchFamily="49" charset="-122"/>
                  </a:rPr>
                  <a:t>都是有穷集，则：</a:t>
                </a:r>
              </a:p>
              <a:p>
                <a:pPr>
                  <a:spcBef>
                    <a:spcPts val="6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oMath>
                  </m:oMathPara>
                </a14:m>
                <a:endParaRPr lang="en-US" altLang="zh-CN" sz="2000" b="1"/>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通过两容斥原理，以及集合恒等式可证明三集合容斥原理</a:t>
                </a:r>
              </a:p>
            </p:txBody>
          </p:sp>
        </mc:Choice>
        <mc:Fallback xmlns="">
          <p:sp>
            <p:nvSpPr>
              <p:cNvPr id="4" name="文本框 3"/>
              <p:cNvSpPr txBox="1">
                <a:spLocks noRot="1" noChangeAspect="1" noMove="1" noResize="1" noEditPoints="1" noAdjustHandles="1" noChangeArrowheads="1" noChangeShapeType="1" noTextEdit="1"/>
              </p:cNvSpPr>
              <p:nvPr/>
            </p:nvSpPr>
            <p:spPr>
              <a:xfrm>
                <a:off x="1789327" y="3291738"/>
                <a:ext cx="8613342" cy="1654299"/>
              </a:xfrm>
              <a:prstGeom prst="rect">
                <a:avLst/>
              </a:prstGeom>
              <a:blipFill rotWithShape="1">
                <a:blip r:embed="rId4"/>
                <a:stretch>
                  <a:fillRect l="-6" t="-32" r="1" b="1"/>
                </a:stretch>
              </a:blipFill>
            </p:spPr>
            <p:txBody>
              <a:bodyPr/>
              <a:lstStyle/>
              <a:p>
                <a:r>
                  <a:rPr lang="zh-CN" altLang="en-US">
                    <a:noFill/>
                  </a:rPr>
                  <a:t> </a:t>
                </a:r>
              </a:p>
            </p:txBody>
          </p:sp>
        </mc:Fallback>
      </mc:AlternateContent>
      <p:sp>
        <p:nvSpPr>
          <p:cNvPr id="6" name="文本框 5"/>
          <p:cNvSpPr txBox="1"/>
          <p:nvPr/>
        </p:nvSpPr>
        <p:spPr>
          <a:xfrm>
            <a:off x="1027062" y="5263073"/>
            <a:ext cx="10137873" cy="792525"/>
          </a:xfrm>
          <a:prstGeom prst="rect">
            <a:avLst/>
          </a:prstGeom>
          <a:solidFill>
            <a:schemeClr val="accent4">
              <a:lumMod val="20000"/>
              <a:lumOff val="80000"/>
              <a:alpha val="50000"/>
            </a:schemeClr>
          </a:solidFill>
        </p:spPr>
        <p:txBody>
          <a:bodyPr wrap="square" rtlCol="0">
            <a:spAutoFit/>
          </a:bodyPr>
          <a:lstStyle/>
          <a:p>
            <a:pPr>
              <a:spcBef>
                <a:spcPts val="6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容斥原理用于当集合交的元素个数比集合并的元素更容易计算的情况</a:t>
            </a:r>
          </a:p>
          <a:p>
            <a:pPr marL="285750" indent="-285750">
              <a:spcBef>
                <a:spcPts val="600"/>
              </a:spcBef>
              <a:spcAft>
                <a:spcPts val="300"/>
              </a:spcAft>
              <a:buFont typeface="Arial" panose="020B0604020202020204" pitchFamily="34" charset="0"/>
              <a:buChar char="•"/>
            </a:pPr>
            <a:r>
              <a:rPr lang="zh-CN" altLang="en-US" b="1" dirty="0">
                <a:solidFill>
                  <a:schemeClr val="accent2">
                    <a:lumMod val="50000"/>
                  </a:schemeClr>
                </a:solidFill>
              </a:rPr>
              <a:t>当计算同时满足某些性质的元素个数比计算满足某些性质之一的元素个数更容易时使用容斥原理</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999920" y="1841957"/>
            <a:ext cx="10192162" cy="3463483"/>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容斥原理运用举例</a:t>
            </a:r>
          </a:p>
        </p:txBody>
      </p:sp>
      <p:sp>
        <p:nvSpPr>
          <p:cNvPr id="2" name="文本框 1"/>
          <p:cNvSpPr txBox="1"/>
          <p:nvPr/>
        </p:nvSpPr>
        <p:spPr>
          <a:xfrm>
            <a:off x="1065704" y="1197142"/>
            <a:ext cx="7073280"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在小于等于</a:t>
            </a:r>
            <a:r>
              <a:rPr lang="en-US" altLang="zh-CN" sz="2400" b="1">
                <a:solidFill>
                  <a:srgbClr val="002060"/>
                </a:solidFill>
                <a:latin typeface="楷体" panose="02010609060101010101" pitchFamily="49" charset="-122"/>
                <a:ea typeface="楷体" panose="02010609060101010101" pitchFamily="49" charset="-122"/>
              </a:rPr>
              <a:t>1000</a:t>
            </a:r>
            <a:r>
              <a:rPr lang="zh-CN" altLang="en-US" sz="2400" b="1">
                <a:solidFill>
                  <a:srgbClr val="002060"/>
                </a:solidFill>
                <a:latin typeface="楷体" panose="02010609060101010101" pitchFamily="49" charset="-122"/>
                <a:ea typeface="楷体" panose="02010609060101010101" pitchFamily="49" charset="-122"/>
              </a:rPr>
              <a:t>的正整数中有多少能被</a:t>
            </a:r>
            <a:r>
              <a:rPr lang="en-US" altLang="zh-CN" sz="2400" b="1">
                <a:solidFill>
                  <a:srgbClr val="002060"/>
                </a:solidFill>
                <a:latin typeface="楷体" panose="02010609060101010101" pitchFamily="49" charset="-122"/>
                <a:ea typeface="楷体" panose="02010609060101010101" pitchFamily="49" charset="-122"/>
              </a:rPr>
              <a:t>3</a:t>
            </a:r>
            <a:r>
              <a:rPr lang="zh-CN" altLang="en-US" sz="2400" b="1">
                <a:solidFill>
                  <a:srgbClr val="002060"/>
                </a:solidFill>
                <a:latin typeface="楷体" panose="02010609060101010101" pitchFamily="49" charset="-122"/>
                <a:ea typeface="楷体" panose="02010609060101010101" pitchFamily="49" charset="-122"/>
              </a:rPr>
              <a:t>或</a:t>
            </a:r>
            <a:r>
              <a:rPr lang="en-US" altLang="zh-CN" sz="2400" b="1">
                <a:solidFill>
                  <a:srgbClr val="002060"/>
                </a:solidFill>
                <a:latin typeface="楷体" panose="02010609060101010101" pitchFamily="49" charset="-122"/>
                <a:ea typeface="楷体" panose="02010609060101010101" pitchFamily="49" charset="-122"/>
              </a:rPr>
              <a:t>5</a:t>
            </a:r>
            <a:r>
              <a:rPr lang="zh-CN" altLang="en-US" sz="2400" b="1">
                <a:solidFill>
                  <a:srgbClr val="002060"/>
                </a:solidFill>
                <a:latin typeface="楷体" panose="02010609060101010101" pitchFamily="49" charset="-122"/>
                <a:ea typeface="楷体" panose="02010609060101010101" pitchFamily="49" charset="-122"/>
              </a:rPr>
              <a:t>整除？</a:t>
            </a:r>
          </a:p>
        </p:txBody>
      </p:sp>
      <mc:AlternateContent xmlns:mc="http://schemas.openxmlformats.org/markup-compatibility/2006" xmlns:a14="http://schemas.microsoft.com/office/drawing/2010/main">
        <mc:Choice Requires="a14">
          <p:sp>
            <p:nvSpPr>
              <p:cNvPr id="18" name="文本框 17"/>
              <p:cNvSpPr txBox="1"/>
              <p:nvPr/>
            </p:nvSpPr>
            <p:spPr>
              <a:xfrm>
                <a:off x="999920" y="5377112"/>
                <a:ext cx="8262494" cy="861774"/>
              </a:xfrm>
              <a:prstGeom prst="rect">
                <a:avLst/>
              </a:prstGeom>
              <a:solidFill>
                <a:schemeClr val="accent6">
                  <a:lumMod val="20000"/>
                  <a:lumOff val="80000"/>
                  <a:alpha val="50000"/>
                </a:schemeClr>
              </a:solidFill>
            </p:spPr>
            <p:txBody>
              <a:bodyPr wrap="square" rtlCol="0">
                <a:spAutoFit/>
              </a:bodyPr>
              <a:lstStyle/>
              <a:p>
                <a:pPr>
                  <a:lnSpc>
                    <a:spcPts val="30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 = |</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 = ⌊</m:t>
                      </m:r>
                      <m:r>
                        <a:rPr lang="en-US" altLang="zh-CN" sz="2000" b="1" i="1">
                          <a:solidFill>
                            <a:srgbClr val="C00000"/>
                          </a:solidFill>
                          <a:latin typeface="Cambria Math" panose="02040503050406030204" pitchFamily="18" charset="0"/>
                        </a:rPr>
                        <m:t>𝟏𝟎𝟎𝟎</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𝟑</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𝟏𝟎𝟎𝟎</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𝟏𝟎𝟎𝟎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𝟏𝟓</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𝟑𝟑𝟑</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𝟐𝟎𝟎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𝟔𝟔</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𝟒𝟔𝟕</m:t>
                      </m:r>
                    </m:oMath>
                  </m:oMathPara>
                </a14:m>
                <a:endParaRPr lang="zh-CN" altLang="en-US" sz="2000" b="1">
                  <a:solidFill>
                    <a:schemeClr val="accent2">
                      <a:lumMod val="50000"/>
                    </a:schemeClr>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999920" y="5377112"/>
                <a:ext cx="8262494" cy="861774"/>
              </a:xfrm>
              <a:prstGeom prst="rect">
                <a:avLst/>
              </a:prstGeom>
              <a:blipFill rotWithShape="1">
                <a:blip r:embed="rId2"/>
                <a:stretch>
                  <a:fillRect l="-5" t="-66" r="4" b="1"/>
                </a:stretch>
              </a:blipFill>
            </p:spPr>
            <p:txBody>
              <a:bodyPr/>
              <a:lstStyle/>
              <a:p>
                <a:r>
                  <a:rPr lang="zh-CN" altLang="en-US">
                    <a:noFill/>
                  </a:rPr>
                  <a:t> </a:t>
                </a:r>
              </a:p>
            </p:txBody>
          </p:sp>
        </mc:Fallback>
      </mc:AlternateContent>
      <p:grpSp>
        <p:nvGrpSpPr>
          <p:cNvPr id="24" name="组合 23"/>
          <p:cNvGrpSpPr/>
          <p:nvPr/>
        </p:nvGrpSpPr>
        <p:grpSpPr>
          <a:xfrm>
            <a:off x="1065701" y="1896255"/>
            <a:ext cx="10060595" cy="3232246"/>
            <a:chOff x="1065703" y="1791678"/>
            <a:chExt cx="10060595" cy="3232246"/>
          </a:xfrm>
        </p:grpSpPr>
        <mc:AlternateContent xmlns:mc="http://schemas.openxmlformats.org/markup-compatibility/2006" xmlns:a14="http://schemas.microsoft.com/office/drawing/2010/main">
          <mc:Choice Requires="a14">
            <p:sp>
              <p:nvSpPr>
                <p:cNvPr id="3" name="文本框 2"/>
                <p:cNvSpPr txBox="1"/>
                <p:nvPr/>
              </p:nvSpPr>
              <p:spPr>
                <a:xfrm>
                  <a:off x="1065705" y="1791678"/>
                  <a:ext cx="4644362" cy="400110"/>
                </a:xfrm>
                <a:prstGeom prst="rect">
                  <a:avLst/>
                </a:prstGeom>
                <a:solidFill>
                  <a:schemeClr val="accent2">
                    <a:lumMod val="20000"/>
                    <a:lumOff val="80000"/>
                    <a:alpha val="50000"/>
                  </a:schemeClr>
                </a:solidFill>
              </p:spPr>
              <p:txBody>
                <a:bodyPr wrap="square" rtlCol="0">
                  <a:spAutoFit/>
                </a:bodyPr>
                <a:lstStyle/>
                <a:p>
                  <a:r>
                    <a:rPr lang="zh-CN" altLang="en-US" sz="2000" b="1">
                      <a:solidFill>
                        <a:schemeClr val="accent2">
                          <a:lumMod val="50000"/>
                        </a:schemeClr>
                      </a:solidFill>
                    </a:rPr>
                    <a:t>全集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𝑼</m:t>
                      </m:r>
                    </m:oMath>
                  </a14:m>
                  <a:r>
                    <a:rPr lang="zh-CN" altLang="en-US" sz="2000" b="1">
                      <a:solidFill>
                        <a:schemeClr val="accent2">
                          <a:lumMod val="50000"/>
                        </a:schemeClr>
                      </a:solidFill>
                    </a:rPr>
                    <a:t>表示小于等于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𝟏𝟎𝟎𝟎</m:t>
                      </m:r>
                    </m:oMath>
                  </a14:m>
                  <a:r>
                    <a:rPr lang="zh-CN" altLang="en-US" sz="2000" b="1">
                      <a:solidFill>
                        <a:schemeClr val="accent2">
                          <a:lumMod val="50000"/>
                        </a:schemeClr>
                      </a:solidFill>
                    </a:rPr>
                    <a:t>的正整数集合</a:t>
                  </a:r>
                </a:p>
              </p:txBody>
            </p:sp>
          </mc:Choice>
          <mc:Fallback xmlns="">
            <p:sp>
              <p:nvSpPr>
                <p:cNvPr id="3" name="文本框 2"/>
                <p:cNvSpPr txBox="1">
                  <a:spLocks noRot="1" noChangeAspect="1" noMove="1" noResize="1" noEditPoints="1" noAdjustHandles="1" noChangeArrowheads="1" noChangeShapeType="1" noTextEdit="1"/>
                </p:cNvSpPr>
                <p:nvPr/>
              </p:nvSpPr>
              <p:spPr>
                <a:xfrm>
                  <a:off x="1065705" y="1791678"/>
                  <a:ext cx="4644362" cy="40011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065703" y="2371980"/>
                  <a:ext cx="5328518" cy="400110"/>
                </a:xfrm>
                <a:prstGeom prst="rect">
                  <a:avLst/>
                </a:prstGeom>
                <a:solidFill>
                  <a:schemeClr val="accent2">
                    <a:lumMod val="20000"/>
                    <a:lumOff val="80000"/>
                    <a:alpha val="25000"/>
                  </a:schemeClr>
                </a:solidFill>
              </p:spPr>
              <p:txBody>
                <a:bodyPr wrap="square" rtlCol="0">
                  <a:spAutoFit/>
                </a:bodyPr>
                <a:lstStyle/>
                <a:p>
                  <a:r>
                    <a:rPr lang="zh-CN" altLang="en-US" sz="2000" b="1">
                      <a:solidFill>
                        <a:srgbClr val="002060"/>
                      </a:solidFill>
                    </a:rPr>
                    <a:t>集合</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rPr>
                    <a:t>表示</a:t>
                  </a:r>
                  <a14:m>
                    <m:oMath xmlns:m="http://schemas.openxmlformats.org/officeDocument/2006/math">
                      <m:r>
                        <a:rPr lang="en-US" altLang="zh-CN" sz="2000" b="1" i="1" smtClean="0">
                          <a:solidFill>
                            <a:srgbClr val="002060"/>
                          </a:solidFill>
                          <a:latin typeface="Cambria Math" panose="02040503050406030204" pitchFamily="18" charset="0"/>
                        </a:rPr>
                        <m:t>𝑼</m:t>
                      </m:r>
                    </m:oMath>
                  </a14:m>
                  <a:r>
                    <a:rPr lang="zh-CN" altLang="en-US" sz="2000" b="1">
                      <a:solidFill>
                        <a:srgbClr val="002060"/>
                      </a:solidFill>
                    </a:rPr>
                    <a:t>中能被</a:t>
                  </a:r>
                  <a14:m>
                    <m:oMath xmlns:m="http://schemas.openxmlformats.org/officeDocument/2006/math">
                      <m:r>
                        <a:rPr lang="en-US" altLang="zh-CN" sz="2000" b="1" i="1" smtClean="0">
                          <a:solidFill>
                            <a:srgbClr val="002060"/>
                          </a:solidFill>
                          <a:latin typeface="Cambria Math" panose="02040503050406030204" pitchFamily="18" charset="0"/>
                        </a:rPr>
                        <m:t>𝟑</m:t>
                      </m:r>
                    </m:oMath>
                  </a14:m>
                  <a:r>
                    <a:rPr lang="zh-CN" altLang="en-US" sz="2000" b="1">
                      <a:solidFill>
                        <a:srgbClr val="002060"/>
                      </a:solidFill>
                    </a:rPr>
                    <a:t>整除的正整数构成的集合</a:t>
                  </a:r>
                </a:p>
              </p:txBody>
            </p:sp>
          </mc:Choice>
          <mc:Fallback xmlns="">
            <p:sp>
              <p:nvSpPr>
                <p:cNvPr id="4" name="文本框 3"/>
                <p:cNvSpPr txBox="1">
                  <a:spLocks noRot="1" noChangeAspect="1" noMove="1" noResize="1" noEditPoints="1" noAdjustHandles="1" noChangeArrowheads="1" noChangeShapeType="1" noTextEdit="1"/>
                </p:cNvSpPr>
                <p:nvPr/>
              </p:nvSpPr>
              <p:spPr>
                <a:xfrm>
                  <a:off x="1065703" y="2371980"/>
                  <a:ext cx="5328518"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065703" y="3115062"/>
                  <a:ext cx="5328518" cy="400110"/>
                </a:xfrm>
                <a:prstGeom prst="rect">
                  <a:avLst/>
                </a:prstGeom>
                <a:solidFill>
                  <a:schemeClr val="accent2">
                    <a:lumMod val="20000"/>
                    <a:lumOff val="80000"/>
                    <a:alpha val="25000"/>
                  </a:schemeClr>
                </a:solidFill>
              </p:spPr>
              <p:txBody>
                <a:bodyPr wrap="square" rtlCol="0">
                  <a:spAutoFit/>
                </a:bodyPr>
                <a:lstStyle/>
                <a:p>
                  <a:r>
                    <a:rPr lang="zh-CN" altLang="en-US" sz="2000" b="1">
                      <a:solidFill>
                        <a:srgbClr val="002060"/>
                      </a:solidFill>
                    </a:rPr>
                    <a:t>集合</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rPr>
                    <a:t>表示</a:t>
                  </a:r>
                  <a14:m>
                    <m:oMath xmlns:m="http://schemas.openxmlformats.org/officeDocument/2006/math">
                      <m:r>
                        <a:rPr lang="en-US" altLang="zh-CN" sz="2000" b="1" i="1" smtClean="0">
                          <a:solidFill>
                            <a:srgbClr val="002060"/>
                          </a:solidFill>
                          <a:latin typeface="Cambria Math" panose="02040503050406030204" pitchFamily="18" charset="0"/>
                        </a:rPr>
                        <m:t>𝑼</m:t>
                      </m:r>
                    </m:oMath>
                  </a14:m>
                  <a:r>
                    <a:rPr lang="zh-CN" altLang="en-US" sz="2000" b="1">
                      <a:solidFill>
                        <a:srgbClr val="002060"/>
                      </a:solidFill>
                    </a:rPr>
                    <a:t>中能被</a:t>
                  </a:r>
                  <a14:m>
                    <m:oMath xmlns:m="http://schemas.openxmlformats.org/officeDocument/2006/math">
                      <m:r>
                        <a:rPr lang="en-US" altLang="zh-CN" sz="2000" b="1" i="1" smtClean="0">
                          <a:solidFill>
                            <a:srgbClr val="002060"/>
                          </a:solidFill>
                          <a:latin typeface="Cambria Math" panose="02040503050406030204" pitchFamily="18" charset="0"/>
                        </a:rPr>
                        <m:t>𝟓</m:t>
                      </m:r>
                    </m:oMath>
                  </a14:m>
                  <a:r>
                    <a:rPr lang="zh-CN" altLang="en-US" sz="2000" b="1">
                      <a:solidFill>
                        <a:srgbClr val="002060"/>
                      </a:solidFill>
                    </a:rPr>
                    <a:t>整除的正整数构成的集合</a:t>
                  </a:r>
                </a:p>
              </p:txBody>
            </p:sp>
          </mc:Choice>
          <mc:Fallback xmlns="">
            <p:sp>
              <p:nvSpPr>
                <p:cNvPr id="6" name="文本框 5"/>
                <p:cNvSpPr txBox="1">
                  <a:spLocks noRot="1" noChangeAspect="1" noMove="1" noResize="1" noEditPoints="1" noAdjustHandles="1" noChangeArrowheads="1" noChangeShapeType="1" noTextEdit="1"/>
                </p:cNvSpPr>
                <p:nvPr/>
              </p:nvSpPr>
              <p:spPr>
                <a:xfrm>
                  <a:off x="1065703" y="3115062"/>
                  <a:ext cx="5328518"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592976" y="2228943"/>
                  <a:ext cx="2526112" cy="678776"/>
                </a:xfrm>
                <a:prstGeom prst="rect">
                  <a:avLst/>
                </a:prstGeom>
                <a:solidFill>
                  <a:schemeClr val="accent4">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f>
                              <m:fPr>
                                <m:ctrlPr>
                                  <a:rPr lang="en-US" altLang="zh-CN" sz="2000" b="1" i="1">
                                    <a:solidFill>
                                      <a:schemeClr val="accent2">
                                        <a:lumMod val="50000"/>
                                      </a:schemeClr>
                                    </a:solidFill>
                                    <a:latin typeface="Cambria Math" panose="02040503050406030204" pitchFamily="18" charset="0"/>
                                  </a:rPr>
                                </m:ctrlPr>
                              </m:fPr>
                              <m:num>
                                <m:r>
                                  <a:rPr lang="en-US" altLang="zh-CN" sz="2000" b="1" i="1">
                                    <a:solidFill>
                                      <a:schemeClr val="accent2">
                                        <a:lumMod val="50000"/>
                                      </a:schemeClr>
                                    </a:solidFill>
                                    <a:latin typeface="Cambria Math" panose="02040503050406030204" pitchFamily="18" charset="0"/>
                                  </a:rPr>
                                  <m:t>𝟏𝟎𝟎𝟎</m:t>
                                </m:r>
                              </m:num>
                              <m:den>
                                <m:r>
                                  <a:rPr lang="en-US" altLang="zh-CN" sz="2000" b="1" i="1">
                                    <a:solidFill>
                                      <a:schemeClr val="accent2">
                                        <a:lumMod val="50000"/>
                                      </a:schemeClr>
                                    </a:solidFill>
                                    <a:latin typeface="Cambria Math" panose="02040503050406030204" pitchFamily="18" charset="0"/>
                                  </a:rPr>
                                  <m:t>𝟑</m:t>
                                </m:r>
                              </m:den>
                            </m:f>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𝟑𝟑𝟑</m:t>
                        </m:r>
                      </m:oMath>
                    </m:oMathPara>
                  </a14:m>
                  <a:endParaRPr lang="zh-CN" altLang="en-US" sz="2000" b="1">
                    <a:solidFill>
                      <a:schemeClr val="accent2">
                        <a:lumMod val="50000"/>
                      </a:schemeClr>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592976" y="2228943"/>
                  <a:ext cx="2526112" cy="678776"/>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7592975" y="2971871"/>
                  <a:ext cx="2526113" cy="678776"/>
                </a:xfrm>
                <a:prstGeom prst="rect">
                  <a:avLst/>
                </a:prstGeom>
                <a:solidFill>
                  <a:schemeClr val="accent4">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f>
                              <m:fPr>
                                <m:ctrlPr>
                                  <a:rPr lang="en-US" altLang="zh-CN" sz="2000" b="1" i="1">
                                    <a:solidFill>
                                      <a:schemeClr val="accent2">
                                        <a:lumMod val="50000"/>
                                      </a:schemeClr>
                                    </a:solidFill>
                                    <a:latin typeface="Cambria Math" panose="02040503050406030204" pitchFamily="18" charset="0"/>
                                  </a:rPr>
                                </m:ctrlPr>
                              </m:fPr>
                              <m:num>
                                <m:r>
                                  <a:rPr lang="en-US" altLang="zh-CN" sz="2000" b="1" i="1">
                                    <a:solidFill>
                                      <a:schemeClr val="accent2">
                                        <a:lumMod val="50000"/>
                                      </a:schemeClr>
                                    </a:solidFill>
                                    <a:latin typeface="Cambria Math" panose="02040503050406030204" pitchFamily="18" charset="0"/>
                                  </a:rPr>
                                  <m:t>𝟏𝟎𝟎𝟎</m:t>
                                </m:r>
                              </m:num>
                              <m:den>
                                <m:r>
                                  <a:rPr lang="en-US" altLang="zh-CN" sz="2000" b="1" i="1">
                                    <a:solidFill>
                                      <a:schemeClr val="accent2">
                                        <a:lumMod val="50000"/>
                                      </a:schemeClr>
                                    </a:solidFill>
                                    <a:latin typeface="Cambria Math" panose="02040503050406030204" pitchFamily="18" charset="0"/>
                                  </a:rPr>
                                  <m:t>𝟓</m:t>
                                </m:r>
                              </m:den>
                            </m:f>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𝟐𝟎𝟎</m:t>
                        </m:r>
                      </m:oMath>
                    </m:oMathPara>
                  </a14:m>
                  <a:endParaRPr lang="zh-CN" altLang="en-US" sz="2000" b="1">
                    <a:solidFill>
                      <a:schemeClr val="accent2">
                        <a:lumMod val="50000"/>
                      </a:schemeClr>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592975" y="2971871"/>
                  <a:ext cx="2526113" cy="678776"/>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1065703" y="3715228"/>
                  <a:ext cx="5328517" cy="400110"/>
                </a:xfrm>
                <a:prstGeom prst="rect">
                  <a:avLst/>
                </a:prstGeom>
                <a:solidFill>
                  <a:schemeClr val="accent2">
                    <a:lumMod val="20000"/>
                    <a:lumOff val="80000"/>
                    <a:alpha val="25000"/>
                  </a:schemeClr>
                </a:solidFill>
              </p:spPr>
              <p:txBody>
                <a:bodyPr wrap="square" rtlCol="0">
                  <a:spAutoFit/>
                </a:bodyPr>
                <a:lstStyle/>
                <a:p>
                  <a:r>
                    <a:rPr lang="zh-CN" altLang="en-US" sz="2000" b="1">
                      <a:solidFill>
                        <a:srgbClr val="002060"/>
                      </a:solidFill>
                    </a:rPr>
                    <a:t>全集</a:t>
                  </a:r>
                  <a14:m>
                    <m:oMath xmlns:m="http://schemas.openxmlformats.org/officeDocument/2006/math">
                      <m:r>
                        <a:rPr lang="en-US" altLang="zh-CN" sz="2000" b="1" i="1" smtClean="0">
                          <a:solidFill>
                            <a:srgbClr val="002060"/>
                          </a:solidFill>
                          <a:latin typeface="Cambria Math" panose="02040503050406030204" pitchFamily="18" charset="0"/>
                        </a:rPr>
                        <m:t>𝑼</m:t>
                      </m:r>
                    </m:oMath>
                  </a14:m>
                  <a:r>
                    <a:rPr lang="zh-CN" altLang="en-US" sz="2000" b="1">
                      <a:solidFill>
                        <a:srgbClr val="002060"/>
                      </a:solidFill>
                    </a:rPr>
                    <a:t>中能被</a:t>
                  </a:r>
                  <a14:m>
                    <m:oMath xmlns:m="http://schemas.openxmlformats.org/officeDocument/2006/math">
                      <m:r>
                        <a:rPr lang="en-US" altLang="zh-CN" sz="2000" b="1" i="1" smtClean="0">
                          <a:solidFill>
                            <a:srgbClr val="002060"/>
                          </a:solidFill>
                          <a:latin typeface="Cambria Math" panose="02040503050406030204" pitchFamily="18" charset="0"/>
                        </a:rPr>
                        <m:t>𝟑</m:t>
                      </m:r>
                    </m:oMath>
                  </a14:m>
                  <a:r>
                    <a:rPr lang="zh-CN" altLang="en-US" sz="2000" b="1">
                      <a:solidFill>
                        <a:srgbClr val="002060"/>
                      </a:solidFill>
                    </a:rPr>
                    <a:t>或</a:t>
                  </a:r>
                  <a14:m>
                    <m:oMath xmlns:m="http://schemas.openxmlformats.org/officeDocument/2006/math">
                      <m:r>
                        <a:rPr lang="en-US" altLang="zh-CN" sz="2000" b="1" i="1" smtClean="0">
                          <a:solidFill>
                            <a:srgbClr val="002060"/>
                          </a:solidFill>
                          <a:latin typeface="Cambria Math" panose="02040503050406030204" pitchFamily="18" charset="0"/>
                        </a:rPr>
                        <m:t>𝟓</m:t>
                      </m:r>
                    </m:oMath>
                  </a14:m>
                  <a:r>
                    <a:rPr lang="zh-CN" altLang="en-US" sz="2000" b="1">
                      <a:solidFill>
                        <a:srgbClr val="002060"/>
                      </a:solidFill>
                    </a:rPr>
                    <a:t>整除的正整数集合是</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oMath>
                  </a14:m>
                  <a:endParaRPr lang="zh-CN" altLang="en-US" sz="2000" b="1">
                    <a:solidFill>
                      <a:srgbClr val="00206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1065703" y="3715228"/>
                  <a:ext cx="5328517" cy="400110"/>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7592976" y="3713118"/>
                  <a:ext cx="3533322" cy="400110"/>
                </a:xfrm>
                <a:prstGeom prst="rect">
                  <a:avLst/>
                </a:prstGeom>
                <a:solidFill>
                  <a:schemeClr val="accent4">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e>
                        </m:d>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𝑨</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𝑩</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e>
                        </m:d>
                      </m:oMath>
                    </m:oMathPara>
                  </a14:m>
                  <a:endParaRPr lang="zh-CN" altLang="en-US" sz="2000" b="1">
                    <a:solidFill>
                      <a:schemeClr val="accent2">
                        <a:lumMod val="50000"/>
                      </a:schemeClr>
                    </a:solidFill>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7592976" y="3713118"/>
                  <a:ext cx="3533322" cy="400110"/>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065703" y="4235631"/>
                  <a:ext cx="5328517" cy="788293"/>
                </a:xfrm>
                <a:prstGeom prst="rect">
                  <a:avLst/>
                </a:prstGeom>
                <a:solidFill>
                  <a:schemeClr val="accent2">
                    <a:lumMod val="20000"/>
                    <a:lumOff val="80000"/>
                    <a:alpha val="25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rPr>
                    <a:t>是</a:t>
                  </a:r>
                  <a14:m>
                    <m:oMath xmlns:m="http://schemas.openxmlformats.org/officeDocument/2006/math">
                      <m:r>
                        <a:rPr lang="en-US" altLang="zh-CN" sz="2000" b="1" i="1" smtClean="0">
                          <a:solidFill>
                            <a:srgbClr val="002060"/>
                          </a:solidFill>
                          <a:latin typeface="Cambria Math" panose="02040503050406030204" pitchFamily="18" charset="0"/>
                        </a:rPr>
                        <m:t>𝑼</m:t>
                      </m:r>
                    </m:oMath>
                  </a14:m>
                  <a:r>
                    <a:rPr lang="zh-CN" altLang="en-US" sz="2000" b="1">
                      <a:solidFill>
                        <a:srgbClr val="002060"/>
                      </a:solidFill>
                    </a:rPr>
                    <a:t>中既能被</a:t>
                  </a:r>
                  <a14:m>
                    <m:oMath xmlns:m="http://schemas.openxmlformats.org/officeDocument/2006/math">
                      <m:r>
                        <a:rPr lang="en-US" altLang="zh-CN" sz="2000" b="1" i="1" smtClean="0">
                          <a:solidFill>
                            <a:srgbClr val="002060"/>
                          </a:solidFill>
                          <a:latin typeface="Cambria Math" panose="02040503050406030204" pitchFamily="18" charset="0"/>
                        </a:rPr>
                        <m:t>𝟑</m:t>
                      </m:r>
                    </m:oMath>
                  </a14:m>
                  <a:r>
                    <a:rPr lang="zh-CN" altLang="en-US" sz="2000" b="1">
                      <a:solidFill>
                        <a:srgbClr val="002060"/>
                      </a:solidFill>
                    </a:rPr>
                    <a:t>，又能被</a:t>
                  </a:r>
                  <a14:m>
                    <m:oMath xmlns:m="http://schemas.openxmlformats.org/officeDocument/2006/math">
                      <m:r>
                        <a:rPr lang="en-US" altLang="zh-CN" sz="2000" b="1" i="1" smtClean="0">
                          <a:solidFill>
                            <a:srgbClr val="002060"/>
                          </a:solidFill>
                          <a:latin typeface="Cambria Math" panose="02040503050406030204" pitchFamily="18" charset="0"/>
                        </a:rPr>
                        <m:t>𝟓</m:t>
                      </m:r>
                    </m:oMath>
                  </a14:m>
                  <a:r>
                    <a:rPr lang="zh-CN" altLang="en-US" sz="2000" b="1">
                      <a:solidFill>
                        <a:srgbClr val="002060"/>
                      </a:solidFill>
                    </a:rPr>
                    <a:t>整除的正整数集合，即</a:t>
                  </a:r>
                  <a14:m>
                    <m:oMath xmlns:m="http://schemas.openxmlformats.org/officeDocument/2006/math">
                      <m:r>
                        <a:rPr lang="en-US" altLang="zh-CN" sz="2000" b="1" i="1" smtClean="0">
                          <a:solidFill>
                            <a:srgbClr val="002060"/>
                          </a:solidFill>
                          <a:latin typeface="Cambria Math" panose="02040503050406030204" pitchFamily="18" charset="0"/>
                        </a:rPr>
                        <m:t>𝑼</m:t>
                      </m:r>
                    </m:oMath>
                  </a14:m>
                  <a:r>
                    <a:rPr lang="zh-CN" altLang="en-US" sz="2000" b="1">
                      <a:solidFill>
                        <a:srgbClr val="002060"/>
                      </a:solidFill>
                    </a:rPr>
                    <a:t>中能被</a:t>
                  </a:r>
                  <a14:m>
                    <m:oMath xmlns:m="http://schemas.openxmlformats.org/officeDocument/2006/math">
                      <m:r>
                        <a:rPr lang="en-US" altLang="zh-CN" sz="2000" b="1" i="1" smtClean="0">
                          <a:solidFill>
                            <a:srgbClr val="002060"/>
                          </a:solidFill>
                          <a:latin typeface="Cambria Math" panose="02040503050406030204" pitchFamily="18" charset="0"/>
                        </a:rPr>
                        <m:t>𝟏𝟓</m:t>
                      </m:r>
                    </m:oMath>
                  </a14:m>
                  <a:r>
                    <a:rPr lang="zh-CN" altLang="en-US" sz="2000" b="1">
                      <a:solidFill>
                        <a:srgbClr val="002060"/>
                      </a:solidFill>
                    </a:rPr>
                    <a:t>整除的正整数集合</a:t>
                  </a:r>
                </a:p>
              </p:txBody>
            </p:sp>
          </mc:Choice>
          <mc:Fallback xmlns="">
            <p:sp>
              <p:nvSpPr>
                <p:cNvPr id="15" name="文本框 14"/>
                <p:cNvSpPr txBox="1">
                  <a:spLocks noRot="1" noChangeAspect="1" noMove="1" noResize="1" noEditPoints="1" noAdjustHandles="1" noChangeArrowheads="1" noChangeShapeType="1" noTextEdit="1"/>
                </p:cNvSpPr>
                <p:nvPr/>
              </p:nvSpPr>
              <p:spPr>
                <a:xfrm>
                  <a:off x="1065703" y="4235631"/>
                  <a:ext cx="5328517" cy="788293"/>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7592975" y="4286555"/>
                  <a:ext cx="2879865" cy="678776"/>
                </a:xfrm>
                <a:prstGeom prst="rect">
                  <a:avLst/>
                </a:prstGeom>
                <a:solidFill>
                  <a:schemeClr val="accent4">
                    <a:lumMod val="20000"/>
                    <a:lumOff val="80000"/>
                    <a:alpha val="5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e>
                        </m:d>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𝟏𝟎𝟎𝟎</m:t>
                                </m:r>
                              </m:num>
                              <m:den>
                                <m:r>
                                  <a:rPr lang="en-US" altLang="zh-CN" sz="2000" b="1" i="1" smtClean="0">
                                    <a:solidFill>
                                      <a:schemeClr val="accent2">
                                        <a:lumMod val="50000"/>
                                      </a:schemeClr>
                                    </a:solidFill>
                                    <a:latin typeface="Cambria Math" panose="02040503050406030204" pitchFamily="18" charset="0"/>
                                  </a:rPr>
                                  <m:t>𝟏𝟓</m:t>
                                </m:r>
                              </m:den>
                            </m:f>
                          </m:e>
                        </m:d>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𝟔𝟔</m:t>
                        </m:r>
                      </m:oMath>
                    </m:oMathPara>
                  </a14:m>
                  <a:endParaRPr lang="zh-CN" altLang="en-US" sz="2000" b="1">
                    <a:solidFill>
                      <a:schemeClr val="accent2">
                        <a:lumMod val="50000"/>
                      </a:schemeClr>
                    </a:solidFill>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7592975" y="4286555"/>
                  <a:ext cx="2879865" cy="678776"/>
                </a:xfrm>
                <a:prstGeom prst="rect">
                  <a:avLst/>
                </a:prstGeom>
                <a:blipFill rotWithShape="1">
                  <a:blip r:embed="rId11"/>
                </a:blipFill>
              </p:spPr>
              <p:txBody>
                <a:bodyPr/>
                <a:lstStyle/>
                <a:p>
                  <a:r>
                    <a:rPr lang="zh-CN" altLang="en-US">
                      <a:noFill/>
                    </a:rPr>
                    <a:t> </a:t>
                  </a:r>
                </a:p>
              </p:txBody>
            </p:sp>
          </mc:Fallback>
        </mc:AlternateContent>
        <p:sp>
          <p:nvSpPr>
            <p:cNvPr id="20" name="箭头: 右 19"/>
            <p:cNvSpPr/>
            <p:nvPr/>
          </p:nvSpPr>
          <p:spPr>
            <a:xfrm>
              <a:off x="6394220" y="2561753"/>
              <a:ext cx="119875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p:cNvSpPr/>
            <p:nvPr/>
          </p:nvSpPr>
          <p:spPr>
            <a:xfrm>
              <a:off x="6394220" y="3305896"/>
              <a:ext cx="119875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p:cNvSpPr/>
            <p:nvPr/>
          </p:nvSpPr>
          <p:spPr>
            <a:xfrm>
              <a:off x="6394220" y="3890313"/>
              <a:ext cx="119875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p:cNvSpPr/>
            <p:nvPr/>
          </p:nvSpPr>
          <p:spPr>
            <a:xfrm>
              <a:off x="6394220" y="4608955"/>
              <a:ext cx="119875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整除性质与整数计数一般公式</a:t>
            </a:r>
          </a:p>
        </p:txBody>
      </p:sp>
      <mc:AlternateContent xmlns:mc="http://schemas.openxmlformats.org/markup-compatibility/2006" xmlns:a14="http://schemas.microsoft.com/office/drawing/2010/main">
        <mc:Choice Requires="a14">
          <p:sp>
            <p:nvSpPr>
              <p:cNvPr id="2" name="文本框 1"/>
              <p:cNvSpPr txBox="1"/>
              <p:nvPr/>
            </p:nvSpPr>
            <p:spPr>
              <a:xfrm>
                <a:off x="1236741" y="1458336"/>
                <a:ext cx="9282147" cy="550728"/>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小于等于</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的正整数中，也即从</a:t>
                </a:r>
                <a14:m>
                  <m:oMath xmlns:m="http://schemas.openxmlformats.org/officeDocument/2006/math">
                    <m:r>
                      <a:rPr lang="en-US" altLang="zh-CN" sz="2000" b="1" i="1" smtClean="0">
                        <a:solidFill>
                          <a:srgbClr val="C00000"/>
                        </a:solidFill>
                        <a:latin typeface="Cambria Math" panose="02040503050406030204" pitchFamily="18" charset="0"/>
                      </a:rPr>
                      <m:t>𝟏</m:t>
                    </m:r>
                  </m:oMath>
                </a14:m>
                <a:r>
                  <a:rPr lang="zh-CN" altLang="en-US" sz="2000" b="1">
                    <a:solidFill>
                      <a:srgbClr val="C00000"/>
                    </a:solidFill>
                    <a:latin typeface="+mn-ea"/>
                  </a:rPr>
                  <a:t>到</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能被正整数</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a:solidFill>
                      <a:srgbClr val="002060"/>
                    </a:solidFill>
                    <a:latin typeface="楷体" panose="02010609060101010101" pitchFamily="49" charset="-122"/>
                    <a:ea typeface="楷体" panose="02010609060101010101" pitchFamily="49" charset="-122"/>
                  </a:rPr>
                  <a:t>整除的正整数个数是：</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a:solidFill>
                                  <a:schemeClr val="accent2">
                                    <a:lumMod val="50000"/>
                                  </a:schemeClr>
                                </a:solidFill>
                                <a:latin typeface="Cambria Math" panose="02040503050406030204" pitchFamily="18" charset="0"/>
                              </a:rPr>
                            </m:ctrlPr>
                          </m:fPr>
                          <m:num>
                            <m:r>
                              <a:rPr lang="en-US" altLang="zh-CN" sz="2000" b="1" i="1">
                                <a:solidFill>
                                  <a:schemeClr val="accent2">
                                    <a:lumMod val="50000"/>
                                  </a:schemeClr>
                                </a:solidFill>
                                <a:latin typeface="Cambria Math" panose="02040503050406030204" pitchFamily="18" charset="0"/>
                              </a:rPr>
                              <m:t>𝒎</m:t>
                            </m:r>
                          </m:num>
                          <m:den>
                            <m:r>
                              <a:rPr lang="en-US" altLang="zh-CN" sz="2000" b="1" i="1">
                                <a:solidFill>
                                  <a:schemeClr val="accent2">
                                    <a:lumMod val="50000"/>
                                  </a:schemeClr>
                                </a:solidFill>
                                <a:latin typeface="Cambria Math" panose="02040503050406030204" pitchFamily="18" charset="0"/>
                              </a:rPr>
                              <m:t>𝒅</m:t>
                            </m:r>
                          </m:den>
                        </m:f>
                      </m:e>
                    </m:d>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236741" y="1458336"/>
                <a:ext cx="9282147" cy="550728"/>
              </a:xfrm>
              <a:prstGeom prst="rect">
                <a:avLst/>
              </a:prstGeom>
              <a:blipFill rotWithShape="1">
                <a:blip r:embed="rId2"/>
                <a:stretch>
                  <a:fillRect l="-4" t="-68" r="1" b="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236741" y="3779869"/>
                <a:ext cx="8940071" cy="1140440"/>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从</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，即</a:t>
                </a:r>
                <a:r>
                  <a:rPr lang="zh-CN" altLang="en-US" sz="2000" b="1">
                    <a:solidFill>
                      <a:srgbClr val="C00000"/>
                    </a:solidFill>
                    <a:latin typeface="+mn-ea"/>
                  </a:rPr>
                  <a:t>大于等于</a:t>
                </a:r>
                <a14:m>
                  <m:oMath xmlns:m="http://schemas.openxmlformats.org/officeDocument/2006/math">
                    <m:r>
                      <a:rPr lang="en-US" altLang="zh-CN" sz="2000" b="1">
                        <a:solidFill>
                          <a:srgbClr val="C00000"/>
                        </a:solidFill>
                        <a:latin typeface="Cambria Math" panose="02040503050406030204" pitchFamily="18" charset="0"/>
                      </a:rPr>
                      <m:t>𝒏</m:t>
                    </m:r>
                  </m:oMath>
                </a14:m>
                <a:r>
                  <a:rPr lang="zh-CN" altLang="en-US" sz="2000" b="1">
                    <a:solidFill>
                      <a:srgbClr val="C00000"/>
                    </a:solidFill>
                    <a:latin typeface="+mn-ea"/>
                  </a:rPr>
                  <a:t>小于等于</a:t>
                </a:r>
                <a14:m>
                  <m:oMath xmlns:m="http://schemas.openxmlformats.org/officeDocument/2006/math">
                    <m:r>
                      <a:rPr lang="en-US" altLang="zh-CN" sz="2000" b="1">
                        <a:solidFill>
                          <a:srgbClr val="C0000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的正整数中，能被</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a:solidFill>
                      <a:srgbClr val="002060"/>
                    </a:solidFill>
                    <a:latin typeface="楷体" panose="02010609060101010101" pitchFamily="49" charset="-122"/>
                    <a:ea typeface="楷体" panose="02010609060101010101" pitchFamily="49" charset="-122"/>
                  </a:rPr>
                  <a:t>整除的正整数个数是：</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f>
                            <m:fPr>
                              <m:ctrlPr>
                                <a:rPr lang="en-US" altLang="zh-CN" sz="2000" b="1" i="1">
                                  <a:solidFill>
                                    <a:schemeClr val="accent2">
                                      <a:lumMod val="50000"/>
                                    </a:schemeClr>
                                  </a:solidFill>
                                  <a:latin typeface="Cambria Math" panose="02040503050406030204" pitchFamily="18" charset="0"/>
                                </a:rPr>
                              </m:ctrlPr>
                            </m:fPr>
                            <m:num>
                              <m:r>
                                <a:rPr lang="en-US" altLang="zh-CN" sz="2000" b="1" i="1">
                                  <a:solidFill>
                                    <a:schemeClr val="accent2">
                                      <a:lumMod val="50000"/>
                                    </a:schemeClr>
                                  </a:solidFill>
                                  <a:latin typeface="Cambria Math" panose="02040503050406030204" pitchFamily="18" charset="0"/>
                                </a:rPr>
                                <m:t>𝒎</m:t>
                              </m:r>
                            </m:num>
                            <m:den>
                              <m:r>
                                <a:rPr lang="en-US" altLang="zh-CN" sz="2000" b="1" i="1">
                                  <a:solidFill>
                                    <a:schemeClr val="accent2">
                                      <a:lumMod val="50000"/>
                                    </a:schemeClr>
                                  </a:solidFill>
                                  <a:latin typeface="Cambria Math" panose="02040503050406030204" pitchFamily="18" charset="0"/>
                                </a:rPr>
                                <m:t>𝒅</m:t>
                              </m:r>
                            </m:den>
                          </m:f>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f>
                            <m:fPr>
                              <m:ctrlPr>
                                <a:rPr lang="en-US" altLang="zh-CN" sz="2000" b="1" i="1">
                                  <a:solidFill>
                                    <a:schemeClr val="accent2">
                                      <a:lumMod val="50000"/>
                                    </a:schemeClr>
                                  </a:solidFill>
                                  <a:latin typeface="Cambria Math" panose="02040503050406030204" pitchFamily="18" charset="0"/>
                                </a:rPr>
                              </m:ctrlPr>
                            </m:fPr>
                            <m:num>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num>
                            <m:den>
                              <m:r>
                                <a:rPr lang="en-US" altLang="zh-CN" sz="2000" b="1" i="1">
                                  <a:solidFill>
                                    <a:schemeClr val="accent2">
                                      <a:lumMod val="50000"/>
                                    </a:schemeClr>
                                  </a:solidFill>
                                  <a:latin typeface="Cambria Math" panose="02040503050406030204" pitchFamily="18" charset="0"/>
                                </a:rPr>
                                <m:t>𝒅</m:t>
                              </m:r>
                            </m:den>
                          </m:f>
                        </m:e>
                      </m:d>
                    </m:oMath>
                  </m:oMathPara>
                </a14:m>
                <a:endParaRPr lang="en-US" altLang="zh-CN" sz="2000" b="1" i="1">
                  <a:solidFill>
                    <a:schemeClr val="accent2">
                      <a:lumMod val="50000"/>
                    </a:schemeClr>
                  </a:solidFill>
                  <a:latin typeface="Cambria Math" panose="020405030504060302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236741" y="3779869"/>
                <a:ext cx="8940071" cy="1140440"/>
              </a:xfrm>
              <a:prstGeom prst="rect">
                <a:avLst/>
              </a:prstGeom>
              <a:blipFill rotWithShape="1">
                <a:blip r:embed="rId3"/>
                <a:stretch>
                  <a:fillRect l="-4" t="-31" r="3" b="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236741" y="2417745"/>
                <a:ext cx="9459763" cy="1037528"/>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小于等于</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的正整数中，也即从</a:t>
                </a:r>
                <a14:m>
                  <m:oMath xmlns:m="http://schemas.openxmlformats.org/officeDocument/2006/math">
                    <m:r>
                      <a:rPr lang="en-US" altLang="zh-CN" sz="2000" b="1" i="1">
                        <a:solidFill>
                          <a:srgbClr val="C00000"/>
                        </a:solidFill>
                        <a:latin typeface="Cambria Math" panose="02040503050406030204" pitchFamily="18" charset="0"/>
                      </a:rPr>
                      <m:t>𝟏</m:t>
                    </m:r>
                  </m:oMath>
                </a14:m>
                <a:r>
                  <a:rPr lang="zh-CN" altLang="en-US" sz="2000" b="1">
                    <a:solidFill>
                      <a:srgbClr val="C00000"/>
                    </a:solidFill>
                    <a:latin typeface="+mn-ea"/>
                  </a:rPr>
                  <a:t>到</a:t>
                </a:r>
                <a14:m>
                  <m:oMath xmlns:m="http://schemas.openxmlformats.org/officeDocument/2006/math">
                    <m:r>
                      <a:rPr lang="en-US" altLang="zh-CN" sz="2000" b="1" i="1">
                        <a:solidFill>
                          <a:srgbClr val="C0000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能同时被</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𝒆</m:t>
                    </m:r>
                  </m:oMath>
                </a14:m>
                <a:r>
                  <a:rPr lang="zh-CN" altLang="en-US" sz="2000" b="1">
                    <a:solidFill>
                      <a:srgbClr val="002060"/>
                    </a:solidFill>
                    <a:latin typeface="楷体" panose="02010609060101010101" pitchFamily="49" charset="-122"/>
                    <a:ea typeface="楷体" panose="02010609060101010101" pitchFamily="49" charset="-122"/>
                  </a:rPr>
                  <a:t>整除的正整数个数是：</a:t>
                </a:r>
                <a14:m>
                  <m:oMath xmlns:m="http://schemas.openxmlformats.org/officeDocument/2006/math">
                    <m:d>
                      <m:dPr>
                        <m:begChr m:val="⌊"/>
                        <m:endChr m:val="⌋"/>
                        <m:ctrlPr>
                          <a:rPr lang="en-US" altLang="zh-CN" sz="2000" b="1" i="1">
                            <a:solidFill>
                              <a:schemeClr val="accent2">
                                <a:lumMod val="50000"/>
                              </a:schemeClr>
                            </a:solidFill>
                            <a:latin typeface="Cambria Math" panose="02040503050406030204" pitchFamily="18" charset="0"/>
                          </a:rPr>
                        </m:ctrlPr>
                      </m:dPr>
                      <m:e>
                        <m:f>
                          <m:fPr>
                            <m:ctrlPr>
                              <a:rPr lang="en-US" altLang="zh-CN" sz="2000" b="1" i="1">
                                <a:solidFill>
                                  <a:schemeClr val="accent2">
                                    <a:lumMod val="50000"/>
                                  </a:schemeClr>
                                </a:solidFill>
                                <a:latin typeface="Cambria Math" panose="02040503050406030204" pitchFamily="18" charset="0"/>
                              </a:rPr>
                            </m:ctrlPr>
                          </m:fPr>
                          <m:num>
                            <m:r>
                              <a:rPr lang="en-US" altLang="zh-CN" sz="2000" b="1" i="1">
                                <a:solidFill>
                                  <a:schemeClr val="accent2">
                                    <a:lumMod val="50000"/>
                                  </a:schemeClr>
                                </a:solidFill>
                                <a:latin typeface="Cambria Math" panose="02040503050406030204" pitchFamily="18" charset="0"/>
                              </a:rPr>
                              <m:t>𝒎</m:t>
                            </m:r>
                          </m:num>
                          <m:den>
                            <m:r>
                              <a:rPr lang="en-US" altLang="zh-CN" sz="2000" b="1" i="1">
                                <a:solidFill>
                                  <a:schemeClr val="accent2">
                                    <a:lumMod val="50000"/>
                                  </a:schemeClr>
                                </a:solidFill>
                                <a:latin typeface="Cambria Math" panose="02040503050406030204" pitchFamily="18" charset="0"/>
                              </a:rPr>
                              <m:t>𝐥𝐜𝐦</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𝒅</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𝒆</m:t>
                                </m:r>
                              </m:e>
                            </m:d>
                          </m:den>
                        </m:f>
                      </m:e>
                    </m:d>
                  </m:oMath>
                </a14:m>
                <a:endParaRPr lang="zh-CN" altLang="en-US" sz="2000" b="1" i="1">
                  <a:solidFill>
                    <a:schemeClr val="accent2">
                      <a:lumMod val="50000"/>
                    </a:schemeClr>
                  </a:solidFill>
                  <a:latin typeface="Cambria Math" panose="02040503050406030204" pitchFamily="18" charset="0"/>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这里</a:t>
                </a:r>
                <a14:m>
                  <m:oMath xmlns:m="http://schemas.openxmlformats.org/officeDocument/2006/math">
                    <m:r>
                      <a:rPr lang="en-US" altLang="zh-CN" sz="2000" b="1" i="0" smtClean="0">
                        <a:solidFill>
                          <a:srgbClr val="002060"/>
                        </a:solidFill>
                        <a:latin typeface="Cambria Math" panose="02040503050406030204" pitchFamily="18" charset="0"/>
                      </a:rPr>
                      <m:t>𝐥𝐜𝐦</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𝒄</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𝒅</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sz="2000" b="1" i="1" smtClean="0">
                        <a:solidFill>
                          <a:srgbClr val="002060"/>
                        </a:solidFill>
                        <a:latin typeface="Cambria Math" panose="02040503050406030204" pitchFamily="18" charset="0"/>
                      </a:rPr>
                      <m:t>𝒄</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𝒅</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最小公倍数</a:t>
                </a:r>
              </a:p>
            </p:txBody>
          </p:sp>
        </mc:Choice>
        <mc:Fallback xmlns="">
          <p:sp>
            <p:nvSpPr>
              <p:cNvPr id="4" name="文本框 3"/>
              <p:cNvSpPr txBox="1">
                <a:spLocks noRot="1" noChangeAspect="1" noMove="1" noResize="1" noEditPoints="1" noAdjustHandles="1" noChangeArrowheads="1" noChangeShapeType="1" noTextEdit="1"/>
              </p:cNvSpPr>
              <p:nvPr/>
            </p:nvSpPr>
            <p:spPr>
              <a:xfrm>
                <a:off x="1236741" y="2417745"/>
                <a:ext cx="9459763" cy="1037528"/>
              </a:xfrm>
              <a:prstGeom prst="rect">
                <a:avLst/>
              </a:prstGeom>
              <a:blipFill rotWithShape="1">
                <a:blip r:embed="rId4"/>
                <a:stretch>
                  <a:fillRect l="-4" t="-29" r="6" b="-234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236741" y="5401457"/>
                <a:ext cx="9019012" cy="550728"/>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注意</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𝒎</m:t>
                            </m:r>
                          </m:num>
                          <m:den>
                            <m:r>
                              <a:rPr lang="en-US" altLang="zh-CN" sz="2000" b="1" i="1" smtClean="0">
                                <a:solidFill>
                                  <a:schemeClr val="accent2">
                                    <a:lumMod val="50000"/>
                                  </a:schemeClr>
                                </a:solidFill>
                                <a:latin typeface="Cambria Math" panose="02040503050406030204" pitchFamily="18" charset="0"/>
                              </a:rPr>
                              <m:t>𝒅</m:t>
                            </m:r>
                          </m:den>
                        </m:f>
                      </m:e>
                    </m:d>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num>
                          <m:den>
                            <m:r>
                              <a:rPr lang="en-US" altLang="zh-CN" sz="2000" b="1" i="1" smtClean="0">
                                <a:solidFill>
                                  <a:schemeClr val="accent2">
                                    <a:lumMod val="50000"/>
                                  </a:schemeClr>
                                </a:solidFill>
                                <a:latin typeface="Cambria Math" panose="02040503050406030204" pitchFamily="18" charset="0"/>
                              </a:rPr>
                              <m:t>𝒅</m:t>
                            </m:r>
                          </m:den>
                        </m:f>
                      </m:e>
                    </m:d>
                  </m:oMath>
                </a14:m>
                <a:r>
                  <a:rPr lang="zh-CN" altLang="en-US" sz="2000" b="1">
                    <a:solidFill>
                      <a:schemeClr val="accent2">
                        <a:lumMod val="50000"/>
                      </a:schemeClr>
                    </a:solidFill>
                  </a:rPr>
                  <a:t>不一定等于</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num>
                          <m:den>
                            <m:r>
                              <a:rPr lang="en-US" altLang="zh-CN" sz="2000" b="1" i="1" smtClean="0">
                                <a:solidFill>
                                  <a:schemeClr val="accent2">
                                    <a:lumMod val="50000"/>
                                  </a:schemeClr>
                                </a:solidFill>
                                <a:latin typeface="Cambria Math" panose="02040503050406030204" pitchFamily="18" charset="0"/>
                              </a:rPr>
                              <m:t>𝒅</m:t>
                            </m:r>
                          </m:den>
                        </m:f>
                      </m:e>
                    </m:d>
                  </m:oMath>
                </a14:m>
                <a:r>
                  <a:rPr lang="zh-CN" altLang="en-US" sz="2000" b="1">
                    <a:solidFill>
                      <a:schemeClr val="accent2">
                        <a:lumMod val="50000"/>
                      </a:schemeClr>
                    </a:solidFill>
                  </a:rPr>
                  <a:t>，例如，</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𝟏𝟎</m:t>
                            </m:r>
                          </m:num>
                          <m:den>
                            <m:r>
                              <a:rPr lang="en-US" altLang="zh-CN" sz="2000" b="1" i="1" smtClean="0">
                                <a:solidFill>
                                  <a:schemeClr val="accent2">
                                    <a:lumMod val="50000"/>
                                  </a:schemeClr>
                                </a:solidFill>
                                <a:latin typeface="Cambria Math" panose="02040503050406030204" pitchFamily="18" charset="0"/>
                              </a:rPr>
                              <m:t>𝟑</m:t>
                            </m:r>
                          </m:den>
                        </m:f>
                      </m:e>
                    </m:d>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𝟗</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num>
                          <m:den>
                            <m:r>
                              <a:rPr lang="en-US" altLang="zh-CN" sz="2000" b="1" i="1" smtClean="0">
                                <a:solidFill>
                                  <a:schemeClr val="accent2">
                                    <a:lumMod val="50000"/>
                                  </a:schemeClr>
                                </a:solidFill>
                                <a:latin typeface="Cambria Math" panose="02040503050406030204" pitchFamily="18" charset="0"/>
                              </a:rPr>
                              <m:t>𝟑</m:t>
                            </m:r>
                          </m:den>
                        </m:f>
                      </m:e>
                    </m:d>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𝟏</m:t>
                    </m:r>
                  </m:oMath>
                </a14:m>
                <a:r>
                  <a:rPr lang="zh-CN" altLang="en-US" sz="2000" b="1">
                    <a:solidFill>
                      <a:schemeClr val="accent2">
                        <a:lumMod val="50000"/>
                      </a:schemeClr>
                    </a:solidFill>
                  </a:rPr>
                  <a:t>，但</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f>
                          <m:fPr>
                            <m:ctrlPr>
                              <a:rPr lang="en-US" altLang="zh-CN" sz="2000" b="1" i="1" smtClean="0">
                                <a:solidFill>
                                  <a:schemeClr val="accent2">
                                    <a:lumMod val="50000"/>
                                  </a:schemeClr>
                                </a:solidFill>
                                <a:latin typeface="Cambria Math" panose="02040503050406030204" pitchFamily="18" charset="0"/>
                              </a:rPr>
                            </m:ctrlPr>
                          </m:fPr>
                          <m:num>
                            <m:r>
                              <a:rPr lang="en-US" altLang="zh-CN" sz="2000" b="1" i="1" smtClean="0">
                                <a:solidFill>
                                  <a:schemeClr val="accent2">
                                    <a:lumMod val="50000"/>
                                  </a:schemeClr>
                                </a:solidFill>
                                <a:latin typeface="Cambria Math" panose="02040503050406030204" pitchFamily="18" charset="0"/>
                              </a:rPr>
                              <m:t>𝟏𝟎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𝟗</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num>
                          <m:den>
                            <m:r>
                              <a:rPr lang="en-US" altLang="zh-CN" sz="2000" b="1" i="1" smtClean="0">
                                <a:solidFill>
                                  <a:schemeClr val="accent2">
                                    <a:lumMod val="50000"/>
                                  </a:schemeClr>
                                </a:solidFill>
                                <a:latin typeface="Cambria Math" panose="02040503050406030204" pitchFamily="18" charset="0"/>
                              </a:rPr>
                              <m:t>𝟑</m:t>
                            </m:r>
                          </m:den>
                        </m:f>
                      </m:e>
                    </m:d>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𝟎</m:t>
                    </m:r>
                  </m:oMath>
                </a14:m>
                <a:endParaRPr lang="en-US" altLang="zh-CN" sz="2000"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236741" y="5401457"/>
                <a:ext cx="9019012" cy="550728"/>
              </a:xfrm>
              <a:prstGeom prst="rect">
                <a:avLst/>
              </a:prstGeom>
              <a:blipFill rotWithShape="1">
                <a:blip r:embed="rId5"/>
                <a:stretch>
                  <a:fillRect l="-4" t="-27" r="6" b="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979620" y="4210187"/>
                <a:ext cx="1815643" cy="550728"/>
              </a:xfrm>
              <a:prstGeom prst="rect">
                <a:avLst/>
              </a:prstGeom>
              <a:solidFill>
                <a:schemeClr val="accent4">
                  <a:lumMod val="40000"/>
                  <a:lumOff val="60000"/>
                </a:schemeClr>
              </a:solidFill>
            </p:spPr>
            <p:txBody>
              <a:bodyPr wrap="square" rtlCol="0">
                <a:spAutoFit/>
              </a:bodyPr>
              <a:lstStyle/>
              <a:p>
                <a:r>
                  <a:rPr lang="zh-CN" altLang="en-US" sz="2000" b="1">
                    <a:solidFill>
                      <a:srgbClr val="C00000"/>
                    </a:solidFill>
                  </a:rPr>
                  <a:t>不是</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f>
                          <m:fPr>
                            <m:ctrlPr>
                              <a:rPr lang="en-US" altLang="zh-CN" sz="2000" b="1" i="1">
                                <a:solidFill>
                                  <a:srgbClr val="C00000"/>
                                </a:solidFill>
                                <a:latin typeface="Cambria Math" panose="02040503050406030204" pitchFamily="18" charset="0"/>
                              </a:rPr>
                            </m:ctrlPr>
                          </m:fPr>
                          <m:num>
                            <m:r>
                              <a:rPr lang="en-US" altLang="zh-CN" sz="2000" b="1" i="1">
                                <a:solidFill>
                                  <a:srgbClr val="C00000"/>
                                </a:solidFill>
                                <a:latin typeface="Cambria Math" panose="02040503050406030204" pitchFamily="18" charset="0"/>
                              </a:rPr>
                              <m:t>𝒎</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num>
                          <m:den>
                            <m:r>
                              <a:rPr lang="en-US" altLang="zh-CN" sz="2000" b="1" i="1">
                                <a:solidFill>
                                  <a:srgbClr val="C00000"/>
                                </a:solidFill>
                                <a:latin typeface="Cambria Math" panose="02040503050406030204" pitchFamily="18" charset="0"/>
                              </a:rPr>
                              <m:t>𝒅</m:t>
                            </m:r>
                          </m:den>
                        </m:f>
                      </m:e>
                    </m:d>
                  </m:oMath>
                </a14:m>
                <a:r>
                  <a:rPr lang="zh-CN" altLang="en-US" sz="2000" b="1">
                    <a:solidFill>
                      <a:srgbClr val="C00000"/>
                    </a:solidFill>
                  </a:rPr>
                  <a:t>！</a:t>
                </a:r>
              </a:p>
            </p:txBody>
          </p:sp>
        </mc:Choice>
        <mc:Fallback xmlns="">
          <p:sp>
            <p:nvSpPr>
              <p:cNvPr id="11" name="文本框 10"/>
              <p:cNvSpPr txBox="1">
                <a:spLocks noRot="1" noChangeAspect="1" noMove="1" noResize="1" noEditPoints="1" noAdjustHandles="1" noChangeArrowheads="1" noChangeShapeType="1" noTextEdit="1"/>
              </p:cNvSpPr>
              <p:nvPr/>
            </p:nvSpPr>
            <p:spPr>
              <a:xfrm>
                <a:off x="7979620" y="4210187"/>
                <a:ext cx="1815643" cy="550728"/>
              </a:xfrm>
              <a:prstGeom prst="rect">
                <a:avLst/>
              </a:prstGeom>
              <a:blipFill rotWithShape="1">
                <a:blip r:embed="rId6"/>
                <a:stretch>
                  <a:fillRect l="-12" t="-25" r="21" b="58"/>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集合语言表示计数集合练习</a:t>
            </a:r>
          </a:p>
        </p:txBody>
      </p:sp>
      <p:sp>
        <p:nvSpPr>
          <p:cNvPr id="2" name="文本框 1"/>
          <p:cNvSpPr txBox="1"/>
          <p:nvPr/>
        </p:nvSpPr>
        <p:spPr>
          <a:xfrm>
            <a:off x="795986" y="1155029"/>
            <a:ext cx="10600025" cy="1508105"/>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计数问题通常是针对有穷集合的元素进行计数</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rPr>
              <a:t>求解计数问题时应尽量使用集合语言表达所要计数的集合</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rPr>
              <a:t>熟练运用集合语言正确表达要计数的集合是用容斥原理求解计数问题的关键</a:t>
            </a:r>
          </a:p>
        </p:txBody>
      </p:sp>
      <p:sp>
        <p:nvSpPr>
          <p:cNvPr id="3" name="文本框 2"/>
          <p:cNvSpPr txBox="1"/>
          <p:nvPr/>
        </p:nvSpPr>
        <p:spPr>
          <a:xfrm>
            <a:off x="857358" y="3031466"/>
            <a:ext cx="3664178" cy="178510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在三位正整数中</a:t>
            </a:r>
          </a:p>
          <a:p>
            <a:pPr>
              <a:spcBef>
                <a:spcPts val="600"/>
              </a:spcBef>
              <a:spcAft>
                <a:spcPts val="600"/>
              </a:spcAft>
            </a:pPr>
            <a:r>
              <a:rPr lang="en-US" altLang="zh-CN" sz="2000" b="1">
                <a:solidFill>
                  <a:schemeClr val="tx2">
                    <a:lumMod val="50000"/>
                  </a:schemeClr>
                </a:solidFill>
              </a:rPr>
              <a:t>(1) </a:t>
            </a:r>
            <a:r>
              <a:rPr lang="zh-CN" altLang="en-US" sz="2000" b="1">
                <a:solidFill>
                  <a:schemeClr val="tx2">
                    <a:lumMod val="50000"/>
                  </a:schemeClr>
                </a:solidFill>
              </a:rPr>
              <a:t>有多少不能被</a:t>
            </a:r>
            <a:r>
              <a:rPr lang="en-US" altLang="zh-CN" sz="2000" b="1">
                <a:solidFill>
                  <a:schemeClr val="tx2">
                    <a:lumMod val="50000"/>
                  </a:schemeClr>
                </a:solidFill>
              </a:rPr>
              <a:t>3</a:t>
            </a:r>
            <a:r>
              <a:rPr lang="zh-CN" altLang="en-US" sz="2000" b="1">
                <a:solidFill>
                  <a:schemeClr val="tx2">
                    <a:lumMod val="50000"/>
                  </a:schemeClr>
                </a:solidFill>
              </a:rPr>
              <a:t>整除？</a:t>
            </a:r>
          </a:p>
          <a:p>
            <a:pPr>
              <a:spcBef>
                <a:spcPts val="600"/>
              </a:spcBef>
              <a:spcAft>
                <a:spcPts val="600"/>
              </a:spcAft>
            </a:pPr>
            <a:r>
              <a:rPr lang="en-US" altLang="zh-CN" sz="2000" b="1">
                <a:solidFill>
                  <a:schemeClr val="tx2">
                    <a:lumMod val="50000"/>
                  </a:schemeClr>
                </a:solidFill>
              </a:rPr>
              <a:t>(2) </a:t>
            </a:r>
            <a:r>
              <a:rPr lang="zh-CN" altLang="en-US" sz="2000" b="1">
                <a:solidFill>
                  <a:schemeClr val="tx2">
                    <a:lumMod val="50000"/>
                  </a:schemeClr>
                </a:solidFill>
              </a:rPr>
              <a:t>有多少不能被</a:t>
            </a:r>
            <a:r>
              <a:rPr lang="en-US" altLang="zh-CN" sz="2000" b="1">
                <a:solidFill>
                  <a:schemeClr val="tx2">
                    <a:lumMod val="50000"/>
                  </a:schemeClr>
                </a:solidFill>
              </a:rPr>
              <a:t>3</a:t>
            </a:r>
            <a:r>
              <a:rPr lang="zh-CN" altLang="en-US" sz="2000" b="1">
                <a:solidFill>
                  <a:schemeClr val="tx2">
                    <a:lumMod val="50000"/>
                  </a:schemeClr>
                </a:solidFill>
              </a:rPr>
              <a:t>或</a:t>
            </a:r>
            <a:r>
              <a:rPr lang="en-US" altLang="zh-CN" sz="2000" b="1">
                <a:solidFill>
                  <a:schemeClr val="tx2">
                    <a:lumMod val="50000"/>
                  </a:schemeClr>
                </a:solidFill>
              </a:rPr>
              <a:t>5</a:t>
            </a:r>
            <a:r>
              <a:rPr lang="zh-CN" altLang="en-US" sz="2000" b="1">
                <a:solidFill>
                  <a:schemeClr val="tx2">
                    <a:lumMod val="50000"/>
                  </a:schemeClr>
                </a:solidFill>
              </a:rPr>
              <a:t>整除？</a:t>
            </a:r>
          </a:p>
          <a:p>
            <a:pPr>
              <a:spcBef>
                <a:spcPts val="600"/>
              </a:spcBef>
              <a:spcAft>
                <a:spcPts val="600"/>
              </a:spcAft>
            </a:pPr>
            <a:r>
              <a:rPr lang="en-US" altLang="zh-CN" sz="2000" b="1">
                <a:solidFill>
                  <a:schemeClr val="tx2">
                    <a:lumMod val="50000"/>
                  </a:schemeClr>
                </a:solidFill>
              </a:rPr>
              <a:t>(3) </a:t>
            </a:r>
            <a:r>
              <a:rPr lang="zh-CN" altLang="en-US" sz="2000" b="1">
                <a:solidFill>
                  <a:schemeClr val="tx2">
                    <a:lumMod val="50000"/>
                  </a:schemeClr>
                </a:solidFill>
              </a:rPr>
              <a:t>有多少能被</a:t>
            </a:r>
            <a:r>
              <a:rPr lang="en-US" altLang="zh-CN" sz="2000" b="1">
                <a:solidFill>
                  <a:schemeClr val="tx2">
                    <a:lumMod val="50000"/>
                  </a:schemeClr>
                </a:solidFill>
              </a:rPr>
              <a:t>3</a:t>
            </a:r>
            <a:r>
              <a:rPr lang="zh-CN" altLang="en-US" sz="2000" b="1">
                <a:solidFill>
                  <a:schemeClr val="tx2">
                    <a:lumMod val="50000"/>
                  </a:schemeClr>
                </a:solidFill>
              </a:rPr>
              <a:t>但不被</a:t>
            </a:r>
            <a:r>
              <a:rPr lang="en-US" altLang="zh-CN" sz="2000" b="1">
                <a:solidFill>
                  <a:schemeClr val="tx2">
                    <a:lumMod val="50000"/>
                  </a:schemeClr>
                </a:solidFill>
              </a:rPr>
              <a:t>5</a:t>
            </a:r>
            <a:r>
              <a:rPr lang="zh-CN" altLang="en-US" sz="2000" b="1">
                <a:solidFill>
                  <a:schemeClr val="tx2">
                    <a:lumMod val="50000"/>
                  </a:schemeClr>
                </a:solidFill>
              </a:rPr>
              <a:t>整除？</a:t>
            </a:r>
          </a:p>
        </p:txBody>
      </p:sp>
      <mc:AlternateContent xmlns:mc="http://schemas.openxmlformats.org/markup-compatibility/2006" xmlns:a14="http://schemas.microsoft.com/office/drawing/2010/main">
        <mc:Choice Requires="a14">
          <p:sp>
            <p:nvSpPr>
              <p:cNvPr id="4" name="文本框 3"/>
              <p:cNvSpPr txBox="1"/>
              <p:nvPr/>
            </p:nvSpPr>
            <p:spPr>
              <a:xfrm>
                <a:off x="4943325" y="3036541"/>
                <a:ext cx="6391317" cy="242534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𝑼</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是三位正整数集合，即</a:t>
                </a:r>
                <a:r>
                  <a:rPr lang="en-US" altLang="zh-CN" sz="2000" b="1">
                    <a:solidFill>
                      <a:schemeClr val="accent2">
                        <a:lumMod val="50000"/>
                      </a:schemeClr>
                    </a:solidFill>
                    <a:latin typeface="+mn-ea"/>
                  </a:rPr>
                  <a:t>100</a:t>
                </a:r>
                <a:r>
                  <a:rPr lang="zh-CN" altLang="en-US" sz="2000" b="1">
                    <a:solidFill>
                      <a:schemeClr val="accent2">
                        <a:lumMod val="50000"/>
                      </a:schemeClr>
                    </a:solidFill>
                    <a:latin typeface="楷体" panose="02010609060101010101" pitchFamily="49" charset="-122"/>
                    <a:ea typeface="楷体" panose="02010609060101010101" pitchFamily="49" charset="-122"/>
                  </a:rPr>
                  <a:t>到</a:t>
                </a:r>
                <a:r>
                  <a:rPr lang="en-US" altLang="zh-CN" sz="2000" b="1">
                    <a:solidFill>
                      <a:schemeClr val="accent2">
                        <a:lumMod val="50000"/>
                      </a:schemeClr>
                    </a:solidFill>
                    <a:latin typeface="+mn-ea"/>
                  </a:rPr>
                  <a:t>999</a:t>
                </a:r>
                <a:r>
                  <a:rPr lang="zh-CN" altLang="en-US" sz="2000" b="1">
                    <a:solidFill>
                      <a:schemeClr val="accent2">
                        <a:lumMod val="50000"/>
                      </a:schemeClr>
                    </a:solidFill>
                    <a:latin typeface="楷体" panose="02010609060101010101" pitchFamily="49" charset="-122"/>
                    <a:ea typeface="楷体" panose="02010609060101010101" pitchFamily="49" charset="-122"/>
                  </a:rPr>
                  <a:t>的正整数集合</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分别是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𝑼</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中能被</a:t>
                </a:r>
                <a:r>
                  <a:rPr lang="en-US" altLang="zh-CN" sz="2000" b="1">
                    <a:solidFill>
                      <a:schemeClr val="accent2">
                        <a:lumMod val="50000"/>
                      </a:schemeClr>
                    </a:solidFill>
                    <a:latin typeface="+mn-ea"/>
                  </a:rPr>
                  <a:t>3</a:t>
                </a:r>
                <a:r>
                  <a:rPr lang="zh-CN" altLang="en-US" sz="2000" b="1">
                    <a:solidFill>
                      <a:schemeClr val="accent2">
                        <a:lumMod val="50000"/>
                      </a:schemeClr>
                    </a:solidFill>
                    <a:latin typeface="楷体" panose="02010609060101010101" pitchFamily="49" charset="-122"/>
                    <a:ea typeface="楷体" panose="02010609060101010101" pitchFamily="49" charset="-122"/>
                  </a:rPr>
                  <a:t>整除和</a:t>
                </a:r>
                <a:r>
                  <a:rPr lang="en-US" altLang="zh-CN" sz="2000" b="1">
                    <a:solidFill>
                      <a:schemeClr val="accent2">
                        <a:lumMod val="50000"/>
                      </a:schemeClr>
                    </a:solidFill>
                    <a:latin typeface="+mn-ea"/>
                  </a:rPr>
                  <a:t>5</a:t>
                </a:r>
                <a:r>
                  <a:rPr lang="zh-CN" altLang="en-US" sz="2000" b="1">
                    <a:solidFill>
                      <a:schemeClr val="accent2">
                        <a:lumMod val="50000"/>
                      </a:schemeClr>
                    </a:solidFill>
                    <a:latin typeface="楷体" panose="02010609060101010101" pitchFamily="49" charset="-122"/>
                    <a:ea typeface="楷体" panose="02010609060101010101" pitchFamily="49" charset="-122"/>
                  </a:rPr>
                  <a:t>整除的正整数集合</a:t>
                </a:r>
              </a:p>
              <a:p>
                <a:pPr>
                  <a:spcBef>
                    <a:spcPts val="600"/>
                  </a:spcBef>
                  <a:spcAft>
                    <a:spcPts val="600"/>
                  </a:spcAft>
                </a:pPr>
                <a:r>
                  <a:rPr lang="zh-CN" altLang="en-US" sz="2000" b="1">
                    <a:solidFill>
                      <a:schemeClr val="tx2">
                        <a:lumMod val="50000"/>
                      </a:schemeClr>
                    </a:solidFill>
                  </a:rPr>
                  <a:t>不能被</a:t>
                </a:r>
                <a:r>
                  <a:rPr lang="en-US" altLang="zh-CN" sz="2000" b="1">
                    <a:solidFill>
                      <a:schemeClr val="tx2">
                        <a:lumMod val="50000"/>
                      </a:schemeClr>
                    </a:solidFill>
                  </a:rPr>
                  <a:t>3</a:t>
                </a:r>
                <a:r>
                  <a:rPr lang="zh-CN" altLang="en-US" sz="2000" b="1">
                    <a:solidFill>
                      <a:schemeClr val="tx2">
                        <a:lumMod val="50000"/>
                      </a:schemeClr>
                    </a:solidFill>
                  </a:rPr>
                  <a:t>整除：</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e>
                        </m:ba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𝑼</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e>
                    </m:d>
                  </m:oMath>
                </a14:m>
                <a:endParaRPr lang="en-US" altLang="zh-CN" sz="2000" b="1"/>
              </a:p>
              <a:p>
                <a:pPr>
                  <a:spcBef>
                    <a:spcPts val="600"/>
                  </a:spcBef>
                  <a:spcAft>
                    <a:spcPts val="600"/>
                  </a:spcAft>
                </a:pPr>
                <a:r>
                  <a:rPr lang="zh-CN" altLang="en-US" sz="2000" b="1">
                    <a:solidFill>
                      <a:schemeClr val="tx2">
                        <a:lumMod val="50000"/>
                      </a:schemeClr>
                    </a:solidFill>
                  </a:rPr>
                  <a:t>不能被</a:t>
                </a:r>
                <a:r>
                  <a:rPr lang="en-US" altLang="zh-CN" sz="2000" b="1">
                    <a:solidFill>
                      <a:schemeClr val="tx2">
                        <a:lumMod val="50000"/>
                      </a:schemeClr>
                    </a:solidFill>
                  </a:rPr>
                  <a:t>3</a:t>
                </a:r>
                <a:r>
                  <a:rPr lang="zh-CN" altLang="en-US" sz="2000" b="1">
                    <a:solidFill>
                      <a:schemeClr val="tx2">
                        <a:lumMod val="50000"/>
                      </a:schemeClr>
                    </a:solidFill>
                  </a:rPr>
                  <a:t>整除或</a:t>
                </a:r>
                <a:r>
                  <a:rPr lang="en-US" altLang="zh-CN" sz="2000" b="1">
                    <a:solidFill>
                      <a:schemeClr val="tx2">
                        <a:lumMod val="50000"/>
                      </a:schemeClr>
                    </a:solidFill>
                  </a:rPr>
                  <a:t>5</a:t>
                </a:r>
                <a:r>
                  <a:rPr lang="zh-CN" altLang="en-US" sz="2000" b="1">
                    <a:solidFill>
                      <a:schemeClr val="tx2">
                        <a:lumMod val="50000"/>
                      </a:schemeClr>
                    </a:solidFill>
                  </a:rPr>
                  <a:t>整除：</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ba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𝑼</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oMath>
                </a14:m>
                <a:endParaRPr lang="en-US" altLang="zh-CN" sz="2000" b="1" i="1">
                  <a:solidFill>
                    <a:srgbClr val="C00000"/>
                  </a:solidFill>
                  <a:latin typeface="Cambria Math" panose="02040503050406030204" pitchFamily="18" charset="0"/>
                </a:endParaRPr>
              </a:p>
              <a:p>
                <a:pPr>
                  <a:spcBef>
                    <a:spcPts val="600"/>
                  </a:spcBef>
                  <a:spcAft>
                    <a:spcPts val="600"/>
                  </a:spcAft>
                </a:pPr>
                <a:r>
                  <a:rPr lang="zh-CN" altLang="en-US" sz="2000" b="1">
                    <a:solidFill>
                      <a:schemeClr val="tx2">
                        <a:lumMod val="50000"/>
                      </a:schemeClr>
                    </a:solidFill>
                  </a:rPr>
                  <a:t>能被</a:t>
                </a:r>
                <a:r>
                  <a:rPr lang="en-US" altLang="zh-CN" sz="2000" b="1">
                    <a:solidFill>
                      <a:schemeClr val="tx2">
                        <a:lumMod val="50000"/>
                      </a:schemeClr>
                    </a:solidFill>
                  </a:rPr>
                  <a:t>3</a:t>
                </a:r>
                <a:r>
                  <a:rPr lang="zh-CN" altLang="en-US" sz="2000" b="1">
                    <a:solidFill>
                      <a:schemeClr val="tx2">
                        <a:lumMod val="50000"/>
                      </a:schemeClr>
                    </a:solidFill>
                  </a:rPr>
                  <a:t>但不被</a:t>
                </a:r>
                <a:r>
                  <a:rPr lang="en-US" altLang="zh-CN" sz="2000" b="1">
                    <a:solidFill>
                      <a:schemeClr val="tx2">
                        <a:lumMod val="50000"/>
                      </a:schemeClr>
                    </a:solidFill>
                  </a:rPr>
                  <a:t>5</a:t>
                </a:r>
                <a:r>
                  <a:rPr lang="zh-CN" altLang="en-US" sz="2000" b="1">
                    <a:solidFill>
                      <a:schemeClr val="tx2">
                        <a:lumMod val="50000"/>
                      </a:schemeClr>
                    </a:solidFill>
                  </a:rPr>
                  <a:t>整除：</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𝑩</m:t>
                            </m:r>
                          </m:e>
                        </m:ba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oMath>
                </a14:m>
                <a:endParaRPr lang="en-US" altLang="zh-CN" sz="2000" b="1" i="1">
                  <a:solidFill>
                    <a:srgbClr val="C00000"/>
                  </a:solidFill>
                  <a:latin typeface="Cambria Math" panose="020405030504060302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943325" y="3036541"/>
                <a:ext cx="6391317" cy="2425344"/>
              </a:xfrm>
              <a:prstGeom prst="rect">
                <a:avLst/>
              </a:prstGeom>
              <a:blipFill rotWithShape="1">
                <a:blip r:embed="rId2"/>
                <a:stretch>
                  <a:fillRect l="-8" t="-25" r="8" b="10"/>
                </a:stretch>
              </a:blipFill>
            </p:spPr>
            <p:txBody>
              <a:bodyPr/>
              <a:lstStyle/>
              <a:p>
                <a:r>
                  <a:rPr lang="zh-CN" altLang="en-US">
                    <a:noFill/>
                  </a:rPr>
                  <a:t> </a:t>
                </a:r>
              </a:p>
            </p:txBody>
          </p:sp>
        </mc:Fallback>
      </mc:AlternateContent>
      <p:sp>
        <p:nvSpPr>
          <p:cNvPr id="11" name="文本框 10"/>
          <p:cNvSpPr txBox="1"/>
          <p:nvPr/>
        </p:nvSpPr>
        <p:spPr>
          <a:xfrm>
            <a:off x="1307957" y="4960946"/>
            <a:ext cx="2762979"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在右边空使用集合表达式正确表达要计数的集合</a:t>
            </a:r>
          </a:p>
        </p:txBody>
      </p:sp>
      <p:cxnSp>
        <p:nvCxnSpPr>
          <p:cNvPr id="13" name="直接连接符 12"/>
          <p:cNvCxnSpPr/>
          <p:nvPr/>
        </p:nvCxnSpPr>
        <p:spPr>
          <a:xfrm>
            <a:off x="6683672" y="4393160"/>
            <a:ext cx="1782751"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575047" y="4910440"/>
            <a:ext cx="272675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361249" y="5407333"/>
            <a:ext cx="386810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683672" y="3976330"/>
            <a:ext cx="1782750" cy="400110"/>
          </a:xfrm>
          <a:prstGeom prst="rect">
            <a:avLst/>
          </a:prstGeom>
          <a:solidFill>
            <a:srgbClr val="F0F7EC"/>
          </a:solidFill>
        </p:spPr>
        <p:txBody>
          <a:bodyPr wrap="square" rtlCol="0">
            <a:spAutoFit/>
          </a:bodyPr>
          <a:lstStyle/>
          <a:p>
            <a:pPr algn="ctr"/>
            <a:r>
              <a:rPr lang="en-US" altLang="zh-CN" sz="2000" b="1">
                <a:solidFill>
                  <a:srgbClr val="C00000"/>
                </a:solidFill>
              </a:rPr>
              <a:t>(1)</a:t>
            </a:r>
            <a:endParaRPr lang="zh-CN" altLang="en-US" sz="2000" b="1">
              <a:solidFill>
                <a:srgbClr val="C00000"/>
              </a:solidFill>
            </a:endParaRPr>
          </a:p>
        </p:txBody>
      </p:sp>
      <p:sp>
        <p:nvSpPr>
          <p:cNvPr id="19" name="文本框 18"/>
          <p:cNvSpPr txBox="1"/>
          <p:nvPr/>
        </p:nvSpPr>
        <p:spPr>
          <a:xfrm>
            <a:off x="7575046" y="4489943"/>
            <a:ext cx="2726753" cy="400110"/>
          </a:xfrm>
          <a:prstGeom prst="rect">
            <a:avLst/>
          </a:prstGeom>
          <a:solidFill>
            <a:srgbClr val="F0F7EC"/>
          </a:solidFill>
        </p:spPr>
        <p:txBody>
          <a:bodyPr wrap="square" rtlCol="0">
            <a:spAutoFit/>
          </a:bodyPr>
          <a:lstStyle/>
          <a:p>
            <a:pPr algn="ctr"/>
            <a:r>
              <a:rPr lang="en-US" altLang="zh-CN" sz="2000" b="1">
                <a:solidFill>
                  <a:srgbClr val="C00000"/>
                </a:solidFill>
              </a:rPr>
              <a:t>(2)</a:t>
            </a:r>
            <a:endParaRPr lang="zh-CN" altLang="en-US" sz="2000" b="1">
              <a:solidFill>
                <a:srgbClr val="C00000"/>
              </a:solidFill>
            </a:endParaRPr>
          </a:p>
        </p:txBody>
      </p:sp>
      <p:sp>
        <p:nvSpPr>
          <p:cNvPr id="20" name="文本框 19"/>
          <p:cNvSpPr txBox="1"/>
          <p:nvPr/>
        </p:nvSpPr>
        <p:spPr>
          <a:xfrm>
            <a:off x="7361250" y="4997476"/>
            <a:ext cx="3868108" cy="400110"/>
          </a:xfrm>
          <a:prstGeom prst="rect">
            <a:avLst/>
          </a:prstGeom>
          <a:solidFill>
            <a:srgbClr val="F0F7EC"/>
          </a:solidFill>
        </p:spPr>
        <p:txBody>
          <a:bodyPr wrap="square" rtlCol="0">
            <a:spAutoFit/>
          </a:bodyPr>
          <a:lstStyle/>
          <a:p>
            <a:pPr algn="ctr"/>
            <a:r>
              <a:rPr lang="en-US" altLang="zh-CN" sz="2000" b="1">
                <a:solidFill>
                  <a:srgbClr val="C00000"/>
                </a:solidFill>
              </a:rPr>
              <a:t>(3)</a:t>
            </a:r>
            <a:endParaRPr lang="zh-CN" altLang="en-US" sz="2000" b="1">
              <a:solidFill>
                <a:srgbClr val="C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集合语言表示计数集合练习</a:t>
            </a:r>
          </a:p>
        </p:txBody>
      </p:sp>
      <p:sp>
        <p:nvSpPr>
          <p:cNvPr id="2" name="文本框 1"/>
          <p:cNvSpPr txBox="1"/>
          <p:nvPr/>
        </p:nvSpPr>
        <p:spPr>
          <a:xfrm>
            <a:off x="795986" y="1155029"/>
            <a:ext cx="10600025" cy="1508105"/>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计数问题通常是针对有穷集合的元素进行计数</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rPr>
              <a:t>求解计数问题时应尽量使用集合语言表达所要计数的集合</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rPr>
              <a:t>熟练运用集合语言正确表达要计数的集合是用容斥原理求解计数问题的关键</a:t>
            </a:r>
          </a:p>
        </p:txBody>
      </p:sp>
      <p:sp>
        <p:nvSpPr>
          <p:cNvPr id="3" name="文本框 2"/>
          <p:cNvSpPr txBox="1"/>
          <p:nvPr/>
        </p:nvSpPr>
        <p:spPr>
          <a:xfrm>
            <a:off x="857358" y="3031466"/>
            <a:ext cx="3664178" cy="178510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在三位正整数中</a:t>
            </a:r>
          </a:p>
          <a:p>
            <a:pPr>
              <a:spcBef>
                <a:spcPts val="600"/>
              </a:spcBef>
              <a:spcAft>
                <a:spcPts val="600"/>
              </a:spcAft>
            </a:pPr>
            <a:r>
              <a:rPr lang="en-US" altLang="zh-CN" sz="2000" b="1">
                <a:solidFill>
                  <a:schemeClr val="tx2">
                    <a:lumMod val="50000"/>
                  </a:schemeClr>
                </a:solidFill>
              </a:rPr>
              <a:t>(1) </a:t>
            </a:r>
            <a:r>
              <a:rPr lang="zh-CN" altLang="en-US" sz="2000" b="1">
                <a:solidFill>
                  <a:schemeClr val="tx2">
                    <a:lumMod val="50000"/>
                  </a:schemeClr>
                </a:solidFill>
              </a:rPr>
              <a:t>有多少不能被</a:t>
            </a:r>
            <a:r>
              <a:rPr lang="en-US" altLang="zh-CN" sz="2000" b="1">
                <a:solidFill>
                  <a:schemeClr val="tx2">
                    <a:lumMod val="50000"/>
                  </a:schemeClr>
                </a:solidFill>
              </a:rPr>
              <a:t>3</a:t>
            </a:r>
            <a:r>
              <a:rPr lang="zh-CN" altLang="en-US" sz="2000" b="1">
                <a:solidFill>
                  <a:schemeClr val="tx2">
                    <a:lumMod val="50000"/>
                  </a:schemeClr>
                </a:solidFill>
              </a:rPr>
              <a:t>整除？</a:t>
            </a:r>
          </a:p>
          <a:p>
            <a:pPr>
              <a:spcBef>
                <a:spcPts val="600"/>
              </a:spcBef>
              <a:spcAft>
                <a:spcPts val="600"/>
              </a:spcAft>
            </a:pPr>
            <a:r>
              <a:rPr lang="en-US" altLang="zh-CN" sz="2000" b="1">
                <a:solidFill>
                  <a:schemeClr val="tx2">
                    <a:lumMod val="50000"/>
                  </a:schemeClr>
                </a:solidFill>
              </a:rPr>
              <a:t>(2) </a:t>
            </a:r>
            <a:r>
              <a:rPr lang="zh-CN" altLang="en-US" sz="2000" b="1">
                <a:solidFill>
                  <a:schemeClr val="tx2">
                    <a:lumMod val="50000"/>
                  </a:schemeClr>
                </a:solidFill>
              </a:rPr>
              <a:t>有多少不能被</a:t>
            </a:r>
            <a:r>
              <a:rPr lang="en-US" altLang="zh-CN" sz="2000" b="1">
                <a:solidFill>
                  <a:schemeClr val="tx2">
                    <a:lumMod val="50000"/>
                  </a:schemeClr>
                </a:solidFill>
              </a:rPr>
              <a:t>3</a:t>
            </a:r>
            <a:r>
              <a:rPr lang="zh-CN" altLang="en-US" sz="2000" b="1">
                <a:solidFill>
                  <a:schemeClr val="tx2">
                    <a:lumMod val="50000"/>
                  </a:schemeClr>
                </a:solidFill>
              </a:rPr>
              <a:t>或</a:t>
            </a:r>
            <a:r>
              <a:rPr lang="en-US" altLang="zh-CN" sz="2000" b="1">
                <a:solidFill>
                  <a:schemeClr val="tx2">
                    <a:lumMod val="50000"/>
                  </a:schemeClr>
                </a:solidFill>
              </a:rPr>
              <a:t>5</a:t>
            </a:r>
            <a:r>
              <a:rPr lang="zh-CN" altLang="en-US" sz="2000" b="1">
                <a:solidFill>
                  <a:schemeClr val="tx2">
                    <a:lumMod val="50000"/>
                  </a:schemeClr>
                </a:solidFill>
              </a:rPr>
              <a:t>整除？</a:t>
            </a:r>
          </a:p>
          <a:p>
            <a:pPr>
              <a:spcBef>
                <a:spcPts val="600"/>
              </a:spcBef>
              <a:spcAft>
                <a:spcPts val="600"/>
              </a:spcAft>
            </a:pPr>
            <a:r>
              <a:rPr lang="en-US" altLang="zh-CN" sz="2000" b="1">
                <a:solidFill>
                  <a:schemeClr val="tx2">
                    <a:lumMod val="50000"/>
                  </a:schemeClr>
                </a:solidFill>
              </a:rPr>
              <a:t>(3) </a:t>
            </a:r>
            <a:r>
              <a:rPr lang="zh-CN" altLang="en-US" sz="2000" b="1">
                <a:solidFill>
                  <a:schemeClr val="tx2">
                    <a:lumMod val="50000"/>
                  </a:schemeClr>
                </a:solidFill>
              </a:rPr>
              <a:t>有多少能被</a:t>
            </a:r>
            <a:r>
              <a:rPr lang="en-US" altLang="zh-CN" sz="2000" b="1">
                <a:solidFill>
                  <a:schemeClr val="tx2">
                    <a:lumMod val="50000"/>
                  </a:schemeClr>
                </a:solidFill>
              </a:rPr>
              <a:t>3</a:t>
            </a:r>
            <a:r>
              <a:rPr lang="zh-CN" altLang="en-US" sz="2000" b="1">
                <a:solidFill>
                  <a:schemeClr val="tx2">
                    <a:lumMod val="50000"/>
                  </a:schemeClr>
                </a:solidFill>
              </a:rPr>
              <a:t>但不被</a:t>
            </a:r>
            <a:r>
              <a:rPr lang="en-US" altLang="zh-CN" sz="2000" b="1">
                <a:solidFill>
                  <a:schemeClr val="tx2">
                    <a:lumMod val="50000"/>
                  </a:schemeClr>
                </a:solidFill>
              </a:rPr>
              <a:t>5</a:t>
            </a:r>
            <a:r>
              <a:rPr lang="zh-CN" altLang="en-US" sz="2000" b="1">
                <a:solidFill>
                  <a:schemeClr val="tx2">
                    <a:lumMod val="50000"/>
                  </a:schemeClr>
                </a:solidFill>
              </a:rPr>
              <a:t>整除？</a:t>
            </a:r>
          </a:p>
        </p:txBody>
      </p:sp>
      <mc:AlternateContent xmlns:mc="http://schemas.openxmlformats.org/markup-compatibility/2006" xmlns:a14="http://schemas.microsoft.com/office/drawing/2010/main">
        <mc:Choice Requires="a14">
          <p:sp>
            <p:nvSpPr>
              <p:cNvPr id="4" name="文本框 3"/>
              <p:cNvSpPr txBox="1"/>
              <p:nvPr/>
            </p:nvSpPr>
            <p:spPr>
              <a:xfrm>
                <a:off x="4943325" y="3036541"/>
                <a:ext cx="6391317" cy="242534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𝑼</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是三位正整数集合，即</a:t>
                </a:r>
                <a:r>
                  <a:rPr lang="en-US" altLang="zh-CN" sz="2000" b="1">
                    <a:solidFill>
                      <a:schemeClr val="accent2">
                        <a:lumMod val="50000"/>
                      </a:schemeClr>
                    </a:solidFill>
                    <a:latin typeface="+mn-ea"/>
                  </a:rPr>
                  <a:t>100</a:t>
                </a:r>
                <a:r>
                  <a:rPr lang="zh-CN" altLang="en-US" sz="2000" b="1">
                    <a:solidFill>
                      <a:schemeClr val="accent2">
                        <a:lumMod val="50000"/>
                      </a:schemeClr>
                    </a:solidFill>
                    <a:latin typeface="楷体" panose="02010609060101010101" pitchFamily="49" charset="-122"/>
                    <a:ea typeface="楷体" panose="02010609060101010101" pitchFamily="49" charset="-122"/>
                  </a:rPr>
                  <a:t>到</a:t>
                </a:r>
                <a:r>
                  <a:rPr lang="en-US" altLang="zh-CN" sz="2000" b="1">
                    <a:solidFill>
                      <a:schemeClr val="accent2">
                        <a:lumMod val="50000"/>
                      </a:schemeClr>
                    </a:solidFill>
                    <a:latin typeface="+mn-ea"/>
                  </a:rPr>
                  <a:t>999</a:t>
                </a:r>
                <a:r>
                  <a:rPr lang="zh-CN" altLang="en-US" sz="2000" b="1">
                    <a:solidFill>
                      <a:schemeClr val="accent2">
                        <a:lumMod val="50000"/>
                      </a:schemeClr>
                    </a:solidFill>
                    <a:latin typeface="楷体" panose="02010609060101010101" pitchFamily="49" charset="-122"/>
                    <a:ea typeface="楷体" panose="02010609060101010101" pitchFamily="49" charset="-122"/>
                  </a:rPr>
                  <a:t>的正整数集合</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a:spcBef>
                    <a:spcPts val="600"/>
                  </a:spcBef>
                  <a:spcAft>
                    <a:spcPts val="600"/>
                  </a:spcAft>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分别是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𝑼</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中能被</a:t>
                </a:r>
                <a:r>
                  <a:rPr lang="en-US" altLang="zh-CN" sz="2000" b="1">
                    <a:solidFill>
                      <a:schemeClr val="accent2">
                        <a:lumMod val="50000"/>
                      </a:schemeClr>
                    </a:solidFill>
                    <a:latin typeface="+mn-ea"/>
                  </a:rPr>
                  <a:t>3</a:t>
                </a:r>
                <a:r>
                  <a:rPr lang="zh-CN" altLang="en-US" sz="2000" b="1">
                    <a:solidFill>
                      <a:schemeClr val="accent2">
                        <a:lumMod val="50000"/>
                      </a:schemeClr>
                    </a:solidFill>
                    <a:latin typeface="楷体" panose="02010609060101010101" pitchFamily="49" charset="-122"/>
                    <a:ea typeface="楷体" panose="02010609060101010101" pitchFamily="49" charset="-122"/>
                  </a:rPr>
                  <a:t>整除和</a:t>
                </a:r>
                <a:r>
                  <a:rPr lang="en-US" altLang="zh-CN" sz="2000" b="1">
                    <a:solidFill>
                      <a:schemeClr val="accent2">
                        <a:lumMod val="50000"/>
                      </a:schemeClr>
                    </a:solidFill>
                    <a:latin typeface="+mn-ea"/>
                  </a:rPr>
                  <a:t>5</a:t>
                </a:r>
                <a:r>
                  <a:rPr lang="zh-CN" altLang="en-US" sz="2000" b="1">
                    <a:solidFill>
                      <a:schemeClr val="accent2">
                        <a:lumMod val="50000"/>
                      </a:schemeClr>
                    </a:solidFill>
                    <a:latin typeface="楷体" panose="02010609060101010101" pitchFamily="49" charset="-122"/>
                    <a:ea typeface="楷体" panose="02010609060101010101" pitchFamily="49" charset="-122"/>
                  </a:rPr>
                  <a:t>整除的正整数集合</a:t>
                </a:r>
              </a:p>
              <a:p>
                <a:pPr>
                  <a:spcBef>
                    <a:spcPts val="600"/>
                  </a:spcBef>
                  <a:spcAft>
                    <a:spcPts val="600"/>
                  </a:spcAft>
                </a:pPr>
                <a:r>
                  <a:rPr lang="zh-CN" altLang="en-US" sz="2000" b="1">
                    <a:solidFill>
                      <a:schemeClr val="tx2">
                        <a:lumMod val="50000"/>
                      </a:schemeClr>
                    </a:solidFill>
                  </a:rPr>
                  <a:t>不能被</a:t>
                </a:r>
                <a:r>
                  <a:rPr lang="en-US" altLang="zh-CN" sz="2000" b="1">
                    <a:solidFill>
                      <a:schemeClr val="tx2">
                        <a:lumMod val="50000"/>
                      </a:schemeClr>
                    </a:solidFill>
                  </a:rPr>
                  <a:t>3</a:t>
                </a:r>
                <a:r>
                  <a:rPr lang="zh-CN" altLang="en-US" sz="2000" b="1">
                    <a:solidFill>
                      <a:schemeClr val="tx2">
                        <a:lumMod val="50000"/>
                      </a:schemeClr>
                    </a:solidFill>
                  </a:rPr>
                  <a:t>整除：</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e>
                        </m:ba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𝑼</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e>
                    </m:d>
                  </m:oMath>
                </a14:m>
                <a:endParaRPr lang="en-US" altLang="zh-CN" sz="2000" b="1"/>
              </a:p>
              <a:p>
                <a:pPr>
                  <a:spcBef>
                    <a:spcPts val="600"/>
                  </a:spcBef>
                  <a:spcAft>
                    <a:spcPts val="600"/>
                  </a:spcAft>
                </a:pPr>
                <a:r>
                  <a:rPr lang="zh-CN" altLang="en-US" sz="2000" b="1">
                    <a:solidFill>
                      <a:schemeClr val="tx2">
                        <a:lumMod val="50000"/>
                      </a:schemeClr>
                    </a:solidFill>
                  </a:rPr>
                  <a:t>不能被</a:t>
                </a:r>
                <a:r>
                  <a:rPr lang="en-US" altLang="zh-CN" sz="2000" b="1">
                    <a:solidFill>
                      <a:schemeClr val="tx2">
                        <a:lumMod val="50000"/>
                      </a:schemeClr>
                    </a:solidFill>
                  </a:rPr>
                  <a:t>3</a:t>
                </a:r>
                <a:r>
                  <a:rPr lang="zh-CN" altLang="en-US" sz="2000" b="1">
                    <a:solidFill>
                      <a:schemeClr val="tx2">
                        <a:lumMod val="50000"/>
                      </a:schemeClr>
                    </a:solidFill>
                  </a:rPr>
                  <a:t>整除或</a:t>
                </a:r>
                <a:r>
                  <a:rPr lang="en-US" altLang="zh-CN" sz="2000" b="1">
                    <a:solidFill>
                      <a:schemeClr val="tx2">
                        <a:lumMod val="50000"/>
                      </a:schemeClr>
                    </a:solidFill>
                  </a:rPr>
                  <a:t>5</a:t>
                </a:r>
                <a:r>
                  <a:rPr lang="zh-CN" altLang="en-US" sz="2000" b="1">
                    <a:solidFill>
                      <a:schemeClr val="tx2">
                        <a:lumMod val="50000"/>
                      </a:schemeClr>
                    </a:solidFill>
                  </a:rPr>
                  <a:t>整除：</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ba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𝑼</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oMath>
                </a14:m>
                <a:endParaRPr lang="en-US" altLang="zh-CN" sz="2000" b="1" i="1">
                  <a:solidFill>
                    <a:srgbClr val="C00000"/>
                  </a:solidFill>
                  <a:latin typeface="Cambria Math" panose="02040503050406030204" pitchFamily="18" charset="0"/>
                </a:endParaRPr>
              </a:p>
              <a:p>
                <a:pPr>
                  <a:spcBef>
                    <a:spcPts val="600"/>
                  </a:spcBef>
                  <a:spcAft>
                    <a:spcPts val="600"/>
                  </a:spcAft>
                </a:pPr>
                <a:r>
                  <a:rPr lang="zh-CN" altLang="en-US" sz="2000" b="1">
                    <a:solidFill>
                      <a:schemeClr val="tx2">
                        <a:lumMod val="50000"/>
                      </a:schemeClr>
                    </a:solidFill>
                  </a:rPr>
                  <a:t>能被</a:t>
                </a:r>
                <a:r>
                  <a:rPr lang="en-US" altLang="zh-CN" sz="2000" b="1">
                    <a:solidFill>
                      <a:schemeClr val="tx2">
                        <a:lumMod val="50000"/>
                      </a:schemeClr>
                    </a:solidFill>
                  </a:rPr>
                  <a:t>3</a:t>
                </a:r>
                <a:r>
                  <a:rPr lang="zh-CN" altLang="en-US" sz="2000" b="1">
                    <a:solidFill>
                      <a:schemeClr val="tx2">
                        <a:lumMod val="50000"/>
                      </a:schemeClr>
                    </a:solidFill>
                  </a:rPr>
                  <a:t>但不被</a:t>
                </a:r>
                <a:r>
                  <a:rPr lang="en-US" altLang="zh-CN" sz="2000" b="1">
                    <a:solidFill>
                      <a:schemeClr val="tx2">
                        <a:lumMod val="50000"/>
                      </a:schemeClr>
                    </a:solidFill>
                  </a:rPr>
                  <a:t>5</a:t>
                </a:r>
                <a:r>
                  <a:rPr lang="zh-CN" altLang="en-US" sz="2000" b="1">
                    <a:solidFill>
                      <a:schemeClr val="tx2">
                        <a:lumMod val="50000"/>
                      </a:schemeClr>
                    </a:solidFill>
                  </a:rPr>
                  <a:t>整除：</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𝑩</m:t>
                            </m:r>
                          </m:e>
                        </m:ba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e>
                    </m:d>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oMath>
                </a14:m>
                <a:endParaRPr lang="en-US" altLang="zh-CN" sz="2000" b="1" i="1">
                  <a:solidFill>
                    <a:srgbClr val="C00000"/>
                  </a:solidFill>
                  <a:latin typeface="Cambria Math" panose="020405030504060302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943325" y="3036541"/>
                <a:ext cx="6391317" cy="2425344"/>
              </a:xfrm>
              <a:prstGeom prst="rect">
                <a:avLst/>
              </a:prstGeom>
              <a:blipFill rotWithShape="1">
                <a:blip r:embed="rId2"/>
                <a:stretch>
                  <a:fillRect l="-8" t="-25" r="8" b="10"/>
                </a:stretch>
              </a:blipFill>
            </p:spPr>
            <p:txBody>
              <a:bodyPr/>
              <a:lstStyle/>
              <a:p>
                <a:r>
                  <a:rPr lang="zh-CN" altLang="en-US">
                    <a:noFill/>
                  </a:rPr>
                  <a:t> </a:t>
                </a:r>
              </a:p>
            </p:txBody>
          </p:sp>
        </mc:Fallback>
      </mc:AlternateContent>
      <p:sp>
        <p:nvSpPr>
          <p:cNvPr id="6" name="文本框 5"/>
          <p:cNvSpPr txBox="1"/>
          <p:nvPr/>
        </p:nvSpPr>
        <p:spPr>
          <a:xfrm>
            <a:off x="857358" y="5630687"/>
            <a:ext cx="8668190" cy="400110"/>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使用集合表达式表示要计数的集合后，再利用前面的公式不难得到计数结果</a:t>
            </a:r>
          </a:p>
        </p:txBody>
      </p:sp>
      <p:cxnSp>
        <p:nvCxnSpPr>
          <p:cNvPr id="13" name="直接连接符 12"/>
          <p:cNvCxnSpPr/>
          <p:nvPr/>
        </p:nvCxnSpPr>
        <p:spPr>
          <a:xfrm>
            <a:off x="6683672" y="4393160"/>
            <a:ext cx="1782751"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575047" y="4910440"/>
            <a:ext cx="272675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361249" y="5407333"/>
            <a:ext cx="386810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33</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容斥原理综合运用练习</a:t>
            </a:r>
          </a:p>
        </p:txBody>
      </p:sp>
      <p:sp>
        <p:nvSpPr>
          <p:cNvPr id="2" name="文本框 1"/>
          <p:cNvSpPr txBox="1"/>
          <p:nvPr/>
        </p:nvSpPr>
        <p:spPr>
          <a:xfrm>
            <a:off x="728009" y="1297851"/>
            <a:ext cx="10735979" cy="2657138"/>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对</a:t>
            </a:r>
            <a:r>
              <a:rPr lang="en-US" altLang="zh-CN" sz="2000" b="1">
                <a:solidFill>
                  <a:srgbClr val="002060"/>
                </a:solidFill>
                <a:latin typeface="+mn-ea"/>
              </a:rPr>
              <a:t>60</a:t>
            </a:r>
            <a:r>
              <a:rPr lang="zh-CN" altLang="en-US" sz="2000" b="1">
                <a:solidFill>
                  <a:srgbClr val="002060"/>
                </a:solidFill>
                <a:latin typeface="楷体" panose="02010609060101010101" pitchFamily="49" charset="-122"/>
                <a:ea typeface="楷体" panose="02010609060101010101" pitchFamily="49" charset="-122"/>
              </a:rPr>
              <a:t>位计算机学院学生的调查表明</a:t>
            </a:r>
          </a:p>
          <a:p>
            <a:pPr marL="342900" indent="-342900">
              <a:spcBef>
                <a:spcPts val="600"/>
              </a:spcBef>
              <a:spcAft>
                <a:spcPts val="600"/>
              </a:spcAft>
              <a:buFont typeface="Arial" panose="020B0604020202020204" pitchFamily="34" charset="0"/>
              <a:buChar char="•"/>
            </a:pPr>
            <a:r>
              <a:rPr lang="en-US" altLang="zh-CN" sz="2000" b="1">
                <a:solidFill>
                  <a:schemeClr val="tx2">
                    <a:lumMod val="50000"/>
                  </a:schemeClr>
                </a:solidFill>
              </a:rPr>
              <a:t>25</a:t>
            </a:r>
            <a:r>
              <a:rPr lang="zh-CN" altLang="en-US" sz="2000" b="1">
                <a:solidFill>
                  <a:schemeClr val="tx2">
                    <a:lumMod val="50000"/>
                  </a:schemeClr>
                </a:solidFill>
              </a:rPr>
              <a:t>人阅读过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26</a:t>
            </a:r>
            <a:r>
              <a:rPr lang="zh-CN" altLang="en-US" sz="2000" b="1">
                <a:solidFill>
                  <a:schemeClr val="tx2">
                    <a:lumMod val="50000"/>
                  </a:schemeClr>
                </a:solidFill>
              </a:rPr>
              <a:t>人阅读过</a:t>
            </a:r>
            <a:r>
              <a:rPr lang="en-US" altLang="zh-CN" sz="2000" b="1">
                <a:solidFill>
                  <a:schemeClr val="tx2">
                    <a:lumMod val="50000"/>
                  </a:schemeClr>
                </a:solidFill>
              </a:rPr>
              <a:t>《</a:t>
            </a:r>
            <a:r>
              <a:rPr lang="zh-CN" altLang="en-US" sz="2000" b="1">
                <a:solidFill>
                  <a:schemeClr val="tx2">
                    <a:lumMod val="50000"/>
                  </a:schemeClr>
                </a:solidFill>
              </a:rPr>
              <a:t>软件学报</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26</a:t>
            </a:r>
            <a:r>
              <a:rPr lang="zh-CN" altLang="en-US" sz="2000" b="1">
                <a:solidFill>
                  <a:schemeClr val="tx2">
                    <a:lumMod val="50000"/>
                  </a:schemeClr>
                </a:solidFill>
              </a:rPr>
              <a:t>人阅读过</a:t>
            </a:r>
            <a:r>
              <a:rPr lang="en-US" altLang="zh-CN" sz="2000" b="1">
                <a:solidFill>
                  <a:schemeClr val="tx2">
                    <a:lumMod val="50000"/>
                  </a:schemeClr>
                </a:solidFill>
              </a:rPr>
              <a:t>《</a:t>
            </a:r>
            <a:r>
              <a:rPr lang="zh-CN" altLang="en-US" sz="2000" b="1">
                <a:solidFill>
                  <a:schemeClr val="tx2">
                    <a:lumMod val="50000"/>
                  </a:schemeClr>
                </a:solidFill>
              </a:rPr>
              <a:t>计算机研究与发展</a:t>
            </a:r>
            <a:r>
              <a:rPr lang="en-US" altLang="zh-CN" sz="2000" b="1">
                <a:solidFill>
                  <a:schemeClr val="tx2">
                    <a:lumMod val="50000"/>
                  </a:schemeClr>
                </a:solidFill>
              </a:rPr>
              <a:t>》</a:t>
            </a:r>
          </a:p>
          <a:p>
            <a:pPr marL="342900" indent="-342900">
              <a:lnSpc>
                <a:spcPts val="2800"/>
              </a:lnSpc>
              <a:spcBef>
                <a:spcPts val="600"/>
              </a:spcBef>
              <a:spcAft>
                <a:spcPts val="600"/>
              </a:spcAft>
              <a:buFont typeface="Arial" panose="020B0604020202020204" pitchFamily="34" charset="0"/>
              <a:buChar char="•"/>
            </a:pPr>
            <a:r>
              <a:rPr lang="en-US" altLang="zh-CN" sz="2000" b="1">
                <a:solidFill>
                  <a:schemeClr val="tx2">
                    <a:lumMod val="50000"/>
                  </a:schemeClr>
                </a:solidFill>
              </a:rPr>
              <a:t>11</a:t>
            </a:r>
            <a:r>
              <a:rPr lang="zh-CN" altLang="en-US" sz="2000" b="1">
                <a:solidFill>
                  <a:schemeClr val="tx2">
                    <a:lumMod val="50000"/>
                  </a:schemeClr>
                </a:solidFill>
              </a:rPr>
              <a:t>人同时阅读过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和</a:t>
            </a:r>
            <a:r>
              <a:rPr lang="en-US" altLang="zh-CN" sz="2000" b="1">
                <a:solidFill>
                  <a:schemeClr val="tx2">
                    <a:lumMod val="50000"/>
                  </a:schemeClr>
                </a:solidFill>
              </a:rPr>
              <a:t>《</a:t>
            </a:r>
            <a:r>
              <a:rPr lang="zh-CN" altLang="en-US" sz="2000" b="1">
                <a:solidFill>
                  <a:schemeClr val="tx2">
                    <a:lumMod val="50000"/>
                  </a:schemeClr>
                </a:solidFill>
              </a:rPr>
              <a:t>软件学报</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9</a:t>
            </a:r>
            <a:r>
              <a:rPr lang="zh-CN" altLang="en-US" sz="2000" b="1">
                <a:solidFill>
                  <a:schemeClr val="tx2">
                    <a:lumMod val="50000"/>
                  </a:schemeClr>
                </a:solidFill>
              </a:rPr>
              <a:t>人同时阅读过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和</a:t>
            </a:r>
            <a:r>
              <a:rPr lang="en-US" altLang="zh-CN" sz="2000" b="1">
                <a:solidFill>
                  <a:schemeClr val="tx2">
                    <a:lumMod val="50000"/>
                  </a:schemeClr>
                </a:solidFill>
              </a:rPr>
              <a:t>《</a:t>
            </a:r>
            <a:r>
              <a:rPr lang="zh-CN" altLang="en-US" sz="2000" b="1">
                <a:solidFill>
                  <a:schemeClr val="tx2">
                    <a:lumMod val="50000"/>
                  </a:schemeClr>
                </a:solidFill>
              </a:rPr>
              <a:t>计算机研究与发展</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8</a:t>
            </a:r>
            <a:r>
              <a:rPr lang="zh-CN" altLang="en-US" sz="2000" b="1">
                <a:solidFill>
                  <a:schemeClr val="tx2">
                    <a:lumMod val="50000"/>
                  </a:schemeClr>
                </a:solidFill>
              </a:rPr>
              <a:t>人同时阅读过</a:t>
            </a:r>
            <a:r>
              <a:rPr lang="en-US" altLang="zh-CN" sz="2000" b="1">
                <a:solidFill>
                  <a:schemeClr val="tx2">
                    <a:lumMod val="50000"/>
                  </a:schemeClr>
                </a:solidFill>
              </a:rPr>
              <a:t>《</a:t>
            </a:r>
            <a:r>
              <a:rPr lang="zh-CN" altLang="en-US" sz="2000" b="1">
                <a:solidFill>
                  <a:schemeClr val="tx2">
                    <a:lumMod val="50000"/>
                  </a:schemeClr>
                </a:solidFill>
              </a:rPr>
              <a:t>软件学报</a:t>
            </a:r>
            <a:r>
              <a:rPr lang="en-US" altLang="zh-CN" sz="2000" b="1">
                <a:solidFill>
                  <a:schemeClr val="tx2">
                    <a:lumMod val="50000"/>
                  </a:schemeClr>
                </a:solidFill>
              </a:rPr>
              <a:t>》</a:t>
            </a:r>
            <a:r>
              <a:rPr lang="zh-CN" altLang="en-US" sz="2000" b="1">
                <a:solidFill>
                  <a:schemeClr val="tx2">
                    <a:lumMod val="50000"/>
                  </a:schemeClr>
                </a:solidFill>
              </a:rPr>
              <a:t>和</a:t>
            </a:r>
            <a:r>
              <a:rPr lang="en-US" altLang="zh-CN" sz="2000" b="1">
                <a:solidFill>
                  <a:schemeClr val="tx2">
                    <a:lumMod val="50000"/>
                  </a:schemeClr>
                </a:solidFill>
              </a:rPr>
              <a:t>《</a:t>
            </a:r>
            <a:r>
              <a:rPr lang="zh-CN" altLang="en-US" sz="2000" b="1">
                <a:solidFill>
                  <a:schemeClr val="tx2">
                    <a:lumMod val="50000"/>
                  </a:schemeClr>
                </a:solidFill>
              </a:rPr>
              <a:t>计算机研究与发展</a:t>
            </a:r>
            <a:r>
              <a:rPr lang="en-US" altLang="zh-CN" sz="2000" b="1">
                <a:solidFill>
                  <a:schemeClr val="tx2">
                    <a:lumMod val="50000"/>
                  </a:schemeClr>
                </a:solidFill>
              </a:rPr>
              <a:t>》</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还有</a:t>
            </a:r>
            <a:r>
              <a:rPr lang="en-US" altLang="zh-CN" sz="2000" b="1">
                <a:solidFill>
                  <a:schemeClr val="tx2">
                    <a:lumMod val="50000"/>
                  </a:schemeClr>
                </a:solidFill>
              </a:rPr>
              <a:t>8</a:t>
            </a:r>
            <a:r>
              <a:rPr lang="zh-CN" altLang="en-US" sz="2000" b="1">
                <a:solidFill>
                  <a:schemeClr val="tx2">
                    <a:lumMod val="50000"/>
                  </a:schemeClr>
                </a:solidFill>
              </a:rPr>
              <a:t>人这三种期刊都没有阅读过</a:t>
            </a:r>
          </a:p>
          <a:p>
            <a:pPr>
              <a:spcBef>
                <a:spcPts val="600"/>
              </a:spcBef>
              <a:spcAft>
                <a:spcPts val="600"/>
              </a:spcAft>
            </a:pPr>
            <a:r>
              <a:rPr lang="zh-CN" altLang="en-US" sz="2000" b="1">
                <a:solidFill>
                  <a:schemeClr val="accent2">
                    <a:lumMod val="50000"/>
                  </a:schemeClr>
                </a:solidFill>
              </a:rPr>
              <a:t>试求：</a:t>
            </a:r>
            <a:r>
              <a:rPr lang="en-US" altLang="zh-CN" sz="2000" b="1">
                <a:solidFill>
                  <a:schemeClr val="accent2">
                    <a:lumMod val="50000"/>
                  </a:schemeClr>
                </a:solidFill>
              </a:rPr>
              <a:t>(1) </a:t>
            </a:r>
            <a:r>
              <a:rPr lang="zh-CN" altLang="en-US" sz="2000" b="1">
                <a:solidFill>
                  <a:schemeClr val="accent2">
                    <a:lumMod val="50000"/>
                  </a:schemeClr>
                </a:solidFill>
              </a:rPr>
              <a:t>三种期刊都阅读过的学生有多少？</a:t>
            </a:r>
            <a:r>
              <a:rPr lang="en-US" altLang="zh-CN" sz="2000" b="1">
                <a:solidFill>
                  <a:schemeClr val="accent2">
                    <a:lumMod val="50000"/>
                  </a:schemeClr>
                </a:solidFill>
              </a:rPr>
              <a:t>(2) </a:t>
            </a:r>
            <a:r>
              <a:rPr lang="zh-CN" altLang="en-US" sz="2000" b="1">
                <a:solidFill>
                  <a:schemeClr val="accent2">
                    <a:lumMod val="50000"/>
                  </a:schemeClr>
                </a:solidFill>
              </a:rPr>
              <a:t>只阅读过</a:t>
            </a:r>
            <a:r>
              <a:rPr lang="en-US" altLang="zh-CN" sz="2000" b="1">
                <a:solidFill>
                  <a:schemeClr val="accent2">
                    <a:lumMod val="50000"/>
                  </a:schemeClr>
                </a:solidFill>
              </a:rPr>
              <a:t>《</a:t>
            </a:r>
            <a:r>
              <a:rPr lang="zh-CN" altLang="en-US" sz="2000" b="1">
                <a:solidFill>
                  <a:schemeClr val="accent2">
                    <a:lumMod val="50000"/>
                  </a:schemeClr>
                </a:solidFill>
              </a:rPr>
              <a:t>计算机学报</a:t>
            </a:r>
            <a:r>
              <a:rPr lang="en-US" altLang="zh-CN" sz="2000" b="1">
                <a:solidFill>
                  <a:schemeClr val="accent2">
                    <a:lumMod val="50000"/>
                  </a:schemeClr>
                </a:solidFill>
              </a:rPr>
              <a:t>》</a:t>
            </a:r>
            <a:r>
              <a:rPr lang="zh-CN" altLang="en-US" sz="2000" b="1">
                <a:solidFill>
                  <a:schemeClr val="accent2">
                    <a:lumMod val="50000"/>
                  </a:schemeClr>
                </a:solidFill>
              </a:rPr>
              <a:t>的学生有多少？</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34</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容斥原理综合运用练习</a:t>
            </a:r>
          </a:p>
        </p:txBody>
      </p:sp>
      <p:sp>
        <p:nvSpPr>
          <p:cNvPr id="2" name="文本框 1"/>
          <p:cNvSpPr txBox="1"/>
          <p:nvPr/>
        </p:nvSpPr>
        <p:spPr>
          <a:xfrm>
            <a:off x="728009" y="1297851"/>
            <a:ext cx="10735979" cy="2657138"/>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对</a:t>
            </a:r>
            <a:r>
              <a:rPr lang="en-US" altLang="zh-CN" sz="2000" b="1">
                <a:solidFill>
                  <a:srgbClr val="002060"/>
                </a:solidFill>
                <a:latin typeface="+mn-ea"/>
              </a:rPr>
              <a:t>60</a:t>
            </a:r>
            <a:r>
              <a:rPr lang="zh-CN" altLang="en-US" sz="2000" b="1">
                <a:solidFill>
                  <a:srgbClr val="002060"/>
                </a:solidFill>
                <a:latin typeface="楷体" panose="02010609060101010101" pitchFamily="49" charset="-122"/>
                <a:ea typeface="楷体" panose="02010609060101010101" pitchFamily="49" charset="-122"/>
              </a:rPr>
              <a:t>位计算机学院学生的调查表明</a:t>
            </a:r>
          </a:p>
          <a:p>
            <a:pPr marL="342900" indent="-342900">
              <a:spcBef>
                <a:spcPts val="600"/>
              </a:spcBef>
              <a:spcAft>
                <a:spcPts val="600"/>
              </a:spcAft>
              <a:buFont typeface="Arial" panose="020B0604020202020204" pitchFamily="34" charset="0"/>
              <a:buChar char="•"/>
            </a:pPr>
            <a:r>
              <a:rPr lang="en-US" altLang="zh-CN" sz="2000" b="1">
                <a:solidFill>
                  <a:schemeClr val="tx2">
                    <a:lumMod val="50000"/>
                  </a:schemeClr>
                </a:solidFill>
              </a:rPr>
              <a:t>25</a:t>
            </a:r>
            <a:r>
              <a:rPr lang="zh-CN" altLang="en-US" sz="2000" b="1">
                <a:solidFill>
                  <a:schemeClr val="tx2">
                    <a:lumMod val="50000"/>
                  </a:schemeClr>
                </a:solidFill>
              </a:rPr>
              <a:t>人阅读过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26</a:t>
            </a:r>
            <a:r>
              <a:rPr lang="zh-CN" altLang="en-US" sz="2000" b="1">
                <a:solidFill>
                  <a:schemeClr val="tx2">
                    <a:lumMod val="50000"/>
                  </a:schemeClr>
                </a:solidFill>
              </a:rPr>
              <a:t>人阅读过</a:t>
            </a:r>
            <a:r>
              <a:rPr lang="en-US" altLang="zh-CN" sz="2000" b="1">
                <a:solidFill>
                  <a:schemeClr val="tx2">
                    <a:lumMod val="50000"/>
                  </a:schemeClr>
                </a:solidFill>
              </a:rPr>
              <a:t>《</a:t>
            </a:r>
            <a:r>
              <a:rPr lang="zh-CN" altLang="en-US" sz="2000" b="1">
                <a:solidFill>
                  <a:schemeClr val="tx2">
                    <a:lumMod val="50000"/>
                  </a:schemeClr>
                </a:solidFill>
              </a:rPr>
              <a:t>软件学报</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26</a:t>
            </a:r>
            <a:r>
              <a:rPr lang="zh-CN" altLang="en-US" sz="2000" b="1">
                <a:solidFill>
                  <a:schemeClr val="tx2">
                    <a:lumMod val="50000"/>
                  </a:schemeClr>
                </a:solidFill>
              </a:rPr>
              <a:t>人阅读过</a:t>
            </a:r>
            <a:r>
              <a:rPr lang="en-US" altLang="zh-CN" sz="2000" b="1">
                <a:solidFill>
                  <a:schemeClr val="tx2">
                    <a:lumMod val="50000"/>
                  </a:schemeClr>
                </a:solidFill>
              </a:rPr>
              <a:t>《</a:t>
            </a:r>
            <a:r>
              <a:rPr lang="zh-CN" altLang="en-US" sz="2000" b="1">
                <a:solidFill>
                  <a:schemeClr val="tx2">
                    <a:lumMod val="50000"/>
                  </a:schemeClr>
                </a:solidFill>
              </a:rPr>
              <a:t>计算机研究与发展</a:t>
            </a:r>
            <a:r>
              <a:rPr lang="en-US" altLang="zh-CN" sz="2000" b="1">
                <a:solidFill>
                  <a:schemeClr val="tx2">
                    <a:lumMod val="50000"/>
                  </a:schemeClr>
                </a:solidFill>
              </a:rPr>
              <a:t>》</a:t>
            </a:r>
          </a:p>
          <a:p>
            <a:pPr marL="342900" indent="-342900">
              <a:lnSpc>
                <a:spcPts val="2800"/>
              </a:lnSpc>
              <a:spcBef>
                <a:spcPts val="600"/>
              </a:spcBef>
              <a:spcAft>
                <a:spcPts val="600"/>
              </a:spcAft>
              <a:buFont typeface="Arial" panose="020B0604020202020204" pitchFamily="34" charset="0"/>
              <a:buChar char="•"/>
            </a:pPr>
            <a:r>
              <a:rPr lang="en-US" altLang="zh-CN" sz="2000" b="1">
                <a:solidFill>
                  <a:schemeClr val="tx2">
                    <a:lumMod val="50000"/>
                  </a:schemeClr>
                </a:solidFill>
              </a:rPr>
              <a:t>11</a:t>
            </a:r>
            <a:r>
              <a:rPr lang="zh-CN" altLang="en-US" sz="2000" b="1">
                <a:solidFill>
                  <a:schemeClr val="tx2">
                    <a:lumMod val="50000"/>
                  </a:schemeClr>
                </a:solidFill>
              </a:rPr>
              <a:t>人同时阅读过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和</a:t>
            </a:r>
            <a:r>
              <a:rPr lang="en-US" altLang="zh-CN" sz="2000" b="1">
                <a:solidFill>
                  <a:schemeClr val="tx2">
                    <a:lumMod val="50000"/>
                  </a:schemeClr>
                </a:solidFill>
              </a:rPr>
              <a:t>《</a:t>
            </a:r>
            <a:r>
              <a:rPr lang="zh-CN" altLang="en-US" sz="2000" b="1">
                <a:solidFill>
                  <a:schemeClr val="tx2">
                    <a:lumMod val="50000"/>
                  </a:schemeClr>
                </a:solidFill>
              </a:rPr>
              <a:t>软件学报</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9</a:t>
            </a:r>
            <a:r>
              <a:rPr lang="zh-CN" altLang="en-US" sz="2000" b="1">
                <a:solidFill>
                  <a:schemeClr val="tx2">
                    <a:lumMod val="50000"/>
                  </a:schemeClr>
                </a:solidFill>
              </a:rPr>
              <a:t>人同时阅读过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和</a:t>
            </a:r>
            <a:r>
              <a:rPr lang="en-US" altLang="zh-CN" sz="2000" b="1">
                <a:solidFill>
                  <a:schemeClr val="tx2">
                    <a:lumMod val="50000"/>
                  </a:schemeClr>
                </a:solidFill>
              </a:rPr>
              <a:t>《</a:t>
            </a:r>
            <a:r>
              <a:rPr lang="zh-CN" altLang="en-US" sz="2000" b="1">
                <a:solidFill>
                  <a:schemeClr val="tx2">
                    <a:lumMod val="50000"/>
                  </a:schemeClr>
                </a:solidFill>
              </a:rPr>
              <a:t>计算机研究与发展</a:t>
            </a:r>
            <a:r>
              <a:rPr lang="en-US" altLang="zh-CN" sz="2000" b="1">
                <a:solidFill>
                  <a:schemeClr val="tx2">
                    <a:lumMod val="50000"/>
                  </a:schemeClr>
                </a:solidFill>
              </a:rPr>
              <a:t>》</a:t>
            </a:r>
            <a:r>
              <a:rPr lang="zh-CN" altLang="en-US" sz="2000" b="1">
                <a:solidFill>
                  <a:schemeClr val="tx2">
                    <a:lumMod val="50000"/>
                  </a:schemeClr>
                </a:solidFill>
              </a:rPr>
              <a:t>，</a:t>
            </a:r>
            <a:r>
              <a:rPr lang="en-US" altLang="zh-CN" sz="2000" b="1">
                <a:solidFill>
                  <a:schemeClr val="tx2">
                    <a:lumMod val="50000"/>
                  </a:schemeClr>
                </a:solidFill>
              </a:rPr>
              <a:t>8</a:t>
            </a:r>
            <a:r>
              <a:rPr lang="zh-CN" altLang="en-US" sz="2000" b="1">
                <a:solidFill>
                  <a:schemeClr val="tx2">
                    <a:lumMod val="50000"/>
                  </a:schemeClr>
                </a:solidFill>
              </a:rPr>
              <a:t>人同时阅读过</a:t>
            </a:r>
            <a:r>
              <a:rPr lang="en-US" altLang="zh-CN" sz="2000" b="1">
                <a:solidFill>
                  <a:schemeClr val="tx2">
                    <a:lumMod val="50000"/>
                  </a:schemeClr>
                </a:solidFill>
              </a:rPr>
              <a:t>《</a:t>
            </a:r>
            <a:r>
              <a:rPr lang="zh-CN" altLang="en-US" sz="2000" b="1">
                <a:solidFill>
                  <a:schemeClr val="tx2">
                    <a:lumMod val="50000"/>
                  </a:schemeClr>
                </a:solidFill>
              </a:rPr>
              <a:t>软件学报</a:t>
            </a:r>
            <a:r>
              <a:rPr lang="en-US" altLang="zh-CN" sz="2000" b="1">
                <a:solidFill>
                  <a:schemeClr val="tx2">
                    <a:lumMod val="50000"/>
                  </a:schemeClr>
                </a:solidFill>
              </a:rPr>
              <a:t>》</a:t>
            </a:r>
            <a:r>
              <a:rPr lang="zh-CN" altLang="en-US" sz="2000" b="1">
                <a:solidFill>
                  <a:schemeClr val="tx2">
                    <a:lumMod val="50000"/>
                  </a:schemeClr>
                </a:solidFill>
              </a:rPr>
              <a:t>和</a:t>
            </a:r>
            <a:r>
              <a:rPr lang="en-US" altLang="zh-CN" sz="2000" b="1">
                <a:solidFill>
                  <a:schemeClr val="tx2">
                    <a:lumMod val="50000"/>
                  </a:schemeClr>
                </a:solidFill>
              </a:rPr>
              <a:t>《</a:t>
            </a:r>
            <a:r>
              <a:rPr lang="zh-CN" altLang="en-US" sz="2000" b="1">
                <a:solidFill>
                  <a:schemeClr val="tx2">
                    <a:lumMod val="50000"/>
                  </a:schemeClr>
                </a:solidFill>
              </a:rPr>
              <a:t>计算机研究与发展</a:t>
            </a:r>
            <a:r>
              <a:rPr lang="en-US" altLang="zh-CN" sz="2000" b="1">
                <a:solidFill>
                  <a:schemeClr val="tx2">
                    <a:lumMod val="50000"/>
                  </a:schemeClr>
                </a:solidFill>
              </a:rPr>
              <a:t>》</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还有</a:t>
            </a:r>
            <a:r>
              <a:rPr lang="en-US" altLang="zh-CN" sz="2000" b="1">
                <a:solidFill>
                  <a:schemeClr val="tx2">
                    <a:lumMod val="50000"/>
                  </a:schemeClr>
                </a:solidFill>
              </a:rPr>
              <a:t>8</a:t>
            </a:r>
            <a:r>
              <a:rPr lang="zh-CN" altLang="en-US" sz="2000" b="1">
                <a:solidFill>
                  <a:schemeClr val="tx2">
                    <a:lumMod val="50000"/>
                  </a:schemeClr>
                </a:solidFill>
              </a:rPr>
              <a:t>人这三种期刊都没有阅读过</a:t>
            </a:r>
          </a:p>
          <a:p>
            <a:pPr>
              <a:spcBef>
                <a:spcPts val="600"/>
              </a:spcBef>
              <a:spcAft>
                <a:spcPts val="600"/>
              </a:spcAft>
            </a:pPr>
            <a:r>
              <a:rPr lang="zh-CN" altLang="en-US" sz="2000" b="1">
                <a:solidFill>
                  <a:schemeClr val="accent2">
                    <a:lumMod val="50000"/>
                  </a:schemeClr>
                </a:solidFill>
              </a:rPr>
              <a:t>试求：</a:t>
            </a:r>
            <a:r>
              <a:rPr lang="en-US" altLang="zh-CN" sz="2000" b="1">
                <a:solidFill>
                  <a:schemeClr val="accent2">
                    <a:lumMod val="50000"/>
                  </a:schemeClr>
                </a:solidFill>
              </a:rPr>
              <a:t>(1) </a:t>
            </a:r>
            <a:r>
              <a:rPr lang="zh-CN" altLang="en-US" sz="2000" b="1">
                <a:solidFill>
                  <a:schemeClr val="accent2">
                    <a:lumMod val="50000"/>
                  </a:schemeClr>
                </a:solidFill>
              </a:rPr>
              <a:t>三种期刊都阅读过的学生有多少？</a:t>
            </a:r>
            <a:r>
              <a:rPr lang="en-US" altLang="zh-CN" sz="2000" b="1">
                <a:solidFill>
                  <a:schemeClr val="accent2">
                    <a:lumMod val="50000"/>
                  </a:schemeClr>
                </a:solidFill>
              </a:rPr>
              <a:t>(2) </a:t>
            </a:r>
            <a:r>
              <a:rPr lang="zh-CN" altLang="en-US" sz="2000" b="1">
                <a:solidFill>
                  <a:schemeClr val="accent2">
                    <a:lumMod val="50000"/>
                  </a:schemeClr>
                </a:solidFill>
              </a:rPr>
              <a:t>只阅读过</a:t>
            </a:r>
            <a:r>
              <a:rPr lang="en-US" altLang="zh-CN" sz="2000" b="1">
                <a:solidFill>
                  <a:schemeClr val="accent2">
                    <a:lumMod val="50000"/>
                  </a:schemeClr>
                </a:solidFill>
              </a:rPr>
              <a:t>《</a:t>
            </a:r>
            <a:r>
              <a:rPr lang="zh-CN" altLang="en-US" sz="2000" b="1">
                <a:solidFill>
                  <a:schemeClr val="accent2">
                    <a:lumMod val="50000"/>
                  </a:schemeClr>
                </a:solidFill>
              </a:rPr>
              <a:t>计算机学报</a:t>
            </a:r>
            <a:r>
              <a:rPr lang="en-US" altLang="zh-CN" sz="2000" b="1">
                <a:solidFill>
                  <a:schemeClr val="accent2">
                    <a:lumMod val="50000"/>
                  </a:schemeClr>
                </a:solidFill>
              </a:rPr>
              <a:t>》</a:t>
            </a:r>
            <a:r>
              <a:rPr lang="zh-CN" altLang="en-US" sz="2000" b="1">
                <a:solidFill>
                  <a:schemeClr val="accent2">
                    <a:lumMod val="50000"/>
                  </a:schemeClr>
                </a:solidFill>
              </a:rPr>
              <a:t>的学生有多少？</a:t>
            </a:r>
          </a:p>
        </p:txBody>
      </p:sp>
      <p:grpSp>
        <p:nvGrpSpPr>
          <p:cNvPr id="4" name="组合 3"/>
          <p:cNvGrpSpPr/>
          <p:nvPr/>
        </p:nvGrpSpPr>
        <p:grpSpPr>
          <a:xfrm>
            <a:off x="728009" y="4341330"/>
            <a:ext cx="9964831" cy="1498501"/>
            <a:chOff x="728008" y="4275546"/>
            <a:chExt cx="9964831" cy="1498501"/>
          </a:xfrm>
        </p:grpSpPr>
        <mc:AlternateContent xmlns:mc="http://schemas.openxmlformats.org/markup-compatibility/2006" xmlns:a14="http://schemas.microsoft.com/office/drawing/2010/main">
          <mc:Choice Requires="a14">
            <p:sp>
              <p:nvSpPr>
                <p:cNvPr id="12" name="文本框 11"/>
                <p:cNvSpPr txBox="1"/>
                <p:nvPr/>
              </p:nvSpPr>
              <p:spPr>
                <a:xfrm>
                  <a:off x="728008" y="4275546"/>
                  <a:ext cx="3515071" cy="307777"/>
                </a:xfrm>
                <a:prstGeom prst="rect">
                  <a:avLst/>
                </a:prstGeom>
                <a:solidFill>
                  <a:schemeClr val="accent6">
                    <a:lumMod val="20000"/>
                    <a:lumOff val="80000"/>
                    <a:alpha val="50000"/>
                  </a:schemeClr>
                </a:solidFill>
              </p:spPr>
              <p:txBody>
                <a:bodyPr wrap="square" tIns="0" bIns="0" rtlCol="0">
                  <a:spAutoFit/>
                </a:bodyPr>
                <a:lstStyle/>
                <a:p>
                  <a:r>
                    <a:rPr lang="zh-CN" altLang="en-US" sz="2000" b="1">
                      <a:solidFill>
                        <a:srgbClr val="002060"/>
                      </a:solidFill>
                      <a:latin typeface="楷体" panose="02010609060101010101" pitchFamily="49" charset="-122"/>
                      <a:ea typeface="楷体" panose="02010609060101010101" pitchFamily="49" charset="-122"/>
                    </a:rPr>
                    <a:t>全集</a:t>
                  </a:r>
                  <a14:m>
                    <m:oMath xmlns:m="http://schemas.openxmlformats.org/officeDocument/2006/math">
                      <m:r>
                        <a:rPr lang="en-US" altLang="zh-CN" sz="2000" b="1" i="1" smtClean="0">
                          <a:solidFill>
                            <a:srgbClr val="002060"/>
                          </a:solidFill>
                          <a:latin typeface="Cambria Math" panose="02040503050406030204" pitchFamily="18" charset="0"/>
                        </a:rPr>
                        <m:t>𝑼</m:t>
                      </m:r>
                    </m:oMath>
                  </a14:m>
                  <a:r>
                    <a:rPr lang="zh-CN" altLang="en-US" sz="2000" b="1">
                      <a:solidFill>
                        <a:srgbClr val="002060"/>
                      </a:solidFill>
                      <a:latin typeface="楷体" panose="02010609060101010101" pitchFamily="49" charset="-122"/>
                      <a:ea typeface="楷体" panose="02010609060101010101" pitchFamily="49" charset="-122"/>
                    </a:rPr>
                    <a:t>是计算机学院学生集合</a:t>
                  </a:r>
                </a:p>
              </p:txBody>
            </p:sp>
          </mc:Choice>
          <mc:Fallback xmlns="">
            <p:sp>
              <p:nvSpPr>
                <p:cNvPr id="12" name="文本框 11"/>
                <p:cNvSpPr txBox="1">
                  <a:spLocks noRot="1" noChangeAspect="1" noMove="1" noResize="1" noEditPoints="1" noAdjustHandles="1" noChangeArrowheads="1" noChangeShapeType="1" noTextEdit="1"/>
                </p:cNvSpPr>
                <p:nvPr/>
              </p:nvSpPr>
              <p:spPr>
                <a:xfrm>
                  <a:off x="728008" y="4275546"/>
                  <a:ext cx="3515071" cy="307777"/>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728008" y="4671664"/>
                  <a:ext cx="5021529" cy="307777"/>
                </a:xfrm>
                <a:prstGeom prst="rect">
                  <a:avLst/>
                </a:prstGeom>
                <a:solidFill>
                  <a:schemeClr val="accent6">
                    <a:lumMod val="20000"/>
                    <a:lumOff val="80000"/>
                    <a:alpha val="50000"/>
                  </a:schemeClr>
                </a:solidFill>
              </p:spPr>
              <p:txBody>
                <a:bodyPr wrap="square" tIns="0" bIns="0" rtlCol="0">
                  <a:spAutoFit/>
                </a:bodyPr>
                <a:lstStyle/>
                <a:p>
                  <a:r>
                    <a:rPr lang="zh-CN" altLang="en-US" sz="2000" b="1" i="0">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是阅读过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计算机学报</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的学生集合</a:t>
                  </a:r>
                </a:p>
              </p:txBody>
            </p:sp>
          </mc:Choice>
          <mc:Fallback xmlns="">
            <p:sp>
              <p:nvSpPr>
                <p:cNvPr id="13" name="文本框 12"/>
                <p:cNvSpPr txBox="1">
                  <a:spLocks noRot="1" noChangeAspect="1" noMove="1" noResize="1" noEditPoints="1" noAdjustHandles="1" noChangeArrowheads="1" noChangeShapeType="1" noTextEdit="1"/>
                </p:cNvSpPr>
                <p:nvPr/>
              </p:nvSpPr>
              <p:spPr>
                <a:xfrm>
                  <a:off x="728008" y="4671664"/>
                  <a:ext cx="5021529" cy="307777"/>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728009" y="5068967"/>
                  <a:ext cx="4758391" cy="307777"/>
                </a:xfrm>
                <a:prstGeom prst="rect">
                  <a:avLst/>
                </a:prstGeom>
                <a:solidFill>
                  <a:schemeClr val="accent6">
                    <a:lumMod val="20000"/>
                    <a:lumOff val="80000"/>
                    <a:alpha val="50000"/>
                  </a:schemeClr>
                </a:solidFill>
              </p:spPr>
              <p:txBody>
                <a:bodyPr wrap="square" tIns="0" bIns="0" rtlCol="0">
                  <a:spAutoFit/>
                </a:bodyPr>
                <a:lstStyle/>
                <a:p>
                  <a:r>
                    <a:rPr lang="zh-CN" altLang="en-US" sz="2000" b="1" i="0">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是阅读过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软件学报</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的学生集合</a:t>
                  </a:r>
                </a:p>
              </p:txBody>
            </p:sp>
          </mc:Choice>
          <mc:Fallback xmlns="">
            <p:sp>
              <p:nvSpPr>
                <p:cNvPr id="14" name="文本框 13"/>
                <p:cNvSpPr txBox="1">
                  <a:spLocks noRot="1" noChangeAspect="1" noMove="1" noResize="1" noEditPoints="1" noAdjustHandles="1" noChangeArrowheads="1" noChangeShapeType="1" noTextEdit="1"/>
                </p:cNvSpPr>
                <p:nvPr/>
              </p:nvSpPr>
              <p:spPr>
                <a:xfrm>
                  <a:off x="728009" y="5068967"/>
                  <a:ext cx="4758391" cy="307777"/>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728009" y="5466270"/>
                  <a:ext cx="5731997" cy="307777"/>
                </a:xfrm>
                <a:prstGeom prst="rect">
                  <a:avLst/>
                </a:prstGeom>
                <a:solidFill>
                  <a:schemeClr val="accent6">
                    <a:lumMod val="20000"/>
                    <a:lumOff val="80000"/>
                    <a:alpha val="50000"/>
                  </a:schemeClr>
                </a:solidFill>
              </p:spPr>
              <p:txBody>
                <a:bodyPr wrap="square" tIns="0" bIns="0" rtlCol="0">
                  <a:spAutoFit/>
                </a:bodyPr>
                <a:lstStyle/>
                <a:p>
                  <a:r>
                    <a:rPr lang="zh-CN" altLang="en-US" sz="2000" b="1" i="0">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000" b="1" i="1" smtClean="0">
                          <a:solidFill>
                            <a:srgbClr val="002060"/>
                          </a:solidFill>
                          <a:latin typeface="Cambria Math" panose="02040503050406030204" pitchFamily="18" charset="0"/>
                        </a:rPr>
                        <m:t>𝑪</m:t>
                      </m:r>
                    </m:oMath>
                  </a14:m>
                  <a:r>
                    <a:rPr lang="zh-CN" altLang="en-US" sz="2000" b="1">
                      <a:solidFill>
                        <a:srgbClr val="002060"/>
                      </a:solidFill>
                      <a:latin typeface="楷体" panose="02010609060101010101" pitchFamily="49" charset="-122"/>
                      <a:ea typeface="楷体" panose="02010609060101010101" pitchFamily="49" charset="-122"/>
                    </a:rPr>
                    <a:t>是阅读过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计算机研究与发展</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的学生集合</a:t>
                  </a:r>
                </a:p>
              </p:txBody>
            </p:sp>
          </mc:Choice>
          <mc:Fallback xmlns="">
            <p:sp>
              <p:nvSpPr>
                <p:cNvPr id="15" name="文本框 14"/>
                <p:cNvSpPr txBox="1">
                  <a:spLocks noRot="1" noChangeAspect="1" noMove="1" noResize="1" noEditPoints="1" noAdjustHandles="1" noChangeArrowheads="1" noChangeShapeType="1" noTextEdit="1"/>
                </p:cNvSpPr>
                <p:nvPr/>
              </p:nvSpPr>
              <p:spPr>
                <a:xfrm>
                  <a:off x="728009" y="5466270"/>
                  <a:ext cx="5731997" cy="307777"/>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6807947" y="4277818"/>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𝑼</m:t>
                        </m:r>
                        <m:r>
                          <a:rPr lang="en-US" altLang="zh-CN" sz="2000" b="1" i="1" smtClean="0">
                            <a:solidFill>
                              <a:schemeClr val="accent2">
                                <a:lumMod val="50000"/>
                              </a:schemeClr>
                            </a:solidFill>
                            <a:latin typeface="Cambria Math" panose="02040503050406030204" pitchFamily="18" charset="0"/>
                          </a:rPr>
                          <m:t>| = </m:t>
                        </m:r>
                        <m:r>
                          <a:rPr lang="en-US" altLang="zh-CN" sz="2000" b="1" i="1" smtClean="0">
                            <a:solidFill>
                              <a:schemeClr val="accent2">
                                <a:lumMod val="50000"/>
                              </a:schemeClr>
                            </a:solidFill>
                            <a:latin typeface="Cambria Math" panose="02040503050406030204" pitchFamily="18" charset="0"/>
                          </a:rPr>
                          <m:t>𝟔𝟎</m:t>
                        </m:r>
                      </m:oMath>
                    </m:oMathPara>
                  </a14:m>
                  <a:endParaRPr lang="zh-CN" altLang="en-US" sz="2000" b="1">
                    <a:solidFill>
                      <a:schemeClr val="accent2">
                        <a:lumMod val="50000"/>
                      </a:schemeClr>
                    </a:solidFill>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6807947" y="4277818"/>
                  <a:ext cx="1315684" cy="307777"/>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6807947" y="4671664"/>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𝟐𝟓</m:t>
                        </m:r>
                      </m:oMath>
                    </m:oMathPara>
                  </a14:m>
                  <a:endParaRPr lang="zh-CN" altLang="en-US" sz="2000" b="1">
                    <a:solidFill>
                      <a:schemeClr val="accent2">
                        <a:lumMod val="50000"/>
                      </a:schemeClr>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6807947" y="4671664"/>
                  <a:ext cx="1315684" cy="307777"/>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6807947" y="5068966"/>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𝟐𝟔</m:t>
                        </m:r>
                      </m:oMath>
                    </m:oMathPara>
                  </a14:m>
                  <a:endParaRPr lang="zh-CN" altLang="en-US" sz="2000" b="1">
                    <a:solidFill>
                      <a:schemeClr val="accent2">
                        <a:lumMod val="50000"/>
                      </a:schemeClr>
                    </a:solidFill>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6807947" y="5068966"/>
                  <a:ext cx="1315684" cy="307777"/>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6807947" y="5464215"/>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𝟐𝟔</m:t>
                        </m:r>
                      </m:oMath>
                    </m:oMathPara>
                  </a14:m>
                  <a:endParaRPr lang="zh-CN" altLang="en-US" sz="2000" b="1">
                    <a:solidFill>
                      <a:schemeClr val="accent2">
                        <a:lumMod val="50000"/>
                      </a:schemeClr>
                    </a:solidFill>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6807947" y="5464215"/>
                  <a:ext cx="1315684" cy="307777"/>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8871357" y="4671664"/>
                  <a:ext cx="1821481"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𝟏𝟏</m:t>
                        </m:r>
                      </m:oMath>
                    </m:oMathPara>
                  </a14:m>
                  <a:endParaRPr lang="zh-CN" altLang="en-US" sz="2000" b="1">
                    <a:solidFill>
                      <a:schemeClr val="accent2">
                        <a:lumMod val="50000"/>
                      </a:schemeClr>
                    </a:solidFill>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8871357" y="4671664"/>
                  <a:ext cx="1821481" cy="307777"/>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8871357" y="5070890"/>
                  <a:ext cx="1821482"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𝟗</m:t>
                        </m:r>
                      </m:oMath>
                    </m:oMathPara>
                  </a14:m>
                  <a:endParaRPr lang="zh-CN" altLang="en-US" sz="2000" b="1">
                    <a:solidFill>
                      <a:schemeClr val="accent2">
                        <a:lumMod val="50000"/>
                      </a:schemeClr>
                    </a:solidFill>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8871357" y="5070890"/>
                  <a:ext cx="1821482" cy="307777"/>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8871357" y="5464743"/>
                  <a:ext cx="1821481"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𝟖</m:t>
                        </m:r>
                      </m:oMath>
                    </m:oMathPara>
                  </a14:m>
                  <a:endParaRPr lang="zh-CN" altLang="en-US" sz="2000" b="1">
                    <a:solidFill>
                      <a:schemeClr val="accent2">
                        <a:lumMod val="50000"/>
                      </a:schemeClr>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8871357" y="5464743"/>
                  <a:ext cx="1821481" cy="307777"/>
                </a:xfrm>
                <a:prstGeom prst="rect">
                  <a:avLst/>
                </a:prstGeom>
                <a:blipFill rotWithShape="1">
                  <a:blip r:embed="rId12"/>
                </a:blipFill>
              </p:spPr>
              <p:txBody>
                <a:bodyPr/>
                <a:lstStyle/>
                <a:p>
                  <a:r>
                    <a:rPr lang="zh-CN" altLang="en-US">
                      <a:noFill/>
                    </a:rPr>
                    <a:t> </a:t>
                  </a:r>
                </a:p>
              </p:txBody>
            </p:sp>
          </mc:Fallback>
        </mc:AlternateContent>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 name="文本框 62"/>
              <p:cNvSpPr txBox="1"/>
              <p:nvPr/>
            </p:nvSpPr>
            <p:spPr>
              <a:xfrm>
                <a:off x="698978" y="1973140"/>
                <a:ext cx="9833068" cy="436402"/>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三种期刊都没有阅读过的学生集合是 </a:t>
                </a:r>
                <a14:m>
                  <m:oMath xmlns:m="http://schemas.openxmlformats.org/officeDocument/2006/math">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𝑩</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𝑪</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e>
                    </m:bar>
                  </m:oMath>
                </a14:m>
                <a:r>
                  <a:rPr lang="zh-CN" altLang="en-US" sz="2000" b="1">
                    <a:solidFill>
                      <a:schemeClr val="tx2">
                        <a:lumMod val="50000"/>
                      </a:schemeClr>
                    </a:solidFill>
                  </a:rPr>
                  <a:t>，根据已知条件有</a:t>
                </a:r>
                <a:r>
                  <a:rPr lang="en-US" altLang="zh-CN" sz="2000" b="1">
                    <a:solidFill>
                      <a:schemeClr val="tx2">
                        <a:lumMod val="50000"/>
                      </a:schemeClr>
                    </a:solidFill>
                  </a:rPr>
                  <a:t>8</a:t>
                </a:r>
                <a:r>
                  <a:rPr lang="zh-CN" altLang="en-US" sz="2000" b="1">
                    <a:solidFill>
                      <a:schemeClr val="tx2">
                        <a:lumMod val="50000"/>
                      </a:schemeClr>
                    </a:solidFill>
                  </a:rPr>
                  <a:t>人。</a:t>
                </a:r>
              </a:p>
            </p:txBody>
          </p:sp>
        </mc:Choice>
        <mc:Fallback xmlns="">
          <p:sp>
            <p:nvSpPr>
              <p:cNvPr id="63" name="文本框 62"/>
              <p:cNvSpPr txBox="1">
                <a:spLocks noRot="1" noChangeAspect="1" noMove="1" noResize="1" noEditPoints="1" noAdjustHandles="1" noChangeArrowheads="1" noChangeShapeType="1" noTextEdit="1"/>
              </p:cNvSpPr>
              <p:nvPr/>
            </p:nvSpPr>
            <p:spPr>
              <a:xfrm>
                <a:off x="698978" y="1973140"/>
                <a:ext cx="9833068" cy="436402"/>
              </a:xfrm>
              <a:prstGeom prst="rect">
                <a:avLst/>
              </a:prstGeom>
              <a:blipFill rotWithShape="1">
                <a:blip r:embed="rId2"/>
                <a:stretch>
                  <a:fillRect l="-5" t="-45" r="6" b="81"/>
                </a:stretch>
              </a:blipFill>
            </p:spPr>
            <p:txBody>
              <a:bodyPr/>
              <a:lstStyle/>
              <a:p>
                <a:r>
                  <a:rPr lang="zh-CN" altLang="en-US">
                    <a:noFill/>
                  </a:rPr>
                  <a:t> </a:t>
                </a:r>
              </a:p>
            </p:txBody>
          </p:sp>
        </mc:Fallback>
      </mc:AlternateContent>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35</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容斥原理综合运用练习</a:t>
            </a:r>
          </a:p>
        </p:txBody>
      </p:sp>
      <p:grpSp>
        <p:nvGrpSpPr>
          <p:cNvPr id="36" name="组合 35"/>
          <p:cNvGrpSpPr/>
          <p:nvPr/>
        </p:nvGrpSpPr>
        <p:grpSpPr>
          <a:xfrm>
            <a:off x="698975" y="2511491"/>
            <a:ext cx="10602746" cy="1329192"/>
            <a:chOff x="656406" y="2403459"/>
            <a:chExt cx="10602746" cy="1329192"/>
          </a:xfrm>
        </p:grpSpPr>
        <mc:AlternateContent xmlns:mc="http://schemas.openxmlformats.org/markup-compatibility/2006" xmlns:a14="http://schemas.microsoft.com/office/drawing/2010/main">
          <mc:Choice Requires="a14">
            <p:sp>
              <p:nvSpPr>
                <p:cNvPr id="21" name="文本框 20"/>
                <p:cNvSpPr txBox="1"/>
                <p:nvPr/>
              </p:nvSpPr>
              <p:spPr>
                <a:xfrm>
                  <a:off x="656407" y="2938615"/>
                  <a:ext cx="7658713"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三种期刊都阅读过的学生集合是 </a:t>
                  </a:r>
                  <a14:m>
                    <m:oMath xmlns:m="http://schemas.openxmlformats.org/officeDocument/2006/math">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oMath>
                  </a14:m>
                  <a:r>
                    <a:rPr lang="zh-CN" altLang="en-US" sz="2000" b="1">
                      <a:solidFill>
                        <a:schemeClr val="tx2">
                          <a:lumMod val="50000"/>
                        </a:schemeClr>
                      </a:solidFill>
                    </a:rPr>
                    <a:t> ，根据容斥原理有：</a:t>
                  </a:r>
                </a:p>
              </p:txBody>
            </p:sp>
          </mc:Choice>
          <mc:Fallback xmlns="">
            <p:sp>
              <p:nvSpPr>
                <p:cNvPr id="21" name="文本框 20"/>
                <p:cNvSpPr txBox="1">
                  <a:spLocks noRot="1" noChangeAspect="1" noMove="1" noResize="1" noEditPoints="1" noAdjustHandles="1" noChangeArrowheads="1" noChangeShapeType="1" noTextEdit="1"/>
                </p:cNvSpPr>
                <p:nvPr/>
              </p:nvSpPr>
              <p:spPr>
                <a:xfrm>
                  <a:off x="656407" y="2938615"/>
                  <a:ext cx="7658713" cy="40011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656407" y="2403459"/>
                  <a:ext cx="10602745" cy="436402"/>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阅读过三种期刊之一的学生集合是 </a:t>
                  </a:r>
                  <a14:m>
                    <m:oMath xmlns:m="http://schemas.openxmlformats.org/officeDocument/2006/math">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oMath>
                  </a14:m>
                  <a:r>
                    <a:rPr lang="en-US" altLang="zh-CN" sz="2000" b="1">
                      <a:solidFill>
                        <a:schemeClr val="tx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𝑼</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𝑨</m:t>
                          </m:r>
                        </m:e>
                      </m:ba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𝑩</m:t>
                          </m:r>
                        </m:e>
                      </m:ba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𝑪</m:t>
                          </m:r>
                        </m:e>
                      </m:bar>
                    </m:oMath>
                  </a14:m>
                  <a:r>
                    <a:rPr lang="zh-CN" altLang="en-US" sz="2000" b="1">
                      <a:solidFill>
                        <a:schemeClr val="tx2">
                          <a:lumMod val="50000"/>
                        </a:schemeClr>
                      </a:solidFill>
                    </a:rPr>
                    <a:t>，因此</a:t>
                  </a:r>
                  <a14:m>
                    <m:oMath xmlns:m="http://schemas.openxmlformats.org/officeDocument/2006/math">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𝟓𝟐</m:t>
                      </m:r>
                    </m:oMath>
                  </a14:m>
                  <a:r>
                    <a:rPr lang="zh-CN" altLang="en-US" sz="2000" b="1">
                      <a:solidFill>
                        <a:schemeClr val="tx2">
                          <a:lumMod val="50000"/>
                        </a:schemeClr>
                      </a:solidFill>
                    </a:rPr>
                    <a:t>         。</a:t>
                  </a:r>
                </a:p>
              </p:txBody>
            </p:sp>
          </mc:Choice>
          <mc:Fallback xmlns="">
            <p:sp>
              <p:nvSpPr>
                <p:cNvPr id="23" name="文本框 22"/>
                <p:cNvSpPr txBox="1">
                  <a:spLocks noRot="1" noChangeAspect="1" noMove="1" noResize="1" noEditPoints="1" noAdjustHandles="1" noChangeArrowheads="1" noChangeShapeType="1" noTextEdit="1"/>
                </p:cNvSpPr>
                <p:nvPr/>
              </p:nvSpPr>
              <p:spPr>
                <a:xfrm>
                  <a:off x="656407" y="2403459"/>
                  <a:ext cx="10602745" cy="43640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656406" y="3332541"/>
                  <a:ext cx="9629139" cy="400110"/>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e>
                      </m:d>
                      <m:r>
                        <a:rPr lang="en-US" altLang="zh-CN" sz="2000" b="1" i="1">
                          <a:solidFill>
                            <a:srgbClr val="C00000"/>
                          </a:solidFill>
                          <a:latin typeface="Cambria Math" panose="02040503050406030204" pitchFamily="18" charset="0"/>
                        </a:rPr>
                        <m:t>=</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𝟑</m:t>
                      </m:r>
                    </m:oMath>
                  </a14:m>
                  <a:r>
                    <a:rPr lang="en-US" altLang="zh-CN" sz="2000" b="1">
                      <a:solidFill>
                        <a:schemeClr val="tx2">
                          <a:lumMod val="50000"/>
                        </a:schemeClr>
                      </a:solidFill>
                    </a:rPr>
                    <a:t> </a:t>
                  </a:r>
                  <a:endParaRPr lang="zh-CN" altLang="en-US" sz="2000" b="1">
                    <a:solidFill>
                      <a:schemeClr val="tx2">
                        <a:lumMod val="50000"/>
                      </a:schemeClr>
                    </a:solidFill>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656406" y="3332541"/>
                  <a:ext cx="9629139" cy="400110"/>
                </a:xfrm>
                <a:prstGeom prst="rect">
                  <a:avLst/>
                </a:prstGeom>
                <a:blipFill rotWithShape="1">
                  <a:blip r:embed="rId5"/>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6" name="文本框 25"/>
              <p:cNvSpPr txBox="1"/>
              <p:nvPr/>
            </p:nvSpPr>
            <p:spPr>
              <a:xfrm>
                <a:off x="698976" y="4076441"/>
                <a:ext cx="10163694" cy="442685"/>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只阅读过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的学生集合是</a:t>
                </a:r>
                <a14:m>
                  <m:oMath xmlns:m="http://schemas.openxmlformats.org/officeDocument/2006/math">
                    <m:r>
                      <a:rPr lang="en-US" altLang="zh-CN" sz="2000" b="1" i="0"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𝑩</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𝑪</m:t>
                        </m:r>
                      </m:e>
                    </m:ba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oMath>
                </a14:m>
                <a:r>
                  <a:rPr lang="zh-CN" altLang="en-US" sz="2000" b="1" i="0">
                    <a:solidFill>
                      <a:srgbClr val="C00000"/>
                    </a:solidFill>
                    <a:latin typeface="+mj-lt"/>
                  </a:rPr>
                  <a:t>且</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𝑩</m:t>
                        </m:r>
                      </m:e>
                    </m:ba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𝑪</m:t>
                        </m:r>
                      </m:e>
                    </m:bar>
                    <m:r>
                      <a:rPr lang="en-US" altLang="zh-CN" sz="2000" b="1" i="1" smtClean="0">
                        <a:solidFill>
                          <a:srgbClr val="C00000"/>
                        </a:solidFill>
                        <a:latin typeface="Cambria Math" panose="02040503050406030204" pitchFamily="18" charset="0"/>
                      </a:rPr>
                      <m:t>|</m:t>
                    </m:r>
                    <m:r>
                      <a:rPr lang="en-US" altLang="zh-CN" sz="2000" b="1" i="0" smtClean="0">
                        <a:solidFill>
                          <a:srgbClr val="C00000"/>
                        </a:solidFill>
                        <a:latin typeface="Cambria Math" panose="02040503050406030204" pitchFamily="18" charset="0"/>
                      </a:rPr>
                      <m:t>=      </m:t>
                    </m:r>
                    <m:r>
                      <a:rPr lang="en-US" altLang="zh-CN" sz="2000" b="1" i="0" smtClean="0">
                        <a:solidFill>
                          <a:srgbClr val="C00000"/>
                        </a:solidFill>
                        <a:latin typeface="Cambria Math" panose="02040503050406030204" pitchFamily="18" charset="0"/>
                      </a:rPr>
                      <m:t>𝟖</m:t>
                    </m:r>
                    <m:r>
                      <a:rPr lang="en-US" altLang="zh-CN" sz="2000" b="1" i="0" smtClean="0">
                        <a:solidFill>
                          <a:srgbClr val="C00000"/>
                        </a:solidFill>
                        <a:latin typeface="Cambria Math" panose="02040503050406030204" pitchFamily="18" charset="0"/>
                      </a:rPr>
                      <m:t>        </m:t>
                    </m:r>
                  </m:oMath>
                </a14:m>
                <a:r>
                  <a:rPr lang="zh-CN" altLang="en-US" sz="2000" b="1">
                    <a:solidFill>
                      <a:schemeClr val="tx2">
                        <a:lumMod val="50000"/>
                      </a:schemeClr>
                    </a:solidFill>
                  </a:rPr>
                  <a:t>。</a:t>
                </a:r>
              </a:p>
            </p:txBody>
          </p:sp>
        </mc:Choice>
        <mc:Fallback xmlns="">
          <p:sp>
            <p:nvSpPr>
              <p:cNvPr id="26" name="文本框 25"/>
              <p:cNvSpPr txBox="1">
                <a:spLocks noRot="1" noChangeAspect="1" noMove="1" noResize="1" noEditPoints="1" noAdjustHandles="1" noChangeArrowheads="1" noChangeShapeType="1" noTextEdit="1"/>
              </p:cNvSpPr>
              <p:nvPr/>
            </p:nvSpPr>
            <p:spPr>
              <a:xfrm>
                <a:off x="698976" y="4076441"/>
                <a:ext cx="10163694" cy="442685"/>
              </a:xfrm>
              <a:prstGeom prst="rect">
                <a:avLst/>
              </a:prstGeom>
              <a:blipFill rotWithShape="1">
                <a:blip r:embed="rId6"/>
                <a:stretch>
                  <a:fillRect l="-5" t="-85" r="4" b="105"/>
                </a:stretch>
              </a:blipFill>
            </p:spPr>
            <p:txBody>
              <a:bodyPr/>
              <a:lstStyle/>
              <a:p>
                <a:r>
                  <a:rPr lang="zh-CN" altLang="en-US">
                    <a:noFill/>
                  </a:rPr>
                  <a:t> </a:t>
                </a:r>
              </a:p>
            </p:txBody>
          </p:sp>
        </mc:Fallback>
      </mc:AlternateContent>
      <p:cxnSp>
        <p:nvCxnSpPr>
          <p:cNvPr id="40" name="直接连接符 39"/>
          <p:cNvCxnSpPr/>
          <p:nvPr/>
        </p:nvCxnSpPr>
        <p:spPr>
          <a:xfrm>
            <a:off x="4899588" y="2348495"/>
            <a:ext cx="254060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17813" y="2897792"/>
            <a:ext cx="114597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532131" y="2896695"/>
            <a:ext cx="114597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8426717" y="2916860"/>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9934986" y="2896695"/>
            <a:ext cx="93913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368694" y="3378446"/>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97417" y="3787404"/>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366661" y="3787404"/>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9053624" y="3779062"/>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5124809" y="4438668"/>
            <a:ext cx="255329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8021500" y="4438668"/>
            <a:ext cx="115539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899588" y="2044170"/>
            <a:ext cx="2540602" cy="276999"/>
          </a:xfrm>
          <a:prstGeom prst="rect">
            <a:avLst/>
          </a:prstGeom>
          <a:solidFill>
            <a:srgbClr val="F0F7EC"/>
          </a:solidFill>
        </p:spPr>
        <p:txBody>
          <a:bodyPr wrap="square" tIns="0" bIns="0" rtlCol="0">
            <a:spAutoFit/>
          </a:bodyPr>
          <a:lstStyle/>
          <a:p>
            <a:pPr algn="ctr"/>
            <a:r>
              <a:rPr lang="en-US" altLang="zh-CN" b="1">
                <a:solidFill>
                  <a:srgbClr val="C00000"/>
                </a:solidFill>
              </a:rPr>
              <a:t>(1)</a:t>
            </a:r>
            <a:endParaRPr lang="zh-CN" altLang="en-US" b="1">
              <a:solidFill>
                <a:srgbClr val="C00000"/>
              </a:solidFill>
            </a:endParaRPr>
          </a:p>
        </p:txBody>
      </p:sp>
      <p:sp>
        <p:nvSpPr>
          <p:cNvPr id="39" name="文本框 38"/>
          <p:cNvSpPr txBox="1"/>
          <p:nvPr/>
        </p:nvSpPr>
        <p:spPr>
          <a:xfrm>
            <a:off x="4650705" y="2610907"/>
            <a:ext cx="1145977" cy="276999"/>
          </a:xfrm>
          <a:prstGeom prst="rect">
            <a:avLst/>
          </a:prstGeom>
          <a:solidFill>
            <a:srgbClr val="F0F7EC"/>
          </a:solidFill>
        </p:spPr>
        <p:txBody>
          <a:bodyPr wrap="square" tIns="0" bIns="0" rtlCol="0">
            <a:spAutoFit/>
          </a:bodyPr>
          <a:lstStyle/>
          <a:p>
            <a:pPr algn="ctr"/>
            <a:r>
              <a:rPr lang="en-US" altLang="zh-CN" b="1">
                <a:solidFill>
                  <a:srgbClr val="C00000"/>
                </a:solidFill>
              </a:rPr>
              <a:t>(2)</a:t>
            </a:r>
            <a:endParaRPr lang="zh-CN" altLang="en-US" b="1">
              <a:solidFill>
                <a:srgbClr val="C00000"/>
              </a:solidFill>
            </a:endParaRPr>
          </a:p>
        </p:txBody>
      </p:sp>
      <p:sp>
        <p:nvSpPr>
          <p:cNvPr id="44" name="文本框 43"/>
          <p:cNvSpPr txBox="1"/>
          <p:nvPr/>
        </p:nvSpPr>
        <p:spPr>
          <a:xfrm>
            <a:off x="6532130" y="2599050"/>
            <a:ext cx="1145977" cy="276999"/>
          </a:xfrm>
          <a:prstGeom prst="rect">
            <a:avLst/>
          </a:prstGeom>
          <a:solidFill>
            <a:srgbClr val="F0F7EC"/>
          </a:solidFill>
        </p:spPr>
        <p:txBody>
          <a:bodyPr wrap="square" tIns="0" bIns="0" rtlCol="0">
            <a:spAutoFit/>
          </a:bodyPr>
          <a:lstStyle/>
          <a:p>
            <a:pPr algn="ctr"/>
            <a:r>
              <a:rPr lang="en-US" altLang="zh-CN" b="1">
                <a:solidFill>
                  <a:srgbClr val="0000FF"/>
                </a:solidFill>
              </a:rPr>
              <a:t>(1)</a:t>
            </a:r>
            <a:endParaRPr lang="zh-CN" altLang="en-US" b="1">
              <a:solidFill>
                <a:srgbClr val="0000FF"/>
              </a:solidFill>
            </a:endParaRPr>
          </a:p>
        </p:txBody>
      </p:sp>
      <p:sp>
        <p:nvSpPr>
          <p:cNvPr id="46" name="文本框 45"/>
          <p:cNvSpPr txBox="1"/>
          <p:nvPr/>
        </p:nvSpPr>
        <p:spPr>
          <a:xfrm>
            <a:off x="8492736" y="2616981"/>
            <a:ext cx="1085439" cy="276999"/>
          </a:xfrm>
          <a:prstGeom prst="rect">
            <a:avLst/>
          </a:prstGeom>
          <a:solidFill>
            <a:srgbClr val="F0F7EC"/>
          </a:solidFill>
        </p:spPr>
        <p:txBody>
          <a:bodyPr wrap="square" tIns="0" bIns="0" rtlCol="0">
            <a:spAutoFit/>
          </a:bodyPr>
          <a:lstStyle/>
          <a:p>
            <a:pPr algn="ctr"/>
            <a:r>
              <a:rPr lang="en-US" altLang="zh-CN" b="1">
                <a:solidFill>
                  <a:srgbClr val="0000FF"/>
                </a:solidFill>
              </a:rPr>
              <a:t>(2)</a:t>
            </a:r>
            <a:endParaRPr lang="zh-CN" altLang="en-US" b="1">
              <a:solidFill>
                <a:srgbClr val="0000FF"/>
              </a:solidFill>
            </a:endParaRPr>
          </a:p>
        </p:txBody>
      </p:sp>
      <p:sp>
        <p:nvSpPr>
          <p:cNvPr id="52" name="文本框 51"/>
          <p:cNvSpPr txBox="1"/>
          <p:nvPr/>
        </p:nvSpPr>
        <p:spPr>
          <a:xfrm>
            <a:off x="9934984" y="2613118"/>
            <a:ext cx="927685" cy="276999"/>
          </a:xfrm>
          <a:prstGeom prst="rect">
            <a:avLst/>
          </a:prstGeom>
          <a:solidFill>
            <a:srgbClr val="F0F7EC"/>
          </a:solidFill>
        </p:spPr>
        <p:txBody>
          <a:bodyPr wrap="square" tIns="0" bIns="0" rtlCol="0">
            <a:spAutoFit/>
          </a:bodyPr>
          <a:lstStyle/>
          <a:p>
            <a:pPr algn="ctr"/>
            <a:r>
              <a:rPr lang="en-US" altLang="zh-CN" b="1">
                <a:solidFill>
                  <a:srgbClr val="C00000"/>
                </a:solidFill>
              </a:rPr>
              <a:t>(3)</a:t>
            </a:r>
            <a:endParaRPr lang="zh-CN" altLang="en-US" b="1">
              <a:solidFill>
                <a:srgbClr val="C00000"/>
              </a:solidFill>
            </a:endParaRPr>
          </a:p>
        </p:txBody>
      </p:sp>
      <p:sp>
        <p:nvSpPr>
          <p:cNvPr id="53" name="文本框 52"/>
          <p:cNvSpPr txBox="1"/>
          <p:nvPr/>
        </p:nvSpPr>
        <p:spPr>
          <a:xfrm>
            <a:off x="4404326" y="3084397"/>
            <a:ext cx="1145977" cy="276999"/>
          </a:xfrm>
          <a:prstGeom prst="rect">
            <a:avLst/>
          </a:prstGeom>
          <a:solidFill>
            <a:srgbClr val="F0F7EC"/>
          </a:solidFill>
        </p:spPr>
        <p:txBody>
          <a:bodyPr wrap="square" tIns="0" bIns="0" rtlCol="0">
            <a:spAutoFit/>
          </a:bodyPr>
          <a:lstStyle/>
          <a:p>
            <a:pPr algn="ctr"/>
            <a:r>
              <a:rPr lang="en-US" altLang="zh-CN" b="1">
                <a:solidFill>
                  <a:srgbClr val="C00000"/>
                </a:solidFill>
              </a:rPr>
              <a:t>(4)</a:t>
            </a:r>
            <a:endParaRPr lang="zh-CN" altLang="en-US" b="1">
              <a:solidFill>
                <a:srgbClr val="C00000"/>
              </a:solidFill>
            </a:endParaRPr>
          </a:p>
        </p:txBody>
      </p:sp>
      <p:sp>
        <p:nvSpPr>
          <p:cNvPr id="55" name="文本框 54"/>
          <p:cNvSpPr txBox="1"/>
          <p:nvPr/>
        </p:nvSpPr>
        <p:spPr>
          <a:xfrm>
            <a:off x="863199" y="3486530"/>
            <a:ext cx="1084011" cy="276999"/>
          </a:xfrm>
          <a:prstGeom prst="rect">
            <a:avLst/>
          </a:prstGeom>
          <a:solidFill>
            <a:srgbClr val="F0F7EC"/>
          </a:solidFill>
        </p:spPr>
        <p:txBody>
          <a:bodyPr wrap="square" tIns="0" bIns="0" rtlCol="0">
            <a:spAutoFit/>
          </a:bodyPr>
          <a:lstStyle/>
          <a:p>
            <a:pPr algn="ctr"/>
            <a:r>
              <a:rPr lang="en-US" altLang="zh-CN" b="1">
                <a:solidFill>
                  <a:srgbClr val="0000FF"/>
                </a:solidFill>
              </a:rPr>
              <a:t>(4)</a:t>
            </a:r>
            <a:endParaRPr lang="zh-CN" altLang="en-US" b="1">
              <a:solidFill>
                <a:srgbClr val="0000FF"/>
              </a:solidFill>
            </a:endParaRPr>
          </a:p>
        </p:txBody>
      </p:sp>
      <p:sp>
        <p:nvSpPr>
          <p:cNvPr id="56" name="文本框 55"/>
          <p:cNvSpPr txBox="1"/>
          <p:nvPr/>
        </p:nvSpPr>
        <p:spPr>
          <a:xfrm>
            <a:off x="2439140" y="3492923"/>
            <a:ext cx="1085439" cy="276999"/>
          </a:xfrm>
          <a:prstGeom prst="rect">
            <a:avLst/>
          </a:prstGeom>
          <a:solidFill>
            <a:srgbClr val="F0F7EC"/>
          </a:solidFill>
        </p:spPr>
        <p:txBody>
          <a:bodyPr wrap="square" tIns="0" bIns="0" rtlCol="0">
            <a:spAutoFit/>
          </a:bodyPr>
          <a:lstStyle/>
          <a:p>
            <a:pPr algn="ctr"/>
            <a:r>
              <a:rPr lang="en-US" altLang="zh-CN" b="1">
                <a:solidFill>
                  <a:srgbClr val="0000FF"/>
                </a:solidFill>
              </a:rPr>
              <a:t>(2)</a:t>
            </a:r>
            <a:endParaRPr lang="zh-CN" altLang="en-US" b="1">
              <a:solidFill>
                <a:srgbClr val="0000FF"/>
              </a:solidFill>
            </a:endParaRPr>
          </a:p>
        </p:txBody>
      </p:sp>
      <p:sp>
        <p:nvSpPr>
          <p:cNvPr id="57" name="文本框 56"/>
          <p:cNvSpPr txBox="1"/>
          <p:nvPr/>
        </p:nvSpPr>
        <p:spPr>
          <a:xfrm>
            <a:off x="9119525" y="3460423"/>
            <a:ext cx="1085439" cy="276999"/>
          </a:xfrm>
          <a:prstGeom prst="rect">
            <a:avLst/>
          </a:prstGeom>
          <a:solidFill>
            <a:srgbClr val="F0F7EC"/>
          </a:solidFill>
        </p:spPr>
        <p:txBody>
          <a:bodyPr wrap="square" tIns="0" bIns="0" rtlCol="0">
            <a:spAutoFit/>
          </a:bodyPr>
          <a:lstStyle/>
          <a:p>
            <a:pPr algn="ctr"/>
            <a:r>
              <a:rPr lang="en-US" altLang="zh-CN" b="1">
                <a:solidFill>
                  <a:srgbClr val="C00000"/>
                </a:solidFill>
              </a:rPr>
              <a:t>(5)</a:t>
            </a:r>
            <a:endParaRPr lang="zh-CN" altLang="en-US" b="1">
              <a:solidFill>
                <a:srgbClr val="C00000"/>
              </a:solidFill>
            </a:endParaRPr>
          </a:p>
        </p:txBody>
      </p:sp>
      <p:cxnSp>
        <p:nvCxnSpPr>
          <p:cNvPr id="58" name="直接连接符 57"/>
          <p:cNvCxnSpPr/>
          <p:nvPr/>
        </p:nvCxnSpPr>
        <p:spPr>
          <a:xfrm>
            <a:off x="9502740" y="4438668"/>
            <a:ext cx="96352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8058561" y="4158164"/>
            <a:ext cx="1085439" cy="276999"/>
          </a:xfrm>
          <a:prstGeom prst="rect">
            <a:avLst/>
          </a:prstGeom>
          <a:solidFill>
            <a:srgbClr val="F0F7EC"/>
          </a:solidFill>
        </p:spPr>
        <p:txBody>
          <a:bodyPr wrap="square" tIns="0" bIns="0" rtlCol="0">
            <a:spAutoFit/>
          </a:bodyPr>
          <a:lstStyle/>
          <a:p>
            <a:pPr algn="ctr"/>
            <a:r>
              <a:rPr lang="en-US" altLang="zh-CN" b="1">
                <a:solidFill>
                  <a:srgbClr val="0000FF"/>
                </a:solidFill>
              </a:rPr>
              <a:t>(6)</a:t>
            </a:r>
            <a:endParaRPr lang="zh-CN" altLang="en-US" b="1">
              <a:solidFill>
                <a:srgbClr val="0000FF"/>
              </a:solidFill>
            </a:endParaRPr>
          </a:p>
        </p:txBody>
      </p:sp>
      <p:sp>
        <p:nvSpPr>
          <p:cNvPr id="60" name="文本框 59"/>
          <p:cNvSpPr txBox="1"/>
          <p:nvPr/>
        </p:nvSpPr>
        <p:spPr>
          <a:xfrm>
            <a:off x="9562853" y="4158163"/>
            <a:ext cx="927685" cy="276999"/>
          </a:xfrm>
          <a:prstGeom prst="rect">
            <a:avLst/>
          </a:prstGeom>
          <a:solidFill>
            <a:srgbClr val="F0F7EC"/>
          </a:solidFill>
        </p:spPr>
        <p:txBody>
          <a:bodyPr wrap="square" tIns="0" bIns="0" rtlCol="0">
            <a:spAutoFit/>
          </a:bodyPr>
          <a:lstStyle/>
          <a:p>
            <a:pPr algn="ctr"/>
            <a:r>
              <a:rPr lang="en-US" altLang="zh-CN" b="1">
                <a:solidFill>
                  <a:srgbClr val="C00000"/>
                </a:solidFill>
              </a:rPr>
              <a:t>(7)</a:t>
            </a:r>
            <a:endParaRPr lang="zh-CN" altLang="en-US" b="1">
              <a:solidFill>
                <a:srgbClr val="C00000"/>
              </a:solidFill>
            </a:endParaRPr>
          </a:p>
        </p:txBody>
      </p:sp>
      <p:sp>
        <p:nvSpPr>
          <p:cNvPr id="61" name="文本框 60"/>
          <p:cNvSpPr txBox="1"/>
          <p:nvPr/>
        </p:nvSpPr>
        <p:spPr>
          <a:xfrm>
            <a:off x="5141490" y="4139411"/>
            <a:ext cx="2601307" cy="276999"/>
          </a:xfrm>
          <a:prstGeom prst="rect">
            <a:avLst/>
          </a:prstGeom>
          <a:solidFill>
            <a:srgbClr val="F0F7EC"/>
          </a:solidFill>
        </p:spPr>
        <p:txBody>
          <a:bodyPr wrap="square" tIns="0" bIns="0" rtlCol="0">
            <a:spAutoFit/>
          </a:bodyPr>
          <a:lstStyle/>
          <a:p>
            <a:pPr algn="ctr"/>
            <a:r>
              <a:rPr lang="en-US" altLang="zh-CN" b="1">
                <a:solidFill>
                  <a:srgbClr val="C00000"/>
                </a:solidFill>
              </a:rPr>
              <a:t>(6)</a:t>
            </a:r>
            <a:endParaRPr lang="zh-CN" altLang="en-US" b="1">
              <a:solidFill>
                <a:srgbClr val="C00000"/>
              </a:solidFill>
            </a:endParaRPr>
          </a:p>
        </p:txBody>
      </p:sp>
      <p:sp>
        <p:nvSpPr>
          <p:cNvPr id="11" name="文本框 10"/>
          <p:cNvSpPr txBox="1"/>
          <p:nvPr/>
        </p:nvSpPr>
        <p:spPr>
          <a:xfrm>
            <a:off x="698975" y="4631257"/>
            <a:ext cx="8354649"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上面</a:t>
            </a:r>
            <a:r>
              <a:rPr lang="en-US" altLang="zh-CN" b="1">
                <a:solidFill>
                  <a:schemeClr val="accent2">
                    <a:lumMod val="50000"/>
                  </a:schemeClr>
                </a:solidFill>
              </a:rPr>
              <a:t>(3),(5),(7)</a:t>
            </a:r>
            <a:r>
              <a:rPr lang="zh-CN" altLang="en-US" b="1">
                <a:solidFill>
                  <a:schemeClr val="accent2">
                    <a:lumMod val="50000"/>
                  </a:schemeClr>
                </a:solidFill>
              </a:rPr>
              <a:t>空直接填计数结果的数值，而</a:t>
            </a:r>
            <a:r>
              <a:rPr lang="en-US" altLang="zh-CN" b="1">
                <a:solidFill>
                  <a:schemeClr val="accent2">
                    <a:lumMod val="50000"/>
                  </a:schemeClr>
                </a:solidFill>
              </a:rPr>
              <a:t>(1),(2),(4),(6)</a:t>
            </a:r>
            <a:r>
              <a:rPr lang="zh-CN" altLang="en-US" b="1">
                <a:solidFill>
                  <a:schemeClr val="accent2">
                    <a:lumMod val="50000"/>
                  </a:schemeClr>
                </a:solidFill>
              </a:rPr>
              <a:t>空填下面的选项字母。</a:t>
            </a:r>
          </a:p>
        </p:txBody>
      </p:sp>
      <mc:AlternateContent xmlns:mc="http://schemas.openxmlformats.org/markup-compatibility/2006" xmlns:a14="http://schemas.microsoft.com/office/drawing/2010/main">
        <mc:Choice Requires="a14">
          <p:graphicFrame>
            <p:nvGraphicFramePr>
              <p:cNvPr id="64" name="表格 63"/>
              <p:cNvGraphicFramePr>
                <a:graphicFrameLocks noGrp="1"/>
              </p:cNvGraphicFramePr>
              <p:nvPr/>
            </p:nvGraphicFramePr>
            <p:xfrm>
              <a:off x="1414740" y="5199656"/>
              <a:ext cx="9362520" cy="864362"/>
            </p:xfrm>
            <a:graphic>
              <a:graphicData uri="http://schemas.openxmlformats.org/drawingml/2006/table">
                <a:tbl>
                  <a:tblPr>
                    <a:tableStyleId>{5C22544A-7EE6-4342-B048-85BDC9FD1C3A}</a:tableStyleId>
                  </a:tblPr>
                  <a:tblGrid>
                    <a:gridCol w="2340630">
                      <a:extLst>
                        <a:ext uri="{9D8B030D-6E8A-4147-A177-3AD203B41FA5}">
                          <a16:colId xmlns:a16="http://schemas.microsoft.com/office/drawing/2014/main" val="20000"/>
                        </a:ext>
                      </a:extLst>
                    </a:gridCol>
                    <a:gridCol w="2340630">
                      <a:extLst>
                        <a:ext uri="{9D8B030D-6E8A-4147-A177-3AD203B41FA5}">
                          <a16:colId xmlns:a16="http://schemas.microsoft.com/office/drawing/2014/main" val="20001"/>
                        </a:ext>
                      </a:extLst>
                    </a:gridCol>
                    <a:gridCol w="2340630">
                      <a:extLst>
                        <a:ext uri="{9D8B030D-6E8A-4147-A177-3AD203B41FA5}">
                          <a16:colId xmlns:a16="http://schemas.microsoft.com/office/drawing/2014/main" val="20002"/>
                        </a:ext>
                      </a:extLst>
                    </a:gridCol>
                    <a:gridCol w="2340630">
                      <a:extLst>
                        <a:ext uri="{9D8B030D-6E8A-4147-A177-3AD203B41FA5}">
                          <a16:colId xmlns:a16="http://schemas.microsoft.com/office/drawing/2014/main" val="20003"/>
                        </a:ext>
                      </a:extLst>
                    </a:gridCol>
                  </a:tblGrid>
                  <a:tr h="294065">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  </a:t>
                          </a:r>
                          <a14:m>
                            <m:oMath xmlns:m="http://schemas.openxmlformats.org/officeDocument/2006/math">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D.  </a:t>
                          </a:r>
                          <a14:m>
                            <m:oMath xmlns:m="http://schemas.openxmlformats.org/officeDocument/2006/math">
                              <m:bar>
                                <m:barPr>
                                  <m:pos m:val="top"/>
                                  <m:ctrlPr>
                                    <a:rPr lang="en-US" altLang="zh-CN" sz="2000" b="1" i="1" kern="1200" smtClean="0">
                                      <a:solidFill>
                                        <a:schemeClr val="accent2">
                                          <a:lumMod val="50000"/>
                                        </a:schemeClr>
                                      </a:solidFill>
                                      <a:latin typeface="Cambria Math" panose="02040503050406030204" pitchFamily="18" charset="0"/>
                                      <a:ea typeface="+mn-ea"/>
                                      <a:cs typeface="+mn-cs"/>
                                    </a:rPr>
                                  </m:ctrlPr>
                                </m:barPr>
                                <m:e>
                                  <m:r>
                                    <a:rPr lang="en-US" altLang="zh-CN" sz="2000" b="1" i="1" kern="1200" smtClean="0">
                                      <a:solidFill>
                                        <a:schemeClr val="accent2">
                                          <a:lumMod val="50000"/>
                                        </a:schemeClr>
                                      </a:solidFill>
                                      <a:latin typeface="Cambria Math" panose="02040503050406030204" pitchFamily="18" charset="0"/>
                                      <a:ea typeface="+mn-ea"/>
                                      <a:cs typeface="+mn-cs"/>
                                    </a:rPr>
                                    <m:t>𝑨</m:t>
                                  </m:r>
                                  <m:r>
                                    <a:rPr lang="en-US" altLang="zh-CN" sz="2000" b="1" i="1" kern="1200" smtClean="0">
                                      <a:solidFill>
                                        <a:schemeClr val="accent2">
                                          <a:lumMod val="50000"/>
                                        </a:schemeClr>
                                      </a:solidFill>
                                      <a:latin typeface="Cambria Math" panose="02040503050406030204" pitchFamily="18" charset="0"/>
                                      <a:ea typeface="+mn-ea"/>
                                      <a:cs typeface="+mn-cs"/>
                                    </a:rPr>
                                    <m:t>∩</m:t>
                                  </m:r>
                                  <m:r>
                                    <a:rPr lang="en-US" altLang="zh-CN" sz="2000" b="1" i="1" kern="1200" smtClean="0">
                                      <a:solidFill>
                                        <a:schemeClr val="accent2">
                                          <a:lumMod val="50000"/>
                                        </a:schemeClr>
                                      </a:solidFill>
                                      <a:latin typeface="Cambria Math" panose="02040503050406030204" pitchFamily="18" charset="0"/>
                                      <a:ea typeface="+mn-ea"/>
                                      <a:cs typeface="+mn-cs"/>
                                    </a:rPr>
                                    <m:t>𝑩</m:t>
                                  </m:r>
                                  <m:r>
                                    <a:rPr lang="en-US" altLang="zh-CN" sz="2000" b="1" i="1" kern="1200" smtClean="0">
                                      <a:solidFill>
                                        <a:schemeClr val="accent2">
                                          <a:lumMod val="50000"/>
                                        </a:schemeClr>
                                      </a:solidFill>
                                      <a:latin typeface="Cambria Math" panose="02040503050406030204" pitchFamily="18" charset="0"/>
                                      <a:ea typeface="+mn-ea"/>
                                      <a:cs typeface="+mn-cs"/>
                                    </a:rPr>
                                    <m:t>∩</m:t>
                                  </m:r>
                                  <m:r>
                                    <a:rPr lang="en-US" altLang="zh-CN" sz="2000" b="1" i="1" kern="1200" smtClean="0">
                                      <a:solidFill>
                                        <a:schemeClr val="accent2">
                                          <a:lumMod val="50000"/>
                                        </a:schemeClr>
                                      </a:solidFill>
                                      <a:latin typeface="Cambria Math" panose="02040503050406030204" pitchFamily="18" charset="0"/>
                                      <a:ea typeface="+mn-ea"/>
                                      <a:cs typeface="+mn-cs"/>
                                    </a:rPr>
                                    <m:t>𝑪</m:t>
                                  </m:r>
                                </m:e>
                              </m:bar>
                            </m:oMath>
                          </a14:m>
                          <a:endParaRPr lang="zh-CN" altLang="en-US" sz="2000" b="1" i="0" kern="1200">
                            <a:solidFill>
                              <a:schemeClr val="accent2">
                                <a:lumMod val="50000"/>
                              </a:schemeClr>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0000"/>
                      </a:ext>
                    </a:extLst>
                  </a:tr>
                  <a:tr h="370840">
                    <a:tc>
                      <a:txBody>
                        <a:bodyPr/>
                        <a:lstStyle/>
                        <a:p>
                          <a:pPr algn="l"/>
                          <a:r>
                            <a:rPr lang="en-US" altLang="zh-CN" sz="2000" b="1">
                              <a:solidFill>
                                <a:srgbClr val="C00000"/>
                              </a:solidFill>
                            </a:rPr>
                            <a:t>E.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F.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G.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a:solidFill>
                                <a:srgbClr val="C00000"/>
                              </a:solidFill>
                            </a:rPr>
                            <a:t>H.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64" name="表格 63"/>
              <p:cNvGraphicFramePr>
                <a:graphicFrameLocks noGrp="1"/>
              </p:cNvGraphicFramePr>
              <p:nvPr/>
            </p:nvGraphicFramePr>
            <p:xfrm>
              <a:off x="1414740" y="5199656"/>
              <a:ext cx="9362520" cy="864362"/>
            </p:xfrm>
            <a:graphic>
              <a:graphicData uri="http://schemas.openxmlformats.org/drawingml/2006/table">
                <a:tbl>
                  <a:tblPr>
                    <a:tableStyleId>{5C22544A-7EE6-4342-B048-85BDC9FD1C3A}</a:tableStyleId>
                  </a:tblPr>
                  <a:tblGrid>
                    <a:gridCol w="2340630"/>
                    <a:gridCol w="2340630"/>
                    <a:gridCol w="2340630"/>
                    <a:gridCol w="2340630"/>
                  </a:tblGrid>
                  <a:tr h="45466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r>
                  <a:tr h="45466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blipFill>
                      </a:tcPr>
                    </a:tc>
                  </a:tr>
                </a:tbl>
              </a:graphicData>
            </a:graphic>
          </p:graphicFrame>
        </mc:Fallback>
      </mc:AlternateContent>
      <p:grpSp>
        <p:nvGrpSpPr>
          <p:cNvPr id="13" name="组合 12"/>
          <p:cNvGrpSpPr/>
          <p:nvPr/>
        </p:nvGrpSpPr>
        <p:grpSpPr>
          <a:xfrm>
            <a:off x="687913" y="1155639"/>
            <a:ext cx="10816171" cy="716438"/>
            <a:chOff x="698975" y="954194"/>
            <a:chExt cx="10816171" cy="716438"/>
          </a:xfrm>
        </p:grpSpPr>
        <p:grpSp>
          <p:nvGrpSpPr>
            <p:cNvPr id="38" name="组合 37"/>
            <p:cNvGrpSpPr/>
            <p:nvPr/>
          </p:nvGrpSpPr>
          <p:grpSpPr>
            <a:xfrm>
              <a:off x="698976" y="1347982"/>
              <a:ext cx="10816170" cy="322650"/>
              <a:chOff x="656407" y="1392334"/>
              <a:chExt cx="10816170" cy="322650"/>
            </a:xfrm>
          </p:grpSpPr>
          <mc:AlternateContent xmlns:mc="http://schemas.openxmlformats.org/markup-compatibility/2006" xmlns:a14="http://schemas.microsoft.com/office/drawing/2010/main">
            <mc:Choice Requires="a14">
              <p:sp>
                <p:nvSpPr>
                  <p:cNvPr id="28" name="文本框 27"/>
                  <p:cNvSpPr txBox="1"/>
                  <p:nvPr/>
                </p:nvSpPr>
                <p:spPr>
                  <a:xfrm>
                    <a:off x="656407" y="1396010"/>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𝑼</m:t>
                          </m:r>
                          <m:r>
                            <a:rPr lang="en-US" altLang="zh-CN" sz="2000" b="1" i="1" smtClean="0">
                              <a:solidFill>
                                <a:schemeClr val="accent2">
                                  <a:lumMod val="50000"/>
                                </a:schemeClr>
                              </a:solidFill>
                              <a:latin typeface="Cambria Math" panose="02040503050406030204" pitchFamily="18" charset="0"/>
                            </a:rPr>
                            <m:t>| = </m:t>
                          </m:r>
                          <m:r>
                            <a:rPr lang="en-US" altLang="zh-CN" sz="2000" b="1" i="1" smtClean="0">
                              <a:solidFill>
                                <a:schemeClr val="accent2">
                                  <a:lumMod val="50000"/>
                                </a:schemeClr>
                              </a:solidFill>
                              <a:latin typeface="Cambria Math" panose="02040503050406030204" pitchFamily="18" charset="0"/>
                            </a:rPr>
                            <m:t>𝟔𝟎</m:t>
                          </m:r>
                        </m:oMath>
                      </m:oMathPara>
                    </a14:m>
                    <a:endParaRPr lang="zh-CN" altLang="en-US" sz="2000" b="1">
                      <a:solidFill>
                        <a:schemeClr val="accent2">
                          <a:lumMod val="50000"/>
                        </a:schemeClr>
                      </a:solidFill>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656407" y="1396010"/>
                    <a:ext cx="1315684" cy="307777"/>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p:cNvSpPr txBox="1"/>
                  <p:nvPr/>
                </p:nvSpPr>
                <p:spPr>
                  <a:xfrm>
                    <a:off x="2098871" y="1396009"/>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𝟐𝟓</m:t>
                          </m:r>
                        </m:oMath>
                      </m:oMathPara>
                    </a14:m>
                    <a:endParaRPr lang="zh-CN" altLang="en-US" sz="2000" b="1">
                      <a:solidFill>
                        <a:schemeClr val="accent2">
                          <a:lumMod val="50000"/>
                        </a:schemeClr>
                      </a:solidFill>
                    </a:endParaRPr>
                  </a:p>
                </p:txBody>
              </p:sp>
            </mc:Choice>
            <mc:Fallback xmlns="">
              <p:sp>
                <p:nvSpPr>
                  <p:cNvPr id="29" name="文本框 28"/>
                  <p:cNvSpPr txBox="1">
                    <a:spLocks noRot="1" noChangeAspect="1" noMove="1" noResize="1" noEditPoints="1" noAdjustHandles="1" noChangeArrowheads="1" noChangeShapeType="1" noTextEdit="1"/>
                  </p:cNvSpPr>
                  <p:nvPr/>
                </p:nvSpPr>
                <p:spPr>
                  <a:xfrm>
                    <a:off x="2098871" y="1396009"/>
                    <a:ext cx="1315684" cy="307777"/>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3541335" y="1398437"/>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𝟐𝟔</m:t>
                          </m:r>
                        </m:oMath>
                      </m:oMathPara>
                    </a14:m>
                    <a:endParaRPr lang="zh-CN" altLang="en-US" sz="2000" b="1">
                      <a:solidFill>
                        <a:schemeClr val="accent2">
                          <a:lumMod val="50000"/>
                        </a:schemeClr>
                      </a:solidFill>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3541335" y="1398437"/>
                    <a:ext cx="1315684" cy="307777"/>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4983799" y="1392334"/>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𝟐𝟔</m:t>
                          </m:r>
                        </m:oMath>
                      </m:oMathPara>
                    </a14:m>
                    <a:endParaRPr lang="zh-CN" altLang="en-US" sz="2000" b="1">
                      <a:solidFill>
                        <a:schemeClr val="accent2">
                          <a:lumMod val="50000"/>
                        </a:schemeClr>
                      </a:solidFill>
                    </a:endParaRPr>
                  </a:p>
                </p:txBody>
              </p:sp>
            </mc:Choice>
            <mc:Fallback xmlns="">
              <p:sp>
                <p:nvSpPr>
                  <p:cNvPr id="31" name="文本框 30"/>
                  <p:cNvSpPr txBox="1">
                    <a:spLocks noRot="1" noChangeAspect="1" noMove="1" noResize="1" noEditPoints="1" noAdjustHandles="1" noChangeArrowheads="1" noChangeShapeType="1" noTextEdit="1"/>
                  </p:cNvSpPr>
                  <p:nvPr/>
                </p:nvSpPr>
                <p:spPr>
                  <a:xfrm>
                    <a:off x="4983799" y="1392334"/>
                    <a:ext cx="1315684" cy="307777"/>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6426264" y="1401180"/>
                    <a:ext cx="1684926"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𝟏𝟏</m:t>
                          </m:r>
                        </m:oMath>
                      </m:oMathPara>
                    </a14:m>
                    <a:endParaRPr lang="zh-CN" altLang="en-US" sz="2000" b="1">
                      <a:solidFill>
                        <a:schemeClr val="accent2">
                          <a:lumMod val="50000"/>
                        </a:schemeClr>
                      </a:solidFill>
                    </a:endParaRPr>
                  </a:p>
                </p:txBody>
              </p:sp>
            </mc:Choice>
            <mc:Fallback xmlns="">
              <p:sp>
                <p:nvSpPr>
                  <p:cNvPr id="32" name="文本框 31"/>
                  <p:cNvSpPr txBox="1">
                    <a:spLocks noRot="1" noChangeAspect="1" noMove="1" noResize="1" noEditPoints="1" noAdjustHandles="1" noChangeArrowheads="1" noChangeShapeType="1" noTextEdit="1"/>
                  </p:cNvSpPr>
                  <p:nvPr/>
                </p:nvSpPr>
                <p:spPr>
                  <a:xfrm>
                    <a:off x="6426264" y="1401180"/>
                    <a:ext cx="1684926" cy="307777"/>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8237971" y="1407207"/>
                    <a:ext cx="1530979"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𝟗</m:t>
                          </m:r>
                        </m:oMath>
                      </m:oMathPara>
                    </a14:m>
                    <a:endParaRPr lang="zh-CN" altLang="en-US" sz="2000" b="1">
                      <a:solidFill>
                        <a:schemeClr val="accent2">
                          <a:lumMod val="50000"/>
                        </a:schemeClr>
                      </a:solidFill>
                    </a:endParaRPr>
                  </a:p>
                </p:txBody>
              </p:sp>
            </mc:Choice>
            <mc:Fallback xmlns="">
              <p:sp>
                <p:nvSpPr>
                  <p:cNvPr id="33" name="文本框 32"/>
                  <p:cNvSpPr txBox="1">
                    <a:spLocks noRot="1" noChangeAspect="1" noMove="1" noResize="1" noEditPoints="1" noAdjustHandles="1" noChangeArrowheads="1" noChangeShapeType="1" noTextEdit="1"/>
                  </p:cNvSpPr>
                  <p:nvPr/>
                </p:nvSpPr>
                <p:spPr>
                  <a:xfrm>
                    <a:off x="8237971" y="1407207"/>
                    <a:ext cx="1530979" cy="307777"/>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9880962" y="1401179"/>
                    <a:ext cx="1591615"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𝟖</m:t>
                          </m:r>
                        </m:oMath>
                      </m:oMathPara>
                    </a14:m>
                    <a:endParaRPr lang="zh-CN" altLang="en-US" sz="2000" b="1">
                      <a:solidFill>
                        <a:schemeClr val="accent2">
                          <a:lumMod val="50000"/>
                        </a:schemeClr>
                      </a:solidFill>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9880962" y="1401179"/>
                    <a:ext cx="1591615" cy="307777"/>
                  </a:xfrm>
                  <a:prstGeom prst="rect">
                    <a:avLst/>
                  </a:prstGeom>
                  <a:blipFill rotWithShape="1">
                    <a:blip r:embed="rId14"/>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5" name="文本框 64"/>
                <p:cNvSpPr txBox="1"/>
                <p:nvPr/>
              </p:nvSpPr>
              <p:spPr>
                <a:xfrm>
                  <a:off x="698975" y="959748"/>
                  <a:ext cx="3215183" cy="307777"/>
                </a:xfrm>
                <a:prstGeom prst="rect">
                  <a:avLst/>
                </a:prstGeom>
                <a:solidFill>
                  <a:schemeClr val="accent6">
                    <a:lumMod val="20000"/>
                    <a:lumOff val="80000"/>
                    <a:alpha val="50000"/>
                  </a:schemeClr>
                </a:solidFill>
              </p:spPr>
              <p:txBody>
                <a:bodyPr wrap="square" tIns="0" bIns="0"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计算机学报</a:t>
                  </a:r>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65" name="文本框 64"/>
                <p:cNvSpPr txBox="1">
                  <a:spLocks noRot="1" noChangeAspect="1" noMove="1" noResize="1" noEditPoints="1" noAdjustHandles="1" noChangeArrowheads="1" noChangeShapeType="1" noTextEdit="1"/>
                </p:cNvSpPr>
                <p:nvPr/>
              </p:nvSpPr>
              <p:spPr>
                <a:xfrm>
                  <a:off x="698975" y="959748"/>
                  <a:ext cx="3215183" cy="307777"/>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p:cNvSpPr txBox="1"/>
                <p:nvPr/>
              </p:nvSpPr>
              <p:spPr>
                <a:xfrm>
                  <a:off x="4115848" y="960539"/>
                  <a:ext cx="2969107" cy="307777"/>
                </a:xfrm>
                <a:prstGeom prst="rect">
                  <a:avLst/>
                </a:prstGeom>
                <a:solidFill>
                  <a:schemeClr val="accent6">
                    <a:lumMod val="20000"/>
                    <a:lumOff val="80000"/>
                    <a:alpha val="50000"/>
                  </a:schemeClr>
                </a:solidFill>
              </p:spPr>
              <p:txBody>
                <a:bodyPr wrap="square" tIns="0" bIns="0"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软件学报</a:t>
                  </a:r>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66" name="文本框 65"/>
                <p:cNvSpPr txBox="1">
                  <a:spLocks noRot="1" noChangeAspect="1" noMove="1" noResize="1" noEditPoints="1" noAdjustHandles="1" noChangeArrowheads="1" noChangeShapeType="1" noTextEdit="1"/>
                </p:cNvSpPr>
                <p:nvPr/>
              </p:nvSpPr>
              <p:spPr>
                <a:xfrm>
                  <a:off x="4115848" y="960539"/>
                  <a:ext cx="2969107" cy="307777"/>
                </a:xfrm>
                <a:prstGeom prst="rect">
                  <a:avLst/>
                </a:prstGeom>
                <a:blipFill rotWithShape="1">
                  <a:blip r:embed="rId1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p:cNvSpPr txBox="1"/>
                <p:nvPr/>
              </p:nvSpPr>
              <p:spPr>
                <a:xfrm>
                  <a:off x="7285067" y="954194"/>
                  <a:ext cx="4016654" cy="307777"/>
                </a:xfrm>
                <a:prstGeom prst="rect">
                  <a:avLst/>
                </a:prstGeom>
                <a:solidFill>
                  <a:schemeClr val="accent6">
                    <a:lumMod val="20000"/>
                    <a:lumOff val="80000"/>
                    <a:alpha val="50000"/>
                  </a:schemeClr>
                </a:solidFill>
              </p:spPr>
              <p:txBody>
                <a:bodyPr wrap="square" tIns="0" bIns="0"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𝑪</m:t>
                      </m:r>
                    </m:oMath>
                  </a14:m>
                  <a:r>
                    <a:rPr lang="zh-CN" altLang="en-US" sz="2000" b="1">
                      <a:solidFill>
                        <a:srgbClr val="002060"/>
                      </a:solidFill>
                      <a:latin typeface="楷体" panose="02010609060101010101" pitchFamily="49" charset="-122"/>
                      <a:ea typeface="楷体" panose="02010609060101010101" pitchFamily="49" charset="-122"/>
                    </a:rPr>
                    <a:t>：阅读过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计算机研究与发展</a:t>
                  </a:r>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67" name="文本框 66"/>
                <p:cNvSpPr txBox="1">
                  <a:spLocks noRot="1" noChangeAspect="1" noMove="1" noResize="1" noEditPoints="1" noAdjustHandles="1" noChangeArrowheads="1" noChangeShapeType="1" noTextEdit="1"/>
                </p:cNvSpPr>
                <p:nvPr/>
              </p:nvSpPr>
              <p:spPr>
                <a:xfrm>
                  <a:off x="7285067" y="954194"/>
                  <a:ext cx="4016654" cy="307777"/>
                </a:xfrm>
                <a:prstGeom prst="rect">
                  <a:avLst/>
                </a:prstGeom>
                <a:blipFill rotWithShape="1">
                  <a:blip r:embed="rId17"/>
                </a:blipFill>
              </p:spPr>
              <p:txBody>
                <a:bodyPr/>
                <a:lstStyle/>
                <a:p>
                  <a:r>
                    <a:rPr lang="zh-CN" altLang="en-US">
                      <a:noFill/>
                    </a:rPr>
                    <a:t> </a:t>
                  </a:r>
                </a:p>
              </p:txBody>
            </p:sp>
          </mc:Fallback>
        </mc:AlternateContent>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687913" y="1155639"/>
            <a:ext cx="10816171" cy="716438"/>
            <a:chOff x="698975" y="954194"/>
            <a:chExt cx="10816171" cy="716438"/>
          </a:xfrm>
        </p:grpSpPr>
        <mc:AlternateContent xmlns:mc="http://schemas.openxmlformats.org/markup-compatibility/2006" xmlns:a14="http://schemas.microsoft.com/office/drawing/2010/main">
          <mc:Choice Requires="a14">
            <p:sp>
              <p:nvSpPr>
                <p:cNvPr id="74" name="文本框 73"/>
                <p:cNvSpPr txBox="1"/>
                <p:nvPr/>
              </p:nvSpPr>
              <p:spPr>
                <a:xfrm>
                  <a:off x="7285067" y="954194"/>
                  <a:ext cx="4016654" cy="307777"/>
                </a:xfrm>
                <a:prstGeom prst="rect">
                  <a:avLst/>
                </a:prstGeom>
                <a:solidFill>
                  <a:schemeClr val="accent6">
                    <a:lumMod val="20000"/>
                    <a:lumOff val="80000"/>
                    <a:alpha val="50000"/>
                  </a:schemeClr>
                </a:solidFill>
              </p:spPr>
              <p:txBody>
                <a:bodyPr wrap="square" tIns="0" bIns="0"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𝑪</m:t>
                      </m:r>
                    </m:oMath>
                  </a14:m>
                  <a:r>
                    <a:rPr lang="zh-CN" altLang="en-US" sz="2000" b="1">
                      <a:solidFill>
                        <a:srgbClr val="002060"/>
                      </a:solidFill>
                      <a:latin typeface="楷体" panose="02010609060101010101" pitchFamily="49" charset="-122"/>
                      <a:ea typeface="楷体" panose="02010609060101010101" pitchFamily="49" charset="-122"/>
                    </a:rPr>
                    <a:t>：阅读过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计算机研究与发展</a:t>
                  </a:r>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74" name="文本框 73"/>
                <p:cNvSpPr txBox="1">
                  <a:spLocks noRot="1" noChangeAspect="1" noMove="1" noResize="1" noEditPoints="1" noAdjustHandles="1" noChangeArrowheads="1" noChangeShapeType="1" noTextEdit="1"/>
                </p:cNvSpPr>
                <p:nvPr/>
              </p:nvSpPr>
              <p:spPr>
                <a:xfrm>
                  <a:off x="7285067" y="954194"/>
                  <a:ext cx="4016654" cy="307777"/>
                </a:xfrm>
                <a:prstGeom prst="rect">
                  <a:avLst/>
                </a:prstGeom>
                <a:blipFill rotWithShape="1">
                  <a:blip r:embed="rId2"/>
                </a:blipFill>
              </p:spPr>
              <p:txBody>
                <a:bodyPr/>
                <a:lstStyle/>
                <a:p>
                  <a:r>
                    <a:rPr lang="zh-CN" altLang="en-US">
                      <a:noFill/>
                    </a:rPr>
                    <a:t> </a:t>
                  </a:r>
                </a:p>
              </p:txBody>
            </p:sp>
          </mc:Fallback>
        </mc:AlternateContent>
        <p:grpSp>
          <p:nvGrpSpPr>
            <p:cNvPr id="71" name="组合 70"/>
            <p:cNvGrpSpPr/>
            <p:nvPr/>
          </p:nvGrpSpPr>
          <p:grpSpPr>
            <a:xfrm>
              <a:off x="698976" y="1347982"/>
              <a:ext cx="10816170" cy="322650"/>
              <a:chOff x="656407" y="1392334"/>
              <a:chExt cx="10816170" cy="322650"/>
            </a:xfrm>
          </p:grpSpPr>
          <mc:AlternateContent xmlns:mc="http://schemas.openxmlformats.org/markup-compatibility/2006" xmlns:a14="http://schemas.microsoft.com/office/drawing/2010/main">
            <mc:Choice Requires="a14">
              <p:sp>
                <p:nvSpPr>
                  <p:cNvPr id="75" name="文本框 74"/>
                  <p:cNvSpPr txBox="1"/>
                  <p:nvPr/>
                </p:nvSpPr>
                <p:spPr>
                  <a:xfrm>
                    <a:off x="656407" y="1396010"/>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𝑼</m:t>
                          </m:r>
                          <m:r>
                            <a:rPr lang="en-US" altLang="zh-CN" sz="2000" b="1" i="1" smtClean="0">
                              <a:solidFill>
                                <a:schemeClr val="accent2">
                                  <a:lumMod val="50000"/>
                                </a:schemeClr>
                              </a:solidFill>
                              <a:latin typeface="Cambria Math" panose="02040503050406030204" pitchFamily="18" charset="0"/>
                            </a:rPr>
                            <m:t>| = </m:t>
                          </m:r>
                          <m:r>
                            <a:rPr lang="en-US" altLang="zh-CN" sz="2000" b="1" i="1" smtClean="0">
                              <a:solidFill>
                                <a:schemeClr val="accent2">
                                  <a:lumMod val="50000"/>
                                </a:schemeClr>
                              </a:solidFill>
                              <a:latin typeface="Cambria Math" panose="02040503050406030204" pitchFamily="18" charset="0"/>
                            </a:rPr>
                            <m:t>𝟔𝟎</m:t>
                          </m:r>
                        </m:oMath>
                      </m:oMathPara>
                    </a14:m>
                    <a:endParaRPr lang="zh-CN" altLang="en-US" sz="2000" b="1">
                      <a:solidFill>
                        <a:schemeClr val="accent2">
                          <a:lumMod val="50000"/>
                        </a:schemeClr>
                      </a:solidFill>
                    </a:endParaRPr>
                  </a:p>
                </p:txBody>
              </p:sp>
            </mc:Choice>
            <mc:Fallback xmlns="">
              <p:sp>
                <p:nvSpPr>
                  <p:cNvPr id="75" name="文本框 74"/>
                  <p:cNvSpPr txBox="1">
                    <a:spLocks noRot="1" noChangeAspect="1" noMove="1" noResize="1" noEditPoints="1" noAdjustHandles="1" noChangeArrowheads="1" noChangeShapeType="1" noTextEdit="1"/>
                  </p:cNvSpPr>
                  <p:nvPr/>
                </p:nvSpPr>
                <p:spPr>
                  <a:xfrm>
                    <a:off x="656407" y="1396010"/>
                    <a:ext cx="1315684" cy="307777"/>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p:cNvSpPr txBox="1"/>
                  <p:nvPr/>
                </p:nvSpPr>
                <p:spPr>
                  <a:xfrm>
                    <a:off x="2098871" y="1396009"/>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𝟐𝟓</m:t>
                          </m:r>
                        </m:oMath>
                      </m:oMathPara>
                    </a14:m>
                    <a:endParaRPr lang="zh-CN" altLang="en-US" sz="2000" b="1">
                      <a:solidFill>
                        <a:schemeClr val="accent2">
                          <a:lumMod val="50000"/>
                        </a:schemeClr>
                      </a:solidFill>
                    </a:endParaRPr>
                  </a:p>
                </p:txBody>
              </p:sp>
            </mc:Choice>
            <mc:Fallback xmlns="">
              <p:sp>
                <p:nvSpPr>
                  <p:cNvPr id="76" name="文本框 75"/>
                  <p:cNvSpPr txBox="1">
                    <a:spLocks noRot="1" noChangeAspect="1" noMove="1" noResize="1" noEditPoints="1" noAdjustHandles="1" noChangeArrowheads="1" noChangeShapeType="1" noTextEdit="1"/>
                  </p:cNvSpPr>
                  <p:nvPr/>
                </p:nvSpPr>
                <p:spPr>
                  <a:xfrm>
                    <a:off x="2098871" y="1396009"/>
                    <a:ext cx="1315684" cy="307777"/>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p:cNvSpPr txBox="1"/>
                  <p:nvPr/>
                </p:nvSpPr>
                <p:spPr>
                  <a:xfrm>
                    <a:off x="3541335" y="1398437"/>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𝟐𝟔</m:t>
                          </m:r>
                        </m:oMath>
                      </m:oMathPara>
                    </a14:m>
                    <a:endParaRPr lang="zh-CN" altLang="en-US" sz="2000" b="1">
                      <a:solidFill>
                        <a:schemeClr val="accent2">
                          <a:lumMod val="50000"/>
                        </a:schemeClr>
                      </a:solidFill>
                    </a:endParaRPr>
                  </a:p>
                </p:txBody>
              </p:sp>
            </mc:Choice>
            <mc:Fallback xmlns="">
              <p:sp>
                <p:nvSpPr>
                  <p:cNvPr id="77" name="文本框 76"/>
                  <p:cNvSpPr txBox="1">
                    <a:spLocks noRot="1" noChangeAspect="1" noMove="1" noResize="1" noEditPoints="1" noAdjustHandles="1" noChangeArrowheads="1" noChangeShapeType="1" noTextEdit="1"/>
                  </p:cNvSpPr>
                  <p:nvPr/>
                </p:nvSpPr>
                <p:spPr>
                  <a:xfrm>
                    <a:off x="3541335" y="1398437"/>
                    <a:ext cx="1315684" cy="307777"/>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p:cNvSpPr txBox="1"/>
                  <p:nvPr/>
                </p:nvSpPr>
                <p:spPr>
                  <a:xfrm>
                    <a:off x="4983799" y="1392334"/>
                    <a:ext cx="1315684"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𝟐𝟔</m:t>
                          </m:r>
                        </m:oMath>
                      </m:oMathPara>
                    </a14:m>
                    <a:endParaRPr lang="zh-CN" altLang="en-US" sz="2000" b="1">
                      <a:solidFill>
                        <a:schemeClr val="accent2">
                          <a:lumMod val="50000"/>
                        </a:schemeClr>
                      </a:solidFill>
                    </a:endParaRPr>
                  </a:p>
                </p:txBody>
              </p:sp>
            </mc:Choice>
            <mc:Fallback xmlns="">
              <p:sp>
                <p:nvSpPr>
                  <p:cNvPr id="78" name="文本框 77"/>
                  <p:cNvSpPr txBox="1">
                    <a:spLocks noRot="1" noChangeAspect="1" noMove="1" noResize="1" noEditPoints="1" noAdjustHandles="1" noChangeArrowheads="1" noChangeShapeType="1" noTextEdit="1"/>
                  </p:cNvSpPr>
                  <p:nvPr/>
                </p:nvSpPr>
                <p:spPr>
                  <a:xfrm>
                    <a:off x="4983799" y="1392334"/>
                    <a:ext cx="1315684" cy="307777"/>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p:cNvSpPr txBox="1"/>
                  <p:nvPr/>
                </p:nvSpPr>
                <p:spPr>
                  <a:xfrm>
                    <a:off x="6426264" y="1401180"/>
                    <a:ext cx="1684926"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𝟏𝟏</m:t>
                          </m:r>
                        </m:oMath>
                      </m:oMathPara>
                    </a14:m>
                    <a:endParaRPr lang="zh-CN" altLang="en-US" sz="2000" b="1">
                      <a:solidFill>
                        <a:schemeClr val="accent2">
                          <a:lumMod val="50000"/>
                        </a:schemeClr>
                      </a:solidFill>
                    </a:endParaRPr>
                  </a:p>
                </p:txBody>
              </p:sp>
            </mc:Choice>
            <mc:Fallback xmlns="">
              <p:sp>
                <p:nvSpPr>
                  <p:cNvPr id="79" name="文本框 78"/>
                  <p:cNvSpPr txBox="1">
                    <a:spLocks noRot="1" noChangeAspect="1" noMove="1" noResize="1" noEditPoints="1" noAdjustHandles="1" noChangeArrowheads="1" noChangeShapeType="1" noTextEdit="1"/>
                  </p:cNvSpPr>
                  <p:nvPr/>
                </p:nvSpPr>
                <p:spPr>
                  <a:xfrm>
                    <a:off x="6426264" y="1401180"/>
                    <a:ext cx="1684926" cy="307777"/>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p:cNvSpPr txBox="1"/>
                  <p:nvPr/>
                </p:nvSpPr>
                <p:spPr>
                  <a:xfrm>
                    <a:off x="8237971" y="1407207"/>
                    <a:ext cx="1530979"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𝟗</m:t>
                          </m:r>
                        </m:oMath>
                      </m:oMathPara>
                    </a14:m>
                    <a:endParaRPr lang="zh-CN" altLang="en-US" sz="2000" b="1">
                      <a:solidFill>
                        <a:schemeClr val="accent2">
                          <a:lumMod val="50000"/>
                        </a:schemeClr>
                      </a:solidFill>
                    </a:endParaRPr>
                  </a:p>
                </p:txBody>
              </p:sp>
            </mc:Choice>
            <mc:Fallback xmlns="">
              <p:sp>
                <p:nvSpPr>
                  <p:cNvPr id="80" name="文本框 79"/>
                  <p:cNvSpPr txBox="1">
                    <a:spLocks noRot="1" noChangeAspect="1" noMove="1" noResize="1" noEditPoints="1" noAdjustHandles="1" noChangeArrowheads="1" noChangeShapeType="1" noTextEdit="1"/>
                  </p:cNvSpPr>
                  <p:nvPr/>
                </p:nvSpPr>
                <p:spPr>
                  <a:xfrm>
                    <a:off x="8237971" y="1407207"/>
                    <a:ext cx="1530979" cy="307777"/>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p:cNvSpPr txBox="1"/>
                  <p:nvPr/>
                </p:nvSpPr>
                <p:spPr>
                  <a:xfrm>
                    <a:off x="9880962" y="1401179"/>
                    <a:ext cx="1591615" cy="307777"/>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𝟖</m:t>
                          </m:r>
                        </m:oMath>
                      </m:oMathPara>
                    </a14:m>
                    <a:endParaRPr lang="zh-CN" altLang="en-US" sz="2000" b="1">
                      <a:solidFill>
                        <a:schemeClr val="accent2">
                          <a:lumMod val="50000"/>
                        </a:schemeClr>
                      </a:solidFill>
                    </a:endParaRPr>
                  </a:p>
                </p:txBody>
              </p:sp>
            </mc:Choice>
            <mc:Fallback xmlns="">
              <p:sp>
                <p:nvSpPr>
                  <p:cNvPr id="81" name="文本框 80"/>
                  <p:cNvSpPr txBox="1">
                    <a:spLocks noRot="1" noChangeAspect="1" noMove="1" noResize="1" noEditPoints="1" noAdjustHandles="1" noChangeArrowheads="1" noChangeShapeType="1" noTextEdit="1"/>
                  </p:cNvSpPr>
                  <p:nvPr/>
                </p:nvSpPr>
                <p:spPr>
                  <a:xfrm>
                    <a:off x="9880962" y="1401179"/>
                    <a:ext cx="1591615" cy="307777"/>
                  </a:xfrm>
                  <a:prstGeom prst="rect">
                    <a:avLst/>
                  </a:prstGeom>
                  <a:blipFill rotWithShape="1">
                    <a:blip r:embed="rId9"/>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2" name="文本框 71"/>
                <p:cNvSpPr txBox="1"/>
                <p:nvPr/>
              </p:nvSpPr>
              <p:spPr>
                <a:xfrm>
                  <a:off x="698975" y="959748"/>
                  <a:ext cx="3215183" cy="307777"/>
                </a:xfrm>
                <a:prstGeom prst="rect">
                  <a:avLst/>
                </a:prstGeom>
                <a:solidFill>
                  <a:schemeClr val="accent6">
                    <a:lumMod val="20000"/>
                    <a:lumOff val="80000"/>
                    <a:alpha val="50000"/>
                  </a:schemeClr>
                </a:solidFill>
              </p:spPr>
              <p:txBody>
                <a:bodyPr wrap="square" tIns="0" bIns="0"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计算机学报</a:t>
                  </a:r>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72" name="文本框 71"/>
                <p:cNvSpPr txBox="1">
                  <a:spLocks noRot="1" noChangeAspect="1" noMove="1" noResize="1" noEditPoints="1" noAdjustHandles="1" noChangeArrowheads="1" noChangeShapeType="1" noTextEdit="1"/>
                </p:cNvSpPr>
                <p:nvPr/>
              </p:nvSpPr>
              <p:spPr>
                <a:xfrm>
                  <a:off x="698975" y="959748"/>
                  <a:ext cx="3215183" cy="307777"/>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p:cNvSpPr txBox="1"/>
                <p:nvPr/>
              </p:nvSpPr>
              <p:spPr>
                <a:xfrm>
                  <a:off x="4115848" y="960539"/>
                  <a:ext cx="2969107" cy="307777"/>
                </a:xfrm>
                <a:prstGeom prst="rect">
                  <a:avLst/>
                </a:prstGeom>
                <a:solidFill>
                  <a:schemeClr val="accent6">
                    <a:lumMod val="20000"/>
                    <a:lumOff val="80000"/>
                    <a:alpha val="50000"/>
                  </a:schemeClr>
                </a:solidFill>
              </p:spPr>
              <p:txBody>
                <a:bodyPr wrap="square" tIns="0" bIns="0"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：阅读过</a:t>
                  </a:r>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软件学报</a:t>
                  </a:r>
                  <a:r>
                    <a:rPr lang="en-US" altLang="zh-CN"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73" name="文本框 72"/>
                <p:cNvSpPr txBox="1">
                  <a:spLocks noRot="1" noChangeAspect="1" noMove="1" noResize="1" noEditPoints="1" noAdjustHandles="1" noChangeArrowheads="1" noChangeShapeType="1" noTextEdit="1"/>
                </p:cNvSpPr>
                <p:nvPr/>
              </p:nvSpPr>
              <p:spPr>
                <a:xfrm>
                  <a:off x="4115848" y="960539"/>
                  <a:ext cx="2969107" cy="307777"/>
                </a:xfrm>
                <a:prstGeom prst="rect">
                  <a:avLst/>
                </a:prstGeom>
                <a:blipFill rotWithShape="1">
                  <a:blip r:embed="rId11"/>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6" name="文本框 65"/>
              <p:cNvSpPr txBox="1"/>
              <p:nvPr/>
            </p:nvSpPr>
            <p:spPr>
              <a:xfrm>
                <a:off x="698976" y="4076441"/>
                <a:ext cx="10163694" cy="442685"/>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只阅读过</a:t>
                </a:r>
                <a:r>
                  <a:rPr lang="en-US" altLang="zh-CN" sz="2000" b="1">
                    <a:solidFill>
                      <a:schemeClr val="tx2">
                        <a:lumMod val="50000"/>
                      </a:schemeClr>
                    </a:solidFill>
                  </a:rPr>
                  <a:t>《</a:t>
                </a:r>
                <a:r>
                  <a:rPr lang="zh-CN" altLang="en-US" sz="2000" b="1">
                    <a:solidFill>
                      <a:schemeClr val="tx2">
                        <a:lumMod val="50000"/>
                      </a:schemeClr>
                    </a:solidFill>
                  </a:rPr>
                  <a:t>计算机学报</a:t>
                </a:r>
                <a:r>
                  <a:rPr lang="en-US" altLang="zh-CN" sz="2000" b="1">
                    <a:solidFill>
                      <a:schemeClr val="tx2">
                        <a:lumMod val="50000"/>
                      </a:schemeClr>
                    </a:solidFill>
                  </a:rPr>
                  <a:t>》</a:t>
                </a:r>
                <a:r>
                  <a:rPr lang="zh-CN" altLang="en-US" sz="2000" b="1">
                    <a:solidFill>
                      <a:schemeClr val="tx2">
                        <a:lumMod val="50000"/>
                      </a:schemeClr>
                    </a:solidFill>
                  </a:rPr>
                  <a:t>的学生集合是</a:t>
                </a:r>
                <a14:m>
                  <m:oMath xmlns:m="http://schemas.openxmlformats.org/officeDocument/2006/math">
                    <m:r>
                      <a:rPr lang="en-US" altLang="zh-CN" sz="2000" b="1" i="0"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𝑩</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𝑪</m:t>
                        </m:r>
                      </m:e>
                    </m:ba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oMath>
                </a14:m>
                <a:r>
                  <a:rPr lang="zh-CN" altLang="en-US" sz="2000" b="1" i="0">
                    <a:solidFill>
                      <a:srgbClr val="C00000"/>
                    </a:solidFill>
                    <a:latin typeface="+mj-lt"/>
                  </a:rPr>
                  <a:t>且</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𝑩</m:t>
                        </m:r>
                      </m:e>
                    </m:ba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𝑪</m:t>
                        </m:r>
                      </m:e>
                    </m:bar>
                    <m:r>
                      <a:rPr lang="en-US" altLang="zh-CN" sz="2000" b="1" i="1" smtClean="0">
                        <a:solidFill>
                          <a:srgbClr val="C00000"/>
                        </a:solidFill>
                        <a:latin typeface="Cambria Math" panose="02040503050406030204" pitchFamily="18" charset="0"/>
                      </a:rPr>
                      <m:t>|</m:t>
                    </m:r>
                    <m:r>
                      <a:rPr lang="en-US" altLang="zh-CN" sz="2000" b="1" i="0" smtClean="0">
                        <a:solidFill>
                          <a:srgbClr val="C00000"/>
                        </a:solidFill>
                        <a:latin typeface="Cambria Math" panose="02040503050406030204" pitchFamily="18" charset="0"/>
                      </a:rPr>
                      <m:t>=      </m:t>
                    </m:r>
                    <m:r>
                      <a:rPr lang="en-US" altLang="zh-CN" sz="2000" b="1" i="0" smtClean="0">
                        <a:solidFill>
                          <a:srgbClr val="C00000"/>
                        </a:solidFill>
                        <a:latin typeface="Cambria Math" panose="02040503050406030204" pitchFamily="18" charset="0"/>
                      </a:rPr>
                      <m:t>𝟖</m:t>
                    </m:r>
                    <m:r>
                      <a:rPr lang="en-US" altLang="zh-CN" sz="2000" b="1" i="0" smtClean="0">
                        <a:solidFill>
                          <a:srgbClr val="C00000"/>
                        </a:solidFill>
                        <a:latin typeface="Cambria Math" panose="02040503050406030204" pitchFamily="18" charset="0"/>
                      </a:rPr>
                      <m:t>        </m:t>
                    </m:r>
                  </m:oMath>
                </a14:m>
                <a:r>
                  <a:rPr lang="zh-CN" altLang="en-US" sz="2000" b="1">
                    <a:solidFill>
                      <a:schemeClr val="tx2">
                        <a:lumMod val="50000"/>
                      </a:schemeClr>
                    </a:solidFill>
                  </a:rPr>
                  <a:t>。</a:t>
                </a:r>
              </a:p>
            </p:txBody>
          </p:sp>
        </mc:Choice>
        <mc:Fallback xmlns="">
          <p:sp>
            <p:nvSpPr>
              <p:cNvPr id="66" name="文本框 65"/>
              <p:cNvSpPr txBox="1">
                <a:spLocks noRot="1" noChangeAspect="1" noMove="1" noResize="1" noEditPoints="1" noAdjustHandles="1" noChangeArrowheads="1" noChangeShapeType="1" noTextEdit="1"/>
              </p:cNvSpPr>
              <p:nvPr/>
            </p:nvSpPr>
            <p:spPr>
              <a:xfrm>
                <a:off x="698976" y="4076441"/>
                <a:ext cx="10163694" cy="442685"/>
              </a:xfrm>
              <a:prstGeom prst="rect">
                <a:avLst/>
              </a:prstGeom>
              <a:blipFill rotWithShape="1">
                <a:blip r:embed="rId12"/>
                <a:stretch>
                  <a:fillRect l="-5" t="-85" r="4" b="105"/>
                </a:stretch>
              </a:blipFill>
            </p:spPr>
            <p:txBody>
              <a:bodyPr/>
              <a:lstStyle/>
              <a:p>
                <a:r>
                  <a:rPr lang="zh-CN" altLang="en-US">
                    <a:noFill/>
                  </a:rPr>
                  <a:t> </a:t>
                </a:r>
              </a:p>
            </p:txBody>
          </p:sp>
        </mc:Fallback>
      </mc:AlternateContent>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容斥原理</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36</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容斥原理综合运用练习</a:t>
            </a:r>
          </a:p>
        </p:txBody>
      </p:sp>
      <mc:AlternateContent xmlns:mc="http://schemas.openxmlformats.org/markup-compatibility/2006" xmlns:a14="http://schemas.microsoft.com/office/drawing/2010/main">
        <mc:Choice Requires="a14">
          <p:graphicFrame>
            <p:nvGraphicFramePr>
              <p:cNvPr id="35" name="表格 34"/>
              <p:cNvGraphicFramePr>
                <a:graphicFrameLocks noGrp="1"/>
              </p:cNvGraphicFramePr>
              <p:nvPr/>
            </p:nvGraphicFramePr>
            <p:xfrm>
              <a:off x="1414740" y="5199656"/>
              <a:ext cx="9362520" cy="864362"/>
            </p:xfrm>
            <a:graphic>
              <a:graphicData uri="http://schemas.openxmlformats.org/drawingml/2006/table">
                <a:tbl>
                  <a:tblPr>
                    <a:tableStyleId>{5C22544A-7EE6-4342-B048-85BDC9FD1C3A}</a:tableStyleId>
                  </a:tblPr>
                  <a:tblGrid>
                    <a:gridCol w="2340630">
                      <a:extLst>
                        <a:ext uri="{9D8B030D-6E8A-4147-A177-3AD203B41FA5}">
                          <a16:colId xmlns:a16="http://schemas.microsoft.com/office/drawing/2014/main" val="20000"/>
                        </a:ext>
                      </a:extLst>
                    </a:gridCol>
                    <a:gridCol w="2340630">
                      <a:extLst>
                        <a:ext uri="{9D8B030D-6E8A-4147-A177-3AD203B41FA5}">
                          <a16:colId xmlns:a16="http://schemas.microsoft.com/office/drawing/2014/main" val="20001"/>
                        </a:ext>
                      </a:extLst>
                    </a:gridCol>
                    <a:gridCol w="2340630">
                      <a:extLst>
                        <a:ext uri="{9D8B030D-6E8A-4147-A177-3AD203B41FA5}">
                          <a16:colId xmlns:a16="http://schemas.microsoft.com/office/drawing/2014/main" val="20002"/>
                        </a:ext>
                      </a:extLst>
                    </a:gridCol>
                    <a:gridCol w="2340630">
                      <a:extLst>
                        <a:ext uri="{9D8B030D-6E8A-4147-A177-3AD203B41FA5}">
                          <a16:colId xmlns:a16="http://schemas.microsoft.com/office/drawing/2014/main" val="20003"/>
                        </a:ext>
                      </a:extLst>
                    </a:gridCol>
                  </a:tblGrid>
                  <a:tr h="294065">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  </a:t>
                          </a:r>
                          <a14:m>
                            <m:oMath xmlns:m="http://schemas.openxmlformats.org/officeDocument/2006/math">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D.  </a:t>
                          </a:r>
                          <a14:m>
                            <m:oMath xmlns:m="http://schemas.openxmlformats.org/officeDocument/2006/math">
                              <m:bar>
                                <m:barPr>
                                  <m:pos m:val="top"/>
                                  <m:ctrlPr>
                                    <a:rPr lang="en-US" altLang="zh-CN" sz="2000" b="1" i="1" kern="1200" smtClean="0">
                                      <a:solidFill>
                                        <a:schemeClr val="accent2">
                                          <a:lumMod val="50000"/>
                                        </a:schemeClr>
                                      </a:solidFill>
                                      <a:latin typeface="Cambria Math" panose="02040503050406030204" pitchFamily="18" charset="0"/>
                                      <a:ea typeface="+mn-ea"/>
                                      <a:cs typeface="+mn-cs"/>
                                    </a:rPr>
                                  </m:ctrlPr>
                                </m:barPr>
                                <m:e>
                                  <m:r>
                                    <a:rPr lang="en-US" altLang="zh-CN" sz="2000" b="1" i="1" kern="1200" smtClean="0">
                                      <a:solidFill>
                                        <a:schemeClr val="accent2">
                                          <a:lumMod val="50000"/>
                                        </a:schemeClr>
                                      </a:solidFill>
                                      <a:latin typeface="Cambria Math" panose="02040503050406030204" pitchFamily="18" charset="0"/>
                                      <a:ea typeface="+mn-ea"/>
                                      <a:cs typeface="+mn-cs"/>
                                    </a:rPr>
                                    <m:t>𝑨</m:t>
                                  </m:r>
                                  <m:r>
                                    <a:rPr lang="en-US" altLang="zh-CN" sz="2000" b="1" i="1" kern="1200" smtClean="0">
                                      <a:solidFill>
                                        <a:schemeClr val="accent2">
                                          <a:lumMod val="50000"/>
                                        </a:schemeClr>
                                      </a:solidFill>
                                      <a:latin typeface="Cambria Math" panose="02040503050406030204" pitchFamily="18" charset="0"/>
                                      <a:ea typeface="+mn-ea"/>
                                      <a:cs typeface="+mn-cs"/>
                                    </a:rPr>
                                    <m:t>∩</m:t>
                                  </m:r>
                                  <m:r>
                                    <a:rPr lang="en-US" altLang="zh-CN" sz="2000" b="1" i="1" kern="1200" smtClean="0">
                                      <a:solidFill>
                                        <a:schemeClr val="accent2">
                                          <a:lumMod val="50000"/>
                                        </a:schemeClr>
                                      </a:solidFill>
                                      <a:latin typeface="Cambria Math" panose="02040503050406030204" pitchFamily="18" charset="0"/>
                                      <a:ea typeface="+mn-ea"/>
                                      <a:cs typeface="+mn-cs"/>
                                    </a:rPr>
                                    <m:t>𝑩</m:t>
                                  </m:r>
                                  <m:r>
                                    <a:rPr lang="en-US" altLang="zh-CN" sz="2000" b="1" i="1" kern="1200" smtClean="0">
                                      <a:solidFill>
                                        <a:schemeClr val="accent2">
                                          <a:lumMod val="50000"/>
                                        </a:schemeClr>
                                      </a:solidFill>
                                      <a:latin typeface="Cambria Math" panose="02040503050406030204" pitchFamily="18" charset="0"/>
                                      <a:ea typeface="+mn-ea"/>
                                      <a:cs typeface="+mn-cs"/>
                                    </a:rPr>
                                    <m:t>∩</m:t>
                                  </m:r>
                                  <m:r>
                                    <a:rPr lang="en-US" altLang="zh-CN" sz="2000" b="1" i="1" kern="1200" smtClean="0">
                                      <a:solidFill>
                                        <a:schemeClr val="accent2">
                                          <a:lumMod val="50000"/>
                                        </a:schemeClr>
                                      </a:solidFill>
                                      <a:latin typeface="Cambria Math" panose="02040503050406030204" pitchFamily="18" charset="0"/>
                                      <a:ea typeface="+mn-ea"/>
                                      <a:cs typeface="+mn-cs"/>
                                    </a:rPr>
                                    <m:t>𝑪</m:t>
                                  </m:r>
                                </m:e>
                              </m:bar>
                            </m:oMath>
                          </a14:m>
                          <a:endParaRPr lang="zh-CN" altLang="en-US" sz="2000" b="1" i="0" kern="1200">
                            <a:solidFill>
                              <a:schemeClr val="accent2">
                                <a:lumMod val="50000"/>
                              </a:schemeClr>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0000"/>
                      </a:ext>
                    </a:extLst>
                  </a:tr>
                  <a:tr h="370840">
                    <a:tc>
                      <a:txBody>
                        <a:bodyPr/>
                        <a:lstStyle/>
                        <a:p>
                          <a:pPr algn="l"/>
                          <a:r>
                            <a:rPr lang="en-US" altLang="zh-CN" sz="2000" b="1">
                              <a:solidFill>
                                <a:srgbClr val="C00000"/>
                              </a:solidFill>
                            </a:rPr>
                            <a:t>E.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F.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G.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a:solidFill>
                                <a:srgbClr val="C00000"/>
                              </a:solidFill>
                            </a:rPr>
                            <a:t>H.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e>
                              </m:ba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35" name="表格 34"/>
              <p:cNvGraphicFramePr>
                <a:graphicFrameLocks noGrp="1"/>
              </p:cNvGraphicFramePr>
              <p:nvPr/>
            </p:nvGraphicFramePr>
            <p:xfrm>
              <a:off x="1414740" y="5199656"/>
              <a:ext cx="9362520" cy="864362"/>
            </p:xfrm>
            <a:graphic>
              <a:graphicData uri="http://schemas.openxmlformats.org/drawingml/2006/table">
                <a:tbl>
                  <a:tblPr>
                    <a:tableStyleId>{5C22544A-7EE6-4342-B048-85BDC9FD1C3A}</a:tableStyleId>
                  </a:tblPr>
                  <a:tblGrid>
                    <a:gridCol w="2340630"/>
                    <a:gridCol w="2340630"/>
                    <a:gridCol w="2340630"/>
                    <a:gridCol w="2340630"/>
                  </a:tblGrid>
                  <a:tr h="45466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r>
                  <a:tr h="45466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3"/>
                        </a:blipFill>
                      </a:tcPr>
                    </a:tc>
                  </a:tr>
                </a:tbl>
              </a:graphicData>
            </a:graphic>
          </p:graphicFrame>
        </mc:Fallback>
      </mc:AlternateContent>
      <p:grpSp>
        <p:nvGrpSpPr>
          <p:cNvPr id="56" name="组合 55"/>
          <p:cNvGrpSpPr/>
          <p:nvPr/>
        </p:nvGrpSpPr>
        <p:grpSpPr>
          <a:xfrm>
            <a:off x="698975" y="1973140"/>
            <a:ext cx="10602746" cy="1867543"/>
            <a:chOff x="698975" y="1973140"/>
            <a:chExt cx="10602746" cy="1867543"/>
          </a:xfrm>
        </p:grpSpPr>
        <p:grpSp>
          <p:nvGrpSpPr>
            <p:cNvPr id="36" name="组合 35"/>
            <p:cNvGrpSpPr/>
            <p:nvPr/>
          </p:nvGrpSpPr>
          <p:grpSpPr>
            <a:xfrm>
              <a:off x="698975" y="1973140"/>
              <a:ext cx="10602746" cy="1867543"/>
              <a:chOff x="656406" y="1865108"/>
              <a:chExt cx="10602746" cy="1867543"/>
            </a:xfrm>
          </p:grpSpPr>
          <mc:AlternateContent xmlns:mc="http://schemas.openxmlformats.org/markup-compatibility/2006" xmlns:a14="http://schemas.microsoft.com/office/drawing/2010/main">
            <mc:Choice Requires="a14">
              <p:sp>
                <p:nvSpPr>
                  <p:cNvPr id="6" name="文本框 5"/>
                  <p:cNvSpPr txBox="1"/>
                  <p:nvPr/>
                </p:nvSpPr>
                <p:spPr>
                  <a:xfrm>
                    <a:off x="656409" y="1865108"/>
                    <a:ext cx="9833068" cy="436402"/>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三种期刊都没有阅读过的学生集合是 </a:t>
                    </a:r>
                    <a14:m>
                      <m:oMath xmlns:m="http://schemas.openxmlformats.org/officeDocument/2006/math">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𝑩</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𝑪</m:t>
                            </m:r>
                          </m:e>
                        </m:bar>
                        <m:r>
                          <a:rPr lang="en-US" altLang="zh-CN" sz="2000" b="1" i="1" smtClean="0">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e>
                        </m:bar>
                      </m:oMath>
                    </a14:m>
                    <a:r>
                      <a:rPr lang="zh-CN" altLang="en-US" sz="2000" b="1">
                        <a:solidFill>
                          <a:schemeClr val="tx2">
                            <a:lumMod val="50000"/>
                          </a:schemeClr>
                        </a:solidFill>
                      </a:rPr>
                      <a:t>，根据已知条件有</a:t>
                    </a:r>
                    <a:r>
                      <a:rPr lang="en-US" altLang="zh-CN" sz="2000" b="1">
                        <a:solidFill>
                          <a:schemeClr val="tx2">
                            <a:lumMod val="50000"/>
                          </a:schemeClr>
                        </a:solidFill>
                      </a:rPr>
                      <a:t>8</a:t>
                    </a:r>
                    <a:r>
                      <a:rPr lang="zh-CN" altLang="en-US" sz="2000" b="1">
                        <a:solidFill>
                          <a:schemeClr val="tx2">
                            <a:lumMod val="50000"/>
                          </a:schemeClr>
                        </a:solidFill>
                      </a:rPr>
                      <a:t>人。</a:t>
                    </a:r>
                  </a:p>
                </p:txBody>
              </p:sp>
            </mc:Choice>
            <mc:Fallback xmlns="">
              <p:sp>
                <p:nvSpPr>
                  <p:cNvPr id="6" name="文本框 5"/>
                  <p:cNvSpPr txBox="1">
                    <a:spLocks noRot="1" noChangeAspect="1" noMove="1" noResize="1" noEditPoints="1" noAdjustHandles="1" noChangeArrowheads="1" noChangeShapeType="1" noTextEdit="1"/>
                  </p:cNvSpPr>
                  <p:nvPr/>
                </p:nvSpPr>
                <p:spPr>
                  <a:xfrm>
                    <a:off x="656409" y="1865108"/>
                    <a:ext cx="9833068" cy="436402"/>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656407" y="2938615"/>
                    <a:ext cx="7658713"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三种期刊都阅读过的学生集合是 </a:t>
                    </a:r>
                    <a14:m>
                      <m:oMath xmlns:m="http://schemas.openxmlformats.org/officeDocument/2006/math">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oMath>
                    </a14:m>
                    <a:r>
                      <a:rPr lang="zh-CN" altLang="en-US" sz="2000" b="1">
                        <a:solidFill>
                          <a:schemeClr val="tx2">
                            <a:lumMod val="50000"/>
                          </a:schemeClr>
                        </a:solidFill>
                      </a:rPr>
                      <a:t> ，根据容斥原理有：</a:t>
                    </a:r>
                  </a:p>
                </p:txBody>
              </p:sp>
            </mc:Choice>
            <mc:Fallback xmlns="">
              <p:sp>
                <p:nvSpPr>
                  <p:cNvPr id="21" name="文本框 20"/>
                  <p:cNvSpPr txBox="1">
                    <a:spLocks noRot="1" noChangeAspect="1" noMove="1" noResize="1" noEditPoints="1" noAdjustHandles="1" noChangeArrowheads="1" noChangeShapeType="1" noTextEdit="1"/>
                  </p:cNvSpPr>
                  <p:nvPr/>
                </p:nvSpPr>
                <p:spPr>
                  <a:xfrm>
                    <a:off x="656407" y="2938615"/>
                    <a:ext cx="7658713" cy="400110"/>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656407" y="2403459"/>
                    <a:ext cx="10602745" cy="436402"/>
                  </a:xfrm>
                  <a:prstGeom prst="rect">
                    <a:avLst/>
                  </a:prstGeom>
                  <a:solidFill>
                    <a:schemeClr val="accent6">
                      <a:lumMod val="20000"/>
                      <a:lumOff val="80000"/>
                      <a:alpha val="50000"/>
                    </a:schemeClr>
                  </a:solidFill>
                </p:spPr>
                <p:txBody>
                  <a:bodyPr wrap="square" rtlCol="0">
                    <a:spAutoFit/>
                  </a:bodyPr>
                  <a:lstStyle/>
                  <a:p>
                    <a:r>
                      <a:rPr lang="zh-CN" altLang="en-US" sz="2000" b="1">
                        <a:solidFill>
                          <a:schemeClr val="tx2">
                            <a:lumMod val="50000"/>
                          </a:schemeClr>
                        </a:solidFill>
                      </a:rPr>
                      <a:t>阅读过三种期刊之一的学生集合是 </a:t>
                    </a:r>
                    <a14:m>
                      <m:oMath xmlns:m="http://schemas.openxmlformats.org/officeDocument/2006/math">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oMath>
                    </a14:m>
                    <a:r>
                      <a:rPr lang="en-US" altLang="zh-CN" sz="2000" b="1">
                        <a:solidFill>
                          <a:schemeClr val="tx2">
                            <a:lumMod val="50000"/>
                          </a:schemeClr>
                        </a:solidFill>
                      </a:rPr>
                      <a:t> </a:t>
                    </a:r>
                    <a14:m>
                      <m:oMath xmlns:m="http://schemas.openxmlformats.org/officeDocument/2006/math">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𝑼</m:t>
                        </m: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𝑨</m:t>
                            </m:r>
                          </m:e>
                        </m:ba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𝑩</m:t>
                            </m:r>
                          </m:e>
                        </m:bar>
                        <m:r>
                          <a:rPr lang="en-US" altLang="zh-CN" sz="2000" b="1" i="1">
                            <a:solidFill>
                              <a:srgbClr val="C00000"/>
                            </a:solidFill>
                            <a:latin typeface="Cambria Math" panose="02040503050406030204" pitchFamily="18" charset="0"/>
                          </a:rPr>
                          <m:t>∩</m:t>
                        </m:r>
                        <m:bar>
                          <m:barPr>
                            <m:pos m:val="top"/>
                            <m:ctrlPr>
                              <a:rPr lang="en-US" altLang="zh-CN" sz="2000" b="1" i="1">
                                <a:solidFill>
                                  <a:srgbClr val="C00000"/>
                                </a:solidFill>
                                <a:latin typeface="Cambria Math" panose="02040503050406030204" pitchFamily="18" charset="0"/>
                              </a:rPr>
                            </m:ctrlPr>
                          </m:barPr>
                          <m:e>
                            <m:r>
                              <a:rPr lang="en-US" altLang="zh-CN" sz="2000" b="1" i="1">
                                <a:solidFill>
                                  <a:srgbClr val="C00000"/>
                                </a:solidFill>
                                <a:latin typeface="Cambria Math" panose="02040503050406030204" pitchFamily="18" charset="0"/>
                              </a:rPr>
                              <m:t>𝑪</m:t>
                            </m:r>
                          </m:e>
                        </m:bar>
                      </m:oMath>
                    </a14:m>
                    <a:r>
                      <a:rPr lang="zh-CN" altLang="en-US" sz="2000" b="1">
                        <a:solidFill>
                          <a:schemeClr val="tx2">
                            <a:lumMod val="50000"/>
                          </a:schemeClr>
                        </a:solidFill>
                      </a:rPr>
                      <a:t>，因此</a:t>
                    </a:r>
                    <a14:m>
                      <m:oMath xmlns:m="http://schemas.openxmlformats.org/officeDocument/2006/math">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𝟓𝟐</m:t>
                        </m:r>
                      </m:oMath>
                    </a14:m>
                    <a:r>
                      <a:rPr lang="zh-CN" altLang="en-US" sz="2000" b="1">
                        <a:solidFill>
                          <a:schemeClr val="tx2">
                            <a:lumMod val="50000"/>
                          </a:schemeClr>
                        </a:solidFill>
                      </a:rPr>
                      <a:t>         。</a:t>
                    </a:r>
                  </a:p>
                </p:txBody>
              </p:sp>
            </mc:Choice>
            <mc:Fallback xmlns="">
              <p:sp>
                <p:nvSpPr>
                  <p:cNvPr id="23" name="文本框 22"/>
                  <p:cNvSpPr txBox="1">
                    <a:spLocks noRot="1" noChangeAspect="1" noMove="1" noResize="1" noEditPoints="1" noAdjustHandles="1" noChangeArrowheads="1" noChangeShapeType="1" noTextEdit="1"/>
                  </p:cNvSpPr>
                  <p:nvPr/>
                </p:nvSpPr>
                <p:spPr>
                  <a:xfrm>
                    <a:off x="656407" y="2403459"/>
                    <a:ext cx="10602745" cy="436402"/>
                  </a:xfrm>
                  <a:prstGeom prst="rect">
                    <a:avLst/>
                  </a:prstGeom>
                  <a:blipFill rotWithShape="1">
                    <a:blip r:embed="rId1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656406" y="3332541"/>
                    <a:ext cx="9629139" cy="400110"/>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e>
                        </m:d>
                        <m:r>
                          <a:rPr lang="en-US" altLang="zh-CN" sz="2000" b="1" i="1">
                            <a:solidFill>
                              <a:srgbClr val="C00000"/>
                            </a:solidFill>
                            <a:latin typeface="Cambria Math" panose="02040503050406030204" pitchFamily="18" charset="0"/>
                          </a:rPr>
                          <m:t>=</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𝑪</m:t>
                            </m:r>
                          </m:e>
                        </m:d>
                        <m: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a:solidFill>
                              <a:schemeClr val="accent2">
                                <a:lumMod val="50000"/>
                              </a:schemeClr>
                            </a:solidFill>
                            <a:latin typeface="Cambria Math" panose="02040503050406030204" pitchFamily="18" charset="0"/>
                          </a:rPr>
                          <m:t>+</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𝑪</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𝟑</m:t>
                        </m:r>
                      </m:oMath>
                    </a14:m>
                    <a:r>
                      <a:rPr lang="en-US" altLang="zh-CN" sz="2000" b="1">
                        <a:solidFill>
                          <a:schemeClr val="tx2">
                            <a:lumMod val="50000"/>
                          </a:schemeClr>
                        </a:solidFill>
                      </a:rPr>
                      <a:t> </a:t>
                    </a:r>
                    <a:endParaRPr lang="zh-CN" altLang="en-US" sz="2000" b="1">
                      <a:solidFill>
                        <a:schemeClr val="tx2">
                          <a:lumMod val="50000"/>
                        </a:schemeClr>
                      </a:solidFill>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656406" y="3332541"/>
                    <a:ext cx="9629139" cy="400110"/>
                  </a:xfrm>
                  <a:prstGeom prst="rect">
                    <a:avLst/>
                  </a:prstGeom>
                  <a:blipFill rotWithShape="1">
                    <a:blip r:embed="rId17"/>
                  </a:blipFill>
                </p:spPr>
                <p:txBody>
                  <a:bodyPr/>
                  <a:lstStyle/>
                  <a:p>
                    <a:r>
                      <a:rPr lang="zh-CN" altLang="en-US">
                        <a:noFill/>
                      </a:rPr>
                      <a:t> </a:t>
                    </a:r>
                  </a:p>
                </p:txBody>
              </p:sp>
            </mc:Fallback>
          </mc:AlternateContent>
        </p:grpSp>
        <p:cxnSp>
          <p:nvCxnSpPr>
            <p:cNvPr id="40" name="直接连接符 39"/>
            <p:cNvCxnSpPr/>
            <p:nvPr/>
          </p:nvCxnSpPr>
          <p:spPr>
            <a:xfrm>
              <a:off x="4899588" y="2348495"/>
              <a:ext cx="256033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17813" y="2897792"/>
              <a:ext cx="114597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532131" y="2896695"/>
              <a:ext cx="114597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8426717" y="2916860"/>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9934986" y="2896695"/>
              <a:ext cx="93913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368694" y="3378446"/>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97417" y="3787404"/>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366661" y="3787404"/>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9053624" y="3779062"/>
              <a:ext cx="121724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698976" y="4438668"/>
            <a:ext cx="10794047" cy="443507"/>
            <a:chOff x="698976" y="4438668"/>
            <a:chExt cx="10794047" cy="443507"/>
          </a:xfrm>
        </p:grpSpPr>
        <mc:AlternateContent xmlns:mc="http://schemas.openxmlformats.org/markup-compatibility/2006" xmlns:a14="http://schemas.microsoft.com/office/drawing/2010/main">
          <mc:Choice Requires="a14">
            <p:sp>
              <p:nvSpPr>
                <p:cNvPr id="27" name="文本框 26"/>
                <p:cNvSpPr txBox="1"/>
                <p:nvPr/>
              </p:nvSpPr>
              <p:spPr>
                <a:xfrm>
                  <a:off x="698976" y="4512843"/>
                  <a:ext cx="10794047" cy="369332"/>
                </a:xfrm>
                <a:prstGeom prst="rect">
                  <a:avLst/>
                </a:prstGeom>
                <a:solidFill>
                  <a:schemeClr val="accent6">
                    <a:lumMod val="20000"/>
                    <a:lumOff val="80000"/>
                    <a:alpha val="50000"/>
                  </a:schemeClr>
                </a:solidFill>
              </p:spPr>
              <p:txBody>
                <a:bodyPr wrap="square" rtlCol="0">
                  <a:spAutoFit/>
                </a:bodyPr>
                <a:lstStyle/>
                <a:p>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𝟖</m:t>
                      </m:r>
                    </m:oMath>
                  </a14:m>
                  <a:r>
                    <a:rPr lang="en-US" altLang="zh-CN" b="1">
                      <a:solidFill>
                        <a:schemeClr val="tx2">
                          <a:lumMod val="50000"/>
                        </a:schemeClr>
                      </a:solidFill>
                    </a:rPr>
                    <a:t> </a:t>
                  </a:r>
                  <a:endParaRPr lang="zh-CN" altLang="en-US" b="1">
                    <a:solidFill>
                      <a:schemeClr val="tx2">
                        <a:lumMod val="50000"/>
                      </a:schemeClr>
                    </a:solidFill>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698976" y="4512843"/>
                  <a:ext cx="10794047" cy="369332"/>
                </a:xfrm>
                <a:prstGeom prst="rect">
                  <a:avLst/>
                </a:prstGeom>
                <a:blipFill rotWithShape="1">
                  <a:blip r:embed="rId18"/>
                </a:blipFill>
              </p:spPr>
              <p:txBody>
                <a:bodyPr/>
                <a:lstStyle/>
                <a:p>
                  <a:r>
                    <a:rPr lang="zh-CN" altLang="en-US">
                      <a:noFill/>
                    </a:rPr>
                    <a:t> </a:t>
                  </a:r>
                </a:p>
              </p:txBody>
            </p:sp>
          </mc:Fallback>
        </mc:AlternateContent>
        <p:cxnSp>
          <p:nvCxnSpPr>
            <p:cNvPr id="51" name="直接连接符 50"/>
            <p:cNvCxnSpPr/>
            <p:nvPr/>
          </p:nvCxnSpPr>
          <p:spPr>
            <a:xfrm>
              <a:off x="5124809" y="4438668"/>
              <a:ext cx="255329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8017333" y="4438668"/>
              <a:ext cx="115955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9" name="文本框 58"/>
          <p:cNvSpPr txBox="1"/>
          <p:nvPr/>
        </p:nvSpPr>
        <p:spPr>
          <a:xfrm>
            <a:off x="7459925" y="179755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60" name="文本框 59"/>
          <p:cNvSpPr txBox="1"/>
          <p:nvPr/>
        </p:nvSpPr>
        <p:spPr>
          <a:xfrm>
            <a:off x="4453352" y="236979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A</a:t>
            </a:r>
            <a:endParaRPr lang="zh-CN" altLang="en-US" b="1">
              <a:solidFill>
                <a:srgbClr val="C00000"/>
              </a:solidFill>
            </a:endParaRPr>
          </a:p>
        </p:txBody>
      </p:sp>
      <p:sp>
        <p:nvSpPr>
          <p:cNvPr id="61" name="文本框 60"/>
          <p:cNvSpPr txBox="1"/>
          <p:nvPr/>
        </p:nvSpPr>
        <p:spPr>
          <a:xfrm>
            <a:off x="7678108" y="2341929"/>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62" name="文本框 61"/>
          <p:cNvSpPr txBox="1"/>
          <p:nvPr/>
        </p:nvSpPr>
        <p:spPr>
          <a:xfrm>
            <a:off x="5585937" y="291501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63" name="文本框 62"/>
          <p:cNvSpPr txBox="1"/>
          <p:nvPr/>
        </p:nvSpPr>
        <p:spPr>
          <a:xfrm>
            <a:off x="2014660" y="3814368"/>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64" name="文本框 63"/>
          <p:cNvSpPr txBox="1"/>
          <p:nvPr/>
        </p:nvSpPr>
        <p:spPr>
          <a:xfrm>
            <a:off x="3583904" y="3812241"/>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A</a:t>
            </a:r>
            <a:endParaRPr lang="zh-CN" altLang="en-US" b="1">
              <a:solidFill>
                <a:srgbClr val="C00000"/>
              </a:solidFill>
            </a:endParaRPr>
          </a:p>
        </p:txBody>
      </p:sp>
      <p:sp>
        <p:nvSpPr>
          <p:cNvPr id="65" name="文本框 64"/>
          <p:cNvSpPr txBox="1"/>
          <p:nvPr/>
        </p:nvSpPr>
        <p:spPr>
          <a:xfrm>
            <a:off x="7688412" y="3925911"/>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F</a:t>
            </a:r>
            <a:endParaRPr lang="zh-CN" altLang="en-US" b="1">
              <a:solidFill>
                <a:srgbClr val="C00000"/>
              </a:solidFill>
            </a:endParaRPr>
          </a:p>
        </p:txBody>
      </p:sp>
      <p:cxnSp>
        <p:nvCxnSpPr>
          <p:cNvPr id="68" name="直接连接符 67"/>
          <p:cNvCxnSpPr/>
          <p:nvPr/>
        </p:nvCxnSpPr>
        <p:spPr>
          <a:xfrm>
            <a:off x="9518307" y="4438668"/>
            <a:ext cx="95453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37</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加乘原理</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容斥原理</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鸽笼原理</a:t>
            </a:r>
            <a:r>
              <a:rPr lang="en-US" altLang="zh-CN" sz="3200" b="1">
                <a:solidFill>
                  <a:schemeClr val="accent6">
                    <a:lumMod val="50000"/>
                  </a:schemeClr>
                </a:solidFill>
                <a:latin typeface="仿宋" panose="02010609060101010101" pitchFamily="49" charset="-122"/>
                <a:ea typeface="仿宋" panose="02010609060101010101" pitchFamily="49" charset="-122"/>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鸽笼原理</a:t>
            </a:r>
            <a:r>
              <a:rPr lang="en-US" altLang="zh-CN" sz="1400">
                <a:latin typeface="楷体" panose="02010609060101010101" pitchFamily="49" charset="-122"/>
                <a:ea typeface="楷体" panose="02010609060101010101" pitchFamily="49" charset="-122"/>
              </a:rPr>
              <a:t>*</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38</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鸽笼原理</a:t>
            </a:r>
            <a:r>
              <a:rPr lang="en-US" altLang="zh-CN"/>
              <a:t>(Pigeonhole Principle)</a:t>
            </a:r>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776251" y="1341998"/>
                <a:ext cx="10639495" cy="138499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鸽笼原理，又称为狄利克雷的抽屉原理</a:t>
                </a:r>
                <a:r>
                  <a:rPr lang="en-US" altLang="zh-CN" sz="2400" b="1" dirty="0">
                    <a:solidFill>
                      <a:srgbClr val="C00000"/>
                    </a:solidFill>
                  </a:rPr>
                  <a:t>(Dirichlet Drawer Principle)</a:t>
                </a:r>
              </a:p>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一个</a:t>
                </a:r>
                <a:r>
                  <a:rPr lang="zh-CN" altLang="en-US" sz="2000" b="1" dirty="0">
                    <a:solidFill>
                      <a:srgbClr val="C00000"/>
                    </a:solidFill>
                    <a:latin typeface="+mn-ea"/>
                  </a:rPr>
                  <a:t>组合存在性</a:t>
                </a:r>
                <a:r>
                  <a:rPr lang="zh-CN" altLang="en-US" sz="2000" b="1" dirty="0">
                    <a:solidFill>
                      <a:srgbClr val="002060"/>
                    </a:solidFill>
                    <a:latin typeface="楷体" panose="02010609060101010101" pitchFamily="49" charset="-122"/>
                    <a:ea typeface="楷体" panose="02010609060101010101" pitchFamily="49" charset="-122"/>
                  </a:rPr>
                  <a:t>原理，断定某种安排、配置或状态的必然存在性</a:t>
                </a:r>
              </a:p>
              <a:p>
                <a:pPr marL="342900" indent="-342900">
                  <a:spcBef>
                    <a:spcPts val="600"/>
                  </a:spcBef>
                  <a:spcAft>
                    <a:spcPts val="600"/>
                  </a:spcAft>
                  <a:buFont typeface="Arial" panose="020B0604020202020204" pitchFamily="34" charset="0"/>
                  <a:buChar char="•"/>
                </a:pPr>
                <a:r>
                  <a:rPr lang="zh-CN" altLang="en-US" sz="2000" b="1" dirty="0">
                    <a:solidFill>
                      <a:schemeClr val="accent6">
                        <a:lumMod val="50000"/>
                      </a:schemeClr>
                    </a:solidFill>
                  </a:rPr>
                  <a:t>设</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dirty="0">
                    <a:solidFill>
                      <a:schemeClr val="accent6">
                        <a:lumMod val="50000"/>
                      </a:schemeClr>
                    </a:solidFill>
                  </a:rPr>
                  <a:t>是正整数，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oMath>
                </a14:m>
                <a:r>
                  <a:rPr lang="zh-CN" altLang="en-US" sz="2000" b="1" dirty="0">
                    <a:solidFill>
                      <a:schemeClr val="accent6">
                        <a:lumMod val="50000"/>
                      </a:schemeClr>
                    </a:solidFill>
                  </a:rPr>
                  <a:t>只或更多鸽子关到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dirty="0">
                    <a:solidFill>
                      <a:schemeClr val="accent6">
                        <a:lumMod val="50000"/>
                      </a:schemeClr>
                    </a:solidFill>
                  </a:rPr>
                  <a:t>个鸽笼里，则至少有一个鸽笼有两只或更多只鸽子</a:t>
                </a:r>
              </a:p>
            </p:txBody>
          </p:sp>
        </mc:Choice>
        <mc:Fallback xmlns="">
          <p:sp>
            <p:nvSpPr>
              <p:cNvPr id="2" name="文本框 1"/>
              <p:cNvSpPr txBox="1">
                <a:spLocks noRot="1" noChangeAspect="1" noMove="1" noResize="1" noEditPoints="1" noAdjustHandles="1" noChangeArrowheads="1" noChangeShapeType="1" noTextEdit="1"/>
              </p:cNvSpPr>
              <p:nvPr/>
            </p:nvSpPr>
            <p:spPr>
              <a:xfrm>
                <a:off x="776251" y="1341998"/>
                <a:ext cx="10639495" cy="1384995"/>
              </a:xfrm>
              <a:prstGeom prst="rect">
                <a:avLst/>
              </a:prstGeom>
              <a:blipFill rotWithShape="1">
                <a:blip r:embed="rId2"/>
                <a:stretch>
                  <a:fillRect l="-3" t="-18" r="3" b="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2277227" y="3095425"/>
                <a:ext cx="7637542" cy="2769989"/>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鸽笼原理用函数所确定的集合之间的对应描述</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都是有穷集合</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如果</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&gt; |</m:t>
                    </m:r>
                    <m:r>
                      <a:rPr lang="en-US" altLang="zh-CN" sz="2000" b="1" i="1" smtClean="0">
                        <a:solidFill>
                          <a:schemeClr val="accent6">
                            <a:lumMod val="50000"/>
                          </a:schemeClr>
                        </a:solidFill>
                        <a:latin typeface="Cambria Math" panose="02040503050406030204" pitchFamily="18" charset="0"/>
                      </a:rPr>
                      <m:t>𝑩</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，则没有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的单函数（一对一函数）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如果</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&lt; |</m:t>
                    </m:r>
                    <m:r>
                      <a:rPr lang="en-US" altLang="zh-CN" sz="2000" b="1" i="1" smtClean="0">
                        <a:solidFill>
                          <a:schemeClr val="accent6">
                            <a:lumMod val="50000"/>
                          </a:schemeClr>
                        </a:solidFill>
                        <a:latin typeface="Cambria Math" panose="02040503050406030204" pitchFamily="18" charset="0"/>
                      </a:rPr>
                      <m:t>𝑩</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，则没有</a:t>
                </a:r>
                <a14:m>
                  <m:oMath xmlns:m="http://schemas.openxmlformats.org/officeDocument/2006/math">
                    <m:r>
                      <a:rPr lang="en-US" altLang="zh-CN" sz="2000" b="1" i="1">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到</a:t>
                </a:r>
                <a14:m>
                  <m:oMath xmlns:m="http://schemas.openxmlformats.org/officeDocument/2006/math">
                    <m:r>
                      <a:rPr lang="en-US" altLang="zh-CN" sz="2000" b="1" i="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的满函数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如果</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𝑩</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，则任意</a:t>
                </a:r>
                <a14:m>
                  <m:oMath xmlns:m="http://schemas.openxmlformats.org/officeDocument/2006/math">
                    <m:r>
                      <a:rPr lang="en-US" altLang="zh-CN" sz="2000" b="1" i="1">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到</a:t>
                </a:r>
                <a14:m>
                  <m:oMath xmlns:m="http://schemas.openxmlformats.org/officeDocument/2006/math">
                    <m:r>
                      <a:rPr lang="en-US" altLang="zh-CN" sz="2000" b="1" i="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的单函数也是满函数，即是双函数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如果</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𝑩</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，则任意</a:t>
                </a:r>
                <a14:m>
                  <m:oMath xmlns:m="http://schemas.openxmlformats.org/officeDocument/2006/math">
                    <m:r>
                      <a:rPr lang="en-US" altLang="zh-CN" sz="2000" b="1" i="1">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rPr>
                  <a:t>到</a:t>
                </a:r>
                <a14:m>
                  <m:oMath xmlns:m="http://schemas.openxmlformats.org/officeDocument/2006/math">
                    <m:r>
                      <a:rPr lang="en-US" altLang="zh-CN" sz="2000" b="1" i="1">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的满函数也是单函数，即是双函数</a:t>
                </a:r>
              </a:p>
            </p:txBody>
          </p:sp>
        </mc:Choice>
        <mc:Fallback xmlns="">
          <p:sp>
            <p:nvSpPr>
              <p:cNvPr id="3" name="文本框 2"/>
              <p:cNvSpPr txBox="1">
                <a:spLocks noRot="1" noChangeAspect="1" noMove="1" noResize="1" noEditPoints="1" noAdjustHandles="1" noChangeArrowheads="1" noChangeShapeType="1" noTextEdit="1"/>
              </p:cNvSpPr>
              <p:nvPr/>
            </p:nvSpPr>
            <p:spPr>
              <a:xfrm>
                <a:off x="2277227" y="3095425"/>
                <a:ext cx="7637542" cy="2769989"/>
              </a:xfrm>
              <a:prstGeom prst="rect">
                <a:avLst/>
              </a:prstGeom>
              <a:blipFill rotWithShape="1">
                <a:blip r:embed="rId3"/>
                <a:stretch>
                  <a:fillRect l="-2" t="-16" r="7" b="20"/>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鸽笼原理</a:t>
            </a:r>
            <a:r>
              <a:rPr lang="en-US" altLang="zh-CN" sz="1400">
                <a:latin typeface="楷体" panose="02010609060101010101" pitchFamily="49" charset="-122"/>
                <a:ea typeface="楷体" panose="02010609060101010101" pitchFamily="49" charset="-122"/>
              </a:rPr>
              <a:t>*</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39</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运用鸽笼原理的例子</a:t>
            </a:r>
          </a:p>
        </p:txBody>
      </p:sp>
      <mc:AlternateContent xmlns:mc="http://schemas.openxmlformats.org/markup-compatibility/2006" xmlns:a14="http://schemas.microsoft.com/office/drawing/2010/main">
        <mc:Choice Requires="a14">
          <p:sp>
            <p:nvSpPr>
              <p:cNvPr id="2" name="文本框 1"/>
              <p:cNvSpPr txBox="1"/>
              <p:nvPr/>
            </p:nvSpPr>
            <p:spPr>
              <a:xfrm>
                <a:off x="1352960" y="1263414"/>
                <a:ext cx="9486077" cy="1838004"/>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从</a:t>
                </a:r>
                <a14:m>
                  <m:oMath xmlns:m="http://schemas.openxmlformats.org/officeDocument/2006/math">
                    <m:r>
                      <a:rPr lang="en-US" altLang="zh-CN" sz="2400" b="1" i="1" smtClean="0">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到</a:t>
                </a:r>
                <a14:m>
                  <m:oMath xmlns:m="http://schemas.openxmlformats.org/officeDocument/2006/math">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𝒏</m:t>
                    </m:r>
                  </m:oMath>
                </a14:m>
                <a:r>
                  <a:rPr lang="zh-CN" altLang="en-US" sz="2400" b="1">
                    <a:solidFill>
                      <a:srgbClr val="002060"/>
                    </a:solidFill>
                    <a:latin typeface="楷体" panose="02010609060101010101" pitchFamily="49" charset="-122"/>
                    <a:ea typeface="楷体" panose="02010609060101010101" pitchFamily="49" charset="-122"/>
                  </a:rPr>
                  <a:t>任取</a:t>
                </a:r>
                <a14:m>
                  <m:oMath xmlns:m="http://schemas.openxmlformats.org/officeDocument/2006/math">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个数，则至少有两个数，其中一个是另一个的倍数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个正整数取出来的</a:t>
                </a:r>
                <a14:m>
                  <m:oMath xmlns:m="http://schemas.openxmlformats.org/officeDocument/2006/math">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oMath>
                </a14:m>
                <a:r>
                  <a:rPr lang="zh-CN" altLang="en-US" sz="2000" b="1">
                    <a:solidFill>
                      <a:srgbClr val="C00000"/>
                    </a:solidFill>
                  </a:rPr>
                  <a:t>个数</a:t>
                </a:r>
                <a:r>
                  <a:rPr lang="zh-CN" altLang="en-US" sz="2000" b="1">
                    <a:solidFill>
                      <a:schemeClr val="accent6">
                        <a:lumMod val="50000"/>
                      </a:schemeClr>
                    </a:solidFill>
                  </a:rPr>
                  <a:t>看做</a:t>
                </a:r>
                <a:r>
                  <a:rPr lang="zh-CN" altLang="en-US" sz="2000" b="1">
                    <a:solidFill>
                      <a:srgbClr val="C00000"/>
                    </a:solidFill>
                  </a:rPr>
                  <a:t>鸽子</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任何整数都可以表示成</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𝒃</m:t>
                        </m:r>
                      </m:sup>
                    </m:sSup>
                    <m: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𝒒</m:t>
                    </m:r>
                  </m:oMath>
                </a14:m>
                <a:r>
                  <a:rPr lang="zh-CN" altLang="en-US" sz="2000" b="1">
                    <a:solidFill>
                      <a:schemeClr val="accent6">
                        <a:lumMod val="50000"/>
                      </a:schemeClr>
                    </a:solidFill>
                  </a:rPr>
                  <a:t>的形式，这里的</a:t>
                </a:r>
                <a:r>
                  <a:rPr lang="zh-CN" altLang="en-US" sz="2000" b="1">
                    <a:solidFill>
                      <a:srgbClr val="C00000"/>
                    </a:solidFill>
                  </a:rPr>
                  <a:t>奇数</a:t>
                </a:r>
                <a14:m>
                  <m:oMath xmlns:m="http://schemas.openxmlformats.org/officeDocument/2006/math">
                    <m:r>
                      <a:rPr lang="en-US" altLang="zh-CN" sz="2000" b="1" i="1" smtClean="0">
                        <a:solidFill>
                          <a:srgbClr val="C00000"/>
                        </a:solidFill>
                        <a:latin typeface="Cambria Math" panose="02040503050406030204" pitchFamily="18" charset="0"/>
                      </a:rPr>
                      <m:t>𝒒</m:t>
                    </m:r>
                  </m:oMath>
                </a14:m>
                <a:r>
                  <a:rPr lang="zh-CN" altLang="en-US" sz="2000" b="1">
                    <a:solidFill>
                      <a:schemeClr val="accent6">
                        <a:lumMod val="50000"/>
                      </a:schemeClr>
                    </a:solidFill>
                  </a:rPr>
                  <a:t>导出了</a:t>
                </a:r>
                <a:r>
                  <a:rPr lang="zh-CN" altLang="en-US" sz="2000" b="1">
                    <a:solidFill>
                      <a:srgbClr val="C00000"/>
                    </a:solidFill>
                  </a:rPr>
                  <a:t>鸽笼</a:t>
                </a:r>
                <a:endParaRPr lang="en-US" altLang="zh-CN" sz="2000" b="1">
                  <a:solidFill>
                    <a:srgbClr val="C00000"/>
                  </a:solidFill>
                </a:endParaRPr>
              </a:p>
              <a:p>
                <a:pPr marL="800100" lvl="1" indent="-34290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latin typeface="楷体" panose="02010609060101010101" pitchFamily="49" charset="-122"/>
                    <a:ea typeface="楷体" panose="02010609060101010101" pitchFamily="49" charset="-122"/>
                  </a:rPr>
                  <a:t>中只有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latin typeface="楷体" panose="02010609060101010101" pitchFamily="49" charset="-122"/>
                    <a:ea typeface="楷体" panose="02010609060101010101" pitchFamily="49" charset="-122"/>
                  </a:rPr>
                  <a:t>个奇数，取出的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latin typeface="楷体" panose="02010609060101010101" pitchFamily="49" charset="-122"/>
                    <a:ea typeface="楷体" panose="02010609060101010101" pitchFamily="49" charset="-122"/>
                  </a:rPr>
                  <a:t>个数存在</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smtClean="0">
                                <a:solidFill>
                                  <a:schemeClr val="accent2">
                                    <a:lumMod val="50000"/>
                                  </a:schemeClr>
                                </a:solidFill>
                                <a:latin typeface="Cambria Math" panose="02040503050406030204" pitchFamily="18" charset="0"/>
                              </a:rPr>
                              <m:t>𝟏</m:t>
                            </m:r>
                          </m:sub>
                        </m:sSub>
                      </m:sup>
                    </m:sSup>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𝒒</m:t>
                    </m:r>
                  </m:oMath>
                </a14:m>
                <a:r>
                  <a:rPr lang="zh-CN" altLang="en-US"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smtClean="0">
                                <a:solidFill>
                                  <a:schemeClr val="accent2">
                                    <a:lumMod val="50000"/>
                                  </a:schemeClr>
                                </a:solidFill>
                                <a:latin typeface="Cambria Math" panose="02040503050406030204" pitchFamily="18" charset="0"/>
                              </a:rPr>
                              <m:t>𝟐</m:t>
                            </m:r>
                          </m:sub>
                        </m:sSub>
                      </m:sup>
                    </m:sSup>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𝒒</m:t>
                    </m:r>
                  </m:oMath>
                </a14:m>
                <a:r>
                  <a:rPr lang="zh-CN" altLang="en-US" b="1">
                    <a:solidFill>
                      <a:schemeClr val="accent2">
                        <a:lumMod val="50000"/>
                      </a:schemeClr>
                    </a:solidFill>
                    <a:latin typeface="楷体" panose="02010609060101010101" pitchFamily="49" charset="-122"/>
                    <a:ea typeface="楷体" panose="02010609060101010101" pitchFamily="49" charset="-122"/>
                  </a:rPr>
                  <a:t>这样两个数</a:t>
                </a:r>
              </a:p>
            </p:txBody>
          </p:sp>
        </mc:Choice>
        <mc:Fallback xmlns="">
          <p:sp>
            <p:nvSpPr>
              <p:cNvPr id="2" name="文本框 1"/>
              <p:cNvSpPr txBox="1">
                <a:spLocks noRot="1" noChangeAspect="1" noMove="1" noResize="1" noEditPoints="1" noAdjustHandles="1" noChangeArrowheads="1" noChangeShapeType="1" noTextEdit="1"/>
              </p:cNvSpPr>
              <p:nvPr/>
            </p:nvSpPr>
            <p:spPr>
              <a:xfrm>
                <a:off x="1352960" y="1263414"/>
                <a:ext cx="9486077" cy="1838004"/>
              </a:xfrm>
              <a:prstGeom prst="rect">
                <a:avLst/>
              </a:prstGeom>
              <a:blipFill rotWithShape="1">
                <a:blip r:embed="rId2"/>
                <a:stretch>
                  <a:fillRect l="-4" t="-22" r="2"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435736" y="3498777"/>
                <a:ext cx="9320523" cy="2647263"/>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正整数序列</a:t>
                </a:r>
                <a14:m>
                  <m:oMath xmlns:m="http://schemas.openxmlformats.org/officeDocument/2006/math">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i="1">
                            <a:solidFill>
                              <a:srgbClr val="002060"/>
                            </a:solidFill>
                            <a:latin typeface="Cambria Math" panose="02040503050406030204" pitchFamily="18" charset="0"/>
                            <a:ea typeface="楷体" panose="02010609060101010101" pitchFamily="49" charset="-122"/>
                          </a:rPr>
                          <m:t>𝒂</m:t>
                        </m:r>
                      </m:e>
                      <m:sub>
                        <m:r>
                          <a:rPr lang="en-US" altLang="zh-CN" sz="2400" b="1" i="1">
                            <a:solidFill>
                              <a:srgbClr val="002060"/>
                            </a:solidFill>
                            <a:latin typeface="Cambria Math" panose="02040503050406030204" pitchFamily="18" charset="0"/>
                            <a:ea typeface="楷体" panose="02010609060101010101" pitchFamily="49" charset="-122"/>
                          </a:rPr>
                          <m:t>𝟏</m:t>
                        </m:r>
                      </m:sub>
                    </m:sSub>
                    <m:r>
                      <a:rPr lang="en-US" altLang="zh-CN" sz="2400" b="1">
                        <a:solidFill>
                          <a:srgbClr val="002060"/>
                        </a:solidFill>
                        <a:latin typeface="Cambria Math" panose="02040503050406030204" pitchFamily="18" charset="0"/>
                        <a:ea typeface="楷体" panose="02010609060101010101" pitchFamily="49" charset="-122"/>
                      </a:rPr>
                      <m:t>, </m:t>
                    </m:r>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i="1">
                            <a:solidFill>
                              <a:srgbClr val="002060"/>
                            </a:solidFill>
                            <a:latin typeface="Cambria Math" panose="02040503050406030204" pitchFamily="18" charset="0"/>
                            <a:ea typeface="楷体" panose="02010609060101010101" pitchFamily="49" charset="-122"/>
                          </a:rPr>
                          <m:t>𝒂</m:t>
                        </m:r>
                      </m:e>
                      <m:sub>
                        <m:r>
                          <a:rPr lang="en-US" altLang="zh-CN" sz="2400" b="1" i="1">
                            <a:solidFill>
                              <a:srgbClr val="002060"/>
                            </a:solidFill>
                            <a:latin typeface="Cambria Math" panose="02040503050406030204" pitchFamily="18" charset="0"/>
                            <a:ea typeface="楷体" panose="02010609060101010101" pitchFamily="49" charset="-122"/>
                          </a:rPr>
                          <m:t>𝟐</m:t>
                        </m:r>
                      </m:sub>
                    </m:sSub>
                    <m:r>
                      <a:rPr lang="en-US" altLang="zh-CN" sz="2400" b="1">
                        <a:solidFill>
                          <a:srgbClr val="002060"/>
                        </a:solidFill>
                        <a:latin typeface="Cambria Math" panose="02040503050406030204" pitchFamily="18" charset="0"/>
                        <a:ea typeface="楷体" panose="02010609060101010101" pitchFamily="49" charset="-122"/>
                      </a:rPr>
                      <m:t>, ⋯, </m:t>
                    </m:r>
                    <m:sSub>
                      <m:sSubPr>
                        <m:ctrlPr>
                          <a:rPr lang="en-US" altLang="zh-CN" sz="2400" b="1" i="1">
                            <a:solidFill>
                              <a:srgbClr val="002060"/>
                            </a:solidFill>
                            <a:latin typeface="Cambria Math" panose="02040503050406030204" pitchFamily="18" charset="0"/>
                            <a:ea typeface="楷体" panose="02010609060101010101" pitchFamily="49" charset="-122"/>
                          </a:rPr>
                        </m:ctrlPr>
                      </m:sSubPr>
                      <m:e>
                        <m:r>
                          <a:rPr lang="en-US" altLang="zh-CN" sz="2400" b="1" i="1">
                            <a:solidFill>
                              <a:srgbClr val="002060"/>
                            </a:solidFill>
                            <a:latin typeface="Cambria Math" panose="02040503050406030204" pitchFamily="18" charset="0"/>
                            <a:ea typeface="楷体" panose="02010609060101010101" pitchFamily="49" charset="-122"/>
                          </a:rPr>
                          <m:t>𝒂</m:t>
                        </m:r>
                      </m:e>
                      <m:sub>
                        <m:r>
                          <a:rPr lang="en-US" altLang="zh-CN" sz="2400" b="1" i="1">
                            <a:solidFill>
                              <a:srgbClr val="002060"/>
                            </a:solidFill>
                            <a:latin typeface="Cambria Math" panose="02040503050406030204" pitchFamily="18" charset="0"/>
                            <a:ea typeface="楷体" panose="02010609060101010101" pitchFamily="49" charset="-122"/>
                          </a:rPr>
                          <m:t>𝒎</m:t>
                        </m:r>
                      </m:sub>
                    </m:sSub>
                  </m:oMath>
                </a14:m>
                <a:r>
                  <a:rPr lang="zh-CN" altLang="en-US" sz="2400" b="1">
                    <a:solidFill>
                      <a:srgbClr val="002060"/>
                    </a:solidFill>
                    <a:latin typeface="楷体" panose="02010609060101010101" pitchFamily="49" charset="-122"/>
                    <a:ea typeface="楷体" panose="02010609060101010101" pitchFamily="49" charset="-122"/>
                  </a:rPr>
                  <a:t>中必存在若干个连续正整数的和是</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𝒎</m:t>
                    </m:r>
                  </m:oMath>
                </a14:m>
                <a:r>
                  <a:rPr lang="zh-CN" altLang="en-US" sz="2400" b="1">
                    <a:solidFill>
                      <a:srgbClr val="002060"/>
                    </a:solidFill>
                    <a:latin typeface="楷体" panose="02010609060101010101" pitchFamily="49" charset="-122"/>
                    <a:ea typeface="楷体" panose="02010609060101010101" pitchFamily="49" charset="-122"/>
                  </a:rPr>
                  <a:t>的倍数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即存在正整数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𝒍</m:t>
                    </m:r>
                  </m:oMath>
                </a14:m>
                <a:r>
                  <a:rPr lang="zh-CN" altLang="en-US" sz="2000" b="1">
                    <a:solidFill>
                      <a:schemeClr val="accent6">
                        <a:lumMod val="50000"/>
                      </a:schemeClr>
                    </a:solidFill>
                  </a:rPr>
                  <a:t>，</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𝒌</m:t>
                    </m:r>
                    <m:r>
                      <a:rPr lang="en-US" altLang="zh-CN" sz="2000" b="1" i="1" smtClean="0">
                        <a:solidFill>
                          <a:schemeClr val="accent6">
                            <a:lumMod val="50000"/>
                          </a:schemeClr>
                        </a:solidFill>
                        <a:latin typeface="Cambria Math" panose="02040503050406030204" pitchFamily="18" charset="0"/>
                      </a:rPr>
                      <m:t> &lt; </m:t>
                    </m:r>
                    <m:r>
                      <a:rPr lang="en-US" altLang="zh-CN" sz="2000" b="1" i="1" smtClean="0">
                        <a:solidFill>
                          <a:schemeClr val="accent6">
                            <a:lumMod val="50000"/>
                          </a:schemeClr>
                        </a:solidFill>
                        <a:latin typeface="Cambria Math" panose="02040503050406030204" pitchFamily="18" charset="0"/>
                      </a:rPr>
                      <m:t>𝒍</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使得</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𝒌</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𝒌</m:t>
                        </m:r>
                        <m:r>
                          <a:rPr lang="en-US" altLang="zh-CN" sz="2000" b="1" i="1">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sub>
                    </m:sSub>
                    <m:r>
                      <a:rPr lang="en-US" altLang="zh-CN" sz="2000" b="1" i="1">
                        <a:solidFill>
                          <a:schemeClr val="accent6">
                            <a:lumMod val="50000"/>
                          </a:schemeClr>
                        </a:solidFill>
                        <a:latin typeface="Cambria Math" panose="02040503050406030204" pitchFamily="18" charset="0"/>
                      </a:rPr>
                      <m:t>+ ⋯+ </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𝒍</m:t>
                        </m:r>
                      </m:sub>
                    </m:sSub>
                  </m:oMath>
                </a14:m>
                <a:r>
                  <a:rPr lang="zh-CN" altLang="en-US" sz="2000" b="1">
                    <a:solidFill>
                      <a:schemeClr val="accent6">
                        <a:lumMod val="50000"/>
                      </a:schemeClr>
                    </a:solidFill>
                  </a:rPr>
                  <a:t>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的倍数</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考虑</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𝒔</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𝒔</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 ⋯,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𝒔</m:t>
                        </m:r>
                      </m:e>
                      <m:sub>
                        <m:r>
                          <a:rPr lang="en-US" altLang="zh-CN" sz="2000" b="1" i="1" smtClean="0">
                            <a:solidFill>
                              <a:schemeClr val="accent6">
                                <a:lumMod val="50000"/>
                              </a:schemeClr>
                            </a:solidFill>
                            <a:latin typeface="Cambria Math" panose="02040503050406030204" pitchFamily="18" charset="0"/>
                          </a:rPr>
                          <m:t>𝒎</m:t>
                        </m:r>
                      </m:sub>
                    </m:sSub>
                    <m:r>
                      <a:rPr lang="en-US" altLang="zh-CN" sz="2000" b="1" i="1" smtClean="0">
                        <a:solidFill>
                          <a:schemeClr val="accent6">
                            <a:lumMod val="50000"/>
                          </a:schemeClr>
                        </a:solidFill>
                        <a:latin typeface="Cambria Math" panose="02040503050406030204" pitchFamily="18" charset="0"/>
                      </a:rPr>
                      <m:t>=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𝟐</m:t>
                        </m:r>
                      </m:sub>
                    </m:sSub>
                    <m:r>
                      <a:rPr lang="en-US" altLang="zh-CN" sz="2000" b="1" i="1" smtClean="0">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𝒂</m:t>
                        </m:r>
                      </m:e>
                      <m:sub>
                        <m:r>
                          <a:rPr lang="en-US" altLang="zh-CN" sz="2000" b="1" i="1">
                            <a:solidFill>
                              <a:schemeClr val="accent6">
                                <a:lumMod val="50000"/>
                              </a:schemeClr>
                            </a:solidFill>
                            <a:latin typeface="Cambria Math" panose="02040503050406030204" pitchFamily="18" charset="0"/>
                          </a:rPr>
                          <m:t>𝒎</m:t>
                        </m:r>
                      </m:sub>
                    </m:sSub>
                  </m:oMath>
                </a14:m>
                <a:r>
                  <a:rPr lang="zh-CN" altLang="en-US" sz="2000" b="1">
                    <a:solidFill>
                      <a:schemeClr val="accent6">
                        <a:lumMod val="50000"/>
                      </a:schemeClr>
                    </a:solidFill>
                  </a:rPr>
                  <a:t>这</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个数整除</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的余数</a:t>
                </a:r>
              </a:p>
              <a:p>
                <a:pPr marL="742950" lvl="1" indent="-28575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若存在</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𝒔</m:t>
                        </m:r>
                      </m:e>
                      <m:sub>
                        <m:r>
                          <a:rPr lang="en-US" altLang="zh-CN" b="1" i="1" smtClean="0">
                            <a:solidFill>
                              <a:schemeClr val="accent2">
                                <a:lumMod val="50000"/>
                              </a:schemeClr>
                            </a:solidFill>
                            <a:latin typeface="Cambria Math" panose="02040503050406030204" pitchFamily="18" charset="0"/>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整除</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latin typeface="楷体" panose="02010609060101010101" pitchFamily="49" charset="-122"/>
                    <a:ea typeface="楷体" panose="02010609060101010101" pitchFamily="49" charset="-122"/>
                  </a:rPr>
                  <a:t>的余数为</a:t>
                </a:r>
                <a:r>
                  <a:rPr lang="en-US" altLang="zh-CN" b="1">
                    <a:solidFill>
                      <a:schemeClr val="accent2">
                        <a:lumMod val="50000"/>
                      </a:schemeClr>
                    </a:solidFill>
                    <a:latin typeface="楷体" panose="02010609060101010101" pitchFamily="49" charset="-122"/>
                    <a:ea typeface="楷体" panose="02010609060101010101" pitchFamily="49" charset="-122"/>
                  </a:rPr>
                  <a:t>0</a:t>
                </a:r>
                <a:r>
                  <a:rPr lang="zh-CN" altLang="en-US" b="1">
                    <a:solidFill>
                      <a:schemeClr val="accent2">
                        <a:lumMod val="50000"/>
                      </a:schemeClr>
                    </a:solidFill>
                    <a:latin typeface="楷体" panose="02010609060101010101" pitchFamily="49" charset="-122"/>
                    <a:ea typeface="楷体" panose="02010609060101010101" pitchFamily="49" charset="-122"/>
                  </a:rPr>
                  <a:t>， 则</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latin typeface="楷体" panose="02010609060101010101" pitchFamily="49" charset="-122"/>
                    <a:ea typeface="楷体" panose="02010609060101010101" pitchFamily="49" charset="-122"/>
                  </a:rPr>
                  <a:t>的倍数</a:t>
                </a:r>
              </a:p>
              <a:p>
                <a:pPr marL="742950" lvl="1" indent="-285750">
                  <a:lnSpc>
                    <a:spcPts val="28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若所有余数都大于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，则存在</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𝒔</m:t>
                        </m:r>
                      </m:e>
                      <m:sub>
                        <m:r>
                          <a:rPr lang="en-US" altLang="zh-CN" b="1" i="1" smtClean="0">
                            <a:solidFill>
                              <a:schemeClr val="accent2">
                                <a:lumMod val="50000"/>
                              </a:schemeClr>
                            </a:solidFill>
                            <a:latin typeface="Cambria Math" panose="02040503050406030204" pitchFamily="18" charset="0"/>
                          </a:rPr>
                          <m:t>𝒊</m:t>
                        </m:r>
                      </m:sub>
                    </m:sSub>
                    <m:r>
                      <a:rPr lang="en-US" altLang="zh-CN" b="1" i="1" smtClean="0">
                        <a:solidFill>
                          <a:schemeClr val="accent2">
                            <a:lumMod val="50000"/>
                          </a:schemeClr>
                        </a:solidFill>
                        <a:latin typeface="Cambria Math" panose="02040503050406030204" pitchFamily="18" charset="0"/>
                      </a:rPr>
                      <m: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𝒔</m:t>
                        </m:r>
                      </m:e>
                      <m:sub>
                        <m:r>
                          <a:rPr lang="en-US" altLang="zh-CN" b="1" i="1" smtClean="0">
                            <a:solidFill>
                              <a:schemeClr val="accent2">
                                <a:lumMod val="50000"/>
                              </a:schemeClr>
                            </a:solidFill>
                            <a:latin typeface="Cambria Math" panose="02040503050406030204" pitchFamily="18" charset="0"/>
                          </a:rPr>
                          <m:t>𝒋</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整除</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latin typeface="楷体" panose="02010609060101010101" pitchFamily="49" charset="-122"/>
                    <a:ea typeface="楷体" panose="02010609060101010101" pitchFamily="49" charset="-122"/>
                  </a:rPr>
                  <a:t>的余数相等，则</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𝒔</m:t>
                        </m:r>
                      </m:e>
                      <m:sub>
                        <m:r>
                          <a:rPr lang="en-US" altLang="zh-CN" b="1" i="1" smtClean="0">
                            <a:solidFill>
                              <a:schemeClr val="accent2">
                                <a:lumMod val="50000"/>
                              </a:schemeClr>
                            </a:solidFill>
                            <a:latin typeface="Cambria Math" panose="02040503050406030204" pitchFamily="18" charset="0"/>
                          </a:rPr>
                          <m:t>𝒋</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𝒔</m:t>
                        </m:r>
                      </m:e>
                      <m:sub>
                        <m:r>
                          <a:rPr lang="en-US" altLang="zh-CN" b="1" i="1" smtClean="0">
                            <a:solidFill>
                              <a:schemeClr val="accent2">
                                <a:lumMod val="50000"/>
                              </a:schemeClr>
                            </a:solidFill>
                            <a:latin typeface="Cambria Math" panose="02040503050406030204" pitchFamily="18" charset="0"/>
                          </a:rPr>
                          <m:t>𝒊</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𝒊</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𝒋</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latin typeface="楷体" panose="02010609060101010101" pitchFamily="49" charset="-122"/>
                    <a:ea typeface="楷体" panose="02010609060101010101" pitchFamily="49" charset="-122"/>
                  </a:rPr>
                  <a:t>的倍数（假定</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𝒋</m:t>
                    </m:r>
                    <m:r>
                      <a:rPr lang="en-US" altLang="zh-CN" b="1" i="1" smtClean="0">
                        <a:solidFill>
                          <a:schemeClr val="accent2">
                            <a:lumMod val="50000"/>
                          </a:schemeClr>
                        </a:solidFill>
                        <a:latin typeface="Cambria Math" panose="02040503050406030204" pitchFamily="18" charset="0"/>
                      </a:rPr>
                      <m:t>&gt;</m:t>
                    </m:r>
                    <m:r>
                      <a:rPr lang="en-US" altLang="zh-CN" b="1" i="1" smtClean="0">
                        <a:solidFill>
                          <a:schemeClr val="accent2">
                            <a:lumMod val="50000"/>
                          </a:schemeClr>
                        </a:solidFill>
                        <a:latin typeface="Cambria Math" panose="02040503050406030204" pitchFamily="18" charset="0"/>
                      </a:rPr>
                      <m:t>𝒊</m:t>
                    </m:r>
                  </m:oMath>
                </a14:m>
                <a:r>
                  <a:rPr lang="zh-CN" altLang="en-US" b="1">
                    <a:solidFill>
                      <a:schemeClr val="accent2">
                        <a:lumMod val="50000"/>
                      </a:schemeClr>
                    </a:solidFill>
                    <a:latin typeface="楷体" panose="02010609060101010101" pitchFamily="49" charset="-122"/>
                    <a:ea typeface="楷体" panose="02010609060101010101" pitchFamily="49" charset="-122"/>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1435736" y="3498777"/>
                <a:ext cx="9320523" cy="2647263"/>
              </a:xfrm>
              <a:prstGeom prst="rect">
                <a:avLst/>
              </a:prstGeom>
              <a:blipFill rotWithShape="1">
                <a:blip r:embed="rId3"/>
                <a:stretch>
                  <a:fillRect t="-21" r="7" b="-12622"/>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鸽笼原理</a:t>
            </a:r>
            <a:r>
              <a:rPr lang="en-US" altLang="zh-CN" sz="1400">
                <a:latin typeface="楷体" panose="02010609060101010101" pitchFamily="49" charset="-122"/>
                <a:ea typeface="楷体" panose="02010609060101010101" pitchFamily="49" charset="-122"/>
              </a:rPr>
              <a:t>*</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40</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鸽笼原理与中国剩余定理</a:t>
            </a:r>
          </a:p>
        </p:txBody>
      </p:sp>
      <p:sp>
        <p:nvSpPr>
          <p:cNvPr id="2" name="文本框 1"/>
          <p:cNvSpPr txBox="1"/>
          <p:nvPr/>
        </p:nvSpPr>
        <p:spPr>
          <a:xfrm>
            <a:off x="592056" y="1158580"/>
            <a:ext cx="8979541" cy="461665"/>
          </a:xfrm>
          <a:prstGeom prst="rect">
            <a:avLst/>
          </a:prstGeom>
          <a:solidFill>
            <a:schemeClr val="accent4">
              <a:lumMod val="40000"/>
              <a:lumOff val="60000"/>
            </a:schemeClr>
          </a:solidFill>
        </p:spPr>
        <p:txBody>
          <a:bodyPr wrap="square" rtlCol="0">
            <a:spAutoFit/>
          </a:bodyPr>
          <a:lstStyle/>
          <a:p>
            <a:r>
              <a:rPr lang="zh-CN" altLang="en-US" sz="2400" b="1">
                <a:solidFill>
                  <a:schemeClr val="accent2">
                    <a:lumMod val="50000"/>
                  </a:schemeClr>
                </a:solidFill>
              </a:rPr>
              <a:t>鸽笼原理可用于证明中国剩余定理</a:t>
            </a:r>
            <a:r>
              <a:rPr lang="en-US" altLang="zh-CN" sz="2400" b="1">
                <a:solidFill>
                  <a:schemeClr val="accent2">
                    <a:lumMod val="50000"/>
                  </a:schemeClr>
                </a:solidFill>
              </a:rPr>
              <a:t>(Chinese Remainder Theorem)</a:t>
            </a:r>
            <a:endParaRPr lang="zh-CN" altLang="en-US" sz="2400" b="1">
              <a:solidFill>
                <a:schemeClr val="accent2">
                  <a:lumMod val="50000"/>
                </a:schemeClr>
              </a:solidFill>
            </a:endParaRPr>
          </a:p>
        </p:txBody>
      </p:sp>
      <mc:AlternateContent xmlns:mc="http://schemas.openxmlformats.org/markup-compatibility/2006" xmlns:a14="http://schemas.microsoft.com/office/drawing/2010/main">
        <mc:Choice Requires="a14">
          <p:sp>
            <p:nvSpPr>
              <p:cNvPr id="3" name="文本框 2"/>
              <p:cNvSpPr txBox="1"/>
              <p:nvPr/>
            </p:nvSpPr>
            <p:spPr>
              <a:xfrm>
                <a:off x="1071007" y="1829845"/>
                <a:ext cx="10049984" cy="1169551"/>
              </a:xfrm>
              <a:prstGeom prst="rect">
                <a:avLst/>
              </a:prstGeom>
              <a:solidFill>
                <a:schemeClr val="accent5">
                  <a:lumMod val="20000"/>
                  <a:lumOff val="80000"/>
                  <a:alpha val="49000"/>
                </a:schemeClr>
              </a:solidFill>
            </p:spPr>
            <p:txBody>
              <a:bodyPr wrap="square" rtlCol="0">
                <a:spAutoFit/>
              </a:bodyPr>
              <a:lstStyle/>
              <a:p>
                <a:pPr algn="ctr">
                  <a:spcBef>
                    <a:spcPts val="600"/>
                  </a:spcBef>
                </a:pPr>
                <a:r>
                  <a:rPr lang="zh-CN" altLang="en-US" sz="2000" b="1">
                    <a:solidFill>
                      <a:srgbClr val="C00000"/>
                    </a:solidFill>
                  </a:rPr>
                  <a:t>中国剩余定理的简单形式</a:t>
                </a:r>
                <a:endParaRPr lang="en-US" altLang="zh-CN" sz="2000" b="1">
                  <a:solidFill>
                    <a:srgbClr val="C00000"/>
                  </a:solidFill>
                </a:endParaRPr>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设正整数</a:t>
                </a:r>
                <a14:m>
                  <m:oMath xmlns:m="http://schemas.openxmlformats.org/officeDocument/2006/math">
                    <m:r>
                      <a:rPr lang="en-US" altLang="zh-CN" sz="2000" b="1" i="1" smtClean="0">
                        <a:solidFill>
                          <a:srgbClr val="002060"/>
                        </a:solidFill>
                        <a:latin typeface="Cambria Math" panose="02040503050406030204" pitchFamily="18" charset="0"/>
                      </a:rPr>
                      <m:t>𝒎</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互质，整数</a:t>
                </a: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𝒃</m:t>
                    </m:r>
                  </m:oMath>
                </a14:m>
                <a:r>
                  <a:rPr lang="zh-CN" altLang="en-US" sz="2000" b="1">
                    <a:solidFill>
                      <a:srgbClr val="002060"/>
                    </a:solidFill>
                    <a:latin typeface="楷体" panose="02010609060101010101" pitchFamily="49" charset="-122"/>
                    <a:ea typeface="楷体" panose="02010609060101010101" pitchFamily="49" charset="-122"/>
                  </a:rPr>
                  <a:t>满足</a:t>
                </a:r>
                <a14:m>
                  <m:oMath xmlns:m="http://schemas.openxmlformats.org/officeDocument/2006/math">
                    <m:r>
                      <a:rPr lang="en-US" altLang="zh-CN" sz="2000" b="1" i="1" smtClean="0">
                        <a:solidFill>
                          <a:srgbClr val="002060"/>
                        </a:solidFill>
                        <a:latin typeface="Cambria Math" panose="02040503050406030204" pitchFamily="18" charset="0"/>
                      </a:rPr>
                      <m:t>𝟎</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𝒎</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𝟎</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，则存在正整数</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，使得</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𝒂</m:t>
                    </m:r>
                    <m:d>
                      <m:dPr>
                        <m:ctrlPr>
                          <a:rPr lang="en-US" altLang="zh-CN" sz="2000" b="1" i="1">
                            <a:solidFill>
                              <a:schemeClr val="accent2">
                                <a:lumMod val="50000"/>
                              </a:schemeClr>
                            </a:solidFill>
                            <a:latin typeface="Cambria Math" panose="02040503050406030204" pitchFamily="18" charset="0"/>
                          </a:rPr>
                        </m:ctrlPr>
                      </m:dPr>
                      <m:e>
                        <m:r>
                          <a:rPr lang="en-US" altLang="zh-CN" sz="2000" b="1" i="0" smtClean="0">
                            <a:solidFill>
                              <a:schemeClr val="accent2">
                                <a:lumMod val="50000"/>
                              </a:schemeClr>
                            </a:solidFill>
                            <a:latin typeface="Cambria Math" panose="02040503050406030204" pitchFamily="18" charset="0"/>
                          </a:rPr>
                          <m:t>𝐦𝐨𝐝</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𝒎</m:t>
                        </m:r>
                      </m:e>
                    </m:d>
                  </m:oMath>
                </a14:m>
                <a:r>
                  <a:rPr lang="en-US" altLang="zh-CN" sz="2000" b="1">
                    <a:solidFill>
                      <a:schemeClr val="accent2">
                        <a:lumMod val="50000"/>
                      </a:schemeClr>
                    </a:solidFill>
                  </a:rPr>
                  <a:t>  </a:t>
                </a:r>
                <a:r>
                  <a:rPr lang="zh-CN" altLang="en-US" sz="2000" b="1">
                    <a:solidFill>
                      <a:schemeClr val="accent2">
                        <a:lumMod val="50000"/>
                      </a:schemeClr>
                    </a:solidFill>
                  </a:rPr>
                  <a:t>且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d>
                      <m:dPr>
                        <m:ctrlPr>
                          <a:rPr lang="en-US" altLang="zh-CN" sz="2000" b="1" i="1">
                            <a:solidFill>
                              <a:schemeClr val="accent2">
                                <a:lumMod val="50000"/>
                              </a:schemeClr>
                            </a:solidFill>
                            <a:latin typeface="Cambria Math" panose="02040503050406030204" pitchFamily="18" charset="0"/>
                          </a:rPr>
                        </m:ctrlPr>
                      </m:dPr>
                      <m:e>
                        <m:r>
                          <a:rPr lang="en-US" altLang="zh-CN" sz="2000" b="1" i="0" smtClean="0">
                            <a:solidFill>
                              <a:schemeClr val="accent2">
                                <a:lumMod val="50000"/>
                              </a:schemeClr>
                            </a:solidFill>
                            <a:latin typeface="Cambria Math" panose="02040503050406030204" pitchFamily="18" charset="0"/>
                          </a:rPr>
                          <m:t>𝐦𝐨𝐝</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𝒏</m:t>
                        </m:r>
                      </m:e>
                    </m:d>
                  </m:oMath>
                </a14:m>
                <a:endParaRPr lang="en-US" altLang="zh-CN" sz="2000" b="1"/>
              </a:p>
            </p:txBody>
          </p:sp>
        </mc:Choice>
        <mc:Fallback xmlns="">
          <p:sp>
            <p:nvSpPr>
              <p:cNvPr id="3" name="文本框 2"/>
              <p:cNvSpPr txBox="1">
                <a:spLocks noRot="1" noChangeAspect="1" noMove="1" noResize="1" noEditPoints="1" noAdjustHandles="1" noChangeArrowheads="1" noChangeShapeType="1" noTextEdit="1"/>
              </p:cNvSpPr>
              <p:nvPr/>
            </p:nvSpPr>
            <p:spPr>
              <a:xfrm>
                <a:off x="1071007" y="1829845"/>
                <a:ext cx="10049984" cy="1169551"/>
              </a:xfrm>
              <a:prstGeom prst="rect">
                <a:avLst/>
              </a:prstGeom>
              <a:blipFill rotWithShape="1">
                <a:blip r:embed="rId2"/>
                <a:stretch>
                  <a:fillRect l="-4" t="-35" r="2" b="-211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726514" y="3168062"/>
                <a:ext cx="8738970" cy="784830"/>
              </a:xfrm>
              <a:prstGeom prst="rect">
                <a:avLst/>
              </a:prstGeom>
              <a:solidFill>
                <a:schemeClr val="accent4">
                  <a:lumMod val="20000"/>
                  <a:lumOff val="80000"/>
                  <a:alpha val="50000"/>
                </a:schemeClr>
              </a:solidFill>
            </p:spPr>
            <p:txBody>
              <a:bodyPr wrap="square" rtlCol="0">
                <a:spAutoFit/>
              </a:bodyPr>
              <a:lstStyle/>
              <a:p>
                <a:pPr>
                  <a:spcBef>
                    <a:spcPts val="600"/>
                  </a:spcBef>
                  <a:spcAft>
                    <a:spcPts val="300"/>
                  </a:spcAft>
                </a:pPr>
                <a:r>
                  <a:rPr lang="zh-CN" altLang="en-US" sz="2000" b="1">
                    <a:solidFill>
                      <a:schemeClr val="tx2">
                        <a:lumMod val="50000"/>
                      </a:schemeClr>
                    </a:solidFill>
                  </a:rPr>
                  <a:t>一般形式的中国剩余定理用于求解线性同余方程：</a:t>
                </a:r>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𝒎</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𝒎</m:t>
                        </m:r>
                      </m:e>
                      <m:sub>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𝒎</m:t>
                        </m:r>
                      </m:e>
                      <m:sub>
                        <m:r>
                          <a:rPr lang="en-US" altLang="zh-CN" sz="2000" b="1" i="1" smtClean="0">
                            <a:solidFill>
                              <a:srgbClr val="002060"/>
                            </a:solidFill>
                            <a:latin typeface="Cambria Math" panose="02040503050406030204" pitchFamily="18" charset="0"/>
                          </a:rPr>
                          <m:t>𝒏</m:t>
                        </m:r>
                      </m:sub>
                    </m:sSub>
                  </m:oMath>
                </a14:m>
                <a:r>
                  <a:rPr lang="zh-CN" altLang="en-US" sz="2000" b="1">
                    <a:solidFill>
                      <a:srgbClr val="002060"/>
                    </a:solidFill>
                    <a:latin typeface="楷体" panose="02010609060101010101" pitchFamily="49" charset="-122"/>
                    <a:ea typeface="楷体" panose="02010609060101010101" pitchFamily="49" charset="-122"/>
                  </a:rPr>
                  <a:t>两两互质</a:t>
                </a:r>
                <a:endParaRPr lang="en-US" altLang="zh-CN" sz="2000" b="1">
                  <a:solidFill>
                    <a:schemeClr val="tx2">
                      <a:lumMod val="50000"/>
                    </a:schemeClr>
                  </a:solidFill>
                  <a:latin typeface="楷体" panose="02010609060101010101" pitchFamily="49" charset="-122"/>
                  <a:ea typeface="楷体" panose="02010609060101010101" pitchFamily="49" charset="-122"/>
                </a:endParaRPr>
              </a:p>
              <a:p>
                <a:pPr>
                  <a:spcBef>
                    <a:spcPts val="600"/>
                  </a:spcBef>
                  <a:spcAft>
                    <a:spcPts val="300"/>
                  </a:spcAft>
                </a:pPr>
                <a14:m>
                  <m:oMathPara xmlns:m="http://schemas.openxmlformats.org/officeDocument/2006/math">
                    <m:oMathParaPr>
                      <m:jc m:val="centerGroup"/>
                    </m:oMathParaPr>
                    <m:oMath xmlns:m="http://schemas.openxmlformats.org/officeDocument/2006/math">
                      <m:r>
                        <a:rPr lang="pt-BR" altLang="zh-CN" sz="2000" b="1" i="1" smtClean="0">
                          <a:solidFill>
                            <a:schemeClr val="accent2">
                              <a:lumMod val="50000"/>
                            </a:schemeClr>
                          </a:solidFill>
                          <a:latin typeface="Cambria Math" panose="02040503050406030204" pitchFamily="18" charset="0"/>
                        </a:rPr>
                        <m:t>𝒙</m:t>
                      </m:r>
                      <m:r>
                        <a:rPr lang="pt-BR" altLang="zh-CN" sz="2000" b="1" i="1" smtClean="0">
                          <a:solidFill>
                            <a:schemeClr val="accent2">
                              <a:lumMod val="50000"/>
                            </a:schemeClr>
                          </a:solidFill>
                          <a:latin typeface="Cambria Math" panose="02040503050406030204" pitchFamily="18" charset="0"/>
                        </a:rPr>
                        <m:t>≡</m:t>
                      </m:r>
                      <m:sSub>
                        <m:sSubPr>
                          <m:ctrlPr>
                            <a:rPr lang="pt-BR" altLang="zh-CN" sz="2000" b="1" i="1" smtClean="0">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𝒂</m:t>
                          </m:r>
                        </m:e>
                        <m:sub>
                          <m:r>
                            <a:rPr lang="pt-BR" altLang="zh-CN" sz="2000" b="1" i="1" smtClean="0">
                              <a:solidFill>
                                <a:schemeClr val="accent2">
                                  <a:lumMod val="50000"/>
                                </a:schemeClr>
                              </a:solidFill>
                              <a:latin typeface="Cambria Math" panose="02040503050406030204" pitchFamily="18" charset="0"/>
                            </a:rPr>
                            <m:t>𝟏</m:t>
                          </m:r>
                        </m:sub>
                      </m:sSub>
                      <m:d>
                        <m:dPr>
                          <m:ctrlPr>
                            <a:rPr lang="pt-BR" altLang="zh-CN" sz="2000" b="1" i="1" smtClean="0">
                              <a:solidFill>
                                <a:schemeClr val="accent2">
                                  <a:lumMod val="50000"/>
                                </a:schemeClr>
                              </a:solidFill>
                              <a:latin typeface="Cambria Math" panose="02040503050406030204" pitchFamily="18" charset="0"/>
                            </a:rPr>
                          </m:ctrlPr>
                        </m:dPr>
                        <m:e>
                          <m:r>
                            <a:rPr lang="pt-BR" altLang="zh-CN" sz="2000" b="1" i="0">
                              <a:solidFill>
                                <a:schemeClr val="accent2">
                                  <a:lumMod val="50000"/>
                                </a:schemeClr>
                              </a:solidFill>
                              <a:latin typeface="Cambria Math" panose="02040503050406030204" pitchFamily="18" charset="0"/>
                            </a:rPr>
                            <m:t>𝐦𝐨𝐝</m:t>
                          </m:r>
                          <m:r>
                            <a:rPr lang="pt-BR" altLang="zh-CN" sz="2000" b="1" i="1">
                              <a:solidFill>
                                <a:schemeClr val="accent2">
                                  <a:lumMod val="50000"/>
                                </a:schemeClr>
                              </a:solidFill>
                              <a:latin typeface="Cambria Math" panose="02040503050406030204" pitchFamily="18" charset="0"/>
                            </a:rPr>
                            <m:t> </m:t>
                          </m:r>
                          <m:sSub>
                            <m:sSubPr>
                              <m:ctrlPr>
                                <a:rPr lang="pt-BR" altLang="zh-CN" sz="2000" b="1" i="1">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𝒎</m:t>
                              </m:r>
                            </m:e>
                            <m:sub>
                              <m:r>
                                <a:rPr lang="pt-BR" altLang="zh-CN" sz="2000" b="1" i="1">
                                  <a:solidFill>
                                    <a:schemeClr val="accent2">
                                      <a:lumMod val="50000"/>
                                    </a:schemeClr>
                                  </a:solidFill>
                                  <a:latin typeface="Cambria Math" panose="02040503050406030204" pitchFamily="18" charset="0"/>
                                </a:rPr>
                                <m:t>𝟏</m:t>
                              </m:r>
                            </m:sub>
                          </m:sSub>
                        </m:e>
                      </m:d>
                      <m:r>
                        <a:rPr lang="pt-BR"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   </m:t>
                      </m:r>
                      <m:r>
                        <a:rPr lang="pt-BR"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 </m:t>
                      </m:r>
                      <m:r>
                        <a:rPr lang="pt-BR" altLang="zh-CN" sz="2000" b="1" i="1" smtClean="0">
                          <a:solidFill>
                            <a:schemeClr val="accent2">
                              <a:lumMod val="50000"/>
                            </a:schemeClr>
                          </a:solidFill>
                          <a:latin typeface="Cambria Math" panose="02040503050406030204" pitchFamily="18" charset="0"/>
                        </a:rPr>
                        <m:t>𝒙</m:t>
                      </m:r>
                      <m:r>
                        <a:rPr lang="pt-BR" altLang="zh-CN" sz="2000" b="1" i="1" smtClean="0">
                          <a:solidFill>
                            <a:schemeClr val="accent2">
                              <a:lumMod val="50000"/>
                            </a:schemeClr>
                          </a:solidFill>
                          <a:latin typeface="Cambria Math" panose="02040503050406030204" pitchFamily="18" charset="0"/>
                        </a:rPr>
                        <m:t>≡</m:t>
                      </m:r>
                      <m:sSub>
                        <m:sSubPr>
                          <m:ctrlPr>
                            <a:rPr lang="pt-BR" altLang="zh-CN" sz="2000" b="1" i="1" smtClean="0">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𝒂</m:t>
                          </m:r>
                        </m:e>
                        <m:sub>
                          <m:r>
                            <a:rPr lang="pt-BR" altLang="zh-CN" sz="2000" b="1" i="1" smtClean="0">
                              <a:solidFill>
                                <a:schemeClr val="accent2">
                                  <a:lumMod val="50000"/>
                                </a:schemeClr>
                              </a:solidFill>
                              <a:latin typeface="Cambria Math" panose="02040503050406030204" pitchFamily="18" charset="0"/>
                            </a:rPr>
                            <m:t>𝟐</m:t>
                          </m:r>
                        </m:sub>
                      </m:sSub>
                      <m:d>
                        <m:dPr>
                          <m:ctrlPr>
                            <a:rPr lang="pt-BR" altLang="zh-CN" sz="2000" b="1" i="1" smtClean="0">
                              <a:solidFill>
                                <a:schemeClr val="accent2">
                                  <a:lumMod val="50000"/>
                                </a:schemeClr>
                              </a:solidFill>
                              <a:latin typeface="Cambria Math" panose="02040503050406030204" pitchFamily="18" charset="0"/>
                            </a:rPr>
                          </m:ctrlPr>
                        </m:dPr>
                        <m:e>
                          <m:r>
                            <a:rPr lang="pt-BR" altLang="zh-CN" sz="2000" b="1" i="0">
                              <a:solidFill>
                                <a:schemeClr val="accent2">
                                  <a:lumMod val="50000"/>
                                </a:schemeClr>
                              </a:solidFill>
                              <a:latin typeface="Cambria Math" panose="02040503050406030204" pitchFamily="18" charset="0"/>
                            </a:rPr>
                            <m:t>𝐦𝐨𝐝</m:t>
                          </m:r>
                          <m:r>
                            <a:rPr lang="pt-BR" altLang="zh-CN" sz="2000" b="1" i="1">
                              <a:solidFill>
                                <a:schemeClr val="accent2">
                                  <a:lumMod val="50000"/>
                                </a:schemeClr>
                              </a:solidFill>
                              <a:latin typeface="Cambria Math" panose="02040503050406030204" pitchFamily="18" charset="0"/>
                            </a:rPr>
                            <m:t> </m:t>
                          </m:r>
                          <m:sSub>
                            <m:sSubPr>
                              <m:ctrlPr>
                                <a:rPr lang="pt-BR" altLang="zh-CN" sz="2000" b="1" i="1">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𝒎</m:t>
                              </m:r>
                            </m:e>
                            <m:sub>
                              <m:r>
                                <a:rPr lang="pt-BR" altLang="zh-CN" sz="2000" b="1" i="1">
                                  <a:solidFill>
                                    <a:schemeClr val="accent2">
                                      <a:lumMod val="50000"/>
                                    </a:schemeClr>
                                  </a:solidFill>
                                  <a:latin typeface="Cambria Math" panose="02040503050406030204" pitchFamily="18" charset="0"/>
                                </a:rPr>
                                <m:t>𝟐</m:t>
                              </m:r>
                            </m:sub>
                          </m:sSub>
                        </m:e>
                      </m:d>
                      <m:r>
                        <a:rPr lang="pt-BR"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   </m:t>
                      </m:r>
                      <m:r>
                        <a:rPr lang="pt-BR"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      </m:t>
                      </m:r>
                      <m:r>
                        <a:rPr lang="pt-BR" altLang="zh-CN" sz="2000" b="1" i="1" smtClean="0">
                          <a:solidFill>
                            <a:schemeClr val="accent2">
                              <a:lumMod val="50000"/>
                            </a:schemeClr>
                          </a:solidFill>
                          <a:latin typeface="Cambria Math" panose="02040503050406030204" pitchFamily="18" charset="0"/>
                        </a:rPr>
                        <m:t> </m:t>
                      </m:r>
                      <m:r>
                        <a:rPr lang="pt-BR" altLang="zh-CN" sz="2000" b="1" i="1" smtClean="0">
                          <a:solidFill>
                            <a:schemeClr val="accent2">
                              <a:lumMod val="50000"/>
                            </a:schemeClr>
                          </a:solidFill>
                          <a:latin typeface="Cambria Math" panose="02040503050406030204" pitchFamily="18" charset="0"/>
                        </a:rPr>
                        <m:t>𝒙</m:t>
                      </m:r>
                      <m:r>
                        <a:rPr lang="pt-BR" altLang="zh-CN" sz="2000" b="1" i="1" smtClean="0">
                          <a:solidFill>
                            <a:schemeClr val="accent2">
                              <a:lumMod val="50000"/>
                            </a:schemeClr>
                          </a:solidFill>
                          <a:latin typeface="Cambria Math" panose="02040503050406030204" pitchFamily="18" charset="0"/>
                        </a:rPr>
                        <m:t>≡</m:t>
                      </m:r>
                      <m:sSub>
                        <m:sSubPr>
                          <m:ctrlPr>
                            <a:rPr lang="pt-BR" altLang="zh-CN" sz="2000" b="1" i="1" smtClean="0">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𝒂</m:t>
                          </m:r>
                        </m:e>
                        <m:sub>
                          <m:r>
                            <a:rPr lang="pt-BR" altLang="zh-CN" sz="2000" b="1" i="1" smtClean="0">
                              <a:solidFill>
                                <a:schemeClr val="accent2">
                                  <a:lumMod val="50000"/>
                                </a:schemeClr>
                              </a:solidFill>
                              <a:latin typeface="Cambria Math" panose="02040503050406030204" pitchFamily="18" charset="0"/>
                            </a:rPr>
                            <m:t>𝒏</m:t>
                          </m:r>
                        </m:sub>
                      </m:sSub>
                      <m:d>
                        <m:dPr>
                          <m:ctrlPr>
                            <a:rPr lang="pt-BR" altLang="zh-CN" sz="2000" b="1" i="1" smtClean="0">
                              <a:solidFill>
                                <a:schemeClr val="accent2">
                                  <a:lumMod val="50000"/>
                                </a:schemeClr>
                              </a:solidFill>
                              <a:latin typeface="Cambria Math" panose="02040503050406030204" pitchFamily="18" charset="0"/>
                            </a:rPr>
                          </m:ctrlPr>
                        </m:dPr>
                        <m:e>
                          <m:r>
                            <a:rPr lang="pt-BR" altLang="zh-CN" sz="2000" b="1" i="0">
                              <a:solidFill>
                                <a:schemeClr val="accent2">
                                  <a:lumMod val="50000"/>
                                </a:schemeClr>
                              </a:solidFill>
                              <a:latin typeface="Cambria Math" panose="02040503050406030204" pitchFamily="18" charset="0"/>
                            </a:rPr>
                            <m:t>𝐦𝐨𝐝</m:t>
                          </m:r>
                          <m:r>
                            <a:rPr lang="pt-BR" altLang="zh-CN" sz="2000" b="1" i="1">
                              <a:solidFill>
                                <a:schemeClr val="accent2">
                                  <a:lumMod val="50000"/>
                                </a:schemeClr>
                              </a:solidFill>
                              <a:latin typeface="Cambria Math" panose="02040503050406030204" pitchFamily="18" charset="0"/>
                            </a:rPr>
                            <m:t> </m:t>
                          </m:r>
                          <m:sSub>
                            <m:sSubPr>
                              <m:ctrlPr>
                                <a:rPr lang="pt-BR" altLang="zh-CN" sz="2000" b="1" i="1">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𝒎</m:t>
                              </m:r>
                            </m:e>
                            <m:sub>
                              <m:r>
                                <a:rPr lang="pt-BR" altLang="zh-CN" sz="2000" b="1" i="1">
                                  <a:solidFill>
                                    <a:schemeClr val="accent2">
                                      <a:lumMod val="50000"/>
                                    </a:schemeClr>
                                  </a:solidFill>
                                  <a:latin typeface="Cambria Math" panose="02040503050406030204" pitchFamily="18" charset="0"/>
                                </a:rPr>
                                <m:t>𝒏</m:t>
                              </m:r>
                            </m:sub>
                          </m:sSub>
                        </m:e>
                      </m:d>
                    </m:oMath>
                  </m:oMathPara>
                </a14:m>
                <a:endParaRPr lang="zh-CN" altLang="en-US" sz="2000" b="1"/>
              </a:p>
            </p:txBody>
          </p:sp>
        </mc:Choice>
        <mc:Fallback xmlns="">
          <p:sp>
            <p:nvSpPr>
              <p:cNvPr id="4" name="文本框 3"/>
              <p:cNvSpPr txBox="1">
                <a:spLocks noRot="1" noChangeAspect="1" noMove="1" noResize="1" noEditPoints="1" noAdjustHandles="1" noChangeArrowheads="1" noChangeShapeType="1" noTextEdit="1"/>
              </p:cNvSpPr>
              <p:nvPr/>
            </p:nvSpPr>
            <p:spPr>
              <a:xfrm>
                <a:off x="1726514" y="3168062"/>
                <a:ext cx="8738970" cy="784830"/>
              </a:xfrm>
              <a:prstGeom prst="rect">
                <a:avLst/>
              </a:prstGeom>
              <a:blipFill rotWithShape="1">
                <a:blip r:embed="rId3"/>
                <a:stretch>
                  <a:fillRect l="-7" t="-6" r="1" b="-27183"/>
                </a:stretch>
              </a:blipFill>
            </p:spPr>
            <p:txBody>
              <a:bodyPr/>
              <a:lstStyle/>
              <a:p>
                <a:r>
                  <a:rPr lang="zh-CN" altLang="en-US">
                    <a:noFill/>
                  </a:rPr>
                  <a:t> </a:t>
                </a:r>
              </a:p>
            </p:txBody>
          </p:sp>
        </mc:Fallback>
      </mc:AlternateContent>
      <p:grpSp>
        <p:nvGrpSpPr>
          <p:cNvPr id="14" name="组合 13"/>
          <p:cNvGrpSpPr/>
          <p:nvPr/>
        </p:nvGrpSpPr>
        <p:grpSpPr>
          <a:xfrm>
            <a:off x="592056" y="4098713"/>
            <a:ext cx="11007888" cy="2087030"/>
            <a:chOff x="592056" y="4192374"/>
            <a:chExt cx="11007888" cy="2087030"/>
          </a:xfrm>
        </p:grpSpPr>
        <p:sp>
          <p:nvSpPr>
            <p:cNvPr id="6" name="文本框 5"/>
            <p:cNvSpPr txBox="1"/>
            <p:nvPr/>
          </p:nvSpPr>
          <p:spPr>
            <a:xfrm>
              <a:off x="592056" y="4192374"/>
              <a:ext cx="4835138" cy="1692899"/>
            </a:xfrm>
            <a:prstGeom prst="rect">
              <a:avLst/>
            </a:prstGeom>
            <a:solidFill>
              <a:schemeClr val="accent5">
                <a:lumMod val="20000"/>
                <a:lumOff val="80000"/>
                <a:alpha val="50000"/>
              </a:schemeClr>
            </a:solidFill>
          </p:spPr>
          <p:txBody>
            <a:bodyPr wrap="square" rtlCol="0">
              <a:spAutoFit/>
            </a:bodyPr>
            <a:lstStyle/>
            <a:p>
              <a:pP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一元线性同余方程组问题最早可见于中国南北朝时期（公元</a:t>
              </a:r>
              <a:r>
                <a:rPr lang="en-US" altLang="zh-CN" b="1">
                  <a:solidFill>
                    <a:srgbClr val="002060"/>
                  </a:solidFill>
                  <a:latin typeface="楷体" panose="02010609060101010101" pitchFamily="49" charset="-122"/>
                  <a:ea typeface="楷体" panose="02010609060101010101" pitchFamily="49" charset="-122"/>
                </a:rPr>
                <a:t>5</a:t>
              </a:r>
              <a:r>
                <a:rPr lang="zh-CN" altLang="en-US" b="1">
                  <a:solidFill>
                    <a:srgbClr val="002060"/>
                  </a:solidFill>
                  <a:latin typeface="楷体" panose="02010609060101010101" pitchFamily="49" charset="-122"/>
                  <a:ea typeface="楷体" panose="02010609060101010101" pitchFamily="49" charset="-122"/>
                </a:rPr>
                <a:t>世纪）的数学著作</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孙子算经</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第二十六题，叫做“</a:t>
              </a:r>
              <a:r>
                <a:rPr lang="zh-CN" altLang="en-US" b="1">
                  <a:solidFill>
                    <a:srgbClr val="C00000"/>
                  </a:solidFill>
                  <a:latin typeface="+mn-ea"/>
                </a:rPr>
                <a:t>物不知数</a:t>
              </a:r>
              <a:r>
                <a:rPr lang="zh-CN" altLang="en-US" b="1">
                  <a:solidFill>
                    <a:srgbClr val="002060"/>
                  </a:solidFill>
                  <a:latin typeface="楷体" panose="02010609060101010101" pitchFamily="49" charset="-122"/>
                  <a:ea typeface="楷体" panose="02010609060101010101" pitchFamily="49" charset="-122"/>
                </a:rPr>
                <a:t>”问题</a:t>
              </a:r>
            </a:p>
            <a:p>
              <a:pPr marL="285750" indent="-285750">
                <a:lnSpc>
                  <a:spcPts val="2400"/>
                </a:lnSpc>
                <a:spcBef>
                  <a:spcPts val="600"/>
                </a:spcBef>
                <a:buFont typeface="Arial" panose="020B0604020202020204" pitchFamily="34" charset="0"/>
                <a:buChar char="•"/>
              </a:pPr>
              <a:r>
                <a:rPr lang="zh-CN" altLang="en-US" b="1">
                  <a:solidFill>
                    <a:schemeClr val="accent4">
                      <a:lumMod val="50000"/>
                    </a:schemeClr>
                  </a:solidFill>
                </a:rPr>
                <a:t>有物不知其数，三三数之剩二，五五数之剩三，七七数之剩二。问物几何？</a:t>
              </a:r>
            </a:p>
          </p:txBody>
        </p:sp>
        <p:sp>
          <p:nvSpPr>
            <p:cNvPr id="11" name="文本框 10"/>
            <p:cNvSpPr txBox="1"/>
            <p:nvPr/>
          </p:nvSpPr>
          <p:spPr>
            <a:xfrm>
              <a:off x="5894260" y="4192374"/>
              <a:ext cx="5705684" cy="1769843"/>
            </a:xfrm>
            <a:prstGeom prst="rect">
              <a:avLst/>
            </a:prstGeom>
            <a:solidFill>
              <a:schemeClr val="accent4">
                <a:lumMod val="20000"/>
                <a:lumOff val="80000"/>
                <a:alpha val="50000"/>
              </a:schemeClr>
            </a:solidFill>
          </p:spPr>
          <p:txBody>
            <a:bodyPr wrap="square" rtlCol="0">
              <a:spAutoFit/>
            </a:bodyPr>
            <a:lstStyle/>
            <a:p>
              <a:pP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宋朝数学家秦九韶于</a:t>
              </a:r>
              <a:r>
                <a:rPr lang="en-US" altLang="zh-CN" b="1">
                  <a:solidFill>
                    <a:srgbClr val="002060"/>
                  </a:solidFill>
                  <a:latin typeface="楷体" panose="02010609060101010101" pitchFamily="49" charset="-122"/>
                  <a:ea typeface="楷体" panose="02010609060101010101" pitchFamily="49" charset="-122"/>
                </a:rPr>
                <a:t>1247</a:t>
              </a:r>
              <a:r>
                <a:rPr lang="zh-CN" altLang="en-US" b="1">
                  <a:solidFill>
                    <a:srgbClr val="002060"/>
                  </a:solidFill>
                  <a:latin typeface="楷体" panose="02010609060101010101" pitchFamily="49" charset="-122"/>
                  <a:ea typeface="楷体" panose="02010609060101010101" pitchFamily="49" charset="-122"/>
                </a:rPr>
                <a:t>年</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数书九章</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卷一、二</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大衍类</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对“物不知数”问题有完整系统的解答</a:t>
              </a:r>
            </a:p>
            <a:p>
              <a:pP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明朝数学家程大位将解法编成易于上口的</a:t>
              </a:r>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孙子歌诀</a:t>
              </a:r>
              <a:r>
                <a:rPr lang="en-US" altLang="zh-CN" b="1">
                  <a:solidFill>
                    <a:srgbClr val="002060"/>
                  </a:solidFill>
                  <a:latin typeface="楷体" panose="02010609060101010101" pitchFamily="49" charset="-122"/>
                  <a:ea typeface="楷体" panose="02010609060101010101" pitchFamily="49" charset="-122"/>
                </a:rPr>
                <a:t>》</a:t>
              </a:r>
            </a:p>
            <a:p>
              <a:pPr marL="285750" indent="-285750">
                <a:lnSpc>
                  <a:spcPts val="2400"/>
                </a:lnSpc>
                <a:spcBef>
                  <a:spcPts val="600"/>
                </a:spcBef>
                <a:buFont typeface="Arial" panose="020B0604020202020204" pitchFamily="34" charset="0"/>
                <a:buChar char="•"/>
              </a:pPr>
              <a:r>
                <a:rPr lang="zh-CN" altLang="en-US" b="1">
                  <a:solidFill>
                    <a:schemeClr val="accent2">
                      <a:lumMod val="50000"/>
                    </a:schemeClr>
                  </a:solidFill>
                </a:rPr>
                <a:t>三人同行七十稀，五树梅花廿一支，七子团圆正半月，除百零五使得知</a:t>
              </a:r>
            </a:p>
          </p:txBody>
        </p:sp>
        <mc:AlternateContent xmlns:mc="http://schemas.openxmlformats.org/markup-compatibility/2006" xmlns:a14="http://schemas.microsoft.com/office/drawing/2010/main">
          <mc:Choice Requires="a14">
            <p:sp>
              <p:nvSpPr>
                <p:cNvPr id="12" name="文本框 11"/>
                <p:cNvSpPr txBox="1"/>
                <p:nvPr/>
              </p:nvSpPr>
              <p:spPr>
                <a:xfrm>
                  <a:off x="5894260" y="6002405"/>
                  <a:ext cx="4571224"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𝟕𝟎</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𝟏𝟓</m:t>
                            </m:r>
                          </m:e>
                        </m:d>
                        <m:r>
                          <a:rPr lang="en-US" altLang="zh-CN" b="1" i="0" smtClean="0">
                            <a:solidFill>
                              <a:srgbClr val="C00000"/>
                            </a:solidFill>
                            <a:latin typeface="Cambria Math" panose="02040503050406030204" pitchFamily="18" charset="0"/>
                          </a:rPr>
                          <m:t>𝐦𝐨𝐝</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𝟏𝟎𝟓</m:t>
                        </m:r>
                        <m:r>
                          <a:rPr lang="en-US" altLang="zh-CN" b="1" i="1" smtClean="0">
                            <a:solidFill>
                              <a:srgbClr val="C00000"/>
                            </a:solidFill>
                            <a:latin typeface="Cambria Math" panose="02040503050406030204" pitchFamily="18" charset="0"/>
                          </a:rPr>
                          <m:t> = </m:t>
                        </m:r>
                        <m:r>
                          <a:rPr lang="en-US" altLang="zh-CN" b="1" i="1" smtClean="0">
                            <a:solidFill>
                              <a:srgbClr val="C00000"/>
                            </a:solidFill>
                            <a:latin typeface="Cambria Math" panose="02040503050406030204" pitchFamily="18" charset="0"/>
                          </a:rPr>
                          <m:t>𝟐𝟑</m:t>
                        </m:r>
                      </m:oMath>
                    </m:oMathPara>
                  </a14:m>
                  <a:endParaRPr lang="zh-CN" altLang="en-US" b="1">
                    <a:solidFill>
                      <a:srgbClr val="C00000"/>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5894260" y="6002405"/>
                  <a:ext cx="4571224" cy="276999"/>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592056" y="6001685"/>
                  <a:ext cx="4835138" cy="276999"/>
                </a:xfrm>
                <a:prstGeom prst="rect">
                  <a:avLst/>
                </a:prstGeom>
                <a:solidFill>
                  <a:schemeClr val="accent4">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d>
                          <m:dPr>
                            <m:ctrlPr>
                              <a:rPr lang="en-US" altLang="zh-CN" b="1" i="1" smtClean="0">
                                <a:solidFill>
                                  <a:schemeClr val="accent2">
                                    <a:lumMod val="50000"/>
                                  </a:schemeClr>
                                </a:solidFill>
                                <a:latin typeface="Cambria Math" panose="02040503050406030204" pitchFamily="18" charset="0"/>
                              </a:rPr>
                            </m:ctrlPr>
                          </m:dPr>
                          <m:e>
                            <m:r>
                              <a:rPr lang="en-US" altLang="zh-CN" b="1" i="0" smtClean="0">
                                <a:solidFill>
                                  <a:schemeClr val="accent2">
                                    <a:lumMod val="50000"/>
                                  </a:schemeClr>
                                </a:solidFill>
                                <a:latin typeface="Cambria Math" panose="02040503050406030204" pitchFamily="18" charset="0"/>
                              </a:rPr>
                              <m:t>𝐦𝐨𝐝</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𝟑</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d>
                          <m:dPr>
                            <m:ctrlPr>
                              <a:rPr lang="en-US" altLang="zh-CN" b="1" i="1" smtClean="0">
                                <a:solidFill>
                                  <a:schemeClr val="accent2">
                                    <a:lumMod val="50000"/>
                                  </a:schemeClr>
                                </a:solidFill>
                                <a:latin typeface="Cambria Math" panose="02040503050406030204" pitchFamily="18" charset="0"/>
                              </a:rPr>
                            </m:ctrlPr>
                          </m:dPr>
                          <m:e>
                            <m:r>
                              <a:rPr lang="en-US" altLang="zh-CN" b="1" i="0" smtClean="0">
                                <a:solidFill>
                                  <a:schemeClr val="accent2">
                                    <a:lumMod val="50000"/>
                                  </a:schemeClr>
                                </a:solidFill>
                                <a:latin typeface="Cambria Math" panose="02040503050406030204" pitchFamily="18" charset="0"/>
                              </a:rPr>
                              <m:t>𝐦𝐨𝐝</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𝟓</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d>
                          <m:dPr>
                            <m:ctrlPr>
                              <a:rPr lang="en-US" altLang="zh-CN" b="1" i="1" smtClean="0">
                                <a:solidFill>
                                  <a:schemeClr val="accent2">
                                    <a:lumMod val="50000"/>
                                  </a:schemeClr>
                                </a:solidFill>
                                <a:latin typeface="Cambria Math" panose="02040503050406030204" pitchFamily="18" charset="0"/>
                              </a:rPr>
                            </m:ctrlPr>
                          </m:dPr>
                          <m:e>
                            <m:r>
                              <a:rPr lang="en-US" altLang="zh-CN" b="1" i="0" smtClean="0">
                                <a:solidFill>
                                  <a:schemeClr val="accent2">
                                    <a:lumMod val="50000"/>
                                  </a:schemeClr>
                                </a:solidFill>
                                <a:latin typeface="Cambria Math" panose="02040503050406030204" pitchFamily="18" charset="0"/>
                              </a:rPr>
                              <m:t>𝐦𝐨𝐝</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𝟕</m:t>
                            </m:r>
                          </m:e>
                        </m:d>
                      </m:oMath>
                    </m:oMathPara>
                  </a14:m>
                  <a:endParaRPr lang="zh-CN" altLang="en-US" b="1">
                    <a:solidFill>
                      <a:schemeClr val="accent2">
                        <a:lumMod val="50000"/>
                      </a:schemeClr>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592056" y="6001685"/>
                  <a:ext cx="4835138" cy="276999"/>
                </a:xfrm>
                <a:prstGeom prst="rect">
                  <a:avLst/>
                </a:prstGeom>
                <a:blipFill rotWithShape="1">
                  <a:blip r:embed="rId5"/>
                </a:blipFill>
              </p:spPr>
              <p:txBody>
                <a:bodyPr/>
                <a:lstStyle/>
                <a:p>
                  <a:r>
                    <a:rPr lang="zh-CN" altLang="en-US">
                      <a:noFill/>
                    </a:rPr>
                    <a:t> </a:t>
                  </a:r>
                </a:p>
              </p:txBody>
            </p:sp>
          </mc:Fallback>
        </mc:AlternateContent>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鸽笼原理</a:t>
            </a:r>
            <a:r>
              <a:rPr lang="en-US" altLang="zh-CN" sz="1400">
                <a:latin typeface="楷体" panose="02010609060101010101" pitchFamily="49" charset="-122"/>
                <a:ea typeface="楷体" panose="02010609060101010101" pitchFamily="49" charset="-122"/>
              </a:rPr>
              <a:t>*</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41</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广义鸽笼原理</a:t>
            </a:r>
            <a:r>
              <a:rPr lang="en-US" altLang="zh-CN"/>
              <a:t>(Generalized Pigeonhole Principle)</a:t>
            </a:r>
            <a:endParaRPr lang="zh-CN" altLang="en-US"/>
          </a:p>
        </p:txBody>
      </p:sp>
      <mc:AlternateContent xmlns:mc="http://schemas.openxmlformats.org/markup-compatibility/2006" xmlns:a14="http://schemas.microsoft.com/office/drawing/2010/main">
        <mc:Choice Requires="a14">
          <p:sp>
            <p:nvSpPr>
              <p:cNvPr id="2" name="文本框 1"/>
              <p:cNvSpPr txBox="1"/>
              <p:nvPr/>
            </p:nvSpPr>
            <p:spPr>
              <a:xfrm>
                <a:off x="611792" y="1184115"/>
                <a:ext cx="9163736" cy="400110"/>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dirty="0">
                    <a:solidFill>
                      <a:schemeClr val="accent2">
                        <a:lumMod val="50000"/>
                      </a:schemeClr>
                    </a:solidFill>
                  </a:rPr>
                  <a:t>广义鸽笼原理：将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𝑵</m:t>
                    </m:r>
                  </m:oMath>
                </a14:m>
                <a:r>
                  <a:rPr lang="zh-CN" altLang="en-US" sz="2000" b="1" dirty="0">
                    <a:solidFill>
                      <a:schemeClr val="accent2">
                        <a:lumMod val="50000"/>
                      </a:schemeClr>
                    </a:solidFill>
                  </a:rPr>
                  <a:t>个物体放到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𝒌</m:t>
                    </m:r>
                  </m:oMath>
                </a14:m>
                <a:r>
                  <a:rPr lang="zh-CN" altLang="en-US" sz="2000" b="1" dirty="0">
                    <a:solidFill>
                      <a:schemeClr val="accent2">
                        <a:lumMod val="50000"/>
                      </a:schemeClr>
                    </a:solidFill>
                  </a:rPr>
                  <a:t>个盒子，则至少有一个盒子至少有</a:t>
                </a:r>
                <a:r>
                  <a:rPr lang="zh-CN" altLang="en-US" sz="2000" b="1" dirty="0">
                    <a:solidFill>
                      <a:srgbClr val="C00000"/>
                    </a:solidFill>
                  </a:rPr>
                  <a:t> </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𝑵</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𝒌</m:t>
                        </m:r>
                      </m:e>
                    </m:d>
                  </m:oMath>
                </a14:m>
                <a:r>
                  <a:rPr lang="zh-CN" altLang="en-US" sz="2000" b="1" dirty="0">
                    <a:solidFill>
                      <a:schemeClr val="accent2">
                        <a:lumMod val="50000"/>
                      </a:schemeClr>
                    </a:solidFill>
                  </a:rPr>
                  <a:t>个物体</a:t>
                </a:r>
              </a:p>
            </p:txBody>
          </p:sp>
        </mc:Choice>
        <mc:Fallback xmlns="">
          <p:sp>
            <p:nvSpPr>
              <p:cNvPr id="2" name="文本框 1"/>
              <p:cNvSpPr txBox="1">
                <a:spLocks noRot="1" noChangeAspect="1" noMove="1" noResize="1" noEditPoints="1" noAdjustHandles="1" noChangeArrowheads="1" noChangeShapeType="1" noTextEdit="1"/>
              </p:cNvSpPr>
              <p:nvPr/>
            </p:nvSpPr>
            <p:spPr>
              <a:xfrm>
                <a:off x="611792" y="1184115"/>
                <a:ext cx="9163736" cy="400110"/>
              </a:xfrm>
              <a:prstGeom prst="rect">
                <a:avLst/>
              </a:prstGeom>
              <a:blipFill rotWithShape="1">
                <a:blip r:embed="rId2"/>
                <a:stretch>
                  <a:fillRect l="-3" t="-119" r="4" b="1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611792" y="1894671"/>
                <a:ext cx="8348012" cy="1323439"/>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广义鸽笼原理经常用于</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求</a:t>
                </a:r>
                <a:r>
                  <a:rPr lang="zh-CN" altLang="en-US" sz="2000" b="1">
                    <a:solidFill>
                      <a:srgbClr val="C00000"/>
                    </a:solidFill>
                  </a:rPr>
                  <a:t>至少需多少物体</a:t>
                </a:r>
                <a:r>
                  <a:rPr lang="zh-CN" altLang="en-US" sz="2000" b="1">
                    <a:solidFill>
                      <a:schemeClr val="accent6">
                        <a:lumMod val="50000"/>
                      </a:schemeClr>
                    </a:solidFill>
                  </a:rPr>
                  <a:t>放到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盒子能保证</a:t>
                </a:r>
                <a:r>
                  <a:rPr lang="zh-CN" altLang="en-US" sz="2000" b="1">
                    <a:solidFill>
                      <a:srgbClr val="C00000"/>
                    </a:solidFill>
                  </a:rPr>
                  <a:t>至少有一盒子至少</a:t>
                </a:r>
                <a:r>
                  <a:rPr lang="zh-CN" altLang="en-US" sz="2000" b="1">
                    <a:solidFill>
                      <a:schemeClr val="accent6">
                        <a:lumMod val="50000"/>
                      </a:schemeClr>
                    </a:solidFill>
                  </a:rPr>
                  <a:t>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个物体</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或求将</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𝑵</m:t>
                    </m:r>
                  </m:oMath>
                </a14:m>
                <a:r>
                  <a:rPr lang="zh-CN" altLang="en-US" sz="2000" b="1">
                    <a:solidFill>
                      <a:schemeClr val="accent6">
                        <a:lumMod val="50000"/>
                      </a:schemeClr>
                    </a:solidFill>
                  </a:rPr>
                  <a:t>个物体放到</a:t>
                </a:r>
                <a:r>
                  <a:rPr lang="zh-CN" altLang="en-US" sz="2000" b="1">
                    <a:solidFill>
                      <a:srgbClr val="C00000"/>
                    </a:solidFill>
                  </a:rPr>
                  <a:t>至多多少盒子</a:t>
                </a:r>
                <a:r>
                  <a:rPr lang="zh-CN" altLang="en-US" sz="2000" b="1">
                    <a:solidFill>
                      <a:schemeClr val="accent6">
                        <a:lumMod val="50000"/>
                      </a:schemeClr>
                    </a:solidFill>
                  </a:rPr>
                  <a:t>能保证</a:t>
                </a:r>
                <a:r>
                  <a:rPr lang="zh-CN" altLang="en-US" sz="2000" b="1">
                    <a:solidFill>
                      <a:srgbClr val="C00000"/>
                    </a:solidFill>
                  </a:rPr>
                  <a:t>至少有一盒子至少</a:t>
                </a:r>
                <a:r>
                  <a:rPr lang="zh-CN" altLang="en-US" sz="2000" b="1">
                    <a:solidFill>
                      <a:schemeClr val="accent6">
                        <a:lumMod val="50000"/>
                      </a:schemeClr>
                    </a:solidFill>
                  </a:rPr>
                  <a:t>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个物体</a:t>
                </a:r>
              </a:p>
            </p:txBody>
          </p:sp>
        </mc:Choice>
        <mc:Fallback xmlns="">
          <p:sp>
            <p:nvSpPr>
              <p:cNvPr id="3" name="文本框 2"/>
              <p:cNvSpPr txBox="1">
                <a:spLocks noRot="1" noChangeAspect="1" noMove="1" noResize="1" noEditPoints="1" noAdjustHandles="1" noChangeArrowheads="1" noChangeShapeType="1" noTextEdit="1"/>
              </p:cNvSpPr>
              <p:nvPr/>
            </p:nvSpPr>
            <p:spPr>
              <a:xfrm>
                <a:off x="611792" y="1894671"/>
                <a:ext cx="8348012" cy="1323439"/>
              </a:xfrm>
              <a:prstGeom prst="rect">
                <a:avLst/>
              </a:prstGeom>
              <a:blipFill rotWithShape="1">
                <a:blip r:embed="rId3"/>
                <a:stretch>
                  <a:fillRect l="-3" t="-35" r="7"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611792" y="3553711"/>
                <a:ext cx="6085037" cy="1785104"/>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将至少有一个盒子至少有的物体数称为“</a:t>
                </a:r>
                <a:r>
                  <a:rPr lang="zh-CN" altLang="en-US" sz="2000" b="1">
                    <a:solidFill>
                      <a:srgbClr val="C00000"/>
                    </a:solidFill>
                    <a:latin typeface="+mn-ea"/>
                  </a:rPr>
                  <a:t>最小容量</a:t>
                </a:r>
                <a:r>
                  <a:rPr lang="zh-CN" altLang="en-US"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rPr>
                  <a:t>最小容量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oMath>
                </a14:m>
                <a:r>
                  <a:rPr lang="en-US" altLang="zh-CN" sz="2000" b="1">
                    <a:solidFill>
                      <a:schemeClr val="accent6">
                        <a:lumMod val="50000"/>
                      </a:schemeClr>
                    </a:solidFill>
                  </a:rPr>
                  <a:t> </a:t>
                </a:r>
                <a:r>
                  <a:rPr lang="zh-CN" altLang="en-US" sz="2000" b="1">
                    <a:solidFill>
                      <a:schemeClr val="accent2">
                        <a:lumMod val="50000"/>
                      </a:schemeClr>
                    </a:solidFill>
                  </a:rPr>
                  <a:t>物体总数</a:t>
                </a:r>
                <a:r>
                  <a:rPr lang="en-US" altLang="zh-CN" sz="2000" b="1">
                    <a:solidFill>
                      <a:schemeClr val="accent6">
                        <a:lumMod val="50000"/>
                      </a:schemeClr>
                    </a:solidFill>
                  </a:rPr>
                  <a:t>/</a:t>
                </a:r>
                <a:r>
                  <a:rPr lang="zh-CN" altLang="en-US" sz="2000" b="1">
                    <a:solidFill>
                      <a:schemeClr val="accent2">
                        <a:lumMod val="50000"/>
                      </a:schemeClr>
                    </a:solidFill>
                  </a:rPr>
                  <a:t>盒子数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rPr>
                  <a:t>物体总数</a:t>
                </a:r>
                <a:r>
                  <a:rPr lang="zh-CN" altLang="en-US" sz="2000" b="1">
                    <a:solidFill>
                      <a:schemeClr val="accent6">
                        <a:lumMod val="50000"/>
                      </a:schemeClr>
                    </a:solidFill>
                  </a:rPr>
                  <a:t>的</a:t>
                </a:r>
                <a:r>
                  <a:rPr lang="zh-CN" altLang="en-US" sz="2000" b="1">
                    <a:solidFill>
                      <a:srgbClr val="C00000"/>
                    </a:solidFill>
                  </a:rPr>
                  <a:t>最小值</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2">
                        <a:lumMod val="50000"/>
                      </a:schemeClr>
                    </a:solidFill>
                  </a:rPr>
                  <a:t>最小容量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2">
                        <a:lumMod val="50000"/>
                      </a:schemeClr>
                    </a:solidFill>
                  </a:rPr>
                  <a:t>盒子数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rPr>
                  <a:t>盒子数</a:t>
                </a:r>
                <a:r>
                  <a:rPr lang="zh-CN" altLang="en-US" sz="2000" b="1">
                    <a:solidFill>
                      <a:schemeClr val="accent6">
                        <a:lumMod val="50000"/>
                      </a:schemeClr>
                    </a:solidFill>
                  </a:rPr>
                  <a:t>的</a:t>
                </a:r>
                <a:r>
                  <a:rPr lang="zh-CN" altLang="en-US" sz="2000" b="1">
                    <a:solidFill>
                      <a:srgbClr val="C00000"/>
                    </a:solidFill>
                  </a:rPr>
                  <a:t>最大值</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2">
                        <a:lumMod val="50000"/>
                      </a:schemeClr>
                    </a:solidFill>
                  </a:rPr>
                  <a:t>物体总数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2">
                        <a:lumMod val="50000"/>
                      </a:schemeClr>
                    </a:solidFill>
                  </a:rPr>
                  <a:t>最小容量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m:t>
                    </m:r>
                  </m:oMath>
                </a14:m>
                <a:endParaRPr lang="zh-CN" altLang="en-US" sz="2000" b="1">
                  <a:solidFill>
                    <a:schemeClr val="accent6">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11792" y="3553711"/>
                <a:ext cx="6085037" cy="1785104"/>
              </a:xfrm>
              <a:prstGeom prst="rect">
                <a:avLst/>
              </a:prstGeom>
              <a:blipFill rotWithShape="1">
                <a:blip r:embed="rId4"/>
                <a:stretch>
                  <a:fillRect l="-5" t="-14" r="2" b="21"/>
                </a:stretch>
              </a:blipFill>
            </p:spPr>
            <p:txBody>
              <a:bodyPr/>
              <a:lstStyle/>
              <a:p>
                <a:r>
                  <a:rPr lang="zh-CN" altLang="en-US">
                    <a:noFill/>
                  </a:rPr>
                  <a:t> </a:t>
                </a:r>
              </a:p>
            </p:txBody>
          </p:sp>
        </mc:Fallback>
      </mc:AlternateContent>
      <p:grpSp>
        <p:nvGrpSpPr>
          <p:cNvPr id="13" name="组合 12"/>
          <p:cNvGrpSpPr/>
          <p:nvPr/>
        </p:nvGrpSpPr>
        <p:grpSpPr>
          <a:xfrm>
            <a:off x="6901860" y="3553711"/>
            <a:ext cx="4678348" cy="2364768"/>
            <a:chOff x="6901861" y="3437163"/>
            <a:chExt cx="4678348" cy="2364768"/>
          </a:xfrm>
        </p:grpSpPr>
        <mc:AlternateContent xmlns:mc="http://schemas.openxmlformats.org/markup-compatibility/2006" xmlns:a14="http://schemas.microsoft.com/office/drawing/2010/main">
          <mc:Choice Requires="a14">
            <p:sp>
              <p:nvSpPr>
                <p:cNvPr id="6" name="文本框 5"/>
                <p:cNvSpPr txBox="1"/>
                <p:nvPr/>
              </p:nvSpPr>
              <p:spPr>
                <a:xfrm>
                  <a:off x="6908439" y="3437163"/>
                  <a:ext cx="4671769" cy="691728"/>
                </a:xfrm>
                <a:prstGeom prst="rect">
                  <a:avLst/>
                </a:prstGeom>
                <a:solidFill>
                  <a:schemeClr val="accent6">
                    <a:lumMod val="20000"/>
                    <a:lumOff val="80000"/>
                    <a:alpha val="50000"/>
                  </a:schemeClr>
                </a:solidFill>
              </p:spPr>
              <p:txBody>
                <a:bodyPr wrap="square" rtlCol="0">
                  <a:spAutoFit/>
                </a:bodyPr>
                <a:lstStyle/>
                <a:p>
                  <a:pPr>
                    <a:lnSpc>
                      <a:spcPts val="2400"/>
                    </a:lnSpc>
                  </a:pPr>
                  <a:r>
                    <a:rPr lang="zh-CN" altLang="en-US" b="1">
                      <a:solidFill>
                        <a:schemeClr val="tx2">
                          <a:lumMod val="50000"/>
                        </a:schemeClr>
                      </a:solidFill>
                    </a:rPr>
                    <a:t>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𝟐𝟐</m:t>
                      </m:r>
                    </m:oMath>
                  </a14:m>
                  <a:r>
                    <a:rPr lang="zh-CN" altLang="en-US" b="1">
                      <a:solidFill>
                        <a:schemeClr val="tx2">
                          <a:lumMod val="50000"/>
                        </a:schemeClr>
                      </a:solidFill>
                    </a:rPr>
                    <a:t>个苹果分给</a:t>
                  </a:r>
                  <a14:m>
                    <m:oMath xmlns:m="http://schemas.openxmlformats.org/officeDocument/2006/math">
                      <m:r>
                        <a:rPr lang="en-US" altLang="zh-CN" b="1" i="1">
                          <a:solidFill>
                            <a:schemeClr val="accent2">
                              <a:lumMod val="50000"/>
                            </a:schemeClr>
                          </a:solidFill>
                          <a:latin typeface="Cambria Math" panose="02040503050406030204" pitchFamily="18" charset="0"/>
                        </a:rPr>
                        <m:t>𝟔</m:t>
                      </m:r>
                    </m:oMath>
                  </a14:m>
                  <a:r>
                    <a:rPr lang="zh-CN" altLang="en-US" b="1">
                      <a:solidFill>
                        <a:schemeClr val="tx2">
                          <a:lumMod val="50000"/>
                        </a:schemeClr>
                      </a:solidFill>
                    </a:rPr>
                    <a:t>位学生，至少有一位学生至少有</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𝟐𝟐</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𝟔</m:t>
                          </m:r>
                        </m:e>
                      </m:d>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𝟒</m:t>
                      </m:r>
                    </m:oMath>
                  </a14:m>
                  <a:r>
                    <a:rPr lang="zh-CN" altLang="en-US" b="1">
                      <a:solidFill>
                        <a:schemeClr val="tx2">
                          <a:lumMod val="50000"/>
                        </a:schemeClr>
                      </a:solidFill>
                    </a:rPr>
                    <a:t>个苹果</a:t>
                  </a:r>
                </a:p>
              </p:txBody>
            </p:sp>
          </mc:Choice>
          <mc:Fallback xmlns="">
            <p:sp>
              <p:nvSpPr>
                <p:cNvPr id="6" name="文本框 5"/>
                <p:cNvSpPr txBox="1">
                  <a:spLocks noRot="1" noChangeAspect="1" noMove="1" noResize="1" noEditPoints="1" noAdjustHandles="1" noChangeArrowheads="1" noChangeShapeType="1" noTextEdit="1"/>
                </p:cNvSpPr>
                <p:nvPr/>
              </p:nvSpPr>
              <p:spPr>
                <a:xfrm>
                  <a:off x="6908439" y="3437163"/>
                  <a:ext cx="4671769" cy="691728"/>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901861" y="5109305"/>
                  <a:ext cx="4678347" cy="692626"/>
                </a:xfrm>
                <a:prstGeom prst="rect">
                  <a:avLst/>
                </a:prstGeom>
                <a:solidFill>
                  <a:schemeClr val="accent6">
                    <a:lumMod val="20000"/>
                    <a:lumOff val="80000"/>
                    <a:alpha val="50000"/>
                  </a:schemeClr>
                </a:solidFill>
              </p:spPr>
              <p:txBody>
                <a:bodyPr wrap="square" rtlCol="0">
                  <a:spAutoFit/>
                </a:bodyPr>
                <a:lstStyle/>
                <a:p>
                  <a:pPr>
                    <a:lnSpc>
                      <a:spcPts val="2400"/>
                    </a:lnSpc>
                  </a:pPr>
                  <a14:m>
                    <m:oMath xmlns:m="http://schemas.openxmlformats.org/officeDocument/2006/math">
                      <m:r>
                        <a:rPr lang="en-US" altLang="zh-CN" b="1" i="1">
                          <a:solidFill>
                            <a:schemeClr val="accent2">
                              <a:lumMod val="50000"/>
                            </a:schemeClr>
                          </a:solidFill>
                          <a:latin typeface="Cambria Math" panose="02040503050406030204" pitchFamily="18" charset="0"/>
                        </a:rPr>
                        <m:t>𝟐𝟐</m:t>
                      </m:r>
                    </m:oMath>
                  </a14:m>
                  <a:r>
                    <a:rPr lang="zh-CN" altLang="en-US" b="1">
                      <a:solidFill>
                        <a:schemeClr val="tx2">
                          <a:lumMod val="50000"/>
                        </a:schemeClr>
                      </a:solidFill>
                    </a:rPr>
                    <a:t>个苹果</a:t>
                  </a:r>
                  <a:r>
                    <a:rPr lang="zh-CN" altLang="en-US" b="1">
                      <a:solidFill>
                        <a:srgbClr val="C00000"/>
                      </a:solidFill>
                    </a:rPr>
                    <a:t>至多</a:t>
                  </a:r>
                  <a:r>
                    <a:rPr lang="zh-CN" altLang="en-US" b="1">
                      <a:solidFill>
                        <a:schemeClr val="tx2">
                          <a:lumMod val="50000"/>
                        </a:schemeClr>
                      </a:solidFill>
                    </a:rPr>
                    <a:t>分给</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𝟐𝟐</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𝟕</m:t>
                      </m:r>
                    </m:oMath>
                  </a14:m>
                  <a:r>
                    <a:rPr lang="zh-CN" altLang="en-US" b="1">
                      <a:solidFill>
                        <a:schemeClr val="tx2">
                          <a:lumMod val="50000"/>
                        </a:schemeClr>
                      </a:solidFill>
                    </a:rPr>
                    <a:t>位学生才能保证至少有一位学生至少有</a:t>
                  </a:r>
                  <a:r>
                    <a:rPr lang="en-US" altLang="zh-CN" b="1">
                      <a:solidFill>
                        <a:schemeClr val="accent2">
                          <a:lumMod val="50000"/>
                        </a:schemeClr>
                      </a:solidFill>
                      <a:latin typeface="Cambria Math" panose="02040503050406030204" pitchFamily="18" charset="0"/>
                    </a:rPr>
                    <a:t>4</a:t>
                  </a:r>
                  <a:r>
                    <a:rPr lang="zh-CN" altLang="en-US" b="1">
                      <a:solidFill>
                        <a:schemeClr val="tx2">
                          <a:lumMod val="50000"/>
                        </a:schemeClr>
                      </a:solidFill>
                    </a:rPr>
                    <a:t>个苹果</a:t>
                  </a:r>
                </a:p>
              </p:txBody>
            </p:sp>
          </mc:Choice>
          <mc:Fallback xmlns="">
            <p:sp>
              <p:nvSpPr>
                <p:cNvPr id="11" name="文本框 10"/>
                <p:cNvSpPr txBox="1">
                  <a:spLocks noRot="1" noChangeAspect="1" noMove="1" noResize="1" noEditPoints="1" noAdjustHandles="1" noChangeArrowheads="1" noChangeShapeType="1" noTextEdit="1"/>
                </p:cNvSpPr>
                <p:nvPr/>
              </p:nvSpPr>
              <p:spPr>
                <a:xfrm>
                  <a:off x="6901861" y="5109305"/>
                  <a:ext cx="4678347" cy="692626"/>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6901861" y="4273234"/>
                  <a:ext cx="4678348" cy="691728"/>
                </a:xfrm>
                <a:prstGeom prst="rect">
                  <a:avLst/>
                </a:prstGeom>
                <a:solidFill>
                  <a:schemeClr val="accent6">
                    <a:lumMod val="20000"/>
                    <a:lumOff val="80000"/>
                    <a:alpha val="50000"/>
                  </a:schemeClr>
                </a:solidFill>
              </p:spPr>
              <p:txBody>
                <a:bodyPr wrap="square" rtlCol="0">
                  <a:spAutoFit/>
                </a:bodyPr>
                <a:lstStyle/>
                <a:p>
                  <a:pPr>
                    <a:lnSpc>
                      <a:spcPts val="2400"/>
                    </a:lnSpc>
                  </a:pPr>
                  <a:r>
                    <a:rPr lang="zh-CN" altLang="en-US" b="1">
                      <a:solidFill>
                        <a:srgbClr val="C00000"/>
                      </a:solidFill>
                    </a:rPr>
                    <a:t>至少</a:t>
                  </a:r>
                  <a:r>
                    <a:rPr lang="zh-CN" altLang="en-US" b="1">
                      <a:solidFill>
                        <a:schemeClr val="tx2">
                          <a:lumMod val="50000"/>
                        </a:schemeClr>
                      </a:solidFill>
                    </a:rPr>
                    <a:t>要</a:t>
                  </a:r>
                  <a14:m>
                    <m:oMath xmlns:m="http://schemas.openxmlformats.org/officeDocument/2006/math">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𝟔</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𝟏𝟗</m:t>
                      </m:r>
                    </m:oMath>
                  </a14:m>
                  <a:r>
                    <a:rPr lang="zh-CN" altLang="en-US" b="1">
                      <a:solidFill>
                        <a:schemeClr val="tx2">
                          <a:lumMod val="50000"/>
                        </a:schemeClr>
                      </a:solidFill>
                    </a:rPr>
                    <a:t>个苹果分给</a:t>
                  </a:r>
                  <a14:m>
                    <m:oMath xmlns:m="http://schemas.openxmlformats.org/officeDocument/2006/math">
                      <m:r>
                        <a:rPr lang="en-US" altLang="zh-CN" b="1" i="1">
                          <a:solidFill>
                            <a:schemeClr val="accent2">
                              <a:lumMod val="50000"/>
                            </a:schemeClr>
                          </a:solidFill>
                          <a:latin typeface="Cambria Math" panose="02040503050406030204" pitchFamily="18" charset="0"/>
                        </a:rPr>
                        <m:t>𝟔</m:t>
                      </m:r>
                    </m:oMath>
                  </a14:m>
                  <a:r>
                    <a:rPr lang="zh-CN" altLang="en-US" b="1">
                      <a:solidFill>
                        <a:schemeClr val="tx2">
                          <a:lumMod val="50000"/>
                        </a:schemeClr>
                      </a:solidFill>
                    </a:rPr>
                    <a:t>位学生才能保证至少有一位学生至少有</a:t>
                  </a:r>
                  <a14:m>
                    <m:oMath xmlns:m="http://schemas.openxmlformats.org/officeDocument/2006/math">
                      <m:r>
                        <a:rPr lang="en-US" altLang="zh-CN" b="1" i="1">
                          <a:solidFill>
                            <a:schemeClr val="accent2">
                              <a:lumMod val="50000"/>
                            </a:schemeClr>
                          </a:solidFill>
                          <a:latin typeface="Cambria Math" panose="02040503050406030204" pitchFamily="18" charset="0"/>
                        </a:rPr>
                        <m:t>𝟒</m:t>
                      </m:r>
                    </m:oMath>
                  </a14:m>
                  <a:r>
                    <a:rPr lang="zh-CN" altLang="en-US" b="1">
                      <a:solidFill>
                        <a:schemeClr val="tx2">
                          <a:lumMod val="50000"/>
                        </a:schemeClr>
                      </a:solidFill>
                    </a:rPr>
                    <a:t>个苹果</a:t>
                  </a:r>
                </a:p>
              </p:txBody>
            </p:sp>
          </mc:Choice>
          <mc:Fallback xmlns="">
            <p:sp>
              <p:nvSpPr>
                <p:cNvPr id="12" name="文本框 11"/>
                <p:cNvSpPr txBox="1">
                  <a:spLocks noRot="1" noChangeAspect="1" noMove="1" noResize="1" noEditPoints="1" noAdjustHandles="1" noChangeArrowheads="1" noChangeShapeType="1" noTextEdit="1"/>
                </p:cNvSpPr>
                <p:nvPr/>
              </p:nvSpPr>
              <p:spPr>
                <a:xfrm>
                  <a:off x="6901861" y="4273234"/>
                  <a:ext cx="4678348" cy="691728"/>
                </a:xfrm>
                <a:prstGeom prst="rect">
                  <a:avLst/>
                </a:prstGeom>
                <a:blipFill rotWithShape="1">
                  <a:blip r:embed="rId7"/>
                </a:blipFill>
              </p:spPr>
              <p:txBody>
                <a:bodyPr/>
                <a:lstStyle/>
                <a:p>
                  <a:r>
                    <a:rPr lang="zh-CN" altLang="en-US">
                      <a:noFill/>
                    </a:rPr>
                    <a:t> </a:t>
                  </a:r>
                </a:p>
              </p:txBody>
            </p:sp>
          </mc:Fallback>
        </mc:AlternateContent>
      </p:grpSp>
      <p:sp>
        <p:nvSpPr>
          <p:cNvPr id="14" name="文本框 13"/>
          <p:cNvSpPr txBox="1"/>
          <p:nvPr/>
        </p:nvSpPr>
        <p:spPr>
          <a:xfrm>
            <a:off x="10677396" y="964801"/>
            <a:ext cx="902811" cy="523220"/>
          </a:xfrm>
          <a:prstGeom prst="rect">
            <a:avLst/>
          </a:prstGeom>
          <a:solidFill>
            <a:schemeClr val="bg2">
              <a:lumMod val="90000"/>
            </a:schemeClr>
          </a:solidFill>
        </p:spPr>
        <p:txBody>
          <a:bodyPr wrap="none" rtlCol="0">
            <a:spAutoFit/>
          </a:bodyPr>
          <a:lstStyle/>
          <a:p>
            <a:r>
              <a:rPr lang="zh-CN" altLang="en-US" sz="2800" b="1" dirty="0">
                <a:solidFill>
                  <a:srgbClr val="FF0000"/>
                </a:solidFill>
              </a:rPr>
              <a:t>选讲</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鸽笼原理</a:t>
            </a:r>
            <a:r>
              <a:rPr lang="en-US" altLang="zh-CN" sz="1400">
                <a:latin typeface="楷体" panose="02010609060101010101" pitchFamily="49" charset="-122"/>
                <a:ea typeface="楷体" panose="02010609060101010101" pitchFamily="49" charset="-122"/>
              </a:rPr>
              <a:t>*</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42</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广义鸽笼原理应用练习</a:t>
            </a:r>
          </a:p>
        </p:txBody>
      </p:sp>
      <p:grpSp>
        <p:nvGrpSpPr>
          <p:cNvPr id="16" name="组合 15"/>
          <p:cNvGrpSpPr/>
          <p:nvPr/>
        </p:nvGrpSpPr>
        <p:grpSpPr>
          <a:xfrm>
            <a:off x="817367" y="1283012"/>
            <a:ext cx="8288806" cy="429220"/>
            <a:chOff x="817367" y="1283012"/>
            <a:chExt cx="8288806" cy="429220"/>
          </a:xfrm>
        </p:grpSpPr>
        <mc:AlternateContent xmlns:mc="http://schemas.openxmlformats.org/markup-compatibility/2006" xmlns:a14="http://schemas.microsoft.com/office/drawing/2010/main">
          <mc:Choice Requires="a14">
            <p:sp>
              <p:nvSpPr>
                <p:cNvPr id="2" name="文本框 1"/>
                <p:cNvSpPr txBox="1"/>
                <p:nvPr/>
              </p:nvSpPr>
              <p:spPr>
                <a:xfrm>
                  <a:off x="817367" y="1283012"/>
                  <a:ext cx="8288806" cy="429220"/>
                </a:xfrm>
                <a:prstGeom prst="rect">
                  <a:avLst/>
                </a:prstGeom>
                <a:solidFill>
                  <a:schemeClr val="accent6">
                    <a:lumMod val="20000"/>
                    <a:lumOff val="80000"/>
                    <a:alpha val="5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𝟓𝟎</m:t>
                      </m:r>
                    </m:oMath>
                  </a14:m>
                  <a:r>
                    <a:rPr lang="zh-CN" altLang="en-US" sz="2000" b="1">
                      <a:solidFill>
                        <a:srgbClr val="002060"/>
                      </a:solidFill>
                    </a:rPr>
                    <a:t>个苹果分给</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位学生，则至少存在一位学生至少有  </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𝟓𝟎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𝟖</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𝟕</m:t>
                      </m:r>
                    </m:oMath>
                  </a14:m>
                  <a:r>
                    <a:rPr lang="en-US" altLang="zh-CN" sz="2000" b="1">
                      <a:solidFill>
                        <a:srgbClr val="002060"/>
                      </a:solidFill>
                    </a:rPr>
                    <a:t>  </a:t>
                  </a:r>
                  <a:r>
                    <a:rPr lang="zh-CN" altLang="en-US" sz="2000" b="1">
                      <a:solidFill>
                        <a:srgbClr val="002060"/>
                      </a:solidFill>
                    </a:rPr>
                    <a:t>个苹果</a:t>
                  </a:r>
                </a:p>
              </p:txBody>
            </p:sp>
          </mc:Choice>
          <mc:Fallback xmlns="">
            <p:sp>
              <p:nvSpPr>
                <p:cNvPr id="2" name="文本框 1"/>
                <p:cNvSpPr txBox="1">
                  <a:spLocks noRot="1" noChangeAspect="1" noMove="1" noResize="1" noEditPoints="1" noAdjustHandles="1" noChangeArrowheads="1" noChangeShapeType="1" noTextEdit="1"/>
                </p:cNvSpPr>
                <p:nvPr/>
              </p:nvSpPr>
              <p:spPr>
                <a:xfrm>
                  <a:off x="817367" y="1283012"/>
                  <a:ext cx="8288806" cy="429220"/>
                </a:xfrm>
                <a:prstGeom prst="rect">
                  <a:avLst/>
                </a:prstGeom>
                <a:blipFill rotWithShape="1">
                  <a:blip r:embed="rId2"/>
                </a:blipFill>
              </p:spPr>
              <p:txBody>
                <a:bodyPr/>
                <a:lstStyle/>
                <a:p>
                  <a:r>
                    <a:rPr lang="zh-CN" altLang="en-US">
                      <a:noFill/>
                    </a:rPr>
                    <a:t> </a:t>
                  </a:r>
                </a:p>
              </p:txBody>
            </p:sp>
          </mc:Fallback>
        </mc:AlternateContent>
        <p:cxnSp>
          <p:nvCxnSpPr>
            <p:cNvPr id="15" name="直接连接符 14"/>
            <p:cNvCxnSpPr/>
            <p:nvPr/>
          </p:nvCxnSpPr>
          <p:spPr>
            <a:xfrm>
              <a:off x="6703407" y="1644604"/>
              <a:ext cx="151961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792215" y="1330249"/>
              <a:ext cx="1341997" cy="307777"/>
            </a:xfrm>
            <a:prstGeom prst="rect">
              <a:avLst/>
            </a:prstGeom>
            <a:solidFill>
              <a:srgbClr val="F0F7EC"/>
            </a:solidFill>
          </p:spPr>
          <p:txBody>
            <a:bodyPr wrap="square" tIns="0" bIns="0" rtlCol="0">
              <a:spAutoFit/>
            </a:bodyPr>
            <a:lstStyle/>
            <a:p>
              <a:pPr algn="ctr"/>
              <a:r>
                <a:rPr lang="en-US" altLang="zh-CN" sz="2000" b="1">
                  <a:solidFill>
                    <a:srgbClr val="C00000"/>
                  </a:solidFill>
                </a:rPr>
                <a:t>(1)</a:t>
              </a:r>
              <a:endParaRPr lang="zh-CN" altLang="en-US" sz="2000" b="1">
                <a:solidFill>
                  <a:srgbClr val="C00000"/>
                </a:solidFill>
              </a:endParaRPr>
            </a:p>
          </p:txBody>
        </p:sp>
      </p:grpSp>
      <p:grpSp>
        <p:nvGrpSpPr>
          <p:cNvPr id="22" name="组合 21"/>
          <p:cNvGrpSpPr/>
          <p:nvPr/>
        </p:nvGrpSpPr>
        <p:grpSpPr>
          <a:xfrm>
            <a:off x="817366" y="2914870"/>
            <a:ext cx="10557264" cy="429220"/>
            <a:chOff x="817366" y="2914870"/>
            <a:chExt cx="10557264" cy="429220"/>
          </a:xfrm>
        </p:grpSpPr>
        <mc:AlternateContent xmlns:mc="http://schemas.openxmlformats.org/markup-compatibility/2006" xmlns:a14="http://schemas.microsoft.com/office/drawing/2010/main">
          <mc:Choice Requires="a14">
            <p:sp>
              <p:nvSpPr>
                <p:cNvPr id="3" name="文本框 2"/>
                <p:cNvSpPr txBox="1"/>
                <p:nvPr/>
              </p:nvSpPr>
              <p:spPr>
                <a:xfrm>
                  <a:off x="817366" y="2914870"/>
                  <a:ext cx="10557264" cy="429220"/>
                </a:xfrm>
                <a:prstGeom prst="rect">
                  <a:avLst/>
                </a:prstGeom>
                <a:solidFill>
                  <a:schemeClr val="accent6">
                    <a:lumMod val="20000"/>
                    <a:lumOff val="80000"/>
                    <a:alpha val="5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𝟓𝟎</m:t>
                      </m:r>
                    </m:oMath>
                  </a14:m>
                  <a:r>
                    <a:rPr lang="zh-CN" altLang="en-US" sz="2000" b="1">
                      <a:solidFill>
                        <a:srgbClr val="002060"/>
                      </a:solidFill>
                    </a:rPr>
                    <a:t>个苹果至多分给  </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𝟓𝟎</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𝟖</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𝟕</m:t>
                      </m:r>
                    </m:oMath>
                  </a14:m>
                  <a:r>
                    <a:rPr lang="en-US" altLang="zh-CN" sz="2000" b="1">
                      <a:solidFill>
                        <a:srgbClr val="002060"/>
                      </a:solidFill>
                    </a:rPr>
                    <a:t> </a:t>
                  </a:r>
                  <a:r>
                    <a:rPr lang="zh-CN" altLang="en-US" sz="2000" b="1">
                      <a:solidFill>
                        <a:srgbClr val="002060"/>
                      </a:solidFill>
                    </a:rPr>
                    <a:t>位学生，才能保证至少有一位学生至少有</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个苹果</a:t>
                  </a:r>
                </a:p>
              </p:txBody>
            </p:sp>
          </mc:Choice>
          <mc:Fallback xmlns="">
            <p:sp>
              <p:nvSpPr>
                <p:cNvPr id="3" name="文本框 2"/>
                <p:cNvSpPr txBox="1">
                  <a:spLocks noRot="1" noChangeAspect="1" noMove="1" noResize="1" noEditPoints="1" noAdjustHandles="1" noChangeArrowheads="1" noChangeShapeType="1" noTextEdit="1"/>
                </p:cNvSpPr>
                <p:nvPr/>
              </p:nvSpPr>
              <p:spPr>
                <a:xfrm>
                  <a:off x="817366" y="2914870"/>
                  <a:ext cx="10557264" cy="429220"/>
                </a:xfrm>
                <a:prstGeom prst="rect">
                  <a:avLst/>
                </a:prstGeom>
                <a:blipFill rotWithShape="1">
                  <a:blip r:embed="rId3"/>
                </a:blipFill>
              </p:spPr>
              <p:txBody>
                <a:bodyPr/>
                <a:lstStyle/>
                <a:p>
                  <a:r>
                    <a:rPr lang="zh-CN" altLang="en-US">
                      <a:noFill/>
                    </a:rPr>
                    <a:t> </a:t>
                  </a:r>
                </a:p>
              </p:txBody>
            </p:sp>
          </mc:Fallback>
        </mc:AlternateContent>
        <p:cxnSp>
          <p:nvCxnSpPr>
            <p:cNvPr id="18" name="直接连接符 17"/>
            <p:cNvCxnSpPr/>
            <p:nvPr/>
          </p:nvCxnSpPr>
          <p:spPr>
            <a:xfrm>
              <a:off x="3048000" y="3296883"/>
              <a:ext cx="266864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129133" y="2982294"/>
              <a:ext cx="2587512" cy="307777"/>
            </a:xfrm>
            <a:prstGeom prst="rect">
              <a:avLst/>
            </a:prstGeom>
            <a:solidFill>
              <a:srgbClr val="F0F7EC"/>
            </a:solidFill>
          </p:spPr>
          <p:txBody>
            <a:bodyPr wrap="square" tIns="0" bIns="0" rtlCol="0">
              <a:spAutoFit/>
            </a:bodyPr>
            <a:lstStyle/>
            <a:p>
              <a:pPr algn="ctr"/>
              <a:r>
                <a:rPr lang="en-US" altLang="zh-CN" sz="2000" b="1">
                  <a:solidFill>
                    <a:srgbClr val="C00000"/>
                  </a:solidFill>
                </a:rPr>
                <a:t>(2)</a:t>
              </a:r>
              <a:endParaRPr lang="zh-CN" altLang="en-US" sz="2000" b="1">
                <a:solidFill>
                  <a:srgbClr val="C00000"/>
                </a:solidFill>
              </a:endParaRPr>
            </a:p>
          </p:txBody>
        </p:sp>
      </p:grpSp>
      <p:grpSp>
        <p:nvGrpSpPr>
          <p:cNvPr id="23" name="组合 22"/>
          <p:cNvGrpSpPr/>
          <p:nvPr/>
        </p:nvGrpSpPr>
        <p:grpSpPr>
          <a:xfrm>
            <a:off x="817367" y="4606063"/>
            <a:ext cx="10379647" cy="429220"/>
            <a:chOff x="817367" y="4606063"/>
            <a:chExt cx="10379647" cy="429220"/>
          </a:xfrm>
        </p:grpSpPr>
        <mc:AlternateContent xmlns:mc="http://schemas.openxmlformats.org/markup-compatibility/2006" xmlns:a14="http://schemas.microsoft.com/office/drawing/2010/main">
          <mc:Choice Requires="a14">
            <p:sp>
              <p:nvSpPr>
                <p:cNvPr id="4" name="文本框 3"/>
                <p:cNvSpPr txBox="1"/>
                <p:nvPr/>
              </p:nvSpPr>
              <p:spPr>
                <a:xfrm>
                  <a:off x="817367" y="4606063"/>
                  <a:ext cx="10379647" cy="429220"/>
                </a:xfrm>
                <a:prstGeom prst="rect">
                  <a:avLst/>
                </a:prstGeom>
                <a:solidFill>
                  <a:schemeClr val="accent6">
                    <a:lumMod val="20000"/>
                    <a:lumOff val="80000"/>
                    <a:alpha val="50000"/>
                  </a:schemeClr>
                </a:solidFill>
              </p:spPr>
              <p:txBody>
                <a:bodyPr wrap="square" rtlCol="0">
                  <a:spAutoFit/>
                </a:bodyPr>
                <a:lstStyle/>
                <a:p>
                  <a:pPr>
                    <a:lnSpc>
                      <a:spcPts val="2800"/>
                    </a:lnSpc>
                  </a:pPr>
                  <a:r>
                    <a:rPr lang="zh-CN" altLang="en-US" sz="2000" b="1">
                      <a:solidFill>
                        <a:srgbClr val="002060"/>
                      </a:solidFill>
                    </a:rPr>
                    <a:t>至少要 </a:t>
                  </a:r>
                  <a14:m>
                    <m:oMath xmlns:m="http://schemas.openxmlformats.org/officeDocument/2006/math">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𝟖</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𝟖</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𝟓𝟕</m:t>
                      </m:r>
                    </m:oMath>
                  </a14:m>
                  <a:r>
                    <a:rPr lang="en-US" altLang="zh-CN" sz="2000" b="1">
                      <a:solidFill>
                        <a:srgbClr val="002060"/>
                      </a:solidFill>
                    </a:rPr>
                    <a:t> </a:t>
                  </a:r>
                  <a:r>
                    <a:rPr lang="zh-CN" altLang="en-US" sz="2000" b="1">
                      <a:solidFill>
                        <a:srgbClr val="002060"/>
                      </a:solidFill>
                    </a:rPr>
                    <a:t>个苹果分给</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位学生，才能保证至少有一位学生至少有</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个苹果</a:t>
                  </a:r>
                </a:p>
              </p:txBody>
            </p:sp>
          </mc:Choice>
          <mc:Fallback xmlns="">
            <p:sp>
              <p:nvSpPr>
                <p:cNvPr id="4" name="文本框 3"/>
                <p:cNvSpPr txBox="1">
                  <a:spLocks noRot="1" noChangeAspect="1" noMove="1" noResize="1" noEditPoints="1" noAdjustHandles="1" noChangeArrowheads="1" noChangeShapeType="1" noTextEdit="1"/>
                </p:cNvSpPr>
                <p:nvPr/>
              </p:nvSpPr>
              <p:spPr>
                <a:xfrm>
                  <a:off x="817367" y="4606063"/>
                  <a:ext cx="10379647" cy="429220"/>
                </a:xfrm>
                <a:prstGeom prst="rect">
                  <a:avLst/>
                </a:prstGeom>
                <a:blipFill rotWithShape="1">
                  <a:blip r:embed="rId4"/>
                </a:blipFill>
              </p:spPr>
              <p:txBody>
                <a:bodyPr/>
                <a:lstStyle/>
                <a:p>
                  <a:r>
                    <a:rPr lang="zh-CN" altLang="en-US">
                      <a:noFill/>
                    </a:rPr>
                    <a:t> </a:t>
                  </a:r>
                </a:p>
              </p:txBody>
            </p:sp>
          </mc:Fallback>
        </mc:AlternateContent>
        <p:cxnSp>
          <p:nvCxnSpPr>
            <p:cNvPr id="20" name="直接连接符 19"/>
            <p:cNvCxnSpPr/>
            <p:nvPr/>
          </p:nvCxnSpPr>
          <p:spPr>
            <a:xfrm>
              <a:off x="1730124" y="4983754"/>
              <a:ext cx="238796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730124" y="4671904"/>
              <a:ext cx="2387965" cy="307777"/>
            </a:xfrm>
            <a:prstGeom prst="rect">
              <a:avLst/>
            </a:prstGeom>
            <a:solidFill>
              <a:srgbClr val="F0F7EC"/>
            </a:solidFill>
          </p:spPr>
          <p:txBody>
            <a:bodyPr wrap="square" tIns="0" bIns="0" rtlCol="0">
              <a:spAutoFit/>
            </a:bodyPr>
            <a:lstStyle/>
            <a:p>
              <a:pPr algn="ctr"/>
              <a:r>
                <a:rPr lang="en-US" altLang="zh-CN" sz="2000" b="1">
                  <a:solidFill>
                    <a:srgbClr val="C00000"/>
                  </a:solidFill>
                </a:rPr>
                <a:t>(3)</a:t>
              </a:r>
              <a:endParaRPr lang="zh-CN" altLang="en-US" sz="2000" b="1">
                <a:solidFill>
                  <a:srgbClr val="C00000"/>
                </a:solidFil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鸽笼原理</a:t>
            </a:r>
            <a:r>
              <a:rPr lang="en-US" altLang="zh-CN" sz="1400">
                <a:latin typeface="楷体" panose="02010609060101010101" pitchFamily="49" charset="-122"/>
                <a:ea typeface="楷体" panose="02010609060101010101" pitchFamily="49" charset="-122"/>
              </a:rPr>
              <a:t>*</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43</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广义鸽笼原理应用练习</a:t>
            </a:r>
          </a:p>
        </p:txBody>
      </p:sp>
      <mc:AlternateContent xmlns:mc="http://schemas.openxmlformats.org/markup-compatibility/2006" xmlns:a14="http://schemas.microsoft.com/office/drawing/2010/main">
        <mc:Choice Requires="a14">
          <p:sp>
            <p:nvSpPr>
              <p:cNvPr id="6" name="文本框 5"/>
              <p:cNvSpPr txBox="1"/>
              <p:nvPr/>
            </p:nvSpPr>
            <p:spPr>
              <a:xfrm>
                <a:off x="817367" y="1779850"/>
                <a:ext cx="8339790" cy="788293"/>
              </a:xfrm>
              <a:prstGeom prst="rect">
                <a:avLst/>
              </a:prstGeom>
              <a:solidFill>
                <a:schemeClr val="accent4">
                  <a:lumMod val="20000"/>
                  <a:lumOff val="80000"/>
                  <a:alpha val="50000"/>
                </a:schemeClr>
              </a:solidFill>
            </p:spPr>
            <p:txBody>
              <a:bodyPr wrap="square" rtlCol="0">
                <a:spAutoFit/>
              </a:bodyPr>
              <a:lstStyle/>
              <a:p>
                <a:pPr>
                  <a:lnSpc>
                    <a:spcPts val="2800"/>
                  </a:lnSpc>
                </a:pPr>
                <a:r>
                  <a:rPr lang="zh-CN" altLang="en-US" sz="2000" b="1">
                    <a:solidFill>
                      <a:srgbClr val="C00000"/>
                    </a:solidFill>
                    <a:latin typeface="+mn-ea"/>
                  </a:rPr>
                  <a:t>最坏情况</a:t>
                </a:r>
                <a:r>
                  <a:rPr lang="zh-CN" altLang="en-US" sz="2000" b="1">
                    <a:solidFill>
                      <a:schemeClr val="accent2">
                        <a:lumMod val="50000"/>
                      </a:schemeClr>
                    </a:solidFill>
                    <a:latin typeface="楷体" panose="02010609060101010101" pitchFamily="49" charset="-122"/>
                    <a:ea typeface="楷体" panose="02010609060101010101" pitchFamily="49" charset="-122"/>
                  </a:rPr>
                  <a:t>下每位学生平均分苹果，当平均每人</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𝟔</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个，总共分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𝟒𝟖</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个苹果后，第</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𝟒𝟗</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个苹果一定分给某位学生，因此至少有一位学生有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𝟕</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a:t>
                </a:r>
              </a:p>
            </p:txBody>
          </p:sp>
        </mc:Choice>
        <mc:Fallback xmlns="">
          <p:sp>
            <p:nvSpPr>
              <p:cNvPr id="6" name="文本框 5"/>
              <p:cNvSpPr txBox="1">
                <a:spLocks noRot="1" noChangeAspect="1" noMove="1" noResize="1" noEditPoints="1" noAdjustHandles="1" noChangeArrowheads="1" noChangeShapeType="1" noTextEdit="1"/>
              </p:cNvSpPr>
              <p:nvPr/>
            </p:nvSpPr>
            <p:spPr>
              <a:xfrm>
                <a:off x="817367" y="1779850"/>
                <a:ext cx="8339790" cy="788293"/>
              </a:xfrm>
              <a:prstGeom prst="rect">
                <a:avLst/>
              </a:prstGeom>
              <a:blipFill rotWithShape="1">
                <a:blip r:embed="rId2"/>
                <a:stretch>
                  <a:fillRect l="-1" t="-74" r="5" b="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817366" y="3471043"/>
                <a:ext cx="10557264" cy="788293"/>
              </a:xfrm>
              <a:prstGeom prst="rect">
                <a:avLst/>
              </a:prstGeom>
              <a:solidFill>
                <a:schemeClr val="accent4">
                  <a:lumMod val="20000"/>
                  <a:lumOff val="80000"/>
                  <a:alpha val="50000"/>
                </a:schemeClr>
              </a:solidFill>
            </p:spPr>
            <p:txBody>
              <a:bodyPr wrap="square" rtlCol="0">
                <a:spAutoFit/>
              </a:bodyPr>
              <a:lstStyle/>
              <a:p>
                <a:pPr>
                  <a:lnSpc>
                    <a:spcPts val="2800"/>
                  </a:lnSpc>
                </a:pPr>
                <a:r>
                  <a:rPr lang="zh-CN" altLang="en-US" sz="2000" b="1">
                    <a:solidFill>
                      <a:srgbClr val="C00000"/>
                    </a:solidFill>
                    <a:latin typeface="+mn-ea"/>
                  </a:rPr>
                  <a:t>最坏情况</a:t>
                </a:r>
                <a:r>
                  <a:rPr lang="zh-CN" altLang="en-US" sz="2000" b="1">
                    <a:solidFill>
                      <a:schemeClr val="accent2">
                        <a:lumMod val="50000"/>
                      </a:schemeClr>
                    </a:solidFill>
                    <a:latin typeface="楷体" panose="02010609060101010101" pitchFamily="49" charset="-122"/>
                    <a:ea typeface="楷体" panose="02010609060101010101" pitchFamily="49" charset="-122"/>
                  </a:rPr>
                  <a:t>下，第</a:t>
                </a:r>
                <a:r>
                  <a:rPr lang="en-US" altLang="zh-CN" sz="2000" b="1">
                    <a:solidFill>
                      <a:schemeClr val="accent2">
                        <a:lumMod val="50000"/>
                      </a:schemeClr>
                    </a:solidFill>
                    <a:latin typeface="楷体" panose="02010609060101010101" pitchFamily="49" charset="-122"/>
                    <a:ea typeface="楷体" panose="02010609060101010101" pitchFamily="49" charset="-122"/>
                  </a:rPr>
                  <a:t>1</a:t>
                </a:r>
                <a:r>
                  <a:rPr lang="zh-CN" altLang="en-US" sz="2000" b="1">
                    <a:solidFill>
                      <a:schemeClr val="accent2">
                        <a:lumMod val="50000"/>
                      </a:schemeClr>
                    </a:solidFill>
                    <a:latin typeface="楷体" panose="02010609060101010101" pitchFamily="49" charset="-122"/>
                    <a:ea typeface="楷体" panose="02010609060101010101" pitchFamily="49" charset="-122"/>
                  </a:rPr>
                  <a:t>位学生分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𝟕</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个，第</a:t>
                </a:r>
                <a:r>
                  <a:rPr lang="en-US" altLang="zh-CN" sz="2000" b="1">
                    <a:solidFill>
                      <a:schemeClr val="accent2">
                        <a:lumMod val="50000"/>
                      </a:schemeClr>
                    </a:solidFill>
                    <a:latin typeface="楷体" panose="02010609060101010101" pitchFamily="49" charset="-122"/>
                    <a:ea typeface="楷体" panose="02010609060101010101" pitchFamily="49" charset="-122"/>
                  </a:rPr>
                  <a:t>2</a:t>
                </a:r>
                <a:r>
                  <a:rPr lang="zh-CN" altLang="en-US" sz="2000" b="1">
                    <a:solidFill>
                      <a:schemeClr val="accent2">
                        <a:lumMod val="50000"/>
                      </a:schemeClr>
                    </a:solidFill>
                    <a:latin typeface="楷体" panose="02010609060101010101" pitchFamily="49" charset="-122"/>
                    <a:ea typeface="楷体" panose="02010609060101010101" pitchFamily="49" charset="-122"/>
                  </a:rPr>
                  <a:t>位学生分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𝟕</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个，分给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𝟕</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个学生</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𝟒𝟗</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个苹果后，第</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𝟓𝟎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个苹果可使得这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𝟕</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个学生中至少有一位学生有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𝟖</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a:t>
                </a:r>
              </a:p>
            </p:txBody>
          </p:sp>
        </mc:Choice>
        <mc:Fallback xmlns="">
          <p:sp>
            <p:nvSpPr>
              <p:cNvPr id="11" name="文本框 10"/>
              <p:cNvSpPr txBox="1">
                <a:spLocks noRot="1" noChangeAspect="1" noMove="1" noResize="1" noEditPoints="1" noAdjustHandles="1" noChangeArrowheads="1" noChangeShapeType="1" noTextEdit="1"/>
              </p:cNvSpPr>
              <p:nvPr/>
            </p:nvSpPr>
            <p:spPr>
              <a:xfrm>
                <a:off x="817366" y="3471043"/>
                <a:ext cx="10557264" cy="788293"/>
              </a:xfrm>
              <a:prstGeom prst="rect">
                <a:avLst/>
              </a:prstGeom>
              <a:blipFill rotWithShape="1">
                <a:blip r:embed="rId3"/>
                <a:stretch>
                  <a:fillRect l="-1" t="-17" r="5"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817366" y="5146599"/>
                <a:ext cx="10379647" cy="788293"/>
              </a:xfrm>
              <a:prstGeom prst="rect">
                <a:avLst/>
              </a:prstGeom>
              <a:solidFill>
                <a:schemeClr val="accent4">
                  <a:lumMod val="20000"/>
                  <a:lumOff val="80000"/>
                  <a:alpha val="50000"/>
                </a:schemeClr>
              </a:solidFill>
            </p:spPr>
            <p:txBody>
              <a:bodyPr wrap="square" rtlCol="0">
                <a:spAutoFit/>
              </a:bodyPr>
              <a:lstStyle/>
              <a:p>
                <a:pPr>
                  <a:lnSpc>
                    <a:spcPts val="2800"/>
                  </a:lnSpc>
                </a:pPr>
                <a:r>
                  <a:rPr lang="zh-CN" altLang="en-US" sz="2000" b="1">
                    <a:solidFill>
                      <a:srgbClr val="C00000"/>
                    </a:solidFill>
                    <a:latin typeface="+mn-ea"/>
                  </a:rPr>
                  <a:t>最坏情况</a:t>
                </a:r>
                <a:r>
                  <a:rPr lang="zh-CN" altLang="en-US" sz="2000" b="1">
                    <a:solidFill>
                      <a:schemeClr val="accent2">
                        <a:lumMod val="50000"/>
                      </a:schemeClr>
                    </a:solidFill>
                    <a:latin typeface="楷体" panose="02010609060101010101" pitchFamily="49" charset="-122"/>
                    <a:ea typeface="楷体" panose="02010609060101010101" pitchFamily="49" charset="-122"/>
                  </a:rPr>
                  <a:t>下，</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𝟖</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位学生每人分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𝟕</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个苹果需要</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𝟓𝟔</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个苹果，再多</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𝟏</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个苹果，则会使得至少有一位学生有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𝟖</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个苹果</a:t>
                </a:r>
              </a:p>
            </p:txBody>
          </p:sp>
        </mc:Choice>
        <mc:Fallback xmlns="">
          <p:sp>
            <p:nvSpPr>
              <p:cNvPr id="12" name="文本框 11"/>
              <p:cNvSpPr txBox="1">
                <a:spLocks noRot="1" noChangeAspect="1" noMove="1" noResize="1" noEditPoints="1" noAdjustHandles="1" noChangeArrowheads="1" noChangeShapeType="1" noTextEdit="1"/>
              </p:cNvSpPr>
              <p:nvPr/>
            </p:nvSpPr>
            <p:spPr>
              <a:xfrm>
                <a:off x="817366" y="5146599"/>
                <a:ext cx="10379647" cy="788293"/>
              </a:xfrm>
              <a:prstGeom prst="rect">
                <a:avLst/>
              </a:prstGeom>
              <a:blipFill rotWithShape="1">
                <a:blip r:embed="rId4"/>
                <a:stretch>
                  <a:fillRect l="-1" t="-71" r="1" b="23"/>
                </a:stretch>
              </a:blipFill>
            </p:spPr>
            <p:txBody>
              <a:bodyPr/>
              <a:lstStyle/>
              <a:p>
                <a:r>
                  <a:rPr lang="zh-CN" altLang="en-US">
                    <a:noFill/>
                  </a:rPr>
                  <a:t> </a:t>
                </a:r>
              </a:p>
            </p:txBody>
          </p:sp>
        </mc:Fallback>
      </mc:AlternateContent>
      <p:sp>
        <p:nvSpPr>
          <p:cNvPr id="13" name="文本框 12"/>
          <p:cNvSpPr txBox="1"/>
          <p:nvPr/>
        </p:nvSpPr>
        <p:spPr>
          <a:xfrm>
            <a:off x="9545283" y="1283012"/>
            <a:ext cx="1829347" cy="1000402"/>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按照“最坏情况”考虑，并不需要记忆上面的公式</a:t>
            </a:r>
          </a:p>
        </p:txBody>
      </p:sp>
      <p:grpSp>
        <p:nvGrpSpPr>
          <p:cNvPr id="23" name="组合 22"/>
          <p:cNvGrpSpPr/>
          <p:nvPr/>
        </p:nvGrpSpPr>
        <p:grpSpPr>
          <a:xfrm>
            <a:off x="817367" y="1283012"/>
            <a:ext cx="8288806" cy="429220"/>
            <a:chOff x="817367" y="1283012"/>
            <a:chExt cx="8288806" cy="429220"/>
          </a:xfrm>
        </p:grpSpPr>
        <mc:AlternateContent xmlns:mc="http://schemas.openxmlformats.org/markup-compatibility/2006" xmlns:a14="http://schemas.microsoft.com/office/drawing/2010/main">
          <mc:Choice Requires="a14">
            <p:sp>
              <p:nvSpPr>
                <p:cNvPr id="2" name="文本框 1"/>
                <p:cNvSpPr txBox="1"/>
                <p:nvPr/>
              </p:nvSpPr>
              <p:spPr>
                <a:xfrm>
                  <a:off x="817367" y="1283012"/>
                  <a:ext cx="8288806" cy="429220"/>
                </a:xfrm>
                <a:prstGeom prst="rect">
                  <a:avLst/>
                </a:prstGeom>
                <a:solidFill>
                  <a:schemeClr val="accent6">
                    <a:lumMod val="20000"/>
                    <a:lumOff val="80000"/>
                    <a:alpha val="5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𝟓𝟎</m:t>
                      </m:r>
                    </m:oMath>
                  </a14:m>
                  <a:r>
                    <a:rPr lang="zh-CN" altLang="en-US" sz="2000" b="1">
                      <a:solidFill>
                        <a:srgbClr val="002060"/>
                      </a:solidFill>
                    </a:rPr>
                    <a:t>个苹果分给</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位学生，则至少存在一位学生至少有  </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𝟓𝟎</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𝟖</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𝟕</m:t>
                      </m:r>
                    </m:oMath>
                  </a14:m>
                  <a:r>
                    <a:rPr lang="en-US" altLang="zh-CN" sz="2000" b="1">
                      <a:solidFill>
                        <a:srgbClr val="002060"/>
                      </a:solidFill>
                    </a:rPr>
                    <a:t>  </a:t>
                  </a:r>
                  <a:r>
                    <a:rPr lang="zh-CN" altLang="en-US" sz="2000" b="1">
                      <a:solidFill>
                        <a:srgbClr val="002060"/>
                      </a:solidFill>
                    </a:rPr>
                    <a:t>个苹果</a:t>
                  </a:r>
                </a:p>
              </p:txBody>
            </p:sp>
          </mc:Choice>
          <mc:Fallback xmlns="">
            <p:sp>
              <p:nvSpPr>
                <p:cNvPr id="2" name="文本框 1"/>
                <p:cNvSpPr txBox="1">
                  <a:spLocks noRot="1" noChangeAspect="1" noMove="1" noResize="1" noEditPoints="1" noAdjustHandles="1" noChangeArrowheads="1" noChangeShapeType="1" noTextEdit="1"/>
                </p:cNvSpPr>
                <p:nvPr/>
              </p:nvSpPr>
              <p:spPr>
                <a:xfrm>
                  <a:off x="817367" y="1283012"/>
                  <a:ext cx="8288806" cy="429220"/>
                </a:xfrm>
                <a:prstGeom prst="rect">
                  <a:avLst/>
                </a:prstGeom>
                <a:blipFill rotWithShape="1">
                  <a:blip r:embed="rId5"/>
                </a:blipFill>
              </p:spPr>
              <p:txBody>
                <a:bodyPr/>
                <a:lstStyle/>
                <a:p>
                  <a:r>
                    <a:rPr lang="zh-CN" altLang="en-US">
                      <a:noFill/>
                    </a:rPr>
                    <a:t> </a:t>
                  </a:r>
                </a:p>
              </p:txBody>
            </p:sp>
          </mc:Fallback>
        </mc:AlternateContent>
        <p:cxnSp>
          <p:nvCxnSpPr>
            <p:cNvPr id="15" name="直接连接符 14"/>
            <p:cNvCxnSpPr/>
            <p:nvPr/>
          </p:nvCxnSpPr>
          <p:spPr>
            <a:xfrm>
              <a:off x="6703407" y="1644604"/>
              <a:ext cx="151961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817366" y="2914870"/>
            <a:ext cx="10557264" cy="429220"/>
            <a:chOff x="817366" y="2914870"/>
            <a:chExt cx="10557264" cy="429220"/>
          </a:xfrm>
        </p:grpSpPr>
        <mc:AlternateContent xmlns:mc="http://schemas.openxmlformats.org/markup-compatibility/2006" xmlns:a14="http://schemas.microsoft.com/office/drawing/2010/main">
          <mc:Choice Requires="a14">
            <p:sp>
              <p:nvSpPr>
                <p:cNvPr id="3" name="文本框 2"/>
                <p:cNvSpPr txBox="1"/>
                <p:nvPr/>
              </p:nvSpPr>
              <p:spPr>
                <a:xfrm>
                  <a:off x="817366" y="2914870"/>
                  <a:ext cx="10557264" cy="429220"/>
                </a:xfrm>
                <a:prstGeom prst="rect">
                  <a:avLst/>
                </a:prstGeom>
                <a:solidFill>
                  <a:schemeClr val="accent6">
                    <a:lumMod val="20000"/>
                    <a:lumOff val="80000"/>
                    <a:alpha val="50000"/>
                  </a:schemeClr>
                </a:solidFill>
              </p:spPr>
              <p:txBody>
                <a:bodyPr wrap="square" rtlCol="0">
                  <a:spAutoFit/>
                </a:bodyPr>
                <a:lstStyle/>
                <a:p>
                  <a:pPr>
                    <a:lnSpc>
                      <a:spcPts val="2800"/>
                    </a:lnSpc>
                  </a:pPr>
                  <a14:m>
                    <m:oMath xmlns:m="http://schemas.openxmlformats.org/officeDocument/2006/math">
                      <m:r>
                        <a:rPr lang="en-US" altLang="zh-CN" sz="2000" b="1" i="1" smtClean="0">
                          <a:solidFill>
                            <a:srgbClr val="002060"/>
                          </a:solidFill>
                          <a:latin typeface="Cambria Math" panose="02040503050406030204" pitchFamily="18" charset="0"/>
                        </a:rPr>
                        <m:t>𝟓𝟎</m:t>
                      </m:r>
                    </m:oMath>
                  </a14:m>
                  <a:r>
                    <a:rPr lang="zh-CN" altLang="en-US" sz="2000" b="1">
                      <a:solidFill>
                        <a:srgbClr val="002060"/>
                      </a:solidFill>
                    </a:rPr>
                    <a:t>个苹果至多分给  </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𝟓𝟎</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𝟖</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𝟕</m:t>
                      </m:r>
                    </m:oMath>
                  </a14:m>
                  <a:r>
                    <a:rPr lang="en-US" altLang="zh-CN" sz="2000" b="1">
                      <a:solidFill>
                        <a:srgbClr val="002060"/>
                      </a:solidFill>
                    </a:rPr>
                    <a:t> </a:t>
                  </a:r>
                  <a:r>
                    <a:rPr lang="zh-CN" altLang="en-US" sz="2000" b="1">
                      <a:solidFill>
                        <a:srgbClr val="002060"/>
                      </a:solidFill>
                    </a:rPr>
                    <a:t>位学生，才能保证至少有一位学生至少有</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个苹果</a:t>
                  </a:r>
                </a:p>
              </p:txBody>
            </p:sp>
          </mc:Choice>
          <mc:Fallback xmlns="">
            <p:sp>
              <p:nvSpPr>
                <p:cNvPr id="3" name="文本框 2"/>
                <p:cNvSpPr txBox="1">
                  <a:spLocks noRot="1" noChangeAspect="1" noMove="1" noResize="1" noEditPoints="1" noAdjustHandles="1" noChangeArrowheads="1" noChangeShapeType="1" noTextEdit="1"/>
                </p:cNvSpPr>
                <p:nvPr/>
              </p:nvSpPr>
              <p:spPr>
                <a:xfrm>
                  <a:off x="817366" y="2914870"/>
                  <a:ext cx="10557264" cy="429220"/>
                </a:xfrm>
                <a:prstGeom prst="rect">
                  <a:avLst/>
                </a:prstGeom>
                <a:blipFill rotWithShape="1">
                  <a:blip r:embed="rId6"/>
                </a:blipFill>
              </p:spPr>
              <p:txBody>
                <a:bodyPr/>
                <a:lstStyle/>
                <a:p>
                  <a:r>
                    <a:rPr lang="zh-CN" altLang="en-US">
                      <a:noFill/>
                    </a:rPr>
                    <a:t> </a:t>
                  </a:r>
                </a:p>
              </p:txBody>
            </p:sp>
          </mc:Fallback>
        </mc:AlternateContent>
        <p:cxnSp>
          <p:nvCxnSpPr>
            <p:cNvPr id="18" name="直接连接符 17"/>
            <p:cNvCxnSpPr/>
            <p:nvPr/>
          </p:nvCxnSpPr>
          <p:spPr>
            <a:xfrm>
              <a:off x="3048000" y="3296883"/>
              <a:ext cx="266864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817367" y="4606063"/>
            <a:ext cx="10379647" cy="429220"/>
            <a:chOff x="817367" y="4606063"/>
            <a:chExt cx="10379647" cy="429220"/>
          </a:xfrm>
        </p:grpSpPr>
        <mc:AlternateContent xmlns:mc="http://schemas.openxmlformats.org/markup-compatibility/2006" xmlns:a14="http://schemas.microsoft.com/office/drawing/2010/main">
          <mc:Choice Requires="a14">
            <p:sp>
              <p:nvSpPr>
                <p:cNvPr id="4" name="文本框 3"/>
                <p:cNvSpPr txBox="1"/>
                <p:nvPr/>
              </p:nvSpPr>
              <p:spPr>
                <a:xfrm>
                  <a:off x="817367" y="4606063"/>
                  <a:ext cx="10379647" cy="429220"/>
                </a:xfrm>
                <a:prstGeom prst="rect">
                  <a:avLst/>
                </a:prstGeom>
                <a:solidFill>
                  <a:schemeClr val="accent6">
                    <a:lumMod val="20000"/>
                    <a:lumOff val="80000"/>
                    <a:alpha val="50000"/>
                  </a:schemeClr>
                </a:solidFill>
              </p:spPr>
              <p:txBody>
                <a:bodyPr wrap="square" rtlCol="0">
                  <a:spAutoFit/>
                </a:bodyPr>
                <a:lstStyle/>
                <a:p>
                  <a:pPr>
                    <a:lnSpc>
                      <a:spcPts val="2800"/>
                    </a:lnSpc>
                  </a:pPr>
                  <a:r>
                    <a:rPr lang="zh-CN" altLang="en-US" sz="2000" b="1">
                      <a:solidFill>
                        <a:srgbClr val="002060"/>
                      </a:solidFill>
                    </a:rPr>
                    <a:t>至少要 </a:t>
                  </a:r>
                  <a14:m>
                    <m:oMath xmlns:m="http://schemas.openxmlformats.org/officeDocument/2006/math">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𝟖</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𝟖</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𝟓𝟕</m:t>
                      </m:r>
                    </m:oMath>
                  </a14:m>
                  <a:r>
                    <a:rPr lang="en-US" altLang="zh-CN" sz="2000" b="1">
                      <a:solidFill>
                        <a:srgbClr val="002060"/>
                      </a:solidFill>
                    </a:rPr>
                    <a:t> </a:t>
                  </a:r>
                  <a:r>
                    <a:rPr lang="zh-CN" altLang="en-US" sz="2000" b="1">
                      <a:solidFill>
                        <a:srgbClr val="002060"/>
                      </a:solidFill>
                    </a:rPr>
                    <a:t>个苹果分给</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位学生，才能保证至少有一位学生至少有</a:t>
                  </a:r>
                  <a14:m>
                    <m:oMath xmlns:m="http://schemas.openxmlformats.org/officeDocument/2006/math">
                      <m:r>
                        <a:rPr lang="en-US" altLang="zh-CN" sz="2000" b="1" i="1" smtClean="0">
                          <a:solidFill>
                            <a:srgbClr val="002060"/>
                          </a:solidFill>
                          <a:latin typeface="Cambria Math" panose="02040503050406030204" pitchFamily="18" charset="0"/>
                        </a:rPr>
                        <m:t>𝟖</m:t>
                      </m:r>
                    </m:oMath>
                  </a14:m>
                  <a:r>
                    <a:rPr lang="zh-CN" altLang="en-US" sz="2000" b="1">
                      <a:solidFill>
                        <a:srgbClr val="002060"/>
                      </a:solidFill>
                    </a:rPr>
                    <a:t>个苹果</a:t>
                  </a:r>
                </a:p>
              </p:txBody>
            </p:sp>
          </mc:Choice>
          <mc:Fallback xmlns="">
            <p:sp>
              <p:nvSpPr>
                <p:cNvPr id="4" name="文本框 3"/>
                <p:cNvSpPr txBox="1">
                  <a:spLocks noRot="1" noChangeAspect="1" noMove="1" noResize="1" noEditPoints="1" noAdjustHandles="1" noChangeArrowheads="1" noChangeShapeType="1" noTextEdit="1"/>
                </p:cNvSpPr>
                <p:nvPr/>
              </p:nvSpPr>
              <p:spPr>
                <a:xfrm>
                  <a:off x="817367" y="4606063"/>
                  <a:ext cx="10379647" cy="429220"/>
                </a:xfrm>
                <a:prstGeom prst="rect">
                  <a:avLst/>
                </a:prstGeom>
                <a:blipFill rotWithShape="1">
                  <a:blip r:embed="rId7"/>
                </a:blipFill>
              </p:spPr>
              <p:txBody>
                <a:bodyPr/>
                <a:lstStyle/>
                <a:p>
                  <a:r>
                    <a:rPr lang="zh-CN" altLang="en-US">
                      <a:noFill/>
                    </a:rPr>
                    <a:t> </a:t>
                  </a:r>
                </a:p>
              </p:txBody>
            </p:sp>
          </mc:Fallback>
        </mc:AlternateContent>
        <p:cxnSp>
          <p:nvCxnSpPr>
            <p:cNvPr id="20" name="直接连接符 19"/>
            <p:cNvCxnSpPr/>
            <p:nvPr/>
          </p:nvCxnSpPr>
          <p:spPr>
            <a:xfrm>
              <a:off x="1730124" y="4983754"/>
              <a:ext cx="2387965"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44</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p:cNvSpPr txBox="1"/>
          <p:nvPr/>
        </p:nvSpPr>
        <p:spPr>
          <a:xfrm>
            <a:off x="844644" y="1276094"/>
            <a:ext cx="4727288" cy="3582327"/>
          </a:xfrm>
          <a:prstGeom prst="rect">
            <a:avLst/>
          </a:prstGeom>
          <a:solidFill>
            <a:schemeClr val="accent5">
              <a:lumMod val="20000"/>
              <a:lumOff val="80000"/>
              <a:alpha val="50000"/>
            </a:schemeClr>
          </a:solidFill>
        </p:spPr>
        <p:txBody>
          <a:bodyPr wrap="square" rtlCol="0">
            <a:spAutoFit/>
          </a:bodyPr>
          <a:lstStyle/>
          <a:p>
            <a:pPr algn="ctr">
              <a:spcBef>
                <a:spcPts val="300"/>
              </a:spcBef>
              <a:spcAft>
                <a:spcPts val="600"/>
              </a:spcAft>
            </a:pPr>
            <a:r>
              <a:rPr lang="zh-CN" altLang="en-US" sz="2400" b="1">
                <a:solidFill>
                  <a:srgbClr val="002060"/>
                </a:solidFill>
              </a:rPr>
              <a:t>基本组合原理</a:t>
            </a:r>
          </a:p>
          <a:p>
            <a:pPr marL="342900" indent="-342900">
              <a:lnSpc>
                <a:spcPts val="2800"/>
              </a:lnSpc>
              <a:spcBef>
                <a:spcPts val="3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组合计数原理：加法、乘法、减法和除法原理、一一对应原理、容斥原理</a:t>
            </a:r>
          </a:p>
          <a:p>
            <a:pPr marL="800100" lvl="1" indent="-342900">
              <a:lnSpc>
                <a:spcPts val="2800"/>
              </a:lnSpc>
              <a:spcBef>
                <a:spcPts val="300"/>
              </a:spcBef>
              <a:buFont typeface="Arial" panose="020B0604020202020204" pitchFamily="34" charset="0"/>
              <a:buChar char="•"/>
            </a:pPr>
            <a:r>
              <a:rPr lang="zh-CN" altLang="en-US" sz="2000" b="1">
                <a:solidFill>
                  <a:schemeClr val="accent2">
                    <a:lumMod val="50000"/>
                  </a:schemeClr>
                </a:solidFill>
                <a:latin typeface="+mn-ea"/>
              </a:rPr>
              <a:t>乘法原理分步思考时子任务的相关性和独立性</a:t>
            </a:r>
          </a:p>
          <a:p>
            <a:pPr marL="800100" lvl="1" indent="-342900">
              <a:lnSpc>
                <a:spcPts val="2800"/>
              </a:lnSpc>
              <a:spcBef>
                <a:spcPts val="300"/>
              </a:spcBef>
              <a:buFont typeface="Arial" panose="020B0604020202020204" pitchFamily="34" charset="0"/>
              <a:buChar char="•"/>
            </a:pPr>
            <a:r>
              <a:rPr lang="zh-CN" altLang="en-US" sz="2000" b="1">
                <a:solidFill>
                  <a:schemeClr val="accent2">
                    <a:lumMod val="50000"/>
                  </a:schemeClr>
                </a:solidFill>
                <a:latin typeface="+mn-ea"/>
              </a:rPr>
              <a:t>集合语言在使用容斥原理求解计数问题中的运用</a:t>
            </a:r>
          </a:p>
          <a:p>
            <a:pPr marL="342900" indent="-342900">
              <a:lnSpc>
                <a:spcPts val="2800"/>
              </a:lnSpc>
              <a:spcBef>
                <a:spcPts val="3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组合存在性原理</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800100" lvl="1" indent="-342900">
              <a:lnSpc>
                <a:spcPts val="2800"/>
              </a:lnSpc>
              <a:spcBef>
                <a:spcPts val="300"/>
              </a:spcBef>
              <a:buFont typeface="Arial" panose="020B0604020202020204" pitchFamily="34" charset="0"/>
              <a:buChar char="•"/>
            </a:pPr>
            <a:r>
              <a:rPr lang="zh-CN" altLang="en-US" sz="2000" b="1">
                <a:solidFill>
                  <a:schemeClr val="accent2">
                    <a:lumMod val="50000"/>
                  </a:schemeClr>
                </a:solidFill>
                <a:latin typeface="+mn-ea"/>
              </a:rPr>
              <a:t>鸽笼原理和广义鸽笼原理</a:t>
            </a:r>
          </a:p>
        </p:txBody>
      </p:sp>
      <p:sp>
        <p:nvSpPr>
          <p:cNvPr id="3" name="文本框 2"/>
          <p:cNvSpPr txBox="1"/>
          <p:nvPr/>
        </p:nvSpPr>
        <p:spPr>
          <a:xfrm>
            <a:off x="5926183" y="1301869"/>
            <a:ext cx="5421173" cy="3530775"/>
          </a:xfrm>
          <a:prstGeom prst="rect">
            <a:avLst/>
          </a:prstGeom>
          <a:solidFill>
            <a:schemeClr val="accent5">
              <a:lumMod val="20000"/>
              <a:lumOff val="80000"/>
            </a:schemeClr>
          </a:solidFill>
        </p:spPr>
        <p:txBody>
          <a:bodyPr wrap="square" rtlCol="0">
            <a:spAutoFit/>
          </a:bodyPr>
          <a:lstStyle/>
          <a:p>
            <a:pPr algn="ctr">
              <a:lnSpc>
                <a:spcPts val="3000"/>
              </a:lnSpc>
              <a:spcAft>
                <a:spcPts val="900"/>
              </a:spcAft>
            </a:pPr>
            <a:r>
              <a:rPr lang="zh-CN" altLang="en-US" sz="2400" b="1">
                <a:solidFill>
                  <a:srgbClr val="002060"/>
                </a:solidFill>
              </a:rPr>
              <a:t>应尝试编写计算机程序验证计数结果</a:t>
            </a:r>
          </a:p>
          <a:p>
            <a:pPr marL="342900" indent="-342900">
              <a:lnSpc>
                <a:spcPts val="2900"/>
              </a:lnSpc>
              <a:spcBef>
                <a:spcPts val="3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在不考虑计数的物体应该满足某些条件的情况下生成所有可能的物体</a:t>
            </a:r>
          </a:p>
          <a:p>
            <a:pPr marL="800100" lvl="1" indent="-342900">
              <a:lnSpc>
                <a:spcPts val="2900"/>
              </a:lnSpc>
              <a:spcBef>
                <a:spcPts val="300"/>
              </a:spcBef>
              <a:spcAft>
                <a:spcPts val="600"/>
              </a:spcAft>
              <a:buFont typeface="Arial" panose="020B0604020202020204" pitchFamily="34" charset="0"/>
              <a:buChar char="•"/>
            </a:pPr>
            <a:r>
              <a:rPr lang="zh-CN" altLang="en-US" sz="2000" b="1">
                <a:solidFill>
                  <a:schemeClr val="accent2">
                    <a:lumMod val="50000"/>
                  </a:schemeClr>
                </a:solidFill>
                <a:latin typeface="+mn-ea"/>
              </a:rPr>
              <a:t>生成的同时再考虑基于条件进行过滤</a:t>
            </a:r>
          </a:p>
          <a:p>
            <a:pPr marL="800100" lvl="1" indent="-342900">
              <a:lnSpc>
                <a:spcPts val="2900"/>
              </a:lnSpc>
              <a:spcBef>
                <a:spcPts val="300"/>
              </a:spcBef>
              <a:spcAft>
                <a:spcPts val="600"/>
              </a:spcAft>
              <a:buFont typeface="Arial" panose="020B0604020202020204" pitchFamily="34" charset="0"/>
              <a:buChar char="•"/>
            </a:pPr>
            <a:r>
              <a:rPr lang="zh-CN" altLang="en-US" sz="2000" b="1">
                <a:solidFill>
                  <a:schemeClr val="accent2">
                    <a:lumMod val="50000"/>
                  </a:schemeClr>
                </a:solidFill>
                <a:latin typeface="+mn-ea"/>
              </a:rPr>
              <a:t>用模块化思维方式将一个问题分成了两个模块，降低了思考的难度</a:t>
            </a:r>
          </a:p>
          <a:p>
            <a:pPr marL="342900" indent="-342900">
              <a:lnSpc>
                <a:spcPts val="2900"/>
              </a:lnSpc>
              <a:spcBef>
                <a:spcPts val="3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这不仅可利用计算机辅助学习离散数学，也可强化计算思维能力</a:t>
            </a:r>
          </a:p>
        </p:txBody>
      </p:sp>
      <p:sp>
        <p:nvSpPr>
          <p:cNvPr id="4" name="文本框 3"/>
          <p:cNvSpPr txBox="1"/>
          <p:nvPr/>
        </p:nvSpPr>
        <p:spPr>
          <a:xfrm>
            <a:off x="897264" y="5089463"/>
            <a:ext cx="10397469" cy="98488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能用组合计数原理，特别是乘法原理和容斥原理求解相对简单的计数问题</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45</a:t>
            </a:fld>
            <a:r>
              <a:rPr lang="en-US" altLang="zh-CN">
                <a:latin typeface="Arial" panose="020B0604020202020204" pitchFamily="34" charset="0"/>
                <a:ea typeface="楷体" panose="02010609060101010101" pitchFamily="49" charset="-122"/>
                <a:cs typeface="Arial" panose="020B0604020202020204" pitchFamily="34" charset="0"/>
              </a:rPr>
              <a:t>/45</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p:cNvSpPr txBox="1"/>
          <p:nvPr/>
        </p:nvSpPr>
        <p:spPr>
          <a:xfrm>
            <a:off x="1020321" y="3036906"/>
            <a:ext cx="9623557" cy="1231106"/>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必做：教材练习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8.2</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8.5</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8.14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8.16</a:t>
            </a:r>
          </a:p>
          <a:p>
            <a:pPr>
              <a:spcBef>
                <a:spcPts val="600"/>
              </a:spcBef>
              <a:spcAft>
                <a:spcPts val="600"/>
              </a:spcAft>
            </a:pPr>
            <a:r>
              <a:rPr lang="zh-CN" altLang="en-US" sz="3200" b="1" dirty="0">
                <a:solidFill>
                  <a:schemeClr val="tx1">
                    <a:lumMod val="50000"/>
                    <a:lumOff val="50000"/>
                  </a:schemeClr>
                </a:solidFill>
                <a:latin typeface="Arial" panose="020B0604020202020204" pitchFamily="34" charset="0"/>
                <a:ea typeface="楷体" panose="02010609060101010101" pitchFamily="49" charset="-122"/>
                <a:cs typeface="Arial" panose="020B0604020202020204" pitchFamily="34" charset="0"/>
              </a:rPr>
              <a:t>选做：教材练习</a:t>
            </a:r>
            <a:r>
              <a:rPr lang="en-US" altLang="zh-CN" sz="3200" b="1" dirty="0">
                <a:solidFill>
                  <a:schemeClr val="tx1">
                    <a:lumMod val="50000"/>
                    <a:lumOff val="50000"/>
                  </a:schemeClr>
                </a:solidFill>
                <a:latin typeface="Arial" panose="020B0604020202020204" pitchFamily="34" charset="0"/>
                <a:ea typeface="楷体" panose="02010609060101010101" pitchFamily="49" charset="-122"/>
                <a:cs typeface="Arial" panose="020B0604020202020204" pitchFamily="34" charset="0"/>
              </a:rPr>
              <a:t>8.9</a:t>
            </a:r>
            <a:r>
              <a:rPr lang="zh-CN" altLang="en-US" sz="3200" b="1" dirty="0">
                <a:solidFill>
                  <a:schemeClr val="tx1">
                    <a:lumMod val="50000"/>
                    <a:lumOff val="50000"/>
                  </a:schemeClr>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chemeClr val="tx1">
                    <a:lumMod val="50000"/>
                    <a:lumOff val="50000"/>
                  </a:schemeClr>
                </a:solidFill>
                <a:latin typeface="Arial" panose="020B0604020202020204" pitchFamily="34" charset="0"/>
                <a:ea typeface="楷体" panose="02010609060101010101" pitchFamily="49" charset="-122"/>
                <a:cs typeface="Arial" panose="020B0604020202020204" pitchFamily="34" charset="0"/>
              </a:rPr>
              <a:t>8.11</a:t>
            </a:r>
            <a:endParaRPr lang="zh-CN" altLang="en-US" sz="3200" b="1" dirty="0">
              <a:solidFill>
                <a:schemeClr val="tx1">
                  <a:lumMod val="50000"/>
                  <a:lumOff val="50000"/>
                </a:schemeClr>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第二十四讲  组合计数基本原理</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448967f-27e4-48d1-932b-2eed11a68033"/>
  <p:tag name="COMMONDATA" val="eyJoZGlkIjoiYWQ1M2NkMzQ3MmRmNGQyOTRlYWE3NmYyMDAyZmQ0Y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7703</Words>
  <Application>Microsoft Office PowerPoint</Application>
  <PresentationFormat>宽屏</PresentationFormat>
  <Paragraphs>683</Paragraphs>
  <Slides>46</Slides>
  <Notes>0</Notes>
  <HiddenSlides>3</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46</vt:i4>
      </vt:variant>
    </vt:vector>
  </HeadingPairs>
  <TitlesOfParts>
    <vt:vector size="54" baseType="lpstr">
      <vt:lpstr>等线</vt:lpstr>
      <vt:lpstr>等线 Light</vt:lpstr>
      <vt:lpstr>仿宋</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100</cp:revision>
  <dcterms:created xsi:type="dcterms:W3CDTF">2022-01-01T06:39:00Z</dcterms:created>
  <dcterms:modified xsi:type="dcterms:W3CDTF">2024-12-02T16:32:16Z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077E530FA66B4A04A71E82371BD3B2A9_12</vt:lpwstr>
  </property>
  <property fmtid="{D5CDD505-2E9C-101B-9397-08002B2CF9AE}" pid="3" name="KSOProductBuildVer">
    <vt:lpwstr>2052-11.1.0.14036</vt:lpwstr>
  </property>
</Properties>
</file>